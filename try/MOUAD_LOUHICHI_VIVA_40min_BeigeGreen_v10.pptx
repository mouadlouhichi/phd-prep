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1" r:id="rId25"/>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 id="318" r:id="rId73"/>
    <p:sldId id="319" r:id="rId74"/>
    <p:sldId id="320" r:id="rId75"/>
    <p:sldId id="321" r:id="rId76"/>
    <p:sldId id="322" r:id="rId77"/>
    <p:sldId id="323" r:id="rId78"/>
    <p:sldId id="324" r:id="rId79"/>
    <p:sldId id="325" r:id="rId80"/>
    <p:sldId id="326" r:id="rId81"/>
    <p:sldId id="327" r:id="rId82"/>
    <p:sldId id="328" r:id="rId83"/>
    <p:sldId id="329" r:id="rId84"/>
    <p:sldId id="330" r:id="rId85"/>
    <p:sldId id="331" r:id="rId86"/>
    <p:sldId id="332" r:id="rId87"/>
    <p:sldId id="333" r:id="rId88"/>
    <p:sldId id="334" r:id="rId89"/>
    <p:sldId id="335" r:id="rId90"/>
    <p:sldId id="336" r:id="rId91"/>
    <p:sldId id="337" r:id="rId92"/>
    <p:sldId id="338" r:id="rId93"/>
    <p:sldId id="339" r:id="rId94"/>
    <p:sldId id="340" r:id="rId95"/>
    <p:sldId id="341" r:id="rId96"/>
    <p:sldId id="342" r:id="rId97"/>
    <p:sldId id="343" r:id="rId98"/>
    <p:sldId id="344" r:id="rId99"/>
    <p:sldId id="345" r:id="rId100"/>
    <p:sldId id="346" r:id="rId101"/>
    <p:sldId id="347" r:id="rId102"/>
    <p:sldId id="348" r:id="rId103"/>
    <p:sldId id="349" r:id="rId104"/>
  </p:sldIdLst>
  <p:sldSz cx="18288000" cy="10287000"/>
  <p:notesSz cx="6858000" cy="9144000"/>
  <p:embeddedFontLst>
    <p:embeddedFont>
      <p:font typeface="Roca Two Bold" charset="1" panose="00000800000000000000"/>
      <p:regular r:id="rId21"/>
    </p:embeddedFont>
    <p:embeddedFont>
      <p:font typeface="Nunito Semi-Bold" charset="1" panose="00000000000000000000"/>
      <p:regular r:id="rId22"/>
    </p:embeddedFont>
    <p:embeddedFont>
      <p:font typeface="Nunito Bold" charset="1" panose="00000000000000000000"/>
      <p:regular r:id="rId23"/>
    </p:embeddedFont>
    <p:embeddedFont>
      <p:font typeface="Nunito Ultra-Bold" charset="1" panose="0000000000000000000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6.xml"/><Relationship Id="rId26" Type="http://schemas.openxmlformats.org/officeDocument/2006/relationships/notesMaster" Target="notesMasters/notesMaster1.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 Id="rId90" Type="http://schemas.openxmlformats.org/officeDocument/2006/relationships/slide" Target="slides/slide80.xml"/><Relationship Id="rId91" Type="http://schemas.openxmlformats.org/officeDocument/2006/relationships/slide" Target="slides/slide81.xml"/><Relationship Id="rId92" Type="http://schemas.openxmlformats.org/officeDocument/2006/relationships/slide" Target="slides/slide82.xml"/><Relationship Id="rId93" Type="http://schemas.openxmlformats.org/officeDocument/2006/relationships/slide" Target="slides/slide83.xml"/><Relationship Id="rId94" Type="http://schemas.openxmlformats.org/officeDocument/2006/relationships/slide" Target="slides/slide84.xml"/><Relationship Id="rId95" Type="http://schemas.openxmlformats.org/officeDocument/2006/relationships/slide" Target="slides/slide85.xml"/><Relationship Id="rId96" Type="http://schemas.openxmlformats.org/officeDocument/2006/relationships/slide" Target="slides/slide86.xml"/><Relationship Id="rId97" Type="http://schemas.openxmlformats.org/officeDocument/2006/relationships/slide" Target="slides/slide87.xml"/><Relationship Id="rId98" Type="http://schemas.openxmlformats.org/officeDocument/2006/relationships/slide" Target="slides/slide88.xml"/><Relationship Id="rId99" Type="http://schemas.openxmlformats.org/officeDocument/2006/relationships/slide" Target="slides/slide89.xml"/><Relationship Id="rId100" Type="http://schemas.openxmlformats.org/officeDocument/2006/relationships/slide" Target="slides/slide90.xml"/><Relationship Id="rId101" Type="http://schemas.openxmlformats.org/officeDocument/2006/relationships/slide" Target="slides/slide91.xml"/><Relationship Id="rId102" Type="http://schemas.openxmlformats.org/officeDocument/2006/relationships/slide" Target="slides/slide92.xml"/><Relationship Id="rId103" Type="http://schemas.openxmlformats.org/officeDocument/2006/relationships/slide" Target="slides/slide93.xml"/><Relationship Id="rId104"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Mister President. Good morning, Professors, and thank you for the time you're giving me today. My name is Mouad Louhichi, and the thesis I'm defending, supervised by Professor Mohamed Lazaar, is titled Cooperative Game Theory for Explainable AI in Recommendation Systems. It rests on a single idea, and I'd like you to keep it in mind throughout: Shapley attribution isn't only a way of explaining a model afterwards. It can explain black-box clustering, it can stay consistent across levels of detail, and it can finally guide what a recommender actually learns.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how I've set out the next forty minutes. I'll walk you through seven parts: the introduction, the context and the problematic, the shared experimental protocol, then my three contributions, and finally the conclusion and the perspectives. Each contribution follows exactly the same structure, so you'll always know where we are: research gap, objectives, methodology, evaluation protocol, results, and findings. The seven small squares at the top right of every slide mark the part we're in, and I've put the backup tables after the end, in case a question calls for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begin with the introduction, and with two questions in particular: why explainability is a core requirement for recommender systems, and what I actually mean by an actionable insight. Time check: minute two.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sit behind all my work. The first is how big these systems are. They shape what billions of people see, buy and watch. The second is that they're black boxes. Even our best recommenders and clustering pipelines are hard to question. We can see what comes out, but not why. And the third is the one I care about most, which is trust. Can we build transparency into the model from the start, instead of adding it on later? Because that's what keeps happening. The stronger these models get, the less transparent they become. So I've treated accuracy and interpretability as two goals to reach at once, not as a choice between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definition the whole thesis turns on. What do I mean by an actionable explanation? Three things. First, it has to name something you can actually change. Second, changing it has to move the output, and you can see that it does. Third, it has to be written in words the field already uses, not in numbers only the model understands. So a wine maker can act on density and pH, because those are real things in the tank. Nobody can act on a latent code, because that is just a number inside the model. A good explanation, then, should help someone make a real decision, not just describe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put this in context, because the history of the field is really the history of the problem. We moved from similarity models to matrix factorisation, which gave us latent factors with no readable meaning. Graph neural networks then replaced that hidden code with a hidden message-passing mechanism, and hypergraph models added user-item-context relations but assume every message counts the same. At each step, then, we gained power and lost transparency, just as the EU AI Act and the GDPR started asking for meaningful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these aren't exotic systems, either. Here are four that most of us use every day, and in each one the reasoning is hidden from the very person it serves. Everywhere, and hidden. That's exactly the gap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move to the problem itself. I'll go fairly quickly over the four main families of recommender, then their limitations, the research questions, and the three contributions. Time check: about minute five.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taking one slide per family, because their limits are what motivate the thesis. So let's start with content-based filtering. The system builds a profile from the features of what you liked, and recommends items whose features match. What matters here is that it's explainable by construction: the reason is a named feature you recognise. Its limit is that it needs good metadata, and it tends to recommend more of the same. Still, that level of explanation, domain factors, is exactly the level I want to keep.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collaborative filtering. Here the system ignores content completely and uses the behaviour of other users, because people who agreed in the past will probably agree in the future. As you can see, user one and user two share two items, so user two's interest in item three passes across. This is the base of matrix factorisation and of graph recommenders, and its weakness is a familiar one: new users and new items have no history, and sparse matrices give very little signal.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hybrids and matrix factorisation. A hybrid mixes the two signals, which does reduce cold-start. Matrix factorisation itself splits the interaction matrix into low-rank user and item factors. It's accurate, it scales, and it's still the standard baseline of the field. The factors, though, are hidden: nobody can tell you what factor seven means. That's really the moment the field gained accuracy and lost the named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and above all for this thesis, graph and hypergraph recommenders, which are the state of the art. Users and items become nodes, interactions become edges, and message passing, as in LightGCN, HCCF or HPCF, moves information over several hops. A hyperedge can even join a user, an item and a context at once, which is why these models do best on sparse benchmarks. But look at the orange box: they're costly, and they treat every message as equally important. That assumption is exactly what Contribution III challenges.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goes wrong? There are four classical limitations: sparsity, cold-start, popularity bias, and the one this thesis targets, which is the lack of interpretability. For clustering the problem is harder still, because existing methods give either a local or a global explanation, rarely both, and they almost never stay consistent across levels of detail.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leads me to three problems that shape this work. Complex models are hard to explain in a way that's both faithful and actionable. Local explanations don't carry over to multi-level structure or to large data. And explanations stay post-hoc, so they never shape how the model learns. In short, no one framework does all three at once, and my claim is that Shapley attribution can be that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that gap come five research questions. RQ1 asks whether Shapley values can explain black-box clustering faithfully. RQ2 asks whether that extends to large-scale, multi-level clustering while staying feasible and consistent. RQ3 asks the bolder question: can attribution become part of how a recommender learns? RQ4 asks whether it can improve accuracy, context and diversity at the same time. RQ5, finally, is the thesis-level question, which is what we gain by reading both tasks as one shared 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those questions give us three contributions on a single thread. C1 explains black-box clustering, on wine quality. C2 scales the same logic to multi-level Beijing air-quality data. C3, which is the strongest claim, turns attribution into an in-training signal inside a hypergraph recommender. Put simply, the thesis claim is this: cooperative game theory works as one shared attribution view, moving from explanation, to optimisation, to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we get to the contributions, let me set out the shared experimental setup, so that you can be confident the comparisons are fair: the datasets, the splitting, the baselines, the metrics and the hardware. Time check: about minute ten.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take the four datasets in turn. First, Portuguese white wines: four thousand eight hundred and ninety-eight samples with eleven laboratory measurements. I chose it because every column has a physical meaning, so when the explanation says density and pH, a wine maker knows exactly what to 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Beijing air quality: three hundred and eighty-three thousand hourly records, with six pollutants and five weather variables. It's large, it's noisy, it's seasonal, and that's exactly why it's the stress test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MovieLens-1M: about one million ratings from six thousand users over three thousand seven hundred movies. I use it because it's the standard benchmark, so the numbers stay comparable with LightGCN, HCCF and HPCF.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fourth, Amazon-Book: fifty-two thousand users, three million interactions, and a density of six in ten thousand. This is the sparse end of the range, so it tests whether Shapley weighting helps most exactly where the signal is weakest.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splitting, the design is built against leakage. For clustering I use five-fold cross-validation. For recommendation, a user-level, time-ordered split with a leave-one-out target and popularity-aware negatives. Five seeds throughout, with early stopping on validation NDCG.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baselines, the clustering comparison is a LIME-based surrogate, which is the usual rival to SHAP. For recommendation there are six baselines from four families, with HPCF from 2025 as the strongest. I want to be careful here: I only claim to be better than the models I actually tested.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metrics, NDCG at twenty is the headline. Then two beyond-accuracy measures: coverage, which is the fraction of the catalogue ever recommended, and intra-list diversity, the average dissimilarity inside a single list. It's worth noting that ILD is built into the DyHuCoG utility, not merely reported afterwards. For clustering, the Silhouette, which as we'll see is also the value function of the clustering game.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hardware, which I mention only because it explains the runtime figures you'll see later: an Intel Core i9 for the clustering work, and one RTX 4090 for DyHuCoG. Standard academic hardware, nothing exotic.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move on to Contribution I, which is about explaining black-box clustering with Shapley values, and which answers RQ1. Time check: about minute thirteen.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why start with clustering? Because the model creates its own structure, so the meaning of a cluster has to be worked out after the fact, and that makes it the hardest possible test bed for attribution. So here's the gap: existing methods give a local or a global explanation, rarely both, and local surrogates such as LIME carry no guarantee that the credit they assign is fair or stable. In short, there's no axiomatic way to explain a black-box partition in the original feature space.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three objectives for RQ1. A cluster-level explanation that still keeps feature-level attribution. Attribution in the original feature space, because that's what makes it actionable. Finally, a real argument for why Shapley is the right allocation rule, rather than an ad-hoc surrogate.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before the method, I need one slide on the mathematics the whole thesis rests on, because everything after this uses it. A cooperative game has three ingredients: a set of players, coalitions, which are simply any subset of them, and a characteristic function v that tells you the value each coalition creates on its own. The question is one of fairness: the grand coalition earns v of N, so how should that be shared? Let's take a three-piece band. Alone they earn sixty, forty and twenty. Guitar and Voice together earn one hundred and forty, which is more than their sum, and all three together earn two hundred. That synergy is the whole point, because a fair split has to credit what a player adds to the others, not only what they earn alone. Shapley's answer, from 1953, is to let the players arrive one at a time in a random order and pay each what they add on arrival. Average that over the six orders and you get ninety, seventy and forty, which sums exactly to two hundred. The four axioms on the right, efficiency, symmetry, null player and additivity, are why this is the right rule: Shapley proved it's the only rule that satisfies all four at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now we can set clustering up as a cooperative game. The features are the players, and the value of a coalition is the Silhouette of K-Means run on that subset of features. There's a problem, though: with eleven features that's two to the power eleven coalitions, so we need a bridge. Here's the reasoning. TreeSHAP explains trees, not centroids, and explaining the PCA space would move attribution away from the variables we actually care about. Instead, then, K-Means gives the labels, a LightGBM classifier learns to predict them from the original features, and TreeSHAP explains that surrogate exactly. What makes this valid is surrogate fidelity, with a macro-F1 of about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protocol that follows from it. K-Means plus-plus with k scanned from two to ten, chosen by elbow, Silhouette, Davies-Bouldin and an interpretability check. A LightGBM surrogate with five-fold cross-validation, exact TreeSHAP in the original space, and a LIME surrogate on the same partition as the comparison. Success means three things: the fidelity floor is met, the ranking is chemically meaningful, and the clusters have distinct signatures.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there's an honest point I want to make here, because a member of the jury may well notice it. I select three clusters on purpose, even though the geometry prefers two: the Silhouette is 0.214 at k equals two against 0.144 at k equals three. So why choose the worse geometry? Because three clusters support three distinct, chemically meaningful wine stories, and that's far more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what comes out. The global ranking is led by density, then pH, fixed acidity, the sulfur dioxide variables and alcohol, which is exactly what a wine expert would name for structure, for keeping the wine sound, and for balance. The strip underneath is Figure 5.2, the per-cluster signatures, where you can see that each cluster has its own balance of the same small set of variables. A cluster, in other words, isn't just a label. It's a distinct combination of drivers.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 to RQ1 is yes. Shapley values do explain a black-box partition faithfully, as long as the surrogate has high fidelity, and consistently at cluster level. On the third objective: SHAP satisfies the four axioms and gives local and global readings that compare across clusters, whereas LIME fits a local surrogate with no such guarantee. There's one caveat I want to state clearly, which is that efficiency holds with respect to the surrogate output, not directly to the Silhouette game, and that's exactly why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summarise Contribution I: the partition is explained at cluster and instance level, in the original variables, with a chemically meaningful ranking and an axiomatic basis that LIME simply doesn't have.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there are limits, and I'd rather state them than have them found. The explanation depends on surrogate fidelity, not on the K-Means geometry directly. It's limited to tabular data. And above all it's single-level: it can't yet tell you how importance changes between a partition and its sub-partitions. That last point is what starts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from Contribution I is that Shapley attribution is a well-founded lens for an unsupervised partition, and keeping it in the original feature space is what makes it actionable. Real data, of course, are rarely single-level.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that's exactly where Contribution II begins: taking the same explanation to scale and across levels, and answering RQ2. Time check: about minute twenty-one.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what's the gap here? Once clustering becomes multi-level, feature importance has to stay readable within a cluster, across sub-clusters, and across the levels themselves. Three hundred and eighty-three thousand records can't be explained coalition by coalition. On top of that, the hierarchical clustering literature gives no formal link between a parent's explanation and its children's.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three objectives again. A truly multi-level workflow with level-specific surrogates. A formal cross-level consistency argument, which is Proposition 6.1. Finally, validation on data that's very far from wine.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method. The workflow is recursive: a coarse clustering on the full data, and then each cluster split again where that makes sense. Each level gets its own surrogate and its own SHAP values, always in the same original space. The aggregation is not a simple average, and that is on purpose: a parent's attribution is a size-weighted expectation over its children. One point of method I want to flag: the hierarchy is an analysis tool here, not a claim that the data have a true natural hierarchy.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this is the mathematical heart of the contribution, so let me take it slowly. Proposition 6.1 says that, for a strict nested hierarchy on a consistent feature space, the parent's importance equals the size-weighted sum of its children's importance, plus a residual that comes from surrogate mismatch and goes to zero under perfect fidelity. The proof itself is just the law of total expectation. I want to be precise about what it doesn't say: it doesn't claim explanations are identical across levels. It says their differences can be interpreted, rather than written off as inconsistency.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protocol is the same template, applied to Beijing. Level one is K-Means plus-plus on the full data. Level two splits each coarse cluster again, so three regimes become nine sub-clusters. One surrogate and exact TreeSHAP per level, aggregation by Proposition 6.1, and a sensitivity analysis over k, projection dimension and surrogate depth.</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look at the data. On Beijing the selection criteria agree strongly: three clusters, a Silhouette of about 0.63, and a Davies-Bouldin of about 0.55, which means the clusters rarely overlap. The two-component PCA view is there for inspection only. The conclusions turn out to be robust to small changes in k, in projection dimension and in surrogate depth. Only the low-ranked variables move.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global ranking, which is the first really surprising result. It's led by temperature, dew point and pressure, and only then by carbon monoxide, nitrogen dioxide and the particulates. The weather variables, not the pollutants, dominate. That makes physical sense, because temperature, dew point and pressure control dispersion, trapping and sunlight-driven chemistry, so they set the conditions under which pollution builds up. A naive ranking of concentrations would have missed it completely.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slide is the main payoff of the whole contribution. At the coarse level, temperature and dew point dominate, because they separate the broad regimes. The force plots then separate out three of them: a warm, sunlight-driven summer regime where ozone stands out, then a winter smog regime with carbon monoxide, sulfur dioxide and particulate matter under low wind, and a fairly clean regime. Inside single clusters, though, the variables that matter shift. That isn't a contradiction. The parent-level story is regime selection, the cluster-level story is variation within a regime, and Proposition 6.1 is what lets us read the shift as structure rather than as noise.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 to RQ2 is yes, within bounds. Consistency is kept at scale and across levels, provided the hierarchy is modelled openly and the approximation is transparent. The bound I want to be honest about is that this is still an explanation of a partition that was already computed.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other words, the explanation scales because the hierarchy is explicit, Proposition 6.1 makes cross-level differences interpretable, and the logic transfers from four thousand eight hundred and ninety-eight wines to three hundred and eighty-three thousand air-quality records.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again, the limitations. The clustering stays static, even though the Beijing data are temporal. Surrogate-based SHAP with representative instances smooths out variation. Most important of all, the attribution is still post-hoc: it never changes how the model learns. That's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from Contribution II is that Shapley attribution stays consistent across levels of detail once the hierarchy is explicit, which means explanations become interpretable against scale, not just against one flat partition. It still explains a partition that was already computed, though. Which leaves the question: can cooperative attribution move beyond explanation and become part of how a recommender learns?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 brings us to Contribution III, DyHuCoG, where attribution moves inside the training loop. Time check: about minute twenty-seven.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gap here is subtle but important. Every hypergraph recommender treats its messages as equally important, and where attribution exists at all, it's computed after training. The explanation therefore describes a model it didn't help to build. The question I ask is whether attribution can be part of the learning instead.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gives us two research questions and three objectives. RQ3 asks whether attribution can become part of the learning. RQ4 asks whether ranking, context and diversity can improve together. The objectives are: recommendation as a cooperative game over users, items and contexts, then preference-aware Monte Carlo Shapley inside message passing, and those three metrics improving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game. The players are users, items and contexts, joined by hyperedges whose weights come from Shapley estimates. A coalition is the set of entities taking part in one recommendation episode, and its value is the quality of what they achieve together. That value is explicit on the screen: accuracy, diversity and context, weighted sixty, twenty-five and fifteen, plus a preference term. The trade-off the recommender has to satisfy is therefore exactly the one attribution is computed from, which means the game and the objective are aligned by design. You'll notice this mirrors the clustering game on purpose: same logic, different value function.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exact Shapley is of course combinatorial, so we estimate it by Monte Carlo: over M sampled coalitions, we average the value with the player minus the value without. The estimator is unbiased, and its error falls as one over root M. We chose M equal to fifty, which gives about ninety-nine percent accuracy, refreshed every ten batches and smoothed by an exponential moving average.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architecture, which is really the key move. Base propagation is standard hypergraph message passing. The Shapley-weighted version multiplies each message by a normalised Shapley coefficient. An attention gate then blends that with the standard score as a stabiliser, and a context term is added. Look at the last row, which is the training loss: BPR, plus diversity, plus context, plus regularisation. The model, in other words, optimises exactly the same balance that the attribution is computed from.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protocol here is heavier, so let me be brief. Two datasets, six baselines, four metrics, five seeds. Paired t-tests and Wilcoxon on per-user NDCG, with Holm-Bonferroni correction and Cohen's d. An ablation removes one component at a time. Success means beating HPCF on both datasets with corrected p below 0.05, coverage and diversity rising together, and overhead within about two times HPCF.</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headline result on MovieLens-1M, with DyHuCoG in bold, best on all four metrics. HPCF reaches an NDCG of 0.2528. DyHuCoG gives 0.2775, which is plus 9.8 percent, and recall rises from 0.2098 to 0.2362. Notice that coverage and diversity rise at the same time, which isn't a coincidence: diversity is part of the coalition utility, not a re-ranking step. The gap widens from classical to graph to hypergraph, and DyHuCoG adds one more step.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same table on much sparser data, where the relative gains are larger still: plus 13.3 percent NDCG, plus 16 percent recall, and coverage up nearly thirty percent. The absolute values look low for every model, and that's simply because the matrix is almost empty. What matters, then, is the consistent ordering, and the fact that the gap is wider where the data are weakest.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does every component earn its place? This is the ablation, per dataset. Context matters most, at minus 8.2 and minus 11 percent. The hypergraph structure is second. Removing the Shapley weighting costs 4.6 and 6.1 percent, and more on the sparser data. Every component contributes, then, and no single one explains the whole gain.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report the cost openly, because it isn't free. DyHuCoG trains in about two thousand seconds against eleven hundred for HPCF, so roughly 1.78 times. Inference is 1.84 milliseconds per query on MovieLens, which is well within real time. On convergence, M equal to fifty gives ninety-nine percent accuracy, so fifty is the right operating point.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is the improvement real, or is it just a large sample? These are paired t-tests over six thousand and forty users, Holm-Bonferroni corrected. Against HPCF the t-statistic is 46.38 and Cohen's d is 1.33, and Wilcoxon agrees. The effect size is what matters here, because with six thousand users even a tiny difference can look significant. Beyond accuracy, cold users gain about ten percent and cold items 9.6, and the gain holds on Yelp2018. These tests cover MovieLens-1M. Amazon-Book stays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answers. For RQ3, yes: the Shapley estimates set the hyperedge weights while the model is learning. For RQ4, yes as well: ranking, coverage and diversity improve together on both datasets, with the largest gains where the data are sparsest. All three objectives are met.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then: attribution becomes part of how the recommender learns, the accuracy-diversity trade-off moves, and the improvement is statistically large.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limitations, stated honestly. There's a compute overhead. It depends on meaningful context, so on data without usable context the gain shrinks. The Monte Carlo estimator could still use variance reduction. The ablation removes one component at a time, so it doesn't test combinations. The baselines, finally, were fixed in early 2026, so again, I only claim to be better than the models I tested.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takeaway here is really the shift in thinking behind the whole thesis. Attribution becomes a first-class part of the learning objective rather than a post-hoc check, which means the explanation is a direct read-out of what the model optimises. In other words, it's faithful by design.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let's bring everything together: the synthesis, the publications, the limitations, and the perspectives. Time check: about minute thirty-five.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three contributions on one thread: explain, scale, guide. C1 explains a black-box partition in the chemistry. C2 keeps that explanation consistent across levels, with Proposition 6.1 as the formal argument. And C3 carries the same logic inside the learning of a recommender. One definition, then, three value functions.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publications, there are three journal articles, all with me as first author: Procedia Computer Science in 2023, IJACSA in 2025, and IJIES in 2026 for DyHuCoG. IJACSA and IJIES are both Scopus-indexed.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now the limitations of the thesis as a whole. On computation, exact Shapley isn't feasible, so every contribution relies on approximation or surrogates. On method, the clustering chapters depend on surrogate fidelity, and the recommendation results on meaningful context. On experiments, the clustering work is tabular and the recommendation work is offline, and there's no user study of actionability yet. On the claim itself: this isn't one unified framework that removes all tension, but a shared, well-founded view that works across both tasks.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leads straight into future work. Lower-variance estimators and adaptive refresh rules. Online and streaming recommendation, with graphs that keep changing. A user-centred evaluation, asking whether these explanations actually improve judgement and trust. Finally, a broader trustworthy-AI evaluation, including fairness.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conclude. Cooperative game theory can serve as a shared methodological view for actionable explanation across clustering and recommendation. There are four outcomes I'd like to leave you with. First, Shapley attribution as a common formal language. Second, three concrete achievements. Third, explanation treated as method rather than as a comment added later. And fourth, a position that's aligned with the EU AI Act and the OECD principles.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references, in footnote order. I won't read them out. They're here so that every footnote number can be found.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half of the reference list, including the datasets, the statistical tests, and the related article with the team.</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thank you very much for your attention. I'd be very happy to take your questions, and to go deeper into any part of the method, the mathematics or the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leave this slide up during the discussion, since it repeats the title and the jury. Thank you again, and I'm ready for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complete Table 7.1: every baseline, both datasets, with mean and standard deviation over five seeds. Two points, if useful. The standard deviations are about one tenth of the gap between DyHuCoG and HPCF on every metric, so the ordering doesn't depend on the seed. The improvement is also consistent across all four metrics, not concentrated on one.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full Table 7.6: paired t-tests of DyHuCoG against every baseline on per-user NDCG, on MovieLens-1M, over six thousand and forty users. Holm-Bonferroni gives each of the six p-values its own threshold, and every p-value is many orders of magnitude below it. Cohen's d is 1.33 against HPCF and larger against the weaker baselines, and above 0.8 is normally counted as large. Wilcoxon agrees.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finally, the cost figures. Table 7.3 gives training time, inference latency and memory for every model on both datasets: DyHuCoG trains in about two thousand seconds against eleven hundred for HPCF, and inference stays under two milliseconds per query. Table 7.4 is the Monte Carlo convergence study, where ten permutations give about ninety-five percent accuracy and fifty give ninety-nine. Fifty, then, is the knee of the curve.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11.xml"/><Relationship Id="rId5" Type="http://schemas.openxmlformats.org/officeDocument/2006/relationships/image" Target="../media/image5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24.xml"/><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61.png"/><Relationship Id="rId10" Type="http://schemas.openxmlformats.org/officeDocument/2006/relationships/image" Target="../media/image62.png"/><Relationship Id="rId11" Type="http://schemas.openxmlformats.org/officeDocument/2006/relationships/image" Target="../media/image6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29.xml"/><Relationship Id="rId5" Type="http://schemas.openxmlformats.org/officeDocument/2006/relationships/image" Target="../media/image64.png"/><Relationship Id="rId6" Type="http://schemas.openxmlformats.org/officeDocument/2006/relationships/image" Target="../media/image6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3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33.xml"/><Relationship Id="rId5" Type="http://schemas.openxmlformats.org/officeDocument/2006/relationships/image" Target="../media/image66.png"/><Relationship Id="rId6" Type="http://schemas.openxmlformats.org/officeDocument/2006/relationships/image" Target="../media/image6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41.xml"/><Relationship Id="rId5" Type="http://schemas.openxmlformats.org/officeDocument/2006/relationships/image" Target="../media/image68.png"/><Relationship Id="rId6" Type="http://schemas.openxmlformats.org/officeDocument/2006/relationships/image" Target="../media/image6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42.xml"/><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45.xml"/><Relationship Id="rId5"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46.xml"/><Relationship Id="rId5"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54.xml"/><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55.xml"/><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56.xm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61.xml"/><Relationship Id="rId5" Type="http://schemas.openxmlformats.org/officeDocument/2006/relationships/image" Target="../media/image9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62.xml"/><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7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5.jpg"/><Relationship Id="rId4" Type="http://schemas.openxmlformats.org/officeDocument/2006/relationships/image" Target="../media/image26.png"/><Relationship Id="rId5" Type="http://schemas.openxmlformats.org/officeDocument/2006/relationships/image" Target="../media/image33.png"/><Relationship Id="rId6"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79.xml"/></Relationships>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PHD THESIS DEFENCE  ·  COMPUTER SCIENCE</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02</a:t>
            </a:r>
          </a:p>
        </p:txBody>
      </p:sp>
      <p:sp>
        <p:nvSpPr>
          <p:cNvPr id="7" name="TextBox 6"/>
          <p:cNvSpPr txBox="1"/>
          <p:nvPr/>
        </p:nvSpPr>
        <p:spPr>
          <a:xfrm>
            <a:off x="1028700" y="1737360"/>
            <a:ext cx="16230600" cy="1463040"/>
          </a:xfrm>
          <a:prstGeom prst="rect">
            <a:avLst/>
          </a:prstGeom>
          <a:noFill/>
        </p:spPr>
        <p:txBody>
          <a:bodyPr anchor="t" rtlCol="false" lIns="0" tIns="0" rIns="0" bIns="0" wrap="square"/>
          <a:lstStyle/>
          <a:p>
            <a:pPr algn="ctr">
              <a:lnSpc>
                <a:spcPts val="9600"/>
              </a:lnSpc>
              <a:spcBef>
                <a:spcPts val="0"/>
              </a:spcBef>
              <a:buNone/>
            </a:pPr>
            <a:r>
              <a:rPr lang="en-US" sz="9200" b="true" spc="-500">
                <a:solidFill>
                  <a:srgbClr val="111111"/>
                </a:solidFill>
                <a:latin typeface="Roca Two Bold"/>
                <a:ea typeface="Roca Two Bold"/>
                <a:cs typeface="Roca Two Bold"/>
                <a:sym typeface="Roca Two Bold"/>
              </a:rPr>
              <a:t>Outline</a:t>
            </a:r>
          </a:p>
        </p:txBody>
      </p:sp>
      <p:pic>
        <p:nvPicPr>
          <p:cNvPr id="8" name="Picture 7" descr="image.png"/>
          <p:cNvPicPr>
            <a:picLocks noChangeAspect="1"/>
          </p:cNvPicPr>
          <p:nvPr/>
        </p:nvPicPr>
        <p:blipFill>
          <a:blip r:embed="rId3"/>
          <a:stretch>
            <a:fillRect/>
          </a:stretch>
        </p:blipFill>
        <p:spPr>
          <a:xfrm>
            <a:off x="11612880" y="1554480"/>
            <a:ext cx="548640" cy="301180"/>
          </a:xfrm>
          <a:prstGeom prst="rect">
            <a:avLst/>
          </a:prstGeom>
        </p:spPr>
      </p:pic>
      <p:pic>
        <p:nvPicPr>
          <p:cNvPr id="9" name="Picture 8" descr="image.png"/>
          <p:cNvPicPr>
            <a:picLocks noChangeAspect="1"/>
          </p:cNvPicPr>
          <p:nvPr/>
        </p:nvPicPr>
        <p:blipFill>
          <a:blip r:embed="rId4"/>
          <a:stretch>
            <a:fillRect/>
          </a:stretch>
        </p:blipFill>
        <p:spPr>
          <a:xfrm rot="10800000">
            <a:off x="5943600" y="2651760"/>
            <a:ext cx="502920" cy="276082"/>
          </a:xfrm>
          <a:prstGeom prst="rect">
            <a:avLst/>
          </a:prstGeom>
        </p:spPr>
      </p:pic>
      <p:sp>
        <p:nvSpPr>
          <p:cNvPr id="10" name="TextBox 9"/>
          <p:cNvSpPr txBox="1"/>
          <p:nvPr/>
        </p:nvSpPr>
        <p:spPr>
          <a:xfrm>
            <a:off x="1028700" y="3246120"/>
            <a:ext cx="16230600" cy="457200"/>
          </a:xfrm>
          <a:prstGeom prst="rect">
            <a:avLst/>
          </a:prstGeom>
          <a:noFill/>
        </p:spPr>
        <p:txBody>
          <a:bodyPr anchor="t" rtlCol="false" lIns="0" tIns="0" rIns="0" bIns="0" wrap="square"/>
          <a:lstStyle/>
          <a:p>
            <a:pPr algn="ctr">
              <a:lnSpc>
                <a:spcPts val="2600"/>
              </a:lnSpc>
              <a:spcBef>
                <a:spcPts val="0"/>
              </a:spcBef>
              <a:buNone/>
            </a:pPr>
            <a:r>
              <a:rPr lang="en-US" sz="2100" b="true">
                <a:solidFill>
                  <a:srgbClr val="8A8378"/>
                </a:solidFill>
                <a:latin typeface="Nunito Semi-Bold"/>
                <a:ea typeface="Nunito Semi-Bold"/>
                <a:cs typeface="Nunito Semi-Bold"/>
                <a:sym typeface="Nunito Semi-Bold"/>
              </a:rPr>
              <a:t>Seven parts  ·  each contribution follows the same structure: research gap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objectives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methodology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protocol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results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findings</a:t>
            </a:r>
          </a:p>
        </p:txBody>
      </p:sp>
      <p:sp>
        <p:nvSpPr>
          <p:cNvPr id="11" name="Rounded Rectangle 10"/>
          <p:cNvSpPr/>
          <p:nvPr/>
        </p:nvSpPr>
        <p:spPr>
          <a:xfrm>
            <a:off x="102870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01</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Introduction</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Motivation · Actionable insight · Why XAI matters</a:t>
            </a:r>
          </a:p>
        </p:txBody>
      </p:sp>
      <p:sp>
        <p:nvSpPr>
          <p:cNvPr id="12" name="Rounded Rectangle 11"/>
          <p:cNvSpPr/>
          <p:nvPr/>
        </p:nvSpPr>
        <p:spPr>
          <a:xfrm>
            <a:off x="515493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02</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Context &amp; Problematic</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Four approaches · Limitations · Research questions</a:t>
            </a:r>
          </a:p>
        </p:txBody>
      </p:sp>
      <p:sp>
        <p:nvSpPr>
          <p:cNvPr id="13" name="Rounded Rectangle 12"/>
          <p:cNvSpPr/>
          <p:nvPr/>
        </p:nvSpPr>
        <p:spPr>
          <a:xfrm>
            <a:off x="928116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03</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Experimental Protocol</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Four datasets · Baselines · Metrics · Hardware</a:t>
            </a:r>
          </a:p>
        </p:txBody>
      </p:sp>
      <p:sp>
        <p:nvSpPr>
          <p:cNvPr id="14" name="Rounded Rectangle 13"/>
          <p:cNvSpPr/>
          <p:nvPr/>
        </p:nvSpPr>
        <p:spPr>
          <a:xfrm>
            <a:off x="1340739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04</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Deep dive: cooperative games · Explainable clustering (Wine)</a:t>
            </a:r>
          </a:p>
        </p:txBody>
      </p:sp>
      <p:sp>
        <p:nvSpPr>
          <p:cNvPr id="15" name="Rounded Rectangle 14"/>
          <p:cNvSpPr/>
          <p:nvPr/>
        </p:nvSpPr>
        <p:spPr>
          <a:xfrm>
            <a:off x="102870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05</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Contribution II</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Multi-level XAI for large-scale clustering (Beijing)</a:t>
            </a:r>
          </a:p>
        </p:txBody>
      </p:sp>
      <p:sp>
        <p:nvSpPr>
          <p:cNvPr id="16" name="Rounded Rectangle 15"/>
          <p:cNvSpPr/>
          <p:nvPr/>
        </p:nvSpPr>
        <p:spPr>
          <a:xfrm>
            <a:off x="5154930" y="667512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06</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III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DyHuCoG: a cooperative game on hypergraphs</a:t>
            </a:r>
          </a:p>
        </p:txBody>
      </p:sp>
      <p:sp>
        <p:nvSpPr>
          <p:cNvPr id="17" name="Rounded Rectangle 16"/>
          <p:cNvSpPr/>
          <p:nvPr/>
        </p:nvSpPr>
        <p:spPr>
          <a:xfrm>
            <a:off x="928116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07</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Conclusion &amp; Perspectives</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Synthesis · Publications · Perspectives · References</a:t>
            </a:r>
          </a:p>
        </p:txBody>
      </p:sp>
      <p:sp>
        <p:nvSpPr>
          <p:cNvPr id="18" name="Rounded Rectangle 17"/>
          <p:cNvSpPr/>
          <p:nvPr/>
        </p:nvSpPr>
        <p:spPr>
          <a:xfrm>
            <a:off x="13407390" y="6675120"/>
            <a:ext cx="3851910" cy="2331720"/>
          </a:xfrm>
          <a:prstGeom prst="roundRect">
            <a:avLst>
              <a:gd name="adj" fmla="val 15686"/>
            </a:avLst>
          </a:prstGeom>
          <a:solidFill>
            <a:srgbClr val="ECC665"/>
          </a:solidFill>
          <a:ln>
            <a:noFill/>
          </a:ln>
        </p:spPr>
        <p:txBody>
          <a:bodyPr anchor="ctr" rtlCol="false" lIns="91440" tIns="45720" rIns="91440" bIns="45720" wrap="square"/>
          <a:lstStyle/>
          <a:p>
            <a:pPr algn="ctr">
              <a:lnSpc>
                <a:spcPts val="4800"/>
              </a:lnSpc>
              <a:spcBef>
                <a:spcPts val="0"/>
              </a:spcBef>
              <a:buNone/>
            </a:pPr>
            <a:r>
              <a:rPr lang="en-US" sz="4400" b="true" spc="-200">
                <a:solidFill>
                  <a:srgbClr val="111111"/>
                </a:solidFill>
                <a:latin typeface="Roca Two Bold"/>
                <a:ea typeface="Roca Two Bold"/>
                <a:cs typeface="Roca Two Bold"/>
                <a:sym typeface="Roca Two Bold"/>
              </a:rPr>
              <a:t>Q &amp; A</a:t>
            </a:r>
          </a:p>
          <a:p>
            <a:pPr algn="ctr">
              <a:lnSpc>
                <a:spcPts val="2100"/>
              </a:lnSpc>
              <a:spcBef>
                <a:spcPts val="600"/>
              </a:spcBef>
              <a:buNone/>
            </a:pPr>
            <a:r>
              <a:rPr lang="en-US" sz="1700" b="true">
                <a:solidFill>
                  <a:srgbClr val="111111"/>
                </a:solidFill>
                <a:latin typeface="Nunito Bold"/>
                <a:ea typeface="Nunito Bold"/>
                <a:cs typeface="Nunito Bold"/>
                <a:sym typeface="Nunito Bold"/>
              </a:rPr>
              <a:t>Discussion with the jury  ·  backup tables at the 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03</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Introduction</a:t>
            </a:r>
          </a:p>
        </p:txBody>
      </p:sp>
      <p:sp>
        <p:nvSpPr>
          <p:cNvPr id="8" name="Oval 7"/>
          <p:cNvSpPr/>
          <p:nvPr/>
        </p:nvSpPr>
        <p:spPr>
          <a:xfrm>
            <a:off x="11961761"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1961761"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01</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Why explainability is a core requirement for recommender systems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Motivation</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Black-box AI systems shape what billions of people see, buy and watch every day: accurate, but not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Actionable insight</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An explanation is useful when it names a factor, in the domain's own words, that a designer can change.</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Research context</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From matrix factorisation to hypergraph recommenders: each step added modelling power and removed transparency.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Motivation: Three Questions</a:t>
            </a:r>
          </a:p>
        </p:txBody>
      </p:sp>
      <p:pic>
        <p:nvPicPr>
          <p:cNvPr id="23" name="Picture 22" descr="image.png"/>
          <p:cNvPicPr>
            <a:picLocks noChangeAspect="1"/>
          </p:cNvPicPr>
          <p:nvPr/>
        </p:nvPicPr>
        <p:blipFill>
          <a:blip r:embed="rId3"/>
          <a:stretch>
            <a:fillRect/>
          </a:stretch>
        </p:blipFill>
        <p:spPr>
          <a:xfrm>
            <a:off x="8592285" y="1673352"/>
            <a:ext cx="457200" cy="250983"/>
          </a:xfrm>
          <a:prstGeom prst="rect">
            <a:avLst/>
          </a:prstGeom>
        </p:spPr>
      </p:pic>
      <p:sp>
        <p:nvSpPr>
          <p:cNvPr id="24" name="Rounded Rectangle 23"/>
          <p:cNvSpPr/>
          <p:nvPr/>
        </p:nvSpPr>
        <p:spPr>
          <a:xfrm>
            <a:off x="1028700" y="2559050"/>
            <a:ext cx="171580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Rounded Rectangle 26"/>
          <p:cNvSpPr/>
          <p:nvPr/>
        </p:nvSpPr>
        <p:spPr>
          <a:xfrm>
            <a:off x="102870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216867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Everywhere</a:t>
            </a:r>
          </a:p>
        </p:txBody>
      </p:sp>
      <p:sp>
        <p:nvSpPr>
          <p:cNvPr id="29" name="TextBox 28"/>
          <p:cNvSpPr txBox="1"/>
          <p:nvPr/>
        </p:nvSpPr>
        <p:spPr>
          <a:xfrm>
            <a:off x="148590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do black-box AI systems shape what billions of users see, buy and watch every day?</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Recommenders shape news, study, health and credit decisions; market &gt; $15B by 2029.</a:t>
            </a:r>
          </a:p>
        </p:txBody>
      </p:sp>
      <p:sp>
        <p:nvSpPr>
          <p:cNvPr id="30" name="Rounded Rectangle 29"/>
          <p:cNvSpPr/>
          <p:nvPr/>
        </p:nvSpPr>
        <p:spPr>
          <a:xfrm>
            <a:off x="654558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1" name="Rounded Rectangle 30"/>
          <p:cNvSpPr/>
          <p:nvPr/>
        </p:nvSpPr>
        <p:spPr>
          <a:xfrm>
            <a:off x="7002780" y="3354578"/>
            <a:ext cx="248842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The Black Box</a:t>
            </a:r>
          </a:p>
        </p:txBody>
      </p:sp>
      <p:sp>
        <p:nvSpPr>
          <p:cNvPr id="32" name="TextBox 31"/>
          <p:cNvSpPr txBox="1"/>
          <p:nvPr/>
        </p:nvSpPr>
        <p:spPr>
          <a:xfrm>
            <a:off x="700278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Why do state-of-the-art recommenders and clustering pipelines stay black boxes for users and designers?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Deep &amp; graph models: hidden logic, hard to audit. EU AI Act: high-risk </a:t>
            </a:r>
            <a:r>
              <a:rPr lang="en-US" sz="1800" b="true">
                <a:solidFill>
                  <a:srgbClr val="CFDAD6"/>
                </a:solidFill>
                <a:latin typeface="Calibri"/>
                <a:ea typeface="Calibri"/>
                <a:cs typeface="Calibri"/>
                <a:sym typeface="Calibri"/>
              </a:rPr>
              <a:t>→ </a:t>
            </a:r>
            <a:r>
              <a:rPr lang="en-US" sz="1800" b="true">
                <a:solidFill>
                  <a:srgbClr val="CFDAD6"/>
                </a:solidFill>
                <a:latin typeface="Nunito Semi-Bold"/>
                <a:ea typeface="Nunito Semi-Bold"/>
                <a:cs typeface="Nunito Semi-Bold"/>
                <a:sym typeface="Nunito Semi-Bold"/>
              </a:rPr>
              <a:t>must explain.</a:t>
            </a:r>
          </a:p>
        </p:txBody>
      </p:sp>
      <p:sp>
        <p:nvSpPr>
          <p:cNvPr id="33" name="Rounded Rectangle 32"/>
          <p:cNvSpPr/>
          <p:nvPr/>
        </p:nvSpPr>
        <p:spPr>
          <a:xfrm>
            <a:off x="1206246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12519660" y="3354578"/>
            <a:ext cx="2395577"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Toward Trust</a:t>
            </a:r>
          </a:p>
        </p:txBody>
      </p:sp>
      <p:sp>
        <p:nvSpPr>
          <p:cNvPr id="35" name="TextBox 34"/>
          <p:cNvSpPr txBox="1"/>
          <p:nvPr/>
        </p:nvSpPr>
        <p:spPr>
          <a:xfrm>
            <a:off x="1251966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can transparency be built into the model, instead of being added afterwards?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Insight that is accountable, auditable and actionable, not just accurate.</a:t>
            </a:r>
          </a:p>
        </p:txBody>
      </p:sp>
      <p:sp>
        <p:nvSpPr>
          <p:cNvPr id="36" name="Rounded Rectangle 35"/>
          <p:cNvSpPr/>
          <p:nvPr/>
        </p:nvSpPr>
        <p:spPr>
          <a:xfrm>
            <a:off x="1028700" y="8118602"/>
            <a:ext cx="16230600" cy="868680"/>
          </a:xfrm>
          <a:prstGeom prst="roundRect">
            <a:avLst>
              <a:gd name="adj" fmla="val 26315"/>
            </a:avLst>
          </a:prstGeom>
          <a:solidFill>
            <a:srgbClr val="F6ECDF"/>
          </a:solidFill>
          <a:ln>
            <a:noFill/>
          </a:ln>
        </p:spPr>
        <p:txBody>
          <a:bodyPr anchor="ctr" rtlCol="false" lIns="365760" tIns="91440" rIns="365760" bIns="91440" wrap="square"/>
          <a:lstStyle/>
          <a:p>
            <a:pPr algn="ctr">
              <a:lnSpc>
                <a:spcPts val="2600"/>
              </a:lnSpc>
              <a:spcBef>
                <a:spcPts val="0"/>
              </a:spcBef>
              <a:buNone/>
            </a:pPr>
            <a:r>
              <a:rPr lang="en-US" sz="2000" b="true">
                <a:solidFill>
                  <a:srgbClr val="111111"/>
                </a:solidFill>
                <a:latin typeface="Nunito Bold"/>
                <a:ea typeface="Nunito Bold"/>
                <a:cs typeface="Nunito Bold"/>
                <a:sym typeface="Nunito Bold"/>
              </a:rPr>
              <a:t>The core tension:</a:t>
            </a:r>
            <a:r>
              <a:rPr lang="en-US" sz="2000" b="true">
                <a:solidFill>
                  <a:srgbClr val="111111"/>
                </a:solidFill>
                <a:latin typeface="Nunito Semi-Bold"/>
                <a:ea typeface="Nunito Semi-Bold"/>
                <a:cs typeface="Nunito Semi-Bold"/>
                <a:sym typeface="Nunito Semi-Bold"/>
              </a:rPr>
              <a:t> as models gain power, they lose the transparency needed for trustworthy use. This thesis treats </a:t>
            </a:r>
            <a:r>
              <a:rPr lang="en-US" sz="2000" b="true">
                <a:solidFill>
                  <a:srgbClr val="111111"/>
                </a:solidFill>
                <a:latin typeface="Nunito Bold"/>
                <a:ea typeface="Nunito Bold"/>
                <a:cs typeface="Nunito Bold"/>
                <a:sym typeface="Nunito Bold"/>
              </a:rPr>
              <a:t>accuracy and interpretability as goals to be met together</a:t>
            </a:r>
            <a:r>
              <a:rPr lang="en-US" sz="2000" b="true">
                <a:solidFill>
                  <a:srgbClr val="111111"/>
                </a:solidFill>
                <a:latin typeface="Nunito Semi-Bold"/>
                <a:ea typeface="Nunito Semi-Bold"/>
                <a:cs typeface="Nunito Semi-Bold"/>
                <a:sym typeface="Nunito Semi-Bold"/>
              </a:rPr>
              <a:t>, not traded against each other.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[25] Doshi-Velez, F. &amp; Kim, B. Towards a Rigorous Science of Interpretable Machine Learning. arXiv:1702.08608 (2017).  ·  Rudin, C. et al. Interpretable ML: Fundamental Principles and 10 Grand Challenges. Statistics Surveys 16 (2022).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Actionable Insight: the Definition</a:t>
            </a:r>
          </a:p>
        </p:txBody>
      </p:sp>
      <p:pic>
        <p:nvPicPr>
          <p:cNvPr id="23" name="Picture 22" descr="image.png"/>
          <p:cNvPicPr>
            <a:picLocks noChangeAspect="1"/>
          </p:cNvPicPr>
          <p:nvPr/>
        </p:nvPicPr>
        <p:blipFill>
          <a:blip r:embed="rId3"/>
          <a:stretch>
            <a:fillRect/>
          </a:stretch>
        </p:blipFill>
        <p:spPr>
          <a:xfrm>
            <a:off x="9706798" y="1673352"/>
            <a:ext cx="457200" cy="415247"/>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TextBox 26"/>
          <p:cNvSpPr txBox="1"/>
          <p:nvPr/>
        </p:nvSpPr>
        <p:spPr>
          <a:xfrm>
            <a:off x="1028700" y="3363722"/>
            <a:ext cx="7863840" cy="5944870"/>
          </a:xfrm>
          <a:prstGeom prst="rect">
            <a:avLst/>
          </a:prstGeom>
          <a:noFill/>
        </p:spPr>
        <p:txBody>
          <a:bodyPr anchor="t" rtlCol="false" lIns="0" tIns="0" rIns="0" bIns="0" wrap="square"/>
          <a:lstStyle/>
          <a:p>
            <a:pPr algn="l">
              <a:lnSpc>
                <a:spcPts val="3125"/>
              </a:lnSpc>
              <a:spcBef>
                <a:spcPts val="0"/>
              </a:spcBef>
              <a:buNone/>
            </a:pPr>
            <a:r>
              <a:rPr lang="en-US" sz="2500" b="true">
                <a:solidFill>
                  <a:srgbClr val="124944"/>
                </a:solidFill>
                <a:latin typeface="Nunito Ultra-Bold"/>
                <a:ea typeface="Nunito Ultra-Bold"/>
                <a:cs typeface="Nunito Ultra-Bold"/>
                <a:sym typeface="Nunito Ultra-Bold"/>
              </a:rPr>
              <a:t>Definition 1.1 (Actionable insight)</a:t>
            </a:r>
          </a:p>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An explanation is actionable when it points to </a:t>
            </a:r>
            <a:r>
              <a:rPr lang="en-US" sz="2100" b="true">
                <a:solidFill>
                  <a:srgbClr val="111111"/>
                </a:solidFill>
                <a:latin typeface="Nunito Bold"/>
                <a:ea typeface="Nunito Bold"/>
                <a:cs typeface="Nunito Bold"/>
                <a:sym typeface="Nunito Bold"/>
              </a:rPr>
              <a:t>at least one factor that can be changed</a:t>
            </a:r>
            <a:r>
              <a:rPr lang="en-US" sz="2100" b="true">
                <a:solidFill>
                  <a:srgbClr val="111111"/>
                </a:solidFill>
                <a:latin typeface="Nunito Semi-Bold"/>
                <a:ea typeface="Nunito Semi-Bold"/>
                <a:cs typeface="Nunito Semi-Bold"/>
                <a:sym typeface="Nunito Semi-Bold"/>
              </a:rPr>
              <a:t>, and that change leads to a </a:t>
            </a:r>
            <a:r>
              <a:rPr lang="en-US" sz="2100" b="true">
                <a:solidFill>
                  <a:srgbClr val="111111"/>
                </a:solidFill>
                <a:latin typeface="Nunito Bold"/>
                <a:ea typeface="Nunito Bold"/>
                <a:cs typeface="Nunito Bold"/>
                <a:sym typeface="Nunito Bold"/>
              </a:rPr>
              <a:t>clear change in the model output</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 and that factor is </a:t>
            </a:r>
            <a:r>
              <a:rPr lang="en-US" sz="2100" b="true">
                <a:solidFill>
                  <a:srgbClr val="111111"/>
                </a:solidFill>
                <a:latin typeface="Nunito Bold"/>
                <a:ea typeface="Nunito Bold"/>
                <a:cs typeface="Nunito Bold"/>
                <a:sym typeface="Nunito Bold"/>
              </a:rPr>
              <a:t>stated in the domain's own terms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domain's own terms: a chemical variable (wine), a pollution indicator (air quality), a preference signal (recommendation), </a:t>
            </a:r>
            <a:r>
              <a:rPr lang="en-US" sz="2100" b="true">
                <a:solidFill>
                  <a:srgbClr val="111111"/>
                </a:solidFill>
                <a:latin typeface="Nunito Bold"/>
                <a:ea typeface="Nunito Bold"/>
                <a:cs typeface="Nunito Bold"/>
                <a:sym typeface="Nunito Bold"/>
              </a:rPr>
              <a:t>not a hidden latent code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 it matters:</a:t>
            </a:r>
            <a:r>
              <a:rPr lang="en-US" sz="2100" b="true">
                <a:solidFill>
                  <a:srgbClr val="111111"/>
                </a:solidFill>
                <a:latin typeface="Nunito Semi-Bold"/>
                <a:ea typeface="Nunito Semi-Bold"/>
                <a:cs typeface="Nunito Semi-Bold"/>
                <a:sym typeface="Nunito Semi-Bold"/>
              </a:rPr>
              <a:t> an explanation that names a changeable driver supports </a:t>
            </a:r>
            <a:r>
              <a:rPr lang="en-US" sz="2100" b="true">
                <a:solidFill>
                  <a:srgbClr val="111111"/>
                </a:solidFill>
                <a:latin typeface="Nunito Bold"/>
                <a:ea typeface="Nunito Bold"/>
                <a:cs typeface="Nunito Bold"/>
                <a:sym typeface="Nunito Bold"/>
              </a:rPr>
              <a:t>action</a:t>
            </a:r>
            <a:r>
              <a:rPr lang="en-US" sz="2100" b="true">
                <a:solidFill>
                  <a:srgbClr val="111111"/>
                </a:solidFill>
                <a:latin typeface="Nunito Semi-Bold"/>
                <a:ea typeface="Nunito Semi-Bold"/>
                <a:cs typeface="Nunito Semi-Bold"/>
                <a:sym typeface="Nunito Semi-Bold"/>
              </a:rPr>
              <a:t>, not only description.</a:t>
            </a:r>
          </a:p>
        </p:txBody>
      </p:sp>
      <p:sp>
        <p:nvSpPr>
          <p:cNvPr id="28" name="TextBox 27"/>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FROM EXPLANATION TO ACTION</a:t>
            </a:r>
          </a:p>
        </p:txBody>
      </p:sp>
      <p:sp>
        <p:nvSpPr>
          <p:cNvPr id="29" name="Rounded Rectangle 28"/>
          <p:cNvSpPr/>
          <p:nvPr/>
        </p:nvSpPr>
        <p:spPr>
          <a:xfrm>
            <a:off x="944118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Modifiable factor</a:t>
            </a:r>
          </a:p>
        </p:txBody>
      </p:sp>
      <p:cxnSp>
        <p:nvCxnSpPr>
          <p:cNvPr id="30" name="Connector 29"/>
          <p:cNvCxnSpPr/>
          <p:nvPr/>
        </p:nvCxnSpPr>
        <p:spPr>
          <a:xfrm>
            <a:off x="11087100" y="5352542"/>
            <a:ext cx="381000" cy="0"/>
          </a:xfrm>
          <a:prstGeom prst="line">
            <a:avLst/>
          </a:prstGeom>
          <a:ln w="28575">
            <a:solidFill>
              <a:srgbClr val="124944"/>
            </a:solidFill>
            <a:tailEnd type="triangle" w="med" len="med"/>
          </a:ln>
        </p:spPr>
      </p:cxnSp>
      <p:sp>
        <p:nvSpPr>
          <p:cNvPr id="31" name="Rounded Rectangle 30"/>
          <p:cNvSpPr/>
          <p:nvPr/>
        </p:nvSpPr>
        <p:spPr>
          <a:xfrm>
            <a:off x="1151382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Change in model output</a:t>
            </a:r>
          </a:p>
        </p:txBody>
      </p:sp>
      <p:cxnSp>
        <p:nvCxnSpPr>
          <p:cNvPr id="32" name="Connector 31"/>
          <p:cNvCxnSpPr/>
          <p:nvPr/>
        </p:nvCxnSpPr>
        <p:spPr>
          <a:xfrm>
            <a:off x="13159740" y="5352542"/>
            <a:ext cx="381000" cy="0"/>
          </a:xfrm>
          <a:prstGeom prst="line">
            <a:avLst/>
          </a:prstGeom>
          <a:ln w="28575">
            <a:solidFill>
              <a:srgbClr val="124944"/>
            </a:solidFill>
            <a:tailEnd type="triangle" w="med" len="med"/>
          </a:ln>
        </p:spPr>
      </p:cxnSp>
      <p:sp>
        <p:nvSpPr>
          <p:cNvPr id="33" name="Rounded Rectangle 32"/>
          <p:cNvSpPr/>
          <p:nvPr/>
        </p:nvSpPr>
        <p:spPr>
          <a:xfrm>
            <a:off x="13586460" y="4643882"/>
            <a:ext cx="1600200" cy="1417320"/>
          </a:xfrm>
          <a:prstGeom prst="roundRect">
            <a:avLst>
              <a:gd name="adj" fmla="val 12903"/>
            </a:avLst>
          </a:prstGeom>
          <a:solidFill>
            <a:srgbClr val="111111"/>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Is it actionable?</a:t>
            </a:r>
          </a:p>
        </p:txBody>
      </p:sp>
      <p:cxnSp>
        <p:nvCxnSpPr>
          <p:cNvPr id="34" name="Connector 33"/>
          <p:cNvCxnSpPr/>
          <p:nvPr/>
        </p:nvCxnSpPr>
        <p:spPr>
          <a:xfrm>
            <a:off x="15232380" y="5352542"/>
            <a:ext cx="381000" cy="0"/>
          </a:xfrm>
          <a:prstGeom prst="line">
            <a:avLst/>
          </a:prstGeom>
          <a:ln w="28575">
            <a:solidFill>
              <a:srgbClr val="124944"/>
            </a:solidFill>
            <a:tailEnd type="triangle" w="med" len="med"/>
          </a:ln>
        </p:spPr>
      </p:cxnSp>
      <p:sp>
        <p:nvSpPr>
          <p:cNvPr id="35" name="Rounded Rectangle 34"/>
          <p:cNvSpPr/>
          <p:nvPr/>
        </p:nvSpPr>
        <p:spPr>
          <a:xfrm>
            <a:off x="15659100" y="4643882"/>
            <a:ext cx="1600200" cy="1417320"/>
          </a:xfrm>
          <a:prstGeom prst="roundRect">
            <a:avLst>
              <a:gd name="adj" fmla="val 12903"/>
            </a:avLst>
          </a:prstGeom>
          <a:solidFill>
            <a:srgbClr val="DF8330"/>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Action lever</a:t>
            </a:r>
          </a:p>
        </p:txBody>
      </p:sp>
      <p:cxnSp>
        <p:nvCxnSpPr>
          <p:cNvPr id="36" name="Connector 35"/>
          <p:cNvCxnSpPr/>
          <p:nvPr/>
        </p:nvCxnSpPr>
        <p:spPr>
          <a:xfrm>
            <a:off x="10241280" y="6106922"/>
            <a:ext cx="0" cy="365760"/>
          </a:xfrm>
          <a:prstGeom prst="line">
            <a:avLst/>
          </a:prstGeom>
          <a:ln w="28575">
            <a:solidFill>
              <a:srgbClr val="DF8330"/>
            </a:solidFill>
          </a:ln>
        </p:spPr>
      </p:cxnSp>
      <p:cxnSp>
        <p:nvCxnSpPr>
          <p:cNvPr id="37" name="Connector 36"/>
          <p:cNvCxnSpPr/>
          <p:nvPr/>
        </p:nvCxnSpPr>
        <p:spPr>
          <a:xfrm>
            <a:off x="10241280" y="6472682"/>
            <a:ext cx="6217920" cy="0"/>
          </a:xfrm>
          <a:prstGeom prst="line">
            <a:avLst/>
          </a:prstGeom>
          <a:ln w="28575">
            <a:solidFill>
              <a:srgbClr val="DF8330"/>
            </a:solidFill>
            <a:prstDash val="dash"/>
          </a:ln>
        </p:spPr>
      </p:cxnSp>
      <p:cxnSp>
        <p:nvCxnSpPr>
          <p:cNvPr id="38" name="Connector 37"/>
          <p:cNvCxnSpPr/>
          <p:nvPr/>
        </p:nvCxnSpPr>
        <p:spPr>
          <a:xfrm>
            <a:off x="16459200" y="6106922"/>
            <a:ext cx="0" cy="365760"/>
          </a:xfrm>
          <a:prstGeom prst="line">
            <a:avLst/>
          </a:prstGeom>
          <a:ln w="28575">
            <a:solidFill>
              <a:srgbClr val="DF8330"/>
            </a:solidFill>
          </a:ln>
        </p:spPr>
      </p:cxnSp>
      <p:sp>
        <p:nvSpPr>
          <p:cNvPr id="39" name="TextBox 38"/>
          <p:cNvSpPr txBox="1"/>
          <p:nvPr/>
        </p:nvSpPr>
        <p:spPr>
          <a:xfrm>
            <a:off x="9441180" y="6655562"/>
            <a:ext cx="7818120" cy="73152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Actionable</a:t>
            </a:r>
            <a:r>
              <a:rPr lang="en-US" sz="1800" b="true">
                <a:solidFill>
                  <a:srgbClr val="DF8330"/>
                </a:solidFill>
                <a:latin typeface="Nunito Semi-Bold"/>
                <a:ea typeface="Nunito Semi-Bold"/>
                <a:cs typeface="Nunito Semi-Bold"/>
                <a:sym typeface="Nunito Semi-Bold"/>
              </a:rPr>
              <a:t> = a real-world lever you can pull to change the outcome</a:t>
            </a:r>
          </a:p>
        </p:txBody>
      </p:sp>
      <p:sp>
        <p:nvSpPr>
          <p:cNvPr id="40" name="Rounded Rectangle 39"/>
          <p:cNvSpPr/>
          <p:nvPr/>
        </p:nvSpPr>
        <p:spPr>
          <a:xfrm>
            <a:off x="9441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Wine</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density · pH · acidity</a:t>
            </a:r>
          </a:p>
        </p:txBody>
      </p:sp>
      <p:sp>
        <p:nvSpPr>
          <p:cNvPr id="41" name="Rounded Rectangle 40"/>
          <p:cNvSpPr/>
          <p:nvPr/>
        </p:nvSpPr>
        <p:spPr>
          <a:xfrm>
            <a:off x="12108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Air quality</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PM2.5 · CO · temperature</a:t>
            </a:r>
          </a:p>
        </p:txBody>
      </p:sp>
      <p:sp>
        <p:nvSpPr>
          <p:cNvPr id="42" name="Rounded Rectangle 41"/>
          <p:cNvSpPr/>
          <p:nvPr/>
        </p:nvSpPr>
        <p:spPr>
          <a:xfrm>
            <a:off x="14775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Recommendation</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preference · context · diversity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[12] He, X. et al. LightGCN: Simplifying and Powering Graph Convolution Network for Recommendation. SIGIR, 639–648 (2020).   [16] Feng, Y. et al. Hypergraph Neural Networks. AAAI 33, 3558–3565 (2019).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Context</a:t>
            </a:r>
          </a:p>
        </p:txBody>
      </p:sp>
      <p:pic>
        <p:nvPicPr>
          <p:cNvPr id="23" name="Picture 22" descr="image.png"/>
          <p:cNvPicPr>
            <a:picLocks noChangeAspect="1"/>
          </p:cNvPicPr>
          <p:nvPr/>
        </p:nvPicPr>
        <p:blipFill>
          <a:blip r:embed="rId3"/>
          <a:stretch>
            <a:fillRect/>
          </a:stretch>
        </p:blipFill>
        <p:spPr>
          <a:xfrm>
            <a:off x="5880294" y="1673352"/>
            <a:ext cx="457200" cy="452148"/>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TextBox 26"/>
          <p:cNvSpPr txBox="1"/>
          <p:nvPr/>
        </p:nvSpPr>
        <p:spPr>
          <a:xfrm>
            <a:off x="1028700" y="3363722"/>
            <a:ext cx="1623060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EVOLUTION OF RECOMMENDER SYSTEMS</a:t>
            </a:r>
          </a:p>
        </p:txBody>
      </p:sp>
      <p:sp>
        <p:nvSpPr>
          <p:cNvPr id="28" name="Rounded Rectangle 27"/>
          <p:cNvSpPr/>
          <p:nvPr/>
        </p:nvSpPr>
        <p:spPr>
          <a:xfrm>
            <a:off x="102870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Similarity models</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2003–09</a:t>
            </a:r>
          </a:p>
        </p:txBody>
      </p:sp>
      <p:cxnSp>
        <p:nvCxnSpPr>
          <p:cNvPr id="29" name="Connector 28"/>
          <p:cNvCxnSpPr/>
          <p:nvPr/>
        </p:nvCxnSpPr>
        <p:spPr>
          <a:xfrm>
            <a:off x="3415284" y="4438142"/>
            <a:ext cx="1033272" cy="0"/>
          </a:xfrm>
          <a:prstGeom prst="line">
            <a:avLst/>
          </a:prstGeom>
          <a:ln w="28575">
            <a:solidFill>
              <a:srgbClr val="124944"/>
            </a:solidFill>
            <a:tailEnd type="triangle" w="med" len="med"/>
          </a:ln>
        </p:spPr>
      </p:cxnSp>
      <p:sp>
        <p:nvSpPr>
          <p:cNvPr id="30" name="Rounded Rectangle 29"/>
          <p:cNvSpPr/>
          <p:nvPr/>
        </p:nvSpPr>
        <p:spPr>
          <a:xfrm>
            <a:off x="450342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Matrix factorisation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2009–13</a:t>
            </a:r>
          </a:p>
        </p:txBody>
      </p:sp>
      <p:cxnSp>
        <p:nvCxnSpPr>
          <p:cNvPr id="31" name="Connector 30"/>
          <p:cNvCxnSpPr/>
          <p:nvPr/>
        </p:nvCxnSpPr>
        <p:spPr>
          <a:xfrm>
            <a:off x="6890004" y="4438142"/>
            <a:ext cx="1033272" cy="0"/>
          </a:xfrm>
          <a:prstGeom prst="line">
            <a:avLst/>
          </a:prstGeom>
          <a:ln w="28575">
            <a:solidFill>
              <a:srgbClr val="124944"/>
            </a:solidFill>
            <a:tailEnd type="triangle" w="med" len="med"/>
          </a:ln>
        </p:spPr>
      </p:cxnSp>
      <p:sp>
        <p:nvSpPr>
          <p:cNvPr id="32" name="Rounded Rectangle 31"/>
          <p:cNvSpPr/>
          <p:nvPr/>
        </p:nvSpPr>
        <p:spPr>
          <a:xfrm>
            <a:off x="797814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Neural CF</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2016–19</a:t>
            </a:r>
          </a:p>
        </p:txBody>
      </p:sp>
      <p:cxnSp>
        <p:nvCxnSpPr>
          <p:cNvPr id="33" name="Connector 32"/>
          <p:cNvCxnSpPr/>
          <p:nvPr/>
        </p:nvCxnSpPr>
        <p:spPr>
          <a:xfrm>
            <a:off x="10364724" y="4438142"/>
            <a:ext cx="1033272" cy="0"/>
          </a:xfrm>
          <a:prstGeom prst="line">
            <a:avLst/>
          </a:prstGeom>
          <a:ln w="28575">
            <a:solidFill>
              <a:srgbClr val="124944"/>
            </a:solidFill>
            <a:tailEnd type="triangle" w="med" len="med"/>
          </a:ln>
        </p:spPr>
      </p:cxnSp>
      <p:sp>
        <p:nvSpPr>
          <p:cNvPr id="34" name="Rounded Rectangle 33"/>
          <p:cNvSpPr/>
          <p:nvPr/>
        </p:nvSpPr>
        <p:spPr>
          <a:xfrm>
            <a:off x="1145286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Graph CNN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2018–22</a:t>
            </a:r>
          </a:p>
        </p:txBody>
      </p:sp>
      <p:cxnSp>
        <p:nvCxnSpPr>
          <p:cNvPr id="35" name="Connector 34"/>
          <p:cNvCxnSpPr/>
          <p:nvPr/>
        </p:nvCxnSpPr>
        <p:spPr>
          <a:xfrm>
            <a:off x="13839444" y="4438142"/>
            <a:ext cx="1033272" cy="0"/>
          </a:xfrm>
          <a:prstGeom prst="line">
            <a:avLst/>
          </a:prstGeom>
          <a:ln w="28575">
            <a:solidFill>
              <a:srgbClr val="124944"/>
            </a:solidFill>
            <a:tailEnd type="triangle" w="med" len="med"/>
          </a:ln>
        </p:spPr>
      </p:cxnSp>
      <p:sp>
        <p:nvSpPr>
          <p:cNvPr id="36" name="Rounded Rectangle 35"/>
          <p:cNvSpPr/>
          <p:nvPr/>
        </p:nvSpPr>
        <p:spPr>
          <a:xfrm>
            <a:off x="14927580" y="3866642"/>
            <a:ext cx="2331720" cy="1143000"/>
          </a:xfrm>
          <a:prstGeom prst="roundRect">
            <a:avLst>
              <a:gd name="adj" fmla="val 16000"/>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Hypergraph</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2022+</a:t>
            </a:r>
          </a:p>
        </p:txBody>
      </p:sp>
      <p:cxnSp>
        <p:nvCxnSpPr>
          <p:cNvPr id="37" name="Connector 36"/>
          <p:cNvCxnSpPr/>
          <p:nvPr/>
        </p:nvCxnSpPr>
        <p:spPr>
          <a:xfrm>
            <a:off x="1028700" y="5283962"/>
            <a:ext cx="16230600" cy="0"/>
          </a:xfrm>
          <a:prstGeom prst="line">
            <a:avLst/>
          </a:prstGeom>
          <a:ln w="50800">
            <a:solidFill>
              <a:srgbClr val="DF8330"/>
            </a:solidFill>
            <a:tailEnd type="triangle" w="med" len="med"/>
          </a:ln>
        </p:spPr>
      </p:cxnSp>
      <p:sp>
        <p:nvSpPr>
          <p:cNvPr id="38" name="TextBox 37"/>
          <p:cNvSpPr txBox="1"/>
          <p:nvPr/>
        </p:nvSpPr>
        <p:spPr>
          <a:xfrm>
            <a:off x="1028700" y="5375402"/>
            <a:ext cx="16230600" cy="36576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The interpretability gap grows:</a:t>
            </a:r>
            <a:r>
              <a:rPr lang="en-US" sz="1800" b="true">
                <a:solidFill>
                  <a:srgbClr val="DF8330"/>
                </a:solidFill>
                <a:latin typeface="Nunito Semi-Bold"/>
                <a:ea typeface="Nunito Semi-Bold"/>
                <a:cs typeface="Nunito Semi-Bold"/>
                <a:sym typeface="Nunito Semi-Bold"/>
              </a:rPr>
              <a:t> each step improved ranking, but replaced a hidden latent code with a hidden message-passing mechanism. Neither can be acted on.</a:t>
            </a:r>
          </a:p>
        </p:txBody>
      </p:sp>
      <p:sp>
        <p:nvSpPr>
          <p:cNvPr id="39" name="Rounded Rectangle 38"/>
          <p:cNvSpPr/>
          <p:nvPr/>
        </p:nvSpPr>
        <p:spPr>
          <a:xfrm>
            <a:off x="1028700" y="628980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40" name="Rounded Rectangle 39"/>
          <p:cNvSpPr/>
          <p:nvPr/>
        </p:nvSpPr>
        <p:spPr>
          <a:xfrm>
            <a:off x="1485900" y="6052058"/>
            <a:ext cx="351115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the gap matters</a:t>
            </a:r>
          </a:p>
        </p:txBody>
      </p:sp>
      <p:sp>
        <p:nvSpPr>
          <p:cNvPr id="41" name="TextBox 40"/>
          <p:cNvSpPr txBox="1"/>
          <p:nvPr/>
        </p:nvSpPr>
        <p:spPr>
          <a:xfrm>
            <a:off x="1485900" y="6884162"/>
            <a:ext cx="7063740" cy="2241550"/>
          </a:xfrm>
          <a:prstGeom prst="rect">
            <a:avLst/>
          </a:prstGeom>
          <a:noFill/>
        </p:spPr>
        <p:txBody>
          <a:bodyPr anchor="t" rtlCol="false" lIns="0" tIns="0" rIns="0" bIns="0" wrap="square"/>
          <a:lstStyle/>
          <a:p>
            <a:pPr algn="l" marL="274320" indent="-274320">
              <a:lnSpc>
                <a:spcPts val="2580"/>
              </a:lnSpc>
              <a:spcBef>
                <a:spcPts val="0"/>
              </a:spcBef>
              <a:buClr>
                <a:srgbClr val="ECC665"/>
              </a:buClr>
              <a:buSzPct val="100000"/>
              <a:buFont typeface="Arial"/>
              <a:buChar char="•"/>
            </a:pPr>
            <a:r>
              <a:rPr lang="en-US" sz="1843" b="true">
                <a:solidFill>
                  <a:srgbClr val="FFFFFF"/>
                </a:solidFill>
                <a:latin typeface="Nunito Bold"/>
                <a:ea typeface="Nunito Bold"/>
                <a:cs typeface="Nunito Bold"/>
                <a:sym typeface="Nunito Bold"/>
              </a:rPr>
              <a:t>Weakens user trust:</a:t>
            </a:r>
            <a:r>
              <a:rPr lang="en-US" sz="1843" b="true">
                <a:solidFill>
                  <a:srgbClr val="FFFFFF"/>
                </a:solidFill>
                <a:latin typeface="Nunito Semi-Bold"/>
                <a:ea typeface="Nunito Semi-Bold"/>
                <a:cs typeface="Nunito Semi-Bold"/>
                <a:sym typeface="Nunito Semi-Bold"/>
              </a:rPr>
              <a:t> users see outputs without knowing why.</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Limits debugging</a:t>
            </a:r>
            <a:r>
              <a:rPr lang="en-US" sz="1843" b="true">
                <a:solidFill>
                  <a:srgbClr val="FFFFFF"/>
                </a:solidFill>
                <a:latin typeface="Nunito Semi-Bold"/>
                <a:ea typeface="Nunito Semi-Bold"/>
                <a:cs typeface="Nunito Semi-Bold"/>
                <a:sym typeface="Nunito Semi-Bold"/>
              </a:rPr>
              <a:t> and scientific learning.</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Conflicts with regulation:</a:t>
            </a:r>
            <a:r>
              <a:rPr lang="en-US" sz="1843" b="true">
                <a:solidFill>
                  <a:srgbClr val="FFFFFF"/>
                </a:solidFill>
                <a:latin typeface="Nunito Semi-Bold"/>
                <a:ea typeface="Nunito Semi-Bold"/>
                <a:cs typeface="Nunito Semi-Bold"/>
                <a:sym typeface="Nunito Semi-Bold"/>
              </a:rPr>
              <a:t> EU AI Act, OECD principles, GDPR.</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Semi-Bold"/>
                <a:ea typeface="Nunito Semi-Bold"/>
                <a:cs typeface="Nunito Semi-Bold"/>
                <a:sym typeface="Nunito Semi-Bold"/>
              </a:rPr>
              <a:t>EU AI Act (Art. 13): high-risk systems must provide explanations </a:t>
            </a:r>
            <a:r>
              <a:rPr lang="en-US" sz="1843" b="true">
                <a:solidFill>
                  <a:srgbClr val="FFFFFF"/>
                </a:solidFill>
                <a:latin typeface="Nunito Bold"/>
                <a:ea typeface="Nunito Bold"/>
                <a:cs typeface="Nunito Bold"/>
                <a:sym typeface="Nunito Bold"/>
              </a:rPr>
              <a:t>in human-understandable terms</a:t>
            </a:r>
            <a:r>
              <a:rPr lang="en-US" sz="1843" b="true">
                <a:solidFill>
                  <a:srgbClr val="FFFFFF"/>
                </a:solidFill>
                <a:latin typeface="Nunito Semi-Bold"/>
                <a:ea typeface="Nunito Semi-Bold"/>
                <a:cs typeface="Nunito Semi-Bold"/>
                <a:sym typeface="Nunito Semi-Bold"/>
              </a:rPr>
              <a:t>.</a:t>
            </a:r>
          </a:p>
        </p:txBody>
      </p:sp>
      <p:sp>
        <p:nvSpPr>
          <p:cNvPr id="42" name="Rounded Rectangle 41"/>
          <p:cNvSpPr/>
          <p:nvPr/>
        </p:nvSpPr>
        <p:spPr>
          <a:xfrm>
            <a:off x="9326880" y="628980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9784080" y="6052058"/>
            <a:ext cx="383778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What this thesis argues</a:t>
            </a:r>
          </a:p>
        </p:txBody>
      </p:sp>
      <p:sp>
        <p:nvSpPr>
          <p:cNvPr id="44" name="TextBox 43"/>
          <p:cNvSpPr txBox="1"/>
          <p:nvPr/>
        </p:nvSpPr>
        <p:spPr>
          <a:xfrm>
            <a:off x="9784080" y="6884162"/>
            <a:ext cx="7063740" cy="224155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Recommenders moved from similarity filters to </a:t>
            </a:r>
            <a:r>
              <a:rPr lang="en-US" sz="1786" b="true">
                <a:solidFill>
                  <a:srgbClr val="111111"/>
                </a:solidFill>
                <a:latin typeface="Nunito Bold"/>
                <a:ea typeface="Nunito Bold"/>
                <a:cs typeface="Nunito Bold"/>
                <a:sym typeface="Nunito Bold"/>
              </a:rPr>
              <a:t>representation learning on sparse, high-dimensional, changing data</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Hypergraph models add higher-order user-item-context relations but assume </a:t>
            </a:r>
            <a:r>
              <a:rPr lang="en-US" sz="1786" b="true">
                <a:solidFill>
                  <a:srgbClr val="111111"/>
                </a:solidFill>
                <a:latin typeface="Nunito Bold"/>
                <a:ea typeface="Nunito Bold"/>
                <a:cs typeface="Nunito Bold"/>
                <a:sym typeface="Nunito Bold"/>
              </a:rPr>
              <a:t>every message matters equally</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A well-founded attribution method is needed, and it should be </a:t>
            </a:r>
            <a:r>
              <a:rPr lang="en-US" sz="1786" b="true">
                <a:solidFill>
                  <a:srgbClr val="111111"/>
                </a:solidFill>
                <a:latin typeface="Nunito Bold"/>
                <a:ea typeface="Nunito Bold"/>
                <a:cs typeface="Nunito Bold"/>
                <a:sym typeface="Nunito Bold"/>
              </a:rPr>
              <a:t>part of the model itself</a:t>
            </a:r>
            <a:r>
              <a:rPr lang="en-US" sz="1786" b="true">
                <a:solidFill>
                  <a:srgbClr val="111111"/>
                </a:solidFill>
                <a:latin typeface="Nunito Semi-Bold"/>
                <a:ea typeface="Nunito Semi-Bold"/>
                <a:cs typeface="Nunito Semi-Bold"/>
                <a:sym typeface="Nunito Semi-Bold"/>
              </a:rPr>
              <a:t>, not an add-on.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AI-Powered Recommendation Is Everywhere</a:t>
            </a:r>
          </a:p>
        </p:txBody>
      </p:sp>
      <p:pic>
        <p:nvPicPr>
          <p:cNvPr id="23" name="Picture 22" descr="image.png"/>
          <p:cNvPicPr>
            <a:picLocks noChangeAspect="1"/>
          </p:cNvPicPr>
          <p:nvPr/>
        </p:nvPicPr>
        <p:blipFill>
          <a:blip r:embed="rId3"/>
          <a:stretch>
            <a:fillRect/>
          </a:stretch>
        </p:blipFill>
        <p:spPr>
          <a:xfrm>
            <a:off x="12921990" y="1673352"/>
            <a:ext cx="457200" cy="617115"/>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Rounded Rectangle 26"/>
          <p:cNvSpPr/>
          <p:nvPr/>
        </p:nvSpPr>
        <p:spPr>
          <a:xfrm>
            <a:off x="102870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28" name="Rounded Rectangle 27"/>
          <p:cNvSpPr/>
          <p:nvPr/>
        </p:nvSpPr>
        <p:spPr>
          <a:xfrm>
            <a:off x="148590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Netflix</a:t>
            </a:r>
          </a:p>
        </p:txBody>
      </p:sp>
      <p:sp>
        <p:nvSpPr>
          <p:cNvPr id="29" name="TextBox 28"/>
          <p:cNvSpPr txBox="1"/>
          <p:nvPr/>
        </p:nvSpPr>
        <p:spPr>
          <a:xfrm>
            <a:off x="130302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Netflix</a:t>
            </a:r>
          </a:p>
        </p:txBody>
      </p:sp>
      <p:sp>
        <p:nvSpPr>
          <p:cNvPr id="30" name="TextBox 29"/>
          <p:cNvSpPr txBox="1"/>
          <p:nvPr/>
        </p:nvSpPr>
        <p:spPr>
          <a:xfrm>
            <a:off x="130302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Movie and TV recommendation platform</a:t>
            </a:r>
          </a:p>
        </p:txBody>
      </p:sp>
      <p:sp>
        <p:nvSpPr>
          <p:cNvPr id="31" name="Rounded Rectangle 30"/>
          <p:cNvSpPr/>
          <p:nvPr/>
        </p:nvSpPr>
        <p:spPr>
          <a:xfrm>
            <a:off x="516636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2" name="Rounded Rectangle 31"/>
          <p:cNvSpPr/>
          <p:nvPr/>
        </p:nvSpPr>
        <p:spPr>
          <a:xfrm>
            <a:off x="562356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Spotify</a:t>
            </a:r>
          </a:p>
        </p:txBody>
      </p:sp>
      <p:sp>
        <p:nvSpPr>
          <p:cNvPr id="33" name="TextBox 32"/>
          <p:cNvSpPr txBox="1"/>
          <p:nvPr/>
        </p:nvSpPr>
        <p:spPr>
          <a:xfrm>
            <a:off x="544068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Spotify</a:t>
            </a:r>
          </a:p>
        </p:txBody>
      </p:sp>
      <p:sp>
        <p:nvSpPr>
          <p:cNvPr id="34" name="TextBox 33"/>
          <p:cNvSpPr txBox="1"/>
          <p:nvPr/>
        </p:nvSpPr>
        <p:spPr>
          <a:xfrm>
            <a:off x="544068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Music recommendation and streaming service</a:t>
            </a:r>
          </a:p>
        </p:txBody>
      </p:sp>
      <p:sp>
        <p:nvSpPr>
          <p:cNvPr id="35" name="Rounded Rectangle 34"/>
          <p:cNvSpPr/>
          <p:nvPr/>
        </p:nvSpPr>
        <p:spPr>
          <a:xfrm>
            <a:off x="930402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6" name="Rounded Rectangle 35"/>
          <p:cNvSpPr/>
          <p:nvPr/>
        </p:nvSpPr>
        <p:spPr>
          <a:xfrm>
            <a:off x="976122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Yelp</a:t>
            </a:r>
          </a:p>
        </p:txBody>
      </p:sp>
      <p:sp>
        <p:nvSpPr>
          <p:cNvPr id="37" name="TextBox 36"/>
          <p:cNvSpPr txBox="1"/>
          <p:nvPr/>
        </p:nvSpPr>
        <p:spPr>
          <a:xfrm>
            <a:off x="957834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Yelp</a:t>
            </a:r>
          </a:p>
        </p:txBody>
      </p:sp>
      <p:sp>
        <p:nvSpPr>
          <p:cNvPr id="38" name="TextBox 37"/>
          <p:cNvSpPr txBox="1"/>
          <p:nvPr/>
        </p:nvSpPr>
        <p:spPr>
          <a:xfrm>
            <a:off x="957834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Local business and restaurant recommendation</a:t>
            </a:r>
          </a:p>
        </p:txBody>
      </p:sp>
      <p:sp>
        <p:nvSpPr>
          <p:cNvPr id="39" name="Rounded Rectangle 38"/>
          <p:cNvSpPr/>
          <p:nvPr/>
        </p:nvSpPr>
        <p:spPr>
          <a:xfrm>
            <a:off x="1344168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40" name="Rounded Rectangle 39"/>
          <p:cNvSpPr/>
          <p:nvPr/>
        </p:nvSpPr>
        <p:spPr>
          <a:xfrm>
            <a:off x="1389888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Amazon</a:t>
            </a:r>
          </a:p>
        </p:txBody>
      </p:sp>
      <p:sp>
        <p:nvSpPr>
          <p:cNvPr id="41" name="TextBox 40"/>
          <p:cNvSpPr txBox="1"/>
          <p:nvPr/>
        </p:nvSpPr>
        <p:spPr>
          <a:xfrm>
            <a:off x="1371600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Amazon</a:t>
            </a:r>
          </a:p>
        </p:txBody>
      </p:sp>
      <p:sp>
        <p:nvSpPr>
          <p:cNvPr id="42" name="TextBox 41"/>
          <p:cNvSpPr txBox="1"/>
          <p:nvPr/>
        </p:nvSpPr>
        <p:spPr>
          <a:xfrm>
            <a:off x="1371600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E-commerce platform with personalised product recommendations</a:t>
            </a:r>
          </a:p>
        </p:txBody>
      </p:sp>
      <p:sp>
        <p:nvSpPr>
          <p:cNvPr id="43" name="Rounded Rectangle 42"/>
          <p:cNvSpPr/>
          <p:nvPr/>
        </p:nvSpPr>
        <p:spPr>
          <a:xfrm>
            <a:off x="1028700" y="8301482"/>
            <a:ext cx="16230600" cy="869950"/>
          </a:xfrm>
          <a:prstGeom prst="roundRect">
            <a:avLst>
              <a:gd name="adj" fmla="val 31532"/>
            </a:avLst>
          </a:prstGeom>
          <a:solidFill>
            <a:srgbClr val="F6ECDF"/>
          </a:solidFill>
          <a:ln>
            <a:noFill/>
          </a:ln>
        </p:spPr>
        <p:txBody>
          <a:bodyPr anchor="ctr" rtlCol="false" lIns="548640" tIns="91440" rIns="548640" bIns="91440" wrap="square"/>
          <a:lstStyle/>
          <a:p>
            <a:pPr algn="ctr">
              <a:lnSpc>
                <a:spcPts val="2700"/>
              </a:lnSpc>
              <a:spcBef>
                <a:spcPts val="0"/>
              </a:spcBef>
              <a:buNone/>
            </a:pPr>
            <a:r>
              <a:rPr lang="en-US" sz="2100" b="true">
                <a:solidFill>
                  <a:srgbClr val="111111"/>
                </a:solidFill>
                <a:latin typeface="Nunito Semi-Bold"/>
                <a:ea typeface="Nunito Semi-Bold"/>
                <a:cs typeface="Nunito Semi-Bold"/>
                <a:sym typeface="Nunito Semi-Bold"/>
              </a:rPr>
              <a:t>AI recommendation shapes what </a:t>
            </a:r>
            <a:r>
              <a:rPr lang="en-US" sz="2100" b="true">
                <a:solidFill>
                  <a:srgbClr val="111111"/>
                </a:solidFill>
                <a:latin typeface="Nunito Bold"/>
                <a:ea typeface="Nunito Bold"/>
                <a:cs typeface="Nunito Bold"/>
                <a:sym typeface="Nunito Bold"/>
              </a:rPr>
              <a:t>billions</a:t>
            </a:r>
            <a:r>
              <a:rPr lang="en-US" sz="2100" b="true">
                <a:solidFill>
                  <a:srgbClr val="111111"/>
                </a:solidFill>
                <a:latin typeface="Nunito Semi-Bold"/>
                <a:ea typeface="Nunito Semi-Bold"/>
                <a:cs typeface="Nunito Semi-Bold"/>
                <a:sym typeface="Nunito Semi-Bold"/>
              </a:rPr>
              <a:t> see, buy and listen to every day. Each system is very </a:t>
            </a:r>
            <a:r>
              <a:rPr lang="en-US" sz="2100" b="true">
                <a:solidFill>
                  <a:srgbClr val="111111"/>
                </a:solidFill>
                <a:latin typeface="Nunito Bold"/>
                <a:ea typeface="Nunito Bold"/>
                <a:cs typeface="Nunito Bold"/>
                <a:sym typeface="Nunito Bold"/>
              </a:rPr>
              <a:t>accurate, yet a black box</a:t>
            </a:r>
            <a:r>
              <a:rPr lang="en-US" sz="2100" b="true">
                <a:solidFill>
                  <a:srgbClr val="111111"/>
                </a:solidFill>
                <a:latin typeface="Nunito Semi-Bold"/>
                <a:ea typeface="Nunito Semi-Bold"/>
                <a:cs typeface="Nunito Semi-Bold"/>
                <a:sym typeface="Nunito Semi-Bold"/>
              </a:rPr>
              <a:t>: its reasoning is hidden from the user. Everywhere, and hidden: that is </a:t>
            </a:r>
            <a:r>
              <a:rPr lang="en-US" sz="2100" b="true">
                <a:solidFill>
                  <a:srgbClr val="111111"/>
                </a:solidFill>
                <a:latin typeface="Nunito Bold"/>
                <a:ea typeface="Nunito Bold"/>
                <a:cs typeface="Nunito Bold"/>
                <a:sym typeface="Nunito Bold"/>
              </a:rPr>
              <a:t>exactly the gap this thesis targets</a:t>
            </a:r>
            <a:r>
              <a:rPr lang="en-US" sz="21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08</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Context &amp; Problematic</a:t>
            </a:r>
          </a:p>
        </p:txBody>
      </p:sp>
      <p:sp>
        <p:nvSpPr>
          <p:cNvPr id="8" name="Oval 7"/>
          <p:cNvSpPr/>
          <p:nvPr/>
        </p:nvSpPr>
        <p:spPr>
          <a:xfrm>
            <a:off x="15944631"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944631"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02</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The main approaches, their limitations and the five research questions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Approaches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Collaborative, content-based, hybrid, matrix factorisation and graph/hypergraph recommenders: each one stronger, each one less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Problematic</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main limitations: lack of explainability, difficulty of scaling, weak link between explanation and learning.</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Contributions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Five research questions answered by three contributions that build on each other, under one cooperative-game 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Content-Based Filtering</a:t>
            </a:r>
          </a:p>
        </p:txBody>
      </p:sp>
      <p:pic>
        <p:nvPicPr>
          <p:cNvPr id="23" name="Picture 22" descr="image.png"/>
          <p:cNvPicPr>
            <a:picLocks noChangeAspect="1"/>
          </p:cNvPicPr>
          <p:nvPr/>
        </p:nvPicPr>
        <p:blipFill>
          <a:blip r:embed="rId3"/>
          <a:stretch>
            <a:fillRect/>
          </a:stretch>
        </p:blipFill>
        <p:spPr>
          <a:xfrm>
            <a:off x="7401574" y="1673352"/>
            <a:ext cx="457200" cy="250983"/>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a:t>
            </a:r>
            <a:r>
              <a:rPr lang="en-US" sz="2100" b="true">
                <a:solidFill>
                  <a:srgbClr val="111111"/>
                </a:solidFill>
                <a:latin typeface="Nunito Bold"/>
                <a:ea typeface="Nunito Bold"/>
                <a:cs typeface="Nunito Bold"/>
                <a:sym typeface="Nunito Bold"/>
              </a:rPr>
              <a:t>based on their features</a:t>
            </a:r>
            <a:r>
              <a:rPr lang="en-US" sz="2100" b="true">
                <a:solidFill>
                  <a:srgbClr val="111111"/>
                </a:solidFill>
                <a:latin typeface="Nunito Semi-Bold"/>
                <a:ea typeface="Nunito Semi-Bold"/>
                <a:cs typeface="Nunito Semi-Bold"/>
                <a:sym typeface="Nunito Semi-Bold"/>
              </a:rPr>
              <a:t> and the user's past preferences.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Builds a </a:t>
            </a:r>
            <a:r>
              <a:rPr lang="en-US" sz="2100" b="true">
                <a:solidFill>
                  <a:srgbClr val="111111"/>
                </a:solidFill>
                <a:latin typeface="Nunito Bold"/>
                <a:ea typeface="Nunito Bold"/>
                <a:cs typeface="Nunito Bold"/>
                <a:sym typeface="Nunito Bold"/>
              </a:rPr>
              <a:t>user profile</a:t>
            </a:r>
            <a:r>
              <a:rPr lang="en-US" sz="2100" b="true">
                <a:solidFill>
                  <a:srgbClr val="111111"/>
                </a:solidFill>
                <a:latin typeface="Nunito Semi-Bold"/>
                <a:ea typeface="Nunito Semi-Bold"/>
                <a:cs typeface="Nunito Semi-Bold"/>
                <a:sym typeface="Nunito Semi-Bold"/>
              </a:rPr>
              <a:t> from previously liked, viewed or selected items.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Suggests new items with </a:t>
            </a:r>
            <a:r>
              <a:rPr lang="en-US" sz="2100" b="true">
                <a:solidFill>
                  <a:srgbClr val="111111"/>
                </a:solidFill>
                <a:latin typeface="Nunito Bold"/>
                <a:ea typeface="Nunito Bold"/>
                <a:cs typeface="Nunito Bold"/>
                <a:sym typeface="Nunito Bold"/>
              </a:rPr>
              <a:t>similar characteristics</a:t>
            </a:r>
            <a:r>
              <a:rPr lang="en-US" sz="2100" b="true">
                <a:solidFill>
                  <a:srgbClr val="111111"/>
                </a:solidFill>
                <a:latin typeface="Nunito Semi-Bold"/>
                <a:ea typeface="Nunito Semi-Bold"/>
                <a:cs typeface="Nunito Semi-Bold"/>
                <a:sym typeface="Nunito Semi-Bold"/>
              </a:rPr>
              <a:t> (genre, cast, keywords, brand).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Explainable by construction: the reason is a </a:t>
            </a:r>
            <a:r>
              <a:rPr lang="en-US" sz="2100" b="true">
                <a:solidFill>
                  <a:srgbClr val="111111"/>
                </a:solidFill>
                <a:latin typeface="Nunito Bold"/>
                <a:ea typeface="Nunito Bold"/>
                <a:cs typeface="Nunito Bold"/>
                <a:sym typeface="Nunito Bold"/>
              </a:rPr>
              <a:t>named feature</a:t>
            </a:r>
            <a:r>
              <a:rPr lang="en-US" sz="2100" b="true">
                <a:solidFill>
                  <a:srgbClr val="111111"/>
                </a:solidFill>
                <a:latin typeface="Nunito Semi-Bold"/>
                <a:ea typeface="Nunito Semi-Bold"/>
                <a:cs typeface="Nunito Semi-Bold"/>
                <a:sym typeface="Nunito Semi-Bold"/>
              </a:rPr>
              <a:t> the user recognises.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Recommendations may become too similar and lack diversity; it needs good item metadata.</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CONTENT-BASED FILTERING</a:t>
            </a:r>
          </a:p>
        </p:txBody>
      </p:sp>
      <p:sp>
        <p:nvSpPr>
          <p:cNvPr id="32" name="Rounded Rectangle 31"/>
          <p:cNvSpPr/>
          <p:nvPr/>
        </p:nvSpPr>
        <p:spPr>
          <a:xfrm>
            <a:off x="9258300"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User taste profile</a:t>
            </a:r>
          </a:p>
        </p:txBody>
      </p:sp>
      <p:cxnSp>
        <p:nvCxnSpPr>
          <p:cNvPr id="33" name="Connector 32"/>
          <p:cNvCxnSpPr/>
          <p:nvPr/>
        </p:nvCxnSpPr>
        <p:spPr>
          <a:xfrm>
            <a:off x="10876788" y="4552442"/>
            <a:ext cx="478536" cy="0"/>
          </a:xfrm>
          <a:prstGeom prst="line">
            <a:avLst/>
          </a:prstGeom>
          <a:ln w="28575">
            <a:solidFill>
              <a:srgbClr val="124944"/>
            </a:solidFill>
            <a:tailEnd type="triangle" w="med" len="med"/>
          </a:ln>
        </p:spPr>
      </p:cxnSp>
      <p:sp>
        <p:nvSpPr>
          <p:cNvPr id="34" name="Rounded Rectangle 33"/>
          <p:cNvSpPr/>
          <p:nvPr/>
        </p:nvSpPr>
        <p:spPr>
          <a:xfrm>
            <a:off x="11401044"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Item feature vectors</a:t>
            </a:r>
          </a:p>
        </p:txBody>
      </p:sp>
      <p:cxnSp>
        <p:nvCxnSpPr>
          <p:cNvPr id="35" name="Connector 34"/>
          <p:cNvCxnSpPr/>
          <p:nvPr/>
        </p:nvCxnSpPr>
        <p:spPr>
          <a:xfrm>
            <a:off x="13019532" y="4552442"/>
            <a:ext cx="478536" cy="0"/>
          </a:xfrm>
          <a:prstGeom prst="line">
            <a:avLst/>
          </a:prstGeom>
          <a:ln w="28575">
            <a:solidFill>
              <a:srgbClr val="124944"/>
            </a:solidFill>
            <a:tailEnd type="triangle" w="med" len="med"/>
          </a:ln>
        </p:spPr>
      </p:cxnSp>
      <p:sp>
        <p:nvSpPr>
          <p:cNvPr id="36" name="Rounded Rectangle 35"/>
          <p:cNvSpPr/>
          <p:nvPr/>
        </p:nvSpPr>
        <p:spPr>
          <a:xfrm>
            <a:off x="13543788" y="3958082"/>
            <a:ext cx="1572768" cy="1188720"/>
          </a:xfrm>
          <a:prstGeom prst="roundRect">
            <a:avLst>
              <a:gd name="adj" fmla="val 15384"/>
            </a:avLst>
          </a:prstGeom>
          <a:solidFill>
            <a:srgbClr val="111111"/>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Similarity score</a:t>
            </a:r>
          </a:p>
        </p:txBody>
      </p:sp>
      <p:cxnSp>
        <p:nvCxnSpPr>
          <p:cNvPr id="37" name="Connector 36"/>
          <p:cNvCxnSpPr/>
          <p:nvPr/>
        </p:nvCxnSpPr>
        <p:spPr>
          <a:xfrm>
            <a:off x="15162276" y="4552442"/>
            <a:ext cx="478536" cy="0"/>
          </a:xfrm>
          <a:prstGeom prst="line">
            <a:avLst/>
          </a:prstGeom>
          <a:ln w="28575">
            <a:solidFill>
              <a:srgbClr val="124944"/>
            </a:solidFill>
            <a:tailEnd type="triangle" w="med" len="med"/>
          </a:ln>
        </p:spPr>
      </p:cxnSp>
      <p:sp>
        <p:nvSpPr>
          <p:cNvPr id="38" name="Rounded Rectangle 37"/>
          <p:cNvSpPr/>
          <p:nvPr/>
        </p:nvSpPr>
        <p:spPr>
          <a:xfrm>
            <a:off x="15686532" y="3958082"/>
            <a:ext cx="1572768" cy="1188720"/>
          </a:xfrm>
          <a:prstGeom prst="roundRect">
            <a:avLst>
              <a:gd name="adj" fmla="val 15384"/>
            </a:avLst>
          </a:prstGeom>
          <a:solidFill>
            <a:srgbClr val="DF8330"/>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Top-N recommend</a:t>
            </a:r>
          </a:p>
        </p:txBody>
      </p:sp>
      <p:sp>
        <p:nvSpPr>
          <p:cNvPr id="39" name="TextBox 38"/>
          <p:cNvSpPr txBox="1"/>
          <p:nvPr/>
        </p:nvSpPr>
        <p:spPr>
          <a:xfrm>
            <a:off x="9258300" y="5512562"/>
            <a:ext cx="8001000" cy="45720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111111"/>
                </a:solidFill>
                <a:latin typeface="Nunito Bold"/>
                <a:ea typeface="Nunito Bold"/>
                <a:cs typeface="Nunito Bold"/>
                <a:sym typeface="Nunito Bold"/>
              </a:rPr>
              <a:t>Example:</a:t>
            </a:r>
            <a:r>
              <a:rPr lang="en-US" sz="1700" b="true">
                <a:solidFill>
                  <a:srgbClr val="111111"/>
                </a:solidFill>
                <a:latin typeface="Nunito Semi-Bold"/>
                <a:ea typeface="Nunito Semi-Bold"/>
                <a:cs typeface="Nunito Semi-Bold"/>
                <a:sym typeface="Nunito Semi-Bold"/>
              </a:rPr>
              <a:t> liked sci-fi + Nolan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suggest films with a similar genre, cast or keywords</a:t>
            </a:r>
          </a:p>
        </p:txBody>
      </p:sp>
      <p:sp>
        <p:nvSpPr>
          <p:cNvPr id="40" name="Rounded Rectangle 39"/>
          <p:cNvSpPr/>
          <p:nvPr/>
        </p:nvSpPr>
        <p:spPr>
          <a:xfrm>
            <a:off x="925830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1" name="Rounded Rectangle 40"/>
          <p:cNvSpPr/>
          <p:nvPr/>
        </p:nvSpPr>
        <p:spPr>
          <a:xfrm>
            <a:off x="9715500" y="5960618"/>
            <a:ext cx="285165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Candidate item features</a:t>
            </a:r>
          </a:p>
        </p:txBody>
      </p:sp>
      <p:sp>
        <p:nvSpPr>
          <p:cNvPr id="42" name="TextBox 41"/>
          <p:cNvSpPr txBox="1"/>
          <p:nvPr/>
        </p:nvSpPr>
        <p:spPr>
          <a:xfrm>
            <a:off x="953262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genre = Sci-Fi · director = Nolan
cast = … · year = 2010 · rating = 8.6</a:t>
            </a:r>
          </a:p>
        </p:txBody>
      </p:sp>
      <p:sp>
        <p:nvSpPr>
          <p:cNvPr id="43" name="Rounded Rectangle 42"/>
          <p:cNvSpPr/>
          <p:nvPr/>
        </p:nvSpPr>
        <p:spPr>
          <a:xfrm>
            <a:off x="1339596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5960618"/>
            <a:ext cx="244392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Why recommended</a:t>
            </a:r>
          </a:p>
        </p:txBody>
      </p:sp>
      <p:sp>
        <p:nvSpPr>
          <p:cNvPr id="45" name="TextBox 44"/>
          <p:cNvSpPr txBox="1"/>
          <p:nvPr/>
        </p:nvSpPr>
        <p:spPr>
          <a:xfrm>
            <a:off x="1367028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high cosine similarity to your profile
</a:t>
            </a:r>
            <a:r>
              <a:rPr lang="en-US" sz="1500" b="true">
                <a:solidFill>
                  <a:srgbClr val="111111"/>
                </a:solidFill>
                <a:latin typeface="Nunito Bold"/>
                <a:ea typeface="Nunito Bold"/>
                <a:cs typeface="Nunito Bold"/>
                <a:sym typeface="Nunito Bold"/>
              </a:rPr>
              <a:t>sim = cos(f</a:t>
            </a:r>
            <a:r>
              <a:rPr lang="en-US" sz="1500" b="true" baseline="-25000">
                <a:solidFill>
                  <a:srgbClr val="111111"/>
                </a:solidFill>
                <a:latin typeface="Nunito Bold"/>
                <a:ea typeface="Nunito Bold"/>
                <a:cs typeface="Nunito Bold"/>
                <a:sym typeface="Nunito Bold"/>
              </a:rPr>
              <a:t>user</a:t>
            </a:r>
            <a:r>
              <a:rPr lang="en-US" sz="1500" b="true">
                <a:solidFill>
                  <a:srgbClr val="111111"/>
                </a:solidFill>
                <a:latin typeface="Nunito Bold"/>
                <a:ea typeface="Nunito Bold"/>
                <a:cs typeface="Nunito Bold"/>
                <a:sym typeface="Nunito Bold"/>
              </a:rPr>
              <a:t>, f</a:t>
            </a:r>
            <a:r>
              <a:rPr lang="en-US" sz="1500" b="true" baseline="-25000">
                <a:solidFill>
                  <a:srgbClr val="111111"/>
                </a:solidFill>
                <a:latin typeface="Nunito Bold"/>
                <a:ea typeface="Nunito Bold"/>
                <a:cs typeface="Nunito Bold"/>
                <a:sym typeface="Nunito Bold"/>
              </a:rPr>
              <a:t>item</a:t>
            </a:r>
            <a:r>
              <a:rPr lang="en-US" sz="1500" b="true">
                <a:solidFill>
                  <a:srgbClr val="111111"/>
                </a:solidFill>
                <a:latin typeface="Nunito Bold"/>
                <a:ea typeface="Nunito Bold"/>
                <a:cs typeface="Nunito Bold"/>
                <a:sym typeface="Nunito Bold"/>
              </a:rPr>
              <a:t>)</a:t>
            </a:r>
          </a:p>
        </p:txBody>
      </p:sp>
      <p:sp>
        <p:nvSpPr>
          <p:cNvPr id="46" name="Rounded Rectangle 45"/>
          <p:cNvSpPr/>
          <p:nvPr/>
        </p:nvSpPr>
        <p:spPr>
          <a:xfrm>
            <a:off x="9258300" y="8210042"/>
            <a:ext cx="8001000" cy="1007110"/>
          </a:xfrm>
          <a:prstGeom prst="roundRect">
            <a:avLst>
              <a:gd name="adj" fmla="val 22698"/>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Explainable because the factors are </a:t>
            </a:r>
            <a:r>
              <a:rPr lang="en-US" sz="1600" b="true">
                <a:solidFill>
                  <a:srgbClr val="FFFFFF"/>
                </a:solidFill>
                <a:latin typeface="Nunito Bold"/>
                <a:ea typeface="Nunito Bold"/>
                <a:cs typeface="Nunito Bold"/>
                <a:sym typeface="Nunito Bold"/>
              </a:rPr>
              <a:t>domain-level and can be changed</a:t>
            </a:r>
            <a:r>
              <a:rPr lang="en-US" sz="1600" b="true">
                <a:solidFill>
                  <a:srgbClr val="FFFFFF"/>
                </a:solidFill>
                <a:latin typeface="Nunito Semi-Bold"/>
                <a:ea typeface="Nunito Semi-Bold"/>
                <a:cs typeface="Nunito Semi-Bold"/>
                <a:sym typeface="Nunito Semi-Bold"/>
              </a:rPr>
              <a:t>: exactly what is lost when latent factors and message passing take over.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Collaborative Filtering</a:t>
            </a:r>
          </a:p>
        </p:txBody>
      </p:sp>
      <p:pic>
        <p:nvPicPr>
          <p:cNvPr id="23" name="Picture 22" descr="image.png"/>
          <p:cNvPicPr>
            <a:picLocks noChangeAspect="1"/>
          </p:cNvPicPr>
          <p:nvPr/>
        </p:nvPicPr>
        <p:blipFill>
          <a:blip r:embed="rId3"/>
          <a:stretch>
            <a:fillRect/>
          </a:stretch>
        </p:blipFill>
        <p:spPr>
          <a:xfrm>
            <a:off x="7040539" y="1673352"/>
            <a:ext cx="457200" cy="539881"/>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using the </a:t>
            </a:r>
            <a:r>
              <a:rPr lang="en-US" sz="2100" b="true">
                <a:solidFill>
                  <a:srgbClr val="111111"/>
                </a:solidFill>
                <a:latin typeface="Nunito Bold"/>
                <a:ea typeface="Nunito Bold"/>
                <a:cs typeface="Nunito Bold"/>
                <a:sym typeface="Nunito Bold"/>
              </a:rPr>
              <a:t>preferences and behaviour of similar users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Finds patterns in </a:t>
            </a:r>
            <a:r>
              <a:rPr lang="en-US" sz="2100" b="true">
                <a:solidFill>
                  <a:srgbClr val="111111"/>
                </a:solidFill>
                <a:latin typeface="Nunito Bold"/>
                <a:ea typeface="Nunito Bold"/>
                <a:cs typeface="Nunito Bold"/>
                <a:sym typeface="Nunito Bold"/>
              </a:rPr>
              <a:t>user-item interactions</a:t>
            </a:r>
            <a:r>
              <a:rPr lang="en-US" sz="2100" b="true">
                <a:solidFill>
                  <a:srgbClr val="111111"/>
                </a:solidFill>
                <a:latin typeface="Nunito Semi-Bold"/>
                <a:ea typeface="Nunito Semi-Bold"/>
                <a:cs typeface="Nunito Semi-Bold"/>
                <a:sym typeface="Nunito Semi-Bold"/>
              </a:rPr>
              <a:t>: ratings, clicks, purchases.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Can be </a:t>
            </a:r>
            <a:r>
              <a:rPr lang="en-US" sz="2100" b="true">
                <a:solidFill>
                  <a:srgbClr val="111111"/>
                </a:solidFill>
                <a:latin typeface="Nunito Bold"/>
                <a:ea typeface="Nunito Bold"/>
                <a:cs typeface="Nunito Bold"/>
                <a:sym typeface="Nunito Bold"/>
              </a:rPr>
              <a:t>user-based</a:t>
            </a:r>
            <a:r>
              <a:rPr lang="en-US" sz="2100" b="true">
                <a:solidFill>
                  <a:srgbClr val="111111"/>
                </a:solidFill>
                <a:latin typeface="Nunito Semi-Bold"/>
                <a:ea typeface="Nunito Semi-Bold"/>
                <a:cs typeface="Nunito Semi-Bold"/>
                <a:sym typeface="Nunito Semi-Bold"/>
              </a:rPr>
              <a:t> or </a:t>
            </a:r>
            <a:r>
              <a:rPr lang="en-US" sz="2100" b="true">
                <a:solidFill>
                  <a:srgbClr val="111111"/>
                </a:solidFill>
                <a:latin typeface="Nunito Bold"/>
                <a:ea typeface="Nunito Bold"/>
                <a:cs typeface="Nunito Bold"/>
                <a:sym typeface="Nunito Bold"/>
              </a:rPr>
              <a:t>item-based</a:t>
            </a:r>
            <a:r>
              <a:rPr lang="en-US" sz="2100" b="true">
                <a:solidFill>
                  <a:srgbClr val="111111"/>
                </a:solidFill>
                <a:latin typeface="Nunito Semi-Bold"/>
                <a:ea typeface="Nunito Semi-Bold"/>
                <a:cs typeface="Nunito Semi-Bold"/>
                <a:sym typeface="Nunito Semi-Bold"/>
              </a:rPr>
              <a:t>; needs no item content at all.</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base idea behind matrix factorisation and graph recommenders.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It struggles with new users or new items because of limited interaction data (cold start).</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USER-BASED  ·  ITEM-BASED</a:t>
            </a:r>
          </a:p>
        </p:txBody>
      </p:sp>
      <p:sp>
        <p:nvSpPr>
          <p:cNvPr id="32" name="Oval 31"/>
          <p:cNvSpPr/>
          <p:nvPr/>
        </p:nvSpPr>
        <p:spPr>
          <a:xfrm>
            <a:off x="10081260" y="427812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u1</a:t>
            </a:r>
          </a:p>
        </p:txBody>
      </p:sp>
      <p:sp>
        <p:nvSpPr>
          <p:cNvPr id="33" name="Oval 32"/>
          <p:cNvSpPr/>
          <p:nvPr/>
        </p:nvSpPr>
        <p:spPr>
          <a:xfrm>
            <a:off x="10081260" y="532968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u2</a:t>
            </a:r>
          </a:p>
        </p:txBody>
      </p:sp>
      <p:sp>
        <p:nvSpPr>
          <p:cNvPr id="34" name="Oval 33"/>
          <p:cNvSpPr/>
          <p:nvPr/>
        </p:nvSpPr>
        <p:spPr>
          <a:xfrm>
            <a:off x="10081260" y="638124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u3</a:t>
            </a:r>
          </a:p>
        </p:txBody>
      </p:sp>
      <p:sp>
        <p:nvSpPr>
          <p:cNvPr id="35" name="Rounded Rectangle 34"/>
          <p:cNvSpPr/>
          <p:nvPr/>
        </p:nvSpPr>
        <p:spPr>
          <a:xfrm>
            <a:off x="16162020" y="400380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6162020" y="400380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i1</a:t>
            </a:r>
          </a:p>
        </p:txBody>
      </p:sp>
      <p:sp>
        <p:nvSpPr>
          <p:cNvPr id="37" name="Rounded Rectangle 36"/>
          <p:cNvSpPr/>
          <p:nvPr/>
        </p:nvSpPr>
        <p:spPr>
          <a:xfrm>
            <a:off x="16162020" y="482676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8" name="TextBox 37"/>
          <p:cNvSpPr txBox="1"/>
          <p:nvPr/>
        </p:nvSpPr>
        <p:spPr>
          <a:xfrm>
            <a:off x="16162020" y="482676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i2</a:t>
            </a:r>
          </a:p>
        </p:txBody>
      </p:sp>
      <p:sp>
        <p:nvSpPr>
          <p:cNvPr id="39" name="Rounded Rectangle 38"/>
          <p:cNvSpPr/>
          <p:nvPr/>
        </p:nvSpPr>
        <p:spPr>
          <a:xfrm>
            <a:off x="16162020" y="564972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0" name="TextBox 39"/>
          <p:cNvSpPr txBox="1"/>
          <p:nvPr/>
        </p:nvSpPr>
        <p:spPr>
          <a:xfrm>
            <a:off x="16162020" y="564972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i3</a:t>
            </a:r>
          </a:p>
        </p:txBody>
      </p:sp>
      <p:sp>
        <p:nvSpPr>
          <p:cNvPr id="41" name="Rounded Rectangle 40"/>
          <p:cNvSpPr/>
          <p:nvPr/>
        </p:nvSpPr>
        <p:spPr>
          <a:xfrm>
            <a:off x="16162020" y="647268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2" name="TextBox 41"/>
          <p:cNvSpPr txBox="1"/>
          <p:nvPr/>
        </p:nvSpPr>
        <p:spPr>
          <a:xfrm>
            <a:off x="16162020" y="647268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i4</a:t>
            </a:r>
          </a:p>
        </p:txBody>
      </p:sp>
      <p:cxnSp>
        <p:nvCxnSpPr>
          <p:cNvPr id="43" name="Connector 42"/>
          <p:cNvCxnSpPr/>
          <p:nvPr/>
        </p:nvCxnSpPr>
        <p:spPr>
          <a:xfrm flipV="1">
            <a:off x="10767060" y="4323842"/>
            <a:ext cx="5394960" cy="297180"/>
          </a:xfrm>
          <a:prstGeom prst="line">
            <a:avLst/>
          </a:prstGeom>
          <a:ln w="22225">
            <a:solidFill>
              <a:srgbClr val="124944"/>
            </a:solidFill>
          </a:ln>
        </p:spPr>
      </p:cxnSp>
      <p:cxnSp>
        <p:nvCxnSpPr>
          <p:cNvPr id="44" name="Connector 43"/>
          <p:cNvCxnSpPr/>
          <p:nvPr/>
        </p:nvCxnSpPr>
        <p:spPr>
          <a:xfrm>
            <a:off x="10767060" y="4621022"/>
            <a:ext cx="5394960" cy="525780"/>
          </a:xfrm>
          <a:prstGeom prst="line">
            <a:avLst/>
          </a:prstGeom>
          <a:ln w="22225">
            <a:solidFill>
              <a:srgbClr val="124944"/>
            </a:solidFill>
          </a:ln>
        </p:spPr>
      </p:cxnSp>
      <p:cxnSp>
        <p:nvCxnSpPr>
          <p:cNvPr id="45" name="Connector 44"/>
          <p:cNvCxnSpPr/>
          <p:nvPr/>
        </p:nvCxnSpPr>
        <p:spPr>
          <a:xfrm flipV="1">
            <a:off x="10767060" y="4323842"/>
            <a:ext cx="5394960" cy="1348740"/>
          </a:xfrm>
          <a:prstGeom prst="line">
            <a:avLst/>
          </a:prstGeom>
          <a:ln w="22225">
            <a:solidFill>
              <a:srgbClr val="124944"/>
            </a:solidFill>
          </a:ln>
        </p:spPr>
      </p:cxnSp>
      <p:cxnSp>
        <p:nvCxnSpPr>
          <p:cNvPr id="46" name="Connector 45"/>
          <p:cNvCxnSpPr/>
          <p:nvPr/>
        </p:nvCxnSpPr>
        <p:spPr>
          <a:xfrm flipV="1">
            <a:off x="10767060" y="5146802"/>
            <a:ext cx="5394960" cy="525780"/>
          </a:xfrm>
          <a:prstGeom prst="line">
            <a:avLst/>
          </a:prstGeom>
          <a:ln w="22225">
            <a:solidFill>
              <a:srgbClr val="124944"/>
            </a:solidFill>
          </a:ln>
        </p:spPr>
      </p:cxnSp>
      <p:cxnSp>
        <p:nvCxnSpPr>
          <p:cNvPr id="47" name="Connector 46"/>
          <p:cNvCxnSpPr/>
          <p:nvPr/>
        </p:nvCxnSpPr>
        <p:spPr>
          <a:xfrm>
            <a:off x="10767060" y="5672582"/>
            <a:ext cx="5394960" cy="297180"/>
          </a:xfrm>
          <a:prstGeom prst="line">
            <a:avLst/>
          </a:prstGeom>
          <a:ln w="22225">
            <a:solidFill>
              <a:srgbClr val="124944"/>
            </a:solidFill>
          </a:ln>
        </p:spPr>
      </p:cxnSp>
      <p:cxnSp>
        <p:nvCxnSpPr>
          <p:cNvPr id="48" name="Connector 47"/>
          <p:cNvCxnSpPr/>
          <p:nvPr/>
        </p:nvCxnSpPr>
        <p:spPr>
          <a:xfrm flipV="1">
            <a:off x="10767060" y="5969762"/>
            <a:ext cx="5394960" cy="754380"/>
          </a:xfrm>
          <a:prstGeom prst="line">
            <a:avLst/>
          </a:prstGeom>
          <a:ln w="22225">
            <a:solidFill>
              <a:srgbClr val="124944"/>
            </a:solidFill>
          </a:ln>
        </p:spPr>
      </p:cxnSp>
      <p:cxnSp>
        <p:nvCxnSpPr>
          <p:cNvPr id="49" name="Connector 48"/>
          <p:cNvCxnSpPr/>
          <p:nvPr/>
        </p:nvCxnSpPr>
        <p:spPr>
          <a:xfrm>
            <a:off x="10767060" y="6724142"/>
            <a:ext cx="5394960" cy="68580"/>
          </a:xfrm>
          <a:prstGeom prst="line">
            <a:avLst/>
          </a:prstGeom>
          <a:ln w="22225">
            <a:solidFill>
              <a:srgbClr val="124944"/>
            </a:solidFill>
          </a:ln>
        </p:spPr>
      </p:cxnSp>
      <p:cxnSp>
        <p:nvCxnSpPr>
          <p:cNvPr id="50" name="Connector 49"/>
          <p:cNvCxnSpPr/>
          <p:nvPr/>
        </p:nvCxnSpPr>
        <p:spPr>
          <a:xfrm>
            <a:off x="10767060" y="4621022"/>
            <a:ext cx="5394960" cy="1348740"/>
          </a:xfrm>
          <a:prstGeom prst="line">
            <a:avLst/>
          </a:prstGeom>
          <a:ln w="31750">
            <a:solidFill>
              <a:srgbClr val="DF8330"/>
            </a:solidFill>
            <a:prstDash val="dash"/>
          </a:ln>
        </p:spPr>
      </p:cxnSp>
      <p:sp>
        <p:nvSpPr>
          <p:cNvPr id="51" name="TextBox 50"/>
          <p:cNvSpPr txBox="1"/>
          <p:nvPr/>
        </p:nvSpPr>
        <p:spPr>
          <a:xfrm>
            <a:off x="9258300" y="7432802"/>
            <a:ext cx="8001000" cy="411480"/>
          </a:xfrm>
          <a:prstGeom prst="rect">
            <a:avLst/>
          </a:prstGeom>
          <a:noFill/>
        </p:spPr>
        <p:txBody>
          <a:bodyPr anchor="t" rtlCol="false" lIns="0" tIns="0" rIns="0" bIns="0" wrap="square"/>
          <a:lstStyle/>
          <a:p>
            <a:pPr algn="ctr">
              <a:lnSpc>
                <a:spcPts val="2000"/>
              </a:lnSpc>
              <a:spcBef>
                <a:spcPts val="0"/>
              </a:spcBef>
              <a:buNone/>
            </a:pPr>
            <a:r>
              <a:rPr lang="en-US" sz="1600" b="true">
                <a:solidFill>
                  <a:srgbClr val="111111"/>
                </a:solidFill>
                <a:latin typeface="Nunito Semi-Bold"/>
                <a:ea typeface="Nunito Semi-Bold"/>
                <a:cs typeface="Nunito Semi-Bold"/>
                <a:sym typeface="Nunito Semi-Bold"/>
              </a:rPr>
              <a:t>u1 behaves like u2  </a:t>
            </a:r>
            <a:r>
              <a:rPr lang="en-US" sz="1600" b="true">
                <a:solidFill>
                  <a:srgbClr val="111111"/>
                </a:solidFill>
                <a:latin typeface="Calibri"/>
                <a:ea typeface="Calibri"/>
                <a:cs typeface="Calibri"/>
                <a:sym typeface="Calibri"/>
              </a:rPr>
              <a:t>→  </a:t>
            </a:r>
            <a:r>
              <a:rPr lang="en-US" sz="1600" b="true">
                <a:solidFill>
                  <a:srgbClr val="111111"/>
                </a:solidFill>
                <a:latin typeface="Nunito Bold"/>
                <a:ea typeface="Nunito Bold"/>
                <a:cs typeface="Nunito Bold"/>
                <a:sym typeface="Nunito Bold"/>
              </a:rPr>
              <a:t>recommend i3 to u1</a:t>
            </a:r>
            <a:r>
              <a:rPr lang="en-US" sz="1600" b="true">
                <a:solidFill>
                  <a:srgbClr val="111111"/>
                </a:solidFill>
                <a:latin typeface="Nunito Semi-Bold"/>
                <a:ea typeface="Nunito Semi-Bold"/>
                <a:cs typeface="Nunito Semi-Bold"/>
                <a:sym typeface="Nunito Semi-Bold"/>
              </a:rPr>
              <a:t> (dashed)</a:t>
            </a:r>
          </a:p>
        </p:txBody>
      </p:sp>
      <p:sp>
        <p:nvSpPr>
          <p:cNvPr id="52" name="Rounded Rectangle 51"/>
          <p:cNvSpPr/>
          <p:nvPr/>
        </p:nvSpPr>
        <p:spPr>
          <a:xfrm>
            <a:off x="925830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3" name="Rounded Rectangle 52"/>
          <p:cNvSpPr/>
          <p:nvPr/>
        </p:nvSpPr>
        <p:spPr>
          <a:xfrm>
            <a:off x="9715500" y="7926578"/>
            <a:ext cx="1641980"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User-based</a:t>
            </a:r>
          </a:p>
        </p:txBody>
      </p:sp>
      <p:sp>
        <p:nvSpPr>
          <p:cNvPr id="54" name="TextBox 53"/>
          <p:cNvSpPr txBox="1"/>
          <p:nvPr/>
        </p:nvSpPr>
        <p:spPr>
          <a:xfrm>
            <a:off x="948690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similar users </a:t>
            </a:r>
            <a:r>
              <a:rPr lang="en-US" sz="1400" b="true">
                <a:solidFill>
                  <a:srgbClr val="111111"/>
                </a:solidFill>
                <a:latin typeface="Calibri"/>
                <a:ea typeface="Calibri"/>
                <a:cs typeface="Calibri"/>
                <a:sym typeface="Calibri"/>
              </a:rPr>
              <a:t>→ </a:t>
            </a:r>
            <a:r>
              <a:rPr lang="en-US" sz="1400" b="true">
                <a:solidFill>
                  <a:srgbClr val="111111"/>
                </a:solidFill>
                <a:latin typeface="Nunito Semi-Bold"/>
                <a:ea typeface="Nunito Semi-Bold"/>
                <a:cs typeface="Nunito Semi-Bold"/>
                <a:sym typeface="Nunito Semi-Bold"/>
              </a:rPr>
              <a:t>their liked items</a:t>
            </a:r>
          </a:p>
        </p:txBody>
      </p:sp>
      <p:sp>
        <p:nvSpPr>
          <p:cNvPr id="55" name="Rounded Rectangle 54"/>
          <p:cNvSpPr/>
          <p:nvPr/>
        </p:nvSpPr>
        <p:spPr>
          <a:xfrm>
            <a:off x="1339596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6" name="Rounded Rectangle 55"/>
          <p:cNvSpPr/>
          <p:nvPr/>
        </p:nvSpPr>
        <p:spPr>
          <a:xfrm>
            <a:off x="13853160" y="7926578"/>
            <a:ext cx="162824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Item-based</a:t>
            </a:r>
          </a:p>
        </p:txBody>
      </p:sp>
      <p:sp>
        <p:nvSpPr>
          <p:cNvPr id="57" name="TextBox 56"/>
          <p:cNvSpPr txBox="1"/>
          <p:nvPr/>
        </p:nvSpPr>
        <p:spPr>
          <a:xfrm>
            <a:off x="1362456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items co-liked with the user's items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Hybrid Approaches and Matrix Factorisation</a:t>
            </a:r>
          </a:p>
        </p:txBody>
      </p:sp>
      <p:pic>
        <p:nvPicPr>
          <p:cNvPr id="23" name="Picture 22" descr="image.png"/>
          <p:cNvPicPr>
            <a:picLocks noChangeAspect="1"/>
          </p:cNvPicPr>
          <p:nvPr/>
        </p:nvPicPr>
        <p:blipFill>
          <a:blip r:embed="rId3"/>
          <a:stretch>
            <a:fillRect/>
          </a:stretch>
        </p:blipFill>
        <p:spPr>
          <a:xfrm>
            <a:off x="12801265" y="1673352"/>
            <a:ext cx="457200" cy="373212"/>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Hybrid:</a:t>
            </a:r>
            <a:r>
              <a:rPr lang="en-US" sz="2100" b="true">
                <a:solidFill>
                  <a:srgbClr val="111111"/>
                </a:solidFill>
                <a:latin typeface="Nunito Semi-Bold"/>
                <a:ea typeface="Nunito Semi-Bold"/>
                <a:cs typeface="Nunito Semi-Bold"/>
                <a:sym typeface="Nunito Semi-Bold"/>
              </a:rPr>
              <a:t> combines content-based and collaborative methods to reduce the weaknesses of each.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Handles limited data, over-specialisation and part of the cold-start problem.</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Matrix factorisation (MF):</a:t>
            </a:r>
            <a:r>
              <a:rPr lang="en-US" sz="2100" b="true">
                <a:solidFill>
                  <a:srgbClr val="111111"/>
                </a:solidFill>
                <a:latin typeface="Nunito Semi-Bold"/>
                <a:ea typeface="Nunito Semi-Bold"/>
                <a:cs typeface="Nunito Semi-Bold"/>
                <a:sym typeface="Nunito Semi-Bold"/>
              </a:rPr>
              <a:t> the interaction matrix R is split into user and item factors P and Q.</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MF made recommendation accurate and scalable; it is the standard baseline of the field.</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The latent factors are compact but hidden: a good score cannot be traced back to a factor a person understands.</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HYBRID  ·  MATRIX FACTORISATION</a:t>
            </a:r>
          </a:p>
        </p:txBody>
      </p:sp>
      <p:sp>
        <p:nvSpPr>
          <p:cNvPr id="32" name="Rounded Rectangle 31"/>
          <p:cNvSpPr/>
          <p:nvPr/>
        </p:nvSpPr>
        <p:spPr>
          <a:xfrm>
            <a:off x="9258300" y="3958082"/>
            <a:ext cx="3863340" cy="914400"/>
          </a:xfrm>
          <a:prstGeom prst="roundRect">
            <a:avLst>
              <a:gd name="adj" fmla="val 22000"/>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Content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features · metadata</a:t>
            </a:r>
          </a:p>
        </p:txBody>
      </p:sp>
      <p:sp>
        <p:nvSpPr>
          <p:cNvPr id="33" name="Rounded Rectangle 32"/>
          <p:cNvSpPr/>
          <p:nvPr/>
        </p:nvSpPr>
        <p:spPr>
          <a:xfrm>
            <a:off x="13395960" y="3958082"/>
            <a:ext cx="3863340" cy="914400"/>
          </a:xfrm>
          <a:prstGeom prst="roundRect">
            <a:avLst>
              <a:gd name="adj" fmla="val 22000"/>
            </a:avLst>
          </a:prstGeom>
          <a:solidFill>
            <a:srgbClr val="1E5F58"/>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Collaborative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ratings · clicks</a:t>
            </a:r>
          </a:p>
        </p:txBody>
      </p:sp>
      <p:cxnSp>
        <p:nvCxnSpPr>
          <p:cNvPr id="34" name="Connector 33"/>
          <p:cNvCxnSpPr/>
          <p:nvPr/>
        </p:nvCxnSpPr>
        <p:spPr>
          <a:xfrm>
            <a:off x="11189970" y="4872482"/>
            <a:ext cx="1794510" cy="411480"/>
          </a:xfrm>
          <a:prstGeom prst="line">
            <a:avLst/>
          </a:prstGeom>
          <a:ln w="31750">
            <a:solidFill>
              <a:srgbClr val="124944"/>
            </a:solidFill>
            <a:tailEnd type="triangle" w="med" len="med"/>
          </a:ln>
        </p:spPr>
      </p:cxnSp>
      <p:cxnSp>
        <p:nvCxnSpPr>
          <p:cNvPr id="35" name="Connector 34"/>
          <p:cNvCxnSpPr/>
          <p:nvPr/>
        </p:nvCxnSpPr>
        <p:spPr>
          <a:xfrm flipH="1">
            <a:off x="13533120" y="4872482"/>
            <a:ext cx="1794510" cy="411480"/>
          </a:xfrm>
          <a:prstGeom prst="line">
            <a:avLst/>
          </a:prstGeom>
          <a:ln w="31750">
            <a:solidFill>
              <a:srgbClr val="124944"/>
            </a:solidFill>
            <a:tailEnd type="triangle" w="med" len="med"/>
          </a:ln>
        </p:spPr>
      </p:cxnSp>
      <p:sp>
        <p:nvSpPr>
          <p:cNvPr id="36" name="Rounded Rectangle 35"/>
          <p:cNvSpPr/>
          <p:nvPr/>
        </p:nvSpPr>
        <p:spPr>
          <a:xfrm>
            <a:off x="11430000" y="5283962"/>
            <a:ext cx="3657600" cy="868680"/>
          </a:xfrm>
          <a:prstGeom prst="roundRect">
            <a:avLst>
              <a:gd name="adj" fmla="val 23157"/>
            </a:avLst>
          </a:prstGeom>
          <a:solidFill>
            <a:srgbClr val="DF8330"/>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Hybrid recommender</a:t>
            </a:r>
          </a:p>
        </p:txBody>
      </p:sp>
      <p:sp>
        <p:nvSpPr>
          <p:cNvPr id="37" name="TextBox 36"/>
          <p:cNvSpPr txBox="1"/>
          <p:nvPr/>
        </p:nvSpPr>
        <p:spPr>
          <a:xfrm>
            <a:off x="9258300" y="6609842"/>
            <a:ext cx="8001000" cy="365760"/>
          </a:xfrm>
          <a:prstGeom prst="rect">
            <a:avLst/>
          </a:prstGeom>
          <a:noFill/>
        </p:spPr>
        <p:txBody>
          <a:bodyPr anchor="t" rtlCol="false" lIns="0" tIns="0" rIns="0" bIns="0" wrap="square"/>
          <a:lstStyle/>
          <a:p>
            <a:pPr algn="ctr">
              <a:lnSpc>
                <a:spcPts val="1600"/>
              </a:lnSpc>
              <a:spcBef>
                <a:spcPts val="0"/>
              </a:spcBef>
              <a:buNone/>
            </a:pPr>
            <a:r>
              <a:rPr lang="en-US" sz="1300" b="true" spc="140">
                <a:solidFill>
                  <a:srgbClr val="124944"/>
                </a:solidFill>
                <a:latin typeface="Nunito Ultra-Bold"/>
                <a:ea typeface="Nunito Ultra-Bold"/>
                <a:cs typeface="Nunito Ultra-Bold"/>
                <a:sym typeface="Nunito Ultra-Bold"/>
              </a:rPr>
              <a:t>MATRIX FACTORISATION</a:t>
            </a:r>
          </a:p>
        </p:txBody>
      </p:sp>
      <mc:AlternateContent xmlns:mc="http://schemas.openxmlformats.org/markup-compatibility/2006">
        <mc:Choice xmlns:a14="http://schemas.microsoft.com/office/drawing/2010/main" Requires="a14">
          <p:sp>
            <p:nvSpPr>
              <p:cNvPr id="38" name="Equation"/>
              <p:cNvSpPr txBox="1"/>
              <p:nvPr/>
            </p:nvSpPr>
            <p:spPr>
              <a:xfrm>
                <a:off x="9258300" y="6975602"/>
                <a:ext cx="8001000" cy="8229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R</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n</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Sub>
                      <m:r>
                        <m:rPr>
                          <m:sty m:val="p"/>
                        </m:rPr>
                        <a:rPr lang="en-US" sz="2200">
                          <a:solidFill>
                            <a:srgbClr val="111111"/>
                          </a:solidFill>
                          <a:latin typeface="Cambria Math" panose="02040503050406030204" pitchFamily="18" charset="0"/>
                        </a:rPr>
                        <m:t xml:space="preserve"> </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n</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up>
                          <m:r>
                            <m:rPr>
                              <m:sty m:val="p"/>
                            </m:rPr>
                            <a:rPr lang="en-US" sz="2200">
                              <a:solidFill>
                                <a:srgbClr val="111111"/>
                              </a:solidFill>
                              <a:latin typeface="Cambria Math" panose="02040503050406030204" pitchFamily="18" charset="0"/>
                            </a:rPr>
                            <m:t xml:space="preserve">⊤</m:t>
                          </m:r>
                        </m:sup>
                      </m:sSubSup>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acc>
                            <m:accPr>
                              <m:chr m:val="̂"/>
                              <m:ctrlPr>
                                <a:rPr lang="en-US" sz="2200" i="1">
                                  <a:solidFill>
                                    <a:srgbClr val="111111"/>
                                  </a:solidFill>
                                  <a:latin typeface="Cambria Math" panose="02040503050406030204" pitchFamily="18" charset="0"/>
                                </a:rPr>
                              </m:ctrlPr>
                            </m:accPr>
                            <m:e>
                              <m:r>
                                <a:rPr lang="en-US" sz="2200" i="1">
                                  <a:solidFill>
                                    <a:srgbClr val="111111"/>
                                  </a:solidFill>
                                  <a:latin typeface="Cambria Math" panose="02040503050406030204" pitchFamily="18" charset="0"/>
                                </a:rPr>
                                <m:t xml:space="preserve">r</m:t>
                              </m:r>
                            </m:e>
                          </m:acc>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u</m:t>
                          </m:r>
                        </m:sub>
                        <m:sup>
                          <m:r>
                            <m:rPr>
                              <m:sty m:val="p"/>
                            </m:rPr>
                            <a:rPr lang="en-US" sz="2200">
                              <a:solidFill>
                                <a:srgbClr val="111111"/>
                              </a:solidFill>
                              <a:latin typeface="Cambria Math" panose="02040503050406030204" pitchFamily="18" charset="0"/>
                            </a:rPr>
                            <m:t xml:space="preserve">⊤</m:t>
                          </m:r>
                        </m:sup>
                      </m:sSubSup>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i</m:t>
                          </m:r>
                        </m:sub>
                      </m:sSub>
                    </m:oMath>
                  </m:oMathPara>
                </a14:m>
                <a:endParaRPr lang="en-US" sz="2200"/>
              </a:p>
            </p:txBody>
          </p:sp>
        </mc:Choice>
        <mc:Fallback>
          <p:sp>
            <p:nvSpPr>
              <p:cNvPr id="38" name="Equation"/>
              <p:cNvSpPr txBox="1"/>
              <p:nvPr/>
            </p:nvSpPr>
            <p:spPr>
              <a:xfrm>
                <a:off x="9258300" y="6975602"/>
                <a:ext cx="8001000" cy="822960"/>
              </a:xfrm>
              <a:prstGeom prst="rect">
                <a:avLst/>
              </a:prstGeom>
              <a:blipFill>
                <a:blip r:embed="rId5"/>
                <a:stretch>
                  <a:fillRect/>
                </a:stretch>
              </a:blipFill>
            </p:spPr>
            <p:txBody>
              <a:bodyPr/>
              <a:lstStyle/>
              <a:p>
                <a:endParaRPr lang="en-US"/>
              </a:p>
            </p:txBody>
          </p:sp>
        </mc:Fallback>
      </mc:AlternateContent>
      <p:sp>
        <p:nvSpPr>
          <p:cNvPr id="39" name="Rounded Rectangle 38"/>
          <p:cNvSpPr/>
          <p:nvPr/>
        </p:nvSpPr>
        <p:spPr>
          <a:xfrm>
            <a:off x="9258300" y="7935722"/>
            <a:ext cx="8001000" cy="1281430"/>
          </a:xfrm>
          <a:prstGeom prst="roundRect">
            <a:avLst>
              <a:gd name="adj" fmla="val 17839"/>
            </a:avLst>
          </a:prstGeom>
          <a:solidFill>
            <a:srgbClr val="F6ECDF"/>
          </a:solidFill>
          <a:ln>
            <a:noFill/>
          </a:ln>
        </p:spPr>
        <p:txBody>
          <a:bodyPr anchor="ctr" rtlCol="false" lIns="320040" tIns="91440" rIns="320040" bIns="91440" wrap="square"/>
          <a:lstStyle/>
          <a:p>
            <a:pPr algn="ctr">
              <a:lnSpc>
                <a:spcPts val="2100"/>
              </a:lnSpc>
              <a:spcBef>
                <a:spcPts val="0"/>
              </a:spcBef>
              <a:buNone/>
            </a:pPr>
            <a:r>
              <a:rPr lang="en-US" sz="1600" b="true">
                <a:solidFill>
                  <a:srgbClr val="111111"/>
                </a:solidFill>
                <a:latin typeface="Nunito Semi-Bold"/>
                <a:ea typeface="Nunito Semi-Bold"/>
                <a:cs typeface="Nunito Semi-Bold"/>
                <a:sym typeface="Nunito Semi-Bold"/>
              </a:rPr>
              <a:t>Compact and effective, but the </a:t>
            </a:r>
            <a:r>
              <a:rPr lang="en-US" sz="1600" b="true">
                <a:solidFill>
                  <a:srgbClr val="111111"/>
                </a:solidFill>
                <a:latin typeface="Nunito Bold"/>
                <a:ea typeface="Nunito Bold"/>
                <a:cs typeface="Nunito Bold"/>
                <a:sym typeface="Nunito Bold"/>
              </a:rPr>
              <a:t>k latent factors have no readable meaning</a:t>
            </a:r>
            <a:r>
              <a:rPr lang="en-US" sz="1600" b="true">
                <a:solidFill>
                  <a:srgbClr val="111111"/>
                </a:solidFill>
                <a:latin typeface="Nunito Semi-Bold"/>
                <a:ea typeface="Nunito Semi-Bold"/>
                <a:cs typeface="Nunito Semi-Bold"/>
                <a:sym typeface="Nunito Semi-Bold"/>
              </a:rPr>
              <a:t>: this is where the interpretability gap starts.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[16] Feng, Y. et al. Hypergraph Neural Networks. AAAI 33, 3558–3565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Graph-Based and Hypergraph Recommenders</a:t>
            </a:r>
          </a:p>
        </p:txBody>
      </p:sp>
      <p:pic>
        <p:nvPicPr>
          <p:cNvPr id="23" name="Picture 22" descr="image.png"/>
          <p:cNvPicPr>
            <a:picLocks noChangeAspect="1"/>
          </p:cNvPicPr>
          <p:nvPr/>
        </p:nvPicPr>
        <p:blipFill>
          <a:blip r:embed="rId3"/>
          <a:stretch>
            <a:fillRect/>
          </a:stretch>
        </p:blipFill>
        <p:spPr>
          <a:xfrm>
            <a:off x="13302882" y="1673352"/>
            <a:ext cx="457200" cy="427074"/>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Represent users, items and their interactions as </a:t>
            </a:r>
            <a:r>
              <a:rPr lang="en-US" sz="2100" b="true">
                <a:solidFill>
                  <a:srgbClr val="111111"/>
                </a:solidFill>
                <a:latin typeface="Nunito Bold"/>
                <a:ea typeface="Nunito Bold"/>
                <a:cs typeface="Nunito Bold"/>
                <a:sym typeface="Nunito Bold"/>
              </a:rPr>
              <a:t>nodes and edges</a:t>
            </a:r>
            <a:r>
              <a:rPr lang="en-US" sz="2100" b="true">
                <a:solidFill>
                  <a:srgbClr val="111111"/>
                </a:solidFill>
                <a:latin typeface="Nunito Semi-Bold"/>
                <a:ea typeface="Nunito Semi-Bold"/>
                <a:cs typeface="Nunito Semi-Bold"/>
                <a:sym typeface="Nunito Semi-Bold"/>
              </a:rPr>
              <a:t> in a graph.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Use </a:t>
            </a:r>
            <a:r>
              <a:rPr lang="en-US" sz="2100" b="true">
                <a:solidFill>
                  <a:srgbClr val="111111"/>
                </a:solidFill>
                <a:latin typeface="Nunito Bold"/>
                <a:ea typeface="Nunito Bold"/>
                <a:cs typeface="Nunito Bold"/>
                <a:sym typeface="Nunito Bold"/>
              </a:rPr>
              <a:t>message passing</a:t>
            </a:r>
            <a:r>
              <a:rPr lang="en-US" sz="2100" b="true">
                <a:solidFill>
                  <a:srgbClr val="111111"/>
                </a:solidFill>
                <a:latin typeface="Nunito Semi-Bold"/>
                <a:ea typeface="Nunito Semi-Bold"/>
                <a:cs typeface="Nunito Semi-Bold"/>
                <a:sym typeface="Nunito Semi-Bold"/>
              </a:rPr>
              <a:t> (LightGCN, HCCF, HPCF) to reach multi-hop neighbours.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Hypergraphs</a:t>
            </a:r>
            <a:r>
              <a:rPr lang="en-US" sz="2100" b="true">
                <a:solidFill>
                  <a:srgbClr val="111111"/>
                </a:solidFill>
                <a:latin typeface="Nunito Semi-Bold"/>
                <a:ea typeface="Nunito Semi-Bold"/>
                <a:cs typeface="Nunito Semi-Bold"/>
                <a:sym typeface="Nunito Semi-Bold"/>
              </a:rPr>
              <a:t> connect more than two nodes at once: user, item and context in one hyperedge.</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State of the art in accuracy on sparse benchmarks such as MovieLens-1M and Amazon-Book.</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Large graphs cost compute and memory, and all messages are treated as equally important and unexplained.</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GRAPH  ·  HYPERGRAPH</a:t>
            </a:r>
          </a:p>
        </p:txBody>
      </p:sp>
      <p:sp>
        <p:nvSpPr>
          <p:cNvPr id="32" name="Rounded Rectangle 31"/>
          <p:cNvSpPr/>
          <p:nvPr/>
        </p:nvSpPr>
        <p:spPr>
          <a:xfrm>
            <a:off x="925830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15500" y="3903218"/>
            <a:ext cx="2690762"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Graph: pairwise edges</a:t>
            </a:r>
          </a:p>
        </p:txBody>
      </p:sp>
      <p:cxnSp>
        <p:nvCxnSpPr>
          <p:cNvPr id="34" name="Connector 33"/>
          <p:cNvCxnSpPr/>
          <p:nvPr/>
        </p:nvCxnSpPr>
        <p:spPr>
          <a:xfrm flipV="1">
            <a:off x="10367010" y="4735322"/>
            <a:ext cx="1645920" cy="274320"/>
          </a:xfrm>
          <a:prstGeom prst="line">
            <a:avLst/>
          </a:prstGeom>
          <a:ln w="22225">
            <a:solidFill>
              <a:srgbClr val="124944"/>
            </a:solidFill>
          </a:ln>
        </p:spPr>
      </p:cxnSp>
      <p:cxnSp>
        <p:nvCxnSpPr>
          <p:cNvPr id="35" name="Connector 34"/>
          <p:cNvCxnSpPr/>
          <p:nvPr/>
        </p:nvCxnSpPr>
        <p:spPr>
          <a:xfrm>
            <a:off x="10367010" y="5009642"/>
            <a:ext cx="1645920" cy="822960"/>
          </a:xfrm>
          <a:prstGeom prst="line">
            <a:avLst/>
          </a:prstGeom>
          <a:ln w="22225">
            <a:solidFill>
              <a:srgbClr val="124944"/>
            </a:solidFill>
          </a:ln>
        </p:spPr>
      </p:cxnSp>
      <p:cxnSp>
        <p:nvCxnSpPr>
          <p:cNvPr id="36" name="Connector 35"/>
          <p:cNvCxnSpPr/>
          <p:nvPr/>
        </p:nvCxnSpPr>
        <p:spPr>
          <a:xfrm flipV="1">
            <a:off x="10367010" y="5832602"/>
            <a:ext cx="1645920" cy="548640"/>
          </a:xfrm>
          <a:prstGeom prst="line">
            <a:avLst/>
          </a:prstGeom>
          <a:ln w="22225">
            <a:solidFill>
              <a:srgbClr val="124944"/>
            </a:solidFill>
          </a:ln>
        </p:spPr>
      </p:cxnSp>
      <p:cxnSp>
        <p:nvCxnSpPr>
          <p:cNvPr id="37" name="Connector 36"/>
          <p:cNvCxnSpPr/>
          <p:nvPr/>
        </p:nvCxnSpPr>
        <p:spPr>
          <a:xfrm>
            <a:off x="10367010" y="6381242"/>
            <a:ext cx="1645920" cy="548640"/>
          </a:xfrm>
          <a:prstGeom prst="line">
            <a:avLst/>
          </a:prstGeom>
          <a:ln w="22225">
            <a:solidFill>
              <a:srgbClr val="124944"/>
            </a:solidFill>
          </a:ln>
        </p:spPr>
      </p:cxnSp>
      <p:sp>
        <p:nvSpPr>
          <p:cNvPr id="38" name="Oval 37"/>
          <p:cNvSpPr/>
          <p:nvPr/>
        </p:nvSpPr>
        <p:spPr>
          <a:xfrm>
            <a:off x="10110978" y="47536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39" name="Oval 38"/>
          <p:cNvSpPr/>
          <p:nvPr/>
        </p:nvSpPr>
        <p:spPr>
          <a:xfrm>
            <a:off x="11756898" y="447929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i1</a:t>
            </a:r>
          </a:p>
        </p:txBody>
      </p:sp>
      <p:sp>
        <p:nvSpPr>
          <p:cNvPr id="40" name="Oval 39"/>
          <p:cNvSpPr/>
          <p:nvPr/>
        </p:nvSpPr>
        <p:spPr>
          <a:xfrm>
            <a:off x="11756898" y="557657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i2</a:t>
            </a:r>
          </a:p>
        </p:txBody>
      </p:sp>
      <p:sp>
        <p:nvSpPr>
          <p:cNvPr id="41" name="Oval 40"/>
          <p:cNvSpPr/>
          <p:nvPr/>
        </p:nvSpPr>
        <p:spPr>
          <a:xfrm>
            <a:off x="10110978" y="61252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u2</a:t>
            </a:r>
          </a:p>
        </p:txBody>
      </p:sp>
      <p:sp>
        <p:nvSpPr>
          <p:cNvPr id="42" name="Oval 41"/>
          <p:cNvSpPr/>
          <p:nvPr/>
        </p:nvSpPr>
        <p:spPr>
          <a:xfrm>
            <a:off x="11756898" y="667385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i3</a:t>
            </a:r>
          </a:p>
        </p:txBody>
      </p:sp>
      <p:sp>
        <p:nvSpPr>
          <p:cNvPr id="43" name="Rounded Rectangle 42"/>
          <p:cNvSpPr/>
          <p:nvPr/>
        </p:nvSpPr>
        <p:spPr>
          <a:xfrm>
            <a:off x="1339596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3903218"/>
            <a:ext cx="388767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Hypergraph: one edge, many nodes</a:t>
            </a:r>
          </a:p>
        </p:txBody>
      </p:sp>
      <p:sp>
        <p:nvSpPr>
          <p:cNvPr id="45" name="Oval 44"/>
          <p:cNvSpPr/>
          <p:nvPr/>
        </p:nvSpPr>
        <p:spPr>
          <a:xfrm>
            <a:off x="13910310" y="4689602"/>
            <a:ext cx="2834640" cy="1737360"/>
          </a:xfrm>
          <a:prstGeom prst="ellipse">
            <a:avLst/>
          </a:prstGeom>
          <a:solidFill>
            <a:srgbClr val="E6EEEA"/>
          </a:solidFill>
          <a:ln w="28575">
            <a:solidFill>
              <a:srgbClr val="124944"/>
            </a:solidFill>
          </a:ln>
        </p:spPr>
        <p:txBody>
          <a:bodyPr anchor="ctr" rtlCol="false" lIns="0" tIns="0" rIns="0" bIns="0" wrap="square"/>
          <a:lstStyle/>
          <a:p>
            <a:endParaRPr lang="en-US" sz="1800"/>
          </a:p>
        </p:txBody>
      </p:sp>
      <p:sp>
        <p:nvSpPr>
          <p:cNvPr id="46" name="Oval 45"/>
          <p:cNvSpPr/>
          <p:nvPr/>
        </p:nvSpPr>
        <p:spPr>
          <a:xfrm>
            <a:off x="14248638" y="502793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47" name="Oval 46"/>
          <p:cNvSpPr/>
          <p:nvPr/>
        </p:nvSpPr>
        <p:spPr>
          <a:xfrm>
            <a:off x="15163038" y="479933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a:t>
            </a:r>
          </a:p>
        </p:txBody>
      </p:sp>
      <p:sp>
        <p:nvSpPr>
          <p:cNvPr id="48" name="Oval 47"/>
          <p:cNvSpPr/>
          <p:nvPr/>
        </p:nvSpPr>
        <p:spPr>
          <a:xfrm>
            <a:off x="15894558" y="5485130"/>
            <a:ext cx="512064" cy="512064"/>
          </a:xfrm>
          <a:prstGeom prst="ellipse">
            <a:avLst/>
          </a:prstGeom>
          <a:solidFill>
            <a:srgbClr val="111111"/>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c</a:t>
            </a:r>
          </a:p>
        </p:txBody>
      </p:sp>
      <p:sp>
        <p:nvSpPr>
          <p:cNvPr id="49" name="TextBox 48"/>
          <p:cNvSpPr txBox="1"/>
          <p:nvPr/>
        </p:nvSpPr>
        <p:spPr>
          <a:xfrm>
            <a:off x="13578840" y="6609842"/>
            <a:ext cx="3497580" cy="914400"/>
          </a:xfrm>
          <a:prstGeom prst="rect">
            <a:avLst/>
          </a:prstGeom>
          <a:noFill/>
        </p:spPr>
        <p:txBody>
          <a:bodyPr anchor="t" rtlCol="false" lIns="0" tIns="0" rIns="0" bIns="0" wrap="square"/>
          <a:lstStyle/>
          <a:p>
            <a:pPr algn="ctr">
              <a:lnSpc>
                <a:spcPts val="1800"/>
              </a:lnSpc>
              <a:spcBef>
                <a:spcPts val="0"/>
              </a:spcBef>
              <a:buNone/>
            </a:pPr>
            <a:r>
              <a:rPr lang="en-US" sz="1400" b="true">
                <a:solidFill>
                  <a:srgbClr val="111111"/>
                </a:solidFill>
                <a:latin typeface="Nunito Semi-Bold"/>
                <a:ea typeface="Nunito Semi-Bold"/>
                <a:cs typeface="Nunito Semi-Bold"/>
                <a:sym typeface="Nunito Semi-Bold"/>
              </a:rPr>
              <a:t>e = {user, item, context}
</a:t>
            </a:r>
            <a:r>
              <a:rPr lang="en-US" sz="1400" b="true">
                <a:solidFill>
                  <a:srgbClr val="111111"/>
                </a:solidFill>
                <a:latin typeface="Nunito Bold"/>
                <a:ea typeface="Nunito Bold"/>
                <a:cs typeface="Nunito Bold"/>
                <a:sym typeface="Nunito Bold"/>
              </a:rPr>
              <a:t>uniform weight</a:t>
            </a:r>
            <a:r>
              <a:rPr lang="en-US" sz="1400" b="true">
                <a:solidFill>
                  <a:srgbClr val="111111"/>
                </a:solidFill>
                <a:latin typeface="Nunito Semi-Bold"/>
                <a:ea typeface="Nunito Semi-Bold"/>
                <a:cs typeface="Nunito Semi-Bold"/>
                <a:sym typeface="Nunito Semi-Bold"/>
              </a:rPr>
              <a:t> in standard models</a:t>
            </a:r>
          </a:p>
        </p:txBody>
      </p:sp>
      <p:sp>
        <p:nvSpPr>
          <p:cNvPr id="50" name="Rounded Rectangle 49"/>
          <p:cNvSpPr/>
          <p:nvPr/>
        </p:nvSpPr>
        <p:spPr>
          <a:xfrm>
            <a:off x="9258300" y="7981442"/>
            <a:ext cx="8001000" cy="1235710"/>
          </a:xfrm>
          <a:prstGeom prst="roundRect">
            <a:avLst>
              <a:gd name="adj" fmla="val 18499"/>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Multi-hop and higher-order relations improve ranking, but </a:t>
            </a:r>
            <a:r>
              <a:rPr lang="en-US" sz="1600" b="true">
                <a:solidFill>
                  <a:srgbClr val="FFFFFF"/>
                </a:solidFill>
                <a:latin typeface="Nunito Bold"/>
                <a:ea typeface="Nunito Bold"/>
                <a:cs typeface="Nunito Bold"/>
                <a:sym typeface="Nunito Bold"/>
              </a:rPr>
              <a:t>message importance stays implicit or uniform</a:t>
            </a:r>
            <a:r>
              <a:rPr lang="en-US" sz="1600" b="true">
                <a:solidFill>
                  <a:srgbClr val="FFFFFF"/>
                </a:solidFill>
                <a:latin typeface="Nunito Semi-Bold"/>
                <a:ea typeface="Nunito Semi-Bold"/>
                <a:cs typeface="Nunito Semi-Bold"/>
                <a:sym typeface="Nunito Semi-Bold"/>
              </a:rPr>
              <a:t>: the assumption DyHuCoG challenges.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[23] Zhu, Z. et al. Popularity Bias in Dynamic Recommendation. KDD, 2439–2449 (2021).  ·  Hurley, N. &amp; Zhang, M. Novelty and Diversity in Top-N Recommendation. ACM TOIT 10(4) (2011).   [21] Zhang, Y. &amp; Chen, X. Explainable Recommendation: A Survey and New Perspectives. Foundations and Trends in IR 14(1), 1–101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666750"/>
          </a:xfrm>
          <a:prstGeom prst="rect">
            <a:avLst/>
          </a:prstGeom>
          <a:noFill/>
        </p:spPr>
        <p:txBody>
          <a:bodyPr anchor="t" rtlCol="false" lIns="0" tIns="0" rIns="0" bIns="0" wrap="square"/>
          <a:lstStyle/>
          <a:p>
            <a:pPr algn="l">
              <a:lnSpc>
                <a:spcPts val="4620"/>
              </a:lnSpc>
              <a:spcBef>
                <a:spcPts val="0"/>
              </a:spcBef>
              <a:buNone/>
            </a:pPr>
            <a:r>
              <a:rPr lang="en-US" sz="4200" b="true" spc="-210">
                <a:solidFill>
                  <a:srgbClr val="111111"/>
                </a:solidFill>
                <a:latin typeface="Roca Two Bold"/>
                <a:ea typeface="Roca Two Bold"/>
                <a:cs typeface="Roca Two Bold"/>
                <a:sym typeface="Roca Two Bold"/>
              </a:rPr>
              <a:t>Limitations of Classical Recommenders &amp; Unsupervised Models</a:t>
            </a:r>
          </a:p>
        </p:txBody>
      </p:sp>
      <p:pic>
        <p:nvPicPr>
          <p:cNvPr id="23" name="Picture 22" descr="image.png"/>
          <p:cNvPicPr>
            <a:picLocks noChangeAspect="1"/>
          </p:cNvPicPr>
          <p:nvPr/>
        </p:nvPicPr>
        <p:blipFill>
          <a:blip r:embed="rId3"/>
          <a:stretch>
            <a:fillRect/>
          </a:stretch>
        </p:blipFill>
        <p:spPr>
          <a:xfrm>
            <a:off x="16315229" y="1673352"/>
            <a:ext cx="457200" cy="399005"/>
          </a:xfrm>
          <a:prstGeom prst="rect">
            <a:avLst/>
          </a:prstGeom>
        </p:spPr>
      </p:pic>
      <p:sp>
        <p:nvSpPr>
          <p:cNvPr id="24" name="Rounded Rectangle 23"/>
          <p:cNvSpPr/>
          <p:nvPr/>
        </p:nvSpPr>
        <p:spPr>
          <a:xfrm>
            <a:off x="1028700" y="24955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4955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4955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01</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Data sparsity &amp; scalability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user-item matrix is almost empty, so there is very little signal to learn from.</a:t>
            </a:r>
          </a:p>
        </p:txBody>
      </p:sp>
      <p:sp>
        <p:nvSpPr>
          <p:cNvPr id="28" name="Rounded Rectangle 27"/>
          <p:cNvSpPr/>
          <p:nvPr/>
        </p:nvSpPr>
        <p:spPr>
          <a:xfrm>
            <a:off x="515493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02</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Cold-start</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New users and items are at a disadvantage: no history to learn from.</a:t>
            </a:r>
          </a:p>
        </p:txBody>
      </p:sp>
      <p:sp>
        <p:nvSpPr>
          <p:cNvPr id="29" name="Rounded Rectangle 28"/>
          <p:cNvSpPr/>
          <p:nvPr/>
        </p:nvSpPr>
        <p:spPr>
          <a:xfrm>
            <a:off x="928116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03</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Popularity bias &amp; lack of diversity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Exposure leads to interaction, which leads to more exposure: a filter-bubble loop.</a:t>
            </a:r>
          </a:p>
        </p:txBody>
      </p:sp>
      <p:sp>
        <p:nvSpPr>
          <p:cNvPr id="30" name="Rounded Rectangle 29"/>
          <p:cNvSpPr/>
          <p:nvPr/>
        </p:nvSpPr>
        <p:spPr>
          <a:xfrm>
            <a:off x="13407390" y="3391662"/>
            <a:ext cx="3851910" cy="3017520"/>
          </a:xfrm>
          <a:prstGeom prst="roundRect">
            <a:avLst>
              <a:gd name="adj" fmla="val 9090"/>
            </a:avLst>
          </a:prstGeom>
          <a:solidFill>
            <a:srgbClr val="DF8330"/>
          </a:solidFill>
          <a:ln>
            <a:noFill/>
          </a:ln>
        </p:spPr>
        <p:txBody>
          <a:bodyPr anchor="t" rtlCol="false" lIns="320040" tIns="320040" rIns="274320" bIns="228600" wrap="square"/>
          <a:lstStyle/>
          <a:p>
            <a:pPr algn="l">
              <a:lnSpc>
                <a:spcPts val="3000"/>
              </a:lnSpc>
              <a:spcBef>
                <a:spcPts val="0"/>
              </a:spcBef>
              <a:buNone/>
            </a:pPr>
            <a:r>
              <a:rPr lang="en-US" sz="2600" b="true">
                <a:solidFill>
                  <a:srgbClr val="FFFFFF"/>
                </a:solidFill>
                <a:latin typeface="Nunito Ultra-Bold"/>
                <a:ea typeface="Nunito Ultra-Bold"/>
                <a:cs typeface="Nunito Ultra-Bold"/>
                <a:sym typeface="Nunito Ultra-Bold"/>
              </a:rPr>
              <a:t>04</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Absence of interpretability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most basic limit, and the one this thesis targets.</a:t>
            </a:r>
          </a:p>
        </p:txBody>
      </p:sp>
      <p:sp>
        <p:nvSpPr>
          <p:cNvPr id="31" name="Rounded Rectangle 30"/>
          <p:cNvSpPr/>
          <p:nvPr/>
        </p:nvSpPr>
        <p:spPr>
          <a:xfrm>
            <a:off x="1028700" y="7049262"/>
            <a:ext cx="16230600" cy="2259330"/>
          </a:xfrm>
          <a:prstGeom prst="roundRect">
            <a:avLst>
              <a:gd name="adj" fmla="val 13760"/>
            </a:avLst>
          </a:prstGeom>
          <a:solidFill>
            <a:srgbClr val="F6ECDF"/>
          </a:solidFill>
          <a:ln>
            <a:noFill/>
          </a:ln>
        </p:spPr>
        <p:txBody>
          <a:bodyPr anchor="ctr" rtlCol="false" lIns="0" tIns="0" rIns="0" bIns="0" wrap="square"/>
          <a:lstStyle/>
          <a:p>
            <a:endParaRPr lang="en-US" sz="1800"/>
          </a:p>
        </p:txBody>
      </p:sp>
      <p:sp>
        <p:nvSpPr>
          <p:cNvPr id="32" name="Rounded Rectangle 31"/>
          <p:cNvSpPr/>
          <p:nvPr/>
        </p:nvSpPr>
        <p:spPr>
          <a:xfrm>
            <a:off x="1485900" y="6811518"/>
            <a:ext cx="785723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For clustering specifically, the situation is even harder</a:t>
            </a:r>
          </a:p>
        </p:txBody>
      </p:sp>
      <p:sp>
        <p:nvSpPr>
          <p:cNvPr id="33" name="TextBox 32"/>
          <p:cNvSpPr txBox="1"/>
          <p:nvPr/>
        </p:nvSpPr>
        <p:spPr>
          <a:xfrm>
            <a:off x="1531620" y="7689342"/>
            <a:ext cx="15270480" cy="1344930"/>
          </a:xfrm>
          <a:prstGeom prst="rect">
            <a:avLst/>
          </a:prstGeom>
          <a:noFill/>
        </p:spPr>
        <p:txBody>
          <a:bodyPr anchor="t" rtlCol="false" lIns="0" tIns="0" rIns="0" bIns="0" wrap="square"/>
          <a:lstStyle/>
          <a:p>
            <a:pPr algn="l" marL="274320" indent="-274320">
              <a:lnSpc>
                <a:spcPts val="2587"/>
              </a:lnSpc>
              <a:spcBef>
                <a:spcPts val="0"/>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Methods give a </a:t>
            </a:r>
            <a:r>
              <a:rPr lang="en-US" sz="1848" b="true">
                <a:solidFill>
                  <a:srgbClr val="111111"/>
                </a:solidFill>
                <a:latin typeface="Nunito Bold"/>
                <a:ea typeface="Nunito Bold"/>
                <a:cs typeface="Nunito Bold"/>
                <a:sym typeface="Nunito Bold"/>
              </a:rPr>
              <a:t>local OR a global</a:t>
            </a:r>
            <a:r>
              <a:rPr lang="en-US" sz="1848" b="true">
                <a:solidFill>
                  <a:srgbClr val="111111"/>
                </a:solidFill>
                <a:latin typeface="Nunito Semi-Bold"/>
                <a:ea typeface="Nunito Semi-Bold"/>
                <a:cs typeface="Nunito Semi-Bold"/>
                <a:sym typeface="Nunito Semi-Bold"/>
              </a:rPr>
              <a:t> explanation, not both.</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They </a:t>
            </a:r>
            <a:r>
              <a:rPr lang="en-US" sz="1848" b="true">
                <a:solidFill>
                  <a:srgbClr val="111111"/>
                </a:solidFill>
                <a:latin typeface="Nunito Bold"/>
                <a:ea typeface="Nunito Bold"/>
                <a:cs typeface="Nunito Bold"/>
                <a:sym typeface="Nunito Bold"/>
              </a:rPr>
              <a:t>struggle to scale</a:t>
            </a:r>
            <a:r>
              <a:rPr lang="en-US" sz="1848" b="true">
                <a:solidFill>
                  <a:srgbClr val="111111"/>
                </a:solidFill>
                <a:latin typeface="Nunito Semi-Bold"/>
                <a:ea typeface="Nunito Semi-Bold"/>
                <a:cs typeface="Nunito Semi-Bold"/>
                <a:sym typeface="Nunito Semi-Bold"/>
              </a:rPr>
              <a:t>, and explanations rarely stay </a:t>
            </a:r>
            <a:r>
              <a:rPr lang="en-US" sz="1848" b="true">
                <a:solidFill>
                  <a:srgbClr val="111111"/>
                </a:solidFill>
                <a:latin typeface="Nunito Bold"/>
                <a:ea typeface="Nunito Bold"/>
                <a:cs typeface="Nunito Bold"/>
                <a:sym typeface="Nunito Bold"/>
              </a:rPr>
              <a:t>consistent across levels of detail</a:t>
            </a:r>
            <a:r>
              <a:rPr lang="en-US" sz="1848" b="true">
                <a:solidFill>
                  <a:srgbClr val="111111"/>
                </a:solidFill>
                <a:latin typeface="Nunito Semi-Bold"/>
                <a:ea typeface="Nunito Semi-Bold"/>
                <a:cs typeface="Nunito Semi-Bold"/>
                <a:sym typeface="Nunito Semi-Bold"/>
              </a:rPr>
              <a:t>.</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Bold"/>
                <a:ea typeface="Nunito Bold"/>
                <a:cs typeface="Nunito Bold"/>
                <a:sym typeface="Nunito Bold"/>
              </a:rPr>
              <a:t>The gap:</a:t>
            </a:r>
            <a:r>
              <a:rPr lang="en-US" sz="1848" b="true">
                <a:solidFill>
                  <a:srgbClr val="111111"/>
                </a:solidFill>
                <a:latin typeface="Nunito Semi-Bold"/>
                <a:ea typeface="Nunito Semi-Bold"/>
                <a:cs typeface="Nunito Semi-Bold"/>
                <a:sym typeface="Nunito Semi-Bold"/>
              </a:rPr>
              <a:t> no faithful local + global explanation, poor scaling, and no consistency across levels. This is exactly what this thesis works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Three Main Limitations: Problem Statement</a:t>
            </a:r>
          </a:p>
        </p:txBody>
      </p:sp>
      <p:pic>
        <p:nvPicPr>
          <p:cNvPr id="23" name="Picture 22" descr="image.png"/>
          <p:cNvPicPr>
            <a:picLocks noChangeAspect="1"/>
          </p:cNvPicPr>
          <p:nvPr/>
        </p:nvPicPr>
        <p:blipFill>
          <a:blip r:embed="rId3"/>
          <a:stretch>
            <a:fillRect/>
          </a:stretch>
        </p:blipFill>
        <p:spPr>
          <a:xfrm>
            <a:off x="12569927" y="1673352"/>
            <a:ext cx="457200" cy="446713"/>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28" name="Oval 27"/>
          <p:cNvSpPr/>
          <p:nvPr/>
        </p:nvSpPr>
        <p:spPr>
          <a:xfrm>
            <a:off x="134874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1</a:t>
            </a:r>
          </a:p>
        </p:txBody>
      </p:sp>
      <p:sp>
        <p:nvSpPr>
          <p:cNvPr id="29" name="TextBox 28"/>
          <p:cNvSpPr txBox="1"/>
          <p:nvPr/>
        </p:nvSpPr>
        <p:spPr>
          <a:xfrm>
            <a:off x="1348740" y="4643882"/>
            <a:ext cx="4556760" cy="2194560"/>
          </a:xfrm>
          <a:prstGeom prst="rect">
            <a:avLst/>
          </a:prstGeom>
          <a:noFill/>
        </p:spPr>
        <p:txBody>
          <a:bodyPr anchor="t"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Lack of explainability</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Complex models are still hard to explain in a way that is </a:t>
            </a:r>
            <a:r>
              <a:rPr lang="en-US" sz="1900" b="true">
                <a:solidFill>
                  <a:srgbClr val="F1EDE6"/>
                </a:solidFill>
                <a:latin typeface="Nunito Bold"/>
                <a:ea typeface="Nunito Bold"/>
                <a:cs typeface="Nunito Bold"/>
                <a:sym typeface="Nunito Bold"/>
              </a:rPr>
              <a:t>faithful and actionable</a:t>
            </a:r>
            <a:r>
              <a:rPr lang="en-US" sz="1900" b="true">
                <a:solidFill>
                  <a:srgbClr val="F1EDE6"/>
                </a:solidFill>
                <a:latin typeface="Nunito Semi-Bold"/>
                <a:ea typeface="Nunito Semi-Bold"/>
                <a:cs typeface="Nunito Semi-Bold"/>
                <a:sym typeface="Nunito Semi-Bold"/>
              </a:rPr>
              <a:t>.</a:t>
            </a:r>
          </a:p>
        </p:txBody>
      </p:sp>
      <p:sp>
        <p:nvSpPr>
          <p:cNvPr id="30" name="Rounded Rectangle 29"/>
          <p:cNvSpPr/>
          <p:nvPr/>
        </p:nvSpPr>
        <p:spPr>
          <a:xfrm>
            <a:off x="654558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1" name="Oval 30"/>
          <p:cNvSpPr/>
          <p:nvPr/>
        </p:nvSpPr>
        <p:spPr>
          <a:xfrm>
            <a:off x="686562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2</a:t>
            </a:r>
          </a:p>
        </p:txBody>
      </p:sp>
      <p:sp>
        <p:nvSpPr>
          <p:cNvPr id="32" name="TextBox 31"/>
          <p:cNvSpPr txBox="1"/>
          <p:nvPr/>
        </p:nvSpPr>
        <p:spPr>
          <a:xfrm>
            <a:off x="6865620" y="4643882"/>
            <a:ext cx="4556760" cy="2194560"/>
          </a:xfrm>
          <a:prstGeom prst="rect">
            <a:avLst/>
          </a:prstGeom>
          <a:noFill/>
        </p:spPr>
        <p:txBody>
          <a:bodyPr anchor="t" rtlCol="false" lIns="0" tIns="0" rIns="0" bIns="0" wrap="square"/>
          <a:lstStyle/>
          <a:p>
            <a:pPr algn="l">
              <a:lnSpc>
                <a:spcPts val="2820"/>
              </a:lnSpc>
              <a:spcBef>
                <a:spcPts val="0"/>
              </a:spcBef>
              <a:buNone/>
            </a:pPr>
            <a:r>
              <a:rPr lang="en-US" sz="2256" b="true">
                <a:solidFill>
                  <a:srgbClr val="FFFFFF"/>
                </a:solidFill>
                <a:latin typeface="Nunito Ultra-Bold"/>
                <a:ea typeface="Nunito Ultra-Bold"/>
                <a:cs typeface="Nunito Ultra-Bold"/>
                <a:sym typeface="Nunito Ultra-Bold"/>
              </a:rPr>
              <a:t>Difficulty of scaling</a:t>
            </a:r>
          </a:p>
          <a:p>
            <a:pPr algn="l">
              <a:lnSpc>
                <a:spcPts val="2500"/>
              </a:lnSpc>
              <a:spcBef>
                <a:spcPts val="752"/>
              </a:spcBef>
              <a:buNone/>
            </a:pPr>
            <a:r>
              <a:rPr lang="en-US" sz="1786" b="true">
                <a:solidFill>
                  <a:srgbClr val="F1EDE6"/>
                </a:solidFill>
                <a:latin typeface="Nunito Semi-Bold"/>
                <a:ea typeface="Nunito Semi-Bold"/>
                <a:cs typeface="Nunito Semi-Bold"/>
                <a:sym typeface="Nunito Semi-Bold"/>
              </a:rPr>
              <a:t>Local explanations do not carry over to </a:t>
            </a:r>
            <a:r>
              <a:rPr lang="en-US" sz="1786" b="true">
                <a:solidFill>
                  <a:srgbClr val="F1EDE6"/>
                </a:solidFill>
                <a:latin typeface="Nunito Bold"/>
                <a:ea typeface="Nunito Bold"/>
                <a:cs typeface="Nunito Bold"/>
                <a:sym typeface="Nunito Bold"/>
              </a:rPr>
              <a:t>multi-level structures or large datasets</a:t>
            </a:r>
            <a:r>
              <a:rPr lang="en-US" sz="1786" b="true">
                <a:solidFill>
                  <a:srgbClr val="F1EDE6"/>
                </a:solidFill>
                <a:latin typeface="Nunito Semi-Bold"/>
                <a:ea typeface="Nunito Semi-Bold"/>
                <a:cs typeface="Nunito Semi-Bold"/>
                <a:sym typeface="Nunito Semi-Bold"/>
              </a:rPr>
              <a:t>: a method that works on a toy partition may break on hundreds of thousands of nested records.</a:t>
            </a:r>
          </a:p>
        </p:txBody>
      </p:sp>
      <p:sp>
        <p:nvSpPr>
          <p:cNvPr id="33" name="Rounded Rectangle 32"/>
          <p:cNvSpPr/>
          <p:nvPr/>
        </p:nvSpPr>
        <p:spPr>
          <a:xfrm>
            <a:off x="1206246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4" name="Oval 33"/>
          <p:cNvSpPr/>
          <p:nvPr/>
        </p:nvSpPr>
        <p:spPr>
          <a:xfrm>
            <a:off x="1238250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3</a:t>
            </a:r>
          </a:p>
        </p:txBody>
      </p:sp>
      <p:sp>
        <p:nvSpPr>
          <p:cNvPr id="35" name="TextBox 34"/>
          <p:cNvSpPr txBox="1"/>
          <p:nvPr/>
        </p:nvSpPr>
        <p:spPr>
          <a:xfrm>
            <a:off x="12382500" y="4643882"/>
            <a:ext cx="4556760" cy="2194560"/>
          </a:xfrm>
          <a:prstGeom prst="rect">
            <a:avLst/>
          </a:prstGeom>
          <a:noFill/>
        </p:spPr>
        <p:txBody>
          <a:bodyPr anchor="t" rtlCol="false" lIns="0" tIns="0" rIns="0" bIns="0" wrap="square"/>
          <a:lstStyle/>
          <a:p>
            <a:pPr algn="l">
              <a:lnSpc>
                <a:spcPts val="2910"/>
              </a:lnSpc>
              <a:spcBef>
                <a:spcPts val="0"/>
              </a:spcBef>
              <a:buNone/>
            </a:pPr>
            <a:r>
              <a:rPr lang="en-US" sz="2328" b="true">
                <a:solidFill>
                  <a:srgbClr val="FFFFFF"/>
                </a:solidFill>
                <a:latin typeface="Nunito Ultra-Bold"/>
                <a:ea typeface="Nunito Ultra-Bold"/>
                <a:cs typeface="Nunito Ultra-Bold"/>
                <a:sym typeface="Nunito Ultra-Bold"/>
              </a:rPr>
              <a:t>Weak integration into learning</a:t>
            </a:r>
          </a:p>
          <a:p>
            <a:pPr algn="l">
              <a:lnSpc>
                <a:spcPts val="2580"/>
              </a:lnSpc>
              <a:spcBef>
                <a:spcPts val="776"/>
              </a:spcBef>
              <a:buNone/>
            </a:pPr>
            <a:r>
              <a:rPr lang="en-US" sz="1843" b="true">
                <a:solidFill>
                  <a:srgbClr val="F1EDE6"/>
                </a:solidFill>
                <a:latin typeface="Nunito Semi-Bold"/>
                <a:ea typeface="Nunito Semi-Bold"/>
                <a:cs typeface="Nunito Semi-Bold"/>
                <a:sym typeface="Nunito Semi-Bold"/>
              </a:rPr>
              <a:t>Most explanations stay </a:t>
            </a:r>
            <a:r>
              <a:rPr lang="en-US" sz="1843" b="true">
                <a:solidFill>
                  <a:srgbClr val="F1EDE6"/>
                </a:solidFill>
                <a:latin typeface="Nunito Bold"/>
                <a:ea typeface="Nunito Bold"/>
                <a:cs typeface="Nunito Bold"/>
                <a:sym typeface="Nunito Bold"/>
              </a:rPr>
              <a:t>post-hoc</a:t>
            </a:r>
            <a:r>
              <a:rPr lang="en-US" sz="1843" b="true">
                <a:solidFill>
                  <a:srgbClr val="F1EDE6"/>
                </a:solidFill>
                <a:latin typeface="Nunito Semi-Bold"/>
                <a:ea typeface="Nunito Semi-Bold"/>
                <a:cs typeface="Nunito Semi-Bold"/>
                <a:sym typeface="Nunito Semi-Bold"/>
              </a:rPr>
              <a:t>: they do not shape how the model learns, nor the </a:t>
            </a:r>
            <a:r>
              <a:rPr lang="en-US" sz="1843" b="true">
                <a:solidFill>
                  <a:srgbClr val="F1EDE6"/>
                </a:solidFill>
                <a:latin typeface="Nunito Bold"/>
                <a:ea typeface="Nunito Bold"/>
                <a:cs typeface="Nunito Bold"/>
                <a:sym typeface="Nunito Bold"/>
              </a:rPr>
              <a:t>accuracy / diversity / context trade-off</a:t>
            </a:r>
            <a:r>
              <a:rPr lang="en-US" sz="1843" b="true">
                <a:solidFill>
                  <a:srgbClr val="F1EDE6"/>
                </a:solidFill>
                <a:latin typeface="Nunito Semi-Bold"/>
                <a:ea typeface="Nunito Semi-Bold"/>
                <a:cs typeface="Nunito Semi-Bold"/>
                <a:sym typeface="Nunito Semi-Bold"/>
              </a:rPr>
              <a:t>.</a:t>
            </a:r>
          </a:p>
        </p:txBody>
      </p:sp>
      <p:sp>
        <p:nvSpPr>
          <p:cNvPr id="36" name="Rounded Rectangle 35"/>
          <p:cNvSpPr/>
          <p:nvPr/>
        </p:nvSpPr>
        <p:spPr>
          <a:xfrm>
            <a:off x="1028700" y="7387082"/>
            <a:ext cx="16230600" cy="1967230"/>
          </a:xfrm>
          <a:prstGeom prst="roundRect">
            <a:avLst>
              <a:gd name="adj" fmla="val 13944"/>
            </a:avLst>
          </a:prstGeom>
          <a:noFill/>
          <a:ln w="31750">
            <a:solidFill>
              <a:srgbClr val="DF8330"/>
            </a:solidFill>
          </a:ln>
        </p:spPr>
        <p:txBody>
          <a:bodyPr anchor="ctr" rtlCol="false" lIns="0" tIns="0" rIns="0" bIns="0" wrap="square"/>
          <a:lstStyle/>
          <a:p>
            <a:endParaRPr lang="en-US" sz="1800"/>
          </a:p>
        </p:txBody>
      </p:sp>
      <p:sp>
        <p:nvSpPr>
          <p:cNvPr id="37" name="TextBox 36"/>
          <p:cNvSpPr txBox="1"/>
          <p:nvPr/>
        </p:nvSpPr>
        <p:spPr>
          <a:xfrm>
            <a:off x="1485900" y="7615682"/>
            <a:ext cx="15316200" cy="1510030"/>
          </a:xfrm>
          <a:prstGeom prst="rect">
            <a:avLst/>
          </a:prstGeom>
          <a:noFill/>
        </p:spPr>
        <p:txBody>
          <a:bodyPr anchor="ctr" rtlCol="false" lIns="0" tIns="0" rIns="0" bIns="0" wrap="square"/>
          <a:lstStyle/>
          <a:p>
            <a:pPr algn="l">
              <a:lnSpc>
                <a:spcPts val="1800"/>
              </a:lnSpc>
              <a:spcBef>
                <a:spcPts val="0"/>
              </a:spcBef>
              <a:buNone/>
            </a:pPr>
            <a:r>
              <a:rPr lang="en-US" sz="1400" b="true" spc="180">
                <a:solidFill>
                  <a:srgbClr val="DF8330"/>
                </a:solidFill>
                <a:latin typeface="Nunito Ultra-Bold"/>
                <a:ea typeface="Nunito Ultra-Bold"/>
                <a:cs typeface="Nunito Ultra-Bold"/>
                <a:sym typeface="Nunito Ultra-Bold"/>
              </a:rPr>
              <a:t>THESIS GAP</a:t>
            </a:r>
          </a:p>
          <a:p>
            <a:pPr algn="l">
              <a:lnSpc>
                <a:spcPts val="2940"/>
              </a:lnSpc>
              <a:spcBef>
                <a:spcPts val="600"/>
              </a:spcBef>
              <a:buNone/>
            </a:pPr>
            <a:r>
              <a:rPr lang="en-US" sz="2100" b="true">
                <a:solidFill>
                  <a:srgbClr val="111111"/>
                </a:solidFill>
                <a:latin typeface="Nunito Semi-Bold"/>
                <a:ea typeface="Nunito Semi-Bold"/>
                <a:cs typeface="Nunito Semi-Bold"/>
                <a:sym typeface="Nunito Semi-Bold"/>
              </a:rPr>
              <a:t>The literature still lacks </a:t>
            </a:r>
            <a:r>
              <a:rPr lang="en-US" sz="2100" b="true">
                <a:solidFill>
                  <a:srgbClr val="111111"/>
                </a:solidFill>
                <a:latin typeface="Nunito Bold"/>
                <a:ea typeface="Nunito Bold"/>
                <a:cs typeface="Nunito Bold"/>
                <a:sym typeface="Nunito Bold"/>
              </a:rPr>
              <a:t>one cooperative-attribution framework</a:t>
            </a:r>
            <a:r>
              <a:rPr lang="en-US" sz="2100" b="true">
                <a:solidFill>
                  <a:srgbClr val="111111"/>
                </a:solidFill>
                <a:latin typeface="Nunito Semi-Bold"/>
                <a:ea typeface="Nunito Semi-Bold"/>
                <a:cs typeface="Nunito Semi-Bold"/>
                <a:sym typeface="Nunito Semi-Bold"/>
              </a:rPr>
              <a:t> that explains clustering faithfully, stays consistent across levels, and then works as an </a:t>
            </a:r>
            <a:r>
              <a:rPr lang="en-US" sz="2100" b="true">
                <a:solidFill>
                  <a:srgbClr val="111111"/>
                </a:solidFill>
                <a:latin typeface="Nunito Bold"/>
                <a:ea typeface="Nunito Bold"/>
                <a:cs typeface="Nunito Bold"/>
                <a:sym typeface="Nunito Bold"/>
              </a:rPr>
              <a:t>in-training signal</a:t>
            </a:r>
            <a:r>
              <a:rPr lang="en-US" sz="2100" b="true">
                <a:solidFill>
                  <a:srgbClr val="111111"/>
                </a:solidFill>
                <a:latin typeface="Nunito Semi-Bold"/>
                <a:ea typeface="Nunito Semi-Bold"/>
                <a:cs typeface="Nunito Semi-Bold"/>
                <a:sym typeface="Nunito Semi-Bold"/>
              </a:rPr>
              <a:t> in recommendation. </a:t>
            </a:r>
            <a:r>
              <a:rPr lang="en-US" sz="2100" b="true">
                <a:solidFill>
                  <a:srgbClr val="111111"/>
                </a:solidFill>
                <a:latin typeface="Nunito Bold"/>
                <a:ea typeface="Nunito Bold"/>
                <a:cs typeface="Nunito Bold"/>
                <a:sym typeface="Nunito Bold"/>
              </a:rPr>
              <a:t>Claim:</a:t>
            </a:r>
            <a:r>
              <a:rPr lang="en-US" sz="2100" b="true">
                <a:solidFill>
                  <a:srgbClr val="111111"/>
                </a:solidFill>
                <a:latin typeface="Nunito Semi-Bold"/>
                <a:ea typeface="Nunito Semi-Bold"/>
                <a:cs typeface="Nunito Semi-Bold"/>
                <a:sym typeface="Nunito Semi-Bold"/>
              </a:rPr>
              <a:t> Shapley-value attribution can be that framework.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Questions (RQ1–RQ5) and Overall Aim</a:t>
            </a:r>
          </a:p>
        </p:txBody>
      </p:sp>
      <p:pic>
        <p:nvPicPr>
          <p:cNvPr id="23" name="Picture 22" descr="image.png"/>
          <p:cNvPicPr>
            <a:picLocks noChangeAspect="1"/>
          </p:cNvPicPr>
          <p:nvPr/>
        </p:nvPicPr>
        <p:blipFill>
          <a:blip r:embed="rId3"/>
          <a:stretch>
            <a:fillRect/>
          </a:stretch>
        </p:blipFill>
        <p:spPr>
          <a:xfrm>
            <a:off x="13647239" y="1673352"/>
            <a:ext cx="457200" cy="452148"/>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63722"/>
            <a:ext cx="16230600" cy="868680"/>
          </a:xfrm>
          <a:prstGeom prst="roundRect">
            <a:avLst>
              <a:gd name="adj" fmla="val 26315"/>
            </a:avLst>
          </a:prstGeom>
          <a:solidFill>
            <a:srgbClr val="124944"/>
          </a:solidFill>
          <a:ln>
            <a:noFill/>
          </a:ln>
        </p:spPr>
        <p:txBody>
          <a:bodyPr anchor="ctr" rtlCol="false" lIns="457200" tIns="91440" rIns="457200" bIns="91440" wrap="square"/>
          <a:lstStyle/>
          <a:p>
            <a:pPr algn="ctr">
              <a:lnSpc>
                <a:spcPts val="2600"/>
              </a:lnSpc>
              <a:spcBef>
                <a:spcPts val="0"/>
              </a:spcBef>
              <a:buNone/>
            </a:pPr>
            <a:r>
              <a:rPr lang="en-US" sz="2000" b="true">
                <a:solidFill>
                  <a:srgbClr val="FFFFFF"/>
                </a:solidFill>
                <a:latin typeface="Nunito Bold"/>
                <a:ea typeface="Nunito Bold"/>
                <a:cs typeface="Nunito Bold"/>
                <a:sym typeface="Nunito Bold"/>
              </a:rPr>
              <a:t>Aim:</a:t>
            </a:r>
            <a:r>
              <a:rPr lang="en-US" sz="2000" b="true">
                <a:solidFill>
                  <a:srgbClr val="FFFFFF"/>
                </a:solidFill>
                <a:latin typeface="Nunito Semi-Bold"/>
                <a:ea typeface="Nunito Semi-Bold"/>
                <a:cs typeface="Nunito Semi-Bold"/>
                <a:sym typeface="Nunito Semi-Bold"/>
              </a:rPr>
              <a:t> develop, justify and evaluate a cooperative-game view of XAI for clustering and recommendation, using Shapley attribution both as an </a:t>
            </a:r>
            <a:r>
              <a:rPr lang="en-US" sz="2000" b="true">
                <a:solidFill>
                  <a:srgbClr val="FFFFFF"/>
                </a:solidFill>
                <a:latin typeface="Nunito Bold"/>
                <a:ea typeface="Nunito Bold"/>
                <a:cs typeface="Nunito Bold"/>
                <a:sym typeface="Nunito Bold"/>
              </a:rPr>
              <a:t>explanation method</a:t>
            </a:r>
            <a:r>
              <a:rPr lang="en-US" sz="2000" b="true">
                <a:solidFill>
                  <a:srgbClr val="FFFFFF"/>
                </a:solidFill>
                <a:latin typeface="Nunito Semi-Bold"/>
                <a:ea typeface="Nunito Semi-Bold"/>
                <a:cs typeface="Nunito Semi-Bold"/>
                <a:sym typeface="Nunito Semi-Bold"/>
              </a:rPr>
              <a:t> and as an </a:t>
            </a:r>
            <a:r>
              <a:rPr lang="en-US" sz="2000" b="true">
                <a:solidFill>
                  <a:srgbClr val="FFFFFF"/>
                </a:solidFill>
                <a:latin typeface="Nunito Bold"/>
                <a:ea typeface="Nunito Bold"/>
                <a:cs typeface="Nunito Bold"/>
                <a:sym typeface="Nunito Bold"/>
              </a:rPr>
              <a:t>in-training signal</a:t>
            </a:r>
            <a:r>
              <a:rPr lang="en-US" sz="2000" b="true">
                <a:solidFill>
                  <a:srgbClr val="FFFFFF"/>
                </a:solidFill>
                <a:latin typeface="Nunito Semi-Bold"/>
                <a:ea typeface="Nunito Semi-Bold"/>
                <a:cs typeface="Nunito Semi-Bold"/>
                <a:sym typeface="Nunito Semi-Bold"/>
              </a:rPr>
              <a:t>.</a:t>
            </a:r>
          </a:p>
        </p:txBody>
      </p:sp>
      <p:sp>
        <p:nvSpPr>
          <p:cNvPr id="28" name="Rounded Rectangle 27"/>
          <p:cNvSpPr/>
          <p:nvPr/>
        </p:nvSpPr>
        <p:spPr>
          <a:xfrm>
            <a:off x="1028700" y="446100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29" name="Rounded Rectangle 28"/>
          <p:cNvSpPr/>
          <p:nvPr/>
        </p:nvSpPr>
        <p:spPr>
          <a:xfrm>
            <a:off x="1211580" y="458901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RQ1</a:t>
            </a:r>
          </a:p>
        </p:txBody>
      </p:sp>
      <p:sp>
        <p:nvSpPr>
          <p:cNvPr id="30" name="TextBox 29"/>
          <p:cNvSpPr txBox="1"/>
          <p:nvPr/>
        </p:nvSpPr>
        <p:spPr>
          <a:xfrm>
            <a:off x="2583180" y="446100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Shapley values explain black-box clustering </a:t>
            </a:r>
            <a:r>
              <a:rPr lang="en-US" sz="2000" b="true">
                <a:solidFill>
                  <a:srgbClr val="111111"/>
                </a:solidFill>
                <a:latin typeface="Nunito Bold"/>
                <a:ea typeface="Nunito Bold"/>
                <a:cs typeface="Nunito Bold"/>
                <a:sym typeface="Nunito Bold"/>
              </a:rPr>
              <a:t>faithfully at instance and cluster level</a:t>
            </a:r>
            <a:r>
              <a:rPr lang="en-US" sz="2000" b="true">
                <a:solidFill>
                  <a:srgbClr val="111111"/>
                </a:solidFill>
                <a:latin typeface="Nunito Semi-Bold"/>
                <a:ea typeface="Nunito Semi-Bold"/>
                <a:cs typeface="Nunito Semi-Bold"/>
                <a:sym typeface="Nunito Semi-Bold"/>
              </a:rPr>
              <a:t>?</a:t>
            </a:r>
          </a:p>
        </p:txBody>
      </p:sp>
      <p:sp>
        <p:nvSpPr>
          <p:cNvPr id="31" name="Rounded Rectangle 30"/>
          <p:cNvSpPr/>
          <p:nvPr/>
        </p:nvSpPr>
        <p:spPr>
          <a:xfrm>
            <a:off x="15339060" y="458901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C1</a:t>
            </a:r>
          </a:p>
        </p:txBody>
      </p:sp>
      <p:sp>
        <p:nvSpPr>
          <p:cNvPr id="32" name="Rounded Rectangle 31"/>
          <p:cNvSpPr/>
          <p:nvPr/>
        </p:nvSpPr>
        <p:spPr>
          <a:xfrm>
            <a:off x="1028700" y="546526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33" name="Rounded Rectangle 32"/>
          <p:cNvSpPr/>
          <p:nvPr/>
        </p:nvSpPr>
        <p:spPr>
          <a:xfrm>
            <a:off x="1211580" y="559328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RQ2</a:t>
            </a:r>
          </a:p>
        </p:txBody>
      </p:sp>
      <p:sp>
        <p:nvSpPr>
          <p:cNvPr id="34" name="TextBox 33"/>
          <p:cNvSpPr txBox="1"/>
          <p:nvPr/>
        </p:nvSpPr>
        <p:spPr>
          <a:xfrm>
            <a:off x="2583180" y="546526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this extend to </a:t>
            </a:r>
            <a:r>
              <a:rPr lang="en-US" sz="2000" b="true">
                <a:solidFill>
                  <a:srgbClr val="111111"/>
                </a:solidFill>
                <a:latin typeface="Nunito Bold"/>
                <a:ea typeface="Nunito Bold"/>
                <a:cs typeface="Nunito Bold"/>
                <a:sym typeface="Nunito Bold"/>
              </a:rPr>
              <a:t>large-scale, multi-level clustering</a:t>
            </a:r>
            <a:r>
              <a:rPr lang="en-US" sz="2000" b="true">
                <a:solidFill>
                  <a:srgbClr val="111111"/>
                </a:solidFill>
                <a:latin typeface="Nunito Semi-Bold"/>
                <a:ea typeface="Nunito Semi-Bold"/>
                <a:cs typeface="Nunito Semi-Bold"/>
                <a:sym typeface="Nunito Semi-Bold"/>
              </a:rPr>
              <a:t> while staying feasible and consistent?</a:t>
            </a:r>
          </a:p>
        </p:txBody>
      </p:sp>
      <p:sp>
        <p:nvSpPr>
          <p:cNvPr id="35" name="Rounded Rectangle 34"/>
          <p:cNvSpPr/>
          <p:nvPr/>
        </p:nvSpPr>
        <p:spPr>
          <a:xfrm>
            <a:off x="15339060" y="559328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C2</a:t>
            </a:r>
          </a:p>
        </p:txBody>
      </p:sp>
      <p:sp>
        <p:nvSpPr>
          <p:cNvPr id="36" name="Rounded Rectangle 35"/>
          <p:cNvSpPr/>
          <p:nvPr/>
        </p:nvSpPr>
        <p:spPr>
          <a:xfrm>
            <a:off x="1028700" y="646953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211580" y="659754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RQ3</a:t>
            </a:r>
          </a:p>
        </p:txBody>
      </p:sp>
      <p:sp>
        <p:nvSpPr>
          <p:cNvPr id="38" name="TextBox 37"/>
          <p:cNvSpPr txBox="1"/>
          <p:nvPr/>
        </p:nvSpPr>
        <p:spPr>
          <a:xfrm>
            <a:off x="2583180" y="646953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cooperative attribution move </a:t>
            </a:r>
            <a:r>
              <a:rPr lang="en-US" sz="2000" b="true">
                <a:solidFill>
                  <a:srgbClr val="111111"/>
                </a:solidFill>
                <a:latin typeface="Nunito Bold"/>
                <a:ea typeface="Nunito Bold"/>
                <a:cs typeface="Nunito Bold"/>
                <a:sym typeface="Nunito Bold"/>
              </a:rPr>
              <a:t>beyond post-hoc</a:t>
            </a:r>
            <a:r>
              <a:rPr lang="en-US" sz="2000" b="true">
                <a:solidFill>
                  <a:srgbClr val="111111"/>
                </a:solidFill>
                <a:latin typeface="Nunito Semi-Bold"/>
                <a:ea typeface="Nunito Semi-Bold"/>
                <a:cs typeface="Nunito Semi-Bold"/>
                <a:sym typeface="Nunito Semi-Bold"/>
              </a:rPr>
              <a:t> and become part of how graph recommenders learn?</a:t>
            </a:r>
          </a:p>
        </p:txBody>
      </p:sp>
      <p:sp>
        <p:nvSpPr>
          <p:cNvPr id="39" name="Rounded Rectangle 38"/>
          <p:cNvSpPr/>
          <p:nvPr/>
        </p:nvSpPr>
        <p:spPr>
          <a:xfrm>
            <a:off x="15339060" y="659754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0" name="Rounded Rectangle 39"/>
          <p:cNvSpPr/>
          <p:nvPr/>
        </p:nvSpPr>
        <p:spPr>
          <a:xfrm>
            <a:off x="1028700" y="747379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41" name="Rounded Rectangle 40"/>
          <p:cNvSpPr/>
          <p:nvPr/>
        </p:nvSpPr>
        <p:spPr>
          <a:xfrm>
            <a:off x="1211580" y="760181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RQ4</a:t>
            </a:r>
          </a:p>
        </p:txBody>
      </p:sp>
      <p:sp>
        <p:nvSpPr>
          <p:cNvPr id="42" name="TextBox 41"/>
          <p:cNvSpPr txBox="1"/>
          <p:nvPr/>
        </p:nvSpPr>
        <p:spPr>
          <a:xfrm>
            <a:off x="2583180" y="747379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a recommender </a:t>
            </a:r>
            <a:r>
              <a:rPr lang="en-US" sz="2000" b="true">
                <a:solidFill>
                  <a:srgbClr val="111111"/>
                </a:solidFill>
                <a:latin typeface="Nunito Bold"/>
                <a:ea typeface="Nunito Bold"/>
                <a:cs typeface="Nunito Bold"/>
                <a:sym typeface="Nunito Bold"/>
              </a:rPr>
              <a:t>improve ranking accuracy, context and diversity at the same time</a:t>
            </a:r>
            <a:r>
              <a:rPr lang="en-US" sz="2000" b="true">
                <a:solidFill>
                  <a:srgbClr val="111111"/>
                </a:solidFill>
                <a:latin typeface="Nunito Semi-Bold"/>
                <a:ea typeface="Nunito Semi-Bold"/>
                <a:cs typeface="Nunito Semi-Bold"/>
                <a:sym typeface="Nunito Semi-Bold"/>
              </a:rPr>
              <a:t> when importance comes from a cooperative-game utility?</a:t>
            </a:r>
          </a:p>
        </p:txBody>
      </p:sp>
      <p:sp>
        <p:nvSpPr>
          <p:cNvPr id="43" name="Rounded Rectangle 42"/>
          <p:cNvSpPr/>
          <p:nvPr/>
        </p:nvSpPr>
        <p:spPr>
          <a:xfrm>
            <a:off x="15339060" y="760181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4" name="Rounded Rectangle 43"/>
          <p:cNvSpPr/>
          <p:nvPr/>
        </p:nvSpPr>
        <p:spPr>
          <a:xfrm>
            <a:off x="1028700" y="847806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45" name="Rounded Rectangle 44"/>
          <p:cNvSpPr/>
          <p:nvPr/>
        </p:nvSpPr>
        <p:spPr>
          <a:xfrm>
            <a:off x="1211580" y="8606078"/>
            <a:ext cx="1143000" cy="620217"/>
          </a:xfrm>
          <a:prstGeom prst="roundRect">
            <a:avLst>
              <a:gd name="adj" fmla="val 22114"/>
            </a:avLst>
          </a:prstGeom>
          <a:solidFill>
            <a:srgbClr val="111111"/>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RQ5</a:t>
            </a:r>
          </a:p>
        </p:txBody>
      </p:sp>
      <p:sp>
        <p:nvSpPr>
          <p:cNvPr id="46" name="TextBox 45"/>
          <p:cNvSpPr txBox="1"/>
          <p:nvPr/>
        </p:nvSpPr>
        <p:spPr>
          <a:xfrm>
            <a:off x="2583180" y="847806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What do we gain when clustering explanation and recommendation learning are </a:t>
            </a:r>
            <a:r>
              <a:rPr lang="en-US" sz="2000" b="true">
                <a:solidFill>
                  <a:srgbClr val="111111"/>
                </a:solidFill>
                <a:latin typeface="Nunito Bold"/>
                <a:ea typeface="Nunito Bold"/>
                <a:cs typeface="Nunito Bold"/>
                <a:sym typeface="Nunito Bold"/>
              </a:rPr>
              <a:t>two stages of one cooperative-game view</a:t>
            </a:r>
            <a:r>
              <a:rPr lang="en-US" sz="2000" b="true">
                <a:solidFill>
                  <a:srgbClr val="111111"/>
                </a:solidFill>
                <a:latin typeface="Nunito Semi-Bold"/>
                <a:ea typeface="Nunito Semi-Bold"/>
                <a:cs typeface="Nunito Semi-Bold"/>
                <a:sym typeface="Nunito Semi-Bold"/>
              </a:rPr>
              <a:t>?</a:t>
            </a:r>
          </a:p>
        </p:txBody>
      </p:sp>
      <p:sp>
        <p:nvSpPr>
          <p:cNvPr id="47" name="Rounded Rectangle 46"/>
          <p:cNvSpPr/>
          <p:nvPr/>
        </p:nvSpPr>
        <p:spPr>
          <a:xfrm>
            <a:off x="15339060" y="860607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Thesis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Three Contributions</a:t>
            </a:r>
          </a:p>
        </p:txBody>
      </p:sp>
      <p:pic>
        <p:nvPicPr>
          <p:cNvPr id="23" name="Picture 22" descr="image.png"/>
          <p:cNvPicPr>
            <a:picLocks noChangeAspect="1"/>
          </p:cNvPicPr>
          <p:nvPr/>
        </p:nvPicPr>
        <p:blipFill>
          <a:blip r:embed="rId3"/>
          <a:stretch>
            <a:fillRect/>
          </a:stretch>
        </p:blipFill>
        <p:spPr>
          <a:xfrm>
            <a:off x="7638654" y="1673352"/>
            <a:ext cx="457200" cy="415247"/>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Contributions</a:t>
            </a:r>
          </a:p>
        </p:txBody>
      </p:sp>
      <p:sp>
        <p:nvSpPr>
          <p:cNvPr id="27" name="Rounded Rectangle 26"/>
          <p:cNvSpPr/>
          <p:nvPr/>
        </p:nvSpPr>
        <p:spPr>
          <a:xfrm>
            <a:off x="1028700" y="3455162"/>
            <a:ext cx="5196840" cy="4480560"/>
          </a:xfrm>
          <a:prstGeom prst="roundRect">
            <a:avLst>
              <a:gd name="adj" fmla="val 6530"/>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39446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C1</a:t>
            </a:r>
          </a:p>
        </p:txBody>
      </p:sp>
      <p:sp>
        <p:nvSpPr>
          <p:cNvPr id="29" name="Rounded Rectangle 28"/>
          <p:cNvSpPr/>
          <p:nvPr/>
        </p:nvSpPr>
        <p:spPr>
          <a:xfrm>
            <a:off x="421386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24944"/>
                </a:solidFill>
                <a:latin typeface="Nunito Bold"/>
                <a:ea typeface="Nunito Bold"/>
                <a:cs typeface="Nunito Bold"/>
                <a:sym typeface="Nunito Bold"/>
              </a:rPr>
              <a:t>RQ1</a:t>
            </a:r>
          </a:p>
        </p:txBody>
      </p:sp>
      <p:sp>
        <p:nvSpPr>
          <p:cNvPr id="30" name="TextBox 29"/>
          <p:cNvSpPr txBox="1"/>
          <p:nvPr/>
        </p:nvSpPr>
        <p:spPr>
          <a:xfrm>
            <a:off x="139446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Explainable black-box clustering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PCA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K-Means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LightGBM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TreeSHAP pipeline.</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WINE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Faithful instance- and cluster-level feature attribution.</a:t>
            </a:r>
          </a:p>
        </p:txBody>
      </p:sp>
      <p:sp>
        <p:nvSpPr>
          <p:cNvPr id="31" name="Rounded Rectangle 30"/>
          <p:cNvSpPr/>
          <p:nvPr/>
        </p:nvSpPr>
        <p:spPr>
          <a:xfrm>
            <a:off x="6545580" y="3455162"/>
            <a:ext cx="5196840" cy="4480560"/>
          </a:xfrm>
          <a:prstGeom prst="roundRect">
            <a:avLst>
              <a:gd name="adj" fmla="val 6530"/>
            </a:avLst>
          </a:prstGeom>
          <a:solidFill>
            <a:srgbClr val="1E5F58"/>
          </a:solidFill>
          <a:ln>
            <a:noFill/>
          </a:ln>
        </p:spPr>
        <p:txBody>
          <a:bodyPr anchor="ctr" rtlCol="false" lIns="0" tIns="0" rIns="0" bIns="0" wrap="square"/>
          <a:lstStyle/>
          <a:p>
            <a:endParaRPr lang="en-US" sz="1800"/>
          </a:p>
        </p:txBody>
      </p:sp>
      <p:sp>
        <p:nvSpPr>
          <p:cNvPr id="32" name="TextBox 31"/>
          <p:cNvSpPr txBox="1"/>
          <p:nvPr/>
        </p:nvSpPr>
        <p:spPr>
          <a:xfrm>
            <a:off x="691134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C2</a:t>
            </a:r>
          </a:p>
        </p:txBody>
      </p:sp>
      <p:sp>
        <p:nvSpPr>
          <p:cNvPr id="33" name="Rounded Rectangle 32"/>
          <p:cNvSpPr/>
          <p:nvPr/>
        </p:nvSpPr>
        <p:spPr>
          <a:xfrm>
            <a:off x="973074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E5F58"/>
                </a:solidFill>
                <a:latin typeface="Nunito Bold"/>
                <a:ea typeface="Nunito Bold"/>
                <a:cs typeface="Nunito Bold"/>
                <a:sym typeface="Nunito Bold"/>
              </a:rPr>
              <a:t>RQ2</a:t>
            </a:r>
          </a:p>
        </p:txBody>
      </p:sp>
      <p:sp>
        <p:nvSpPr>
          <p:cNvPr id="34" name="TextBox 33"/>
          <p:cNvSpPr txBox="1"/>
          <p:nvPr/>
        </p:nvSpPr>
        <p:spPr>
          <a:xfrm>
            <a:off x="691134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Enhanced multi-level XAI</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Large-scale clustering with cross-level SHAP aggregation (Prop. 6.1).</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BEIJING AIR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Attribution stays consistent across levels and at scale.</a:t>
            </a:r>
          </a:p>
        </p:txBody>
      </p:sp>
      <p:sp>
        <p:nvSpPr>
          <p:cNvPr id="35" name="Rounded Rectangle 34"/>
          <p:cNvSpPr/>
          <p:nvPr/>
        </p:nvSpPr>
        <p:spPr>
          <a:xfrm>
            <a:off x="12062460" y="3455162"/>
            <a:ext cx="5196840" cy="4480560"/>
          </a:xfrm>
          <a:prstGeom prst="roundRect">
            <a:avLst>
              <a:gd name="adj" fmla="val 6530"/>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242822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FFFFFF"/>
                </a:solidFill>
                <a:latin typeface="Roca Two Bold"/>
                <a:ea typeface="Roca Two Bold"/>
                <a:cs typeface="Roca Two Bold"/>
                <a:sym typeface="Roca Two Bold"/>
              </a:rPr>
              <a:t>C3</a:t>
            </a:r>
          </a:p>
        </p:txBody>
      </p:sp>
      <p:sp>
        <p:nvSpPr>
          <p:cNvPr id="37" name="Rounded Rectangle 36"/>
          <p:cNvSpPr/>
          <p:nvPr/>
        </p:nvSpPr>
        <p:spPr>
          <a:xfrm>
            <a:off x="15247620" y="3802634"/>
            <a:ext cx="1552948"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DF8330"/>
                </a:solidFill>
                <a:latin typeface="Nunito Bold"/>
                <a:ea typeface="Nunito Bold"/>
                <a:cs typeface="Nunito Bold"/>
                <a:sym typeface="Nunito Bold"/>
              </a:rPr>
              <a:t>RQ3 · RQ4</a:t>
            </a:r>
          </a:p>
        </p:txBody>
      </p:sp>
      <p:sp>
        <p:nvSpPr>
          <p:cNvPr id="38" name="TextBox 37"/>
          <p:cNvSpPr txBox="1"/>
          <p:nvPr/>
        </p:nvSpPr>
        <p:spPr>
          <a:xfrm>
            <a:off x="1242822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DyHuCoG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Dynamic Hypergraph Cooperative Game for preference-aware recommendation.</a:t>
            </a:r>
          </a:p>
          <a:p>
            <a:pPr algn="l">
              <a:lnSpc>
                <a:spcPts val="1700"/>
              </a:lnSpc>
              <a:spcBef>
                <a:spcPts val="1400"/>
              </a:spcBef>
              <a:buNone/>
            </a:pPr>
            <a:r>
              <a:rPr lang="en-US" sz="1300" b="true" spc="140">
                <a:solidFill>
                  <a:srgbClr val="FFFFFF"/>
                </a:solidFill>
                <a:latin typeface="Nunito Ultra-Bold"/>
                <a:ea typeface="Nunito Ultra-Bold"/>
                <a:cs typeface="Nunito Ultra-Bold"/>
                <a:sym typeface="Nunito Ultra-Bold"/>
              </a:rPr>
              <a:t>MOVIELENS-1M · AMAZON-BOOK</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Preference-aware Monte Carlo Shapley as an in-training signal.</a:t>
            </a:r>
          </a:p>
        </p:txBody>
      </p:sp>
      <p:sp>
        <p:nvSpPr>
          <p:cNvPr id="39" name="Rounded Rectangle 38"/>
          <p:cNvSpPr/>
          <p:nvPr/>
        </p:nvSpPr>
        <p:spPr>
          <a:xfrm>
            <a:off x="1028700" y="8301482"/>
            <a:ext cx="16230600" cy="1052830"/>
          </a:xfrm>
          <a:prstGeom prst="roundRect">
            <a:avLst>
              <a:gd name="adj" fmla="val 21712"/>
            </a:avLst>
          </a:prstGeom>
          <a:solidFill>
            <a:srgbClr val="F6ECDF"/>
          </a:solidFill>
          <a:ln>
            <a:noFill/>
          </a:ln>
        </p:spPr>
        <p:txBody>
          <a:bodyPr anchor="ctr" rtlCol="false" lIns="457200" tIns="91440" rIns="457200" bIns="91440" wrap="square"/>
          <a:lstStyle/>
          <a:p>
            <a:pPr algn="ctr">
              <a:lnSpc>
                <a:spcPts val="2700"/>
              </a:lnSpc>
              <a:spcBef>
                <a:spcPts val="0"/>
              </a:spcBef>
              <a:buNone/>
            </a:pPr>
            <a:r>
              <a:rPr lang="en-US" sz="2100" b="true">
                <a:solidFill>
                  <a:srgbClr val="111111"/>
                </a:solidFill>
                <a:latin typeface="Nunito Bold"/>
                <a:ea typeface="Nunito Bold"/>
                <a:cs typeface="Nunito Bold"/>
                <a:sym typeface="Nunito Bold"/>
              </a:rPr>
              <a:t>Thesis claim:</a:t>
            </a:r>
            <a:r>
              <a:rPr lang="en-US" sz="2100" b="true">
                <a:solidFill>
                  <a:srgbClr val="111111"/>
                </a:solidFill>
                <a:latin typeface="Nunito Semi-Bold"/>
                <a:ea typeface="Nunito Semi-Bold"/>
                <a:cs typeface="Nunito Semi-Bold"/>
                <a:sym typeface="Nunito Semi-Bold"/>
              </a:rPr>
              <a:t> cooperative game theory works as </a:t>
            </a:r>
            <a:r>
              <a:rPr lang="en-US" sz="2100" b="true">
                <a:solidFill>
                  <a:srgbClr val="111111"/>
                </a:solidFill>
                <a:latin typeface="Nunito Bold"/>
                <a:ea typeface="Nunito Bold"/>
                <a:cs typeface="Nunito Bold"/>
                <a:sym typeface="Nunito Bold"/>
              </a:rPr>
              <a:t>one shared attribution view</a:t>
            </a:r>
            <a:r>
              <a:rPr lang="en-US" sz="2100" b="true">
                <a:solidFill>
                  <a:srgbClr val="111111"/>
                </a:solidFill>
                <a:latin typeface="Nunito Semi-Bold"/>
                <a:ea typeface="Nunito Semi-Bold"/>
                <a:cs typeface="Nunito Semi-Bold"/>
                <a:sym typeface="Nunito Semi-Bold"/>
              </a:rPr>
              <a:t> for explanation, optimisation and action: three steps that build on each other, not three unrelated papers.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17</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Experimental Protocol</a:t>
            </a:r>
          </a:p>
        </p:txBody>
      </p:sp>
      <p:sp>
        <p:nvSpPr>
          <p:cNvPr id="8" name="Oval 7"/>
          <p:cNvSpPr/>
          <p:nvPr/>
        </p:nvSpPr>
        <p:spPr>
          <a:xfrm>
            <a:off x="15673226"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673226"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03</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One shared protocol so that the three contributions can be read together</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Datasets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and Beijing Air Quality for clustering; MovieLens-1M and Amazon-Book for recommendation.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Baselines &amp; metrics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LIME for clustering explanation; MF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HPCF for recommendation; NDCG@20, Recall, Coverage, ILD, Silhouette, Davies–Bouldin.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Reproducibility</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Fixed seeds, time-ordered user-level splits, early stopping, standard academic hardware (i9-14900K + RTX 4090).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Wine Quality: Portuguese Vinho Verde</a:t>
            </a:r>
          </a:p>
        </p:txBody>
      </p:sp>
      <p:pic>
        <p:nvPicPr>
          <p:cNvPr id="23" name="Picture 22" descr="image.png"/>
          <p:cNvPicPr>
            <a:picLocks noChangeAspect="1"/>
          </p:cNvPicPr>
          <p:nvPr/>
        </p:nvPicPr>
        <p:blipFill>
          <a:blip r:embed="rId3"/>
          <a:stretch>
            <a:fillRect/>
          </a:stretch>
        </p:blipFill>
        <p:spPr>
          <a:xfrm>
            <a:off x="11227909"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Bold"/>
                <a:ea typeface="Nunito Bold"/>
                <a:cs typeface="Nunito Bold"/>
                <a:sym typeface="Nunito Bold"/>
              </a:rPr>
              <a:t>4,898 white-wine samples</a:t>
            </a:r>
            <a:r>
              <a:rPr lang="en-US" sz="1786" b="true">
                <a:solidFill>
                  <a:srgbClr val="111111"/>
                </a:solidFill>
                <a:latin typeface="Nunito Semi-Bold"/>
                <a:ea typeface="Nunito Semi-Bold"/>
                <a:cs typeface="Nunito Semi-Bold"/>
                <a:sym typeface="Nunito Semi-Bold"/>
              </a:rPr>
              <a:t> described by </a:t>
            </a:r>
            <a:r>
              <a:rPr lang="en-US" sz="1786" b="true">
                <a:solidFill>
                  <a:srgbClr val="111111"/>
                </a:solidFill>
                <a:latin typeface="Nunito Bold"/>
                <a:ea typeface="Nunito Bold"/>
                <a:cs typeface="Nunito Bold"/>
                <a:sym typeface="Nunito Bold"/>
              </a:rPr>
              <a:t>11 physicochemical measurements</a:t>
            </a:r>
            <a:r>
              <a:rPr lang="en-US" sz="1786" b="true">
                <a:solidFill>
                  <a:srgbClr val="111111"/>
                </a:solidFill>
                <a:latin typeface="Nunito Semi-Bold"/>
                <a:ea typeface="Nunito Semi-Bold"/>
                <a:cs typeface="Nunito Semi-Bold"/>
                <a:sym typeface="Nunito Semi-Bold"/>
              </a:rPr>
              <a:t> and a sensory quality score (UCI repository).</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Small, dense and chemically correlated: the ideal place to check that an explanation lands on </a:t>
            </a:r>
            <a:r>
              <a:rPr lang="en-US" sz="1786" b="true">
                <a:solidFill>
                  <a:srgbClr val="111111"/>
                </a:solidFill>
                <a:latin typeface="Nunito Bold"/>
                <a:ea typeface="Nunito Bold"/>
                <a:cs typeface="Nunito Bold"/>
                <a:sym typeface="Nunito Bold"/>
              </a:rPr>
              <a:t>variables a wine expert understands</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Used for </a:t>
            </a:r>
            <a:r>
              <a:rPr lang="en-US" sz="1786" b="true">
                <a:solidFill>
                  <a:srgbClr val="111111"/>
                </a:solidFill>
                <a:latin typeface="Nunito Bold"/>
                <a:ea typeface="Nunito Bold"/>
                <a:cs typeface="Nunito Bold"/>
                <a:sym typeface="Nunito Bold"/>
              </a:rPr>
              <a:t>Contribution I</a:t>
            </a:r>
            <a:r>
              <a:rPr lang="en-US" sz="1786" b="true">
                <a:solidFill>
                  <a:srgbClr val="111111"/>
                </a:solidFill>
                <a:latin typeface="Nunito Semi-Bold"/>
                <a:ea typeface="Nunito Semi-Bold"/>
                <a:cs typeface="Nunito Semi-Bold"/>
                <a:sym typeface="Nunito Semi-Bold"/>
              </a:rPr>
              <a:t>: single-level clustering, then Shapley attribution back to the chemistry.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Wine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4,898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numeric</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Target (not used for clustering)</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quality 3 to 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Missing values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none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Scale of 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standardised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public file</a:t>
            </a:r>
          </a:p>
        </p:txBody>
      </p:sp>
      <p:graphicFrame>
        <p:nvGraphicFramePr>
          <p:cNvPr id="30" name="Table 29"/>
          <p:cNvGraphicFramePr>
            <a:graphicFrameLocks noGrp="1"/>
          </p:cNvGraphicFramePr>
          <p:nvPr/>
        </p:nvGraphicFramePr>
        <p:xfrm>
          <a:off x="1028700" y="7260082"/>
          <a:ext cx="16230600" cy="1705864"/>
        </p:xfrm>
        <a:graphic>
          <a:graphicData uri="http://schemas.openxmlformats.org/drawingml/2006/table">
            <a:tbl>
              <a:tblPr firstRow="0" bandRow="0" firstCol="0" lastRow="0" lastCol="0" bandCol="0">
                <a:tableStyleId>{2D5ABB26-0587-4C30-8999-92F81FD0307C}</a:tableStyleId>
              </a:tblPr>
              <a:tblGrid>
                <a:gridCol w="1586992"/>
                <a:gridCol w="1731264"/>
                <a:gridCol w="1442720"/>
                <a:gridCol w="1659128"/>
                <a:gridCol w="1442720"/>
                <a:gridCol w="1298448"/>
                <a:gridCol w="1298448"/>
                <a:gridCol w="1298448"/>
                <a:gridCol w="1009904"/>
                <a:gridCol w="1298448"/>
                <a:gridCol w="1154176"/>
                <a:gridCol w="1009904"/>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fixed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volatile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citric acid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residual sugar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chlorides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free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total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density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pH</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sulphates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alcohol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quality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0.9951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Beijing Multi-Site Air Quality</a:t>
            </a:r>
          </a:p>
        </p:txBody>
      </p:sp>
      <p:pic>
        <p:nvPicPr>
          <p:cNvPr id="23" name="Picture 22" descr="image.png"/>
          <p:cNvPicPr>
            <a:picLocks noChangeAspect="1"/>
          </p:cNvPicPr>
          <p:nvPr/>
        </p:nvPicPr>
        <p:blipFill>
          <a:blip r:embed="rId3"/>
          <a:stretch>
            <a:fillRect/>
          </a:stretch>
        </p:blipFill>
        <p:spPr>
          <a:xfrm>
            <a:off x="8588295" y="1673352"/>
            <a:ext cx="457200" cy="415247"/>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383,585 hourly records</a:t>
            </a:r>
            <a:r>
              <a:rPr lang="en-US" sz="1900" b="true">
                <a:solidFill>
                  <a:srgbClr val="111111"/>
                </a:solidFill>
                <a:latin typeface="Nunito Semi-Bold"/>
                <a:ea typeface="Nunito Semi-Bold"/>
                <a:cs typeface="Nunito Semi-Bold"/>
                <a:sym typeface="Nunito Semi-Bold"/>
              </a:rPr>
              <a:t> from Beijing monitoring stations, March 2013 to February 2017 (UCI repository).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11 modelling variables:</a:t>
            </a:r>
            <a:r>
              <a:rPr lang="en-US" sz="1900" b="true">
                <a:solidFill>
                  <a:srgbClr val="111111"/>
                </a:solidFill>
                <a:latin typeface="Nunito Semi-Bold"/>
                <a:ea typeface="Nunito Semi-Bold"/>
                <a:cs typeface="Nunito Semi-Bold"/>
                <a:sym typeface="Nunito Semi-Bold"/>
              </a:rPr>
              <a:t> six pollutants (PM2.5, PM10, SO₂, NO₂, CO, O₃) and weather (temperature, pressure, dew point, rain, wind speed).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Large, noisy, varies with season and weather: the stress test for </a:t>
            </a:r>
            <a:r>
              <a:rPr lang="en-US" sz="1900" b="true">
                <a:solidFill>
                  <a:srgbClr val="111111"/>
                </a:solidFill>
                <a:latin typeface="Nunito Bold"/>
                <a:ea typeface="Nunito Bold"/>
                <a:cs typeface="Nunito Bold"/>
                <a:sym typeface="Nunito Bold"/>
              </a:rPr>
              <a:t>Contribution II</a:t>
            </a:r>
            <a:r>
              <a:rPr lang="en-US" sz="1900" b="true">
                <a:solidFill>
                  <a:srgbClr val="111111"/>
                </a:solidFill>
                <a:latin typeface="Nunito Semi-Bold"/>
                <a:ea typeface="Nunito Semi-Bold"/>
                <a:cs typeface="Nunito Semi-Bold"/>
                <a:sym typeface="Nunito Semi-Bold"/>
              </a:rPr>
              <a:t> (scale + multi-level structure).</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Beijing Multi-Site Air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383,585 hourly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Period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2013 to 2017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Variables used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(6 pollutants + 5 weather)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Structure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coarse regimes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9 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Silhouette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0.63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Aotizhongxin station file</a:t>
            </a:r>
          </a:p>
        </p:txBody>
      </p:sp>
      <p:graphicFrame>
        <p:nvGraphicFramePr>
          <p:cNvPr id="30" name="Table 29"/>
          <p:cNvGraphicFramePr>
            <a:graphicFrameLocks noGrp="1"/>
          </p:cNvGraphicFramePr>
          <p:nvPr/>
        </p:nvGraphicFramePr>
        <p:xfrm>
          <a:off x="1028700" y="7260082"/>
          <a:ext cx="16230594" cy="1705864"/>
        </p:xfrm>
        <a:graphic>
          <a:graphicData uri="http://schemas.openxmlformats.org/drawingml/2006/table">
            <a:tbl>
              <a:tblPr firstRow="0" bandRow="0" firstCol="0" lastRow="0" lastCol="0" bandCol="0">
                <a:tableStyleId>{2D5ABB26-0587-4C30-8999-92F81FD0307C}</a:tableStyleId>
              </a:tblPr>
              <a:tblGrid>
                <a:gridCol w="2233568"/>
                <a:gridCol w="2531377"/>
                <a:gridCol w="1191236"/>
                <a:gridCol w="1191236"/>
                <a:gridCol w="1042332"/>
                <a:gridCol w="1042332"/>
                <a:gridCol w="1042332"/>
                <a:gridCol w="1042332"/>
                <a:gridCol w="1191236"/>
                <a:gridCol w="1340141"/>
                <a:gridCol w="1191236"/>
                <a:gridCol w="1191236"/>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station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date · hour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PM2.5</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PM10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NO₂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CO</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O₃</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TEMP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DEWP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WSPM</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00h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01h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02h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MovieLens-1M</a:t>
            </a:r>
          </a:p>
        </p:txBody>
      </p:sp>
      <p:pic>
        <p:nvPicPr>
          <p:cNvPr id="23" name="Picture 22" descr="image.png"/>
          <p:cNvPicPr>
            <a:picLocks noChangeAspect="1"/>
          </p:cNvPicPr>
          <p:nvPr/>
        </p:nvPicPr>
        <p:blipFill>
          <a:blip r:embed="rId3"/>
          <a:stretch>
            <a:fillRect/>
          </a:stretch>
        </p:blipFill>
        <p:spPr>
          <a:xfrm>
            <a:off x="4963971" y="1673352"/>
            <a:ext cx="457200" cy="452148"/>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About 1 million ratings</a:t>
            </a:r>
            <a:r>
              <a:rPr lang="en-US" sz="1900" b="true">
                <a:solidFill>
                  <a:srgbClr val="111111"/>
                </a:solidFill>
                <a:latin typeface="Nunito Semi-Bold"/>
                <a:ea typeface="Nunito Semi-Bold"/>
                <a:cs typeface="Nunito Semi-Bold"/>
                <a:sym typeface="Nunito Semi-Bold"/>
              </a:rPr>
              <a:t> from </a:t>
            </a:r>
            <a:r>
              <a:rPr lang="en-US" sz="1900" b="true">
                <a:solidFill>
                  <a:srgbClr val="111111"/>
                </a:solidFill>
                <a:latin typeface="Nunito Bold"/>
                <a:ea typeface="Nunito Bold"/>
                <a:cs typeface="Nunito Bold"/>
                <a:sym typeface="Nunito Bold"/>
              </a:rPr>
              <a:t>6,040 users</a:t>
            </a:r>
            <a:r>
              <a:rPr lang="en-US" sz="1900" b="true">
                <a:solidFill>
                  <a:srgbClr val="111111"/>
                </a:solidFill>
                <a:latin typeface="Nunito Semi-Bold"/>
                <a:ea typeface="Nunito Semi-Bold"/>
                <a:cs typeface="Nunito Semi-Bold"/>
                <a:sym typeface="Nunito Semi-Bold"/>
              </a:rPr>
              <a:t> on </a:t>
            </a:r>
            <a:r>
              <a:rPr lang="en-US" sz="1900" b="true">
                <a:solidFill>
                  <a:srgbClr val="111111"/>
                </a:solidFill>
                <a:latin typeface="Nunito Bold"/>
                <a:ea typeface="Nunito Bold"/>
                <a:cs typeface="Nunito Bold"/>
                <a:sym typeface="Nunito Bold"/>
              </a:rPr>
              <a:t>3,706 movies</a:t>
            </a:r>
            <a:r>
              <a:rPr lang="en-US" sz="1900" b="true">
                <a:solidFill>
                  <a:srgbClr val="111111"/>
                </a:solidFill>
                <a:latin typeface="Nunito Semi-Bold"/>
                <a:ea typeface="Nunito Semi-Bold"/>
                <a:cs typeface="Nunito Semi-Bold"/>
                <a:sym typeface="Nunito Semi-Bold"/>
              </a:rPr>
              <a:t> (GroupLens, 2000).</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standard benchmark for collaborative filtering for two decades: LightGCN, HCCF, HPCF and most graph recommenders report on it.</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Comparatively </a:t>
            </a:r>
            <a:r>
              <a:rPr lang="en-US" sz="1900" b="true">
                <a:solidFill>
                  <a:srgbClr val="111111"/>
                </a:solidFill>
                <a:latin typeface="Nunito Bold"/>
                <a:ea typeface="Nunito Bold"/>
                <a:cs typeface="Nunito Bold"/>
                <a:sym typeface="Nunito Bold"/>
              </a:rPr>
              <a:t>dense</a:t>
            </a:r>
            <a:r>
              <a:rPr lang="en-US" sz="1900" b="true">
                <a:solidFill>
                  <a:srgbClr val="111111"/>
                </a:solidFill>
                <a:latin typeface="Nunito Semi-Bold"/>
                <a:ea typeface="Nunito Semi-Bold"/>
                <a:cs typeface="Nunito Semi-Bold"/>
                <a:sym typeface="Nunito Semi-Bold"/>
              </a:rPr>
              <a:t> (0.0447); ratings &gt; 3 become positive implicit feedback. Genre is the context proxy.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MovieLens-1M</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6,040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3,706 movies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1,000,209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0.0447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Rating scale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 to 5 stars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Min. interactions / user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ratings.dat joined with movies.dat</a:t>
            </a:r>
          </a:p>
        </p:txBody>
      </p:sp>
      <p:graphicFrame>
        <p:nvGraphicFramePr>
          <p:cNvPr id="30" name="Table 29"/>
          <p:cNvGraphicFramePr>
            <a:graphicFrameLocks noGrp="1"/>
          </p:cNvGraphicFramePr>
          <p:nvPr/>
        </p:nvGraphicFramePr>
        <p:xfrm>
          <a:off x="1028700" y="7260082"/>
          <a:ext cx="16230597" cy="2132330"/>
        </p:xfrm>
        <a:graphic>
          <a:graphicData uri="http://schemas.openxmlformats.org/drawingml/2006/table">
            <a:tbl>
              <a:tblPr firstRow="0" bandRow="0" firstCol="0" lastRow="0" lastCol="0" bandCol="0">
                <a:tableStyleId>{2D5ABB26-0587-4C30-8999-92F81FD0307C}</a:tableStyleId>
              </a:tblPr>
              <a:tblGrid>
                <a:gridCol w="1363915"/>
                <a:gridCol w="1363915"/>
                <a:gridCol w="5728447"/>
                <a:gridCol w="4637314"/>
                <a:gridCol w="1227524"/>
                <a:gridCol w="1909482"/>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MovieID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Genres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Timestamp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One Flew Over the Cuckoo's Nest (1975)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978300760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James and the Giant Peach (1996)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Animation · Children's · Musical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978302109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My Fair Lady (1964)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Musical · Romance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978301968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3408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Erin Brockovich (2000)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978300275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Amazon-Book</a:t>
            </a:r>
          </a:p>
        </p:txBody>
      </p:sp>
      <p:pic>
        <p:nvPicPr>
          <p:cNvPr id="23" name="Picture 22" descr="image.png"/>
          <p:cNvPicPr>
            <a:picLocks noChangeAspect="1"/>
          </p:cNvPicPr>
          <p:nvPr/>
        </p:nvPicPr>
        <p:blipFill>
          <a:blip r:embed="rId3"/>
          <a:stretch>
            <a:fillRect/>
          </a:stretch>
        </p:blipFill>
        <p:spPr>
          <a:xfrm>
            <a:off x="5002206" y="1673352"/>
            <a:ext cx="457200" cy="617115"/>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52,643 users</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91,599 books</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2,984,108 interactions</a:t>
            </a:r>
            <a:r>
              <a:rPr lang="en-US" sz="1900" b="true">
                <a:solidFill>
                  <a:srgbClr val="111111"/>
                </a:solidFill>
                <a:latin typeface="Nunito Semi-Bold"/>
                <a:ea typeface="Nunito Semi-Bold"/>
                <a:cs typeface="Nunito Semi-Bold"/>
                <a:sym typeface="Nunito Semi-Bold"/>
              </a:rPr>
              <a:t> from Amazon review data (McAuley Lab, UCSD).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Extremely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(density ≈ 0.0006): the user-item matrix is almost empty.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Included to test whether Shapley-guided weighting </a:t>
            </a:r>
            <a:r>
              <a:rPr lang="en-US" sz="1900" b="true">
                <a:solidFill>
                  <a:srgbClr val="111111"/>
                </a:solidFill>
                <a:latin typeface="Nunito Bold"/>
                <a:ea typeface="Nunito Bold"/>
                <a:cs typeface="Nunito Bold"/>
                <a:sym typeface="Nunito Bold"/>
              </a:rPr>
              <a:t>helps most when the signal is weakest</a:t>
            </a:r>
            <a:r>
              <a:rPr lang="en-US" sz="1900" b="true">
                <a:solidFill>
                  <a:srgbClr val="111111"/>
                </a:solidFill>
                <a:latin typeface="Nunito Semi-Bold"/>
                <a:ea typeface="Nunito Semi-Bold"/>
                <a:cs typeface="Nunito Semi-Bold"/>
                <a:sym typeface="Nunito Semi-Bold"/>
              </a:rPr>
              <a:t>; the large-scale benchmark of Contribution III.</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Amazon-Book</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52,643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91,599 books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2,984,108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0.0006</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Feedback</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implicit (review = interaction)</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Context proxy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book category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illustrative rows in the format of the public file</a:t>
            </a:r>
          </a:p>
        </p:txBody>
      </p:sp>
      <p:graphicFrame>
        <p:nvGraphicFramePr>
          <p:cNvPr id="30" name="Table 29"/>
          <p:cNvGraphicFramePr>
            <a:graphicFrameLocks noGrp="1"/>
          </p:cNvGraphicFramePr>
          <p:nvPr/>
        </p:nvGraphicFramePr>
        <p:xfrm>
          <a:off x="1028700" y="7260082"/>
          <a:ext cx="16230598" cy="1705864"/>
        </p:xfrm>
        <a:graphic>
          <a:graphicData uri="http://schemas.openxmlformats.org/drawingml/2006/table">
            <a:tbl>
              <a:tblPr firstRow="0" bandRow="0" firstCol="0" lastRow="0" lastCol="0" bandCol="0">
                <a:tableStyleId>{2D5ABB26-0587-4C30-8999-92F81FD0307C}</a:tableStyleId>
              </a:tblPr>
              <a:tblGrid>
                <a:gridCol w="2264734"/>
                <a:gridCol w="3019646"/>
                <a:gridCol w="3774558"/>
                <a:gridCol w="1509823"/>
                <a:gridCol w="5661837"/>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user_id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item_id (ASIN)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category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review summary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A1B2C3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B000123XYZ</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Literature &amp; Fiction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Could not put it down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A4D5E6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B000456ABC</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Science &amp; Math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Clear and well written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A7F8G9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B000789DEF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History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Good but slow in the middle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[14] Xiangyi, Y. et al. Hypergraph Projection Enhanced Collaborative Filtering (HPCF). Int. J. Data Science and Analytics 19(2), 269–281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Data Splitting &amp; Preprocessing</a:t>
            </a:r>
          </a:p>
        </p:txBody>
      </p:sp>
      <p:pic>
        <p:nvPicPr>
          <p:cNvPr id="23" name="Picture 22" descr="image.png"/>
          <p:cNvPicPr>
            <a:picLocks noChangeAspect="1"/>
          </p:cNvPicPr>
          <p:nvPr/>
        </p:nvPicPr>
        <p:blipFill>
          <a:blip r:embed="rId3"/>
          <a:stretch>
            <a:fillRect/>
          </a:stretch>
        </p:blipFill>
        <p:spPr>
          <a:xfrm>
            <a:off x="9239964"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ounded Rectangle 26"/>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321790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Clustering (C1, C2)</a:t>
            </a:r>
          </a:p>
        </p:txBody>
      </p:sp>
      <p:sp>
        <p:nvSpPr>
          <p:cNvPr id="29" name="TextBox 28"/>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Bold"/>
                <a:ea typeface="Nunito Bold"/>
                <a:cs typeface="Nunito Bold"/>
                <a:sym typeface="Nunito Bold"/>
              </a:rPr>
              <a:t>Five-fold cross-validation</a:t>
            </a:r>
            <a:r>
              <a:rPr lang="en-US" sz="2000" b="true">
                <a:solidFill>
                  <a:srgbClr val="FFFFFF"/>
                </a:solidFill>
                <a:latin typeface="Nunito Semi-Bold"/>
                <a:ea typeface="Nunito Semi-Bold"/>
                <a:cs typeface="Nunito Semi-Bold"/>
                <a:sym typeface="Nunito Semi-Bold"/>
              </a:rPr>
              <a:t> for surrogate / attribution stability.</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Feature standardisation; PCA used only as a geometric and visual check.</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Multi-criteria k selection: elbow, Silhouette, Davies–Bouldin.</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Surrogate fidelity floor: </a:t>
            </a:r>
            <a:r>
              <a:rPr lang="en-US" sz="2000" b="true">
                <a:solidFill>
                  <a:srgbClr val="FFFFFF"/>
                </a:solidFill>
                <a:latin typeface="Nunito Bold"/>
                <a:ea typeface="Nunito Bold"/>
                <a:cs typeface="Nunito Bold"/>
                <a:sym typeface="Nunito Bold"/>
              </a:rPr>
              <a:t>macro-F1 ≈ 0.82</a:t>
            </a:r>
            <a:r>
              <a:rPr lang="en-US" sz="2000" b="true">
                <a:solidFill>
                  <a:srgbClr val="FFFFFF"/>
                </a:solidFill>
                <a:latin typeface="Nunito Semi-Bold"/>
                <a:ea typeface="Nunito Semi-Bold"/>
                <a:cs typeface="Nunito Semi-Bold"/>
                <a:sym typeface="Nunito Semi-Bold"/>
              </a:rPr>
              <a:t>.</a:t>
            </a:r>
          </a:p>
        </p:txBody>
      </p:sp>
      <p:sp>
        <p:nvSpPr>
          <p:cNvPr id="30" name="Rounded Rectangle 29"/>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9784080" y="3354578"/>
            <a:ext cx="364295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Recommendation (C3)</a:t>
            </a:r>
          </a:p>
        </p:txBody>
      </p:sp>
      <p:sp>
        <p:nvSpPr>
          <p:cNvPr id="32" name="TextBox 31"/>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User-level, time-ordered split:</a:t>
            </a:r>
            <a:r>
              <a:rPr lang="en-US" sz="2000" b="true">
                <a:solidFill>
                  <a:srgbClr val="111111"/>
                </a:solidFill>
                <a:latin typeface="Nunito Semi-Bold"/>
                <a:ea typeface="Nunito Semi-Bold"/>
                <a:cs typeface="Nunito Semi-Bold"/>
                <a:sym typeface="Nunito Semi-Bold"/>
              </a:rPr>
              <a:t> 70 % train / 10 % validation / 20 % test.</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Leave-one-out:</a:t>
            </a:r>
            <a:r>
              <a:rPr lang="en-US" sz="2000" b="true">
                <a:solidFill>
                  <a:srgbClr val="111111"/>
                </a:solidFill>
                <a:latin typeface="Nunito Semi-Bold"/>
                <a:ea typeface="Nunito Semi-Bold"/>
                <a:cs typeface="Nunito Semi-Bold"/>
                <a:sym typeface="Nunito Semi-Bold"/>
              </a:rPr>
              <a:t> the latest test positive per user is the target, ranked against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Implicit conversion: MovieLens-1M ratings &gt; 3 treated as positive.</a:t>
            </a:r>
          </a:p>
          <a:p>
            <a:pPr algn="l" marL="274320" indent="-274320">
              <a:lnSpc>
                <a:spcPts val="296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Popularity-aware negative sampling </a:t>
            </a:r>
            <a:r>
              <a:rPr lang="en-US" sz="2000" b="true">
                <a:solidFill>
                  <a:srgbClr val="111111"/>
                </a:solidFill>
                <a:latin typeface="Nunito Bold"/>
                <a:ea typeface="Nunito Bold"/>
                <a:cs typeface="Nunito Bold"/>
                <a:sym typeface="Nunito Bold"/>
              </a:rPr>
              <a:t>q(i) </a:t>
            </a:r>
            <a:r>
              <a:rPr lang="en-US" sz="2000" b="true">
                <a:solidFill>
                  <a:srgbClr val="111111"/>
                </a:solidFill>
                <a:latin typeface="Cambria Math"/>
                <a:ea typeface="Cambria Math"/>
                <a:cs typeface="Cambria Math"/>
                <a:sym typeface="Cambria Math"/>
              </a:rPr>
              <a:t>∝ </a:t>
            </a:r>
            <a:r>
              <a:rPr lang="en-US" sz="2000" b="true">
                <a:solidFill>
                  <a:srgbClr val="111111"/>
                </a:solidFill>
                <a:latin typeface="Nunito Bold"/>
                <a:ea typeface="Nunito Bold"/>
                <a:cs typeface="Nunito Bold"/>
                <a:sym typeface="Nunito Bold"/>
              </a:rPr>
              <a:t>f</a:t>
            </a:r>
            <a:r>
              <a:rPr lang="en-US" sz="2000" b="true" baseline="-25000">
                <a:solidFill>
                  <a:srgbClr val="111111"/>
                </a:solidFill>
                <a:latin typeface="Nunito Bold"/>
                <a:ea typeface="Nunito Bold"/>
                <a:cs typeface="Nunito Bold"/>
                <a:sym typeface="Nunito Bold"/>
              </a:rPr>
              <a:t>i</a:t>
            </a:r>
            <a:r>
              <a:rPr lang="en-US" sz="2000" b="true" baseline="30000">
                <a:solidFill>
                  <a:srgbClr val="111111"/>
                </a:solidFill>
                <a:latin typeface="Calibri"/>
                <a:ea typeface="Calibri"/>
                <a:cs typeface="Calibri"/>
                <a:sym typeface="Calibri"/>
              </a:rPr>
              <a:t>η</a:t>
            </a:r>
            <a:r>
              <a:rPr lang="en-US" sz="2000" b="true">
                <a:solidFill>
                  <a:srgbClr val="111111"/>
                </a:solidFill>
                <a:latin typeface="Nunito Semi-Bold"/>
                <a:ea typeface="Nunito Semi-Bold"/>
                <a:cs typeface="Nunito Semi-Bold"/>
                <a:sym typeface="Nunito Semi-Bold"/>
              </a:rPr>
              <a:t> for harder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Reproducibility: seeds {42, 43, 44, 45, 46}; early-stopping patience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020"/>
              </a:lnSpc>
              <a:spcBef>
                <a:spcPts val="0"/>
              </a:spcBef>
              <a:buNone/>
            </a:pPr>
            <a:r>
              <a:rPr lang="en-US" sz="850" b="true">
                <a:solidFill>
                  <a:srgbClr val="8A8378"/>
                </a:solidFill>
                <a:latin typeface="Nunito Semi-Bold"/>
                <a:ea typeface="Nunito Semi-Bold"/>
                <a:cs typeface="Nunito Semi-Bold"/>
                <a:sym typeface="Nunito Semi-Bold"/>
              </a:rPr>
              <a:t>[7] Ribeiro, M. T., Singh, S. &amp; Guestrin, C. "Why Should I Trust You?": Explaining the Predictions of Any Classifier (LIME). KDD, 1135–1144 (2016).   [10] Koren, Y., Bell, R. &amp; Volinsky, C. Matrix Factorization Techniques for Recommender Systems. Computer 42(8), 30–37 (2009).   [11] He, X. et al. Neural Collaborative Filtering. WWW, 173–182 (2017).   [12]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[15] Zhang, D. et al. RecDCL: Dual Contrastive Learning for Recommendation. The Web Conference, 3655–3666 (2024).</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Baselines</a:t>
            </a:r>
          </a:p>
        </p:txBody>
      </p:sp>
      <p:pic>
        <p:nvPicPr>
          <p:cNvPr id="23" name="Picture 22" descr="image.png"/>
          <p:cNvPicPr>
            <a:picLocks noChangeAspect="1"/>
          </p:cNvPicPr>
          <p:nvPr/>
        </p:nvPicPr>
        <p:blipFill>
          <a:blip r:embed="rId3"/>
          <a:stretch>
            <a:fillRect/>
          </a:stretch>
        </p:blipFill>
        <p:spPr>
          <a:xfrm>
            <a:off x="3729007" y="1673352"/>
            <a:ext cx="457200" cy="539881"/>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4242816"/>
        </p:xfrm>
        <a:graphic>
          <a:graphicData uri="http://schemas.openxmlformats.org/drawingml/2006/table">
            <a:tbl>
              <a:tblPr firstRow="0" bandRow="0" firstCol="0" lastRow="0" lastCol="0" bandCol="0">
                <a:tableStyleId>{2D5ABB26-0587-4C30-8999-92F81FD0307C}</a:tableStyleId>
              </a:tblPr>
              <a:tblGrid>
                <a:gridCol w="2664725"/>
                <a:gridCol w="3875964"/>
                <a:gridCol w="7994176"/>
                <a:gridCol w="1695734"/>
              </a:tblGrid>
              <a:tr h="530352">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Family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Baseline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represents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Used in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 surrogate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Local surrogate explanation; the standard alternative to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C1, C2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Classical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(BPR)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Matrix factorisation with pairwise ranking loss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Neural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Neural collaborative filtering (MLP on embeddings)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Simplified graph convolution on the user-item 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 + contrastive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Dual contrastive learning for recommendation (2024)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contrastive collaborative filtering (2022)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projection enhanced collaborative filtering (2025)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Rounded Rectangle 27"/>
          <p:cNvSpPr/>
          <p:nvPr/>
        </p:nvSpPr>
        <p:spPr>
          <a:xfrm>
            <a:off x="1028700" y="8155178"/>
            <a:ext cx="16230600" cy="1016254"/>
          </a:xfrm>
          <a:prstGeom prst="roundRect">
            <a:avLst>
              <a:gd name="adj" fmla="val 19795"/>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7963154"/>
            <a:ext cx="1867571"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WHY THIS SET</a:t>
            </a:r>
          </a:p>
        </p:txBody>
      </p:sp>
      <p:sp>
        <p:nvSpPr>
          <p:cNvPr id="30" name="TextBox 29"/>
          <p:cNvSpPr txBox="1"/>
          <p:nvPr/>
        </p:nvSpPr>
        <p:spPr>
          <a:xfrm>
            <a:off x="1394460" y="8429498"/>
            <a:ext cx="15499080" cy="604774"/>
          </a:xfrm>
          <a:prstGeom prst="rect">
            <a:avLst/>
          </a:prstGeom>
          <a:noFill/>
        </p:spPr>
        <p:txBody>
          <a:bodyPr anchor="ctr" rtlCol="false" lIns="0" tIns="0" rIns="0" bIns="0" wrap="square"/>
          <a:lstStyle/>
          <a:p>
            <a:pPr algn="l">
              <a:lnSpc>
                <a:spcPts val="2261"/>
              </a:lnSpc>
              <a:spcBef>
                <a:spcPts val="0"/>
              </a:spcBef>
              <a:buNone/>
            </a:pPr>
            <a:r>
              <a:rPr lang="en-US" sz="1615" b="true">
                <a:solidFill>
                  <a:srgbClr val="111111"/>
                </a:solidFill>
                <a:latin typeface="Nunito Semi-Bold"/>
                <a:ea typeface="Nunito Semi-Bold"/>
                <a:cs typeface="Nunito Semi-Bold"/>
                <a:sym typeface="Nunito Semi-Bold"/>
              </a:rPr>
              <a:t>Classical, neural, graph and hypergraph families together, so the effect of </a:t>
            </a:r>
            <a:r>
              <a:rPr lang="en-US" sz="1615" b="true">
                <a:solidFill>
                  <a:srgbClr val="111111"/>
                </a:solidFill>
                <a:latin typeface="Nunito Bold"/>
                <a:ea typeface="Nunito Bold"/>
                <a:cs typeface="Nunito Bold"/>
                <a:sym typeface="Nunito Bold"/>
              </a:rPr>
              <a:t>cooperative attribution</a:t>
            </a:r>
            <a:r>
              <a:rPr lang="en-US" sz="1615" b="true">
                <a:solidFill>
                  <a:srgbClr val="111111"/>
                </a:solidFill>
                <a:latin typeface="Nunito Semi-Bold"/>
                <a:ea typeface="Nunito Semi-Bold"/>
                <a:cs typeface="Nunito Semi-Bold"/>
                <a:sym typeface="Nunito Semi-Bold"/>
              </a:rPr>
              <a:t> is not confused with a lucky model choice. HPCF is the strongest reference; all baselines were finalised in early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Metrics</a:t>
            </a:r>
          </a:p>
        </p:txBody>
      </p:sp>
      <p:pic>
        <p:nvPicPr>
          <p:cNvPr id="23" name="Picture 22" descr="image.png"/>
          <p:cNvPicPr>
            <a:picLocks noChangeAspect="1"/>
          </p:cNvPicPr>
          <p:nvPr/>
        </p:nvPicPr>
        <p:blipFill>
          <a:blip r:embed="rId3"/>
          <a:stretch>
            <a:fillRect/>
          </a:stretch>
        </p:blipFill>
        <p:spPr>
          <a:xfrm>
            <a:off x="6134170" y="1673352"/>
            <a:ext cx="457200" cy="373212"/>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ectangle 26"/>
          <p:cNvSpPr/>
          <p:nvPr/>
        </p:nvSpPr>
        <p:spPr>
          <a:xfrm>
            <a:off x="1028700" y="3363722"/>
            <a:ext cx="16230600" cy="384048"/>
          </a:xfrm>
          <a:prstGeom prst="rect">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165860" y="3363722"/>
            <a:ext cx="237744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Metric</a:t>
            </a:r>
          </a:p>
        </p:txBody>
      </p:sp>
      <p:sp>
        <p:nvSpPr>
          <p:cNvPr id="29" name="TextBox 28"/>
          <p:cNvSpPr txBox="1"/>
          <p:nvPr/>
        </p:nvSpPr>
        <p:spPr>
          <a:xfrm>
            <a:off x="3817620" y="3363722"/>
            <a:ext cx="621792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Formula</a:t>
            </a:r>
          </a:p>
        </p:txBody>
      </p:sp>
      <p:sp>
        <p:nvSpPr>
          <p:cNvPr id="30" name="TextBox 29"/>
          <p:cNvSpPr txBox="1"/>
          <p:nvPr/>
        </p:nvSpPr>
        <p:spPr>
          <a:xfrm>
            <a:off x="10309860" y="3363722"/>
            <a:ext cx="681228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Why it is used</a:t>
            </a:r>
          </a:p>
        </p:txBody>
      </p:sp>
      <p:sp>
        <p:nvSpPr>
          <p:cNvPr id="31" name="Rectangle 30"/>
          <p:cNvSpPr/>
          <p:nvPr/>
        </p:nvSpPr>
        <p:spPr>
          <a:xfrm>
            <a:off x="1028700" y="3747770"/>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32" name="TextBox 31"/>
          <p:cNvSpPr txBox="1"/>
          <p:nvPr/>
        </p:nvSpPr>
        <p:spPr>
          <a:xfrm>
            <a:off x="1165860" y="3747770"/>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NDCG@K  (main)</a:t>
            </a:r>
          </a:p>
        </p:txBody>
      </p:sp>
      <mc:AlternateContent xmlns:mc="http://schemas.openxmlformats.org/markup-compatibility/2006">
        <mc:Choice xmlns:a14="http://schemas.microsoft.com/office/drawing/2010/main" Requires="a14">
          <p:sp>
            <p:nvSpPr>
              <p:cNvPr id="33" name="Equation"/>
              <p:cNvSpPr txBox="1"/>
              <p:nvPr/>
            </p:nvSpPr>
            <p:spPr>
              <a:xfrm>
                <a:off x="3771900" y="3775202"/>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NDCG@</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m:rPr>
                              <m:sty m:val="p"/>
                            </m:rPr>
                            <a:rPr lang="en-US" sz="1150">
                              <a:solidFill>
                                <a:srgbClr val="111111"/>
                              </a:solidFill>
                              <a:latin typeface="Cambria Math" panose="02040503050406030204" pitchFamily="18" charset="0"/>
                            </a:rPr>
                            <m:t xml:space="preserve">IDCG@</m:t>
                          </m:r>
                          <m:r>
                            <a:rPr lang="en-US" sz="1150" i="1">
                              <a:solidFill>
                                <a:srgbClr val="111111"/>
                              </a:solidFill>
                              <a:latin typeface="Cambria Math" panose="02040503050406030204" pitchFamily="18" charset="0"/>
                            </a:rPr>
                            <m:t xml:space="preserve">K</m:t>
                          </m:r>
                        </m:den>
                      </m:f>
                      <m:r>
                        <m:rPr>
                          <m:sty m:val="p"/>
                        </m:rPr>
                        <a:rPr lang="en-US" sz="1150">
                          <a:solidFill>
                            <a:srgbClr val="111111"/>
                          </a:solidFill>
                          <a:latin typeface="Cambria Math" panose="02040503050406030204" pitchFamily="18" charset="0"/>
                        </a:rPr>
                        <m:t xml:space="preserve"> </m:t>
                      </m:r>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rel</m:t>
                                  </m:r>
                                </m:e>
                                <m:sub>
                                  <m:r>
                                    <a:rPr lang="en-US" sz="1150" i="1">
                                      <a:solidFill>
                                        <a:srgbClr val="111111"/>
                                      </a:solidFill>
                                      <a:latin typeface="Cambria Math" panose="02040503050406030204" pitchFamily="18" charset="0"/>
                                    </a:rPr>
                                    <m:t xml:space="preserve">i</m:t>
                                  </m:r>
                                </m:sub>
                              </m:sSub>
                            </m:num>
                            <m:den>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log</m:t>
                                  </m:r>
                                </m:e>
                                <m:sub>
                                  <m:r>
                                    <m:rPr>
                                      <m:sty m:val="p"/>
                                    </m:rPr>
                                    <a:rPr lang="en-US" sz="1150">
                                      <a:solidFill>
                                        <a:srgbClr val="111111"/>
                                      </a:solidFill>
                                      <a:latin typeface="Cambria Math" panose="02040503050406030204" pitchFamily="18" charset="0"/>
                                    </a:rPr>
                                    <m:t xml:space="preserve">2</m:t>
                                  </m:r>
                                </m:sub>
                              </m:sSub>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den>
                          </m:f>
                        </m:e>
                      </m:nary>
                    </m:oMath>
                  </m:oMathPara>
                </a14:m>
                <a:endParaRPr lang="en-US" sz="1150"/>
              </a:p>
            </p:txBody>
          </p:sp>
        </mc:Choice>
        <mc:Fallback>
          <p:sp>
            <p:nvSpPr>
              <p:cNvPr id="33" name="Equation"/>
              <p:cNvSpPr txBox="1"/>
              <p:nvPr/>
            </p:nvSpPr>
            <p:spPr>
              <a:xfrm>
                <a:off x="3771900" y="3775202"/>
                <a:ext cx="6309360" cy="684675"/>
              </a:xfrm>
              <a:prstGeom prst="rect">
                <a:avLst/>
              </a:prstGeom>
              <a:blipFill>
                <a:blip r:embed="rId5"/>
                <a:stretch>
                  <a:fillRect/>
                </a:stretch>
              </a:blipFill>
            </p:spPr>
            <p:txBody>
              <a:bodyPr/>
              <a:lstStyle/>
              <a:p>
                <a:endParaRPr lang="en-US"/>
              </a:p>
            </p:txBody>
          </p:sp>
        </mc:Fallback>
      </mc:AlternateContent>
      <p:sp>
        <p:nvSpPr>
          <p:cNvPr id="34" name="TextBox 33"/>
          <p:cNvSpPr txBox="1"/>
          <p:nvPr/>
        </p:nvSpPr>
        <p:spPr>
          <a:xfrm>
            <a:off x="10309860" y="3747770"/>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Ranking quality; rewards relevant items placed near the top of the list.</a:t>
            </a:r>
          </a:p>
        </p:txBody>
      </p:sp>
      <p:cxnSp>
        <p:nvCxnSpPr>
          <p:cNvPr id="35" name="Connector 34"/>
          <p:cNvCxnSpPr/>
          <p:nvPr/>
        </p:nvCxnSpPr>
        <p:spPr>
          <a:xfrm>
            <a:off x="1028700" y="4487309"/>
            <a:ext cx="16230600" cy="0"/>
          </a:xfrm>
          <a:prstGeom prst="line">
            <a:avLst/>
          </a:prstGeom>
          <a:ln w="12700">
            <a:solidFill>
              <a:srgbClr val="E3D6C4"/>
            </a:solidFill>
          </a:ln>
        </p:spPr>
      </p:cxnSp>
      <p:sp>
        <p:nvSpPr>
          <p:cNvPr id="36" name="Rectangle 35"/>
          <p:cNvSpPr/>
          <p:nvPr/>
        </p:nvSpPr>
        <p:spPr>
          <a:xfrm>
            <a:off x="1028700" y="4487309"/>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37" name="TextBox 36"/>
          <p:cNvSpPr txBox="1"/>
          <p:nvPr/>
        </p:nvSpPr>
        <p:spPr>
          <a:xfrm>
            <a:off x="1165860" y="4487309"/>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Recall@K</a:t>
            </a:r>
          </a:p>
        </p:txBody>
      </p:sp>
      <mc:AlternateContent xmlns:mc="http://schemas.openxmlformats.org/markup-compatibility/2006">
        <mc:Choice xmlns:a14="http://schemas.microsoft.com/office/drawing/2010/main" Requires="a14">
          <p:sp>
            <p:nvSpPr>
              <p:cNvPr id="38" name="Equation"/>
              <p:cNvSpPr txBox="1"/>
              <p:nvPr/>
            </p:nvSpPr>
            <p:spPr>
              <a:xfrm>
                <a:off x="3771900" y="4514741"/>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00">
                          <a:solidFill>
                            <a:srgbClr val="111111"/>
                          </a:solidFill>
                          <a:latin typeface="Cambria Math" panose="02040503050406030204" pitchFamily="18" charset="0"/>
                        </a:rPr>
                        <m:t xml:space="preserve">Recall@</m:t>
                      </m:r>
                      <m:r>
                        <a:rPr lang="en-US" sz="1100" i="1">
                          <a:solidFill>
                            <a:srgbClr val="111111"/>
                          </a:solidFill>
                          <a:latin typeface="Cambria Math" panose="02040503050406030204" pitchFamily="18" charset="0"/>
                        </a:rPr>
                        <m:t xml:space="preserve">K</m:t>
                      </m:r>
                      <m:r>
                        <m:rPr>
                          <m:sty m:val="p"/>
                        </m:rPr>
                        <a:rPr lang="en-US" sz="1100">
                          <a:solidFill>
                            <a:srgbClr val="111111"/>
                          </a:solidFill>
                          <a:latin typeface="Cambria Math" panose="02040503050406030204" pitchFamily="18" charset="0"/>
                        </a:rPr>
                        <m:t xml:space="preserve">=</m:t>
                      </m:r>
                      <m:f>
                        <m:fPr>
                          <m:ctrlPr>
                            <a:rPr lang="en-US" sz="1100" i="1">
                              <a:solidFill>
                                <a:srgbClr val="111111"/>
                              </a:solidFill>
                              <a:latin typeface="Cambria Math" panose="02040503050406030204" pitchFamily="18" charset="0"/>
                            </a:rPr>
                          </m:ctrlPr>
                        </m:fPr>
                        <m:num>
                          <m:r>
                            <m:rPr>
                              <m:sty m:val="p"/>
                            </m:rPr>
                            <a:rPr lang="en-US" sz="1100">
                              <a:solidFill>
                                <a:srgbClr val="111111"/>
                              </a:solidFill>
                              <a:latin typeface="Cambria Math" panose="02040503050406030204" pitchFamily="18" charset="0"/>
                            </a:rPr>
                            <m:t xml:space="preserve">| </m:t>
                          </m:r>
                          <m:sSubSup>
                            <m:sSubSupPr>
                              <m:ctrlPr>
                                <a:rPr lang="en-US" sz="1100" i="1">
                                  <a:solidFill>
                                    <a:srgbClr val="111111"/>
                                  </a:solidFill>
                                  <a:latin typeface="Cambria Math" panose="02040503050406030204" pitchFamily="18" charset="0"/>
                                </a:rPr>
                              </m:ctrlPr>
                            </m:sSubSupPr>
                            <m:e>
                              <m:r>
                                <a:rPr lang="en-US" sz="1100" i="1">
                                  <a:solidFill>
                                    <a:srgbClr val="111111"/>
                                  </a:solidFill>
                                  <a:latin typeface="Cambria Math" panose="02040503050406030204" pitchFamily="18" charset="0"/>
                                </a:rPr>
                                <m:t xml:space="preserve">L</m:t>
                              </m:r>
                            </m:e>
                            <m:sub>
                              <m:r>
                                <a:rPr lang="en-US" sz="1100" i="1">
                                  <a:solidFill>
                                    <a:srgbClr val="111111"/>
                                  </a:solidFill>
                                  <a:latin typeface="Cambria Math" panose="02040503050406030204" pitchFamily="18" charset="0"/>
                                </a:rPr>
                                <m:t xml:space="preserve">u</m:t>
                              </m:r>
                            </m:sub>
                            <m:sup>
                              <m:r>
                                <a:rPr lang="en-US" sz="1100" i="1">
                                  <a:solidFill>
                                    <a:srgbClr val="111111"/>
                                  </a:solidFill>
                                  <a:latin typeface="Cambria Math" panose="02040503050406030204" pitchFamily="18" charset="0"/>
                                </a:rPr>
                                <m:t xml:space="preserve">K</m:t>
                              </m:r>
                            </m:sup>
                          </m:sSubSup>
                          <m:r>
                            <m:rPr>
                              <m:sty m:val="p"/>
                            </m:rPr>
                            <a:rPr lang="en-US" sz="1100">
                              <a:solidFill>
                                <a:srgbClr val="111111"/>
                              </a:solidFill>
                              <a:latin typeface="Cambria Math" panose="02040503050406030204" pitchFamily="18" charset="0"/>
                            </a:rPr>
                            <m:t xml:space="preserve">∩</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num>
                        <m:den>
                          <m:r>
                            <m:rPr>
                              <m:sty m:val="p"/>
                            </m:rPr>
                            <a:rPr lang="en-US" sz="1100">
                              <a:solidFill>
                                <a:srgbClr val="111111"/>
                              </a:solidFill>
                              <a:latin typeface="Cambria Math" panose="02040503050406030204" pitchFamily="18" charset="0"/>
                            </a:rPr>
                            <m:t xml:space="preserve">| </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den>
                      </m:f>
                    </m:oMath>
                  </m:oMathPara>
                </a14:m>
                <a:endParaRPr lang="en-US" sz="1100"/>
              </a:p>
            </p:txBody>
          </p:sp>
        </mc:Choice>
        <mc:Fallback>
          <p:sp>
            <p:nvSpPr>
              <p:cNvPr id="38" name="Equation"/>
              <p:cNvSpPr txBox="1"/>
              <p:nvPr/>
            </p:nvSpPr>
            <p:spPr>
              <a:xfrm>
                <a:off x="3771900" y="4514741"/>
                <a:ext cx="6309360" cy="684675"/>
              </a:xfrm>
              <a:prstGeom prst="rect">
                <a:avLst/>
              </a:prstGeom>
              <a:blipFill>
                <a:blip r:embed="rId6"/>
                <a:stretch>
                  <a:fillRect/>
                </a:stretch>
              </a:blipFill>
            </p:spPr>
            <p:txBody>
              <a:bodyPr/>
              <a:lstStyle/>
              <a:p>
                <a:endParaRPr lang="en-US"/>
              </a:p>
            </p:txBody>
          </p:sp>
        </mc:Fallback>
      </mc:AlternateContent>
      <p:sp>
        <p:nvSpPr>
          <p:cNvPr id="39" name="TextBox 38"/>
          <p:cNvSpPr txBox="1"/>
          <p:nvPr/>
        </p:nvSpPr>
        <p:spPr>
          <a:xfrm>
            <a:off x="10309860" y="4487309"/>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user's relevant items that appear in the top-K list.</a:t>
            </a:r>
          </a:p>
        </p:txBody>
      </p:sp>
      <p:cxnSp>
        <p:nvCxnSpPr>
          <p:cNvPr id="40" name="Connector 39"/>
          <p:cNvCxnSpPr/>
          <p:nvPr/>
        </p:nvCxnSpPr>
        <p:spPr>
          <a:xfrm>
            <a:off x="1028700" y="5226848"/>
            <a:ext cx="16230600" cy="0"/>
          </a:xfrm>
          <a:prstGeom prst="line">
            <a:avLst/>
          </a:prstGeom>
          <a:ln w="12700">
            <a:solidFill>
              <a:srgbClr val="E3D6C4"/>
            </a:solidFill>
          </a:ln>
        </p:spPr>
      </p:cxnSp>
      <p:sp>
        <p:nvSpPr>
          <p:cNvPr id="41" name="Rectangle 40"/>
          <p:cNvSpPr/>
          <p:nvPr/>
        </p:nvSpPr>
        <p:spPr>
          <a:xfrm>
            <a:off x="1028700" y="5226848"/>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42" name="TextBox 41"/>
          <p:cNvSpPr txBox="1"/>
          <p:nvPr/>
        </p:nvSpPr>
        <p:spPr>
          <a:xfrm>
            <a:off x="1165860" y="5226848"/>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Precision@K</a:t>
            </a:r>
          </a:p>
        </p:txBody>
      </p:sp>
      <mc:AlternateContent xmlns:mc="http://schemas.openxmlformats.org/markup-compatibility/2006">
        <mc:Choice xmlns:a14="http://schemas.microsoft.com/office/drawing/2010/main" Requires="a14">
          <p:sp>
            <p:nvSpPr>
              <p:cNvPr id="43" name="Equation"/>
              <p:cNvSpPr txBox="1"/>
              <p:nvPr/>
            </p:nvSpPr>
            <p:spPr>
              <a:xfrm>
                <a:off x="3771900" y="5254280"/>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Precision@</m:t>
                      </m:r>
                      <m:r>
                        <a:rPr lang="en-US" sz="1250" i="1">
                          <a:solidFill>
                            <a:srgbClr val="111111"/>
                          </a:solidFill>
                          <a:latin typeface="Cambria Math" panose="02040503050406030204" pitchFamily="18" charset="0"/>
                        </a:rPr>
                        <m:t xml:space="preserve">K</m:t>
                      </m:r>
                      <m:r>
                        <m:rPr>
                          <m:sty m:val="p"/>
                        </m:rPr>
                        <a:rPr lang="en-US" sz="1250">
                          <a:solidFill>
                            <a:srgbClr val="111111"/>
                          </a:solidFill>
                          <a:latin typeface="Cambria Math" panose="02040503050406030204" pitchFamily="18" charset="0"/>
                        </a:rPr>
                        <m:t xml:space="preserve">=</m:t>
                      </m:r>
                      <m:f>
                        <m:fPr>
                          <m:ctrlPr>
                            <a:rPr lang="en-US" sz="1250" i="1">
                              <a:solidFill>
                                <a:srgbClr val="111111"/>
                              </a:solidFill>
                              <a:latin typeface="Cambria Math" panose="02040503050406030204" pitchFamily="18" charset="0"/>
                            </a:rPr>
                          </m:ctrlPr>
                        </m:fPr>
                        <m:num>
                          <m:r>
                            <m:rPr>
                              <m:sty m:val="p"/>
                            </m:rPr>
                            <a:rPr lang="en-US" sz="1250">
                              <a:solidFill>
                                <a:srgbClr val="111111"/>
                              </a:solidFill>
                              <a:latin typeface="Cambria Math" panose="02040503050406030204" pitchFamily="18" charset="0"/>
                            </a:rPr>
                            <m:t xml:space="preserve">| </m:t>
                          </m:r>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r>
                            <m:rPr>
                              <m:sty m:val="p"/>
                            </m:rPr>
                            <a:rPr lang="en-US" sz="1250">
                              <a:solidFill>
                                <a:srgbClr val="111111"/>
                              </a:solidFill>
                              <a:latin typeface="Cambria Math" panose="02040503050406030204" pitchFamily="18" charset="0"/>
                            </a:rPr>
                            <m:t xml:space="preserve">∩</m:t>
                          </m:r>
                          <m:sSub>
                            <m:sSubPr>
                              <m:ctrlPr>
                                <a:rPr lang="en-US" sz="1250" i="1">
                                  <a:solidFill>
                                    <a:srgbClr val="111111"/>
                                  </a:solidFill>
                                  <a:latin typeface="Cambria Math" panose="02040503050406030204" pitchFamily="18" charset="0"/>
                                </a:rPr>
                              </m:ctrlPr>
                            </m:sSubPr>
                            <m:e>
                              <m:r>
                                <m:rPr>
                                  <m:scr m:val="script"/>
                                  <m:sty m:val="p"/>
                                </m:rPr>
                                <a:rPr lang="en-US" sz="1250">
                                  <a:solidFill>
                                    <a:srgbClr val="111111"/>
                                  </a:solidFill>
                                  <a:latin typeface="Cambria Math" panose="02040503050406030204" pitchFamily="18" charset="0"/>
                                </a:rPr>
                                <m:t xml:space="preserve">R</m:t>
                              </m:r>
                            </m:e>
                            <m:sub>
                              <m:r>
                                <a:rPr lang="en-US" sz="1250" i="1">
                                  <a:solidFill>
                                    <a:srgbClr val="111111"/>
                                  </a:solidFill>
                                  <a:latin typeface="Cambria Math" panose="02040503050406030204" pitchFamily="18" charset="0"/>
                                </a:rPr>
                                <m:t xml:space="preserve">u</m:t>
                              </m:r>
                            </m:sub>
                          </m:sSub>
                          <m:r>
                            <m:rPr>
                              <m:sty m:val="p"/>
                            </m:rPr>
                            <a:rPr lang="en-US" sz="1250">
                              <a:solidFill>
                                <a:srgbClr val="111111"/>
                              </a:solidFill>
                              <a:latin typeface="Cambria Math" panose="02040503050406030204" pitchFamily="18" charset="0"/>
                            </a:rPr>
                            <m:t xml:space="preserve"> |</m:t>
                          </m:r>
                        </m:num>
                        <m:den>
                          <m:r>
                            <a:rPr lang="en-US" sz="1250" i="1">
                              <a:solidFill>
                                <a:srgbClr val="111111"/>
                              </a:solidFill>
                              <a:latin typeface="Cambria Math" panose="02040503050406030204" pitchFamily="18" charset="0"/>
                            </a:rPr>
                            <m:t xml:space="preserve">K</m:t>
                          </m:r>
                        </m:den>
                      </m:f>
                    </m:oMath>
                  </m:oMathPara>
                </a14:m>
                <a:endParaRPr lang="en-US" sz="1250"/>
              </a:p>
            </p:txBody>
          </p:sp>
        </mc:Choice>
        <mc:Fallback>
          <p:sp>
            <p:nvSpPr>
              <p:cNvPr id="43" name="Equation"/>
              <p:cNvSpPr txBox="1"/>
              <p:nvPr/>
            </p:nvSpPr>
            <p:spPr>
              <a:xfrm>
                <a:off x="3771900" y="5254280"/>
                <a:ext cx="6309360" cy="684675"/>
              </a:xfrm>
              <a:prstGeom prst="rect">
                <a:avLst/>
              </a:prstGeom>
              <a:blipFill>
                <a:blip r:embed="rId7"/>
                <a:stretch>
                  <a:fillRect/>
                </a:stretch>
              </a:blipFill>
            </p:spPr>
            <p:txBody>
              <a:bodyPr/>
              <a:lstStyle/>
              <a:p>
                <a:endParaRPr lang="en-US"/>
              </a:p>
            </p:txBody>
          </p:sp>
        </mc:Fallback>
      </mc:AlternateContent>
      <p:sp>
        <p:nvSpPr>
          <p:cNvPr id="44" name="TextBox 43"/>
          <p:cNvSpPr txBox="1"/>
          <p:nvPr/>
        </p:nvSpPr>
        <p:spPr>
          <a:xfrm>
            <a:off x="10309860" y="5226848"/>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top-K list that is relevant.</a:t>
            </a:r>
          </a:p>
        </p:txBody>
      </p:sp>
      <p:cxnSp>
        <p:nvCxnSpPr>
          <p:cNvPr id="45" name="Connector 44"/>
          <p:cNvCxnSpPr/>
          <p:nvPr/>
        </p:nvCxnSpPr>
        <p:spPr>
          <a:xfrm>
            <a:off x="1028700" y="5966387"/>
            <a:ext cx="16230600" cy="0"/>
          </a:xfrm>
          <a:prstGeom prst="line">
            <a:avLst/>
          </a:prstGeom>
          <a:ln w="12700">
            <a:solidFill>
              <a:srgbClr val="E3D6C4"/>
            </a:solidFill>
          </a:ln>
        </p:spPr>
      </p:cxnSp>
      <p:sp>
        <p:nvSpPr>
          <p:cNvPr id="46" name="Rectangle 45"/>
          <p:cNvSpPr/>
          <p:nvPr/>
        </p:nvSpPr>
        <p:spPr>
          <a:xfrm>
            <a:off x="1028700" y="5966387"/>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47" name="TextBox 46"/>
          <p:cNvSpPr txBox="1"/>
          <p:nvPr/>
        </p:nvSpPr>
        <p:spPr>
          <a:xfrm>
            <a:off x="1165860" y="5966387"/>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Catalogue Coverage</a:t>
            </a:r>
          </a:p>
        </p:txBody>
      </p:sp>
      <mc:AlternateContent xmlns:mc="http://schemas.openxmlformats.org/markup-compatibility/2006">
        <mc:Choice xmlns:a14="http://schemas.microsoft.com/office/drawing/2010/main" Requires="a14">
          <p:sp>
            <p:nvSpPr>
              <p:cNvPr id="48" name="Equation"/>
              <p:cNvSpPr txBox="1"/>
              <p:nvPr/>
            </p:nvSpPr>
            <p:spPr>
              <a:xfrm>
                <a:off x="3771900" y="5993819"/>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Cov=</m:t>
                      </m:r>
                      <m:f>
                        <m:fPr>
                          <m:ctrlPr>
                            <a:rPr lang="en-US" sz="1250" i="1">
                              <a:solidFill>
                                <a:srgbClr val="111111"/>
                              </a:solidFill>
                              <a:latin typeface="Cambria Math" panose="02040503050406030204" pitchFamily="18" charset="0"/>
                            </a:rPr>
                          </m:ctrlPr>
                        </m:fPr>
                        <m:num>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nary>
                                <m:naryPr>
                                  <m:chr m:val="⋃"/>
                                  <m:limLoc m:val="subSup"/>
                                  <m:supHide m:val="1"/>
                                  <m:ctrlPr>
                                    <a:rPr lang="en-US" sz="1250" i="1">
                                      <a:solidFill>
                                        <a:srgbClr val="111111"/>
                                      </a:solidFill>
                                      <a:latin typeface="Cambria Math" panose="02040503050406030204" pitchFamily="18" charset="0"/>
                                    </a:rPr>
                                  </m:ctrlPr>
                                </m:naryPr>
                                <m:sub>
                                  <m:r>
                                    <a:rPr lang="en-US" sz="1250" i="1">
                                      <a:solidFill>
                                        <a:srgbClr val="111111"/>
                                      </a:solidFill>
                                      <a:latin typeface="Cambria Math" panose="02040503050406030204" pitchFamily="18" charset="0"/>
                                    </a:rPr>
                                    <m:t xml:space="preserve">u</m:t>
                                  </m:r>
                                </m:sub>
                                <m:sup/>
                                <m:e>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e>
                              </m:nary>
                              <m:r>
                                <m:rPr>
                                  <m:sty m:val="p"/>
                                </m:rPr>
                                <a:rPr lang="en-US" sz="1250">
                                  <a:solidFill>
                                    <a:srgbClr val="111111"/>
                                  </a:solidFill>
                                  <a:latin typeface="Cambria Math" panose="02040503050406030204" pitchFamily="18" charset="0"/>
                                </a:rPr>
                                <m:t xml:space="preserve"> </m:t>
                              </m:r>
                            </m:e>
                          </m:d>
                        </m:num>
                        <m:den>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r>
                                <a:rPr lang="en-US" sz="1250" i="1">
                                  <a:solidFill>
                                    <a:srgbClr val="111111"/>
                                  </a:solidFill>
                                  <a:latin typeface="Cambria Math" panose="02040503050406030204" pitchFamily="18" charset="0"/>
                                </a:rPr>
                                <m:t xml:space="preserve">I</m:t>
                              </m:r>
                              <m:r>
                                <m:rPr>
                                  <m:sty m:val="p"/>
                                </m:rPr>
                                <a:rPr lang="en-US" sz="1250">
                                  <a:solidFill>
                                    <a:srgbClr val="111111"/>
                                  </a:solidFill>
                                  <a:latin typeface="Cambria Math" panose="02040503050406030204" pitchFamily="18" charset="0"/>
                                </a:rPr>
                                <m:t xml:space="preserve"> </m:t>
                              </m:r>
                            </m:e>
                          </m:d>
                        </m:den>
                      </m:f>
                    </m:oMath>
                  </m:oMathPara>
                </a14:m>
                <a:endParaRPr lang="en-US" sz="1250"/>
              </a:p>
            </p:txBody>
          </p:sp>
        </mc:Choice>
        <mc:Fallback>
          <p:sp>
            <p:nvSpPr>
              <p:cNvPr id="48" name="Equation"/>
              <p:cNvSpPr txBox="1"/>
              <p:nvPr/>
            </p:nvSpPr>
            <p:spPr>
              <a:xfrm>
                <a:off x="3771900" y="5993819"/>
                <a:ext cx="6309360" cy="684675"/>
              </a:xfrm>
              <a:prstGeom prst="rect">
                <a:avLst/>
              </a:prstGeom>
              <a:blipFill>
                <a:blip r:embed="rId8"/>
                <a:stretch>
                  <a:fillRect/>
                </a:stretch>
              </a:blipFill>
            </p:spPr>
            <p:txBody>
              <a:bodyPr/>
              <a:lstStyle/>
              <a:p>
                <a:endParaRPr lang="en-US"/>
              </a:p>
            </p:txBody>
          </p:sp>
        </mc:Fallback>
      </mc:AlternateContent>
      <p:sp>
        <p:nvSpPr>
          <p:cNvPr id="49" name="TextBox 48"/>
          <p:cNvSpPr txBox="1"/>
          <p:nvPr/>
        </p:nvSpPr>
        <p:spPr>
          <a:xfrm>
            <a:off x="10309860" y="5966387"/>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System-level diversity: how much of the catalogue is ever recommended.</a:t>
            </a:r>
          </a:p>
        </p:txBody>
      </p:sp>
      <p:cxnSp>
        <p:nvCxnSpPr>
          <p:cNvPr id="50" name="Connector 49"/>
          <p:cNvCxnSpPr/>
          <p:nvPr/>
        </p:nvCxnSpPr>
        <p:spPr>
          <a:xfrm>
            <a:off x="1028700" y="6705926"/>
            <a:ext cx="16230600" cy="0"/>
          </a:xfrm>
          <a:prstGeom prst="line">
            <a:avLst/>
          </a:prstGeom>
          <a:ln w="12700">
            <a:solidFill>
              <a:srgbClr val="E3D6C4"/>
            </a:solidFill>
          </a:ln>
        </p:spPr>
      </p:cxnSp>
      <p:sp>
        <p:nvSpPr>
          <p:cNvPr id="51" name="Rectangle 50"/>
          <p:cNvSpPr/>
          <p:nvPr/>
        </p:nvSpPr>
        <p:spPr>
          <a:xfrm>
            <a:off x="1028700" y="6705926"/>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52" name="TextBox 51"/>
          <p:cNvSpPr txBox="1"/>
          <p:nvPr/>
        </p:nvSpPr>
        <p:spPr>
          <a:xfrm>
            <a:off x="1165860" y="6705926"/>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Intra-List Diversity</a:t>
            </a:r>
          </a:p>
        </p:txBody>
      </p:sp>
      <mc:AlternateContent xmlns:mc="http://schemas.openxmlformats.org/markup-compatibility/2006">
        <mc:Choice xmlns:a14="http://schemas.microsoft.com/office/drawing/2010/main" Requires="a14">
          <p:sp>
            <p:nvSpPr>
              <p:cNvPr id="53" name="Equation"/>
              <p:cNvSpPr txBox="1"/>
              <p:nvPr/>
            </p:nvSpPr>
            <p:spPr>
              <a:xfrm>
                <a:off x="3771900" y="6733358"/>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ILD(</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L</m:t>
                          </m:r>
                        </m:e>
                        <m:sub>
                          <m:r>
                            <a:rPr lang="en-US" sz="1150" i="1">
                              <a:solidFill>
                                <a:srgbClr val="111111"/>
                              </a:solidFill>
                              <a:latin typeface="Cambria Math" panose="02040503050406030204" pitchFamily="18" charset="0"/>
                            </a:rPr>
                            <m:t xml:space="preserve">u</m:t>
                          </m:r>
                        </m:sub>
                      </m:sSub>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2</m:t>
                          </m:r>
                        </m:num>
                        <m:den>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−1)</m:t>
                          </m:r>
                        </m:den>
                      </m:f>
                      <m:nary>
                        <m:naryPr>
                          <m:chr m:val="∑"/>
                          <m:limLoc m:val="subSup"/>
                          <m:supHide m:val="1"/>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&lt;</m:t>
                          </m:r>
                          <m:r>
                            <a:rPr lang="en-US" sz="1150" i="1">
                              <a:solidFill>
                                <a:srgbClr val="111111"/>
                              </a:solidFill>
                              <a:latin typeface="Cambria Math" panose="02040503050406030204" pitchFamily="18" charset="0"/>
                            </a:rPr>
                            <m:t xml:space="preserve">j</m:t>
                          </m:r>
                        </m:sub>
                        <m:sup/>
                        <m:e>
                          <m:d>
                            <m:dPr>
                              <m:ctrlPr>
                                <a:rPr lang="en-US" sz="1150" i="1">
                                  <a:solidFill>
                                    <a:srgbClr val="111111"/>
                                  </a:solidFill>
                                  <a:latin typeface="Cambria Math" panose="02040503050406030204" pitchFamily="18" charset="0"/>
                                </a:rPr>
                              </m:ctrlPr>
                            </m:dPr>
                            <m:e>
                              <m:r>
                                <m:rPr>
                                  <m:sty m:val="p"/>
                                </m:rPr>
                                <a:rPr lang="en-US" sz="1150">
                                  <a:solidFill>
                                    <a:srgbClr val="111111"/>
                                  </a:solidFill>
                                  <a:latin typeface="Cambria Math" panose="02040503050406030204" pitchFamily="18" charset="0"/>
                                </a:rPr>
                                <m:t xml:space="preserve">1−sim(</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j</m:t>
                              </m:r>
                              <m:r>
                                <m:rPr>
                                  <m:sty m:val="p"/>
                                </m:rPr>
                                <a:rPr lang="en-US" sz="1150">
                                  <a:solidFill>
                                    <a:srgbClr val="111111"/>
                                  </a:solidFill>
                                  <a:latin typeface="Cambria Math" panose="02040503050406030204" pitchFamily="18" charset="0"/>
                                </a:rPr>
                                <m:t xml:space="preserve">)</m:t>
                              </m:r>
                            </m:e>
                          </m:d>
                        </m:e>
                      </m:nary>
                    </m:oMath>
                  </m:oMathPara>
                </a14:m>
                <a:endParaRPr lang="en-US" sz="1150"/>
              </a:p>
            </p:txBody>
          </p:sp>
        </mc:Choice>
        <mc:Fallback>
          <p:sp>
            <p:nvSpPr>
              <p:cNvPr id="53" name="Equation"/>
              <p:cNvSpPr txBox="1"/>
              <p:nvPr/>
            </p:nvSpPr>
            <p:spPr>
              <a:xfrm>
                <a:off x="3771900" y="6733358"/>
                <a:ext cx="6309360" cy="684675"/>
              </a:xfrm>
              <a:prstGeom prst="rect">
                <a:avLst/>
              </a:prstGeom>
              <a:blipFill>
                <a:blip r:embed="rId9"/>
                <a:stretch>
                  <a:fillRect/>
                </a:stretch>
              </a:blipFill>
            </p:spPr>
            <p:txBody>
              <a:bodyPr/>
              <a:lstStyle/>
              <a:p>
                <a:endParaRPr lang="en-US"/>
              </a:p>
            </p:txBody>
          </p:sp>
        </mc:Fallback>
      </mc:AlternateContent>
      <p:sp>
        <p:nvSpPr>
          <p:cNvPr id="54" name="TextBox 53"/>
          <p:cNvSpPr txBox="1"/>
          <p:nvPr/>
        </p:nvSpPr>
        <p:spPr>
          <a:xfrm>
            <a:off x="10309860" y="6705926"/>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List-level diversity; built into the DyHuCoG coalition utility.</a:t>
            </a:r>
          </a:p>
        </p:txBody>
      </p:sp>
      <p:cxnSp>
        <p:nvCxnSpPr>
          <p:cNvPr id="55" name="Connector 54"/>
          <p:cNvCxnSpPr/>
          <p:nvPr/>
        </p:nvCxnSpPr>
        <p:spPr>
          <a:xfrm>
            <a:off x="1028700" y="7445465"/>
            <a:ext cx="16230600" cy="0"/>
          </a:xfrm>
          <a:prstGeom prst="line">
            <a:avLst/>
          </a:prstGeom>
          <a:ln w="12700">
            <a:solidFill>
              <a:srgbClr val="E3D6C4"/>
            </a:solidFill>
          </a:ln>
        </p:spPr>
      </p:cxnSp>
      <p:sp>
        <p:nvSpPr>
          <p:cNvPr id="56" name="Rectangle 55"/>
          <p:cNvSpPr/>
          <p:nvPr/>
        </p:nvSpPr>
        <p:spPr>
          <a:xfrm>
            <a:off x="1028700" y="7445465"/>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57" name="TextBox 56"/>
          <p:cNvSpPr txBox="1"/>
          <p:nvPr/>
        </p:nvSpPr>
        <p:spPr>
          <a:xfrm>
            <a:off x="1165860" y="7445465"/>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Silhouette</a:t>
            </a:r>
          </a:p>
        </p:txBody>
      </p:sp>
      <mc:AlternateContent xmlns:mc="http://schemas.openxmlformats.org/markup-compatibility/2006">
        <mc:Choice xmlns:a14="http://schemas.microsoft.com/office/drawing/2010/main" Requires="a14">
          <p:sp>
            <p:nvSpPr>
              <p:cNvPr id="58" name="Equation"/>
              <p:cNvSpPr txBox="1"/>
              <p:nvPr/>
            </p:nvSpPr>
            <p:spPr>
              <a:xfrm>
                <a:off x="3771900" y="7472897"/>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num>
                        <m:den>
                          <m:r>
                            <m:rPr>
                              <m:sty m:val="p"/>
                            </m:rPr>
                            <a:rPr lang="en-US" sz="1150">
                              <a:solidFill>
                                <a:srgbClr val="111111"/>
                              </a:solidFill>
                              <a:latin typeface="Cambria Math" panose="02040503050406030204" pitchFamily="18" charset="0"/>
                            </a:rPr>
                            <m:t xml:space="preserve">max{</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den>
                      </m:f>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∈[−1,1]</m:t>
                      </m:r>
                    </m:oMath>
                  </m:oMathPara>
                </a14:m>
                <a:endParaRPr lang="en-US" sz="1150"/>
              </a:p>
            </p:txBody>
          </p:sp>
        </mc:Choice>
        <mc:Fallback>
          <p:sp>
            <p:nvSpPr>
              <p:cNvPr id="58" name="Equation"/>
              <p:cNvSpPr txBox="1"/>
              <p:nvPr/>
            </p:nvSpPr>
            <p:spPr>
              <a:xfrm>
                <a:off x="3771900" y="7472897"/>
                <a:ext cx="6309360" cy="684675"/>
              </a:xfrm>
              <a:prstGeom prst="rect">
                <a:avLst/>
              </a:prstGeom>
              <a:blipFill>
                <a:blip r:embed="rId10"/>
                <a:stretch>
                  <a:fillRect/>
                </a:stretch>
              </a:blipFill>
            </p:spPr>
            <p:txBody>
              <a:bodyPr/>
              <a:lstStyle/>
              <a:p>
                <a:endParaRPr lang="en-US"/>
              </a:p>
            </p:txBody>
          </p:sp>
        </mc:Fallback>
      </mc:AlternateContent>
      <p:sp>
        <p:nvSpPr>
          <p:cNvPr id="59" name="TextBox 58"/>
          <p:cNvSpPr txBox="1"/>
          <p:nvPr/>
        </p:nvSpPr>
        <p:spPr>
          <a:xfrm>
            <a:off x="10309860" y="7445465"/>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Clustering quality; the value function of the clustering game (C1, C2).</a:t>
            </a:r>
          </a:p>
        </p:txBody>
      </p:sp>
      <p:cxnSp>
        <p:nvCxnSpPr>
          <p:cNvPr id="60" name="Connector 59"/>
          <p:cNvCxnSpPr/>
          <p:nvPr/>
        </p:nvCxnSpPr>
        <p:spPr>
          <a:xfrm>
            <a:off x="1028700" y="8185004"/>
            <a:ext cx="16230600" cy="0"/>
          </a:xfrm>
          <a:prstGeom prst="line">
            <a:avLst/>
          </a:prstGeom>
          <a:ln w="12700">
            <a:solidFill>
              <a:srgbClr val="E3D6C4"/>
            </a:solidFill>
          </a:ln>
        </p:spPr>
      </p:cxnSp>
      <p:sp>
        <p:nvSpPr>
          <p:cNvPr id="61" name="Rectangle 60"/>
          <p:cNvSpPr/>
          <p:nvPr/>
        </p:nvSpPr>
        <p:spPr>
          <a:xfrm>
            <a:off x="1028700" y="8185004"/>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62" name="TextBox 61"/>
          <p:cNvSpPr txBox="1"/>
          <p:nvPr/>
        </p:nvSpPr>
        <p:spPr>
          <a:xfrm>
            <a:off x="1165860" y="8185004"/>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Davies–Bouldin</a:t>
            </a:r>
          </a:p>
        </p:txBody>
      </p:sp>
      <mc:AlternateContent xmlns:mc="http://schemas.openxmlformats.org/markup-compatibility/2006">
        <mc:Choice xmlns:a14="http://schemas.microsoft.com/office/drawing/2010/main" Requires="a14">
          <p:sp>
            <p:nvSpPr>
              <p:cNvPr id="63" name="Equation"/>
              <p:cNvSpPr txBox="1"/>
              <p:nvPr/>
            </p:nvSpPr>
            <p:spPr>
              <a:xfrm>
                <a:off x="3771900" y="8212436"/>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DB=</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a:rPr lang="en-US" sz="1150" i="1">
                              <a:solidFill>
                                <a:srgbClr val="111111"/>
                              </a:solidFill>
                              <a:latin typeface="Cambria Math" panose="02040503050406030204" pitchFamily="18" charset="0"/>
                            </a:rPr>
                            <m:t xml:space="preserve">k</m:t>
                          </m:r>
                        </m:den>
                      </m:f>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max</m:t>
                              </m:r>
                            </m:e>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c</m:t>
                              </m:r>
                            </m:sub>
                          </m:sSub>
                        </m:e>
                      </m:nary>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num>
                        <m:den>
                          <m:r>
                            <a:rPr lang="en-US" sz="1150" i="1">
                              <a:solidFill>
                                <a:srgbClr val="111111"/>
                              </a:solidFill>
                              <a:latin typeface="Cambria Math" panose="02040503050406030204" pitchFamily="18" charset="0"/>
                            </a:rPr>
                            <m:t xml:space="preserve">d</m:t>
                          </m:r>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den>
                      </m:f>
                    </m:oMath>
                  </m:oMathPara>
                </a14:m>
                <a:endParaRPr lang="en-US" sz="1150"/>
              </a:p>
            </p:txBody>
          </p:sp>
        </mc:Choice>
        <mc:Fallback>
          <p:sp>
            <p:nvSpPr>
              <p:cNvPr id="63" name="Equation"/>
              <p:cNvSpPr txBox="1"/>
              <p:nvPr/>
            </p:nvSpPr>
            <p:spPr>
              <a:xfrm>
                <a:off x="3771900" y="8212436"/>
                <a:ext cx="6309360" cy="684675"/>
              </a:xfrm>
              <a:prstGeom prst="rect">
                <a:avLst/>
              </a:prstGeom>
              <a:blipFill>
                <a:blip r:embed="rId11"/>
                <a:stretch>
                  <a:fillRect/>
                </a:stretch>
              </a:blipFill>
            </p:spPr>
            <p:txBody>
              <a:bodyPr/>
              <a:lstStyle/>
              <a:p>
                <a:endParaRPr lang="en-US"/>
              </a:p>
            </p:txBody>
          </p:sp>
        </mc:Fallback>
      </mc:AlternateContent>
      <p:sp>
        <p:nvSpPr>
          <p:cNvPr id="64" name="TextBox 63"/>
          <p:cNvSpPr txBox="1"/>
          <p:nvPr/>
        </p:nvSpPr>
        <p:spPr>
          <a:xfrm>
            <a:off x="10309860" y="8185004"/>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 overlap; lower is better.</a:t>
            </a:r>
          </a:p>
        </p:txBody>
      </p:sp>
      <p:cxnSp>
        <p:nvCxnSpPr>
          <p:cNvPr id="65" name="Connector 64"/>
          <p:cNvCxnSpPr/>
          <p:nvPr/>
        </p:nvCxnSpPr>
        <p:spPr>
          <a:xfrm>
            <a:off x="1028700" y="8924544"/>
            <a:ext cx="16230600" cy="0"/>
          </a:xfrm>
          <a:prstGeom prst="line">
            <a:avLst/>
          </a:prstGeom>
          <a:ln w="12700">
            <a:solidFill>
              <a:srgbClr val="E3D6C4"/>
            </a:solidFill>
          </a:ln>
        </p:spPr>
      </p:cxnSp>
      <p:sp>
        <p:nvSpPr>
          <p:cNvPr id="66" name="TextBox 65"/>
          <p:cNvSpPr txBox="1"/>
          <p:nvPr/>
        </p:nvSpPr>
        <p:spPr>
          <a:xfrm>
            <a:off x="1028700" y="8997696"/>
            <a:ext cx="1623060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Notation:</a:t>
            </a:r>
            <a:r>
              <a:rPr lang="en-US" sz="1300" b="true">
                <a:solidFill>
                  <a:srgbClr val="8A8378"/>
                </a:solidFill>
                <a:latin typeface="Nunito Semi-Bold"/>
                <a:ea typeface="Nunito Semi-Bold"/>
                <a:cs typeface="Nunito Semi-Bold"/>
                <a:sym typeface="Nunito Semi-Bold"/>
              </a:rPr>
              <a:t> L</a:t>
            </a:r>
            <a:r>
              <a:rPr lang="en-US" sz="1300" b="true" baseline="-25000">
                <a:solidFill>
                  <a:srgbClr val="8A8378"/>
                </a:solidFill>
                <a:latin typeface="Nunito Semi-Bold"/>
                <a:ea typeface="Nunito Semi-Bold"/>
                <a:cs typeface="Nunito Semi-Bold"/>
                <a:sym typeface="Nunito Semi-Bold"/>
              </a:rPr>
              <a:t>u</a:t>
            </a:r>
            <a:r>
              <a:rPr lang="en-US" sz="1300" b="true" baseline="30000">
                <a:solidFill>
                  <a:srgbClr val="8A8378"/>
                </a:solidFill>
                <a:latin typeface="Nunito Semi-Bold"/>
                <a:ea typeface="Nunito Semi-Bold"/>
                <a:cs typeface="Nunito Semi-Bold"/>
                <a:sym typeface="Nunito Semi-Bold"/>
              </a:rPr>
              <a:t>K</a:t>
            </a:r>
            <a:r>
              <a:rPr lang="en-US" sz="1300" b="true">
                <a:solidFill>
                  <a:srgbClr val="8A8378"/>
                </a:solidFill>
                <a:latin typeface="Nunito Semi-Bold"/>
                <a:ea typeface="Nunito Semi-Bold"/>
                <a:cs typeface="Nunito Semi-Bold"/>
                <a:sym typeface="Nunito Semi-Bold"/>
              </a:rPr>
              <a:t> = top-K list of user u; </a:t>
            </a:r>
            <a:r>
              <a:rPr lang="en-US" sz="1300" b="true">
                <a:solidFill>
                  <a:srgbClr val="8A8378"/>
                </a:solidFill>
                <a:latin typeface="Cambria Math"/>
                <a:ea typeface="Cambria Math"/>
                <a:cs typeface="Cambria Math"/>
                <a:sym typeface="Cambria Math"/>
              </a:rPr>
              <a:t>ℛ</a:t>
            </a:r>
            <a:r>
              <a:rPr lang="en-US" sz="1300" b="true" baseline="-25000">
                <a:solidFill>
                  <a:srgbClr val="8A8378"/>
                </a:solidFill>
                <a:latin typeface="Nunito Semi-Bold"/>
                <a:ea typeface="Nunito Semi-Bold"/>
                <a:cs typeface="Nunito Semi-Bold"/>
                <a:sym typeface="Nunito Semi-Bold"/>
              </a:rPr>
              <a:t>u</a:t>
            </a:r>
            <a:r>
              <a:rPr lang="en-US" sz="1300" b="true">
                <a:solidFill>
                  <a:srgbClr val="8A8378"/>
                </a:solidFill>
                <a:latin typeface="Nunito Semi-Bold"/>
                <a:ea typeface="Nunito Semi-Bold"/>
                <a:cs typeface="Nunito Semi-Bold"/>
                <a:sym typeface="Nunito Semi-Bold"/>
              </a:rPr>
              <a:t> = relevant (held-out) items of u; rel</a:t>
            </a:r>
            <a:r>
              <a:rPr lang="en-US" sz="1300" b="true" baseline="-25000">
                <a:solidFill>
                  <a:srgbClr val="8A8378"/>
                </a:solidFill>
                <a:latin typeface="Nunito Semi-Bold"/>
                <a:ea typeface="Nunito Semi-Bold"/>
                <a:cs typeface="Nunito Semi-Bold"/>
                <a:sym typeface="Nunito Semi-Bold"/>
              </a:rPr>
              <a:t>i</a:t>
            </a:r>
            <a:r>
              <a:rPr lang="en-US" sz="1300" b="true">
                <a:solidFill>
                  <a:srgbClr val="8A8378"/>
                </a:solidFill>
                <a:latin typeface="Cambria Math"/>
                <a:ea typeface="Cambria Math"/>
                <a:cs typeface="Cambria Math"/>
                <a:sym typeface="Cambria Math"/>
              </a:rPr>
              <a:t> ∈ </a:t>
            </a:r>
            <a:r>
              <a:rPr lang="en-US" sz="1300" b="true">
                <a:solidFill>
                  <a:srgbClr val="8A8378"/>
                </a:solidFill>
                <a:latin typeface="Nunito Semi-Bold"/>
                <a:ea typeface="Nunito Semi-Bold"/>
                <a:cs typeface="Nunito Semi-Bold"/>
                <a:sym typeface="Nunito Semi-Bold"/>
              </a:rPr>
              <a:t>{0,1}; a(x), b(x) = mean intra- and nearest-cluster distance; </a:t>
            </a:r>
            <a:r>
              <a:rPr lang="en-US" sz="1300" b="true">
                <a:solidFill>
                  <a:srgbClr val="8A8378"/>
                </a:solidFill>
                <a:latin typeface="Calibri"/>
                <a:ea typeface="Calibri"/>
                <a:cs typeface="Calibri"/>
                <a:sym typeface="Calibri"/>
              </a:rPr>
              <a:t>σ</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μ</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 spread and centroid of cluster c. Reported at K </a:t>
            </a:r>
            <a:r>
              <a:rPr lang="en-US" sz="1300" b="true">
                <a:solidFill>
                  <a:srgbClr val="8A8378"/>
                </a:solidFill>
                <a:latin typeface="Cambria Math"/>
                <a:ea typeface="Cambria Math"/>
                <a:cs typeface="Cambria Math"/>
                <a:sym typeface="Cambria Math"/>
              </a:rPr>
              <a:t>∈ </a:t>
            </a:r>
            <a:r>
              <a:rPr lang="en-US" sz="1300" b="true">
                <a:solidFill>
                  <a:srgbClr val="8A8378"/>
                </a:solidFill>
                <a:latin typeface="Nunito Semi-Bold"/>
                <a:ea typeface="Nunito Semi-Bold"/>
                <a:cs typeface="Nunito Semi-Bold"/>
                <a:sym typeface="Nunito Semi-Bold"/>
              </a:rPr>
              <a:t>{5, 10, 20}; NDCG@20 is the main measure.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Hardware &amp; Software</a:t>
            </a:r>
          </a:p>
        </p:txBody>
      </p:sp>
      <p:pic>
        <p:nvPicPr>
          <p:cNvPr id="23" name="Picture 22" descr="image.png"/>
          <p:cNvPicPr>
            <a:picLocks noChangeAspect="1"/>
          </p:cNvPicPr>
          <p:nvPr/>
        </p:nvPicPr>
        <p:blipFill>
          <a:blip r:embed="rId3"/>
          <a:stretch>
            <a:fillRect/>
          </a:stretch>
        </p:blipFill>
        <p:spPr>
          <a:xfrm>
            <a:off x="7035228" y="1673352"/>
            <a:ext cx="457200" cy="427074"/>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3108960"/>
        </p:xfrm>
        <a:graphic>
          <a:graphicData uri="http://schemas.openxmlformats.org/drawingml/2006/table">
            <a:tbl>
              <a:tblPr firstRow="0" bandRow="0" firstCol="0" lastRow="0" lastCol="0" bandCol="0">
                <a:tableStyleId>{2D5ABB26-0587-4C30-8999-92F81FD0307C}</a:tableStyleId>
              </a:tblPr>
              <a:tblGrid>
                <a:gridCol w="2705100"/>
                <a:gridCol w="2080846"/>
                <a:gridCol w="3537438"/>
                <a:gridCol w="2705100"/>
                <a:gridCol w="1456592"/>
                <a:gridCol w="3745523"/>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Hardware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CPU / GPU</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RAM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Storage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Main software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  ·  Wine 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 Altair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  ·  Beijing multi-level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 (full dataset in memory)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III  ·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 + GPU</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NVIDIA GeForce RTX 4090 (24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Python 3.8, PyTorch 2.0.1, NumPy / SciPy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TextBox 27"/>
          <p:cNvSpPr txBox="1"/>
          <p:nvPr/>
        </p:nvSpPr>
        <p:spPr>
          <a:xfrm>
            <a:off x="1028700" y="6545834"/>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4.2 (thesis): hardware and software configuration, arranged here by contribution.</a:t>
            </a:r>
          </a:p>
        </p:txBody>
      </p:sp>
      <p:sp>
        <p:nvSpPr>
          <p:cNvPr id="29" name="Rounded Rectangle 28"/>
          <p:cNvSpPr/>
          <p:nvPr/>
        </p:nvSpPr>
        <p:spPr>
          <a:xfrm>
            <a:off x="1028700" y="7249922"/>
            <a:ext cx="7932420" cy="1967230"/>
          </a:xfrm>
          <a:prstGeom prst="roundRect">
            <a:avLst>
              <a:gd name="adj" fmla="val 15803"/>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485900" y="70121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31" name="TextBox 30"/>
          <p:cNvSpPr txBox="1"/>
          <p:nvPr/>
        </p:nvSpPr>
        <p:spPr>
          <a:xfrm>
            <a:off x="148590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The hardware explains the </a:t>
            </a:r>
            <a:r>
              <a:rPr lang="en-US" sz="1547" b="true">
                <a:solidFill>
                  <a:srgbClr val="FFFFFF"/>
                </a:solidFill>
                <a:latin typeface="Nunito Bold"/>
                <a:ea typeface="Nunito Bold"/>
                <a:cs typeface="Nunito Bold"/>
                <a:sym typeface="Nunito Bold"/>
              </a:rPr>
              <a:t>runtime figures</a:t>
            </a:r>
            <a:r>
              <a:rPr lang="en-US" sz="1547" b="true">
                <a:solidFill>
                  <a:srgbClr val="FFFFFF"/>
                </a:solidFill>
                <a:latin typeface="Nunito Semi-Bold"/>
                <a:ea typeface="Nunito Semi-Bold"/>
                <a:cs typeface="Nunito Semi-Bold"/>
                <a:sym typeface="Nunito Semi-Bold"/>
              </a:rPr>
              <a:t> quoted later (DyHuCoG ≈ 1.78× HPCF training time on MovieLens-1M).</a:t>
            </a:r>
          </a:p>
          <a:p>
            <a:pPr algn="l" marL="274320" indent="-274320">
              <a:lnSpc>
                <a:spcPts val="2166"/>
              </a:lnSpc>
              <a:spcBef>
                <a:spcPts val="546"/>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Metrics at K </a:t>
            </a:r>
            <a:r>
              <a:rPr lang="en-US" sz="1547" b="true">
                <a:solidFill>
                  <a:srgbClr val="FFFFFF"/>
                </a:solidFill>
                <a:latin typeface="Cambria Math"/>
                <a:ea typeface="Cambria Math"/>
                <a:cs typeface="Cambria Math"/>
                <a:sym typeface="Cambria Math"/>
              </a:rPr>
              <a:t>∈ </a:t>
            </a:r>
            <a:r>
              <a:rPr lang="en-US" sz="1547" b="true">
                <a:solidFill>
                  <a:srgbClr val="FFFFFF"/>
                </a:solidFill>
                <a:latin typeface="Nunito Semi-Bold"/>
                <a:ea typeface="Nunito Semi-Bold"/>
                <a:cs typeface="Nunito Semi-Bold"/>
                <a:sym typeface="Nunito Semi-Bold"/>
              </a:rPr>
              <a:t>{5, 10, 20}; five seeds; early stopping on validation NDCG@20.</a:t>
            </a:r>
          </a:p>
        </p:txBody>
      </p:sp>
      <p:sp>
        <p:nvSpPr>
          <p:cNvPr id="32" name="Rounded Rectangle 31"/>
          <p:cNvSpPr/>
          <p:nvPr/>
        </p:nvSpPr>
        <p:spPr>
          <a:xfrm>
            <a:off x="9326880" y="7249922"/>
            <a:ext cx="7932420" cy="1967230"/>
          </a:xfrm>
          <a:prstGeom prst="roundRect">
            <a:avLst>
              <a:gd name="adj" fmla="val 1580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84080" y="7012178"/>
            <a:ext cx="147020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Scope</a:t>
            </a:r>
          </a:p>
        </p:txBody>
      </p:sp>
      <p:sp>
        <p:nvSpPr>
          <p:cNvPr id="34" name="TextBox 33"/>
          <p:cNvSpPr txBox="1"/>
          <p:nvPr/>
        </p:nvSpPr>
        <p:spPr>
          <a:xfrm>
            <a:off x="978408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DF8330"/>
              </a:buClr>
              <a:buSzPct val="100000"/>
              <a:buFont typeface="Arial"/>
              <a:buChar char="•"/>
            </a:pPr>
            <a:r>
              <a:rPr lang="en-US" sz="1547" b="true">
                <a:solidFill>
                  <a:srgbClr val="111111"/>
                </a:solidFill>
                <a:latin typeface="Nunito Bold"/>
                <a:ea typeface="Nunito Bold"/>
                <a:cs typeface="Nunito Bold"/>
                <a:sym typeface="Nunito Bold"/>
              </a:rPr>
              <a:t>Everything runs on standard academic hardware</a:t>
            </a:r>
            <a:r>
              <a:rPr lang="en-US" sz="1547" b="true">
                <a:solidFill>
                  <a:srgbClr val="111111"/>
                </a:solidFill>
                <a:latin typeface="Nunito Semi-Bold"/>
                <a:ea typeface="Nunito Semi-Bold"/>
                <a:cs typeface="Nunito Semi-Bold"/>
                <a:sym typeface="Nunito Semi-Bold"/>
              </a:rPr>
              <a:t>; nothing needs industrial-scale compute.</a:t>
            </a:r>
          </a:p>
          <a:p>
            <a:pPr algn="l" marL="274320" indent="-274320">
              <a:lnSpc>
                <a:spcPts val="2166"/>
              </a:lnSpc>
              <a:spcBef>
                <a:spcPts val="546"/>
              </a:spcBef>
              <a:buClr>
                <a:srgbClr val="DF8330"/>
              </a:buClr>
              <a:buSzPct val="100000"/>
              <a:buFont typeface="Arial"/>
              <a:buChar char="•"/>
            </a:pPr>
            <a:r>
              <a:rPr lang="en-US" sz="1547" b="true">
                <a:solidFill>
                  <a:srgbClr val="111111"/>
                </a:solidFill>
                <a:latin typeface="Nunito Semi-Bold"/>
                <a:ea typeface="Nunito Semi-Bold"/>
                <a:cs typeface="Nunito Semi-Bold"/>
                <a:sym typeface="Nunito Semi-Bold"/>
              </a:rPr>
              <a:t>Clustering, surrogates, SHAP and DyHuCoG share the same seeds and splits.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26</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a:t>
            </a:r>
          </a:p>
        </p:txBody>
      </p:sp>
      <p:sp>
        <p:nvSpPr>
          <p:cNvPr id="8" name="Oval 7"/>
          <p:cNvSpPr/>
          <p:nvPr/>
        </p:nvSpPr>
        <p:spPr>
          <a:xfrm>
            <a:off x="13049535"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049535"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04</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Explainable black-box clustering with Shapley values  ·  answers RQ1</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Cluster-level explanation that keeps feature-level attribution in the original feature space; justify Shapley over LIME.</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Features are players; Silhouette is the value function; a LightGBM surrogate bridges K-Means to exact TreeSHAP.</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k</a:t>
            </a:r>
            <a:r>
              <a:rPr lang="en-US" sz="2100" b="true" baseline="30000">
                <a:solidFill>
                  <a:srgbClr val="FFFFFF"/>
                </a:solidFill>
                <a:latin typeface="Nunito Semi-Bold"/>
                <a:ea typeface="Nunito Semi-Bold"/>
                <a:cs typeface="Nunito Semi-Bold"/>
                <a:sym typeface="Nunito Semi-Bold"/>
              </a:rPr>
              <a:t>*</a:t>
            </a:r>
            <a:r>
              <a:rPr lang="en-US" sz="2100" b="true">
                <a:solidFill>
                  <a:srgbClr val="FFFFFF"/>
                </a:solidFill>
                <a:latin typeface="Nunito Semi-Bold"/>
                <a:ea typeface="Nunito Semi-Bold"/>
                <a:cs typeface="Nunito Semi-Bold"/>
                <a:sym typeface="Nunito Semi-Bold"/>
              </a:rPr>
              <a:t> = 3 chosen for interpretability; density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pH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acidity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SO₂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alcohol recovered as a chemically meaningful ranking.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[5] Lundberg, S. M. &amp; Lee, S.-I. A Unified Approach to Interpreting Model Predictions (SHAP). NeurIPS 30, 4765–4774 (2017).   [6] Lundberg, S. M. et al. From Local Explanations to Global Understanding with Explainable AI for Trees (TreeSHAP). Nature Machine Intelligence 2, 56–67 (2020).   [7] Ribeiro, M. T., Singh, S. &amp; Guestrin, C. "Why Should I Trust You?": Explaining the Predictions of Any Classifier (LIME). KDD, 1135–1144 (2016).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Shapley explanation is </a:t>
            </a:r>
            <a:r>
              <a:rPr lang="en-US" sz="2100" b="true">
                <a:solidFill>
                  <a:srgbClr val="111111"/>
                </a:solidFill>
                <a:latin typeface="Nunito Bold"/>
                <a:ea typeface="Nunito Bold"/>
                <a:cs typeface="Nunito Bold"/>
                <a:sym typeface="Nunito Bold"/>
              </a:rPr>
              <a:t>standard in supervised tasks</a:t>
            </a:r>
            <a:r>
              <a:rPr lang="en-US" sz="2100" b="true">
                <a:solidFill>
                  <a:srgbClr val="111111"/>
                </a:solidFill>
                <a:latin typeface="Nunito Semi-Bold"/>
                <a:ea typeface="Nunito Semi-Bold"/>
                <a:cs typeface="Nunito Semi-Bold"/>
                <a:sym typeface="Nunito Semi-Bold"/>
              </a:rPr>
              <a:t> [5, 6], but clustering is still much less explained.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clustering-interpretability methods favour </a:t>
            </a:r>
            <a:r>
              <a:rPr lang="en-US" sz="2100" b="true">
                <a:solidFill>
                  <a:srgbClr val="111111"/>
                </a:solidFill>
                <a:latin typeface="Nunito Bold"/>
                <a:ea typeface="Nunito Bold"/>
                <a:cs typeface="Nunito Bold"/>
                <a:sym typeface="Nunito Bold"/>
              </a:rPr>
              <a:t>local or global</a:t>
            </a:r>
            <a:r>
              <a:rPr lang="en-US" sz="2100" b="true">
                <a:solidFill>
                  <a:srgbClr val="111111"/>
                </a:solidFill>
                <a:latin typeface="Nunito Semi-Bold"/>
                <a:ea typeface="Nunito Semi-Bold"/>
                <a:cs typeface="Nunito Semi-Bold"/>
                <a:sym typeface="Nunito Semi-Bold"/>
              </a:rPr>
              <a:t> explanation, not both.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They often fail to scale or to stay </a:t>
            </a:r>
            <a:r>
              <a:rPr lang="en-US" sz="2100" b="true">
                <a:solidFill>
                  <a:srgbClr val="111111"/>
                </a:solidFill>
                <a:latin typeface="Nunito Bold"/>
                <a:ea typeface="Nunito Bold"/>
                <a:cs typeface="Nunito Bold"/>
                <a:sym typeface="Nunito Bold"/>
              </a:rPr>
              <a:t>consistent across clusters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Clustering is the hardest test bed: the model creates its own structure, so cluster meaning must be worked out after the fact.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Local surrogates such as LIME [7] give no guarantee that the credit assigned to a feature is fair or stable.</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principled, axiomatic way to explain </a:t>
            </a:r>
            <a:r>
              <a:rPr lang="en-US" sz="2200" b="true">
                <a:solidFill>
                  <a:srgbClr val="111111"/>
                </a:solidFill>
                <a:latin typeface="Nunito Bold"/>
                <a:ea typeface="Nunito Bold"/>
                <a:cs typeface="Nunito Bold"/>
                <a:sym typeface="Nunito Bold"/>
              </a:rPr>
              <a:t>why a black-box clustering put an observation in a given cluster</a:t>
            </a:r>
            <a:r>
              <a:rPr lang="en-US" sz="2200" b="true">
                <a:solidFill>
                  <a:srgbClr val="111111"/>
                </a:solidFill>
                <a:latin typeface="Nunito Semi-Bold"/>
                <a:ea typeface="Nunito Semi-Bold"/>
                <a:cs typeface="Nunito Semi-Bold"/>
                <a:sym typeface="Nunito Semi-Bold"/>
              </a:rPr>
              <a:t>, in the original feature space and consistently across clusters.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RQ1 and Objectives</a:t>
            </a:r>
          </a:p>
        </p:txBody>
      </p:sp>
      <p:pic>
        <p:nvPicPr>
          <p:cNvPr id="23" name="Picture 22" descr="image.png"/>
          <p:cNvPicPr>
            <a:picLocks noChangeAspect="1"/>
          </p:cNvPicPr>
          <p:nvPr/>
        </p:nvPicPr>
        <p:blipFill>
          <a:blip r:embed="rId3"/>
          <a:stretch>
            <a:fillRect/>
          </a:stretch>
        </p:blipFill>
        <p:spPr>
          <a:xfrm>
            <a:off x="6193139"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RQ1</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Shapley values explain black-box clustering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at both instance level and cluster level?</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 pipeline that yields a cluster-level explanation while keeping </a:t>
                      </a:r>
                      <a:r>
                        <a:rPr lang="en-US" sz="1800" b="true">
                          <a:solidFill>
                            <a:srgbClr val="111111"/>
                          </a:solidFill>
                          <a:latin typeface="Nunito Bold"/>
                          <a:ea typeface="Nunito Bold"/>
                          <a:cs typeface="Nunito Bold"/>
                          <a:sym typeface="Nunito Bold"/>
                        </a:rPr>
                        <a:t>feature-level attribution</a:t>
                      </a:r>
                      <a:r>
                        <a:rPr lang="en-US" sz="1800" b="true">
                          <a:solidFill>
                            <a:srgbClr val="111111"/>
                          </a:solidFill>
                          <a:latin typeface="Nunito Semi-Bold"/>
                          <a:ea typeface="Nunito Semi-Bold"/>
                          <a:cs typeface="Nunito Semi-Bold"/>
                          <a:sym typeface="Nunito Semi-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5.2, cluster profiles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Attribution in the </a:t>
                      </a:r>
                      <a:r>
                        <a:rPr lang="en-US" sz="1800" b="true">
                          <a:solidFill>
                            <a:srgbClr val="111111"/>
                          </a:solidFill>
                          <a:latin typeface="Nunito Bold"/>
                          <a:ea typeface="Nunito Bold"/>
                          <a:cs typeface="Nunito Bold"/>
                          <a:sym typeface="Nunito Bold"/>
                        </a:rPr>
                        <a:t>original variables</a:t>
                      </a:r>
                      <a:r>
                        <a:rPr lang="en-US" sz="1800" b="true">
                          <a:solidFill>
                            <a:srgbClr val="111111"/>
                          </a:solidFill>
                          <a:latin typeface="Nunito Semi-Bold"/>
                          <a:ea typeface="Nunito Semi-Bold"/>
                          <a:cs typeface="Nunito Semi-Bold"/>
                          <a:sym typeface="Nunito Semi-Bold"/>
                        </a:rPr>
                        <a:t> (density, pH, acidity, sulfur dioxide, alcohol), not in a reduced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5.1, global ranking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Justify Shapley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An argument from the </a:t>
                      </a:r>
                      <a:r>
                        <a:rPr lang="en-US" sz="1800" b="true">
                          <a:solidFill>
                            <a:srgbClr val="111111"/>
                          </a:solidFill>
                          <a:latin typeface="Nunito Bold"/>
                          <a:ea typeface="Nunito Bold"/>
                          <a:cs typeface="Nunito Bold"/>
                          <a:sym typeface="Nunito Bold"/>
                        </a:rPr>
                        <a:t>four axioms</a:t>
                      </a:r>
                      <a:r>
                        <a:rPr lang="en-US" sz="1800" b="true">
                          <a:solidFill>
                            <a:srgbClr val="111111"/>
                          </a:solidFill>
                          <a:latin typeface="Nunito Semi-Bold"/>
                          <a:ea typeface="Nunito Semi-Bold"/>
                          <a:cs typeface="Nunito Semi-Bold"/>
                          <a:sym typeface="Nunito Semi-Bold"/>
                        </a:rPr>
                        <a:t> for why the cooperative concept is the right 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SHAP vs LIME 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[4] Shapley, L. S. A Value for n-Person Games. Contributions to the Theory of Games II, 307–317, Princeton University Press (1953).   [5] Lundberg, S. M. &amp; Lee, S.-I. A Unified Approach to Interpreting Model Predictions (SHAP). NeurIPS 30, 4765–4774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Cooperative Game and the Shapley Value</a:t>
            </a:r>
          </a:p>
        </p:txBody>
      </p:sp>
      <p:pic>
        <p:nvPicPr>
          <p:cNvPr id="23" name="Picture 22" descr="image.png"/>
          <p:cNvPicPr>
            <a:picLocks noChangeAspect="1"/>
          </p:cNvPicPr>
          <p:nvPr/>
        </p:nvPicPr>
        <p:blipFill>
          <a:blip r:embed="rId3"/>
          <a:stretch>
            <a:fillRect/>
          </a:stretch>
        </p:blipFill>
        <p:spPr>
          <a:xfrm>
            <a:off x="12978774"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2286000"/>
          </a:xfrm>
          <a:prstGeom prst="rect">
            <a:avLst/>
          </a:prstGeom>
          <a:noFill/>
        </p:spPr>
        <p:txBody>
          <a:bodyPr anchor="t" rtlCol="false" lIns="0" tIns="0" rIns="0" bIns="0" wrap="square"/>
          <a:lstStyle/>
          <a:p>
            <a:pPr algn="l">
              <a:lnSpc>
                <a:spcPts val="2231"/>
              </a:lnSpc>
              <a:spcBef>
                <a:spcPts val="0"/>
              </a:spcBef>
              <a:buNone/>
            </a:pPr>
            <a:r>
              <a:rPr lang="en-US" sz="1785" b="true">
                <a:solidFill>
                  <a:srgbClr val="124944"/>
                </a:solidFill>
                <a:latin typeface="Nunito Ultra-Bold"/>
                <a:ea typeface="Nunito Ultra-Bold"/>
                <a:cs typeface="Nunito Ultra-Bold"/>
                <a:sym typeface="Nunito Ultra-Bold"/>
              </a:rPr>
              <a:t>Three ingredients</a:t>
            </a:r>
          </a:p>
          <a:p>
            <a:pPr algn="l" marL="274320" indent="-274320">
              <a:lnSpc>
                <a:spcPts val="2390"/>
              </a:lnSpc>
              <a:spcBef>
                <a:spcPts val="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Players</a:t>
            </a:r>
            <a:r>
              <a:rPr lang="en-US" sz="1615" b="true">
                <a:solidFill>
                  <a:srgbClr val="111111"/>
                </a:solidFill>
                <a:latin typeface="Nunito Semi-Bold"/>
                <a:ea typeface="Nunito Semi-Bold"/>
                <a:cs typeface="Nunito Semi-Bold"/>
                <a:sym typeface="Nunito Semi-Bold"/>
              </a:rPr>
              <a:t> N = {1, …, n}, and a </a:t>
            </a:r>
            <a:r>
              <a:rPr lang="en-US" sz="1615" b="true">
                <a:solidFill>
                  <a:srgbClr val="111111"/>
                </a:solidFill>
                <a:latin typeface="Nunito Bold"/>
                <a:ea typeface="Nunito Bold"/>
                <a:cs typeface="Nunito Bold"/>
                <a:sym typeface="Nunito Bold"/>
              </a:rPr>
              <a:t>coalition</a:t>
            </a:r>
            <a:r>
              <a:rPr lang="en-US" sz="1615" b="true">
                <a:solidFill>
                  <a:srgbClr val="111111"/>
                </a:solidFill>
                <a:latin typeface="Nunito Semi-Bold"/>
                <a:ea typeface="Nunito Semi-Bold"/>
                <a:cs typeface="Nunito Semi-Bold"/>
                <a:sym typeface="Nunito Semi-Bold"/>
              </a:rPr>
              <a:t> S </a:t>
            </a:r>
            <a:r>
              <a:rPr lang="en-US" sz="1615" b="true">
                <a:solidFill>
                  <a:srgbClr val="111111"/>
                </a:solidFill>
                <a:latin typeface="Cambria Math"/>
                <a:ea typeface="Cambria Math"/>
                <a:cs typeface="Cambria Math"/>
                <a:sym typeface="Cambria Math"/>
              </a:rPr>
              <a:t>⊆ </a:t>
            </a:r>
            <a:r>
              <a:rPr lang="en-US" sz="1615" b="true">
                <a:solidFill>
                  <a:srgbClr val="111111"/>
                </a:solidFill>
                <a:latin typeface="Nunito Semi-Bold"/>
                <a:ea typeface="Nunito Semi-Bold"/>
                <a:cs typeface="Nunito Semi-Bold"/>
                <a:sym typeface="Nunito Semi-Bold"/>
              </a:rPr>
              <a:t>N: any group of them; there are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Nunito Semi-Bold"/>
                <a:ea typeface="Nunito Semi-Bold"/>
                <a:cs typeface="Nunito Semi-Bold"/>
                <a:sym typeface="Nunito Semi-Bold"/>
              </a:rPr>
              <a:t>.</a:t>
            </a:r>
          </a:p>
          <a:p>
            <a:pPr algn="l" marL="274320" indent="-274320">
              <a:lnSpc>
                <a:spcPts val="2390"/>
              </a:lnSpc>
              <a:spcBef>
                <a:spcPts val="68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Characteristic function</a:t>
            </a:r>
            <a:r>
              <a:rPr lang="en-US" sz="1615" b="true">
                <a:solidFill>
                  <a:srgbClr val="111111"/>
                </a:solidFill>
                <a:latin typeface="Nunito Semi-Bold"/>
                <a:ea typeface="Nunito Semi-Bold"/>
                <a:cs typeface="Nunito Semi-Bold"/>
                <a:sym typeface="Nunito Semi-Bold"/>
              </a:rPr>
              <a:t> v: 2</a:t>
            </a:r>
            <a:r>
              <a:rPr lang="en-US" sz="1615" b="true" baseline="30000">
                <a:solidFill>
                  <a:srgbClr val="111111"/>
                </a:solidFill>
                <a:latin typeface="Nunito Semi-Bold"/>
                <a:ea typeface="Nunito Semi-Bold"/>
                <a:cs typeface="Nunito Semi-Bold"/>
                <a:sym typeface="Nunito Semi-Bold"/>
              </a:rPr>
              <a:t>N</a:t>
            </a:r>
            <a:r>
              <a:rPr lang="en-US" sz="1615" b="true">
                <a:solidFill>
                  <a:srgbClr val="111111"/>
                </a:solidFill>
                <a:latin typeface="Calibri"/>
                <a:ea typeface="Calibri"/>
                <a:cs typeface="Calibri"/>
                <a:sym typeface="Calibri"/>
              </a:rPr>
              <a:t> → </a:t>
            </a:r>
            <a:r>
              <a:rPr lang="en-US" sz="1615" b="true">
                <a:solidFill>
                  <a:srgbClr val="111111"/>
                </a:solidFill>
                <a:latin typeface="Cambria Math"/>
                <a:ea typeface="Cambria Math"/>
                <a:cs typeface="Cambria Math"/>
                <a:sym typeface="Cambria Math"/>
              </a:rPr>
              <a:t>ℝ </a:t>
            </a:r>
            <a:r>
              <a:rPr lang="en-US" sz="1615" b="true">
                <a:solidFill>
                  <a:srgbClr val="111111"/>
                </a:solidFill>
                <a:latin typeface="Nunito Semi-Bold"/>
                <a:ea typeface="Nunito Semi-Bold"/>
                <a:cs typeface="Nunito Semi-Bold"/>
                <a:sym typeface="Nunito Semi-Bold"/>
              </a:rPr>
              <a:t>with v(∅) = 0: the value a coalition creates </a:t>
            </a:r>
            <a:r>
              <a:rPr lang="en-US" sz="1615" b="true">
                <a:solidFill>
                  <a:srgbClr val="111111"/>
                </a:solidFill>
                <a:latin typeface="Nunito Bold"/>
                <a:ea typeface="Nunito Bold"/>
                <a:cs typeface="Nunito Bold"/>
                <a:sym typeface="Nunito Bold"/>
              </a:rPr>
              <a:t>on its own</a:t>
            </a:r>
            <a:r>
              <a:rPr lang="en-US" sz="1615" b="true">
                <a:solidFill>
                  <a:srgbClr val="111111"/>
                </a:solidFill>
                <a:latin typeface="Nunito Semi-Bold"/>
                <a:ea typeface="Nunito Semi-Bold"/>
                <a:cs typeface="Nunito Semi-Bold"/>
                <a:sym typeface="Nunito Semi-Bold"/>
              </a:rPr>
              <a:t>.</a:t>
            </a:r>
          </a:p>
          <a:p>
            <a:pPr algn="l" marL="274320" indent="-274320">
              <a:lnSpc>
                <a:spcPts val="2261"/>
              </a:lnSpc>
              <a:spcBef>
                <a:spcPts val="680"/>
              </a:spcBef>
              <a:buClr>
                <a:srgbClr val="DF8330"/>
              </a:buClr>
              <a:buSzPct val="100000"/>
              <a:buFont typeface="Arial"/>
              <a:buChar char="•"/>
            </a:pPr>
            <a:r>
              <a:rPr lang="en-US" sz="1615" b="true">
                <a:solidFill>
                  <a:srgbClr val="111111"/>
                </a:solidFill>
                <a:latin typeface="Nunito Bold"/>
                <a:ea typeface="Nunito Bold"/>
                <a:cs typeface="Nunito Bold"/>
                <a:sym typeface="Nunito Bold"/>
              </a:rPr>
              <a:t>The question:</a:t>
            </a:r>
            <a:r>
              <a:rPr lang="en-US" sz="1615" b="true">
                <a:solidFill>
                  <a:srgbClr val="111111"/>
                </a:solidFill>
                <a:latin typeface="Nunito Semi-Bold"/>
                <a:ea typeface="Nunito Semi-Bold"/>
                <a:cs typeface="Nunito Semi-Bold"/>
                <a:sym typeface="Nunito Semi-Bold"/>
              </a:rPr>
              <a:t> the grand coalition earns v(N), so </a:t>
            </a:r>
            <a:r>
              <a:rPr lang="en-US" sz="1615" b="true">
                <a:solidFill>
                  <a:srgbClr val="111111"/>
                </a:solidFill>
                <a:latin typeface="Nunito Bold"/>
                <a:ea typeface="Nunito Bold"/>
                <a:cs typeface="Nunito Bold"/>
                <a:sym typeface="Nunito Bold"/>
              </a:rPr>
              <a:t>how should it be shared fairly</a:t>
            </a:r>
            <a:r>
              <a:rPr lang="en-US" sz="1615" b="true">
                <a:solidFill>
                  <a:srgbClr val="111111"/>
                </a:solidFill>
                <a:latin typeface="Nunito Semi-Bold"/>
                <a:ea typeface="Nunito Semi-Bold"/>
                <a:cs typeface="Nunito Semi-Bold"/>
                <a:sym typeface="Nunito Semi-Bold"/>
              </a:rPr>
              <a:t>?</a:t>
            </a:r>
          </a:p>
        </p:txBody>
      </p:sp>
      <p:sp>
        <p:nvSpPr>
          <p:cNvPr id="29" name="Rounded Rectangle 28"/>
          <p:cNvSpPr/>
          <p:nvPr/>
        </p:nvSpPr>
        <p:spPr>
          <a:xfrm>
            <a:off x="1028700" y="5741162"/>
            <a:ext cx="7680960" cy="868680"/>
          </a:xfrm>
          <a:prstGeom prst="roundRect">
            <a:avLst>
              <a:gd name="adj" fmla="val 23157"/>
            </a:avLst>
          </a:prstGeom>
          <a:solidFill>
            <a:srgbClr val="124944"/>
          </a:solidFill>
          <a:ln>
            <a:noFill/>
          </a:ln>
        </p:spPr>
        <p:txBody>
          <a:bodyPr anchor="ctr" rtlCol="false" lIns="0" tIns="0" rIns="0" bIns="0" wrap="square"/>
          <a:lstStyle/>
          <a:p>
            <a:endParaRPr lang="en-US" sz="1800"/>
          </a:p>
        </p:txBody>
      </p:sp>
      <p:sp>
        <p:nvSpPr>
          <p:cNvPr id="30" name="TextBox 29"/>
          <p:cNvSpPr txBox="1"/>
          <p:nvPr/>
        </p:nvSpPr>
        <p:spPr>
          <a:xfrm>
            <a:off x="1028700" y="5805170"/>
            <a:ext cx="7680960" cy="237744"/>
          </a:xfrm>
          <a:prstGeom prst="rect">
            <a:avLst/>
          </a:prstGeom>
          <a:noFill/>
        </p:spPr>
        <p:txBody>
          <a:bodyPr anchor="t" rtlCol="false" lIns="0" tIns="0" rIns="0" bIns="0" wrap="square"/>
          <a:lstStyle/>
          <a:p>
            <a:pPr algn="ctr">
              <a:lnSpc>
                <a:spcPts val="1400"/>
              </a:lnSpc>
              <a:spcBef>
                <a:spcPts val="0"/>
              </a:spcBef>
              <a:buNone/>
            </a:pPr>
            <a:r>
              <a:rPr lang="en-US" sz="1200" b="true" spc="150">
                <a:solidFill>
                  <a:srgbClr val="ECC665"/>
                </a:solidFill>
                <a:latin typeface="Nunito Ultra-Bold"/>
                <a:ea typeface="Nunito Ultra-Bold"/>
                <a:cs typeface="Nunito Ultra-Bold"/>
                <a:sym typeface="Nunito Ultra-Bold"/>
              </a:rPr>
              <a:t>A COOPERATIVE GAME IS A PAIR</a:t>
            </a:r>
          </a:p>
        </p:txBody>
      </p:sp>
      <mc:AlternateContent xmlns:mc="http://schemas.openxmlformats.org/markup-compatibility/2006">
        <mc:Choice xmlns:a14="http://schemas.microsoft.com/office/drawing/2010/main" Requires="a14">
          <p:sp>
            <p:nvSpPr>
              <p:cNvPr id="31" name="Equation"/>
              <p:cNvSpPr txBox="1"/>
              <p:nvPr/>
            </p:nvSpPr>
            <p:spPr>
              <a:xfrm>
                <a:off x="1211580" y="6015482"/>
                <a:ext cx="73152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N</m:t>
                      </m:r>
                      <m:r>
                        <m:rPr>
                          <m:sty m:val="p"/>
                        </m:rPr>
                        <a:rPr lang="en-US" sz="1900">
                          <a:solidFill>
                            <a:srgbClr val="FFFFFF"/>
                          </a:solidFill>
                          <a:latin typeface="Cambria Math" panose="02040503050406030204" pitchFamily="18" charset="0"/>
                        </a:rPr>
                        <m:t xml:space="preserve">,</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m:t>
                      </m:r>
                      <m:sSup>
                        <m:sSupPr>
                          <m:ctrlPr>
                            <a:rPr lang="en-US" sz="1900" i="1">
                              <a:solidFill>
                                <a:srgbClr val="FFFFFF"/>
                              </a:solidFill>
                              <a:latin typeface="Cambria Math" panose="02040503050406030204" pitchFamily="18" charset="0"/>
                            </a:rPr>
                          </m:ctrlPr>
                        </m:sSupPr>
                        <m:e>
                          <m:r>
                            <m:rPr>
                              <m:sty m:val="p"/>
                            </m:rPr>
                            <a:rPr lang="en-US" sz="1900">
                              <a:solidFill>
                                <a:srgbClr val="FFFFFF"/>
                              </a:solidFill>
                              <a:latin typeface="Cambria Math" panose="02040503050406030204" pitchFamily="18" charset="0"/>
                            </a:rPr>
                            <m:t xml:space="preserve">2</m:t>
                          </m:r>
                        </m:e>
                        <m:sup>
                          <m:r>
                            <a:rPr lang="en-US" sz="1900" i="1">
                              <a:solidFill>
                                <a:srgbClr val="FFFFFF"/>
                              </a:solidFill>
                              <a:latin typeface="Cambria Math" panose="02040503050406030204" pitchFamily="18" charset="0"/>
                            </a:rPr>
                            <m:t xml:space="preserve">N</m:t>
                          </m:r>
                        </m:sup>
                      </m:sSup>
                      <m:r>
                        <m:rPr>
                          <m:sty m:val="p"/>
                        </m:rPr>
                        <a:rPr lang="en-US" sz="1900">
                          <a:solidFill>
                            <a:srgbClr val="FFFFFF"/>
                          </a:solidFill>
                          <a:latin typeface="Cambria Math" panose="02040503050406030204" pitchFamily="18" charset="0"/>
                        </a:rPr>
                        <m:t xml:space="preserve">→</m:t>
                      </m:r>
                      <m:r>
                        <m:rPr>
                          <m:scr m:val="double-struck"/>
                          <m:sty m:val="p"/>
                        </m:rPr>
                        <a:rPr lang="en-US" sz="1900">
                          <a:solidFill>
                            <a:srgbClr val="FFFFFF"/>
                          </a:solidFill>
                          <a:latin typeface="Cambria Math" panose="02040503050406030204" pitchFamily="18" charset="0"/>
                        </a:rPr>
                        <m:t xml:space="preserve">R</m:t>
                      </m:r>
                      <m:r>
                        <m:rPr>
                          <m:sty m:val="p"/>
                        </m:rPr>
                        <a:rPr lang="en-US" sz="1900">
                          <a:solidFill>
                            <a:srgbClr val="FFFFFF"/>
                          </a:solidFill>
                          <a:latin typeface="Cambria Math" panose="02040503050406030204" pitchFamily="18" charset="0"/>
                        </a:rPr>
                        <m:t xml:space="preserve">,  </m:t>
                      </m:r>
                      <m:r>
                        <a:rPr lang="en-US" sz="1900" i="1">
                          <a:solidFill>
                            <a:srgbClr val="FFFFFF"/>
                          </a:solidFill>
                          <a:latin typeface="Cambria Math" panose="02040503050406030204" pitchFamily="18" charset="0"/>
                        </a:rPr>
                        <m:t xml:space="preserve">v</m:t>
                      </m:r>
                      <m:r>
                        <m:rPr>
                          <m:sty m:val="p"/>
                        </m:rPr>
                        <a:rPr lang="en-US" sz="1900">
                          <a:solidFill>
                            <a:srgbClr val="FFFFFF"/>
                          </a:solidFill>
                          <a:latin typeface="Cambria Math" panose="02040503050406030204" pitchFamily="18" charset="0"/>
                        </a:rPr>
                        <m:t xml:space="preserve">(∅)=0</m:t>
                      </m:r>
                    </m:oMath>
                  </m:oMathPara>
                </a14:m>
                <a:endParaRPr lang="en-US" sz="1900"/>
              </a:p>
            </p:txBody>
          </p:sp>
        </mc:Choice>
        <mc:Fallback>
          <p:sp>
            <p:nvSpPr>
              <p:cNvPr id="31" name="Equation"/>
              <p:cNvSpPr txBox="1"/>
              <p:nvPr/>
            </p:nvSpPr>
            <p:spPr>
              <a:xfrm>
                <a:off x="1211580" y="6015482"/>
                <a:ext cx="7315200" cy="548640"/>
              </a:xfrm>
              <a:prstGeom prst="rect">
                <a:avLst/>
              </a:prstGeom>
              <a:blipFill>
                <a:blip r:embed="rId5"/>
                <a:stretch>
                  <a:fillRect/>
                </a:stretch>
              </a:blipFill>
            </p:spPr>
            <p:txBody>
              <a:bodyPr/>
              <a:lstStyle/>
              <a:p>
                <a:endParaRPr lang="en-US"/>
              </a:p>
            </p:txBody>
          </p:sp>
        </mc:Fallback>
      </mc:AlternateContent>
      <p:sp>
        <p:nvSpPr>
          <p:cNvPr id="32" name="Rounded Rectangle 31"/>
          <p:cNvSpPr/>
          <p:nvPr/>
        </p:nvSpPr>
        <p:spPr>
          <a:xfrm>
            <a:off x="1028700" y="6792722"/>
            <a:ext cx="7680960" cy="1371600"/>
          </a:xfrm>
          <a:prstGeom prst="roundRect">
            <a:avLst>
              <a:gd name="adj" fmla="val 14666"/>
            </a:avLst>
          </a:prstGeom>
          <a:solidFill>
            <a:srgbClr val="F6ECDF"/>
          </a:solidFill>
          <a:ln w="25400">
            <a:solidFill>
              <a:srgbClr val="DF8330"/>
            </a:solidFill>
          </a:ln>
        </p:spPr>
        <p:txBody>
          <a:bodyPr anchor="ctr" rtlCol="false" lIns="0" tIns="0" rIns="0" bIns="0" wrap="square"/>
          <a:lstStyle/>
          <a:p>
            <a:endParaRPr lang="en-US" sz="1800"/>
          </a:p>
        </p:txBody>
      </p:sp>
      <p:sp>
        <p:nvSpPr>
          <p:cNvPr id="33" name="Rounded Rectangle 32"/>
          <p:cNvSpPr/>
          <p:nvPr/>
        </p:nvSpPr>
        <p:spPr>
          <a:xfrm>
            <a:off x="1348740" y="6600698"/>
            <a:ext cx="38908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TOY EXAMPLE: A THREE-PIECE BAND</a:t>
            </a:r>
          </a:p>
        </p:txBody>
      </p:sp>
      <p:sp>
        <p:nvSpPr>
          <p:cNvPr id="34" name="TextBox 33"/>
          <p:cNvSpPr txBox="1"/>
          <p:nvPr/>
        </p:nvSpPr>
        <p:spPr>
          <a:xfrm>
            <a:off x="1394460" y="7067042"/>
            <a:ext cx="6949440" cy="960120"/>
          </a:xfrm>
          <a:prstGeom prst="rect">
            <a:avLst/>
          </a:prstGeom>
          <a:noFill/>
        </p:spPr>
        <p:txBody>
          <a:bodyPr anchor="ctr" rtlCol="false" lIns="0" tIns="0" rIns="0" bIns="0" wrap="square"/>
          <a:lstStyle/>
          <a:p>
            <a:pPr algn="l">
              <a:lnSpc>
                <a:spcPts val="2309"/>
              </a:lnSpc>
              <a:spcBef>
                <a:spcPts val="0"/>
              </a:spcBef>
              <a:buNone/>
            </a:pPr>
            <a:r>
              <a:rPr lang="en-US" sz="1649" b="true">
                <a:solidFill>
                  <a:srgbClr val="111111"/>
                </a:solidFill>
                <a:latin typeface="Nunito Semi-Bold"/>
                <a:ea typeface="Nunito Semi-Bold"/>
                <a:cs typeface="Nunito Semi-Bold"/>
                <a:sym typeface="Nunito Semi-Bold"/>
              </a:rPr>
              <a:t>Guitar, Voice and Drums are paid for a gig. Alone they earn </a:t>
            </a:r>
            <a:r>
              <a:rPr lang="en-US" sz="1649" b="true">
                <a:solidFill>
                  <a:srgbClr val="111111"/>
                </a:solidFill>
                <a:latin typeface="Nunito Bold"/>
                <a:ea typeface="Nunito Bold"/>
                <a:cs typeface="Nunito Bold"/>
                <a:sym typeface="Nunito Bold"/>
              </a:rPr>
              <a:t>60, 40 and 20</a:t>
            </a:r>
            <a:r>
              <a:rPr lang="en-US" sz="1649" b="true">
                <a:solidFill>
                  <a:srgbClr val="111111"/>
                </a:solidFill>
                <a:latin typeface="Nunito Semi-Bold"/>
                <a:ea typeface="Nunito Semi-Bold"/>
                <a:cs typeface="Nunito Semi-Bold"/>
                <a:sym typeface="Nunito Semi-Bold"/>
              </a:rPr>
              <a:t>; Guitar and Voice together earn </a:t>
            </a:r>
            <a:r>
              <a:rPr lang="en-US" sz="1649" b="true">
                <a:solidFill>
                  <a:srgbClr val="111111"/>
                </a:solidFill>
                <a:latin typeface="Nunito Bold"/>
                <a:ea typeface="Nunito Bold"/>
                <a:cs typeface="Nunito Bold"/>
                <a:sym typeface="Nunito Bold"/>
              </a:rPr>
              <a:t>140</a:t>
            </a:r>
            <a:r>
              <a:rPr lang="en-US" sz="1649" b="true">
                <a:solidFill>
                  <a:srgbClr val="111111"/>
                </a:solidFill>
                <a:latin typeface="Nunito Semi-Bold"/>
                <a:ea typeface="Nunito Semi-Bold"/>
                <a:cs typeface="Nunito Semi-Bold"/>
                <a:sym typeface="Nunito Semi-Bold"/>
              </a:rPr>
              <a:t>, more than their sum; all three earn </a:t>
            </a:r>
            <a:r>
              <a:rPr lang="en-US" sz="1649" b="true">
                <a:solidFill>
                  <a:srgbClr val="111111"/>
                </a:solidFill>
                <a:latin typeface="Nunito Bold"/>
                <a:ea typeface="Nunito Bold"/>
                <a:cs typeface="Nunito Bold"/>
                <a:sym typeface="Nunito Bold"/>
              </a:rPr>
              <a:t>200</a:t>
            </a:r>
            <a:r>
              <a:rPr lang="en-US" sz="1649" b="true">
                <a:solidFill>
                  <a:srgbClr val="111111"/>
                </a:solidFill>
                <a:latin typeface="Nunito Semi-Bold"/>
                <a:ea typeface="Nunito Semi-Bold"/>
                <a:cs typeface="Nunito Semi-Bold"/>
                <a:sym typeface="Nunito Semi-Bold"/>
              </a:rPr>
              <a:t>. A fair split must credit what a player </a:t>
            </a:r>
            <a:r>
              <a:rPr lang="en-US" sz="1649" b="true">
                <a:solidFill>
                  <a:srgbClr val="111111"/>
                </a:solidFill>
                <a:latin typeface="Nunito Bold"/>
                <a:ea typeface="Nunito Bold"/>
                <a:cs typeface="Nunito Bold"/>
                <a:sym typeface="Nunito Bold"/>
              </a:rPr>
              <a:t>adds to the others</a:t>
            </a:r>
            <a:r>
              <a:rPr lang="en-US" sz="1649" b="true">
                <a:solidFill>
                  <a:srgbClr val="111111"/>
                </a:solidFill>
                <a:latin typeface="Nunito Semi-Bold"/>
                <a:ea typeface="Nunito Semi-Bold"/>
                <a:cs typeface="Nunito Semi-Bold"/>
                <a:sym typeface="Nunito Semi-Bold"/>
              </a:rPr>
              <a:t>.</a:t>
            </a:r>
          </a:p>
        </p:txBody>
      </p:sp>
      <p:sp>
        <p:nvSpPr>
          <p:cNvPr id="35" name="Rounded Rectangle 34"/>
          <p:cNvSpPr/>
          <p:nvPr/>
        </p:nvSpPr>
        <p:spPr>
          <a:xfrm>
            <a:off x="1028700" y="8347202"/>
            <a:ext cx="7680960" cy="1965960"/>
          </a:xfrm>
          <a:prstGeom prst="roundRect">
            <a:avLst>
              <a:gd name="adj" fmla="val 13023"/>
            </a:avLst>
          </a:prstGeom>
          <a:solidFill>
            <a:srgbClr val="111111"/>
          </a:solidFill>
          <a:ln>
            <a:noFill/>
          </a:ln>
        </p:spPr>
        <p:txBody>
          <a:bodyPr anchor="ctr" rtlCol="false" lIns="0" tIns="0" rIns="0" bIns="0" wrap="square"/>
          <a:lstStyle/>
          <a:p>
            <a:endParaRPr lang="en-US" sz="1800"/>
          </a:p>
        </p:txBody>
      </p:sp>
      <p:sp>
        <p:nvSpPr>
          <p:cNvPr id="36" name="TextBox 35"/>
          <p:cNvSpPr txBox="1"/>
          <p:nvPr/>
        </p:nvSpPr>
        <p:spPr>
          <a:xfrm>
            <a:off x="1028700" y="8475218"/>
            <a:ext cx="7680960" cy="256032"/>
          </a:xfrm>
          <a:prstGeom prst="rect">
            <a:avLst/>
          </a:prstGeom>
          <a:noFill/>
        </p:spPr>
        <p:txBody>
          <a:bodyPr anchor="t" rtlCol="false" lIns="0" tIns="0" rIns="0" bIns="0" wrap="square"/>
          <a:lstStyle/>
          <a:p>
            <a:pPr algn="ctr">
              <a:lnSpc>
                <a:spcPts val="1500"/>
              </a:lnSpc>
              <a:spcBef>
                <a:spcPts val="0"/>
              </a:spcBef>
              <a:buNone/>
            </a:pPr>
            <a:r>
              <a:rPr lang="en-US" sz="1200" b="true" spc="160">
                <a:solidFill>
                  <a:srgbClr val="ECC665"/>
                </a:solidFill>
                <a:latin typeface="Nunito Ultra-Bold"/>
                <a:ea typeface="Nunito Ultra-Bold"/>
                <a:cs typeface="Nunito Ultra-Bold"/>
                <a:sym typeface="Nunito Ultra-Bold"/>
              </a:rPr>
              <a:t>SHAPLEY VALUE OF PLAYER j  ·  SHAPLEY, 1953</a:t>
            </a:r>
          </a:p>
        </p:txBody>
      </p:sp>
      <mc:AlternateContent xmlns:mc="http://schemas.openxmlformats.org/markup-compatibility/2006">
        <mc:Choice xmlns:a14="http://schemas.microsoft.com/office/drawing/2010/main" Requires="a14">
          <p:sp>
            <p:nvSpPr>
              <p:cNvPr id="37" name="Equation"/>
              <p:cNvSpPr txBox="1"/>
              <p:nvPr/>
            </p:nvSpPr>
            <p:spPr>
              <a:xfrm>
                <a:off x="1211580" y="8749538"/>
                <a:ext cx="7315200" cy="10972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800" i="1">
                              <a:solidFill>
                                <a:srgbClr val="FFFFFF"/>
                              </a:solidFill>
                              <a:latin typeface="Cambria Math" panose="02040503050406030204" pitchFamily="18" charset="0"/>
                            </a:rPr>
                          </m:ctrlPr>
                        </m:sSubPr>
                        <m:e>
                          <m:r>
                            <a:rPr lang="en-US" sz="1800" i="1">
                              <a:solidFill>
                                <a:srgbClr val="FFFFFF"/>
                              </a:solidFill>
                              <a:latin typeface="Cambria Math" panose="02040503050406030204" pitchFamily="18" charset="0"/>
                            </a:rPr>
                            <m:t xml:space="preserve">φ</m:t>
                          </m:r>
                        </m:e>
                        <m:sub>
                          <m:r>
                            <a:rPr lang="en-US" sz="1800" i="1">
                              <a:solidFill>
                                <a:srgbClr val="FFFFFF"/>
                              </a:solidFill>
                              <a:latin typeface="Cambria Math" panose="02040503050406030204" pitchFamily="18" charset="0"/>
                            </a:rPr>
                            <m:t xml:space="preserve">j</m:t>
                          </m:r>
                        </m:sub>
                      </m:sSub>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nary>
                        <m:naryPr>
                          <m:chr m:val="∑"/>
                          <m:limLoc m:val="undOvr"/>
                          <m:supHide m:val="1"/>
                          <m:ctrlPr>
                            <a:rPr lang="en-US" sz="1800" i="1">
                              <a:solidFill>
                                <a:srgbClr val="FFFFFF"/>
                              </a:solidFill>
                              <a:latin typeface="Cambria Math" panose="02040503050406030204" pitchFamily="18" charset="0"/>
                            </a:rPr>
                          </m:ctrlPr>
                        </m:naryPr>
                        <m:sub>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sub>
                        <m:sup/>
                        <m:e>
                          <m:f>
                            <m:fPr>
                              <m:ctrlPr>
                                <a:rPr lang="en-US" sz="1800" i="1">
                                  <a:solidFill>
                                    <a:srgbClr val="FFFFFF"/>
                                  </a:solidFill>
                                  <a:latin typeface="Cambria Math" panose="02040503050406030204" pitchFamily="18" charset="0"/>
                                </a:rPr>
                              </m:ctrlPr>
                            </m:fPr>
                            <m:num>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|−1)!</m:t>
                              </m:r>
                            </m:num>
                            <m:den>
                              <m:r>
                                <a:rPr lang="en-US" sz="1800" i="1">
                                  <a:solidFill>
                                    <a:srgbClr val="FFFFFF"/>
                                  </a:solidFill>
                                  <a:latin typeface="Cambria Math" panose="02040503050406030204" pitchFamily="18" charset="0"/>
                                </a:rPr>
                                <m:t xml:space="preserve">n</m:t>
                              </m:r>
                              <m:r>
                                <m:rPr>
                                  <m:sty m:val="p"/>
                                </m:rPr>
                                <a:rPr lang="en-US" sz="1800">
                                  <a:solidFill>
                                    <a:srgbClr val="FFFFFF"/>
                                  </a:solidFill>
                                  <a:latin typeface="Cambria Math" panose="02040503050406030204" pitchFamily="18" charset="0"/>
                                </a:rPr>
                                <m:t xml:space="preserve">!</m:t>
                              </m:r>
                            </m:den>
                          </m:f>
                        </m:e>
                      </m:nary>
                      <m:r>
                        <m:rPr>
                          <m:sty m:val="p"/>
                        </m:rPr>
                        <a:rPr lang="en-US" sz="1800">
                          <a:solidFill>
                            <a:srgbClr val="FFFFFF"/>
                          </a:solidFill>
                          <a:latin typeface="Cambria Math" panose="02040503050406030204" pitchFamily="18" charset="0"/>
                        </a:rPr>
                        <m:t xml:space="preserve"> </m:t>
                      </m:r>
                      <m:d>
                        <m:dPr>
                          <m:begChr m:val="["/>
                          <m:endChr m:val="]"/>
                          <m:ctrlPr>
                            <a:rPr lang="en-US" sz="1800" i="1">
                              <a:solidFill>
                                <a:srgbClr val="FFFFFF"/>
                              </a:solidFill>
                              <a:latin typeface="Cambria Math" panose="02040503050406030204" pitchFamily="18" charset="0"/>
                            </a:rPr>
                          </m:ctrlPr>
                        </m:dPr>
                        <m:e>
                          <m:r>
                            <m:rPr>
                              <m:sty m:val="p"/>
                            </m:rPr>
                            <a:rPr lang="en-US" sz="1800">
                              <a:solidFill>
                                <a:srgbClr val="FFFFFF"/>
                              </a:solidFill>
                              <a:latin typeface="Cambria Math" panose="02040503050406030204" pitchFamily="18" charset="0"/>
                            </a:rPr>
                            <m:t xml:space="preserve"> </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j</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 </m:t>
                          </m:r>
                        </m:e>
                      </m:d>
                    </m:oMath>
                  </m:oMathPara>
                </a14:m>
                <a:endParaRPr lang="en-US" sz="1800"/>
              </a:p>
            </p:txBody>
          </p:sp>
        </mc:Choice>
        <mc:Fallback>
          <p:sp>
            <p:nvSpPr>
              <p:cNvPr id="37" name="Equation"/>
              <p:cNvSpPr txBox="1"/>
              <p:nvPr/>
            </p:nvSpPr>
            <p:spPr>
              <a:xfrm>
                <a:off x="1211580" y="8749538"/>
                <a:ext cx="7315200" cy="1097280"/>
              </a:xfrm>
              <a:prstGeom prst="rect">
                <a:avLst/>
              </a:prstGeom>
              <a:blipFill>
                <a:blip r:embed="rId6"/>
                <a:stretch>
                  <a:fillRect/>
                </a:stretch>
              </a:blipFill>
            </p:spPr>
            <p:txBody>
              <a:bodyPr/>
              <a:lstStyle/>
              <a:p>
                <a:endParaRPr lang="en-US"/>
              </a:p>
            </p:txBody>
          </p:sp>
        </mc:Fallback>
      </mc:AlternateContent>
      <p:sp>
        <p:nvSpPr>
          <p:cNvPr id="38" name="TextBox 37"/>
          <p:cNvSpPr txBox="1"/>
          <p:nvPr/>
        </p:nvSpPr>
        <p:spPr>
          <a:xfrm>
            <a:off x="1028700" y="9883394"/>
            <a:ext cx="7680960" cy="310896"/>
          </a:xfrm>
          <a:prstGeom prst="rect">
            <a:avLst/>
          </a:prstGeom>
          <a:noFill/>
        </p:spPr>
        <p:txBody>
          <a:bodyPr anchor="t" rtlCol="false" lIns="0" tIns="0" rIns="0" bIns="0" wrap="square"/>
          <a:lstStyle/>
          <a:p>
            <a:pPr algn="ctr">
              <a:lnSpc>
                <a:spcPts val="1800"/>
              </a:lnSpc>
              <a:spcBef>
                <a:spcPts val="0"/>
              </a:spcBef>
              <a:buNone/>
            </a:pPr>
            <a:r>
              <a:rPr lang="en-US" sz="1500" b="true">
                <a:solidFill>
                  <a:srgbClr val="DCE7E3"/>
                </a:solidFill>
                <a:latin typeface="Nunito Semi-Bold"/>
                <a:ea typeface="Nunito Semi-Bold"/>
                <a:cs typeface="Nunito Semi-Bold"/>
                <a:sym typeface="Nunito Semi-Bold"/>
              </a:rPr>
              <a:t>average marginal contribution over every arrival order</a:t>
            </a:r>
          </a:p>
        </p:txBody>
      </p:sp>
      <p:sp>
        <p:nvSpPr>
          <p:cNvPr id="39" name="TextBox 38"/>
          <p:cNvSpPr txBox="1"/>
          <p:nvPr/>
        </p:nvSpPr>
        <p:spPr>
          <a:xfrm>
            <a:off x="9166860" y="3318002"/>
            <a:ext cx="8092440" cy="292608"/>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CHARACTERISTIC FUNCTION v(S) OF THE BAND</a:t>
            </a:r>
          </a:p>
        </p:txBody>
      </p:sp>
      <p:graphicFrame>
        <p:nvGraphicFramePr>
          <p:cNvPr id="40" name="Table 39"/>
          <p:cNvGraphicFramePr>
            <a:graphicFrameLocks noGrp="1"/>
          </p:cNvGraphicFramePr>
          <p:nvPr/>
        </p:nvGraphicFramePr>
        <p:xfrm>
          <a:off x="9166860" y="3656330"/>
          <a:ext cx="8092439" cy="4150868"/>
        </p:xfrm>
        <a:graphic>
          <a:graphicData uri="http://schemas.openxmlformats.org/drawingml/2006/table">
            <a:tbl>
              <a:tblPr firstRow="0" bandRow="0" firstCol="0" lastRow="0" lastCol="0" bandCol="0">
                <a:tableStyleId>{2D5ABB26-0587-4C30-8999-92F81FD0307C}</a:tableStyleId>
              </a:tblPr>
              <a:tblGrid>
                <a:gridCol w="2427732"/>
                <a:gridCol w="3884371"/>
                <a:gridCol w="1780336"/>
              </a:tblGrid>
              <a:tr h="446532">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Coalition 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Who plays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v(S)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nobody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Drums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Voice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Guitar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Voice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3042">
                <a:tc>
                  <a:txBody>
                    <a:bodyPr anchor="ctr" rtlCol="false" lIns="0" tIns="0" rIns="0" bIns="0" wrap="square"/>
                    <a:lstStyle/>
                    <a:p>
                      <a:pPr algn="ctr">
                        <a:lnSpc>
                          <a:spcPts val="1950"/>
                        </a:lnSpc>
                        <a:spcBef>
                          <a:spcPts val="0"/>
                        </a:spcBef>
                        <a:buNone/>
                      </a:pPr>
                      <a:r>
                        <a:rPr lang="en-US" sz="1500" b="true">
                          <a:solidFill>
                            <a:srgbClr val="111111"/>
                          </a:solidFill>
                          <a:latin typeface="Nunito Bold"/>
                          <a:ea typeface="Nunito Bold"/>
                          <a:cs typeface="Nunito Bold"/>
                          <a:sym typeface="Nunito Bold"/>
                        </a:rPr>
                        <a:t>{G, 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950"/>
                        </a:lnSpc>
                        <a:spcBef>
                          <a:spcPts val="0"/>
                        </a:spcBef>
                        <a:buNone/>
                      </a:pPr>
                      <a:r>
                        <a:rPr lang="en-US" sz="1500" b="true">
                          <a:solidFill>
                            <a:srgbClr val="111111"/>
                          </a:solidFill>
                          <a:latin typeface="Nunito Semi-Bold"/>
                          <a:ea typeface="Nunito Semi-Bold"/>
                          <a:cs typeface="Nunito Semi-Bold"/>
                          <a:sym typeface="Nunito Semi-Bold"/>
                        </a:rPr>
                        <a:t>the whole band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41" name="Rounded Rectangle 40"/>
          <p:cNvSpPr/>
          <p:nvPr/>
        </p:nvSpPr>
        <p:spPr>
          <a:xfrm>
            <a:off x="9166860" y="8008366"/>
            <a:ext cx="8092440" cy="1143000"/>
          </a:xfrm>
          <a:prstGeom prst="roundRect">
            <a:avLst>
              <a:gd name="adj" fmla="val 16000"/>
            </a:avLst>
          </a:prstGeom>
          <a:solidFill>
            <a:srgbClr val="F6ECDF"/>
          </a:solidFill>
          <a:ln>
            <a:noFill/>
          </a:ln>
        </p:spPr>
        <p:txBody>
          <a:bodyPr anchor="ctr" rtlCol="false" lIns="274320" tIns="73152" rIns="274320" bIns="73152" wrap="square"/>
          <a:lstStyle/>
          <a:p>
            <a:pPr algn="l">
              <a:lnSpc>
                <a:spcPts val="1900"/>
              </a:lnSpc>
              <a:spcBef>
                <a:spcPts val="0"/>
              </a:spcBef>
              <a:buNone/>
            </a:pPr>
            <a:r>
              <a:rPr lang="en-US" sz="1500" b="true">
                <a:solidFill>
                  <a:srgbClr val="111111"/>
                </a:solidFill>
                <a:latin typeface="Nunito Semi-Bold"/>
                <a:ea typeface="Nunito Semi-Bold"/>
                <a:cs typeface="Nunito Semi-Bold"/>
                <a:sym typeface="Nunito Semi-Bold"/>
              </a:rPr>
              <a:t>One arrival order, V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D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G: Voice adds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Drums takes 40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80 (</a:t>
            </a:r>
            <a:r>
              <a:rPr lang="en-US" sz="1500" b="true">
                <a:solidFill>
                  <a:srgbClr val="111111"/>
                </a:solidFill>
                <a:latin typeface="Nunito Bold"/>
                <a:ea typeface="Nunito Bold"/>
                <a:cs typeface="Nunito Bold"/>
                <a:sym typeface="Nunito Bold"/>
              </a:rPr>
              <a:t>+40</a:t>
            </a:r>
            <a:r>
              <a:rPr lang="en-US" sz="1500" b="true">
                <a:solidFill>
                  <a:srgbClr val="111111"/>
                </a:solidFill>
                <a:latin typeface="Nunito Semi-Bold"/>
                <a:ea typeface="Nunito Semi-Bold"/>
                <a:cs typeface="Nunito Semi-Bold"/>
                <a:sym typeface="Nunito Semi-Bold"/>
              </a:rPr>
              <a:t>), Guitar completes the band, 80 </a:t>
            </a:r>
            <a:r>
              <a:rPr lang="en-US" sz="1500" b="true">
                <a:solidFill>
                  <a:srgbClr val="111111"/>
                </a:solidFill>
                <a:latin typeface="Calibri"/>
                <a:ea typeface="Calibri"/>
                <a:cs typeface="Calibri"/>
                <a:sym typeface="Calibri"/>
              </a:rPr>
              <a:t>→ </a:t>
            </a:r>
            <a:r>
              <a:rPr lang="en-US" sz="1500" b="true">
                <a:solidFill>
                  <a:srgbClr val="111111"/>
                </a:solidFill>
                <a:latin typeface="Nunito Semi-Bold"/>
                <a:ea typeface="Nunito Semi-Bold"/>
                <a:cs typeface="Nunito Semi-Bold"/>
                <a:sym typeface="Nunito Semi-Bold"/>
              </a:rPr>
              <a:t>200 (</a:t>
            </a:r>
            <a:r>
              <a:rPr lang="en-US" sz="1500" b="true">
                <a:solidFill>
                  <a:srgbClr val="111111"/>
                </a:solidFill>
                <a:latin typeface="Nunito Bold"/>
                <a:ea typeface="Nunito Bold"/>
                <a:cs typeface="Nunito Bold"/>
                <a:sym typeface="Nunito Bold"/>
              </a:rPr>
              <a:t>+120</a:t>
            </a:r>
            <a:r>
              <a:rPr lang="en-US" sz="1500" b="true">
                <a:solidFill>
                  <a:srgbClr val="111111"/>
                </a:solidFill>
                <a:latin typeface="Nunito Semi-Bold"/>
                <a:ea typeface="Nunito Semi-Bold"/>
                <a:cs typeface="Nunito Semi-Bold"/>
                <a:sym typeface="Nunito Semi-Bold"/>
              </a:rPr>
              <a:t>). Averaged over all six orders: </a:t>
            </a:r>
            <a:r>
              <a:rPr lang="en-US" sz="1500" b="true">
                <a:solidFill>
                  <a:srgbClr val="111111"/>
                </a:solidFill>
                <a:latin typeface="Nunito Bold"/>
                <a:ea typeface="Nunito Bold"/>
                <a:cs typeface="Nunito Bold"/>
                <a:sym typeface="Nunito Bold"/>
              </a:rPr>
              <a:t>90 / 70 / 40</a:t>
            </a:r>
            <a:r>
              <a:rPr lang="en-US" sz="1500" b="true">
                <a:solidFill>
                  <a:srgbClr val="111111"/>
                </a:solidFill>
                <a:latin typeface="Nunito Semi-Bold"/>
                <a:ea typeface="Nunito Semi-Bold"/>
                <a:cs typeface="Nunito Semi-Bold"/>
                <a:sym typeface="Nunito Semi-Bold"/>
              </a:rPr>
              <a:t>, which sums to 200.</a:t>
            </a:r>
          </a:p>
        </p:txBody>
      </p:sp>
      <p:sp>
        <p:nvSpPr>
          <p:cNvPr id="42" name="Rounded Rectangle 41"/>
          <p:cNvSpPr/>
          <p:nvPr/>
        </p:nvSpPr>
        <p:spPr>
          <a:xfrm>
            <a:off x="9166860"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Efficiency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the shares add up to v(N)</a:t>
            </a:r>
          </a:p>
        </p:txBody>
      </p:sp>
      <p:sp>
        <p:nvSpPr>
          <p:cNvPr id="43" name="Rounded Rectangle 42"/>
          <p:cNvSpPr/>
          <p:nvPr/>
        </p:nvSpPr>
        <p:spPr>
          <a:xfrm>
            <a:off x="13313664" y="933424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Symmetry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equal contributors, equal credit</a:t>
            </a:r>
          </a:p>
        </p:txBody>
      </p:sp>
      <p:sp>
        <p:nvSpPr>
          <p:cNvPr id="44" name="Rounded Rectangle 43"/>
          <p:cNvSpPr/>
          <p:nvPr/>
        </p:nvSpPr>
        <p:spPr>
          <a:xfrm>
            <a:off x="9166860"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Null player</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adds nothing </a:t>
            </a:r>
            <a:r>
              <a:rPr lang="en-US" sz="1200" b="true">
                <a:solidFill>
                  <a:srgbClr val="8A8378"/>
                </a:solidFill>
                <a:latin typeface="Calibri"/>
                <a:ea typeface="Calibri"/>
                <a:cs typeface="Calibri"/>
                <a:sym typeface="Calibri"/>
              </a:rPr>
              <a:t>→ </a:t>
            </a:r>
            <a:r>
              <a:rPr lang="en-US" sz="1200" b="true">
                <a:solidFill>
                  <a:srgbClr val="8A8378"/>
                </a:solidFill>
                <a:latin typeface="Nunito Semi-Bold"/>
                <a:ea typeface="Nunito Semi-Bold"/>
                <a:cs typeface="Nunito Semi-Bold"/>
                <a:sym typeface="Nunito Semi-Bold"/>
              </a:rPr>
              <a:t>gets nothing</a:t>
            </a:r>
          </a:p>
        </p:txBody>
      </p:sp>
      <p:sp>
        <p:nvSpPr>
          <p:cNvPr id="45" name="Rounded Rectangle 44"/>
          <p:cNvSpPr/>
          <p:nvPr/>
        </p:nvSpPr>
        <p:spPr>
          <a:xfrm>
            <a:off x="13313664" y="10111486"/>
            <a:ext cx="3945636" cy="594360"/>
          </a:xfrm>
          <a:prstGeom prst="roundRect">
            <a:avLst>
              <a:gd name="adj" fmla="val 30769"/>
            </a:avLst>
          </a:prstGeom>
          <a:solidFill>
            <a:srgbClr val="F6ECDF"/>
          </a:solidFill>
          <a:ln>
            <a:noFill/>
          </a:ln>
        </p:spPr>
        <p:txBody>
          <a:bodyPr anchor="ctr" rtlCol="false" lIns="91440" tIns="45720" rIns="91440" bIns="45720" wrap="square"/>
          <a:lstStyle/>
          <a:p>
            <a:pPr algn="ctr">
              <a:lnSpc>
                <a:spcPts val="1840"/>
              </a:lnSpc>
              <a:spcBef>
                <a:spcPts val="0"/>
              </a:spcBef>
              <a:buNone/>
            </a:pPr>
            <a:r>
              <a:rPr lang="en-US" sz="1600" b="true">
                <a:solidFill>
                  <a:srgbClr val="111111"/>
                </a:solidFill>
                <a:latin typeface="Nunito Bold"/>
                <a:ea typeface="Nunito Bold"/>
                <a:cs typeface="Nunito Bold"/>
                <a:sym typeface="Nunito Bold"/>
              </a:rPr>
              <a:t>Additivity</a:t>
            </a:r>
          </a:p>
          <a:p>
            <a:pPr algn="ctr">
              <a:lnSpc>
                <a:spcPts val="1440"/>
              </a:lnSpc>
              <a:spcBef>
                <a:spcPts val="300"/>
              </a:spcBef>
              <a:buNone/>
            </a:pPr>
            <a:r>
              <a:rPr lang="en-US" sz="1200" b="true">
                <a:solidFill>
                  <a:srgbClr val="8A8378"/>
                </a:solidFill>
                <a:latin typeface="Nunito Semi-Bold"/>
                <a:ea typeface="Nunito Semi-Bold"/>
                <a:cs typeface="Nunito Semi-Bold"/>
                <a:sym typeface="Nunito Semi-Bold"/>
              </a:rPr>
              <a:t>linear across games</a:t>
            </a:r>
          </a:p>
        </p:txBody>
      </p:sp>
      <p:sp>
        <p:nvSpPr>
          <p:cNvPr id="46" name="Rounded Rectangle 45"/>
          <p:cNvSpPr/>
          <p:nvPr/>
        </p:nvSpPr>
        <p:spPr>
          <a:xfrm>
            <a:off x="9166860" y="10934446"/>
            <a:ext cx="8092440" cy="-1671574"/>
          </a:xfrm>
          <a:prstGeom prst="roundRect">
            <a:avLst>
              <a:gd name="adj" fmla="val 0"/>
            </a:avLst>
          </a:prstGeom>
          <a:solidFill>
            <a:srgbClr val="DF8330"/>
          </a:solidFill>
          <a:ln>
            <a:noFill/>
          </a:ln>
        </p:spPr>
        <p:txBody>
          <a:bodyPr anchor="ctr" rtlCol="false" lIns="274320" tIns="73152" rIns="274320" bIns="73152" wrap="square"/>
          <a:lstStyle/>
          <a:p>
            <a:pPr algn="ctr">
              <a:lnSpc>
                <a:spcPts val="2000"/>
              </a:lnSpc>
              <a:spcBef>
                <a:spcPts val="0"/>
              </a:spcBef>
              <a:buNone/>
            </a:pPr>
            <a:r>
              <a:rPr lang="en-US" sz="1600" b="true">
                <a:solidFill>
                  <a:srgbClr val="FFFFFF"/>
                </a:solidFill>
                <a:latin typeface="Nunito Bold"/>
                <a:ea typeface="Nunito Bold"/>
                <a:cs typeface="Nunito Bold"/>
                <a:sym typeface="Nunito Bold"/>
              </a:rPr>
              <a:t>Why this rule:</a:t>
            </a:r>
            <a:r>
              <a:rPr lang="en-US" sz="1600" b="true">
                <a:solidFill>
                  <a:srgbClr val="FFFFFF"/>
                </a:solidFill>
                <a:latin typeface="Nunito Semi-Bold"/>
                <a:ea typeface="Nunito Semi-Bold"/>
                <a:cs typeface="Nunito Semi-Bold"/>
                <a:sym typeface="Nunito Semi-Bold"/>
              </a:rPr>
              <a:t> Shapley proved it is the </a:t>
            </a:r>
            <a:r>
              <a:rPr lang="en-US" sz="1600" b="true">
                <a:solidFill>
                  <a:srgbClr val="FFFFFF"/>
                </a:solidFill>
                <a:latin typeface="Nunito Bold"/>
                <a:ea typeface="Nunito Bold"/>
                <a:cs typeface="Nunito Bold"/>
                <a:sym typeface="Nunito Bold"/>
              </a:rPr>
              <a:t>only</a:t>
            </a:r>
            <a:r>
              <a:rPr lang="en-US" sz="1600" b="true">
                <a:solidFill>
                  <a:srgbClr val="FFFFFF"/>
                </a:solidFill>
                <a:latin typeface="Nunito Semi-Bold"/>
                <a:ea typeface="Nunito Semi-Bold"/>
                <a:cs typeface="Nunito Semi-Bold"/>
                <a:sym typeface="Nunito Semi-Bold"/>
              </a:rPr>
              <a:t> allocation satisfying all four axioms at once.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Bridge: LightGBM Surrogate + TreeSHAP</a:t>
            </a:r>
          </a:p>
        </p:txBody>
      </p:sp>
      <p:pic>
        <p:nvPicPr>
          <p:cNvPr id="23" name="Picture 22" descr="image.png"/>
          <p:cNvPicPr>
            <a:picLocks noChangeAspect="1"/>
          </p:cNvPicPr>
          <p:nvPr/>
        </p:nvPicPr>
        <p:blipFill>
          <a:blip r:embed="rId3"/>
          <a:stretch>
            <a:fillRect/>
          </a:stretch>
        </p:blipFill>
        <p:spPr>
          <a:xfrm>
            <a:off x="12801592"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K-Means</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cluster labels</a:t>
            </a:r>
          </a:p>
        </p:txBody>
      </p:sp>
      <p:cxnSp>
        <p:nvCxnSpPr>
          <p:cNvPr id="29" name="Connector 28"/>
          <p:cNvCxnSpPr/>
          <p:nvPr/>
        </p:nvCxnSpPr>
        <p:spPr>
          <a:xfrm>
            <a:off x="4027932" y="4049522"/>
            <a:ext cx="1362456" cy="0"/>
          </a:xfrm>
          <a:prstGeom prst="line">
            <a:avLst/>
          </a:prstGeom>
          <a:ln w="31750">
            <a:solidFill>
              <a:srgbClr val="124944"/>
            </a:solidFill>
            <a:tailEnd type="triangle" w="med" len="med"/>
          </a:ln>
        </p:spPr>
      </p:cxnSp>
      <p:sp>
        <p:nvSpPr>
          <p:cNvPr id="30" name="Rounded Rectangle 29"/>
          <p:cNvSpPr/>
          <p:nvPr/>
        </p:nvSpPr>
        <p:spPr>
          <a:xfrm>
            <a:off x="546354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LightGBM</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multiclass surrogate</a:t>
            </a:r>
          </a:p>
        </p:txBody>
      </p:sp>
      <p:cxnSp>
        <p:nvCxnSpPr>
          <p:cNvPr id="31" name="Connector 30"/>
          <p:cNvCxnSpPr/>
          <p:nvPr/>
        </p:nvCxnSpPr>
        <p:spPr>
          <a:xfrm>
            <a:off x="8462772" y="4049522"/>
            <a:ext cx="1362456" cy="0"/>
          </a:xfrm>
          <a:prstGeom prst="line">
            <a:avLst/>
          </a:prstGeom>
          <a:ln w="31750">
            <a:solidFill>
              <a:srgbClr val="124944"/>
            </a:solidFill>
            <a:tailEnd type="triangle" w="med" len="med"/>
          </a:ln>
        </p:spPr>
      </p:cxnSp>
      <p:sp>
        <p:nvSpPr>
          <p:cNvPr id="32" name="Rounded Rectangle 31"/>
          <p:cNvSpPr/>
          <p:nvPr/>
        </p:nvSpPr>
        <p:spPr>
          <a:xfrm>
            <a:off x="9898380" y="3455162"/>
            <a:ext cx="2926080" cy="1188720"/>
          </a:xfrm>
          <a:prstGeom prst="roundRect">
            <a:avLst>
              <a:gd name="adj" fmla="val 16923"/>
            </a:avLst>
          </a:prstGeom>
          <a:solidFill>
            <a:srgbClr val="111111"/>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TreeSHAP</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exact attribution</a:t>
            </a:r>
          </a:p>
        </p:txBody>
      </p:sp>
      <p:cxnSp>
        <p:nvCxnSpPr>
          <p:cNvPr id="33" name="Connector 32"/>
          <p:cNvCxnSpPr/>
          <p:nvPr/>
        </p:nvCxnSpPr>
        <p:spPr>
          <a:xfrm>
            <a:off x="12897612" y="4049522"/>
            <a:ext cx="1362456" cy="0"/>
          </a:xfrm>
          <a:prstGeom prst="line">
            <a:avLst/>
          </a:prstGeom>
          <a:ln w="31750">
            <a:solidFill>
              <a:srgbClr val="124944"/>
            </a:solidFill>
            <a:tailEnd type="triangle" w="med" len="med"/>
          </a:ln>
        </p:spPr>
      </p:cxnSp>
      <p:sp>
        <p:nvSpPr>
          <p:cNvPr id="34" name="Rounded Rectangle 33"/>
          <p:cNvSpPr/>
          <p:nvPr/>
        </p:nvSpPr>
        <p:spPr>
          <a:xfrm>
            <a:off x="14333220" y="3455162"/>
            <a:ext cx="2926080" cy="1188720"/>
          </a:xfrm>
          <a:prstGeom prst="roundRect">
            <a:avLst>
              <a:gd name="adj" fmla="val 16923"/>
            </a:avLst>
          </a:prstGeom>
          <a:solidFill>
            <a:srgbClr val="DF8330"/>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Explanation</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original feature space</a:t>
            </a:r>
          </a:p>
        </p:txBody>
      </p:sp>
      <p:sp>
        <p:nvSpPr>
          <p:cNvPr id="35" name="Rounded Rectangle 34"/>
          <p:cNvSpPr/>
          <p:nvPr/>
        </p:nvSpPr>
        <p:spPr>
          <a:xfrm>
            <a:off x="1028700" y="5283962"/>
            <a:ext cx="7932420" cy="4070350"/>
          </a:xfrm>
          <a:prstGeom prst="roundRect">
            <a:avLst>
              <a:gd name="adj" fmla="val 7638"/>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1485900" y="5046218"/>
            <a:ext cx="1292063"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How</a:t>
            </a:r>
          </a:p>
        </p:txBody>
      </p:sp>
      <p:sp>
        <p:nvSpPr>
          <p:cNvPr id="37" name="TextBox 36"/>
          <p:cNvSpPr txBox="1"/>
          <p:nvPr/>
        </p:nvSpPr>
        <p:spPr>
          <a:xfrm>
            <a:off x="1531620" y="5924042"/>
            <a:ext cx="6972300" cy="315595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Once K-Means produces cluster labels, train a </a:t>
            </a:r>
            <a:r>
              <a:rPr lang="en-US" sz="2000" b="true">
                <a:solidFill>
                  <a:srgbClr val="FFFFFF"/>
                </a:solidFill>
                <a:latin typeface="Nunito Bold"/>
                <a:ea typeface="Nunito Bold"/>
                <a:cs typeface="Nunito Bold"/>
                <a:sym typeface="Nunito Bold"/>
              </a:rPr>
              <a:t>LightGBM multiclass surrogate</a:t>
            </a:r>
            <a:r>
              <a:rPr lang="en-US" sz="2000" b="true">
                <a:solidFill>
                  <a:srgbClr val="FFFFFF"/>
                </a:solidFill>
                <a:latin typeface="Nunito Semi-Bold"/>
                <a:ea typeface="Nunito Semi-Bold"/>
                <a:cs typeface="Nunito Semi-Bold"/>
                <a:sym typeface="Nunito Semi-Bold"/>
              </a:rPr>
              <a:t> to predict them from the original features.</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Apply </a:t>
            </a:r>
            <a:r>
              <a:rPr lang="en-US" sz="2000" b="true">
                <a:solidFill>
                  <a:srgbClr val="FFFFFF"/>
                </a:solidFill>
                <a:latin typeface="Nunito Bold"/>
                <a:ea typeface="Nunito Bold"/>
                <a:cs typeface="Nunito Bold"/>
                <a:sym typeface="Nunito Bold"/>
              </a:rPr>
              <a:t>TreeSHAP</a:t>
            </a:r>
            <a:r>
              <a:rPr lang="en-US" sz="2000" b="true">
                <a:solidFill>
                  <a:srgbClr val="FFFFFF"/>
                </a:solidFill>
                <a:latin typeface="Nunito Semi-Bold"/>
                <a:ea typeface="Nunito Semi-Bold"/>
                <a:cs typeface="Nunito Semi-Bold"/>
                <a:sym typeface="Nunito Semi-Bold"/>
              </a:rPr>
              <a:t> to the surrogate: fast, exact tree-based attribution in the original feature space.</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Aggregate into </a:t>
            </a:r>
            <a:r>
              <a:rPr lang="en-US" sz="2000" b="true">
                <a:solidFill>
                  <a:srgbClr val="FFFFFF"/>
                </a:solidFill>
                <a:latin typeface="Nunito Bold"/>
                <a:ea typeface="Nunito Bold"/>
                <a:cs typeface="Nunito Bold"/>
                <a:sym typeface="Nunito Bold"/>
              </a:rPr>
              <a:t>global importance</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cluster-specific profiles</a:t>
            </a:r>
            <a:r>
              <a:rPr lang="en-US" sz="2000" b="true">
                <a:solidFill>
                  <a:srgbClr val="FFFFFF"/>
                </a:solidFill>
                <a:latin typeface="Nunito Semi-Bold"/>
                <a:ea typeface="Nunito Semi-Bold"/>
                <a:cs typeface="Nunito Semi-Bold"/>
                <a:sym typeface="Nunito Semi-Bold"/>
              </a:rPr>
              <a:t> and </a:t>
            </a:r>
            <a:r>
              <a:rPr lang="en-US" sz="2000" b="true">
                <a:solidFill>
                  <a:srgbClr val="FFFFFF"/>
                </a:solidFill>
                <a:latin typeface="Nunito Bold"/>
                <a:ea typeface="Nunito Bold"/>
                <a:cs typeface="Nunito Bold"/>
                <a:sym typeface="Nunito Bold"/>
              </a:rPr>
              <a:t>local force plots</a:t>
            </a:r>
            <a:r>
              <a:rPr lang="en-US" sz="2000" b="true">
                <a:solidFill>
                  <a:srgbClr val="FFFFFF"/>
                </a:solidFill>
                <a:latin typeface="Nunito Semi-Bold"/>
                <a:ea typeface="Nunito Semi-Bold"/>
                <a:cs typeface="Nunito Semi-Bold"/>
                <a:sym typeface="Nunito Semi-Bold"/>
              </a:rPr>
              <a:t>.</a:t>
            </a:r>
          </a:p>
        </p:txBody>
      </p:sp>
      <p:sp>
        <p:nvSpPr>
          <p:cNvPr id="38" name="Rounded Rectangle 37"/>
          <p:cNvSpPr/>
          <p:nvPr/>
        </p:nvSpPr>
        <p:spPr>
          <a:xfrm>
            <a:off x="9326880" y="5283962"/>
            <a:ext cx="7932420" cy="4070350"/>
          </a:xfrm>
          <a:prstGeom prst="roundRect">
            <a:avLst>
              <a:gd name="adj" fmla="val 7638"/>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9784080" y="5046218"/>
            <a:ext cx="129839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Why</a:t>
            </a:r>
          </a:p>
        </p:txBody>
      </p:sp>
      <p:sp>
        <p:nvSpPr>
          <p:cNvPr id="40" name="TextBox 39"/>
          <p:cNvSpPr txBox="1"/>
          <p:nvPr/>
        </p:nvSpPr>
        <p:spPr>
          <a:xfrm>
            <a:off x="9829800" y="5924042"/>
            <a:ext cx="6972300" cy="31559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Direct TreeSHAP on K-Means is impossible: it explains </a:t>
            </a:r>
            <a:r>
              <a:rPr lang="en-US" sz="1820" b="true">
                <a:solidFill>
                  <a:srgbClr val="111111"/>
                </a:solidFill>
                <a:latin typeface="Nunito Bold"/>
                <a:ea typeface="Nunito Bold"/>
                <a:cs typeface="Nunito Bold"/>
                <a:sym typeface="Nunito Bold"/>
              </a:rPr>
              <a:t>tree models, not centroids</a:t>
            </a:r>
            <a:r>
              <a:rPr lang="en-US" sz="1820" b="true">
                <a:solidFill>
                  <a:srgbClr val="111111"/>
                </a:solidFill>
                <a:latin typeface="Nunito Semi-Bold"/>
                <a:ea typeface="Nunito Semi-Bold"/>
                <a:cs typeface="Nunito Semi-Bold"/>
                <a:sym typeface="Nunito Semi-Bold"/>
              </a:rPr>
              <a:t>.</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Explaining the PCA representation would move attribution away from the interpretable variables.</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The surrogate keeps the </a:t>
            </a:r>
            <a:r>
              <a:rPr lang="en-US" sz="1820" b="true">
                <a:solidFill>
                  <a:srgbClr val="111111"/>
                </a:solidFill>
                <a:latin typeface="Nunito Bold"/>
                <a:ea typeface="Nunito Bold"/>
                <a:cs typeface="Nunito Bold"/>
                <a:sym typeface="Nunito Bold"/>
              </a:rPr>
              <a:t>chemistry / pollution terms</a:t>
            </a:r>
            <a:r>
              <a:rPr lang="en-US" sz="1820" b="true">
                <a:solidFill>
                  <a:srgbClr val="111111"/>
                </a:solidFill>
                <a:latin typeface="Nunito Semi-Bold"/>
                <a:ea typeface="Nunito Semi-Bold"/>
                <a:cs typeface="Nunito Semi-Bold"/>
                <a:sym typeface="Nunito Semi-Bold"/>
              </a:rPr>
              <a:t> that make the analysis actionable.</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Bold"/>
                <a:ea typeface="Nunito Bold"/>
                <a:cs typeface="Nunito Bold"/>
                <a:sym typeface="Nunito Bold"/>
              </a:rPr>
              <a:t>Validity condition:</a:t>
            </a:r>
            <a:r>
              <a:rPr lang="en-US" sz="1820" b="true">
                <a:solidFill>
                  <a:srgbClr val="111111"/>
                </a:solidFill>
                <a:latin typeface="Nunito Semi-Bold"/>
                <a:ea typeface="Nunito Semi-Bold"/>
                <a:cs typeface="Nunito Semi-Bold"/>
                <a:sym typeface="Nunito Semi-Bold"/>
              </a:rPr>
              <a:t> surrogate fidelity is high, with </a:t>
            </a:r>
            <a:r>
              <a:rPr lang="en-US" sz="1820" b="true">
                <a:solidFill>
                  <a:srgbClr val="111111"/>
                </a:solidFill>
                <a:latin typeface="Nunito Bold"/>
                <a:ea typeface="Nunito Bold"/>
                <a:cs typeface="Nunito Bold"/>
                <a:sym typeface="Nunito Bold"/>
              </a:rPr>
              <a:t>macro-F1 ≈ 0.82</a:t>
            </a:r>
            <a:r>
              <a:rPr lang="en-US" sz="1820" b="true">
                <a:solidFill>
                  <a:srgbClr val="111111"/>
                </a:solidFill>
                <a:latin typeface="Nunito Semi-Bold"/>
                <a:ea typeface="Nunito Semi-Bold"/>
                <a:cs typeface="Nunito Semi-Bold"/>
                <a:sym typeface="Nunito Semi-Bold"/>
              </a:rPr>
              <a:t> as the floor.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[6] Lundberg, S. M. et al. From Local Explanations to Global Understanding with Explainable AI for Trees (TreeSHAP). Nature Machine Intelligence 2, 56–67 (2020).   [7] Ribeiro, M. T., Singh, S. &amp; Guestrin, C. "Why Should I Trust You?": Explaining the Predictions of Any Classifier (LIME). KDD, 1135–1144 (2016).   [17] Rousseeuw, P. J. Silhouettes: A Graphical Aid to the Interpretation and Validation of Cluster Analysis. J. Comput. Appl. Math. 20, 53–65 (1987).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617212"/>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Wine Quality, 4,898 samples × 11 standardised chemical features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PCA-stabilised data; k scanned over 2 … 10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Choice of 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Elbow + Silhouette + Davies–Bouldin, then an interpretability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LightGBM multiclass, five-fold cross-validation, macro-F1 as fidelity score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on the surrogate, in the original 11-feature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Outputs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Global mean |SHAP| ranking, per-cluster profiles,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LIME-based surrogate explanation on the same partition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Fidelity floor met:</a:t>
            </a:r>
            <a:r>
              <a:rPr lang="en-US" sz="1900" b="true">
                <a:solidFill>
                  <a:srgbClr val="FFFFFF"/>
                </a:solidFill>
                <a:latin typeface="Nunito Semi-Bold"/>
                <a:ea typeface="Nunito Semi-Bold"/>
                <a:cs typeface="Nunito Semi-Bold"/>
                <a:sym typeface="Nunito Semi-Bold"/>
              </a:rPr>
              <a:t> macro-F1 ≈ 0.82 or higher, otherwise the explanation is not trusted.</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Global ranking is chemically meaningful:</a:t>
            </a:r>
            <a:r>
              <a:rPr lang="en-US" sz="1900" b="true">
                <a:solidFill>
                  <a:srgbClr val="FFFFFF"/>
                </a:solidFill>
                <a:latin typeface="Nunito Semi-Bold"/>
                <a:ea typeface="Nunito Semi-Bold"/>
                <a:cs typeface="Nunito Semi-Bold"/>
                <a:sym typeface="Nunito Semi-Bold"/>
              </a:rPr>
              <a:t> the top features are ones an expert would name.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Clusters have distinct signatures:</a:t>
            </a:r>
            <a:r>
              <a:rPr lang="en-US" sz="1900" b="true">
                <a:solidFill>
                  <a:srgbClr val="FFFFFF"/>
                </a:solidFill>
                <a:latin typeface="Nunito Semi-Bold"/>
                <a:ea typeface="Nunito Semi-Bold"/>
                <a:cs typeface="Nunito Semi-Bold"/>
                <a:sym typeface="Nunito Semi-Bold"/>
              </a:rPr>
              <a:t> the same features, different weights per cluster.</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Shapley beats LIME</a:t>
            </a:r>
            <a:r>
              <a:rPr lang="en-US" sz="1900" b="true">
                <a:solidFill>
                  <a:srgbClr val="FFFFFF"/>
                </a:solidFill>
                <a:latin typeface="Nunito Semi-Bold"/>
                <a:ea typeface="Nunito Semi-Bold"/>
                <a:cs typeface="Nunito Semi-Bold"/>
                <a:sym typeface="Nunito Semi-Bold"/>
              </a:rPr>
              <a:t> on stability and cross-cluster comparison.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Choosing k: Interpretability over Geometry</a:t>
            </a:r>
          </a:p>
        </p:txBody>
      </p:sp>
      <p:pic>
        <p:nvPicPr>
          <p:cNvPr id="23" name="Picture 22" descr="image.png"/>
          <p:cNvPicPr>
            <a:picLocks noChangeAspect="1"/>
          </p:cNvPicPr>
          <p:nvPr/>
        </p:nvPicPr>
        <p:blipFill>
          <a:blip r:embed="rId3"/>
          <a:stretch>
            <a:fillRect/>
          </a:stretch>
        </p:blipFill>
        <p:spPr>
          <a:xfrm>
            <a:off x="1233191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Multi-criteria evaluation across </a:t>
            </a:r>
            <a:r>
              <a:rPr lang="en-US" sz="2100" b="true">
                <a:solidFill>
                  <a:srgbClr val="111111"/>
                </a:solidFill>
                <a:latin typeface="Nunito Bold"/>
                <a:ea typeface="Nunito Bold"/>
                <a:cs typeface="Nunito Bold"/>
                <a:sym typeface="Nunito Bold"/>
              </a:rPr>
              <a:t>k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{2 … 10}</a:t>
            </a:r>
            <a:r>
              <a:rPr lang="en-US" sz="2100" b="true">
                <a:solidFill>
                  <a:srgbClr val="111111"/>
                </a:solidFill>
                <a:latin typeface="Nunito Semi-Bold"/>
                <a:ea typeface="Nunito Semi-Bold"/>
                <a:cs typeface="Nunito Semi-Bold"/>
                <a:sym typeface="Nunito Semi-Bold"/>
              </a:rPr>
              <a:t> using elbow, Silhouette and Davies–Bouldin.</a:t>
            </a:r>
          </a:p>
          <a:p>
            <a:pPr algn="l" marL="274320" indent="-274320">
              <a:lnSpc>
                <a:spcPts val="3108"/>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We select </a:t>
            </a:r>
            <a:r>
              <a:rPr lang="en-US" sz="2100" b="true">
                <a:solidFill>
                  <a:srgbClr val="111111"/>
                </a:solidFill>
                <a:latin typeface="Nunito Bold"/>
                <a:ea typeface="Nunito Bold"/>
                <a:cs typeface="Nunito Bold"/>
                <a:sym typeface="Nunito Bold"/>
              </a:rPr>
              <a:t>k</a:t>
            </a:r>
            <a:r>
              <a:rPr lang="en-US" sz="2100" b="true" baseline="30000">
                <a:solidFill>
                  <a:srgbClr val="111111"/>
                </a:solidFill>
                <a:latin typeface="Nunito Bold"/>
                <a:ea typeface="Nunito Bold"/>
                <a:cs typeface="Nunito Bold"/>
                <a:sym typeface="Nunito Bold"/>
              </a:rPr>
              <a:t>*</a:t>
            </a:r>
            <a:r>
              <a:rPr lang="en-US" sz="2100" b="true">
                <a:solidFill>
                  <a:srgbClr val="111111"/>
                </a:solidFill>
                <a:latin typeface="Nunito Bold"/>
                <a:ea typeface="Nunito Bold"/>
                <a:cs typeface="Nunito Bold"/>
                <a:sym typeface="Nunito Bold"/>
              </a:rPr>
              <a:t> = 3, even though it is NOT the best geometry</a:t>
            </a:r>
            <a:r>
              <a:rPr lang="en-US" sz="21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2: Silhouette 0.214, Davies–Bouldin 1.775 (better separation).</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3: Silhouette 0.144, Davies–Bouldin 2.097 (weaker separation).</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a:t>
            </a:r>
            <a:r>
              <a:rPr lang="en-US" sz="2100" b="true">
                <a:solidFill>
                  <a:srgbClr val="111111"/>
                </a:solidFill>
                <a:latin typeface="Nunito Semi-Bold"/>
                <a:ea typeface="Nunito Semi-Bold"/>
                <a:cs typeface="Nunito Semi-Bold"/>
                <a:sym typeface="Nunito Semi-Bold"/>
              </a:rPr>
              <a:t> three clusters give a richer, more meaningful wine partition </a:t>
            </a:r>
            <a:r>
              <a:rPr lang="en-US" sz="2100" b="true">
                <a:solidFill>
                  <a:srgbClr val="111111"/>
                </a:solidFill>
                <a:latin typeface="Calibri"/>
                <a:ea typeface="Calibri"/>
                <a:cs typeface="Calibri"/>
                <a:sym typeface="Calibri"/>
              </a:rPr>
              <a:t>→ </a:t>
            </a:r>
            <a:r>
              <a:rPr lang="en-US" sz="2100" b="true">
                <a:solidFill>
                  <a:srgbClr val="111111"/>
                </a:solidFill>
                <a:latin typeface="Nunito Bold"/>
                <a:ea typeface="Nunito Bold"/>
                <a:cs typeface="Nunito Bold"/>
                <a:sym typeface="Nunito Bold"/>
              </a:rPr>
              <a:t>more actionable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Note: the higher Silhouette ≈ 0.63 belongs to Beijing (C2), not to this wine partition.</a:t>
            </a:r>
          </a:p>
        </p:txBody>
      </p:sp>
      <p:graphicFrame>
        <p:nvGraphicFramePr>
          <p:cNvPr id="29" name="Table 28"/>
          <p:cNvGraphicFramePr>
            <a:graphicFrameLocks noGrp="1"/>
          </p:cNvGraphicFramePr>
          <p:nvPr/>
        </p:nvGraphicFramePr>
        <p:xfrm>
          <a:off x="9441180" y="3363722"/>
          <a:ext cx="7818120" cy="2284984"/>
        </p:xfrm>
        <a:graphic>
          <a:graphicData uri="http://schemas.openxmlformats.org/drawingml/2006/table">
            <a:tbl>
              <a:tblPr firstRow="0" bandRow="0" firstCol="0" lastRow="0" lastCol="0" bandCol="0">
                <a:tableStyleId>{2D5ABB26-0587-4C30-8999-92F81FD0307C}</a:tableStyleId>
              </a:tblPr>
              <a:tblGrid>
                <a:gridCol w="977265"/>
                <a:gridCol w="1563624"/>
                <a:gridCol w="1954530"/>
                <a:gridCol w="3322701"/>
              </a:tblGrid>
              <a:tr h="776732">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k</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Silhouette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Davies–Bouldin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Reading</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best geometry, coarse meaning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31520">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3 </a:t>
                      </a:r>
                      <a:r>
                        <a:rPr lang="en-US" sz="17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0.144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2.097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richer wine partition · selected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Rounded Rectangle 29"/>
          <p:cNvSpPr/>
          <p:nvPr/>
        </p:nvSpPr>
        <p:spPr>
          <a:xfrm>
            <a:off x="9441180" y="6014466"/>
            <a:ext cx="3771900" cy="3294126"/>
          </a:xfrm>
          <a:prstGeom prst="roundRect">
            <a:avLst>
              <a:gd name="adj" fmla="val 8327"/>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a:t>
            </a:r>
            <a:r>
              <a:rPr lang="en-US" sz="4000" b="true" baseline="30000">
                <a:solidFill>
                  <a:srgbClr val="ECC665"/>
                </a:solidFill>
                <a:latin typeface="Nunito Ultra-Bold"/>
                <a:ea typeface="Nunito Ultra-Bold"/>
                <a:cs typeface="Nunito Ultra-Bold"/>
                <a:sym typeface="Nunito Ultra-Bold"/>
              </a:rPr>
              <a:t>*</a:t>
            </a:r>
            <a:r>
              <a:rPr lang="en-US" sz="4000" b="true">
                <a:solidFill>
                  <a:srgbClr val="ECC665"/>
                </a:solidFill>
                <a:latin typeface="Nunito Ultra-Bold"/>
                <a:ea typeface="Nunito Ultra-Bold"/>
                <a:cs typeface="Nunito Ultra-Bold"/>
                <a:sym typeface="Nunito Ultra-Bold"/>
              </a:rPr>
              <a:t>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chosen on </a:t>
            </a:r>
            <a:r>
              <a:rPr lang="en-US" sz="1700" b="true">
                <a:solidFill>
                  <a:srgbClr val="FFFFFF"/>
                </a:solidFill>
                <a:latin typeface="Nunito Bold"/>
                <a:ea typeface="Nunito Bold"/>
                <a:cs typeface="Nunito Bold"/>
                <a:sym typeface="Nunito Bold"/>
              </a:rPr>
              <a:t>interpretability</a:t>
            </a:r>
            <a:r>
              <a:rPr lang="en-US" sz="1700" b="true">
                <a:solidFill>
                  <a:srgbClr val="FFFFFF"/>
                </a:solidFill>
                <a:latin typeface="Nunito Semi-Bold"/>
                <a:ea typeface="Nunito Semi-Bold"/>
                <a:cs typeface="Nunito Semi-Bold"/>
                <a:sym typeface="Nunito Semi-Bold"/>
              </a:rPr>
              <a:t> grounds</a:t>
            </a:r>
          </a:p>
        </p:txBody>
      </p:sp>
      <p:sp>
        <p:nvSpPr>
          <p:cNvPr id="31" name="Rounded Rectangle 30"/>
          <p:cNvSpPr/>
          <p:nvPr/>
        </p:nvSpPr>
        <p:spPr>
          <a:xfrm>
            <a:off x="13487400" y="6014466"/>
            <a:ext cx="3771900" cy="3294126"/>
          </a:xfrm>
          <a:prstGeom prst="roundRect">
            <a:avLst>
              <a:gd name="adj" fmla="val 8327"/>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0.82</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surrogate </a:t>
            </a:r>
            <a:r>
              <a:rPr lang="en-US" sz="1700" b="true">
                <a:solidFill>
                  <a:srgbClr val="FFFFFF"/>
                </a:solidFill>
                <a:latin typeface="Nunito Bold"/>
                <a:ea typeface="Nunito Bold"/>
                <a:cs typeface="Nunito Bold"/>
                <a:sym typeface="Nunito Bold"/>
              </a:rPr>
              <a:t>macro-F1</a:t>
            </a:r>
            <a:r>
              <a:rPr lang="en-US" sz="1700" b="true">
                <a:solidFill>
                  <a:srgbClr val="FFFFFF"/>
                </a:solidFill>
                <a:latin typeface="Nunito Semi-Bold"/>
                <a:ea typeface="Nunito Semi-Bold"/>
                <a:cs typeface="Nunito Semi-Bold"/>
                <a:sym typeface="Nunito Semi-Bold"/>
              </a:rPr>
              <a:t> · fidelity floor met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Wine Quality</a:t>
            </a:r>
          </a:p>
        </p:txBody>
      </p:sp>
      <p:pic>
        <p:nvPicPr>
          <p:cNvPr id="23" name="Picture 22" descr="image.png"/>
          <p:cNvPicPr>
            <a:picLocks noChangeAspect="1"/>
          </p:cNvPicPr>
          <p:nvPr/>
        </p:nvPicPr>
        <p:blipFill>
          <a:blip r:embed="rId3"/>
          <a:stretch>
            <a:fillRect/>
          </a:stretch>
        </p:blipFill>
        <p:spPr>
          <a:xfrm>
            <a:off x="10549542"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58368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Mean |SHAP| ranks </a:t>
            </a:r>
            <a:r>
              <a:rPr lang="en-US" sz="1900" b="true">
                <a:solidFill>
                  <a:srgbClr val="111111"/>
                </a:solidFill>
                <a:latin typeface="Nunito Bold"/>
                <a:ea typeface="Nunito Bold"/>
                <a:cs typeface="Nunito Bold"/>
                <a:sym typeface="Nunito Bold"/>
              </a:rPr>
              <a:t>density</a:t>
            </a:r>
            <a:r>
              <a:rPr lang="en-US" sz="1900" b="true">
                <a:solidFill>
                  <a:srgbClr val="111111"/>
                </a:solidFill>
                <a:latin typeface="Nunito Semi-Bold"/>
                <a:ea typeface="Nunito Semi-Bold"/>
                <a:cs typeface="Nunito Semi-Bold"/>
                <a:sym typeface="Nunito Semi-Bold"/>
              </a:rPr>
              <a:t> first, then </a:t>
            </a:r>
            <a:r>
              <a:rPr lang="en-US" sz="1900" b="true">
                <a:solidFill>
                  <a:srgbClr val="111111"/>
                </a:solidFill>
                <a:latin typeface="Nunito Bold"/>
                <a:ea typeface="Nunito Bold"/>
                <a:cs typeface="Nunito Bold"/>
                <a:sym typeface="Nunito Bold"/>
              </a:rPr>
              <a:t>pH</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fixed acidity</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sulfur dioxide</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alcohol</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main drivers relate to </a:t>
            </a:r>
            <a:r>
              <a:rPr lang="en-US" sz="1900" b="true">
                <a:solidFill>
                  <a:srgbClr val="111111"/>
                </a:solidFill>
                <a:latin typeface="Nunito Bold"/>
                <a:ea typeface="Nunito Bold"/>
                <a:cs typeface="Nunito Bold"/>
                <a:sym typeface="Nunito Bold"/>
              </a:rPr>
              <a:t>structure, preservation and sensory balance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a:t>
            </a:r>
            <a:r>
              <a:rPr lang="en-US" sz="1900" b="true">
                <a:solidFill>
                  <a:srgbClr val="111111"/>
                </a:solidFill>
                <a:latin typeface="Nunito Bold"/>
                <a:ea typeface="Nunito Bold"/>
                <a:cs typeface="Nunito Bold"/>
                <a:sym typeface="Nunito Bold"/>
              </a:rPr>
              <a:t>NOT a random side effect of the classifier</a:t>
            </a:r>
            <a:r>
              <a:rPr lang="en-US" sz="1900" b="true">
                <a:solidFill>
                  <a:srgbClr val="111111"/>
                </a:solidFill>
                <a:latin typeface="Nunito Semi-Bold"/>
                <a:ea typeface="Nunito Semi-Bold"/>
                <a:cs typeface="Nunito Semi-Bold"/>
                <a:sym typeface="Nunito Semi-Bold"/>
              </a:rPr>
              <a:t>: the surrogate reproduces the partition from the original variables, so the ranking reflects the partition itself.</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Density and pH separate wine styles; sulfur dioxide reflects preservation; alcohol shapes body.</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Each driver is a </a:t>
            </a:r>
            <a:r>
              <a:rPr lang="en-US" sz="1900" b="true">
                <a:solidFill>
                  <a:srgbClr val="111111"/>
                </a:solidFill>
                <a:latin typeface="Nunito Bold"/>
                <a:ea typeface="Nunito Bold"/>
                <a:cs typeface="Nunito Bold"/>
                <a:sym typeface="Nunito Bold"/>
              </a:rPr>
              <a:t>domain-level factor that can be changed</a:t>
            </a:r>
            <a:r>
              <a:rPr lang="en-US" sz="1900" b="true">
                <a:solidFill>
                  <a:srgbClr val="111111"/>
                </a:solidFill>
                <a:latin typeface="Nunito Semi-Bold"/>
                <a:ea typeface="Nunito Semi-Bold"/>
                <a:cs typeface="Nunito Semi-Bold"/>
                <a:sym typeface="Nunito Semi-Bold"/>
              </a:rPr>
              <a:t>: exactly Definition 1.1 of an actionable insight.</a:t>
            </a:r>
          </a:p>
        </p:txBody>
      </p:sp>
      <p:sp>
        <p:nvSpPr>
          <p:cNvPr id="29" name="Rounded Rectangle 28"/>
          <p:cNvSpPr/>
          <p:nvPr/>
        </p:nvSpPr>
        <p:spPr>
          <a:xfrm>
            <a:off x="8069580" y="3363722"/>
            <a:ext cx="9189720" cy="4097400"/>
          </a:xfrm>
          <a:prstGeom prst="roundRect">
            <a:avLst>
              <a:gd name="adj" fmla="val 5579"/>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5_1_wine_global.png"/>
          <p:cNvPicPr>
            <a:picLocks noChangeAspect="1"/>
          </p:cNvPicPr>
          <p:nvPr/>
        </p:nvPicPr>
        <p:blipFill>
          <a:blip r:embed="rId5"/>
          <a:stretch>
            <a:fillRect/>
          </a:stretch>
        </p:blipFill>
        <p:spPr>
          <a:xfrm>
            <a:off x="9984489" y="3546602"/>
            <a:ext cx="5359901" cy="3320160"/>
          </a:xfrm>
          <a:prstGeom prst="rect">
            <a:avLst/>
          </a:prstGeom>
        </p:spPr>
      </p:pic>
      <p:sp>
        <p:nvSpPr>
          <p:cNvPr id="31" name="TextBox 30"/>
          <p:cNvSpPr txBox="1"/>
          <p:nvPr/>
        </p:nvSpPr>
        <p:spPr>
          <a:xfrm>
            <a:off x="8069580" y="7003923"/>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5.1 (thesis): global SHAP feature importance for the wine clustering surrogate</a:t>
            </a:r>
          </a:p>
        </p:txBody>
      </p:sp>
      <p:sp>
        <p:nvSpPr>
          <p:cNvPr id="32" name="Rounded Rectangle 31"/>
          <p:cNvSpPr/>
          <p:nvPr/>
        </p:nvSpPr>
        <p:spPr>
          <a:xfrm>
            <a:off x="8069580" y="7625715"/>
            <a:ext cx="9189720" cy="1591437"/>
          </a:xfrm>
          <a:prstGeom prst="roundRect">
            <a:avLst>
              <a:gd name="adj" fmla="val 14364"/>
            </a:avLst>
          </a:prstGeom>
          <a:solidFill>
            <a:srgbClr val="FFFFFF"/>
          </a:solidFill>
          <a:ln w="15875">
            <a:solidFill>
              <a:srgbClr val="E3D6C4"/>
            </a:solidFill>
          </a:ln>
        </p:spPr>
        <p:txBody>
          <a:bodyPr anchor="ctr" rtlCol="false" lIns="0" tIns="0" rIns="0" bIns="0" wrap="square"/>
          <a:lstStyle/>
          <a:p>
            <a:endParaRPr lang="en-US" sz="1800"/>
          </a:p>
        </p:txBody>
      </p:sp>
      <p:pic>
        <p:nvPicPr>
          <p:cNvPr id="33" name="Picture 32" descr="fig5_2_wine_clusters.png"/>
          <p:cNvPicPr>
            <a:picLocks noChangeAspect="1"/>
          </p:cNvPicPr>
          <p:nvPr/>
        </p:nvPicPr>
        <p:blipFill>
          <a:blip r:embed="rId6"/>
          <a:stretch>
            <a:fillRect/>
          </a:stretch>
        </p:blipFill>
        <p:spPr>
          <a:xfrm>
            <a:off x="10379599" y="7808595"/>
            <a:ext cx="4569680" cy="814197"/>
          </a:xfrm>
          <a:prstGeom prst="rect">
            <a:avLst/>
          </a:prstGeom>
        </p:spPr>
      </p:pic>
      <p:sp>
        <p:nvSpPr>
          <p:cNvPr id="34" name="TextBox 33"/>
          <p:cNvSpPr txBox="1"/>
          <p:nvPr/>
        </p:nvSpPr>
        <p:spPr>
          <a:xfrm>
            <a:off x="8069580" y="8759952"/>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5.2 (thesis): per-cluster SHAP signatures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RQ1</a:t>
            </a:r>
          </a:p>
        </p:txBody>
      </p:sp>
      <p:pic>
        <p:nvPicPr>
          <p:cNvPr id="23" name="Picture 22" descr="image.png"/>
          <p:cNvPicPr>
            <a:picLocks noChangeAspect="1"/>
          </p:cNvPicPr>
          <p:nvPr/>
        </p:nvPicPr>
        <p:blipFill>
          <a:blip r:embed="rId3"/>
          <a:stretch>
            <a:fillRect/>
          </a:stretch>
        </p:blipFill>
        <p:spPr>
          <a:xfrm>
            <a:off x="5060521"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RQ1</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a:t>
            </a:r>
            <a:r>
              <a:rPr lang="en-US" sz="2200" b="true">
                <a:solidFill>
                  <a:srgbClr val="111111"/>
                </a:solidFill>
                <a:latin typeface="Nunito Semi-Bold"/>
                <a:ea typeface="Nunito Semi-Bold"/>
                <a:cs typeface="Nunito Semi-Bold"/>
                <a:sym typeface="Nunito Semi-Bold"/>
              </a:rPr>
              <a:t> Shapley values explain a black-box partition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(given a high-fidelity surrogate) and </a:t>
            </a:r>
            <a:r>
              <a:rPr lang="en-US" sz="2200" b="true">
                <a:solidFill>
                  <a:srgbClr val="111111"/>
                </a:solidFill>
                <a:latin typeface="Nunito Bold"/>
                <a:ea typeface="Nunito Bold"/>
                <a:cs typeface="Nunito Bold"/>
                <a:sym typeface="Nunito Bold"/>
              </a:rPr>
              <a:t>consistently</a:t>
            </a:r>
            <a:r>
              <a:rPr lang="en-US" sz="2200" b="true">
                <a:solidFill>
                  <a:srgbClr val="111111"/>
                </a:solidFill>
                <a:latin typeface="Nunito Semi-Bold"/>
                <a:ea typeface="Nunito Semi-Bold"/>
                <a:cs typeface="Nunito Semi-Bold"/>
                <a:sym typeface="Nunito Semi-Bold"/>
              </a:rPr>
              <a:t> at cluster level, in the original feature space.</a:t>
            </a:r>
          </a:p>
        </p:txBody>
      </p:sp>
      <p:graphicFrame>
        <p:nvGraphicFramePr>
          <p:cNvPr id="31" name="Table 30"/>
          <p:cNvGraphicFramePr>
            <a:graphicFrameLocks noGrp="1"/>
          </p:cNvGraphicFramePr>
          <p:nvPr/>
        </p:nvGraphicFramePr>
        <p:xfrm>
          <a:off x="1028700" y="5421122"/>
          <a:ext cx="16230599" cy="3141472"/>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 with feature-level 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Global ranking + per-cluster SHAP profiles (Fig. 5.1, 5.2) +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Attribution in the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Density, pH, fixed acidity, sulfur dioxide, alcohol: no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Shapley justified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Four axioms; higher stability and cross-cluster comparability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 black-box partition can be explained at two levels at once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Cluster-level meaning is tied to single feature contributions, so the explanation is both global and local.</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Attribution lands in the chemistry, not in a latent space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Density, pH, fixed acidity, sulfur dioxide and alcohol: variables a wine maker can act on.</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Interpretability can outrank geometry when choosing k</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k = 3 was kept over k = 2 despite a lower Silhouette because it gives a richer, more useful partition.</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cooperative concept is what makes the explanation trustworthy</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Efficiency, symmetry, null player and additivity give guarantees that a local surrogate such as LIME does not.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SURROGATE DEPENDENCE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Fidelity depends on the </a:t>
            </a:r>
            <a:r>
              <a:rPr lang="en-US" sz="1900" b="true">
                <a:solidFill>
                  <a:srgbClr val="FFFFFF"/>
                </a:solidFill>
                <a:latin typeface="Nunito Bold"/>
                <a:ea typeface="Nunito Bold"/>
                <a:cs typeface="Nunito Bold"/>
                <a:sym typeface="Nunito Bold"/>
              </a:rPr>
              <a:t>LightGBM surrogate</a:t>
            </a:r>
            <a:r>
              <a:rPr lang="en-US" sz="1900" b="true">
                <a:solidFill>
                  <a:srgbClr val="FFFFFF"/>
                </a:solidFill>
                <a:latin typeface="Nunito Semi-Bold"/>
                <a:ea typeface="Nunito Semi-Bold"/>
                <a:cs typeface="Nunito Semi-Bold"/>
                <a:sym typeface="Nunito Semi-Bold"/>
              </a:rPr>
              <a:t>, not on the K-Means geometry directly; the fidelity floor must be checked every time.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structured, graph or image input in this contribution.</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SINGLE LEVEL</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Cannot explain how importance changes between a partition and its </a:t>
            </a:r>
            <a:r>
              <a:rPr lang="en-US" sz="1900" b="true">
                <a:solidFill>
                  <a:srgbClr val="FFFFFF"/>
                </a:solidFill>
                <a:latin typeface="Nunito Bold"/>
                <a:ea typeface="Nunito Bold"/>
                <a:cs typeface="Nunito Bold"/>
                <a:sym typeface="Nunito Bold"/>
              </a:rPr>
              <a:t>sub-partitions</a:t>
            </a:r>
            <a:r>
              <a:rPr lang="en-US" sz="1900" b="true">
                <a:solidFill>
                  <a:srgbClr val="FFFFFF"/>
                </a:solidFill>
                <a:latin typeface="Nunito Semi-Bold"/>
                <a:ea typeface="Nunito Semi-Bold"/>
                <a:cs typeface="Nunito Semi-Bold"/>
                <a:sym typeface="Nunito Semi-Bold"/>
              </a:rPr>
              <a: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surrogate approximation smooths out variation between single observations.</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single-level</a:t>
            </a:r>
            <a:r>
              <a:rPr lang="en-US" sz="2000" b="true">
                <a:solidFill>
                  <a:srgbClr val="111111"/>
                </a:solidFill>
                <a:latin typeface="Nunito Semi-Bold"/>
                <a:ea typeface="Nunito Semi-Bold"/>
                <a:cs typeface="Nunito Semi-Bold"/>
                <a:sym typeface="Nunito Semi-Bold"/>
              </a:rPr>
              <a:t> limitation is the one that matters most for what follows: real data are rarely flat.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a:t>
            </a:r>
          </a:p>
        </p:txBody>
      </p:sp>
      <p:pic>
        <p:nvPicPr>
          <p:cNvPr id="23" name="Picture 22" descr="image.png"/>
          <p:cNvPicPr>
            <a:picLocks noChangeAspect="1"/>
          </p:cNvPicPr>
          <p:nvPr/>
        </p:nvPicPr>
        <p:blipFill>
          <a:blip r:embed="rId3"/>
          <a:stretch>
            <a:fillRect/>
          </a:stretch>
        </p:blipFill>
        <p:spPr>
          <a:xfrm>
            <a:off x="7838100"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Single lens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One axiomatic rule explains the whole partition, cluster by cluster.</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Original space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answer comes back in variables an expert can change.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But…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Real data are rarely single-level: broad groups contain nested sub-groups.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367987"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is a </a:t>
            </a:r>
            <a:r>
              <a:rPr lang="en-US" sz="2300" b="true">
                <a:solidFill>
                  <a:srgbClr val="111111"/>
                </a:solidFill>
                <a:latin typeface="Nunito Bold"/>
                <a:ea typeface="Nunito Bold"/>
                <a:cs typeface="Nunito Bold"/>
                <a:sym typeface="Nunito Bold"/>
              </a:rPr>
              <a:t>well-founded lens</a:t>
            </a:r>
            <a:r>
              <a:rPr lang="en-US" sz="2300" b="true">
                <a:solidFill>
                  <a:srgbClr val="111111"/>
                </a:solidFill>
                <a:latin typeface="Nunito Semi-Bold"/>
                <a:ea typeface="Nunito Semi-Bold"/>
                <a:cs typeface="Nunito Semi-Bold"/>
                <a:sym typeface="Nunito Semi-Bold"/>
              </a:rPr>
              <a:t> for explaining an unsupervised partition, and keeping it in the </a:t>
            </a:r>
            <a:r>
              <a:rPr lang="en-US" sz="2300" b="true">
                <a:solidFill>
                  <a:srgbClr val="111111"/>
                </a:solidFill>
                <a:latin typeface="Nunito Bold"/>
                <a:ea typeface="Nunito Bold"/>
                <a:cs typeface="Nunito Bold"/>
                <a:sym typeface="Nunito Bold"/>
              </a:rPr>
              <a:t>original feature space</a:t>
            </a:r>
            <a:r>
              <a:rPr lang="en-US" sz="2300" b="true">
                <a:solidFill>
                  <a:srgbClr val="111111"/>
                </a:solidFill>
                <a:latin typeface="Nunito Semi-Bold"/>
                <a:ea typeface="Nunito Semi-Bold"/>
                <a:cs typeface="Nunito Semi-Bold"/>
                <a:sym typeface="Nunito Semi-Bold"/>
              </a:rPr>
              <a:t> is what makes the explanation actionable.</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question:</a:t>
            </a:r>
            <a:r>
              <a:rPr lang="en-US" sz="2000" b="true">
                <a:solidFill>
                  <a:srgbClr val="FFFFFF"/>
                </a:solidFill>
                <a:latin typeface="Nunito Semi-Bold"/>
                <a:ea typeface="Nunito Semi-Bold"/>
                <a:cs typeface="Nunito Semi-Bold"/>
                <a:sym typeface="Nunito Semi-Bold"/>
              </a:rPr>
              <a:t> does this logic survive scale and hierarchy?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38</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a:t>
            </a:r>
          </a:p>
        </p:txBody>
      </p:sp>
      <p:sp>
        <p:nvSpPr>
          <p:cNvPr id="8" name="Oval 7"/>
          <p:cNvSpPr/>
          <p:nvPr/>
        </p:nvSpPr>
        <p:spPr>
          <a:xfrm>
            <a:off x="13590479"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590479"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05</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Enhanced multi-level XAI for large-scale clustering  ·  answers RQ2</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 truly multi-level workflow, a formal cross-level consistency argument (Proposition 6.1), validation on a very different large dataset.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Recursive clustering, level-specific surrogates in the same feature space, size-weighted cross-level SHAP aggregation.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Beijing Air Quality (383,585 records): Silhouette ≈ 0.63, three atmospheric regimes, weather variables at the centre of the structure.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Once clustering is multi-level, feature importance must stay readable </a:t>
            </a:r>
            <a:r>
              <a:rPr lang="en-US" sz="2100" b="true">
                <a:solidFill>
                  <a:srgbClr val="111111"/>
                </a:solidFill>
                <a:latin typeface="Nunito Bold"/>
                <a:ea typeface="Nunito Bold"/>
                <a:cs typeface="Nunito Bold"/>
                <a:sym typeface="Nunito Bold"/>
              </a:rPr>
              <a:t>within a cluster, across sub-clusters and across the levels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Large-scale data make exact explanation </a:t>
            </a:r>
            <a:r>
              <a:rPr lang="en-US" sz="2100" b="true">
                <a:solidFill>
                  <a:srgbClr val="111111"/>
                </a:solidFill>
                <a:latin typeface="Nunito Bold"/>
                <a:ea typeface="Nunito Bold"/>
                <a:cs typeface="Nunito Bold"/>
                <a:sym typeface="Nunito Bold"/>
              </a:rPr>
              <a:t>too costly to compute</a:t>
            </a:r>
            <a:r>
              <a:rPr lang="en-US" sz="2100" b="true">
                <a:solidFill>
                  <a:srgbClr val="111111"/>
                </a:solidFill>
                <a:latin typeface="Nunito Semi-Bold"/>
                <a:ea typeface="Nunito Semi-Bold"/>
                <a:cs typeface="Nunito Semi-Bold"/>
                <a:sym typeface="Nunito Semi-Bold"/>
              </a:rPr>
              <a:t>: 383,585 records cannot be explained coalition by coalition.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 flat explanation may be true yet </a:t>
            </a:r>
            <a:r>
              <a:rPr lang="en-US" sz="2100" b="true">
                <a:solidFill>
                  <a:srgbClr val="111111"/>
                </a:solidFill>
                <a:latin typeface="Nunito Bold"/>
                <a:ea typeface="Nunito Bold"/>
                <a:cs typeface="Nunito Bold"/>
                <a:sym typeface="Nunito Bold"/>
              </a:rPr>
              <a:t>incomplete</a:t>
            </a:r>
            <a:r>
              <a:rPr lang="en-US" sz="2100" b="true">
                <a:solidFill>
                  <a:srgbClr val="111111"/>
                </a:solidFill>
                <a:latin typeface="Nunito Semi-Bold"/>
                <a:ea typeface="Nunito Semi-Bold"/>
                <a:cs typeface="Nunito Semi-Bold"/>
                <a:sym typeface="Nunito Semi-Bold"/>
              </a:rPr>
              <a:t>: it cannot show how importance changes inside a cluster.</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hierarchical clustering work reports structure but gives </a:t>
            </a:r>
            <a:r>
              <a:rPr lang="en-US" sz="2100" b="true">
                <a:solidFill>
                  <a:srgbClr val="111111"/>
                </a:solidFill>
                <a:latin typeface="Nunito Bold"/>
                <a:ea typeface="Nunito Bold"/>
                <a:cs typeface="Nunito Bold"/>
                <a:sym typeface="Nunito Bold"/>
              </a:rPr>
              <a:t>no formal link</a:t>
            </a:r>
            <a:r>
              <a:rPr lang="en-US" sz="2100" b="true">
                <a:solidFill>
                  <a:srgbClr val="111111"/>
                </a:solidFill>
                <a:latin typeface="Nunito Semi-Bold"/>
                <a:ea typeface="Nunito Semi-Bold"/>
                <a:cs typeface="Nunito Semi-Bold"/>
                <a:sym typeface="Nunito Semi-Bold"/>
              </a:rPr>
              <a:t> between the explanation of a parent and that of its children.</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multi-level explanation method for large-scale clustering that is </a:t>
            </a:r>
            <a:r>
              <a:rPr lang="en-US" sz="2200" b="true">
                <a:solidFill>
                  <a:srgbClr val="111111"/>
                </a:solidFill>
                <a:latin typeface="Nunito Bold"/>
                <a:ea typeface="Nunito Bold"/>
                <a:cs typeface="Nunito Bold"/>
                <a:sym typeface="Nunito Bold"/>
              </a:rPr>
              <a:t>both computationally feasible and provably consistent across levels</a:t>
            </a:r>
            <a:r>
              <a:rPr lang="en-US" sz="22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RQ2 and Objectives</a:t>
            </a:r>
          </a:p>
        </p:txBody>
      </p:sp>
      <p:pic>
        <p:nvPicPr>
          <p:cNvPr id="23" name="Picture 22" descr="image.png"/>
          <p:cNvPicPr>
            <a:picLocks noChangeAspect="1"/>
          </p:cNvPicPr>
          <p:nvPr/>
        </p:nvPicPr>
        <p:blipFill>
          <a:blip r:embed="rId3"/>
          <a:stretch>
            <a:fillRect/>
          </a:stretch>
        </p:blipFill>
        <p:spPr>
          <a:xfrm>
            <a:off x="6337553"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RQ2</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the Shapley explanation extend to </a:t>
            </a:r>
            <a:r>
              <a:rPr lang="en-US" sz="2200" b="true">
                <a:solidFill>
                  <a:srgbClr val="111111"/>
                </a:solidFill>
                <a:latin typeface="Nunito Bold"/>
                <a:ea typeface="Nunito Bold"/>
                <a:cs typeface="Nunito Bold"/>
                <a:sym typeface="Nunito Bold"/>
              </a:rPr>
              <a:t>large-scale, multi-level clustering</a:t>
            </a:r>
            <a:r>
              <a:rPr lang="en-US" sz="2200" b="true">
                <a:solidFill>
                  <a:srgbClr val="111111"/>
                </a:solidFill>
                <a:latin typeface="Nunito Semi-Bold"/>
                <a:ea typeface="Nunito Semi-Bold"/>
                <a:cs typeface="Nunito Semi-Bold"/>
                <a:sym typeface="Nunito Semi-Bold"/>
              </a:rPr>
              <a:t> while staying feasible and consistent?</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Recursive clustering with </a:t>
                      </a:r>
                      <a:r>
                        <a:rPr lang="en-US" sz="1800" b="true">
                          <a:solidFill>
                            <a:srgbClr val="111111"/>
                          </a:solidFill>
                          <a:latin typeface="Nunito Bold"/>
                          <a:ea typeface="Nunito Bold"/>
                          <a:cs typeface="Nunito Bold"/>
                          <a:sym typeface="Nunito Bold"/>
                        </a:rPr>
                        <a:t>level-specific surrogates</a:t>
                      </a:r>
                      <a:r>
                        <a:rPr lang="en-US" sz="1800" b="true">
                          <a:solidFill>
                            <a:srgbClr val="111111"/>
                          </a:solidFill>
                          <a:latin typeface="Nunito Semi-Bold"/>
                          <a:ea typeface="Nunito Semi-Bold"/>
                          <a:cs typeface="Nunito Semi-Bold"/>
                          <a:sym typeface="Nunito Semi-Bold"/>
                        </a:rPr>
                        <a:t>, not a rerun of the single-level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Workflow, Fig. 6.3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 formal consistency argument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Proposition 6.1</a:t>
                      </a:r>
                      <a:r>
                        <a:rPr lang="en-US" sz="1800" b="true">
                          <a:solidFill>
                            <a:srgbClr val="111111"/>
                          </a:solidFill>
                          <a:latin typeface="Nunito Semi-Bold"/>
                          <a:ea typeface="Nunito Semi-Bold"/>
                          <a:cs typeface="Nunito Semi-Bold"/>
                          <a:sym typeface="Nunito Semi-Bold"/>
                        </a:rPr>
                        <a:t>: parent importance equals the size-weighted expectation over its children.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at scale on new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Multi-Site Air Quality: </a:t>
                      </a:r>
                      <a:r>
                        <a:rPr lang="en-US" sz="1800" b="true">
                          <a:solidFill>
                            <a:srgbClr val="111111"/>
                          </a:solidFill>
                          <a:latin typeface="Nunito Bold"/>
                          <a:ea typeface="Nunito Bold"/>
                          <a:cs typeface="Nunito Bold"/>
                          <a:sym typeface="Nunito Bold"/>
                        </a:rPr>
                        <a:t>383,585 hourly records</a:t>
                      </a:r>
                      <a:r>
                        <a:rPr lang="en-US" sz="1800" b="true">
                          <a:solidFill>
                            <a:srgbClr val="111111"/>
                          </a:solidFill>
                          <a:latin typeface="Nunito Semi-Bold"/>
                          <a:ea typeface="Nunito Semi-Bold"/>
                          <a:cs typeface="Nunito Semi-Bold"/>
                          <a:sym typeface="Nunito Semi-Bold"/>
                        </a:rPr>
                        <a:t>, a domain far from wine.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6.1, Fig. 6.1, 6.2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Multi-Level Workflow with Cross-Level Aggregation</a:t>
            </a:r>
          </a:p>
        </p:txBody>
      </p:sp>
      <p:pic>
        <p:nvPicPr>
          <p:cNvPr id="23" name="Picture 22" descr="image.png"/>
          <p:cNvPicPr>
            <a:picLocks noChangeAspect="1"/>
          </p:cNvPicPr>
          <p:nvPr/>
        </p:nvPicPr>
        <p:blipFill>
          <a:blip r:embed="rId3"/>
          <a:stretch>
            <a:fillRect/>
          </a:stretch>
        </p:blipFill>
        <p:spPr>
          <a:xfrm>
            <a:off x="14669741"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Recursive / nested:</a:t>
            </a:r>
            <a:r>
              <a:rPr lang="en-US" sz="2100" b="true">
                <a:solidFill>
                  <a:srgbClr val="111111"/>
                </a:solidFill>
                <a:latin typeface="Nunito Semi-Bold"/>
                <a:ea typeface="Nunito Semi-Bold"/>
                <a:cs typeface="Nunito Semi-Bold"/>
                <a:sym typeface="Nunito Semi-Bold"/>
              </a:rPr>
              <a:t> coarse clustering on the full dataset, then split each cluster again.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For each level, train a </a:t>
            </a:r>
            <a:r>
              <a:rPr lang="en-US" sz="2100" b="true">
                <a:solidFill>
                  <a:srgbClr val="111111"/>
                </a:solidFill>
                <a:latin typeface="Nunito Bold"/>
                <a:ea typeface="Nunito Bold"/>
                <a:cs typeface="Nunito Bold"/>
                <a:sym typeface="Nunito Bold"/>
              </a:rPr>
              <a:t>level-specific surrogate</a:t>
            </a:r>
            <a:r>
              <a:rPr lang="en-US" sz="2100" b="true">
                <a:solidFill>
                  <a:srgbClr val="111111"/>
                </a:solidFill>
                <a:latin typeface="Nunito Semi-Bold"/>
                <a:ea typeface="Nunito Semi-Bold"/>
                <a:cs typeface="Nunito Semi-Bold"/>
                <a:sym typeface="Nunito Semi-Bold"/>
              </a:rPr>
              <a:t> and compute SHAP in the </a:t>
            </a:r>
            <a:r>
              <a:rPr lang="en-US" sz="2100" b="true">
                <a:solidFill>
                  <a:srgbClr val="111111"/>
                </a:solidFill>
                <a:latin typeface="Nunito Bold"/>
                <a:ea typeface="Nunito Bold"/>
                <a:cs typeface="Nunito Bold"/>
                <a:sym typeface="Nunito Bold"/>
              </a:rPr>
              <a:t>SAME original feature space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Cross-level aggregation is </a:t>
            </a:r>
            <a:r>
              <a:rPr lang="en-US" sz="2100" b="true">
                <a:solidFill>
                  <a:srgbClr val="111111"/>
                </a:solidFill>
                <a:latin typeface="Nunito Bold"/>
                <a:ea typeface="Nunito Bold"/>
                <a:cs typeface="Nunito Bold"/>
                <a:sym typeface="Nunito Bold"/>
              </a:rPr>
              <a:t>NOT a naive average</a:t>
            </a:r>
            <a:r>
              <a:rPr lang="en-US" sz="2100" b="true">
                <a:solidFill>
                  <a:srgbClr val="111111"/>
                </a:solidFill>
                <a:latin typeface="Nunito Semi-Bold"/>
                <a:ea typeface="Nunito Semi-Bold"/>
                <a:cs typeface="Nunito Semi-Bold"/>
                <a:sym typeface="Nunito Semi-Bold"/>
              </a:rPr>
              <a:t>: it respects cluster size and nesting structure.</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Parent-level attribution = an </a:t>
            </a:r>
            <a:r>
              <a:rPr lang="en-US" sz="1900" b="true">
                <a:solidFill>
                  <a:srgbClr val="111111"/>
                </a:solidFill>
                <a:latin typeface="Nunito Bold"/>
                <a:ea typeface="Nunito Bold"/>
                <a:cs typeface="Nunito Bold"/>
                <a:sym typeface="Nunito Bold"/>
              </a:rPr>
              <a:t>expectation over the explanations of its children</a:t>
            </a:r>
            <a:r>
              <a:rPr lang="en-US" sz="19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The hierarchy is a practical analysis tool, not a claim that nature is really organised this way.</a:t>
            </a:r>
          </a:p>
        </p:txBody>
      </p:sp>
      <p:sp>
        <p:nvSpPr>
          <p:cNvPr id="29" name="Rounded Rectangle 28"/>
          <p:cNvSpPr/>
          <p:nvPr/>
        </p:nvSpPr>
        <p:spPr>
          <a:xfrm>
            <a:off x="11258550" y="3363722"/>
            <a:ext cx="4000500" cy="868680"/>
          </a:xfrm>
          <a:prstGeom prst="roundRect">
            <a:avLst>
              <a:gd name="adj" fmla="val 21052"/>
            </a:avLst>
          </a:prstGeom>
          <a:solidFill>
            <a:srgbClr val="111111"/>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Level 1 · coarse clustering (k = 3)</a:t>
            </a:r>
          </a:p>
        </p:txBody>
      </p:sp>
      <p:sp>
        <p:nvSpPr>
          <p:cNvPr id="30" name="Rounded Rectangle 29"/>
          <p:cNvSpPr/>
          <p:nvPr/>
        </p:nvSpPr>
        <p:spPr>
          <a:xfrm>
            <a:off x="9258300" y="4826762"/>
            <a:ext cx="2514600" cy="1234440"/>
          </a:xfrm>
          <a:prstGeom prst="roundRect">
            <a:avLst>
              <a:gd name="adj" fmla="val 14814"/>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A</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temp · dew point · ozone</a:t>
            </a:r>
          </a:p>
        </p:txBody>
      </p:sp>
      <p:cxnSp>
        <p:nvCxnSpPr>
          <p:cNvPr id="31" name="Connector 30"/>
          <p:cNvCxnSpPr/>
          <p:nvPr/>
        </p:nvCxnSpPr>
        <p:spPr>
          <a:xfrm flipH="1">
            <a:off x="10515600" y="4278122"/>
            <a:ext cx="2743200" cy="502920"/>
          </a:xfrm>
          <a:prstGeom prst="line">
            <a:avLst/>
          </a:prstGeom>
          <a:ln w="25400">
            <a:solidFill>
              <a:srgbClr val="124944"/>
            </a:solidFill>
            <a:tailEnd type="triangle" w="med" len="med"/>
          </a:ln>
        </p:spPr>
      </p:cxnSp>
      <p:sp>
        <p:nvSpPr>
          <p:cNvPr id="32" name="Rounded Rectangle 31"/>
          <p:cNvSpPr/>
          <p:nvPr/>
        </p:nvSpPr>
        <p:spPr>
          <a:xfrm>
            <a:off x="92583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3" name="Connector 32"/>
          <p:cNvCxnSpPr/>
          <p:nvPr/>
        </p:nvCxnSpPr>
        <p:spPr>
          <a:xfrm flipH="1">
            <a:off x="9859518" y="6088634"/>
            <a:ext cx="656082" cy="393192"/>
          </a:xfrm>
          <a:prstGeom prst="line">
            <a:avLst/>
          </a:prstGeom>
          <a:ln w="19050">
            <a:solidFill>
              <a:srgbClr val="124944"/>
            </a:solidFill>
            <a:tailEnd type="triangle" w="med" len="med"/>
          </a:ln>
        </p:spPr>
      </p:cxnSp>
      <p:sp>
        <p:nvSpPr>
          <p:cNvPr id="34" name="Rounded Rectangle 33"/>
          <p:cNvSpPr/>
          <p:nvPr/>
        </p:nvSpPr>
        <p:spPr>
          <a:xfrm>
            <a:off x="105704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35" name="Connector 34"/>
          <p:cNvCxnSpPr/>
          <p:nvPr/>
        </p:nvCxnSpPr>
        <p:spPr>
          <a:xfrm>
            <a:off x="10515600" y="6088634"/>
            <a:ext cx="656082" cy="393192"/>
          </a:xfrm>
          <a:prstGeom prst="line">
            <a:avLst/>
          </a:prstGeom>
          <a:ln w="19050">
            <a:solidFill>
              <a:srgbClr val="124944"/>
            </a:solidFill>
            <a:tailEnd type="triangle" w="med" len="med"/>
          </a:ln>
        </p:spPr>
      </p:cxnSp>
      <p:sp>
        <p:nvSpPr>
          <p:cNvPr id="36" name="Rounded Rectangle 35"/>
          <p:cNvSpPr/>
          <p:nvPr/>
        </p:nvSpPr>
        <p:spPr>
          <a:xfrm>
            <a:off x="12001500" y="4826762"/>
            <a:ext cx="2514600" cy="1234440"/>
          </a:xfrm>
          <a:prstGeom prst="roundRect">
            <a:avLst>
              <a:gd name="adj" fmla="val 14814"/>
            </a:avLst>
          </a:prstGeom>
          <a:solidFill>
            <a:srgbClr val="1E5F58"/>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B</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CO · SO₂ · PM · wind</a:t>
            </a:r>
          </a:p>
        </p:txBody>
      </p:sp>
      <p:cxnSp>
        <p:nvCxnSpPr>
          <p:cNvPr id="37" name="Connector 36"/>
          <p:cNvCxnSpPr/>
          <p:nvPr/>
        </p:nvCxnSpPr>
        <p:spPr>
          <a:xfrm>
            <a:off x="13258800" y="4278122"/>
            <a:ext cx="0" cy="502920"/>
          </a:xfrm>
          <a:prstGeom prst="line">
            <a:avLst/>
          </a:prstGeom>
          <a:ln w="25400">
            <a:solidFill>
              <a:srgbClr val="124944"/>
            </a:solidFill>
            <a:tailEnd type="triangle" w="med" len="med"/>
          </a:ln>
        </p:spPr>
      </p:cxnSp>
      <p:sp>
        <p:nvSpPr>
          <p:cNvPr id="38" name="Rounded Rectangle 37"/>
          <p:cNvSpPr/>
          <p:nvPr/>
        </p:nvSpPr>
        <p:spPr>
          <a:xfrm>
            <a:off x="120015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9" name="Connector 38"/>
          <p:cNvCxnSpPr/>
          <p:nvPr/>
        </p:nvCxnSpPr>
        <p:spPr>
          <a:xfrm flipH="1">
            <a:off x="12602718" y="6088634"/>
            <a:ext cx="656082" cy="393192"/>
          </a:xfrm>
          <a:prstGeom prst="line">
            <a:avLst/>
          </a:prstGeom>
          <a:ln w="19050">
            <a:solidFill>
              <a:srgbClr val="124944"/>
            </a:solidFill>
            <a:tailEnd type="triangle" w="med" len="med"/>
          </a:ln>
        </p:spPr>
      </p:cxnSp>
      <p:sp>
        <p:nvSpPr>
          <p:cNvPr id="40" name="Rounded Rectangle 39"/>
          <p:cNvSpPr/>
          <p:nvPr/>
        </p:nvSpPr>
        <p:spPr>
          <a:xfrm>
            <a:off x="133136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1" name="Connector 40"/>
          <p:cNvCxnSpPr/>
          <p:nvPr/>
        </p:nvCxnSpPr>
        <p:spPr>
          <a:xfrm>
            <a:off x="13258800" y="6088634"/>
            <a:ext cx="656082" cy="393192"/>
          </a:xfrm>
          <a:prstGeom prst="line">
            <a:avLst/>
          </a:prstGeom>
          <a:ln w="19050">
            <a:solidFill>
              <a:srgbClr val="124944"/>
            </a:solidFill>
            <a:tailEnd type="triangle" w="med" len="med"/>
          </a:ln>
        </p:spPr>
      </p:cxnSp>
      <p:sp>
        <p:nvSpPr>
          <p:cNvPr id="42" name="Rounded Rectangle 41"/>
          <p:cNvSpPr/>
          <p:nvPr/>
        </p:nvSpPr>
        <p:spPr>
          <a:xfrm>
            <a:off x="14744700" y="4826762"/>
            <a:ext cx="2514600" cy="1234440"/>
          </a:xfrm>
          <a:prstGeom prst="roundRect">
            <a:avLst>
              <a:gd name="adj" fmla="val 148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C</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clean air · weather</a:t>
            </a:r>
          </a:p>
        </p:txBody>
      </p:sp>
      <p:cxnSp>
        <p:nvCxnSpPr>
          <p:cNvPr id="43" name="Connector 42"/>
          <p:cNvCxnSpPr/>
          <p:nvPr/>
        </p:nvCxnSpPr>
        <p:spPr>
          <a:xfrm>
            <a:off x="13258800" y="4278122"/>
            <a:ext cx="2743200" cy="502920"/>
          </a:xfrm>
          <a:prstGeom prst="line">
            <a:avLst/>
          </a:prstGeom>
          <a:ln w="25400">
            <a:solidFill>
              <a:srgbClr val="124944"/>
            </a:solidFill>
            <a:tailEnd type="triangle" w="med" len="med"/>
          </a:ln>
        </p:spPr>
      </p:cxnSp>
      <p:sp>
        <p:nvSpPr>
          <p:cNvPr id="44" name="Rounded Rectangle 43"/>
          <p:cNvSpPr/>
          <p:nvPr/>
        </p:nvSpPr>
        <p:spPr>
          <a:xfrm>
            <a:off x="147447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45" name="Connector 44"/>
          <p:cNvCxnSpPr/>
          <p:nvPr/>
        </p:nvCxnSpPr>
        <p:spPr>
          <a:xfrm flipH="1">
            <a:off x="15345918" y="6088634"/>
            <a:ext cx="656082" cy="393192"/>
          </a:xfrm>
          <a:prstGeom prst="line">
            <a:avLst/>
          </a:prstGeom>
          <a:ln w="19050">
            <a:solidFill>
              <a:srgbClr val="124944"/>
            </a:solidFill>
            <a:tailEnd type="triangle" w="med" len="med"/>
          </a:ln>
        </p:spPr>
      </p:cxnSp>
      <p:sp>
        <p:nvSpPr>
          <p:cNvPr id="46" name="Rounded Rectangle 45"/>
          <p:cNvSpPr/>
          <p:nvPr/>
        </p:nvSpPr>
        <p:spPr>
          <a:xfrm>
            <a:off x="160568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7" name="Connector 46"/>
          <p:cNvCxnSpPr/>
          <p:nvPr/>
        </p:nvCxnSpPr>
        <p:spPr>
          <a:xfrm>
            <a:off x="16002000" y="6088634"/>
            <a:ext cx="656082" cy="393192"/>
          </a:xfrm>
          <a:prstGeom prst="line">
            <a:avLst/>
          </a:prstGeom>
          <a:ln w="19050">
            <a:solidFill>
              <a:srgbClr val="124944"/>
            </a:solidFill>
            <a:tailEnd type="triangle" w="med" len="med"/>
          </a:ln>
        </p:spPr>
      </p:cxnSp>
      <p:sp>
        <p:nvSpPr>
          <p:cNvPr id="48" name="Rounded Rectangle 47"/>
          <p:cNvSpPr/>
          <p:nvPr/>
        </p:nvSpPr>
        <p:spPr>
          <a:xfrm>
            <a:off x="9258300" y="7341362"/>
            <a:ext cx="8001000" cy="1967230"/>
          </a:xfrm>
          <a:prstGeom prst="roundRect">
            <a:avLst>
              <a:gd name="adj" fmla="val 11620"/>
            </a:avLst>
          </a:prstGeom>
          <a:solidFill>
            <a:srgbClr val="124944"/>
          </a:solidFill>
          <a:ln>
            <a:noFill/>
          </a:ln>
        </p:spPr>
        <p:txBody>
          <a:bodyPr anchor="ctr" rtlCol="false" lIns="0" tIns="0" rIns="0" bIns="0" wrap="square"/>
          <a:lstStyle/>
          <a:p>
            <a:endParaRPr lang="en-US" sz="1800"/>
          </a:p>
        </p:txBody>
      </p:sp>
      <p:sp>
        <p:nvSpPr>
          <p:cNvPr id="49" name="TextBox 48"/>
          <p:cNvSpPr txBox="1"/>
          <p:nvPr/>
        </p:nvSpPr>
        <p:spPr>
          <a:xfrm>
            <a:off x="9258300" y="7487666"/>
            <a:ext cx="8001000" cy="274320"/>
          </a:xfrm>
          <a:prstGeom prst="rect">
            <a:avLst/>
          </a:prstGeom>
          <a:noFill/>
        </p:spPr>
        <p:txBody>
          <a:bodyPr anchor="t" rtlCol="false" lIns="0" tIns="0" rIns="0" bIns="0" wrap="square"/>
          <a:lstStyle/>
          <a:p>
            <a:pPr algn="ctr">
              <a:lnSpc>
                <a:spcPts val="1700"/>
              </a:lnSpc>
              <a:spcBef>
                <a:spcPts val="0"/>
              </a:spcBef>
              <a:buNone/>
            </a:pPr>
            <a:r>
              <a:rPr lang="en-US" sz="1300" b="true" spc="150">
                <a:solidFill>
                  <a:srgbClr val="ECC665"/>
                </a:solidFill>
                <a:latin typeface="Nunito Ultra-Bold"/>
                <a:ea typeface="Nunito Ultra-Bold"/>
                <a:cs typeface="Nunito Ultra-Bold"/>
                <a:sym typeface="Nunito Ultra-Bold"/>
              </a:rPr>
              <a:t>PROPOSITION 6.1  ·  CROSS-LEVEL CONSISTENCY</a:t>
            </a:r>
          </a:p>
        </p:txBody>
      </p:sp>
      <mc:AlternateContent xmlns:mc="http://schemas.openxmlformats.org/markup-compatibility/2006">
        <mc:Choice xmlns:a14="http://schemas.microsoft.com/office/drawing/2010/main" Requires="a14">
          <p:sp>
            <p:nvSpPr>
              <p:cNvPr id="50" name="Equation"/>
              <p:cNvSpPr txBox="1"/>
              <p:nvPr/>
            </p:nvSpPr>
            <p:spPr>
              <a:xfrm>
                <a:off x="9441180" y="7761986"/>
                <a:ext cx="7635240" cy="96012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nary>
                        <m:naryPr>
                          <m:chr m:val="∑"/>
                          <m:limLoc m:val="subSup"/>
                          <m:supHide m:val="1"/>
                          <m:ctrlPr>
                            <a:rPr lang="en-US" sz="2200" i="1">
                              <a:solidFill>
                                <a:srgbClr val="FFFFFF"/>
                              </a:solidFill>
                              <a:latin typeface="Cambria Math" panose="02040503050406030204" pitchFamily="18" charset="0"/>
                            </a:rPr>
                          </m:ctrlPr>
                        </m:naryPr>
                        <m:sub>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∈child(</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b>
                        <m:sup/>
                        <m:e>
                          <m:r>
                            <m:rPr>
                              <m:sty m:val="p"/>
                            </m:rPr>
                            <a:rPr lang="en-US" sz="2200">
                              <a:solidFill>
                                <a:srgbClr val="FFFFFF"/>
                              </a:solidFill>
                              <a:latin typeface="Cambria Math" panose="02040503050406030204" pitchFamily="18" charset="0"/>
                            </a:rPr>
                            <m:t xml:space="preserve"> </m:t>
                          </m:r>
                        </m:e>
                      </m:nary>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w</m:t>
                          </m:r>
                        </m:e>
                        <m:sub>
                          <m:r>
                            <a:rPr lang="en-US" sz="2200" i="1">
                              <a:solidFill>
                                <a:srgbClr val="FFFFFF"/>
                              </a:solidFill>
                              <a:latin typeface="Cambria Math" panose="02040503050406030204" pitchFamily="18" charset="0"/>
                            </a:rPr>
                            <m:t xml:space="preserve">c′</m:t>
                          </m:r>
                        </m:sub>
                      </m:sSub>
                      <m:r>
                        <m:rPr>
                          <m:sty m:val="p"/>
                        </m:rPr>
                        <a:rPr lang="en-US" sz="2200">
                          <a:solidFill>
                            <a:srgbClr val="FFFFFF"/>
                          </a:solidFill>
                          <a:latin typeface="Cambria Math" panose="02040503050406030204" pitchFamily="18" charset="0"/>
                        </a:rPr>
                        <m:t xml:space="preserve"> </m:t>
                      </m:r>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+1, </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ε</m:t>
                          </m:r>
                        </m:e>
                        <m:sub>
                          <m:r>
                            <a:rPr lang="en-US" sz="2200" i="1">
                              <a:solidFill>
                                <a:srgbClr val="FFFFFF"/>
                              </a:solidFill>
                              <a:latin typeface="Cambria Math" panose="02040503050406030204" pitchFamily="18" charset="0"/>
                            </a:rPr>
                            <m:t xml:space="preserve">j</m:t>
                          </m:r>
                        </m:sub>
                      </m:sSub>
                    </m:oMath>
                  </m:oMathPara>
                </a14:m>
                <a:endParaRPr lang="en-US" sz="2200"/>
              </a:p>
            </p:txBody>
          </p:sp>
        </mc:Choice>
        <mc:Fallback>
          <p:sp>
            <p:nvSpPr>
              <p:cNvPr id="50" name="Equation"/>
              <p:cNvSpPr txBox="1"/>
              <p:nvPr/>
            </p:nvSpPr>
            <p:spPr>
              <a:xfrm>
                <a:off x="9441180" y="7761986"/>
                <a:ext cx="7635240" cy="96012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51" name="Equation"/>
              <p:cNvSpPr txBox="1"/>
              <p:nvPr/>
            </p:nvSpPr>
            <p:spPr>
              <a:xfrm>
                <a:off x="9441180" y="8712962"/>
                <a:ext cx="7635240" cy="45720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w</m:t>
                          </m:r>
                        </m:e>
                        <m:sub>
                          <m:r>
                            <a:rPr lang="en-US" sz="1400" i="1">
                              <a:solidFill>
                                <a:srgbClr val="DCE7E3"/>
                              </a:solidFill>
                              <a:latin typeface="Cambria Math" panose="02040503050406030204" pitchFamily="18" charset="0"/>
                            </a:rPr>
                            <m:t xml:space="preserve">c′</m:t>
                          </m:r>
                        </m:sub>
                      </m:sSub>
                      <m:r>
                        <m:rPr>
                          <m:sty m:val="p"/>
                        </m:rPr>
                        <a:rPr lang="en-US" sz="1400">
                          <a:solidFill>
                            <a:srgbClr val="DCE7E3"/>
                          </a:solidFill>
                          <a:latin typeface="Cambria Math" panose="02040503050406030204" pitchFamily="18" charset="0"/>
                        </a:rPr>
                        <m:t xml:space="preserve">=|</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 |</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m:t>
                      </m:r>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ε</m:t>
                          </m:r>
                        </m:e>
                        <m:sub>
                          <m:r>
                            <a:rPr lang="en-US" sz="1400" i="1">
                              <a:solidFill>
                                <a:srgbClr val="DCE7E3"/>
                              </a:solidFill>
                              <a:latin typeface="Cambria Math" panose="02040503050406030204" pitchFamily="18" charset="0"/>
                            </a:rPr>
                            <m:t xml:space="preserve">j</m:t>
                          </m:r>
                        </m:sub>
                      </m:sSub>
                      <m:r>
                        <m:rPr>
                          <m:sty m:val="p"/>
                        </m:rPr>
                        <a:rPr lang="en-US" sz="1400">
                          <a:solidFill>
                            <a:srgbClr val="DCE7E3"/>
                          </a:solidFill>
                          <a:latin typeface="Cambria Math" panose="02040503050406030204" pitchFamily="18" charset="0"/>
                        </a:rPr>
                        <m:t xml:space="preserve">→0</m:t>
                      </m:r>
                      <m:r>
                        <m:rPr>
                          <m:nor/>
                        </m:rPr>
                        <a:rPr lang="en-US" sz="1400">
                          <a:solidFill>
                            <a:srgbClr val="DCE7E3"/>
                          </a:solidFill>
                          <a:latin typeface="Cambria Math" panose="02040503050406030204" pitchFamily="18" charset="0"/>
                        </a:rPr>
                        <m:t xml:space="preserve">  under perfect surrogate fidelity</m:t>
                      </m:r>
                    </m:oMath>
                  </m:oMathPara>
                </a14:m>
                <a:endParaRPr lang="en-US" sz="1400"/>
              </a:p>
            </p:txBody>
          </p:sp>
        </mc:Choice>
        <mc:Fallback>
          <p:sp>
            <p:nvSpPr>
              <p:cNvPr id="51" name="Equation"/>
              <p:cNvSpPr txBox="1"/>
              <p:nvPr/>
            </p:nvSpPr>
            <p:spPr>
              <a:xfrm>
                <a:off x="9441180" y="8712962"/>
                <a:ext cx="7635240" cy="457200"/>
              </a:xfrm>
              <a:prstGeom prst="rect">
                <a:avLst/>
              </a:prstGeom>
              <a:blipFill>
                <a:blip r:embed="rId6"/>
                <a:stretch>
                  <a:fillRect/>
                </a:stretch>
              </a:blipFill>
            </p:spPr>
            <p:txBody>
              <a:bodyPr/>
              <a:lstStyle/>
              <a:p>
                <a:endParaRPr lang="en-US"/>
              </a:p>
            </p:txBody>
          </p:sp>
        </mc:Fallback>
      </mc:AlternateContent>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Proposition 6.1: Cross-Level Consistency</a:t>
            </a:r>
          </a:p>
        </p:txBody>
      </p:sp>
      <p:pic>
        <p:nvPicPr>
          <p:cNvPr id="23" name="Picture 22" descr="image.png"/>
          <p:cNvPicPr>
            <a:picLocks noChangeAspect="1"/>
          </p:cNvPicPr>
          <p:nvPr/>
        </p:nvPicPr>
        <p:blipFill>
          <a:blip r:embed="rId3"/>
          <a:stretch>
            <a:fillRect/>
          </a:stretch>
        </p:blipFill>
        <p:spPr>
          <a:xfrm>
            <a:off x="11568381"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Oval 27"/>
          <p:cNvSpPr/>
          <p:nvPr/>
        </p:nvSpPr>
        <p:spPr>
          <a:xfrm>
            <a:off x="1028700" y="355574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29" name="Equation"/>
              <p:cNvSpPr txBox="1"/>
              <p:nvPr/>
            </p:nvSpPr>
            <p:spPr>
              <a:xfrm>
                <a:off x="1440180" y="336372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sSub>
                        <m:sSubPr>
                          <m:ctrlPr>
                            <a:rPr lang="en-US" sz="1800" i="1">
                              <a:solidFill>
                                <a:srgbClr val="124944"/>
                              </a:solidFill>
                              <a:latin typeface="Cambria Math" panose="02040503050406030204" pitchFamily="18" charset="0"/>
                            </a:rPr>
                          </m:ctrlPr>
                        </m:sSubPr>
                        <m:e>
                          <m:r>
                            <m:rPr>
                              <m:scr m:val="double-struck"/>
                              <m:sty m:val="p"/>
                            </m:rPr>
                            <a:rPr lang="en-US" sz="1800">
                              <a:solidFill>
                                <a:srgbClr val="124944"/>
                              </a:solidFill>
                              <a:latin typeface="Cambria Math" panose="02040503050406030204" pitchFamily="18" charset="0"/>
                            </a:rPr>
                            <m:t xml:space="preserve">E</m:t>
                          </m:r>
                        </m:e>
                        <m:sub>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sub>
                      </m:sSub>
                      <m:d>
                        <m:dPr>
                          <m:begChr m:val="["/>
                          <m:endChr m:val="]"/>
                          <m:ctrlPr>
                            <a:rPr lang="en-US" sz="1800" i="1">
                              <a:solidFill>
                                <a:srgbClr val="124944"/>
                              </a:solidFill>
                              <a:latin typeface="Cambria Math" panose="02040503050406030204" pitchFamily="18" charset="0"/>
                            </a:rPr>
                          </m:ctrlPr>
                        </m:dPr>
                        <m:e>
                          <m:r>
                            <m:rPr>
                              <m:sty m:val="p"/>
                            </m:rPr>
                            <a:rPr lang="en-US" sz="1800">
                              <a:solidFill>
                                <a:srgbClr val="124944"/>
                              </a:solidFill>
                              <a:latin typeface="Cambria Math" panose="02040503050406030204" pitchFamily="18" charset="0"/>
                            </a:rPr>
                            <m:t xml:space="preserve"> </m:t>
                          </m:r>
                          <m:d>
                            <m:dPr>
                              <m:begChr m:val="|"/>
                              <m:endChr m:val="|"/>
                              <m:ctrlPr>
                                <a:rPr lang="en-US" sz="1800" i="1">
                                  <a:solidFill>
                                    <a:srgbClr val="124944"/>
                                  </a:solidFill>
                                  <a:latin typeface="Cambria Math" panose="02040503050406030204" pitchFamily="18" charset="0"/>
                                </a:rPr>
                              </m:ctrlPr>
                            </m:dPr>
                            <m:e>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e>
                          </m:d>
                          <m:r>
                            <m:rPr>
                              <m:sty m:val="p"/>
                            </m:rPr>
                            <a:rPr lang="en-US" sz="1800">
                              <a:solidFill>
                                <a:srgbClr val="124944"/>
                              </a:solidFill>
                              <a:latin typeface="Cambria Math" panose="02040503050406030204" pitchFamily="18" charset="0"/>
                            </a:rPr>
                            <m:t xml:space="preserve"> </m:t>
                          </m:r>
                        </m:e>
                      </m:d>
                    </m:oMath>
                  </m:oMathPara>
                </a14:m>
                <a:endParaRPr lang="en-US" sz="1800"/>
              </a:p>
            </p:txBody>
          </p:sp>
        </mc:Choice>
        <mc:Fallback>
          <p:sp>
            <p:nvSpPr>
              <p:cNvPr id="29" name="Equation"/>
              <p:cNvSpPr txBox="1"/>
              <p:nvPr/>
            </p:nvSpPr>
            <p:spPr>
              <a:xfrm>
                <a:off x="1440180" y="3363722"/>
                <a:ext cx="3840480" cy="658368"/>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5463540" y="336372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expected absolute SHAP importance of feature j at level l in cluster c</a:t>
            </a:r>
          </a:p>
        </p:txBody>
      </p:sp>
      <p:sp>
        <p:nvSpPr>
          <p:cNvPr id="31" name="Oval 30"/>
          <p:cNvSpPr/>
          <p:nvPr/>
        </p:nvSpPr>
        <p:spPr>
          <a:xfrm>
            <a:off x="1028700" y="428726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32" name="Equation"/>
              <p:cNvSpPr txBox="1"/>
              <p:nvPr/>
            </p:nvSpPr>
            <p:spPr>
              <a:xfrm>
                <a:off x="1440180" y="409524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100" i="1">
                              <a:solidFill>
                                <a:srgbClr val="124944"/>
                              </a:solidFill>
                              <a:latin typeface="Cambria Math" panose="02040503050406030204" pitchFamily="18" charset="0"/>
                            </a:rPr>
                          </m:ctrlPr>
                        </m:sSubPr>
                        <m:e>
                          <m:r>
                            <a:rPr lang="en-US" sz="2100" i="1">
                              <a:solidFill>
                                <a:srgbClr val="124944"/>
                              </a:solidFill>
                              <a:latin typeface="Cambria Math" panose="02040503050406030204" pitchFamily="18" charset="0"/>
                            </a:rPr>
                            <m:t xml:space="preserve">w</m:t>
                          </m:r>
                        </m:e>
                        <m:sub>
                          <m:r>
                            <a:rPr lang="en-US" sz="2100" i="1">
                              <a:solidFill>
                                <a:srgbClr val="124944"/>
                              </a:solidFill>
                              <a:latin typeface="Cambria Math" panose="02040503050406030204" pitchFamily="18" charset="0"/>
                            </a:rPr>
                            <m:t xml:space="preserve">c′</m:t>
                          </m:r>
                        </m:sub>
                      </m:sSub>
                      <m:r>
                        <m:rPr>
                          <m:sty m:val="p"/>
                        </m:rPr>
                        <a:rPr lang="en-US" sz="2100">
                          <a:solidFill>
                            <a:srgbClr val="124944"/>
                          </a:solidFill>
                          <a:latin typeface="Cambria Math" panose="02040503050406030204" pitchFamily="18" charset="0"/>
                        </a:rPr>
                        <m:t xml:space="preserve">=|</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 / |</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m:t>
                      </m:r>
                    </m:oMath>
                  </m:oMathPara>
                </a14:m>
                <a:endParaRPr lang="en-US" sz="2100"/>
              </a:p>
            </p:txBody>
          </p:sp>
        </mc:Choice>
        <mc:Fallback>
          <p:sp>
            <p:nvSpPr>
              <p:cNvPr id="32" name="Equation"/>
              <p:cNvSpPr txBox="1"/>
              <p:nvPr/>
            </p:nvSpPr>
            <p:spPr>
              <a:xfrm>
                <a:off x="1440180" y="4095242"/>
                <a:ext cx="3840480" cy="658368"/>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5463540" y="409524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relative size of child c′ within parent c</a:t>
            </a:r>
          </a:p>
        </p:txBody>
      </p:sp>
      <p:sp>
        <p:nvSpPr>
          <p:cNvPr id="34" name="TextBox 33"/>
          <p:cNvSpPr txBox="1"/>
          <p:nvPr/>
        </p:nvSpPr>
        <p:spPr>
          <a:xfrm>
            <a:off x="1028700" y="4936490"/>
            <a:ext cx="8229600" cy="365760"/>
          </a:xfrm>
          <a:prstGeom prst="rect">
            <a:avLst/>
          </a:prstGeom>
          <a:noFill/>
        </p:spPr>
        <p:txBody>
          <a:bodyPr anchor="t" rtlCol="false" lIns="0" tIns="0" rIns="0" bIns="0" wrap="square"/>
          <a:lstStyle/>
          <a:p>
            <a:pPr algn="l">
              <a:lnSpc>
                <a:spcPts val="2700"/>
              </a:lnSpc>
              <a:spcBef>
                <a:spcPts val="0"/>
              </a:spcBef>
              <a:buNone/>
            </a:pPr>
            <a:r>
              <a:rPr lang="en-US" sz="2100" b="true">
                <a:solidFill>
                  <a:srgbClr val="111111"/>
                </a:solidFill>
                <a:latin typeface="Nunito Semi-Bold"/>
                <a:ea typeface="Nunito Semi-Bold"/>
                <a:cs typeface="Nunito Semi-Bold"/>
                <a:sym typeface="Nunito Semi-Bold"/>
              </a:rPr>
              <a:t>For a </a:t>
            </a:r>
            <a:r>
              <a:rPr lang="en-US" sz="2100" b="true">
                <a:solidFill>
                  <a:srgbClr val="111111"/>
                </a:solidFill>
                <a:latin typeface="Nunito Bold"/>
                <a:ea typeface="Nunito Bold"/>
                <a:cs typeface="Nunito Bold"/>
                <a:sym typeface="Nunito Bold"/>
              </a:rPr>
              <a:t>strict nested hierarchy</a:t>
            </a:r>
            <a:r>
              <a:rPr lang="en-US" sz="2100" b="true">
                <a:solidFill>
                  <a:srgbClr val="111111"/>
                </a:solidFill>
                <a:latin typeface="Nunito Semi-Bold"/>
                <a:ea typeface="Nunito Semi-Bold"/>
                <a:cs typeface="Nunito Semi-Bold"/>
                <a:sym typeface="Nunito Semi-Bold"/>
              </a:rPr>
              <a:t> on a consistent feature space:</a:t>
            </a:r>
          </a:p>
        </p:txBody>
      </p:sp>
      <p:sp>
        <p:nvSpPr>
          <p:cNvPr id="35" name="Rounded Rectangle 34"/>
          <p:cNvSpPr/>
          <p:nvPr/>
        </p:nvSpPr>
        <p:spPr>
          <a:xfrm>
            <a:off x="1028700" y="5393690"/>
            <a:ext cx="8229600" cy="1508760"/>
          </a:xfrm>
          <a:prstGeom prst="roundRect">
            <a:avLst>
              <a:gd name="adj" fmla="val 1212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6" name="Equation"/>
              <p:cNvSpPr txBox="1"/>
              <p:nvPr/>
            </p:nvSpPr>
            <p:spPr>
              <a:xfrm>
                <a:off x="1211580" y="5393690"/>
                <a:ext cx="7863840" cy="15087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nary>
                        <m:naryPr>
                          <m:chr m:val="∑"/>
                          <m:limLoc m:val="undOvr"/>
                          <m:supHide m:val="1"/>
                          <m:ctrlPr>
                            <a:rPr lang="en-US" sz="2550" i="1">
                              <a:solidFill>
                                <a:srgbClr val="124944"/>
                              </a:solidFill>
                              <a:latin typeface="Cambria Math" panose="02040503050406030204" pitchFamily="18" charset="0"/>
                            </a:rPr>
                          </m:ctrlPr>
                        </m:naryPr>
                        <m:sub>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∈child(</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b>
                        <m:sup/>
                        <m:e>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w</m:t>
                              </m:r>
                            </m:e>
                            <m:sub>
                              <m:r>
                                <a:rPr lang="en-US" sz="2550" i="1">
                                  <a:solidFill>
                                    <a:srgbClr val="124944"/>
                                  </a:solidFill>
                                  <a:latin typeface="Cambria Math" panose="02040503050406030204" pitchFamily="18" charset="0"/>
                                </a:rPr>
                                <m:t xml:space="preserve">c′</m:t>
                              </m:r>
                            </m:sub>
                          </m:sSub>
                        </m:e>
                      </m:nary>
                      <m:r>
                        <m:rPr>
                          <m:sty m:val="p"/>
                        </m:rPr>
                        <a:rPr lang="en-US" sz="2550">
                          <a:solidFill>
                            <a:srgbClr val="124944"/>
                          </a:solidFill>
                          <a:latin typeface="Cambria Math" panose="02040503050406030204" pitchFamily="18" charset="0"/>
                        </a:rPr>
                        <m:t xml:space="preserve"> </m:t>
                      </m:r>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+1, </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ε</m:t>
                          </m:r>
                        </m:e>
                        <m:sub>
                          <m:r>
                            <a:rPr lang="en-US" sz="2550" i="1">
                              <a:solidFill>
                                <a:srgbClr val="124944"/>
                              </a:solidFill>
                              <a:latin typeface="Cambria Math" panose="02040503050406030204" pitchFamily="18" charset="0"/>
                            </a:rPr>
                            <m:t xml:space="preserve">j</m:t>
                          </m:r>
                        </m:sub>
                      </m:sSub>
                    </m:oMath>
                  </m:oMathPara>
                </a14:m>
                <a:endParaRPr lang="en-US" sz="2550"/>
              </a:p>
            </p:txBody>
          </p:sp>
        </mc:Choice>
        <mc:Fallback>
          <p:sp>
            <p:nvSpPr>
              <p:cNvPr id="36" name="Equation"/>
              <p:cNvSpPr txBox="1"/>
              <p:nvPr/>
            </p:nvSpPr>
            <p:spPr>
              <a:xfrm>
                <a:off x="1211580" y="5393690"/>
                <a:ext cx="7863840" cy="1508760"/>
              </a:xfrm>
              <a:prstGeom prst="rect">
                <a:avLst/>
              </a:prstGeom>
              <a:blipFill>
                <a:blip r:embed="rId7"/>
                <a:stretch>
                  <a:fillRect/>
                </a:stretch>
              </a:blipFill>
            </p:spPr>
            <p:txBody>
              <a:bodyPr/>
              <a:lstStyle/>
              <a:p>
                <a:endParaRPr lang="en-US"/>
              </a:p>
            </p:txBody>
          </p:sp>
        </mc:Fallback>
      </mc:AlternateContent>
      <p:sp>
        <p:nvSpPr>
          <p:cNvPr id="37" name="TextBox 36"/>
          <p:cNvSpPr txBox="1"/>
          <p:nvPr/>
        </p:nvSpPr>
        <p:spPr>
          <a:xfrm>
            <a:off x="1028700" y="7131050"/>
            <a:ext cx="8229600" cy="2177542"/>
          </a:xfrm>
          <a:prstGeom prst="rect">
            <a:avLst/>
          </a:prstGeom>
          <a:noFill/>
        </p:spPr>
        <p:txBody>
          <a:bodyPr anchor="t" rtlCol="false" lIns="0" tIns="0" rIns="0" bIns="0" wrap="square"/>
          <a:lstStyle/>
          <a:p>
            <a:pPr algn="l" marL="274320" indent="-274320">
              <a:lnSpc>
                <a:spcPts val="2782"/>
              </a:lnSpc>
              <a:spcBef>
                <a:spcPts val="0"/>
              </a:spcBef>
              <a:buClr>
                <a:srgbClr val="DF8330"/>
              </a:buClr>
              <a:buSzPct val="100000"/>
              <a:buFont typeface="Arial"/>
              <a:buChar char="•"/>
            </a:pPr>
            <a:r>
              <a:rPr lang="en-US" sz="1880" b="true">
                <a:solidFill>
                  <a:srgbClr val="111111"/>
                </a:solidFill>
                <a:latin typeface="Calibri"/>
                <a:ea typeface="Calibri"/>
                <a:cs typeface="Calibri"/>
                <a:sym typeface="Calibri"/>
              </a:rPr>
              <a:t>ε</a:t>
            </a:r>
            <a:r>
              <a:rPr lang="en-US" sz="1880" b="true" baseline="-25000">
                <a:solidFill>
                  <a:srgbClr val="111111"/>
                </a:solidFill>
                <a:latin typeface="Nunito Bold"/>
                <a:ea typeface="Nunito Bold"/>
                <a:cs typeface="Nunito Bold"/>
                <a:sym typeface="Nunito Bold"/>
              </a:rPr>
              <a:t>j</a:t>
            </a:r>
            <a:r>
              <a:rPr lang="en-US" sz="1880" b="true">
                <a:solidFill>
                  <a:srgbClr val="111111"/>
                </a:solidFill>
                <a:latin typeface="Nunito Semi-Bold"/>
                <a:ea typeface="Nunito Semi-Bold"/>
                <a:cs typeface="Nunito Semi-Bold"/>
                <a:sym typeface="Nunito Semi-Bold"/>
              </a:rPr>
              <a:t> is a residual from surrogate mismatch; it vanishes under perfect fidelity.</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Derived via the </a:t>
            </a:r>
            <a:r>
              <a:rPr lang="en-US" sz="1880" b="true">
                <a:solidFill>
                  <a:srgbClr val="111111"/>
                </a:solidFill>
                <a:latin typeface="Nunito Bold"/>
                <a:ea typeface="Nunito Bold"/>
                <a:cs typeface="Nunito Bold"/>
                <a:sym typeface="Nunito Bold"/>
              </a:rPr>
              <a:t>law of total expectation</a:t>
            </a:r>
            <a:r>
              <a:rPr lang="en-US" sz="1880" b="true">
                <a:solidFill>
                  <a:srgbClr val="111111"/>
                </a:solidFill>
                <a:latin typeface="Nunito Semi-Bold"/>
                <a:ea typeface="Nunito Semi-Bold"/>
                <a:cs typeface="Nunito Semi-Bold"/>
                <a:sym typeface="Nunito Semi-Bold"/>
              </a:rPr>
              <a:t> (children partition the parent).</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Does </a:t>
            </a:r>
            <a:r>
              <a:rPr lang="en-US" sz="1880" b="true">
                <a:solidFill>
                  <a:srgbClr val="111111"/>
                </a:solidFill>
                <a:latin typeface="Nunito Bold"/>
                <a:ea typeface="Nunito Bold"/>
                <a:cs typeface="Nunito Bold"/>
                <a:sym typeface="Nunito Bold"/>
              </a:rPr>
              <a:t>NOT</a:t>
            </a:r>
            <a:r>
              <a:rPr lang="en-US" sz="1880" b="true">
                <a:solidFill>
                  <a:srgbClr val="111111"/>
                </a:solidFill>
                <a:latin typeface="Nunito Semi-Bold"/>
                <a:ea typeface="Nunito Semi-Bold"/>
                <a:cs typeface="Nunito Semi-Bold"/>
                <a:sym typeface="Nunito Semi-Bold"/>
              </a:rPr>
              <a:t> mean explanations are identical across levels. It means differences can be </a:t>
            </a:r>
            <a:r>
              <a:rPr lang="en-US" sz="1880" b="true">
                <a:solidFill>
                  <a:srgbClr val="111111"/>
                </a:solidFill>
                <a:latin typeface="Nunito Bold"/>
                <a:ea typeface="Nunito Bold"/>
                <a:cs typeface="Nunito Bold"/>
                <a:sym typeface="Nunito Bold"/>
              </a:rPr>
              <a:t>interpreted</a:t>
            </a:r>
            <a:r>
              <a:rPr lang="en-US" sz="1880" b="true">
                <a:solidFill>
                  <a:srgbClr val="111111"/>
                </a:solidFill>
                <a:latin typeface="Nunito Semi-Bold"/>
                <a:ea typeface="Nunito Semi-Bold"/>
                <a:cs typeface="Nunito Semi-Bold"/>
                <a:sym typeface="Nunito Semi-Bold"/>
              </a:rPr>
              <a:t>, not ruled out as inconsistency.</a:t>
            </a:r>
          </a:p>
        </p:txBody>
      </p:sp>
      <p:sp>
        <p:nvSpPr>
          <p:cNvPr id="38" name="Rounded Rectangle 37"/>
          <p:cNvSpPr/>
          <p:nvPr/>
        </p:nvSpPr>
        <p:spPr>
          <a:xfrm>
            <a:off x="9806940" y="3592322"/>
            <a:ext cx="7452360" cy="3017520"/>
          </a:xfrm>
          <a:prstGeom prst="roundRect">
            <a:avLst>
              <a:gd name="adj" fmla="val 10303"/>
            </a:avLst>
          </a:prstGeom>
          <a:solidFill>
            <a:srgbClr val="124944"/>
          </a:solidFill>
          <a:ln>
            <a:noFill/>
          </a:ln>
        </p:spPr>
        <p:txBody>
          <a:bodyPr anchor="ctr" rtlCol="false" lIns="0" tIns="0" rIns="0" bIns="0" wrap="square"/>
          <a:lstStyle/>
          <a:p>
            <a:endParaRPr lang="en-US" sz="1800"/>
          </a:p>
        </p:txBody>
      </p:sp>
      <p:sp>
        <p:nvSpPr>
          <p:cNvPr id="39" name="Rounded Rectangle 38"/>
          <p:cNvSpPr/>
          <p:nvPr/>
        </p:nvSpPr>
        <p:spPr>
          <a:xfrm>
            <a:off x="10264140" y="33545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40" name="TextBox 39"/>
          <p:cNvSpPr txBox="1"/>
          <p:nvPr/>
        </p:nvSpPr>
        <p:spPr>
          <a:xfrm>
            <a:off x="10264140" y="4232402"/>
            <a:ext cx="6583680" cy="210312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Gives the multi-level explanation a </a:t>
            </a:r>
            <a:r>
              <a:rPr lang="en-US" sz="1900" b="true">
                <a:solidFill>
                  <a:srgbClr val="FFFFFF"/>
                </a:solidFill>
                <a:latin typeface="Nunito Bold"/>
                <a:ea typeface="Nunito Bold"/>
                <a:cs typeface="Nunito Bold"/>
                <a:sym typeface="Nunito Bold"/>
              </a:rPr>
              <a:t>formal backbone</a:t>
            </a:r>
            <a:r>
              <a:rPr lang="en-US" sz="1900" b="true">
                <a:solidFill>
                  <a:srgbClr val="FFFFFF"/>
                </a:solidFill>
                <a:latin typeface="Nunito Semi-Bold"/>
                <a:ea typeface="Nunito Semi-Bold"/>
                <a:cs typeface="Nunito Semi-Bold"/>
                <a:sym typeface="Nunito Semi-Bold"/>
              </a:rPr>
              <a:t>.</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Parent importance is an </a:t>
            </a:r>
            <a:r>
              <a:rPr lang="en-US" sz="1900" b="true">
                <a:solidFill>
                  <a:srgbClr val="FFFFFF"/>
                </a:solidFill>
                <a:latin typeface="Nunito Bold"/>
                <a:ea typeface="Nunito Bold"/>
                <a:cs typeface="Nunito Bold"/>
                <a:sym typeface="Nunito Bold"/>
              </a:rPr>
              <a:t>accounting identity</a:t>
            </a:r>
            <a:r>
              <a:rPr lang="en-US" sz="1900" b="true">
                <a:solidFill>
                  <a:srgbClr val="FFFFFF"/>
                </a:solidFill>
                <a:latin typeface="Nunito Semi-Bold"/>
                <a:ea typeface="Nunito Semi-Bold"/>
                <a:cs typeface="Nunito Semi-Bold"/>
                <a:sym typeface="Nunito Semi-Bold"/>
              </a:rPr>
              <a:t> over the children, not a separate story.</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Turns cross-level differences into </a:t>
            </a:r>
            <a:r>
              <a:rPr lang="en-US" sz="1900" b="true">
                <a:solidFill>
                  <a:srgbClr val="FFFFFF"/>
                </a:solidFill>
                <a:latin typeface="Nunito Bold"/>
                <a:ea typeface="Nunito Bold"/>
                <a:cs typeface="Nunito Bold"/>
                <a:sym typeface="Nunito Bold"/>
              </a:rPr>
              <a:t>interpretable signal</a:t>
            </a:r>
            <a:r>
              <a:rPr lang="en-US" sz="1900" b="true">
                <a:solidFill>
                  <a:srgbClr val="FFFFFF"/>
                </a:solidFill>
                <a:latin typeface="Nunito Semi-Bold"/>
                <a:ea typeface="Nunito Semi-Bold"/>
                <a:cs typeface="Nunito Semi-Bold"/>
                <a:sym typeface="Nunito Semi-Bold"/>
              </a:rPr>
              <a:t>.</a:t>
            </a:r>
          </a:p>
        </p:txBody>
      </p:sp>
      <p:sp>
        <p:nvSpPr>
          <p:cNvPr id="41" name="Rounded Rectangle 40"/>
          <p:cNvSpPr/>
          <p:nvPr/>
        </p:nvSpPr>
        <p:spPr>
          <a:xfrm>
            <a:off x="980694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124944"/>
                </a:solidFill>
                <a:latin typeface="Nunito Ultra-Bold"/>
                <a:ea typeface="Nunito Ultra-Bold"/>
                <a:cs typeface="Nunito Ultra-Bold"/>
                <a:sym typeface="Nunito Ultra-Bold"/>
              </a:rPr>
              <a:t>383,585</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hourly records · </a:t>
            </a:r>
            <a:r>
              <a:rPr lang="en-US" sz="1700" b="true">
                <a:solidFill>
                  <a:srgbClr val="111111"/>
                </a:solidFill>
                <a:latin typeface="Nunito Bold"/>
                <a:ea typeface="Nunito Bold"/>
                <a:cs typeface="Nunito Bold"/>
                <a:sym typeface="Nunito Bold"/>
              </a:rPr>
              <a:t>11</a:t>
            </a:r>
            <a:r>
              <a:rPr lang="en-US" sz="1700" b="true">
                <a:solidFill>
                  <a:srgbClr val="111111"/>
                </a:solidFill>
                <a:latin typeface="Nunito Semi-Bold"/>
                <a:ea typeface="Nunito Semi-Bold"/>
                <a:cs typeface="Nunito Semi-Bold"/>
                <a:sym typeface="Nunito Semi-Bold"/>
              </a:rPr>
              <a:t> variables</a:t>
            </a:r>
          </a:p>
        </p:txBody>
      </p:sp>
      <p:sp>
        <p:nvSpPr>
          <p:cNvPr id="42" name="Rounded Rectangle 41"/>
          <p:cNvSpPr/>
          <p:nvPr/>
        </p:nvSpPr>
        <p:spPr>
          <a:xfrm>
            <a:off x="1367028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DF8330"/>
                </a:solidFill>
                <a:latin typeface="Nunito Ultra-Bold"/>
                <a:ea typeface="Nunito Ultra-Bold"/>
                <a:cs typeface="Nunito Ultra-Bold"/>
                <a:sym typeface="Nunito Ultra-Bold"/>
              </a:rPr>
              <a:t>3 </a:t>
            </a:r>
            <a:r>
              <a:rPr lang="en-US" sz="3400" b="true">
                <a:solidFill>
                  <a:srgbClr val="DF8330"/>
                </a:solidFill>
                <a:latin typeface="Calibri"/>
                <a:ea typeface="Calibri"/>
                <a:cs typeface="Calibri"/>
                <a:sym typeface="Calibri"/>
              </a:rPr>
              <a:t>→ </a:t>
            </a:r>
            <a:r>
              <a:rPr lang="en-US" sz="3400" b="true">
                <a:solidFill>
                  <a:srgbClr val="DF8330"/>
                </a:solidFill>
                <a:latin typeface="Nunito Ultra-Bold"/>
                <a:ea typeface="Nunito Ultra-Bold"/>
                <a:cs typeface="Nunito Ultra-Bold"/>
                <a:sym typeface="Nunito Ultra-Bold"/>
              </a:rPr>
              <a:t>9</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coarse regimes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nested sub-clusters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845304"/>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Beijing Multi-Site Air Quality, 383,585 hourly records × 11 variables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full dataset; k chosen by elbow, Silhouette and Davies–Bouldin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Each coarse cluster split again into sub-clusters (3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One LightGBM surrogate per level, five-fold cross-validation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per level, always in the original 11-variable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Aggregation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Size-weighted cross-level aggregation (Proposition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Sensitivity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Repeat with small changes in k, projection dimension and surrogate depth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Separation is strong:</a:t>
            </a:r>
            <a:r>
              <a:rPr lang="en-US" sz="1900" b="true">
                <a:solidFill>
                  <a:srgbClr val="FFFFFF"/>
                </a:solidFill>
                <a:latin typeface="Nunito Semi-Bold"/>
                <a:ea typeface="Nunito Semi-Bold"/>
                <a:cs typeface="Nunito Semi-Bold"/>
                <a:sym typeface="Nunito Semi-Bold"/>
              </a:rPr>
              <a:t> Silhouette and Davies–Bouldin clearly better than the wine case.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Regimes have a physical reading:</a:t>
            </a:r>
            <a:r>
              <a:rPr lang="en-US" sz="1900" b="true">
                <a:solidFill>
                  <a:srgbClr val="FFFFFF"/>
                </a:solidFill>
                <a:latin typeface="Nunito Semi-Bold"/>
                <a:ea typeface="Nunito Semi-Bold"/>
                <a:cs typeface="Nunito Semi-Bold"/>
                <a:sym typeface="Nunito Semi-Bold"/>
              </a:rPr>
              <a:t> each cluster maps to a known atmospheric situation.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Cross-level differences are interpretable</a:t>
            </a:r>
            <a:r>
              <a:rPr lang="en-US" sz="1900" b="true">
                <a:solidFill>
                  <a:srgbClr val="FFFFFF"/>
                </a:solidFill>
                <a:latin typeface="Nunito Semi-Bold"/>
                <a:ea typeface="Nunito Semi-Bold"/>
                <a:cs typeface="Nunito Semi-Bold"/>
                <a:sym typeface="Nunito Semi-Bold"/>
              </a:rPr>
              <a:t>, not contradictions (Proposition 6.1).</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Leading drivers are stable</a:t>
            </a:r>
            <a:r>
              <a:rPr lang="en-US" sz="1900" b="true">
                <a:solidFill>
                  <a:srgbClr val="FFFFFF"/>
                </a:solidFill>
                <a:latin typeface="Nunito Semi-Bold"/>
                <a:ea typeface="Nunito Semi-Bold"/>
                <a:cs typeface="Nunito Semi-Bold"/>
                <a:sym typeface="Nunito Semi-Bold"/>
              </a:rPr>
              <a:t> under sensitivity changes.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Coarse-Level Clustering: Beijing Air Quality</a:t>
            </a:r>
          </a:p>
        </p:txBody>
      </p:sp>
      <p:pic>
        <p:nvPicPr>
          <p:cNvPr id="23" name="Picture 22" descr="image.png"/>
          <p:cNvPicPr>
            <a:picLocks noChangeAspect="1"/>
          </p:cNvPicPr>
          <p:nvPr/>
        </p:nvPicPr>
        <p:blipFill>
          <a:blip r:embed="rId3"/>
          <a:stretch>
            <a:fillRect/>
          </a:stretch>
        </p:blipFill>
        <p:spPr>
          <a:xfrm>
            <a:off x="12341493"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all </a:t>
            </a:r>
            <a:r>
              <a:rPr lang="en-US" sz="1700" b="true">
                <a:solidFill>
                  <a:srgbClr val="FFFFFF"/>
                </a:solidFill>
                <a:latin typeface="Nunito Bold"/>
                <a:ea typeface="Nunito Bold"/>
                <a:cs typeface="Nunito Bold"/>
                <a:sym typeface="Nunito Bold"/>
              </a:rPr>
              <a:t>k-selection criteria</a:t>
            </a:r>
            <a:r>
              <a:rPr lang="en-US" sz="1700" b="true">
                <a:solidFill>
                  <a:srgbClr val="FFFFFF"/>
                </a:solidFill>
                <a:latin typeface="Nunito Semi-Bold"/>
                <a:ea typeface="Nunito Semi-Bold"/>
                <a:cs typeface="Nunito Semi-Bold"/>
                <a:sym typeface="Nunito Semi-Bold"/>
              </a:rPr>
              <a:t> agree</a:t>
            </a:r>
          </a:p>
        </p:txBody>
      </p:sp>
      <p:sp>
        <p:nvSpPr>
          <p:cNvPr id="29" name="Rounded Rectangle 28"/>
          <p:cNvSpPr/>
          <p:nvPr/>
        </p:nvSpPr>
        <p:spPr>
          <a:xfrm>
            <a:off x="6545580" y="3455162"/>
            <a:ext cx="519684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 0.63</a:t>
            </a:r>
          </a:p>
          <a:p>
            <a:pPr algn="ctr">
              <a:lnSpc>
                <a:spcPts val="2125"/>
              </a:lnSpc>
              <a:spcBef>
                <a:spcPts val="400"/>
              </a:spcBef>
              <a:buNone/>
            </a:pPr>
            <a:r>
              <a:rPr lang="en-US" sz="1700" b="true">
                <a:solidFill>
                  <a:srgbClr val="FFFFFF"/>
                </a:solidFill>
                <a:latin typeface="Nunito Bold"/>
                <a:ea typeface="Nunito Bold"/>
                <a:cs typeface="Nunito Bold"/>
                <a:sym typeface="Nunito Bold"/>
              </a:rPr>
              <a:t>Silhouette</a:t>
            </a:r>
            <a:r>
              <a:rPr lang="en-US" sz="1700" b="true">
                <a:solidFill>
                  <a:srgbClr val="FFFFFF"/>
                </a:solidFill>
                <a:latin typeface="Nunito Semi-Bold"/>
                <a:ea typeface="Nunito Semi-Bold"/>
                <a:cs typeface="Nunito Semi-Bold"/>
                <a:sym typeface="Nunito Semi-Bold"/>
              </a:rPr>
              <a:t> · much stronger separation than wine</a:t>
            </a:r>
          </a:p>
        </p:txBody>
      </p:sp>
      <p:sp>
        <p:nvSpPr>
          <p:cNvPr id="30" name="Rounded Rectangle 29"/>
          <p:cNvSpPr/>
          <p:nvPr/>
        </p:nvSpPr>
        <p:spPr>
          <a:xfrm>
            <a:off x="12062460" y="3455162"/>
            <a:ext cx="519684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 0.55</a:t>
            </a:r>
          </a:p>
          <a:p>
            <a:pPr algn="ctr">
              <a:lnSpc>
                <a:spcPts val="2125"/>
              </a:lnSpc>
              <a:spcBef>
                <a:spcPts val="400"/>
              </a:spcBef>
              <a:buNone/>
            </a:pPr>
            <a:r>
              <a:rPr lang="en-US" sz="1700" b="true">
                <a:solidFill>
                  <a:srgbClr val="FFFFFF"/>
                </a:solidFill>
                <a:latin typeface="Nunito Bold"/>
                <a:ea typeface="Nunito Bold"/>
                <a:cs typeface="Nunito Bold"/>
                <a:sym typeface="Nunito Bold"/>
              </a:rPr>
              <a:t>Davies–Bouldin</a:t>
            </a:r>
            <a:r>
              <a:rPr lang="en-US" sz="1700" b="true">
                <a:solidFill>
                  <a:srgbClr val="FFFFFF"/>
                </a:solidFill>
                <a:latin typeface="Nunito Semi-Bold"/>
                <a:ea typeface="Nunito Semi-Bold"/>
                <a:cs typeface="Nunito Semi-Bold"/>
                <a:sym typeface="Nunito Semi-Bold"/>
              </a:rPr>
              <a:t> · clusters rarely overlap</a:t>
            </a:r>
          </a:p>
        </p:txBody>
      </p:sp>
      <p:sp>
        <p:nvSpPr>
          <p:cNvPr id="31" name="TextBox 30"/>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6.1 (thesis): validation metrics for the large-scale clustering study (k = 3, Silhouette 0.63, Davies–Bouldin 0.55).</a:t>
            </a:r>
          </a:p>
        </p:txBody>
      </p:sp>
      <p:sp>
        <p:nvSpPr>
          <p:cNvPr id="32" name="Rounded Rectangle 31"/>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6006338"/>
            <a:ext cx="144573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Setup</a:t>
            </a:r>
          </a:p>
        </p:txBody>
      </p:sp>
      <p:sp>
        <p:nvSpPr>
          <p:cNvPr id="34" name="TextBox 33"/>
          <p:cNvSpPr txBox="1"/>
          <p:nvPr/>
        </p:nvSpPr>
        <p:spPr>
          <a:xfrm>
            <a:off x="153162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Full dataset: </a:t>
            </a:r>
            <a:r>
              <a:rPr lang="en-US" sz="1760" b="true">
                <a:solidFill>
                  <a:srgbClr val="111111"/>
                </a:solidFill>
                <a:latin typeface="Nunito Bold"/>
                <a:ea typeface="Nunito Bold"/>
                <a:cs typeface="Nunito Bold"/>
                <a:sym typeface="Nunito Bold"/>
              </a:rPr>
              <a:t>383,585 hourly records</a:t>
            </a:r>
            <a:r>
              <a:rPr lang="en-US" sz="1760" b="true">
                <a:solidFill>
                  <a:srgbClr val="111111"/>
                </a:solidFill>
                <a:latin typeface="Nunito Semi-Bold"/>
                <a:ea typeface="Nunito Semi-Bold"/>
                <a:cs typeface="Nunito Semi-Bold"/>
                <a:sym typeface="Nunito Semi-Bold"/>
              </a:rPr>
              <a:t>, 11 pollutant + weather variables.</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PCA projection (2 components) used </a:t>
            </a:r>
            <a:r>
              <a:rPr lang="en-US" sz="1760" b="true">
                <a:solidFill>
                  <a:srgbClr val="111111"/>
                </a:solidFill>
                <a:latin typeface="Nunito Bold"/>
                <a:ea typeface="Nunito Bold"/>
                <a:cs typeface="Nunito Bold"/>
                <a:sym typeface="Nunito Bold"/>
              </a:rPr>
              <a:t>only for visual inspection</a:t>
            </a:r>
            <a:r>
              <a:rPr lang="en-US" sz="1760" b="true">
                <a:solidFill>
                  <a:srgbClr val="111111"/>
                </a:solidFill>
                <a:latin typeface="Nunito Semi-Bold"/>
                <a:ea typeface="Nunito Semi-Bold"/>
                <a:cs typeface="Nunito Semi-Bold"/>
                <a:sym typeface="Nunito Semi-Bold"/>
              </a:rPr>
              <a:t>.</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Level-specific LightGBM surrogates; TreeSHAP in the original variable space.</a:t>
            </a:r>
          </a:p>
        </p:txBody>
      </p:sp>
      <p:sp>
        <p:nvSpPr>
          <p:cNvPr id="35" name="Rounded Rectangle 34"/>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9784080" y="6006338"/>
            <a:ext cx="204893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Sensitivity</a:t>
            </a:r>
          </a:p>
        </p:txBody>
      </p:sp>
      <p:sp>
        <p:nvSpPr>
          <p:cNvPr id="37" name="TextBox 36"/>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Robust to small changes in </a:t>
            </a:r>
            <a:r>
              <a:rPr lang="en-US" sz="1760" b="true">
                <a:solidFill>
                  <a:srgbClr val="FFFFFF"/>
                </a:solidFill>
                <a:latin typeface="Nunito Bold"/>
                <a:ea typeface="Nunito Bold"/>
                <a:cs typeface="Nunito Bold"/>
                <a:sym typeface="Nunito Bold"/>
              </a:rPr>
              <a:t>k</a:t>
            </a:r>
            <a:r>
              <a:rPr lang="en-US" sz="1760" b="true">
                <a:solidFill>
                  <a:srgbClr val="FFFFFF"/>
                </a:solidFill>
                <a:latin typeface="Nunito Semi-Bold"/>
                <a:ea typeface="Nunito Semi-Bold"/>
                <a:cs typeface="Nunito Semi-Bold"/>
                <a:sym typeface="Nunito Semi-Bold"/>
              </a:rPr>
              <a:t>, projection dimension and surrogate depth.</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Only </a:t>
            </a:r>
            <a:r>
              <a:rPr lang="en-US" sz="1760" b="true">
                <a:solidFill>
                  <a:srgbClr val="FFFFFF"/>
                </a:solidFill>
                <a:latin typeface="Nunito Bold"/>
                <a:ea typeface="Nunito Bold"/>
                <a:cs typeface="Nunito Bold"/>
                <a:sym typeface="Nunito Bold"/>
              </a:rPr>
              <a:t>low-ranked variables shift</a:t>
            </a:r>
            <a:r>
              <a:rPr lang="en-US" sz="1760" b="true">
                <a:solidFill>
                  <a:srgbClr val="FFFFFF"/>
                </a:solidFill>
                <a:latin typeface="Nunito Semi-Bold"/>
                <a:ea typeface="Nunito Semi-Bold"/>
                <a:cs typeface="Nunito Semi-Bold"/>
                <a:sym typeface="Nunito Semi-Bold"/>
              </a:rPr>
              <a:t>; the leading drivers are stable.</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Comparison point: SHAP-based clustering literature (Gramegna &amp; Giudici, credit risk) reports Silhouette </a:t>
            </a:r>
            <a:r>
              <a:rPr lang="en-US" sz="1760" b="true">
                <a:solidFill>
                  <a:srgbClr val="FFFFFF"/>
                </a:solidFill>
                <a:latin typeface="Nunito Bold"/>
                <a:ea typeface="Nunito Bold"/>
                <a:cs typeface="Nunito Bold"/>
                <a:sym typeface="Nunito Bold"/>
              </a:rPr>
              <a:t>0.37</a:t>
            </a:r>
            <a:r>
              <a:rPr lang="en-US" sz="176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Weather Variables Are Central</a:t>
            </a:r>
          </a:p>
        </p:txBody>
      </p:sp>
      <p:pic>
        <p:nvPicPr>
          <p:cNvPr id="23" name="Picture 22" descr="image.png"/>
          <p:cNvPicPr>
            <a:picLocks noChangeAspect="1"/>
          </p:cNvPicPr>
          <p:nvPr/>
        </p:nvPicPr>
        <p:blipFill>
          <a:blip r:embed="rId3"/>
          <a:stretch>
            <a:fillRect/>
          </a:stretch>
        </p:blipFill>
        <p:spPr>
          <a:xfrm>
            <a:off x="15043687"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76656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Temperature, dew point and pressure</a:t>
            </a:r>
            <a:r>
              <a:rPr lang="en-US" sz="1900" b="true">
                <a:solidFill>
                  <a:srgbClr val="111111"/>
                </a:solidFill>
                <a:latin typeface="Nunito Semi-Bold"/>
                <a:ea typeface="Nunito Semi-Bold"/>
                <a:cs typeface="Nunito Semi-Bold"/>
                <a:sym typeface="Nunito Semi-Bold"/>
              </a:rPr>
              <a:t> lead the ranking; CO, NO₂, PM10 and PM2.5 follow.</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It is </a:t>
            </a:r>
            <a:r>
              <a:rPr lang="en-US" sz="1900" b="true">
                <a:solidFill>
                  <a:srgbClr val="111111"/>
                </a:solidFill>
                <a:latin typeface="Nunito Bold"/>
                <a:ea typeface="Nunito Bold"/>
                <a:cs typeface="Nunito Bold"/>
                <a:sym typeface="Nunito Bold"/>
              </a:rPr>
              <a:t>NOT only pollutant concentrations</a:t>
            </a:r>
            <a:r>
              <a:rPr lang="en-US" sz="1900" b="true">
                <a:solidFill>
                  <a:srgbClr val="111111"/>
                </a:solidFill>
                <a:latin typeface="Nunito Semi-Bold"/>
                <a:ea typeface="Nunito Semi-Bold"/>
                <a:cs typeface="Nunito Semi-Bold"/>
                <a:sym typeface="Nunito Semi-Bold"/>
              </a:rPr>
              <a:t> that matter: weather variables play a </a:t>
            </a:r>
            <a:r>
              <a:rPr lang="en-US" sz="1900" b="true">
                <a:solidFill>
                  <a:srgbClr val="111111"/>
                </a:solidFill>
                <a:latin typeface="Nunito Bold"/>
                <a:ea typeface="Nunito Bold"/>
                <a:cs typeface="Nunito Bold"/>
                <a:sym typeface="Nunito Bold"/>
              </a:rPr>
              <a:t>central role in the structure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Temperature, dew point and pressure control </a:t>
            </a:r>
            <a:r>
              <a:rPr lang="en-US" sz="1900" b="true">
                <a:solidFill>
                  <a:srgbClr val="111111"/>
                </a:solidFill>
                <a:latin typeface="Nunito Bold"/>
                <a:ea typeface="Nunito Bold"/>
                <a:cs typeface="Nunito Bold"/>
                <a:sym typeface="Nunito Bold"/>
              </a:rPr>
              <a:t>dispersion, trapping and sunlight-driven chemistry</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the kind of insight that flat summaries often fail to make explicit.</a:t>
            </a:r>
          </a:p>
        </p:txBody>
      </p:sp>
      <p:sp>
        <p:nvSpPr>
          <p:cNvPr id="29" name="Rounded Rectangle 28"/>
          <p:cNvSpPr/>
          <p:nvPr/>
        </p:nvSpPr>
        <p:spPr>
          <a:xfrm>
            <a:off x="8252460" y="3363722"/>
            <a:ext cx="9006840" cy="5853430"/>
          </a:xfrm>
          <a:prstGeom prst="roundRect">
            <a:avLst>
              <a:gd name="adj" fmla="val 3905"/>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6_1_beijing_global.png"/>
          <p:cNvPicPr>
            <a:picLocks noChangeAspect="1"/>
          </p:cNvPicPr>
          <p:nvPr/>
        </p:nvPicPr>
        <p:blipFill>
          <a:blip r:embed="rId5"/>
          <a:stretch>
            <a:fillRect/>
          </a:stretch>
        </p:blipFill>
        <p:spPr>
          <a:xfrm>
            <a:off x="9013665" y="3546602"/>
            <a:ext cx="7484428" cy="5076190"/>
          </a:xfrm>
          <a:prstGeom prst="rect">
            <a:avLst/>
          </a:prstGeom>
        </p:spPr>
      </p:pic>
      <p:sp>
        <p:nvSpPr>
          <p:cNvPr id="31" name="TextBox 30"/>
          <p:cNvSpPr txBox="1"/>
          <p:nvPr/>
        </p:nvSpPr>
        <p:spPr>
          <a:xfrm>
            <a:off x="8252460" y="8759952"/>
            <a:ext cx="900684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6.1 (thesis): global SHAP importance at the coarse level, Beijing Air Quality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How Importance Changes Across Levels</a:t>
            </a:r>
          </a:p>
        </p:txBody>
      </p:sp>
      <p:pic>
        <p:nvPicPr>
          <p:cNvPr id="23" name="Picture 22" descr="image.png"/>
          <p:cNvPicPr>
            <a:picLocks noChangeAspect="1"/>
          </p:cNvPicPr>
          <p:nvPr/>
        </p:nvPicPr>
        <p:blipFill>
          <a:blip r:embed="rId3"/>
          <a:stretch>
            <a:fillRect/>
          </a:stretch>
        </p:blipFill>
        <p:spPr>
          <a:xfrm>
            <a:off x="1165934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2331720"/>
          </a:xfrm>
          <a:prstGeom prst="roundRect">
            <a:avLst>
              <a:gd name="adj" fmla="val 980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fig6_3_beijing_multilevel.png"/>
          <p:cNvPicPr>
            <a:picLocks noChangeAspect="1"/>
          </p:cNvPicPr>
          <p:nvPr/>
        </p:nvPicPr>
        <p:blipFill>
          <a:blip r:embed="rId5"/>
          <a:stretch>
            <a:fillRect/>
          </a:stretch>
        </p:blipFill>
        <p:spPr>
          <a:xfrm>
            <a:off x="6273209" y="3500882"/>
            <a:ext cx="5741581" cy="1645920"/>
          </a:xfrm>
          <a:prstGeom prst="rect">
            <a:avLst/>
          </a:prstGeom>
        </p:spPr>
      </p:pic>
      <p:sp>
        <p:nvSpPr>
          <p:cNvPr id="30" name="TextBox 29"/>
          <p:cNvSpPr txBox="1"/>
          <p:nvPr/>
        </p:nvSpPr>
        <p:spPr>
          <a:xfrm>
            <a:off x="1028700" y="5238242"/>
            <a:ext cx="1623060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6.3 (thesis): SHAP importance per sub-cluster, level 2 of the hierarchy</a:t>
            </a:r>
          </a:p>
        </p:txBody>
      </p:sp>
      <p:sp>
        <p:nvSpPr>
          <p:cNvPr id="31" name="Rounded Rectangle 30"/>
          <p:cNvSpPr/>
          <p:nvPr/>
        </p:nvSpPr>
        <p:spPr>
          <a:xfrm>
            <a:off x="1028700" y="6198362"/>
            <a:ext cx="7932420" cy="2148840"/>
          </a:xfrm>
          <a:prstGeom prst="roundRect">
            <a:avLst>
              <a:gd name="adj" fmla="val 14468"/>
            </a:avLst>
          </a:prstGeom>
          <a:solidFill>
            <a:srgbClr val="124944"/>
          </a:solidFill>
          <a:ln>
            <a:noFill/>
          </a:ln>
        </p:spPr>
        <p:txBody>
          <a:bodyPr anchor="ctr" rtlCol="false" lIns="0" tIns="0" rIns="0" bIns="0" wrap="square"/>
          <a:lstStyle/>
          <a:p>
            <a:endParaRPr lang="en-US" sz="1800"/>
          </a:p>
        </p:txBody>
      </p:sp>
      <p:sp>
        <p:nvSpPr>
          <p:cNvPr id="32" name="Rounded Rectangle 31"/>
          <p:cNvSpPr/>
          <p:nvPr/>
        </p:nvSpPr>
        <p:spPr>
          <a:xfrm>
            <a:off x="1485900" y="5960618"/>
            <a:ext cx="473940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Coarse level · regime selection</a:t>
            </a:r>
          </a:p>
        </p:txBody>
      </p:sp>
      <p:sp>
        <p:nvSpPr>
          <p:cNvPr id="33" name="TextBox 32"/>
          <p:cNvSpPr txBox="1"/>
          <p:nvPr/>
        </p:nvSpPr>
        <p:spPr>
          <a:xfrm>
            <a:off x="148590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Temperature and dew point dominate</a:t>
            </a:r>
            <a:r>
              <a:rPr lang="en-US" sz="1800" b="true">
                <a:solidFill>
                  <a:srgbClr val="FFFFFF"/>
                </a:solidFill>
                <a:latin typeface="Nunito Semi-Bold"/>
                <a:ea typeface="Nunito Semi-Bold"/>
                <a:cs typeface="Nunito Semi-Bold"/>
                <a:sym typeface="Nunito Semi-Bold"/>
              </a:rPr>
              <a:t>: they separate the broad atmospheric regimes.</a:t>
            </a:r>
          </a:p>
          <a:p>
            <a:pPr algn="l" marL="274320" indent="-274320">
              <a:lnSpc>
                <a:spcPts val="2520"/>
              </a:lnSpc>
              <a:spcBef>
                <a:spcPts val="6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Parent-level story = which regime the observation belongs to.</a:t>
            </a:r>
          </a:p>
        </p:txBody>
      </p:sp>
      <p:sp>
        <p:nvSpPr>
          <p:cNvPr id="34" name="Rounded Rectangle 33"/>
          <p:cNvSpPr/>
          <p:nvPr/>
        </p:nvSpPr>
        <p:spPr>
          <a:xfrm>
            <a:off x="9326880" y="6198362"/>
            <a:ext cx="7932420" cy="2148840"/>
          </a:xfrm>
          <a:prstGeom prst="roundRect">
            <a:avLst>
              <a:gd name="adj" fmla="val 14468"/>
            </a:avLst>
          </a:prstGeom>
          <a:solidFill>
            <a:srgbClr val="F6ECDF"/>
          </a:solidFill>
          <a:ln>
            <a:noFill/>
          </a:ln>
        </p:spPr>
        <p:txBody>
          <a:bodyPr anchor="ctr" rtlCol="false" lIns="0" tIns="0" rIns="0" bIns="0" wrap="square"/>
          <a:lstStyle/>
          <a:p>
            <a:endParaRPr lang="en-US" sz="1800"/>
          </a:p>
        </p:txBody>
      </p:sp>
      <p:sp>
        <p:nvSpPr>
          <p:cNvPr id="35" name="Rounded Rectangle 34"/>
          <p:cNvSpPr/>
          <p:nvPr/>
        </p:nvSpPr>
        <p:spPr>
          <a:xfrm>
            <a:off x="9784080" y="5960618"/>
            <a:ext cx="620306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Within clusters · variation inside a regime</a:t>
            </a:r>
          </a:p>
        </p:txBody>
      </p:sp>
      <p:sp>
        <p:nvSpPr>
          <p:cNvPr id="36" name="TextBox 35"/>
          <p:cNvSpPr txBox="1"/>
          <p:nvPr/>
        </p:nvSpPr>
        <p:spPr>
          <a:xfrm>
            <a:off x="978408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DF8330"/>
              </a:buClr>
              <a:buSzPct val="100000"/>
              <a:buFont typeface="Arial"/>
              <a:buChar char="•"/>
            </a:pPr>
            <a:r>
              <a:rPr lang="en-US" sz="1800" b="true">
                <a:solidFill>
                  <a:srgbClr val="111111"/>
                </a:solidFill>
                <a:latin typeface="Nunito Bold"/>
                <a:ea typeface="Nunito Bold"/>
                <a:cs typeface="Nunito Bold"/>
                <a:sym typeface="Nunito Bold"/>
              </a:rPr>
              <a:t>CO, SO₂, PM10, wind speed, pressure or ozone</a:t>
            </a:r>
            <a:r>
              <a:rPr lang="en-US" sz="1800" b="true">
                <a:solidFill>
                  <a:srgbClr val="111111"/>
                </a:solidFill>
                <a:latin typeface="Nunito Semi-Bold"/>
                <a:ea typeface="Nunito Semi-Bold"/>
                <a:cs typeface="Nunito Semi-Bold"/>
                <a:sym typeface="Nunito Semi-Bold"/>
              </a:rPr>
              <a:t> become more informative.</a:t>
            </a:r>
          </a:p>
          <a:p>
            <a:pPr algn="l" marL="274320" indent="-274320">
              <a:lnSpc>
                <a:spcPts val="2520"/>
              </a:lnSpc>
              <a:spcBef>
                <a:spcPts val="6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Cluster-level story = what varies once the regime is fixed.</a:t>
            </a:r>
          </a:p>
        </p:txBody>
      </p:sp>
      <p:sp>
        <p:nvSpPr>
          <p:cNvPr id="37" name="Rounded Rectangle 36"/>
          <p:cNvSpPr/>
          <p:nvPr/>
        </p:nvSpPr>
        <p:spPr>
          <a:xfrm>
            <a:off x="1028700" y="8621522"/>
            <a:ext cx="16230600" cy="595630"/>
          </a:xfrm>
          <a:prstGeom prst="roundRect">
            <a:avLst>
              <a:gd name="adj" fmla="val 46055"/>
            </a:avLst>
          </a:prstGeom>
          <a:noFill/>
          <a:ln w="31750">
            <a:solidFill>
              <a:srgbClr val="DF8330"/>
            </a:solidFill>
          </a:ln>
        </p:spPr>
        <p:txBody>
          <a:bodyPr anchor="ctr" rtlCol="false" lIns="0" tIns="0" rIns="0" bIns="0" wrap="square"/>
          <a:lstStyle/>
          <a:p>
            <a:endParaRPr lang="en-US" sz="1800"/>
          </a:p>
        </p:txBody>
      </p:sp>
      <p:sp>
        <p:nvSpPr>
          <p:cNvPr id="38" name="TextBox 37"/>
          <p:cNvSpPr txBox="1"/>
          <p:nvPr/>
        </p:nvSpPr>
        <p:spPr>
          <a:xfrm>
            <a:off x="1485900" y="8731250"/>
            <a:ext cx="15316200" cy="376174"/>
          </a:xfrm>
          <a:prstGeom prst="rect">
            <a:avLst/>
          </a:prstGeom>
          <a:noFill/>
        </p:spPr>
        <p:txBody>
          <a:bodyPr anchor="ctr" rtlCol="false" lIns="0" tIns="0" rIns="0" bIns="0" wrap="square"/>
          <a:lstStyle/>
          <a:p>
            <a:pPr algn="l">
              <a:lnSpc>
                <a:spcPts val="1764"/>
              </a:lnSpc>
              <a:spcBef>
                <a:spcPts val="0"/>
              </a:spcBef>
              <a:buNone/>
            </a:pPr>
            <a:r>
              <a:rPr lang="en-US" sz="1260" b="true">
                <a:solidFill>
                  <a:srgbClr val="111111"/>
                </a:solidFill>
                <a:latin typeface="Nunito Bold"/>
                <a:ea typeface="Nunito Bold"/>
                <a:cs typeface="Nunito Bold"/>
                <a:sym typeface="Nunito Bold"/>
              </a:rPr>
              <a:t>This change is NOT a contradiction. It is exactly what a multi-level explanation should reveal.</a:t>
            </a:r>
            <a:r>
              <a:rPr lang="en-US" sz="1260" b="true">
                <a:solidFill>
                  <a:srgbClr val="111111"/>
                </a:solidFill>
                <a:latin typeface="Nunito Semi-Bold"/>
                <a:ea typeface="Nunito Semi-Bold"/>
                <a:cs typeface="Nunito Semi-Bold"/>
                <a:sym typeface="Nunito Semi-Bold"/>
              </a:rPr>
              <a:t> A variable can be </a:t>
            </a:r>
            <a:r>
              <a:rPr lang="en-US" sz="1260" b="true">
                <a:solidFill>
                  <a:srgbClr val="111111"/>
                </a:solidFill>
                <a:latin typeface="Nunito Bold"/>
                <a:ea typeface="Nunito Bold"/>
                <a:cs typeface="Nunito Bold"/>
                <a:sym typeface="Nunito Bold"/>
              </a:rPr>
              <a:t>globally important yet locally uninformative</a:t>
            </a:r>
            <a:r>
              <a:rPr lang="en-US" sz="1260" b="true">
                <a:solidFill>
                  <a:srgbClr val="111111"/>
                </a:solidFill>
                <a:latin typeface="Nunito Semi-Bold"/>
                <a:ea typeface="Nunito Semi-Bold"/>
                <a:cs typeface="Nunito Semi-Bold"/>
                <a:sym typeface="Nunito Semi-Bold"/>
              </a:rPr>
              <a:t> inside a sub-cluster; Proposition 6.1 guarantees the two readings agree, up to the surrogate residual.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RQ2</a:t>
            </a:r>
          </a:p>
        </p:txBody>
      </p:sp>
      <p:pic>
        <p:nvPicPr>
          <p:cNvPr id="23" name="Picture 22" descr="image.png"/>
          <p:cNvPicPr>
            <a:picLocks noChangeAspect="1"/>
          </p:cNvPicPr>
          <p:nvPr/>
        </p:nvPicPr>
        <p:blipFill>
          <a:blip r:embed="rId3"/>
          <a:stretch>
            <a:fillRect/>
          </a:stretch>
        </p:blipFill>
        <p:spPr>
          <a:xfrm>
            <a:off x="5204935"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RQ2</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 within bounds.</a:t>
            </a:r>
            <a:r>
              <a:rPr lang="en-US" sz="2200" b="true">
                <a:solidFill>
                  <a:srgbClr val="111111"/>
                </a:solidFill>
                <a:latin typeface="Nunito Semi-Bold"/>
                <a:ea typeface="Nunito Semi-Bold"/>
                <a:cs typeface="Nunito Semi-Bold"/>
                <a:sym typeface="Nunito Semi-Bold"/>
              </a:rPr>
              <a:t> Consistency is kept at scale and across levels: a nested workflow with level-specific surrogates, backed by Proposition 6.1, explains 383,585 records in the original variable space.</a:t>
            </a:r>
          </a:p>
        </p:txBody>
      </p:sp>
      <p:graphicFrame>
        <p:nvGraphicFramePr>
          <p:cNvPr id="31" name="Table 30"/>
          <p:cNvGraphicFramePr>
            <a:graphicFrameLocks noGrp="1"/>
          </p:cNvGraphicFramePr>
          <p:nvPr/>
        </p:nvGraphicFramePr>
        <p:xfrm>
          <a:off x="1028700" y="5421122"/>
          <a:ext cx="16230599" cy="3173984"/>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Coarse regimes, then sub-clusters, each with its own surrogate; no single flat summary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Formal cross-level consistency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 parent importance = size-weighted expectation over children, up to </a:t>
                      </a:r>
                      <a:r>
                        <a:rPr lang="en-US" sz="1800" b="true">
                          <a:solidFill>
                            <a:srgbClr val="111111"/>
                          </a:solidFill>
                          <a:latin typeface="Calibri"/>
                          <a:ea typeface="Calibri"/>
                          <a:cs typeface="Calibri"/>
                          <a:sym typeface="Calibri"/>
                        </a:rPr>
                        <a:t>ε</a:t>
                      </a:r>
                      <a:r>
                        <a:rPr lang="en-US" sz="1800" b="true" baseline="-25000">
                          <a:solidFill>
                            <a:srgbClr val="111111"/>
                          </a:solidFill>
                          <a:latin typeface="Nunito Semi-Bold"/>
                          <a:ea typeface="Nunito Semi-Bold"/>
                          <a:cs typeface="Nunito Semi-Bold"/>
                          <a:sym typeface="Nunito Semi-Bold"/>
                        </a:rPr>
                        <a:t>j</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on very different large-scale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Air Quality: Silhouette ≈ 0.63, three physically meaningful regimes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Weather, not only pollution, defines the structure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Temperature, dew point and pressure lead the coarse-level ranking; they set the regime that pollutants then vary within.</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Importance legitimately changes with the level</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A variable can be globally important yet locally uninformative; Proposition 6.1 makes that difference interpretable rather than contradictory.</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explanation scales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Level-specific surrogates and exact TreeSHAP keep the cost linear in the data, not exponential in the features.</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logic transfers across domains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Same pipeline, same reading, from 4,898 wines to 383,585 hourly air-quality records, with a Silhouette ≈ 0.63 against 0.37 in the reference SHAP-clustering study.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STATIC CLUSTERING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partition is </a:t>
            </a:r>
            <a:r>
              <a:rPr lang="en-US" sz="1900" b="true">
                <a:solidFill>
                  <a:srgbClr val="FFFFFF"/>
                </a:solidFill>
                <a:latin typeface="Nunito Bold"/>
                <a:ea typeface="Nunito Bold"/>
                <a:cs typeface="Nunito Bold"/>
                <a:sym typeface="Nunito Bold"/>
              </a:rPr>
              <a:t>static</a:t>
            </a:r>
            <a:r>
              <a:rPr lang="en-US" sz="1900" b="true">
                <a:solidFill>
                  <a:srgbClr val="FFFFFF"/>
                </a:solidFill>
                <a:latin typeface="Nunito Semi-Bold"/>
                <a:ea typeface="Nunito Semi-Bold"/>
                <a:cs typeface="Nunito Semi-Bold"/>
                <a:sym typeface="Nunito Semi-Bold"/>
              </a:rPr>
              <a:t>, even though the Beijing data are temporal; drift between years is not modelled.</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Surrogate-based SHAP plus representative-instance reporting </a:t>
            </a:r>
            <a:r>
              <a:rPr lang="en-US" sz="1900" b="true">
                <a:solidFill>
                  <a:srgbClr val="FFFFFF"/>
                </a:solidFill>
                <a:latin typeface="Nunito Bold"/>
                <a:ea typeface="Nunito Bold"/>
                <a:cs typeface="Nunito Bold"/>
                <a:sym typeface="Nunito Bold"/>
              </a:rPr>
              <a:t>smooth out variation between single observations</a:t>
            </a:r>
            <a:r>
              <a:rPr lang="en-US" sz="1900" b="true">
                <a:solidFill>
                  <a:srgbClr val="FFFFFF"/>
                </a:solidFill>
                <a:latin typeface="Nunito Semi-Bold"/>
                <a:ea typeface="Nunito Semi-Bold"/>
                <a:cs typeface="Nunito Semi-Bold"/>
                <a:sym typeface="Nunito Semi-Bold"/>
              </a:rPr>
              <a:t>.</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graph, text or image input.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POST-HOC</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an explanation of a </a:t>
            </a:r>
            <a:r>
              <a:rPr lang="en-US" sz="1900" b="true">
                <a:solidFill>
                  <a:srgbClr val="FFFFFF"/>
                </a:solidFill>
                <a:latin typeface="Nunito Bold"/>
                <a:ea typeface="Nunito Bold"/>
                <a:cs typeface="Nunito Bold"/>
                <a:sym typeface="Nunito Bold"/>
              </a:rPr>
              <a:t>pre-computed partition</a:t>
            </a:r>
            <a:r>
              <a:rPr lang="en-US" sz="1900" b="true">
                <a:solidFill>
                  <a:srgbClr val="FFFFFF"/>
                </a:solidFill>
                <a:latin typeface="Nunito Semi-Bold"/>
                <a:ea typeface="Nunito Semi-Bold"/>
                <a:cs typeface="Nunito Semi-Bold"/>
                <a:sym typeface="Nunito Semi-Bold"/>
              </a:rPr>
              <a:t>: attribution does not influence learning.</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post-hoc</a:t>
            </a:r>
            <a:r>
              <a:rPr lang="en-US" sz="2000" b="true">
                <a:solidFill>
                  <a:srgbClr val="111111"/>
                </a:solidFill>
                <a:latin typeface="Nunito Semi-Bold"/>
                <a:ea typeface="Nunito Semi-Bold"/>
                <a:cs typeface="Nunito Semi-Bold"/>
                <a:sym typeface="Nunito Semi-Bold"/>
              </a:rPr>
              <a:t> limitation is the one that opens the door to Contribution III: what if attribution could shape the learning itself?</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a:t>
            </a:r>
          </a:p>
        </p:txBody>
      </p:sp>
      <p:pic>
        <p:nvPicPr>
          <p:cNvPr id="23" name="Picture 22" descr="image.png"/>
          <p:cNvPicPr>
            <a:picLocks noChangeAspect="1"/>
          </p:cNvPicPr>
          <p:nvPr/>
        </p:nvPicPr>
        <p:blipFill>
          <a:blip r:embed="rId3"/>
          <a:stretch>
            <a:fillRect/>
          </a:stretch>
        </p:blipFill>
        <p:spPr>
          <a:xfrm>
            <a:off x="8008663"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Consistent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Parent and child explanations agree by construction (Proposition 6.1).</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Against scale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383,585 records explained with level-specific surrogates, at a linear cost.</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Still post-hoc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attribution explains a partition that was already computed.</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1963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stays </a:t>
            </a:r>
            <a:r>
              <a:rPr lang="en-US" sz="2300" b="true">
                <a:solidFill>
                  <a:srgbClr val="111111"/>
                </a:solidFill>
                <a:latin typeface="Nunito Bold"/>
                <a:ea typeface="Nunito Bold"/>
                <a:cs typeface="Nunito Bold"/>
                <a:sym typeface="Nunito Bold"/>
              </a:rPr>
              <a:t>consistent across levels of detail</a:t>
            </a:r>
            <a:r>
              <a:rPr lang="en-US" sz="2300" b="true">
                <a:solidFill>
                  <a:srgbClr val="111111"/>
                </a:solidFill>
                <a:latin typeface="Nunito Semi-Bold"/>
                <a:ea typeface="Nunito Semi-Bold"/>
                <a:cs typeface="Nunito Semi-Bold"/>
                <a:sym typeface="Nunito Semi-Bold"/>
              </a:rPr>
              <a:t> when the hierarchy is explicit, so explanations become interpretable </a:t>
            </a:r>
            <a:r>
              <a:rPr lang="en-US" sz="2300" b="true">
                <a:solidFill>
                  <a:srgbClr val="111111"/>
                </a:solidFill>
                <a:latin typeface="Nunito Bold"/>
                <a:ea typeface="Nunito Bold"/>
                <a:cs typeface="Nunito Bold"/>
                <a:sym typeface="Nunito Bold"/>
              </a:rPr>
              <a:t>against scale</a:t>
            </a:r>
            <a:r>
              <a:rPr lang="en-US" sz="2300" b="true">
                <a:solidFill>
                  <a:srgbClr val="111111"/>
                </a:solidFill>
                <a:latin typeface="Nunito Semi-Bold"/>
                <a:ea typeface="Nunito Semi-Bold"/>
                <a:cs typeface="Nunito Semi-Bold"/>
                <a:sym typeface="Nunito Semi-Bold"/>
              </a:rPr>
              <a:t>, not just against one flat partition.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step:</a:t>
            </a:r>
            <a:r>
              <a:rPr lang="en-US" sz="2000" b="true">
                <a:solidFill>
                  <a:srgbClr val="FFFFFF"/>
                </a:solidFill>
                <a:latin typeface="Nunito Semi-Bold"/>
                <a:ea typeface="Nunito Semi-Bold"/>
                <a:cs typeface="Nunito Semi-Bold"/>
                <a:sym typeface="Nunito Semi-Bold"/>
              </a:rPr>
              <a:t> let attribution shape the learning itself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III</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51</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III</a:t>
            </a:r>
          </a:p>
        </p:txBody>
      </p:sp>
      <p:sp>
        <p:nvSpPr>
          <p:cNvPr id="8" name="Oval 7"/>
          <p:cNvSpPr/>
          <p:nvPr/>
        </p:nvSpPr>
        <p:spPr>
          <a:xfrm>
            <a:off x="14131423"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4131423"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06</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DyHuCoG: a Dynamic Hypergraph Cooperative Game for recommendation  ·  answers RQ3 &amp; RQ4</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Formulate recommendation as a cooperative game over users, items and contexts; make attribution an in-training signal.</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Preference-aware Monte Carlo Shapley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dynamic hypergraph edge weights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attention-gated, context-aware scoring; multi-objective loss.</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MovieLens-1M &amp; Amazon-Book: NDCG, Recall, Coverage and ILD improve together over HPCF; largest gains on the sparsest data.</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[21] Zhang, Y. &amp; Chen, X. Explainable Recommendation: A Survey and New Perspectives. Foundations and Trends in IR 14(1), 1–101 (2020).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Graph and hypergraph recommenders [12, 13, 14] treat message importance as </a:t>
            </a:r>
            <a:r>
              <a:rPr lang="en-US" sz="2100" b="true">
                <a:solidFill>
                  <a:srgbClr val="111111"/>
                </a:solidFill>
                <a:latin typeface="Nunito Bold"/>
                <a:ea typeface="Nunito Bold"/>
                <a:cs typeface="Nunito Bold"/>
                <a:sym typeface="Nunito Bold"/>
              </a:rPr>
              <a:t>uniform or attention-weighted</a:t>
            </a:r>
            <a:r>
              <a:rPr lang="en-US" sz="2100" b="true">
                <a:solidFill>
                  <a:srgbClr val="111111"/>
                </a:solidFill>
                <a:latin typeface="Nunito Semi-Bold"/>
                <a:ea typeface="Nunito Semi-Bold"/>
                <a:cs typeface="Nunito Semi-Bold"/>
                <a:sym typeface="Nunito Semi-Bold"/>
              </a:rPr>
              <a:t>, with no well-founded </a:t>
            </a:r>
            <a:r>
              <a:rPr lang="en-US" sz="2100" b="true">
                <a:solidFill>
                  <a:srgbClr val="111111"/>
                </a:solidFill>
                <a:latin typeface="Nunito Bold"/>
                <a:ea typeface="Nunito Bold"/>
                <a:cs typeface="Nunito Bold"/>
                <a:sym typeface="Nunito Bold"/>
              </a:rPr>
              <a:t>marginal-contribution</a:t>
            </a:r>
            <a:r>
              <a:rPr lang="en-US" sz="2100" b="true">
                <a:solidFill>
                  <a:srgbClr val="111111"/>
                </a:solidFill>
                <a:latin typeface="Nunito Semi-Bold"/>
                <a:ea typeface="Nunito Semi-Bold"/>
                <a:cs typeface="Nunito Semi-Bold"/>
                <a:sym typeface="Nunito Semi-Bold"/>
              </a:rPr>
              <a:t> account.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Diversity is often a secondary goal or a </a:t>
            </a:r>
            <a:r>
              <a:rPr lang="en-US" sz="2100" b="true">
                <a:solidFill>
                  <a:srgbClr val="111111"/>
                </a:solidFill>
                <a:latin typeface="Nunito Bold"/>
                <a:ea typeface="Nunito Bold"/>
                <a:cs typeface="Nunito Bold"/>
                <a:sym typeface="Nunito Bold"/>
              </a:rPr>
              <a:t>re-ranking heuristic</a:t>
            </a:r>
            <a:r>
              <a:rPr lang="en-US" sz="2100" b="true">
                <a:solidFill>
                  <a:srgbClr val="111111"/>
                </a:solidFill>
                <a:latin typeface="Nunito Semi-Bold"/>
                <a:ea typeface="Nunito Semi-Bold"/>
                <a:cs typeface="Nunito Semi-Bold"/>
                <a:sym typeface="Nunito Semi-Bold"/>
              </a:rPr>
              <a:t> applied after the model has been trained [23].</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Interpretability is </a:t>
            </a:r>
            <a:r>
              <a:rPr lang="en-US" sz="2100" b="true">
                <a:solidFill>
                  <a:srgbClr val="111111"/>
                </a:solidFill>
                <a:latin typeface="Nunito Bold"/>
                <a:ea typeface="Nunito Bold"/>
                <a:cs typeface="Nunito Bold"/>
                <a:sym typeface="Nunito Bold"/>
              </a:rPr>
              <a:t>added after prediction</a:t>
            </a:r>
            <a:r>
              <a:rPr lang="en-US" sz="2100" b="true">
                <a:solidFill>
                  <a:srgbClr val="111111"/>
                </a:solidFill>
                <a:latin typeface="Nunito Semi-Bold"/>
                <a:ea typeface="Nunito Semi-Bold"/>
                <a:cs typeface="Nunito Semi-Bold"/>
                <a:sym typeface="Nunito Semi-Bold"/>
              </a:rPr>
              <a:t>, not built into the learning objective [21].</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Contributions I and II showed that Shapley attribution is faithful and consistent, but it was still </a:t>
            </a:r>
            <a:r>
              <a:rPr lang="en-US" sz="2100" b="true">
                <a:solidFill>
                  <a:srgbClr val="111111"/>
                </a:solidFill>
                <a:latin typeface="Nunito Bold"/>
                <a:ea typeface="Nunito Bold"/>
                <a:cs typeface="Nunito Bold"/>
                <a:sym typeface="Nunito Bold"/>
              </a:rPr>
              <a:t>post-hoc</a:t>
            </a:r>
            <a:r>
              <a:rPr lang="en-US" sz="2100" b="true">
                <a:solidFill>
                  <a:srgbClr val="111111"/>
                </a:solidFill>
                <a:latin typeface="Nunito Semi-Bold"/>
                <a:ea typeface="Nunito Semi-Bold"/>
                <a:cs typeface="Nunito Semi-Bold"/>
                <a:sym typeface="Nunito Semi-Bold"/>
              </a:rPr>
              <a:t>: it never changed what the model learned.</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No recommender uses a </a:t>
            </a:r>
            <a:r>
              <a:rPr lang="en-US" sz="2200" b="true">
                <a:solidFill>
                  <a:srgbClr val="111111"/>
                </a:solidFill>
                <a:latin typeface="Nunito Bold"/>
                <a:ea typeface="Nunito Bold"/>
                <a:cs typeface="Nunito Bold"/>
                <a:sym typeface="Nunito Bold"/>
              </a:rPr>
              <a:t>cooperative-game utility</a:t>
            </a:r>
            <a:r>
              <a:rPr lang="en-US" sz="2200" b="true">
                <a:solidFill>
                  <a:srgbClr val="111111"/>
                </a:solidFill>
                <a:latin typeface="Nunito Semi-Bold"/>
                <a:ea typeface="Nunito Semi-Bold"/>
                <a:cs typeface="Nunito Semi-Bold"/>
                <a:sym typeface="Nunito Semi-Bold"/>
              </a:rPr>
              <a:t> to decide, during training, how much each user, item and context should count, while keeping accuracy, context and diversity in the same objective.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RQ3, RQ4 and Objectives</a:t>
            </a:r>
          </a:p>
        </p:txBody>
      </p:sp>
      <p:pic>
        <p:nvPicPr>
          <p:cNvPr id="23" name="Picture 22" descr="image.png"/>
          <p:cNvPicPr>
            <a:picLocks noChangeAspect="1"/>
          </p:cNvPicPr>
          <p:nvPr/>
        </p:nvPicPr>
        <p:blipFill>
          <a:blip r:embed="rId3"/>
          <a:stretch>
            <a:fillRect/>
          </a:stretch>
        </p:blipFill>
        <p:spPr>
          <a:xfrm>
            <a:off x="7714472"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RQ3</a:t>
            </a:r>
          </a:p>
        </p:txBody>
      </p:sp>
      <p:sp>
        <p:nvSpPr>
          <p:cNvPr id="30" name="TextBox 29"/>
          <p:cNvSpPr txBox="1"/>
          <p:nvPr/>
        </p:nvSpPr>
        <p:spPr>
          <a:xfrm>
            <a:off x="1394460" y="3820922"/>
            <a:ext cx="7200900" cy="100584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Semi-Bold"/>
                <a:ea typeface="Nunito Semi-Bold"/>
                <a:cs typeface="Nunito Semi-Bold"/>
                <a:sym typeface="Nunito Semi-Bold"/>
              </a:rPr>
              <a:t>Can cooperative attribution move </a:t>
            </a:r>
            <a:r>
              <a:rPr lang="en-US" sz="1900" b="true">
                <a:solidFill>
                  <a:srgbClr val="111111"/>
                </a:solidFill>
                <a:latin typeface="Nunito Bold"/>
                <a:ea typeface="Nunito Bold"/>
                <a:cs typeface="Nunito Bold"/>
                <a:sym typeface="Nunito Bold"/>
              </a:rPr>
              <a:t>beyond post-hoc</a:t>
            </a:r>
            <a:r>
              <a:rPr lang="en-US" sz="1900" b="true">
                <a:solidFill>
                  <a:srgbClr val="111111"/>
                </a:solidFill>
                <a:latin typeface="Nunito Semi-Bold"/>
                <a:ea typeface="Nunito Semi-Bold"/>
                <a:cs typeface="Nunito Semi-Bold"/>
                <a:sym typeface="Nunito Semi-Bold"/>
              </a:rPr>
              <a:t> and become part of how a recommender learns?</a:t>
            </a:r>
          </a:p>
        </p:txBody>
      </p:sp>
      <p:sp>
        <p:nvSpPr>
          <p:cNvPr id="31" name="Rounded Rectangle 30"/>
          <p:cNvSpPr/>
          <p:nvPr/>
        </p:nvSpPr>
        <p:spPr>
          <a:xfrm>
            <a:off x="932688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RQ4</a:t>
            </a:r>
          </a:p>
        </p:txBody>
      </p:sp>
      <p:sp>
        <p:nvSpPr>
          <p:cNvPr id="33" name="TextBox 32"/>
          <p:cNvSpPr txBox="1"/>
          <p:nvPr/>
        </p:nvSpPr>
        <p:spPr>
          <a:xfrm>
            <a:off x="9692640" y="3820922"/>
            <a:ext cx="7200900" cy="1005840"/>
          </a:xfrm>
          <a:prstGeom prst="rect">
            <a:avLst/>
          </a:prstGeom>
          <a:noFill/>
        </p:spPr>
        <p:txBody>
          <a:bodyPr anchor="ctr" rtlCol="false" lIns="0" tIns="0" rIns="0" bIns="0" wrap="square"/>
          <a:lstStyle/>
          <a:p>
            <a:pPr algn="l">
              <a:lnSpc>
                <a:spcPts val="2580"/>
              </a:lnSpc>
              <a:spcBef>
                <a:spcPts val="0"/>
              </a:spcBef>
              <a:buNone/>
            </a:pPr>
            <a:r>
              <a:rPr lang="en-US" sz="1843" b="true">
                <a:solidFill>
                  <a:srgbClr val="111111"/>
                </a:solidFill>
                <a:latin typeface="Nunito Semi-Bold"/>
                <a:ea typeface="Nunito Semi-Bold"/>
                <a:cs typeface="Nunito Semi-Bold"/>
                <a:sym typeface="Nunito Semi-Bold"/>
              </a:rPr>
              <a:t>Can it improve </a:t>
            </a:r>
            <a:r>
              <a:rPr lang="en-US" sz="1843" b="true">
                <a:solidFill>
                  <a:srgbClr val="111111"/>
                </a:solidFill>
                <a:latin typeface="Nunito Bold"/>
                <a:ea typeface="Nunito Bold"/>
                <a:cs typeface="Nunito Bold"/>
                <a:sym typeface="Nunito Bold"/>
              </a:rPr>
              <a:t>ranking accuracy, context and diversity together</a:t>
            </a:r>
            <a:r>
              <a:rPr lang="en-US" sz="1843" b="true">
                <a:solidFill>
                  <a:srgbClr val="111111"/>
                </a:solidFill>
                <a:latin typeface="Nunito Semi-Bold"/>
                <a:ea typeface="Nunito Semi-Bold"/>
                <a:cs typeface="Nunito Semi-Bold"/>
                <a:sym typeface="Nunito Semi-Bold"/>
              </a:rPr>
              <a:t> when importance comes from a cooperative-game utility?</a:t>
            </a:r>
          </a:p>
        </p:txBody>
      </p:sp>
      <p:graphicFrame>
        <p:nvGraphicFramePr>
          <p:cNvPr id="34" name="Table 33"/>
          <p:cNvGraphicFramePr>
            <a:graphicFrameLocks noGrp="1"/>
          </p:cNvGraphicFramePr>
          <p:nvPr/>
        </p:nvGraphicFramePr>
        <p:xfrm>
          <a:off x="1028700" y="537540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Recommendation as a cooperative game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Users, items and contexts are the </a:t>
                      </a:r>
                      <a:r>
                        <a:rPr lang="en-US" sz="1800" b="true">
                          <a:solidFill>
                            <a:srgbClr val="111111"/>
                          </a:solidFill>
                          <a:latin typeface="Nunito Bold"/>
                          <a:ea typeface="Nunito Bold"/>
                          <a:cs typeface="Nunito Bold"/>
                          <a:sym typeface="Nunito Bold"/>
                        </a:rPr>
                        <a:t>players</a:t>
                      </a:r>
                      <a:r>
                        <a:rPr lang="en-US" sz="1800" b="true">
                          <a:solidFill>
                            <a:srgbClr val="111111"/>
                          </a:solidFill>
                          <a:latin typeface="Nunito Semi-Bold"/>
                          <a:ea typeface="Nunito Semi-Bold"/>
                          <a:cs typeface="Nunito Semi-Bold"/>
                          <a:sym typeface="Nunito Semi-Bold"/>
                        </a:rPr>
                        <a:t>; the coalition utility mixes accuracy, diversity and 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Game formulation, value function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Preference-aware Monte Carlo Shapley</a:t>
                      </a:r>
                      <a:r>
                        <a:rPr lang="en-US" sz="1800" b="true">
                          <a:solidFill>
                            <a:srgbClr val="111111"/>
                          </a:solidFill>
                          <a:latin typeface="Nunito Semi-Bold"/>
                          <a:ea typeface="Nunito Semi-Bold"/>
                          <a:cs typeface="Nunito Semi-Bold"/>
                          <a:sym typeface="Nunito Semi-Bold"/>
                        </a:rPr>
                        <a:t> estimates become dynamic hyperedge weights during training.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MC Shapley, architecture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Accuracy,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Better NDCG and Recall </a:t>
                      </a:r>
                      <a:r>
                        <a:rPr lang="en-US" sz="1800" b="true">
                          <a:solidFill>
                            <a:srgbClr val="111111"/>
                          </a:solidFill>
                          <a:latin typeface="Nunito Bold"/>
                          <a:ea typeface="Nunito Bold"/>
                          <a:cs typeface="Nunito Bold"/>
                          <a:sym typeface="Nunito Bold"/>
                        </a:rPr>
                        <a:t>and</a:t>
                      </a:r>
                      <a:r>
                        <a:rPr lang="en-US" sz="1800" b="true">
                          <a:solidFill>
                            <a:srgbClr val="111111"/>
                          </a:solidFill>
                          <a:latin typeface="Nunito Semi-Bold"/>
                          <a:ea typeface="Nunito Semi-Bold"/>
                          <a:cs typeface="Nunito Semi-Bold"/>
                          <a:sym typeface="Nunito Semi-Bold"/>
                        </a:rPr>
                        <a:t> higher Coverage and ILD than the strongest baseline, on two 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7.1, Fig. 7.2, 7.3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Recommendation as a Cooperative Game</a:t>
            </a:r>
          </a:p>
        </p:txBody>
      </p:sp>
      <p:pic>
        <p:nvPicPr>
          <p:cNvPr id="23" name="Picture 22" descr="image.png"/>
          <p:cNvPicPr>
            <a:picLocks noChangeAspect="1"/>
          </p:cNvPicPr>
          <p:nvPr/>
        </p:nvPicPr>
        <p:blipFill>
          <a:blip r:embed="rId3"/>
          <a:stretch>
            <a:fillRect/>
          </a:stretch>
        </p:blipFill>
        <p:spPr>
          <a:xfrm>
            <a:off x="11933734"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2194560"/>
          </a:xfrm>
          <a:prstGeom prst="rect">
            <a:avLst/>
          </a:prstGeom>
          <a:noFill/>
        </p:spPr>
        <p:txBody>
          <a:bodyPr anchor="t" rtlCol="false" lIns="0" tIns="0" rIns="0" bIns="0" wrap="square"/>
          <a:lstStyle/>
          <a:p>
            <a:pPr algn="l" marL="274320" indent="-274320">
              <a:lnSpc>
                <a:spcPts val="2764"/>
              </a:lnSpc>
              <a:spcBef>
                <a:spcPts val="0"/>
              </a:spcBef>
              <a:buClr>
                <a:srgbClr val="DF8330"/>
              </a:buClr>
              <a:buSzPct val="100000"/>
              <a:buFont typeface="Arial"/>
              <a:buChar char="•"/>
            </a:pPr>
            <a:r>
              <a:rPr lang="en-US" sz="1974" b="true">
                <a:solidFill>
                  <a:srgbClr val="111111"/>
                </a:solidFill>
                <a:latin typeface="Nunito Bold"/>
                <a:ea typeface="Nunito Bold"/>
                <a:cs typeface="Nunito Bold"/>
                <a:sym typeface="Nunito Bold"/>
              </a:rPr>
              <a:t>Player set N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C</a:t>
            </a:r>
            <a:r>
              <a:rPr lang="en-US" sz="1974" b="true">
                <a:solidFill>
                  <a:srgbClr val="111111"/>
                </a:solidFill>
                <a:latin typeface="Nunito Semi-Bold"/>
                <a:ea typeface="Nunito Semi-Bold"/>
                <a:cs typeface="Nunito Semi-Bold"/>
                <a:sym typeface="Nunito Semi-Bold"/>
              </a:rPr>
              <a:t> (users, items, contexts).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Bold"/>
                <a:ea typeface="Nunito Bold"/>
                <a:cs typeface="Nunito Bold"/>
                <a:sym typeface="Nunito Bold"/>
              </a:rPr>
              <a:t>Hypergraph H = (V, E, W)</a:t>
            </a:r>
            <a:r>
              <a:rPr lang="en-US" sz="1974" b="true">
                <a:solidFill>
                  <a:srgbClr val="111111"/>
                </a:solidFill>
                <a:latin typeface="Nunito Semi-Bold"/>
                <a:ea typeface="Nunito Semi-Bold"/>
                <a:cs typeface="Nunito Semi-Bold"/>
                <a:sym typeface="Nunito Semi-Bold"/>
              </a:rPr>
              <a:t>; V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C; </a:t>
            </a:r>
            <a:r>
              <a:rPr lang="en-US" sz="1974" b="true">
                <a:solidFill>
                  <a:srgbClr val="111111"/>
                </a:solidFill>
                <a:latin typeface="Nunito Bold"/>
                <a:ea typeface="Nunito Bold"/>
                <a:cs typeface="Nunito Bold"/>
                <a:sym typeface="Nunito Bold"/>
              </a:rPr>
              <a:t>W = dynamic edge weights</a:t>
            </a:r>
            <a:r>
              <a:rPr lang="en-US" sz="1974" b="true">
                <a:solidFill>
                  <a:srgbClr val="111111"/>
                </a:solidFill>
                <a:latin typeface="Nunito Semi-Bold"/>
                <a:ea typeface="Nunito Semi-Bold"/>
                <a:cs typeface="Nunito Semi-Bold"/>
                <a:sym typeface="Nunito Semi-Bold"/>
              </a:rPr>
              <a:t> from Shapley estimates.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Semi-Bold"/>
                <a:ea typeface="Nunito Semi-Bold"/>
                <a:cs typeface="Nunito Semi-Bold"/>
                <a:sym typeface="Nunito Semi-Bold"/>
              </a:rPr>
              <a:t>A </a:t>
            </a:r>
            <a:r>
              <a:rPr lang="en-US" sz="1974" b="true">
                <a:solidFill>
                  <a:srgbClr val="111111"/>
                </a:solidFill>
                <a:latin typeface="Nunito Bold"/>
                <a:ea typeface="Nunito Bold"/>
                <a:cs typeface="Nunito Bold"/>
                <a:sym typeface="Nunito Bold"/>
              </a:rPr>
              <a:t>coalition S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N</a:t>
            </a:r>
            <a:r>
              <a:rPr lang="en-US" sz="1974" b="true">
                <a:solidFill>
                  <a:srgbClr val="111111"/>
                </a:solidFill>
                <a:latin typeface="Nunito Semi-Bold"/>
                <a:ea typeface="Nunito Semi-Bold"/>
                <a:cs typeface="Nunito Semi-Bold"/>
                <a:sym typeface="Nunito Semi-Bold"/>
              </a:rPr>
              <a:t> is the set of entities taking part in a recommendation episode.</a:t>
            </a:r>
          </a:p>
        </p:txBody>
      </p:sp>
      <p:sp>
        <p:nvSpPr>
          <p:cNvPr id="29" name="Rounded Rectangle 28"/>
          <p:cNvSpPr/>
          <p:nvPr/>
        </p:nvSpPr>
        <p:spPr>
          <a:xfrm>
            <a:off x="1028700" y="5649722"/>
            <a:ext cx="7863840" cy="1417320"/>
          </a:xfrm>
          <a:prstGeom prst="roundRect">
            <a:avLst>
              <a:gd name="adj" fmla="val 16129"/>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57300" y="5759450"/>
                <a:ext cx="7406640" cy="658368"/>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α</m:t>
                      </m:r>
                      <m:r>
                        <m:rPr>
                          <m:sty m:val="p"/>
                        </m:rPr>
                        <a:rPr lang="en-US" sz="1800">
                          <a:solidFill>
                            <a:srgbClr val="FFFFFF"/>
                          </a:solidFill>
                          <a:latin typeface="Cambria Math" panose="02040503050406030204" pitchFamily="18" charset="0"/>
                        </a:rPr>
                        <m:t xml:space="preserve">·NDCG@20(</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β</m:t>
                      </m:r>
                      <m:r>
                        <m:rPr>
                          <m:sty m:val="p"/>
                        </m:rPr>
                        <a:rPr lang="en-US" sz="1800">
                          <a:solidFill>
                            <a:srgbClr val="FFFFFF"/>
                          </a:solidFill>
                          <a:latin typeface="Cambria Math" panose="02040503050406030204" pitchFamily="18" charset="0"/>
                        </a:rPr>
                        <m:t xml:space="preserve">·Diversity(</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γ</m:t>
                      </m:r>
                      <m:r>
                        <m:rPr>
                          <m:sty m:val="p"/>
                        </m:rPr>
                        <a:rPr lang="en-US" sz="1800">
                          <a:solidFill>
                            <a:srgbClr val="FFFFFF"/>
                          </a:solidFill>
                          <a:latin typeface="Cambria Math" panose="02040503050406030204" pitchFamily="18" charset="0"/>
                        </a:rPr>
                        <m:t xml:space="preserve">·ContextScore(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oMath>
                  </m:oMathPara>
                </a14:m>
                <a:endParaRPr lang="en-US" sz="1800"/>
              </a:p>
            </p:txBody>
          </p:sp>
        </mc:Choice>
        <mc:Fallback>
          <p:sp>
            <p:nvSpPr>
              <p:cNvPr id="30" name="Equation"/>
              <p:cNvSpPr txBox="1"/>
              <p:nvPr/>
            </p:nvSpPr>
            <p:spPr>
              <a:xfrm>
                <a:off x="1257300" y="5759450"/>
                <a:ext cx="7406640" cy="658368"/>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57300" y="6426962"/>
                <a:ext cx="740664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=0.60,  </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=0.25,  </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=0.15,  </m:t>
                      </m:r>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=1</m:t>
                      </m:r>
                    </m:oMath>
                  </m:oMathPara>
                </a14:m>
                <a:endParaRPr lang="en-US" sz="1800"/>
              </a:p>
            </p:txBody>
          </p:sp>
        </mc:Choice>
        <mc:Fallback>
          <p:sp>
            <p:nvSpPr>
              <p:cNvPr id="31" name="Equation"/>
              <p:cNvSpPr txBox="1"/>
              <p:nvPr/>
            </p:nvSpPr>
            <p:spPr>
              <a:xfrm>
                <a:off x="1257300" y="6426962"/>
                <a:ext cx="7406640" cy="548640"/>
              </a:xfrm>
              <a:prstGeom prst="rect">
                <a:avLst/>
              </a:prstGeom>
              <a:blipFill>
                <a:blip r:embed="rId6"/>
                <a:stretch>
                  <a:fillRect/>
                </a:stretch>
              </a:blipFill>
            </p:spPr>
            <p:txBody>
              <a:bodyPr/>
              <a:lstStyle/>
              <a:p>
                <a:endParaRPr lang="en-US"/>
              </a:p>
            </p:txBody>
          </p:sp>
        </mc:Fallback>
      </mc:AlternateContent>
      <p:sp>
        <p:nvSpPr>
          <p:cNvPr id="32" name="TextBox 31"/>
          <p:cNvSpPr txBox="1"/>
          <p:nvPr/>
        </p:nvSpPr>
        <p:spPr>
          <a:xfrm>
            <a:off x="1028700" y="7249922"/>
            <a:ext cx="7863840" cy="2058670"/>
          </a:xfrm>
          <a:prstGeom prst="rect">
            <a:avLst/>
          </a:prstGeom>
          <a:noFill/>
        </p:spPr>
        <p:txBody>
          <a:bodyPr anchor="t" rtlCol="false" lIns="0" tIns="0" rIns="0" bIns="0" wrap="square"/>
          <a:lstStyle/>
          <a:p>
            <a:pPr algn="l">
              <a:lnSpc>
                <a:spcPts val="2520"/>
              </a:lnSpc>
              <a:spcBef>
                <a:spcPts val="0"/>
              </a:spcBef>
              <a:buNone/>
            </a:pPr>
            <a:r>
              <a:rPr lang="en-US" sz="1800" b="true">
                <a:solidFill>
                  <a:srgbClr val="111111"/>
                </a:solidFill>
                <a:latin typeface="Nunito Semi-Bold"/>
                <a:ea typeface="Nunito Semi-Bold"/>
                <a:cs typeface="Nunito Semi-Bold"/>
                <a:sym typeface="Nunito Semi-Bold"/>
              </a:rPr>
              <a:t>Preference term </a:t>
            </a:r>
            <a:r>
              <a:rPr lang="en-US" sz="1800" b="true">
                <a:solidFill>
                  <a:srgbClr val="111111"/>
                </a:solidFill>
                <a:latin typeface="Nunito Bold"/>
                <a:ea typeface="Nunito Bold"/>
                <a:cs typeface="Nunito Bold"/>
                <a:sym typeface="Nunito Bold"/>
              </a:rPr>
              <a:t>v</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(S) = v(S) +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 Σ sim(u,i)</a:t>
            </a:r>
            <a:r>
              <a:rPr lang="en-US" sz="1800" b="true">
                <a:solidFill>
                  <a:srgbClr val="111111"/>
                </a:solidFill>
                <a:latin typeface="Nunito Semi-Bold"/>
                <a:ea typeface="Nunito Semi-Bold"/>
                <a:cs typeface="Nunito Semi-Bold"/>
                <a:sym typeface="Nunito Semi-Bold"/>
              </a:rPr>
              <a:t>,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Semi-Bold"/>
                <a:ea typeface="Nunito Semi-Bold"/>
                <a:cs typeface="Nunito Semi-Bold"/>
                <a:sym typeface="Nunito Semi-Bold"/>
              </a:rPr>
              <a:t>pref</a:t>
            </a:r>
            <a:r>
              <a:rPr lang="en-US" sz="1800" b="true">
                <a:solidFill>
                  <a:srgbClr val="111111"/>
                </a:solidFill>
                <a:latin typeface="Nunito Semi-Bold"/>
                <a:ea typeface="Nunito Semi-Bold"/>
                <a:cs typeface="Nunito Semi-Bold"/>
                <a:sym typeface="Nunito Semi-Bold"/>
              </a:rPr>
              <a:t> = 0.20; weights grid-searched, </a:t>
            </a:r>
            <a:r>
              <a:rPr lang="en-US" sz="1800" b="true">
                <a:solidFill>
                  <a:srgbClr val="111111"/>
                </a:solidFill>
                <a:latin typeface="Nunito Bold"/>
                <a:ea typeface="Nunito Bold"/>
                <a:cs typeface="Nunito Bold"/>
                <a:sym typeface="Nunito Bold"/>
              </a:rPr>
              <a:t>&lt; 1.5 % variance</a:t>
            </a:r>
            <a:r>
              <a:rPr lang="en-US" sz="1800" b="true">
                <a:solidFill>
                  <a:srgbClr val="111111"/>
                </a:solidFill>
                <a:latin typeface="Nunito Semi-Bold"/>
                <a:ea typeface="Nunito Semi-Bold"/>
                <a:cs typeface="Nunito Semi-Bold"/>
                <a:sym typeface="Nunito Semi-Bold"/>
              </a:rPr>
              <a:t> in NDCG@20.</a:t>
            </a:r>
          </a:p>
          <a:p>
            <a:pPr algn="l">
              <a:lnSpc>
                <a:spcPts val="2520"/>
              </a:lnSpc>
              <a:spcBef>
                <a:spcPts val="800"/>
              </a:spcBef>
              <a:buNone/>
            </a:pPr>
            <a:r>
              <a:rPr lang="en-US" sz="1800" b="true">
                <a:solidFill>
                  <a:srgbClr val="111111"/>
                </a:solidFill>
                <a:latin typeface="Nunito Semi-Bold"/>
                <a:ea typeface="Nunito Semi-Bold"/>
                <a:cs typeface="Nunito Semi-Bold"/>
                <a:sym typeface="Nunito Semi-Bold"/>
              </a:rPr>
              <a:t>The </a:t>
            </a:r>
            <a:r>
              <a:rPr lang="en-US" sz="1800" b="true">
                <a:solidFill>
                  <a:srgbClr val="111111"/>
                </a:solidFill>
                <a:latin typeface="Nunito Bold"/>
                <a:ea typeface="Nunito Bold"/>
                <a:cs typeface="Nunito Bold"/>
                <a:sym typeface="Nunito Bold"/>
              </a:rPr>
              <a:t>same trade-off</a:t>
            </a:r>
            <a:r>
              <a:rPr lang="en-US" sz="1800" b="true">
                <a:solidFill>
                  <a:srgbClr val="111111"/>
                </a:solidFill>
                <a:latin typeface="Nunito Semi-Bold"/>
                <a:ea typeface="Nunito Semi-Bold"/>
                <a:cs typeface="Nunito Semi-Bold"/>
                <a:sym typeface="Nunito Semi-Bold"/>
              </a:rPr>
              <a:t> the recommender must satisfy is the one from which attribution is computed: explanatory game and predictive objective are </a:t>
            </a:r>
            <a:r>
              <a:rPr lang="en-US" sz="1800" b="true">
                <a:solidFill>
                  <a:srgbClr val="111111"/>
                </a:solidFill>
                <a:latin typeface="Nunito Bold"/>
                <a:ea typeface="Nunito Bold"/>
                <a:cs typeface="Nunito Bold"/>
                <a:sym typeface="Nunito Bold"/>
              </a:rPr>
              <a:t>aligned by design</a:t>
            </a:r>
            <a:r>
              <a:rPr lang="en-US" sz="1800" b="true">
                <a:solidFill>
                  <a:srgbClr val="111111"/>
                </a:solidFill>
                <a:latin typeface="Nunito Semi-Bold"/>
                <a:ea typeface="Nunito Semi-Bold"/>
                <a:cs typeface="Nunito Semi-Bold"/>
                <a:sym typeface="Nunito Semi-Bold"/>
              </a:rPr>
              <a:t>.</a:t>
            </a:r>
          </a:p>
        </p:txBody>
      </p:sp>
      <p:sp>
        <p:nvSpPr>
          <p:cNvPr id="33" name="TextBox 32"/>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PLAYERS AND COALITIONS</a:t>
            </a:r>
          </a:p>
        </p:txBody>
      </p:sp>
      <p:sp>
        <p:nvSpPr>
          <p:cNvPr id="34" name="Rounded Rectangle 33"/>
          <p:cNvSpPr/>
          <p:nvPr/>
        </p:nvSpPr>
        <p:spPr>
          <a:xfrm>
            <a:off x="9715500" y="3912362"/>
            <a:ext cx="7269480" cy="2834640"/>
          </a:xfrm>
          <a:prstGeom prst="roundRect">
            <a:avLst>
              <a:gd name="adj" fmla="val 19354"/>
            </a:avLst>
          </a:prstGeom>
          <a:solidFill>
            <a:srgbClr val="F6ECDF"/>
          </a:solidFill>
          <a:ln>
            <a:noFill/>
          </a:ln>
        </p:spPr>
        <p:txBody>
          <a:bodyPr anchor="ctr" rtlCol="false" lIns="0" tIns="0" rIns="0" bIns="0" wrap="square"/>
          <a:lstStyle/>
          <a:p>
            <a:endParaRPr lang="en-US" sz="1800"/>
          </a:p>
        </p:txBody>
      </p:sp>
      <p:sp>
        <p:nvSpPr>
          <p:cNvPr id="35" name="TextBox 34"/>
          <p:cNvSpPr txBox="1"/>
          <p:nvPr/>
        </p:nvSpPr>
        <p:spPr>
          <a:xfrm>
            <a:off x="9441180" y="4022090"/>
            <a:ext cx="7818120" cy="365760"/>
          </a:xfrm>
          <a:prstGeom prst="rect">
            <a:avLst/>
          </a:prstGeom>
          <a:noFill/>
        </p:spPr>
        <p:txBody>
          <a:bodyPr anchor="t" rtlCol="false" lIns="0" tIns="0" rIns="0" bIns="0" wrap="square"/>
          <a:lstStyle/>
          <a:p>
            <a:pPr algn="ctr">
              <a:lnSpc>
                <a:spcPts val="1800"/>
              </a:lnSpc>
              <a:spcBef>
                <a:spcPts val="0"/>
              </a:spcBef>
              <a:buNone/>
            </a:pPr>
            <a:r>
              <a:rPr lang="en-US" sz="1500" b="true">
                <a:solidFill>
                  <a:srgbClr val="8A8378"/>
                </a:solidFill>
                <a:latin typeface="Nunito Bold"/>
                <a:ea typeface="Nunito Bold"/>
                <a:cs typeface="Nunito Bold"/>
                <a:sym typeface="Nunito Bold"/>
              </a:rPr>
              <a:t>coalition S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N  ·  hyperedge e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E</a:t>
            </a:r>
          </a:p>
        </p:txBody>
      </p:sp>
      <p:sp>
        <p:nvSpPr>
          <p:cNvPr id="36" name="Oval 35"/>
          <p:cNvSpPr/>
          <p:nvPr/>
        </p:nvSpPr>
        <p:spPr>
          <a:xfrm>
            <a:off x="10165080" y="4598162"/>
            <a:ext cx="1737360" cy="1737360"/>
          </a:xfrm>
          <a:prstGeom prst="ellipse">
            <a:avLst/>
          </a:prstGeom>
          <a:solidFill>
            <a:srgbClr val="124944"/>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U</a:t>
            </a:r>
          </a:p>
          <a:p>
            <a:pPr algn="ctr">
              <a:lnSpc>
                <a:spcPts val="1800"/>
              </a:lnSpc>
              <a:spcBef>
                <a:spcPts val="200"/>
              </a:spcBef>
              <a:buNone/>
            </a:pPr>
            <a:r>
              <a:rPr lang="en-US" sz="1500" b="true">
                <a:solidFill>
                  <a:srgbClr val="F7F2EA"/>
                </a:solidFill>
                <a:latin typeface="Nunito Bold"/>
                <a:ea typeface="Nunito Bold"/>
                <a:cs typeface="Nunito Bold"/>
                <a:sym typeface="Nunito Bold"/>
              </a:rPr>
              <a:t>Users</a:t>
            </a:r>
          </a:p>
        </p:txBody>
      </p:sp>
      <p:sp>
        <p:nvSpPr>
          <p:cNvPr id="37" name="Oval 36"/>
          <p:cNvSpPr/>
          <p:nvPr/>
        </p:nvSpPr>
        <p:spPr>
          <a:xfrm>
            <a:off x="12481560" y="4598162"/>
            <a:ext cx="1737360" cy="1737360"/>
          </a:xfrm>
          <a:prstGeom prst="ellipse">
            <a:avLst/>
          </a:prstGeom>
          <a:solidFill>
            <a:srgbClr val="1E5F58"/>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I</a:t>
            </a:r>
          </a:p>
          <a:p>
            <a:pPr algn="ctr">
              <a:lnSpc>
                <a:spcPts val="1800"/>
              </a:lnSpc>
              <a:spcBef>
                <a:spcPts val="200"/>
              </a:spcBef>
              <a:buNone/>
            </a:pPr>
            <a:r>
              <a:rPr lang="en-US" sz="1500" b="true">
                <a:solidFill>
                  <a:srgbClr val="F7F2EA"/>
                </a:solidFill>
                <a:latin typeface="Nunito Bold"/>
                <a:ea typeface="Nunito Bold"/>
                <a:cs typeface="Nunito Bold"/>
                <a:sym typeface="Nunito Bold"/>
              </a:rPr>
              <a:t>Items</a:t>
            </a:r>
          </a:p>
        </p:txBody>
      </p:sp>
      <p:sp>
        <p:nvSpPr>
          <p:cNvPr id="38" name="Oval 37"/>
          <p:cNvSpPr/>
          <p:nvPr/>
        </p:nvSpPr>
        <p:spPr>
          <a:xfrm>
            <a:off x="14798040" y="4598162"/>
            <a:ext cx="1737360" cy="1737360"/>
          </a:xfrm>
          <a:prstGeom prst="ellipse">
            <a:avLst/>
          </a:prstGeom>
          <a:solidFill>
            <a:srgbClr val="DF8330"/>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C</a:t>
            </a:r>
          </a:p>
          <a:p>
            <a:pPr algn="ctr">
              <a:lnSpc>
                <a:spcPts val="1800"/>
              </a:lnSpc>
              <a:spcBef>
                <a:spcPts val="200"/>
              </a:spcBef>
              <a:buNone/>
            </a:pPr>
            <a:r>
              <a:rPr lang="en-US" sz="1500" b="true">
                <a:solidFill>
                  <a:srgbClr val="F7F2EA"/>
                </a:solidFill>
                <a:latin typeface="Nunito Bold"/>
                <a:ea typeface="Nunito Bold"/>
                <a:cs typeface="Nunito Bold"/>
                <a:sym typeface="Nunito Bold"/>
              </a:rPr>
              <a:t>Contexts</a:t>
            </a:r>
          </a:p>
        </p:txBody>
      </p:sp>
      <p:sp>
        <p:nvSpPr>
          <p:cNvPr id="39" name="Rounded Rectangle 38"/>
          <p:cNvSpPr/>
          <p:nvPr/>
        </p:nvSpPr>
        <p:spPr>
          <a:xfrm>
            <a:off x="9441180" y="7067042"/>
            <a:ext cx="7818120" cy="2241550"/>
          </a:xfrm>
          <a:prstGeom prst="roundRect">
            <a:avLst>
              <a:gd name="adj" fmla="val 10198"/>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40" name="Equation"/>
              <p:cNvSpPr txBox="1"/>
              <p:nvPr/>
            </p:nvSpPr>
            <p:spPr>
              <a:xfrm>
                <a:off x="9715500" y="7112762"/>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200" i="1">
                          <a:solidFill>
                            <a:srgbClr val="FFFFFF"/>
                          </a:solidFill>
                          <a:latin typeface="Cambria Math" panose="02040503050406030204" pitchFamily="18" charset="0"/>
                        </a:rPr>
                        <m:t xml:space="preserve">v</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S</m:t>
                      </m:r>
                      <m:r>
                        <m:rPr>
                          <m:sty m:val="p"/>
                        </m:rPr>
                        <a:rPr lang="en-US" sz="2200">
                          <a:solidFill>
                            <a:srgbClr val="FFFFFF"/>
                          </a:solidFill>
                          <a:latin typeface="Cambria Math" panose="02040503050406030204" pitchFamily="18" charset="0"/>
                        </a:rPr>
                        <m:t xml:space="preserve">)</m:t>
                      </m:r>
                    </m:oMath>
                  </m:oMathPara>
                </a14:m>
                <a:endParaRPr lang="en-US" sz="2200"/>
              </a:p>
            </p:txBody>
          </p:sp>
        </mc:Choice>
        <mc:Fallback>
          <p:sp>
            <p:nvSpPr>
              <p:cNvPr id="40" name="Equation"/>
              <p:cNvSpPr txBox="1"/>
              <p:nvPr/>
            </p:nvSpPr>
            <p:spPr>
              <a:xfrm>
                <a:off x="9715500" y="7112762"/>
                <a:ext cx="1828800" cy="1120775"/>
              </a:xfrm>
              <a:prstGeom prst="rect">
                <a:avLst/>
              </a:prstGeom>
              <a:blipFill>
                <a:blip r:embed="rId7"/>
                <a:stretch>
                  <a:fillRect/>
                </a:stretch>
              </a:blipFill>
            </p:spPr>
            <p:txBody>
              <a:bodyPr/>
              <a:lstStyle/>
              <a:p>
                <a:endParaRPr lang="en-US"/>
              </a:p>
            </p:txBody>
          </p:sp>
        </mc:Fallback>
      </mc:AlternateContent>
      <p:sp>
        <p:nvSpPr>
          <p:cNvPr id="41" name="TextBox 40"/>
          <p:cNvSpPr txBox="1"/>
          <p:nvPr/>
        </p:nvSpPr>
        <p:spPr>
          <a:xfrm>
            <a:off x="11635740" y="7112762"/>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FFFFFF"/>
                </a:solidFill>
                <a:latin typeface="Nunito Bold"/>
                <a:ea typeface="Nunito Bold"/>
                <a:cs typeface="Nunito Bold"/>
                <a:sym typeface="Nunito Bold"/>
              </a:rPr>
              <a:t>quality of the recommendation that coalition S can achieve</a:t>
            </a:r>
          </a:p>
        </p:txBody>
      </p:sp>
      <mc:AlternateContent xmlns:mc="http://schemas.openxmlformats.org/markup-compatibility/2006">
        <mc:Choice xmlns:a14="http://schemas.microsoft.com/office/drawing/2010/main" Requires="a14">
          <p:sp>
            <p:nvSpPr>
              <p:cNvPr id="42" name="Equation"/>
              <p:cNvSpPr txBox="1"/>
              <p:nvPr/>
            </p:nvSpPr>
            <p:spPr>
              <a:xfrm>
                <a:off x="9715500" y="8142097"/>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ECC665"/>
                              </a:solidFill>
                              <a:latin typeface="Cambria Math" panose="02040503050406030204" pitchFamily="18" charset="0"/>
                            </a:rPr>
                          </m:ctrlPr>
                        </m:sSubPr>
                        <m:e>
                          <m:acc>
                            <m:accPr>
                              <m:chr m:val="̂"/>
                              <m:ctrlPr>
                                <a:rPr lang="en-US" sz="2200" i="1">
                                  <a:solidFill>
                                    <a:srgbClr val="ECC665"/>
                                  </a:solidFill>
                                  <a:latin typeface="Cambria Math" panose="02040503050406030204" pitchFamily="18" charset="0"/>
                                </a:rPr>
                              </m:ctrlPr>
                            </m:accPr>
                            <m:e>
                              <m:r>
                                <a:rPr lang="en-US" sz="2200" i="1">
                                  <a:solidFill>
                                    <a:srgbClr val="ECC665"/>
                                  </a:solidFill>
                                  <a:latin typeface="Cambria Math" panose="02040503050406030204" pitchFamily="18" charset="0"/>
                                </a:rPr>
                                <m:t xml:space="preserve">φ</m:t>
                              </m:r>
                            </m:e>
                          </m:acc>
                        </m:e>
                        <m:sub>
                          <m:r>
                            <a:rPr lang="en-US" sz="2200" i="1">
                              <a:solidFill>
                                <a:srgbClr val="ECC665"/>
                              </a:solidFill>
                              <a:latin typeface="Cambria Math" panose="02040503050406030204" pitchFamily="18" charset="0"/>
                            </a:rPr>
                            <m:t xml:space="preserve">j</m:t>
                          </m:r>
                        </m:sub>
                      </m:sSub>
                      <m:r>
                        <m:rPr>
                          <m:sty m:val="p"/>
                        </m:rPr>
                        <a:rPr lang="en-US" sz="2200">
                          <a:solidFill>
                            <a:srgbClr val="ECC665"/>
                          </a:solidFill>
                          <a:latin typeface="Cambria Math" panose="02040503050406030204" pitchFamily="18" charset="0"/>
                        </a:rPr>
                        <m:t xml:space="preserve"> → </m:t>
                      </m:r>
                      <m:sSub>
                        <m:sSubPr>
                          <m:ctrlPr>
                            <a:rPr lang="en-US" sz="2200" i="1">
                              <a:solidFill>
                                <a:srgbClr val="ECC665"/>
                              </a:solidFill>
                              <a:latin typeface="Cambria Math" panose="02040503050406030204" pitchFamily="18" charset="0"/>
                            </a:rPr>
                          </m:ctrlPr>
                        </m:sSubPr>
                        <m:e>
                          <m:r>
                            <a:rPr lang="en-US" sz="2200" i="1">
                              <a:solidFill>
                                <a:srgbClr val="ECC665"/>
                              </a:solidFill>
                              <a:latin typeface="Cambria Math" panose="02040503050406030204" pitchFamily="18" charset="0"/>
                            </a:rPr>
                            <m:t xml:space="preserve">w</m:t>
                          </m:r>
                        </m:e>
                        <m:sub>
                          <m:r>
                            <a:rPr lang="en-US" sz="2200" i="1">
                              <a:solidFill>
                                <a:srgbClr val="ECC665"/>
                              </a:solidFill>
                              <a:latin typeface="Cambria Math" panose="02040503050406030204" pitchFamily="18" charset="0"/>
                            </a:rPr>
                            <m:t xml:space="preserve">jk</m:t>
                          </m:r>
                        </m:sub>
                      </m:sSub>
                    </m:oMath>
                  </m:oMathPara>
                </a14:m>
                <a:endParaRPr lang="en-US" sz="2200"/>
              </a:p>
            </p:txBody>
          </p:sp>
        </mc:Choice>
        <mc:Fallback>
          <p:sp>
            <p:nvSpPr>
              <p:cNvPr id="42" name="Equation"/>
              <p:cNvSpPr txBox="1"/>
              <p:nvPr/>
            </p:nvSpPr>
            <p:spPr>
              <a:xfrm>
                <a:off x="9715500" y="8142097"/>
                <a:ext cx="1828800" cy="1120775"/>
              </a:xfrm>
              <a:prstGeom prst="rect">
                <a:avLst/>
              </a:prstGeom>
              <a:blipFill>
                <a:blip r:embed="rId8"/>
                <a:stretch>
                  <a:fillRect/>
                </a:stretch>
              </a:blipFill>
            </p:spPr>
            <p:txBody>
              <a:bodyPr/>
              <a:lstStyle/>
              <a:p>
                <a:endParaRPr lang="en-US"/>
              </a:p>
            </p:txBody>
          </p:sp>
        </mc:Fallback>
      </mc:AlternateContent>
      <p:sp>
        <p:nvSpPr>
          <p:cNvPr id="43" name="TextBox 42"/>
          <p:cNvSpPr txBox="1"/>
          <p:nvPr/>
        </p:nvSpPr>
        <p:spPr>
          <a:xfrm>
            <a:off x="11635740" y="8142097"/>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ECC665"/>
                </a:solidFill>
                <a:latin typeface="Nunito Bold"/>
                <a:ea typeface="Nunito Bold"/>
                <a:cs typeface="Nunito Bold"/>
                <a:sym typeface="Nunito Bold"/>
              </a:rPr>
              <a:t>marginal contribution of player j </a:t>
            </a:r>
            <a:r>
              <a:rPr lang="en-US" sz="1700" b="true">
                <a:solidFill>
                  <a:srgbClr val="ECC665"/>
                </a:solidFill>
                <a:latin typeface="Calibri"/>
                <a:ea typeface="Calibri"/>
                <a:cs typeface="Calibri"/>
                <a:sym typeface="Calibri"/>
              </a:rPr>
              <a:t>→ </a:t>
            </a:r>
            <a:r>
              <a:rPr lang="en-US" sz="1700" b="true">
                <a:solidFill>
                  <a:srgbClr val="ECC665"/>
                </a:solidFill>
                <a:latin typeface="Nunito Bold"/>
                <a:ea typeface="Nunito Bold"/>
                <a:cs typeface="Nunito Bold"/>
                <a:sym typeface="Nunito Bold"/>
              </a:rPr>
              <a:t>dynamic hyperedge weight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Preference-Aware Monte Carlo Shapley</a:t>
            </a:r>
          </a:p>
        </p:txBody>
      </p:sp>
      <p:pic>
        <p:nvPicPr>
          <p:cNvPr id="23" name="Picture 22" descr="image.png"/>
          <p:cNvPicPr>
            <a:picLocks noChangeAspect="1"/>
          </p:cNvPicPr>
          <p:nvPr/>
        </p:nvPicPr>
        <p:blipFill>
          <a:blip r:embed="rId3"/>
          <a:stretch>
            <a:fillRect/>
          </a:stretch>
        </p:blipFill>
        <p:spPr>
          <a:xfrm>
            <a:off x="1150951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8595360" cy="41148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Exact Shapley is </a:t>
            </a:r>
            <a:r>
              <a:rPr lang="en-US" sz="2100" b="true">
                <a:solidFill>
                  <a:srgbClr val="111111"/>
                </a:solidFill>
                <a:latin typeface="Nunito Bold"/>
                <a:ea typeface="Nunito Bold"/>
                <a:cs typeface="Nunito Bold"/>
                <a:sym typeface="Nunito Bold"/>
              </a:rPr>
              <a:t>combinatorial and not feasible</a:t>
            </a:r>
            <a:r>
              <a:rPr lang="en-US" sz="2100" b="true">
                <a:solidFill>
                  <a:srgbClr val="111111"/>
                </a:solidFill>
                <a:latin typeface="Nunito Semi-Bold"/>
                <a:ea typeface="Nunito Semi-Bold"/>
                <a:cs typeface="Nunito Semi-Bold"/>
                <a:sym typeface="Nunito Semi-Bold"/>
              </a:rPr>
              <a:t> for real systems.</a:t>
            </a:r>
          </a:p>
        </p:txBody>
      </p:sp>
      <p:sp>
        <p:nvSpPr>
          <p:cNvPr id="29" name="Rounded Rectangle 28"/>
          <p:cNvSpPr/>
          <p:nvPr/>
        </p:nvSpPr>
        <p:spPr>
          <a:xfrm>
            <a:off x="1028700" y="3866642"/>
            <a:ext cx="8595360" cy="2834640"/>
          </a:xfrm>
          <a:prstGeom prst="roundRect">
            <a:avLst>
              <a:gd name="adj" fmla="val 645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11580" y="395808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350" i="1">
                              <a:solidFill>
                                <a:srgbClr val="124944"/>
                              </a:solidFill>
                              <a:latin typeface="Cambria Math" panose="02040503050406030204" pitchFamily="18" charset="0"/>
                            </a:rPr>
                          </m:ctrlPr>
                        </m:sSubPr>
                        <m:e>
                          <m:acc>
                            <m:accPr>
                              <m:chr m:val="̂"/>
                              <m:ctrlPr>
                                <a:rPr lang="en-US" sz="2350" i="1">
                                  <a:solidFill>
                                    <a:srgbClr val="124944"/>
                                  </a:solidFill>
                                  <a:latin typeface="Cambria Math" panose="02040503050406030204" pitchFamily="18" charset="0"/>
                                </a:rPr>
                              </m:ctrlPr>
                            </m:accPr>
                            <m:e>
                              <m:r>
                                <a:rPr lang="en-US" sz="2350" i="1">
                                  <a:solidFill>
                                    <a:srgbClr val="124944"/>
                                  </a:solidFill>
                                  <a:latin typeface="Cambria Math" panose="02040503050406030204" pitchFamily="18" charset="0"/>
                                </a:rPr>
                                <m:t xml:space="preserve">φ</m:t>
                              </m:r>
                            </m:e>
                          </m:acc>
                        </m:e>
                        <m:sub>
                          <m:r>
                            <a:rPr lang="en-US" sz="2350" i="1">
                              <a:solidFill>
                                <a:srgbClr val="124944"/>
                              </a:solidFill>
                              <a:latin typeface="Cambria Math" panose="02040503050406030204" pitchFamily="18" charset="0"/>
                            </a:rPr>
                            <m:t xml:space="preserve">j</m:t>
                          </m:r>
                        </m:sub>
                      </m:sSub>
                      <m:r>
                        <m:rPr>
                          <m:sty m:val="p"/>
                        </m:rPr>
                        <a:rPr lang="en-US" sz="2350">
                          <a:solidFill>
                            <a:srgbClr val="124944"/>
                          </a:solidFill>
                          <a:latin typeface="Cambria Math" panose="02040503050406030204" pitchFamily="18" charset="0"/>
                        </a:rPr>
                        <m:t xml:space="preserve">=</m:t>
                      </m:r>
                      <m:f>
                        <m:fPr>
                          <m:ctrlPr>
                            <a:rPr lang="en-US" sz="2350" i="1">
                              <a:solidFill>
                                <a:srgbClr val="124944"/>
                              </a:solidFill>
                              <a:latin typeface="Cambria Math" panose="02040503050406030204" pitchFamily="18" charset="0"/>
                            </a:rPr>
                          </m:ctrlPr>
                        </m:fPr>
                        <m:num>
                          <m:r>
                            <m:rPr>
                              <m:sty m:val="p"/>
                            </m:rPr>
                            <a:rPr lang="en-US" sz="2350">
                              <a:solidFill>
                                <a:srgbClr val="124944"/>
                              </a:solidFill>
                              <a:latin typeface="Cambria Math" panose="02040503050406030204" pitchFamily="18" charset="0"/>
                            </a:rPr>
                            <m:t xml:space="preserve">1</m:t>
                          </m:r>
                        </m:num>
                        <m:den>
                          <m:r>
                            <a:rPr lang="en-US" sz="2350" i="1">
                              <a:solidFill>
                                <a:srgbClr val="124944"/>
                              </a:solidFill>
                              <a:latin typeface="Cambria Math" panose="02040503050406030204" pitchFamily="18" charset="0"/>
                            </a:rPr>
                            <m:t xml:space="preserve">M</m:t>
                          </m:r>
                        </m:den>
                      </m:f>
                      <m:nary>
                        <m:naryPr>
                          <m:chr m:val="∑"/>
                          <m:limLoc m:val="undOvr"/>
                          <m:ctrlPr>
                            <a:rPr lang="en-US" sz="2350" i="1">
                              <a:solidFill>
                                <a:srgbClr val="124944"/>
                              </a:solidFill>
                              <a:latin typeface="Cambria Math" panose="02040503050406030204" pitchFamily="18" charset="0"/>
                            </a:rPr>
                          </m:ctrlPr>
                        </m:naryPr>
                        <m:sub>
                          <m:r>
                            <a:rPr lang="en-US" sz="2350" i="1">
                              <a:solidFill>
                                <a:srgbClr val="124944"/>
                              </a:solidFill>
                              <a:latin typeface="Cambria Math" panose="02040503050406030204" pitchFamily="18" charset="0"/>
                            </a:rPr>
                            <m:t xml:space="preserve">m</m:t>
                          </m:r>
                          <m:r>
                            <m:rPr>
                              <m:sty m:val="p"/>
                            </m:rPr>
                            <a:rPr lang="en-US" sz="2350">
                              <a:solidFill>
                                <a:srgbClr val="124944"/>
                              </a:solidFill>
                              <a:latin typeface="Cambria Math" panose="02040503050406030204" pitchFamily="18" charset="0"/>
                            </a:rPr>
                            <m:t xml:space="preserve">=1</m:t>
                          </m:r>
                        </m:sub>
                        <m:sup>
                          <m:r>
                            <a:rPr lang="en-US" sz="2350" i="1">
                              <a:solidFill>
                                <a:srgbClr val="124944"/>
                              </a:solidFill>
                              <a:latin typeface="Cambria Math" panose="02040503050406030204" pitchFamily="18" charset="0"/>
                            </a:rPr>
                            <m:t xml:space="preserve">M</m:t>
                          </m:r>
                        </m:sup>
                        <m:e>
                          <m:d>
                            <m:dPr>
                              <m:begChr m:val="["/>
                              <m:endChr m:val="]"/>
                              <m:ctrlPr>
                                <a:rPr lang="en-US" sz="2350" i="1">
                                  <a:solidFill>
                                    <a:srgbClr val="124944"/>
                                  </a:solidFill>
                                  <a:latin typeface="Cambria Math" panose="02040503050406030204" pitchFamily="18" charset="0"/>
                                </a:rPr>
                              </m:ctrlPr>
                            </m:dPr>
                            <m:e>
                              <m:r>
                                <m:rPr>
                                  <m:sty m:val="p"/>
                                </m:rPr>
                                <a:rPr lang="en-US" sz="2350">
                                  <a:solidFill>
                                    <a:srgbClr val="124944"/>
                                  </a:solidFill>
                                  <a:latin typeface="Cambria Math" panose="02040503050406030204" pitchFamily="18" charset="0"/>
                                </a:rPr>
                                <m:t xml:space="preserve"> </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j</m:t>
                              </m:r>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 </m:t>
                              </m:r>
                            </m:e>
                          </m:d>
                        </m:e>
                      </m:nary>
                    </m:oMath>
                  </m:oMathPara>
                </a14:m>
                <a:endParaRPr lang="en-US" sz="2350"/>
              </a:p>
            </p:txBody>
          </p:sp>
        </mc:Choice>
        <mc:Fallback>
          <p:sp>
            <p:nvSpPr>
              <p:cNvPr id="30" name="Equation"/>
              <p:cNvSpPr txBox="1"/>
              <p:nvPr/>
            </p:nvSpPr>
            <p:spPr>
              <a:xfrm>
                <a:off x="1211580" y="3958082"/>
                <a:ext cx="8229600" cy="132588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11580" y="528396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350" i="1">
                              <a:solidFill>
                                <a:srgbClr val="DF8330"/>
                              </a:solidFill>
                              <a:latin typeface="Cambria Math" panose="02040503050406030204" pitchFamily="18" charset="0"/>
                            </a:rPr>
                          </m:ctrlPr>
                        </m:sSubSupPr>
                        <m:e>
                          <m:acc>
                            <m:accPr>
                              <m:chr m:val="̂"/>
                              <m:ctrlPr>
                                <a:rPr lang="en-US" sz="2350" i="1">
                                  <a:solidFill>
                                    <a:srgbClr val="DF8330"/>
                                  </a:solidFill>
                                  <a:latin typeface="Cambria Math" panose="02040503050406030204" pitchFamily="18" charset="0"/>
                                </a:rPr>
                              </m:ctrlPr>
                            </m:accPr>
                            <m:e>
                              <m:r>
                                <a:rPr lang="en-US" sz="2350" i="1">
                                  <a:solidFill>
                                    <a:srgbClr val="DF8330"/>
                                  </a:solidFill>
                                  <a:latin typeface="Cambria Math" panose="02040503050406030204" pitchFamily="18" charset="0"/>
                                </a:rPr>
                                <m:t xml:space="preserve">φ</m:t>
                              </m:r>
                            </m:e>
                          </m:acc>
                        </m:e>
                        <m:sub>
                          <m:r>
                            <a:rPr lang="en-US" sz="2350" i="1">
                              <a:solidFill>
                                <a:srgbClr val="DF8330"/>
                              </a:solidFill>
                              <a:latin typeface="Cambria Math" panose="02040503050406030204" pitchFamily="18" charset="0"/>
                            </a:rPr>
                            <m:t xml:space="preserve">j</m:t>
                          </m:r>
                        </m:sub>
                        <m:sup>
                          <m:r>
                            <m:rPr>
                              <m:sty m:val="p"/>
                            </m:rPr>
                            <a:rPr lang="en-US" sz="2350">
                              <a:solidFill>
                                <a:srgbClr val="DF8330"/>
                              </a:solidFill>
                              <a:latin typeface="Cambria Math" panose="02040503050406030204" pitchFamily="18" charset="0"/>
                            </a:rPr>
                            <m:t xml:space="preserve"> pref</m:t>
                          </m:r>
                        </m:sup>
                      </m:sSubSup>
                      <m:r>
                        <m:rPr>
                          <m:sty m:val="p"/>
                        </m:rPr>
                        <a:rPr lang="en-US" sz="2350">
                          <a:solidFill>
                            <a:srgbClr val="DF8330"/>
                          </a:solidFill>
                          <a:latin typeface="Cambria Math" panose="02040503050406030204" pitchFamily="18" charset="0"/>
                        </a:rPr>
                        <m:t xml:space="preserve">=</m:t>
                      </m:r>
                      <m:f>
                        <m:fPr>
                          <m:ctrlPr>
                            <a:rPr lang="en-US" sz="2350" i="1">
                              <a:solidFill>
                                <a:srgbClr val="DF8330"/>
                              </a:solidFill>
                              <a:latin typeface="Cambria Math" panose="02040503050406030204" pitchFamily="18" charset="0"/>
                            </a:rPr>
                          </m:ctrlPr>
                        </m:fPr>
                        <m:num>
                          <m:r>
                            <m:rPr>
                              <m:sty m:val="p"/>
                            </m:rPr>
                            <a:rPr lang="en-US" sz="2350">
                              <a:solidFill>
                                <a:srgbClr val="DF8330"/>
                              </a:solidFill>
                              <a:latin typeface="Cambria Math" panose="02040503050406030204" pitchFamily="18" charset="0"/>
                            </a:rPr>
                            <m:t xml:space="preserve">1</m:t>
                          </m:r>
                        </m:num>
                        <m:den>
                          <m:r>
                            <a:rPr lang="en-US" sz="2350" i="1">
                              <a:solidFill>
                                <a:srgbClr val="DF8330"/>
                              </a:solidFill>
                              <a:latin typeface="Cambria Math" panose="02040503050406030204" pitchFamily="18" charset="0"/>
                            </a:rPr>
                            <m:t xml:space="preserve">M</m:t>
                          </m:r>
                        </m:den>
                      </m:f>
                      <m:nary>
                        <m:naryPr>
                          <m:chr m:val="∑"/>
                          <m:limLoc m:val="undOvr"/>
                          <m:ctrlPr>
                            <a:rPr lang="en-US" sz="2350" i="1">
                              <a:solidFill>
                                <a:srgbClr val="DF8330"/>
                              </a:solidFill>
                              <a:latin typeface="Cambria Math" panose="02040503050406030204" pitchFamily="18" charset="0"/>
                            </a:rPr>
                          </m:ctrlPr>
                        </m:naryPr>
                        <m:sub>
                          <m:r>
                            <a:rPr lang="en-US" sz="2350" i="1">
                              <a:solidFill>
                                <a:srgbClr val="DF8330"/>
                              </a:solidFill>
                              <a:latin typeface="Cambria Math" panose="02040503050406030204" pitchFamily="18" charset="0"/>
                            </a:rPr>
                            <m:t xml:space="preserve">m</m:t>
                          </m:r>
                          <m:r>
                            <m:rPr>
                              <m:sty m:val="p"/>
                            </m:rPr>
                            <a:rPr lang="en-US" sz="2350">
                              <a:solidFill>
                                <a:srgbClr val="DF8330"/>
                              </a:solidFill>
                              <a:latin typeface="Cambria Math" panose="02040503050406030204" pitchFamily="18" charset="0"/>
                            </a:rPr>
                            <m:t xml:space="preserve">=1</m:t>
                          </m:r>
                        </m:sub>
                        <m:sup>
                          <m:r>
                            <a:rPr lang="en-US" sz="2350" i="1">
                              <a:solidFill>
                                <a:srgbClr val="DF8330"/>
                              </a:solidFill>
                              <a:latin typeface="Cambria Math" panose="02040503050406030204" pitchFamily="18" charset="0"/>
                            </a:rPr>
                            <m:t xml:space="preserve">M</m:t>
                          </m:r>
                        </m:sup>
                        <m:e>
                          <m:d>
                            <m:dPr>
                              <m:begChr m:val="["/>
                              <m:endChr m:val="]"/>
                              <m:ctrlPr>
                                <a:rPr lang="en-US" sz="2350" i="1">
                                  <a:solidFill>
                                    <a:srgbClr val="DF8330"/>
                                  </a:solidFill>
                                  <a:latin typeface="Cambria Math" panose="02040503050406030204" pitchFamily="18" charset="0"/>
                                </a:rPr>
                              </m:ctrlPr>
                            </m:dPr>
                            <m:e>
                              <m:r>
                                <m:rPr>
                                  <m:sty m:val="p"/>
                                </m:rPr>
                                <a:rPr lang="en-US" sz="2350">
                                  <a:solidFill>
                                    <a:srgbClr val="DF8330"/>
                                  </a:solidFill>
                                  <a:latin typeface="Cambria Math" panose="02040503050406030204" pitchFamily="18" charset="0"/>
                                </a:rPr>
                                <m:t xml:space="preserve"> </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m:t>
                              </m:r>
                              <m:r>
                                <a:rPr lang="en-US" sz="2350" i="1">
                                  <a:solidFill>
                                    <a:srgbClr val="DF8330"/>
                                  </a:solidFill>
                                  <a:latin typeface="Cambria Math" panose="02040503050406030204" pitchFamily="18" charset="0"/>
                                </a:rPr>
                                <m:t xml:space="preserve">j</m:t>
                              </m:r>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 </m:t>
                              </m:r>
                            </m:e>
                          </m:d>
                        </m:e>
                      </m:nary>
                    </m:oMath>
                  </m:oMathPara>
                </a14:m>
                <a:endParaRPr lang="en-US" sz="2350"/>
              </a:p>
            </p:txBody>
          </p:sp>
        </mc:Choice>
        <mc:Fallback>
          <p:sp>
            <p:nvSpPr>
              <p:cNvPr id="31" name="Equation"/>
              <p:cNvSpPr txBox="1"/>
              <p:nvPr/>
            </p:nvSpPr>
            <p:spPr>
              <a:xfrm>
                <a:off x="1211580" y="5283962"/>
                <a:ext cx="8229600" cy="1325880"/>
              </a:xfrm>
              <a:prstGeom prst="rect">
                <a:avLst/>
              </a:prstGeom>
              <a:blipFill>
                <a:blip r:embed="rId6"/>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2" name="Equation"/>
              <p:cNvSpPr txBox="1"/>
              <p:nvPr/>
            </p:nvSpPr>
            <p:spPr>
              <a:xfrm>
                <a:off x="1211580" y="6838442"/>
                <a:ext cx="82296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600">
                          <a:solidFill>
                            <a:srgbClr val="111111"/>
                          </a:solidFill>
                          <a:latin typeface="Cambria Math" panose="02040503050406030204" pitchFamily="18" charset="0"/>
                        </a:rPr>
                        <m:t xml:space="preserve">Var</m:t>
                      </m:r>
                      <m:d>
                        <m:dPr>
                          <m:begChr m:val="["/>
                          <m:endChr m:val="]"/>
                          <m:ctrlPr>
                            <a:rPr lang="en-US" sz="1600" i="1">
                              <a:solidFill>
                                <a:srgbClr val="111111"/>
                              </a:solidFill>
                              <a:latin typeface="Cambria Math" panose="02040503050406030204" pitchFamily="18" charset="0"/>
                            </a:rPr>
                          </m:ctrlPr>
                        </m:dPr>
                        <m:e>
                          <m:sSub>
                            <m:sSubPr>
                              <m:ctrlPr>
                                <a:rPr lang="en-US" sz="1600" i="1">
                                  <a:solidFill>
                                    <a:srgbClr val="111111"/>
                                  </a:solidFill>
                                  <a:latin typeface="Cambria Math" panose="02040503050406030204" pitchFamily="18" charset="0"/>
                                </a:rPr>
                              </m:ctrlPr>
                            </m:sSubPr>
                            <m:e>
                              <m:acc>
                                <m:accPr>
                                  <m:chr m:val="̂"/>
                                  <m:ctrlPr>
                                    <a:rPr lang="en-US" sz="1600" i="1">
                                      <a:solidFill>
                                        <a:srgbClr val="111111"/>
                                      </a:solidFill>
                                      <a:latin typeface="Cambria Math" panose="02040503050406030204" pitchFamily="18" charset="0"/>
                                    </a:rPr>
                                  </m:ctrlPr>
                                </m:accPr>
                                <m:e>
                                  <m:r>
                                    <a:rPr lang="en-US" sz="1600" i="1">
                                      <a:solidFill>
                                        <a:srgbClr val="111111"/>
                                      </a:solidFill>
                                      <a:latin typeface="Cambria Math" panose="02040503050406030204" pitchFamily="18" charset="0"/>
                                    </a:rPr>
                                    <m:t xml:space="preserve">φ</m:t>
                                  </m:r>
                                </m:e>
                              </m:acc>
                            </m:e>
                            <m:sub>
                              <m:r>
                                <a:rPr lang="en-US" sz="1600" i="1">
                                  <a:solidFill>
                                    <a:srgbClr val="111111"/>
                                  </a:solidFill>
                                  <a:latin typeface="Cambria Math" panose="02040503050406030204" pitchFamily="18" charset="0"/>
                                </a:rPr>
                                <m:t xml:space="preserve">j</m:t>
                              </m:r>
                            </m:sub>
                          </m:sSub>
                        </m:e>
                      </m:d>
                      <m:r>
                        <m:rPr>
                          <m:sty m:val="p"/>
                        </m:rPr>
                        <a:rPr lang="en-US" sz="1600">
                          <a:solidFill>
                            <a:srgbClr val="111111"/>
                          </a:solidFill>
                          <a:latin typeface="Cambria Math" panose="02040503050406030204" pitchFamily="18" charset="0"/>
                        </a:rPr>
                        <m:t xml:space="preserve">=</m:t>
                      </m:r>
                      <m:sSup>
                        <m:sSupPr>
                          <m:ctrlPr>
                            <a:rPr lang="en-US" sz="1600" i="1">
                              <a:solidFill>
                                <a:srgbClr val="111111"/>
                              </a:solidFill>
                              <a:latin typeface="Cambria Math" panose="02040503050406030204" pitchFamily="18" charset="0"/>
                            </a:rPr>
                          </m:ctrlPr>
                        </m:sSupPr>
                        <m:e>
                          <m:r>
                            <a:rPr lang="en-US" sz="1600" i="1">
                              <a:solidFill>
                                <a:srgbClr val="111111"/>
                              </a:solidFill>
                              <a:latin typeface="Cambria Math" panose="02040503050406030204" pitchFamily="18" charset="0"/>
                            </a:rPr>
                            <m:t xml:space="preserve">σ</m:t>
                          </m:r>
                        </m:e>
                        <m:sup>
                          <m:r>
                            <m:rPr>
                              <m:sty m:val="p"/>
                            </m:rPr>
                            <a:rPr lang="en-US" sz="1600">
                              <a:solidFill>
                                <a:srgbClr val="111111"/>
                              </a:solidFill>
                              <a:latin typeface="Cambria Math" panose="02040503050406030204" pitchFamily="18" charset="0"/>
                            </a:rPr>
                            <m:t xml:space="preserve">2</m:t>
                          </m:r>
                        </m:sup>
                      </m:sSup>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  ⇒  MSE=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m:t>
                      </m:r>
                      <m:r>
                        <m:rPr>
                          <m:nor/>
                        </m:rPr>
                        <a:rPr lang="en-US" sz="1600">
                          <a:solidFill>
                            <a:srgbClr val="111111"/>
                          </a:solidFill>
                          <a:latin typeface="Cambria Math" panose="02040503050406030204" pitchFamily="18" charset="0"/>
                        </a:rPr>
                        <m:t xml:space="preserve">error</m:t>
                      </m:r>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ad>
                        <m:radPr>
                          <m:degHide m:val="1"/>
                          <m:ctrlPr>
                            <a:rPr lang="en-US" sz="1600" i="1">
                              <a:solidFill>
                                <a:srgbClr val="111111"/>
                              </a:solidFill>
                              <a:latin typeface="Cambria Math" panose="02040503050406030204" pitchFamily="18" charset="0"/>
                            </a:rPr>
                          </m:ctrlPr>
                        </m:radPr>
                        <m:deg/>
                        <m:e>
                          <m:r>
                            <a:rPr lang="en-US" sz="1600" i="1">
                              <a:solidFill>
                                <a:srgbClr val="111111"/>
                              </a:solidFill>
                              <a:latin typeface="Cambria Math" panose="02040503050406030204" pitchFamily="18" charset="0"/>
                            </a:rPr>
                            <m:t xml:space="preserve">M</m:t>
                          </m:r>
                        </m:e>
                      </m:rad>
                      <m:r>
                        <m:rPr>
                          <m:sty m:val="p"/>
                        </m:rPr>
                        <a:rPr lang="en-US" sz="1600">
                          <a:solidFill>
                            <a:srgbClr val="111111"/>
                          </a:solidFill>
                          <a:latin typeface="Cambria Math" panose="02040503050406030204" pitchFamily="18" charset="0"/>
                        </a:rPr>
                        <m:t xml:space="preserve">)</m:t>
                      </m:r>
                    </m:oMath>
                  </m:oMathPara>
                </a14:m>
                <a:endParaRPr lang="en-US" sz="1600"/>
              </a:p>
            </p:txBody>
          </p:sp>
        </mc:Choice>
        <mc:Fallback>
          <p:sp>
            <p:nvSpPr>
              <p:cNvPr id="32" name="Equation"/>
              <p:cNvSpPr txBox="1"/>
              <p:nvPr/>
            </p:nvSpPr>
            <p:spPr>
              <a:xfrm>
                <a:off x="1211580" y="6838442"/>
                <a:ext cx="8229600" cy="548640"/>
              </a:xfrm>
              <a:prstGeom prst="rect">
                <a:avLst/>
              </a:prstGeom>
              <a:blipFill>
                <a:blip r:embed="rId7"/>
                <a:stretch>
                  <a:fillRect/>
                </a:stretch>
              </a:blipFill>
            </p:spPr>
            <p:txBody>
              <a:bodyPr/>
              <a:lstStyle/>
              <a:p>
                <a:endParaRPr lang="en-US"/>
              </a:p>
            </p:txBody>
          </p:sp>
        </mc:Fallback>
      </mc:AlternateContent>
      <p:sp>
        <p:nvSpPr>
          <p:cNvPr id="33" name="TextBox 32"/>
          <p:cNvSpPr txBox="1"/>
          <p:nvPr/>
        </p:nvSpPr>
        <p:spPr>
          <a:xfrm>
            <a:off x="1028700" y="7478522"/>
            <a:ext cx="8595360" cy="1830070"/>
          </a:xfrm>
          <a:prstGeom prst="rect">
            <a:avLst/>
          </a:prstGeom>
          <a:noFill/>
        </p:spPr>
        <p:txBody>
          <a:bodyPr anchor="t" rtlCol="false" lIns="0" tIns="0" rIns="0" bIns="0" wrap="square"/>
          <a:lstStyle/>
          <a:p>
            <a:pPr algn="l" marL="274320" indent="-274320">
              <a:lnSpc>
                <a:spcPts val="2341"/>
              </a:lnSpc>
              <a:spcBef>
                <a:spcPts val="0"/>
              </a:spcBef>
              <a:buClr>
                <a:srgbClr val="DF8330"/>
              </a:buClr>
              <a:buSzPct val="100000"/>
              <a:buFont typeface="Arial"/>
              <a:buChar char="•"/>
            </a:pPr>
            <a:r>
              <a:rPr lang="en-US" sz="1672" b="true">
                <a:solidFill>
                  <a:srgbClr val="111111"/>
                </a:solidFill>
                <a:latin typeface="Nunito Bold"/>
                <a:ea typeface="Nunito Bold"/>
                <a:cs typeface="Nunito Bold"/>
                <a:sym typeface="Nunito Bold"/>
              </a:rPr>
              <a:t>Unbiased estimator:</a:t>
            </a:r>
            <a:r>
              <a:rPr lang="en-US" sz="1672" b="true">
                <a:solidFill>
                  <a:srgbClr val="111111"/>
                </a:solidFill>
                <a:latin typeface="Nunito Semi-Bold"/>
                <a:ea typeface="Nunito Semi-Bold"/>
                <a:cs typeface="Nunito Semi-Bold"/>
                <a:sym typeface="Nunito Semi-Bold"/>
              </a:rPr>
              <a:t> error shrinks as the number of permutations M grows.</a:t>
            </a:r>
          </a:p>
          <a:p>
            <a:pPr algn="l" marL="274320" indent="-274320">
              <a:lnSpc>
                <a:spcPts val="2475"/>
              </a:lnSpc>
              <a:spcBef>
                <a:spcPts val="704"/>
              </a:spcBef>
              <a:buClr>
                <a:srgbClr val="DF8330"/>
              </a:buClr>
              <a:buSzPct val="100000"/>
              <a:buFont typeface="Arial"/>
              <a:buChar char="•"/>
            </a:pPr>
            <a:r>
              <a:rPr lang="en-US" sz="1672" b="true">
                <a:solidFill>
                  <a:srgbClr val="111111"/>
                </a:solidFill>
                <a:latin typeface="Nunito Bold"/>
                <a:ea typeface="Nunito Bold"/>
                <a:cs typeface="Nunito Bold"/>
                <a:sym typeface="Nunito Bold"/>
              </a:rPr>
              <a:t>M = 50 selected:</a:t>
            </a:r>
            <a:r>
              <a:rPr lang="en-US" sz="1672" b="true">
                <a:solidFill>
                  <a:srgbClr val="111111"/>
                </a:solidFill>
                <a:latin typeface="Nunito Semi-Bold"/>
                <a:ea typeface="Nunito Semi-Bold"/>
                <a:cs typeface="Nunito Semi-Bold"/>
                <a:sym typeface="Nunito Semi-Bold"/>
              </a:rPr>
              <a:t> MSE ≈ 1.4×10</a:t>
            </a:r>
            <a:r>
              <a:rPr lang="en-US" sz="1672" b="true" baseline="30000">
                <a:solidFill>
                  <a:srgbClr val="111111"/>
                </a:solidFill>
                <a:latin typeface="Nunito Semi-Bold"/>
                <a:ea typeface="Nunito Semi-Bold"/>
                <a:cs typeface="Nunito Semi-Bold"/>
                <a:sym typeface="Nunito Semi-Bold"/>
              </a:rPr>
              <a:t>−5</a:t>
            </a:r>
            <a:r>
              <a:rPr lang="en-US" sz="1672" b="true">
                <a:solidFill>
                  <a:srgbClr val="111111"/>
                </a:solidFill>
                <a:latin typeface="Nunito Semi-Bold"/>
                <a:ea typeface="Nunito Semi-Bold"/>
                <a:cs typeface="Nunito Semi-Bold"/>
                <a:sym typeface="Nunito Semi-Bold"/>
              </a:rPr>
              <a:t>, ≈ 99 % accuracy on MovieLens-1M; M = 100 </a:t>
            </a:r>
            <a:r>
              <a:rPr lang="en-US" sz="1672" b="true">
                <a:solidFill>
                  <a:srgbClr val="111111"/>
                </a:solidFill>
                <a:latin typeface="Calibri"/>
                <a:ea typeface="Calibri"/>
                <a:cs typeface="Calibri"/>
                <a:sym typeface="Calibri"/>
              </a:rPr>
              <a:t>→ </a:t>
            </a:r>
            <a:r>
              <a:rPr lang="en-US" sz="1672" b="true">
                <a:solidFill>
                  <a:srgbClr val="111111"/>
                </a:solidFill>
                <a:latin typeface="Nunito Semi-Bold"/>
                <a:ea typeface="Nunito Semi-Bold"/>
                <a:cs typeface="Nunito Semi-Bold"/>
                <a:sym typeface="Nunito Semi-Bold"/>
              </a:rPr>
              <a:t>MSE 3.5×10</a:t>
            </a:r>
            <a:r>
              <a:rPr lang="en-US" sz="1672" b="true" baseline="30000">
                <a:solidFill>
                  <a:srgbClr val="111111"/>
                </a:solidFill>
                <a:latin typeface="Nunito Semi-Bold"/>
                <a:ea typeface="Nunito Semi-Bold"/>
                <a:cs typeface="Nunito Semi-Bold"/>
                <a:sym typeface="Nunito Semi-Bold"/>
              </a:rPr>
              <a:t>−6</a:t>
            </a:r>
            <a:r>
              <a:rPr lang="en-US" sz="1672" b="true">
                <a:solidFill>
                  <a:srgbClr val="111111"/>
                </a:solidFill>
                <a:latin typeface="Nunito Semi-Bold"/>
                <a:ea typeface="Nunito Semi-Bold"/>
                <a:cs typeface="Nunito Semi-Bold"/>
                <a:sym typeface="Nunito Semi-Bold"/>
              </a:rPr>
              <a:t> (diminishing returns).</a:t>
            </a:r>
          </a:p>
          <a:p>
            <a:pPr algn="l" marL="274320" indent="-274320">
              <a:lnSpc>
                <a:spcPts val="2341"/>
              </a:lnSpc>
              <a:spcBef>
                <a:spcPts val="704"/>
              </a:spcBef>
              <a:buClr>
                <a:srgbClr val="DF8330"/>
              </a:buClr>
              <a:buSzPct val="100000"/>
              <a:buFont typeface="Arial"/>
              <a:buChar char="•"/>
            </a:pPr>
            <a:r>
              <a:rPr lang="en-US" sz="1672" b="true">
                <a:solidFill>
                  <a:srgbClr val="111111"/>
                </a:solidFill>
                <a:latin typeface="Nunito Semi-Bold"/>
                <a:ea typeface="Nunito Semi-Bold"/>
                <a:cs typeface="Nunito Semi-Bold"/>
                <a:sym typeface="Nunito Semi-Bold"/>
              </a:rPr>
              <a:t>Refreshed </a:t>
            </a:r>
            <a:r>
              <a:rPr lang="en-US" sz="1672" b="true">
                <a:solidFill>
                  <a:srgbClr val="111111"/>
                </a:solidFill>
                <a:latin typeface="Nunito Bold"/>
                <a:ea typeface="Nunito Bold"/>
                <a:cs typeface="Nunito Bold"/>
                <a:sym typeface="Nunito Bold"/>
              </a:rPr>
              <a:t>every 10 batches</a:t>
            </a:r>
            <a:r>
              <a:rPr lang="en-US" sz="1672" b="true">
                <a:solidFill>
                  <a:srgbClr val="111111"/>
                </a:solidFill>
                <a:latin typeface="Nunito Semi-Bold"/>
                <a:ea typeface="Nunito Semi-Bold"/>
                <a:cs typeface="Nunito Semi-Bold"/>
                <a:sym typeface="Nunito Semi-Bold"/>
              </a:rPr>
              <a:t> (≈ 49 updates / epoch), smoothed by an </a:t>
            </a:r>
            <a:r>
              <a:rPr lang="en-US" sz="1672" b="true">
                <a:solidFill>
                  <a:srgbClr val="111111"/>
                </a:solidFill>
                <a:latin typeface="Nunito Bold"/>
                <a:ea typeface="Nunito Bold"/>
                <a:cs typeface="Nunito Bold"/>
                <a:sym typeface="Nunito Bold"/>
              </a:rPr>
              <a:t>exponential moving average</a:t>
            </a:r>
            <a:r>
              <a:rPr lang="en-US" sz="1672" b="true">
                <a:solidFill>
                  <a:srgbClr val="111111"/>
                </a:solidFill>
                <a:latin typeface="Nunito Semi-Bold"/>
                <a:ea typeface="Nunito Semi-Bold"/>
                <a:cs typeface="Nunito Semi-Bold"/>
                <a:sym typeface="Nunito Semi-Bold"/>
              </a:rPr>
              <a:t>.</a:t>
            </a:r>
          </a:p>
        </p:txBody>
      </p:sp>
      <p:graphicFrame>
        <p:nvGraphicFramePr>
          <p:cNvPr id="34" name="Table 33"/>
          <p:cNvGraphicFramePr>
            <a:graphicFrameLocks noGrp="1"/>
          </p:cNvGraphicFramePr>
          <p:nvPr/>
        </p:nvGraphicFramePr>
        <p:xfrm>
          <a:off x="10172700" y="3363722"/>
          <a:ext cx="7086598" cy="2267712"/>
        </p:xfrm>
        <a:graphic>
          <a:graphicData uri="http://schemas.openxmlformats.org/drawingml/2006/table">
            <a:tbl>
              <a:tblPr firstRow="0" bandRow="0" firstCol="0" lastRow="0" lastCol="0" bandCol="0">
                <a:tableStyleId>{2D5ABB26-0587-4C30-8999-92F81FD0307C}</a:tableStyleId>
              </a:tblPr>
              <a:tblGrid>
                <a:gridCol w="1635369"/>
                <a:gridCol w="2998176"/>
                <a:gridCol w="2453053"/>
              </a:tblGrid>
              <a:tr h="566928">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MSE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Accuracy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5.6×10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96 %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50 </a:t>
                      </a:r>
                      <a:r>
                        <a:rPr lang="en-US" sz="18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1.4×10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3.5×10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⁶</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5" name="TextBox 34"/>
          <p:cNvSpPr txBox="1"/>
          <p:nvPr/>
        </p:nvSpPr>
        <p:spPr>
          <a:xfrm>
            <a:off x="10172700" y="5704586"/>
            <a:ext cx="7086600" cy="36576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M = 50 balances estimator quality against per-epoch cost; rows 25/100 show the O(1/M) trend.</a:t>
            </a:r>
          </a:p>
        </p:txBody>
      </p:sp>
      <p:sp>
        <p:nvSpPr>
          <p:cNvPr id="36" name="Rounded Rectangle 35"/>
          <p:cNvSpPr/>
          <p:nvPr/>
        </p:nvSpPr>
        <p:spPr>
          <a:xfrm>
            <a:off x="10172700" y="6362954"/>
            <a:ext cx="7086600" cy="2945638"/>
          </a:xfrm>
          <a:prstGeom prst="roundRect">
            <a:avLst>
              <a:gd name="adj" fmla="val 10554"/>
            </a:avLst>
          </a:prstGeom>
          <a:solidFill>
            <a:srgbClr val="124944"/>
          </a:solidFill>
          <a:ln>
            <a:noFill/>
          </a:ln>
        </p:spPr>
        <p:txBody>
          <a:bodyPr anchor="ctr" rtlCol="false" lIns="0" tIns="0" rIns="0" bIns="0" wrap="square"/>
          <a:lstStyle/>
          <a:p>
            <a:endParaRPr lang="en-US" sz="1800"/>
          </a:p>
        </p:txBody>
      </p:sp>
      <p:sp>
        <p:nvSpPr>
          <p:cNvPr id="37" name="Rounded Rectangle 36"/>
          <p:cNvSpPr/>
          <p:nvPr/>
        </p:nvSpPr>
        <p:spPr>
          <a:xfrm>
            <a:off x="10629900" y="6125210"/>
            <a:ext cx="321070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In the training loop</a:t>
            </a:r>
          </a:p>
        </p:txBody>
      </p:sp>
      <p:sp>
        <p:nvSpPr>
          <p:cNvPr id="38" name="TextBox 37"/>
          <p:cNvSpPr txBox="1"/>
          <p:nvPr/>
        </p:nvSpPr>
        <p:spPr>
          <a:xfrm>
            <a:off x="10629900" y="6957314"/>
            <a:ext cx="6217920" cy="1574038"/>
          </a:xfrm>
          <a:prstGeom prst="rect">
            <a:avLst/>
          </a:prstGeom>
          <a:noFill/>
        </p:spPr>
        <p:txBody>
          <a:bodyPr anchor="t" rtlCol="false" lIns="0" tIns="0" rIns="0" bIns="0" wrap="square"/>
          <a:lstStyle/>
          <a:p>
            <a:pPr algn="l" marL="274320" indent="-274320">
              <a:lnSpc>
                <a:spcPts val="2369"/>
              </a:lnSpc>
              <a:spcBef>
                <a:spcPts val="0"/>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Sample M permutations per refresh </a:t>
            </a:r>
            <a:r>
              <a:rPr lang="en-US" sz="1692" b="true">
                <a:solidFill>
                  <a:srgbClr val="FFFFFF"/>
                </a:solidFill>
                <a:latin typeface="Calibri"/>
                <a:ea typeface="Calibri"/>
                <a:cs typeface="Calibri"/>
                <a:sym typeface="Calibri"/>
              </a:rPr>
              <a:t>→ </a:t>
            </a:r>
            <a:r>
              <a:rPr lang="en-US" sz="1692" b="true">
                <a:solidFill>
                  <a:srgbClr val="FFFFFF"/>
                </a:solidFill>
                <a:latin typeface="Nunito Semi-Bold"/>
                <a:ea typeface="Nunito Semi-Bold"/>
                <a:cs typeface="Nunito Semi-Bold"/>
                <a:sym typeface="Nunito Semi-Bold"/>
              </a:rPr>
              <a:t>estimate </a:t>
            </a:r>
            <a:r>
              <a:rPr lang="en-US" sz="1692" b="true">
                <a:solidFill>
                  <a:srgbClr val="FFFFFF"/>
                </a:solidFill>
                <a:latin typeface="Cambria Math"/>
                <a:ea typeface="Cambria Math"/>
                <a:cs typeface="Cambria Math"/>
                <a:sym typeface="Cambria Math"/>
              </a:rPr>
              <a:t>φ̂ </a:t>
            </a:r>
            <a:r>
              <a:rPr lang="en-US" sz="1692" b="true">
                <a:solidFill>
                  <a:srgbClr val="FFFFFF"/>
                </a:solidFill>
                <a:latin typeface="Nunito Semi-Bold"/>
                <a:ea typeface="Nunito Semi-Bold"/>
                <a:cs typeface="Nunito Semi-Bold"/>
                <a:sym typeface="Nunito Semi-Bold"/>
              </a:rPr>
              <a:t>for the players in the episode.</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Clip, EMA-smooth, normalise </a:t>
            </a:r>
            <a:r>
              <a:rPr lang="en-US" sz="1692" b="true">
                <a:solidFill>
                  <a:srgbClr val="FFFFFF"/>
                </a:solidFill>
                <a:latin typeface="Calibri"/>
                <a:ea typeface="Calibri"/>
                <a:cs typeface="Calibri"/>
                <a:sym typeface="Calibri"/>
              </a:rPr>
              <a:t>→ </a:t>
            </a:r>
            <a:r>
              <a:rPr lang="en-US" sz="1692" b="true">
                <a:solidFill>
                  <a:srgbClr val="FFFFFF"/>
                </a:solidFill>
                <a:latin typeface="Nunito Bold"/>
                <a:ea typeface="Nunito Bold"/>
                <a:cs typeface="Nunito Bold"/>
                <a:sym typeface="Nunito Bold"/>
              </a:rPr>
              <a:t>hypergraph edge weights</a:t>
            </a:r>
            <a:r>
              <a:rPr lang="en-US" sz="1692" b="true">
                <a:solidFill>
                  <a:srgbClr val="FFFFFF"/>
                </a:solidFill>
                <a:latin typeface="Nunito Semi-Bold"/>
                <a:ea typeface="Nunito Semi-Bold"/>
                <a:cs typeface="Nunito Semi-Bold"/>
                <a:sym typeface="Nunito Semi-Bold"/>
              </a:rPr>
              <a:t>.</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Cost per epoch:</a:t>
            </a:r>
          </a:p>
        </p:txBody>
      </p:sp>
      <mc:AlternateContent xmlns:mc="http://schemas.openxmlformats.org/markup-compatibility/2006">
        <mc:Choice xmlns:a14="http://schemas.microsoft.com/office/drawing/2010/main" Requires="a14">
          <p:sp>
            <p:nvSpPr>
              <p:cNvPr id="39" name="Equation"/>
              <p:cNvSpPr txBox="1"/>
              <p:nvPr/>
            </p:nvSpPr>
            <p:spPr>
              <a:xfrm>
                <a:off x="10629900" y="8531352"/>
                <a:ext cx="6172200" cy="5943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L</m:t>
                          </m:r>
                          <m:r>
                            <m:rPr>
                              <m:sty m:val="p"/>
                            </m:rPr>
                            <a:rPr lang="en-US" sz="1900">
                              <a:solidFill>
                                <a:srgbClr val="ECC665"/>
                              </a:solidFill>
                              <a:latin typeface="Cambria Math" panose="02040503050406030204" pitchFamily="18" charset="0"/>
                            </a:rPr>
                            <m:t xml:space="preserve">+1) </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d</m:t>
                          </m:r>
                        </m:e>
                      </m:d>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f</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m</m:t>
                          </m:r>
                        </m:e>
                      </m:d>
                    </m:oMath>
                  </m:oMathPara>
                </a14:m>
                <a:endParaRPr lang="en-US" sz="1900"/>
              </a:p>
            </p:txBody>
          </p:sp>
        </mc:Choice>
        <mc:Fallback>
          <p:sp>
            <p:nvSpPr>
              <p:cNvPr id="39" name="Equation"/>
              <p:cNvSpPr txBox="1"/>
              <p:nvPr/>
            </p:nvSpPr>
            <p:spPr>
              <a:xfrm>
                <a:off x="10629900" y="8531352"/>
                <a:ext cx="6172200" cy="594360"/>
              </a:xfrm>
              <a:prstGeom prst="rect">
                <a:avLst/>
              </a:prstGeom>
              <a:blipFill>
                <a:blip r:embed="rId8"/>
                <a:stretch>
                  <a:fillRect/>
                </a:stretch>
              </a:blipFill>
            </p:spPr>
            <p:txBody>
              <a:bodyPr/>
              <a:lstStyle/>
              <a:p>
                <a:endParaRPr lang="en-US"/>
              </a:p>
            </p:txBody>
          </p:sp>
        </mc:Fallback>
      </mc:AlternateContent>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Shapley-Weighted Hypergraph Message Passing</a:t>
            </a:r>
          </a:p>
        </p:txBody>
      </p:sp>
      <p:pic>
        <p:nvPicPr>
          <p:cNvPr id="23" name="Picture 22" descr="image.png"/>
          <p:cNvPicPr>
            <a:picLocks noChangeAspect="1"/>
          </p:cNvPicPr>
          <p:nvPr/>
        </p:nvPicPr>
        <p:blipFill>
          <a:blip r:embed="rId3"/>
          <a:stretch>
            <a:fillRect/>
          </a:stretch>
        </p:blipFill>
        <p:spPr>
          <a:xfrm>
            <a:off x="13838915"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1691640"/>
          </a:xfrm>
          <a:prstGeom prst="roundRect">
            <a:avLst>
              <a:gd name="adj" fmla="val 1351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dyhucog_arch.png"/>
          <p:cNvPicPr>
            <a:picLocks noChangeAspect="1"/>
          </p:cNvPicPr>
          <p:nvPr/>
        </p:nvPicPr>
        <p:blipFill>
          <a:blip r:embed="rId5"/>
          <a:stretch>
            <a:fillRect/>
          </a:stretch>
        </p:blipFill>
        <p:spPr>
          <a:xfrm>
            <a:off x="6205039" y="3500882"/>
            <a:ext cx="5877921" cy="1417320"/>
          </a:xfrm>
          <a:prstGeom prst="rect">
            <a:avLst/>
          </a:prstGeom>
        </p:spPr>
      </p:pic>
      <p:sp>
        <p:nvSpPr>
          <p:cNvPr id="30" name="TextBox 29"/>
          <p:cNvSpPr txBox="1"/>
          <p:nvPr/>
        </p:nvSpPr>
        <p:spPr>
          <a:xfrm>
            <a:off x="1211580" y="4671314"/>
            <a:ext cx="15864840" cy="411480"/>
          </a:xfrm>
          <a:prstGeom prst="rect">
            <a:avLst/>
          </a:prstGeom>
          <a:noFill/>
        </p:spPr>
        <p:txBody>
          <a:bodyPr anchor="t" rtlCol="false" lIns="0" tIns="0" rIns="0" bIns="0" wrap="square"/>
          <a:lstStyle/>
          <a:p>
            <a:pPr algn="r">
              <a:lnSpc>
                <a:spcPts val="1600"/>
              </a:lnSpc>
              <a:spcBef>
                <a:spcPts val="0"/>
              </a:spcBef>
              <a:buNone/>
            </a:pPr>
            <a:r>
              <a:rPr lang="en-US" sz="1200" b="true">
                <a:solidFill>
                  <a:srgbClr val="8A8378"/>
                </a:solidFill>
                <a:latin typeface="Nunito Semi-Bold"/>
                <a:ea typeface="Nunito Semi-Bold"/>
                <a:cs typeface="Nunito Semi-Bold"/>
                <a:sym typeface="Nunito Semi-Bold"/>
              </a:rPr>
              <a:t>Fig. 7.1 (thesis): workflow of the DyHuCoG architecture</a:t>
            </a:r>
          </a:p>
        </p:txBody>
      </p:sp>
      <p:sp>
        <p:nvSpPr>
          <p:cNvPr id="31" name="Rounded Rectangle 30"/>
          <p:cNvSpPr/>
          <p:nvPr/>
        </p:nvSpPr>
        <p:spPr>
          <a:xfrm>
            <a:off x="1028700" y="5283962"/>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2" name="TextBox 31"/>
          <p:cNvSpPr txBox="1"/>
          <p:nvPr/>
        </p:nvSpPr>
        <p:spPr>
          <a:xfrm>
            <a:off x="1348740" y="5283962"/>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Base propagation</a:t>
            </a:r>
          </a:p>
        </p:txBody>
      </p:sp>
      <mc:AlternateContent xmlns:mc="http://schemas.openxmlformats.org/markup-compatibility/2006">
        <mc:Choice xmlns:a14="http://schemas.microsoft.com/office/drawing/2010/main" Requires="a14">
          <p:sp>
            <p:nvSpPr>
              <p:cNvPr id="33" name="Equation"/>
              <p:cNvSpPr txBox="1"/>
              <p:nvPr/>
            </p:nvSpPr>
            <p:spPr>
              <a:xfrm>
                <a:off x="4686300" y="5283962"/>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+1)</m:t>
                          </m:r>
                        </m:sup>
                      </m:s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a:rPr lang="en-US" sz="2200" i="1">
                              <a:solidFill>
                                <a:srgbClr val="111111"/>
                              </a:solidFill>
                              <a:latin typeface="Cambria Math" panose="02040503050406030204" pitchFamily="18" charset="0"/>
                            </a:rPr>
                            <m:t xml:space="preserve">A</m:t>
                          </m:r>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up>
                          </m:sSup>
                        </m:e>
                      </m:d>
                    </m:oMath>
                  </m:oMathPara>
                </a14:m>
                <a:endParaRPr lang="en-US" sz="2200"/>
              </a:p>
            </p:txBody>
          </p:sp>
        </mc:Choice>
        <mc:Fallback>
          <p:sp>
            <p:nvSpPr>
              <p:cNvPr id="33" name="Equation"/>
              <p:cNvSpPr txBox="1"/>
              <p:nvPr/>
            </p:nvSpPr>
            <p:spPr>
              <a:xfrm>
                <a:off x="4686300" y="5283962"/>
                <a:ext cx="12298680" cy="609811"/>
              </a:xfrm>
              <a:prstGeom prst="rect">
                <a:avLst/>
              </a:prstGeom>
              <a:blipFill>
                <a:blip r:embed="rId6"/>
                <a:stretch>
                  <a:fillRect/>
                </a:stretch>
              </a:blipFill>
            </p:spPr>
            <p:txBody>
              <a:bodyPr/>
              <a:lstStyle/>
              <a:p>
                <a:endParaRPr lang="en-US"/>
              </a:p>
            </p:txBody>
          </p:sp>
        </mc:Fallback>
      </mc:AlternateContent>
      <p:sp>
        <p:nvSpPr>
          <p:cNvPr id="34" name="Rounded Rectangle 33"/>
          <p:cNvSpPr/>
          <p:nvPr/>
        </p:nvSpPr>
        <p:spPr>
          <a:xfrm>
            <a:off x="1028700" y="5985213"/>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35" name="TextBox 34"/>
          <p:cNvSpPr txBox="1"/>
          <p:nvPr/>
        </p:nvSpPr>
        <p:spPr>
          <a:xfrm>
            <a:off x="1348740" y="5985213"/>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Shapley-weighted</a:t>
            </a:r>
          </a:p>
        </p:txBody>
      </p:sp>
      <mc:AlternateContent xmlns:mc="http://schemas.openxmlformats.org/markup-compatibility/2006">
        <mc:Choice xmlns:a14="http://schemas.microsoft.com/office/drawing/2010/main" Requires="a14">
          <p:sp>
            <p:nvSpPr>
              <p:cNvPr id="36" name="Equation"/>
              <p:cNvSpPr txBox="1"/>
              <p:nvPr/>
            </p:nvSpPr>
            <p:spPr>
              <a:xfrm>
                <a:off x="4686300" y="5985213"/>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+1)</m:t>
                          </m:r>
                        </m:sup>
                      </m:sSub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σ</m:t>
                      </m:r>
                      <m:d>
                        <m:dPr>
                          <m:ctrlPr>
                            <a:rPr lang="en-US" sz="1750" i="1">
                              <a:solidFill>
                                <a:srgbClr val="111111"/>
                              </a:solidFill>
                              <a:latin typeface="Cambria Math" panose="02040503050406030204" pitchFamily="18" charset="0"/>
                            </a:rPr>
                          </m:ctrlPr>
                        </m:dPr>
                        <m:e>
                          <m:sSup>
                            <m:sSupPr>
                              <m:ctrlPr>
                                <a:rPr lang="en-US" sz="1750" i="1">
                                  <a:solidFill>
                                    <a:srgbClr val="111111"/>
                                  </a:solidFill>
                                  <a:latin typeface="Cambria Math" panose="02040503050406030204" pitchFamily="18" charset="0"/>
                                </a:rPr>
                              </m:ctrlPr>
                            </m:sSupPr>
                            <m:e>
                              <m:r>
                                <a:rPr lang="en-US" sz="1750" i="1">
                                  <a:solidFill>
                                    <a:srgbClr val="111111"/>
                                  </a:solidFill>
                                  <a:latin typeface="Cambria Math" panose="02040503050406030204" pitchFamily="18" charset="0"/>
                                </a:rPr>
                                <m:t xml:space="preserve">W</m:t>
                              </m:r>
                            </m:e>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p>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r>
                            <m:rPr>
                              <m:sty m:val="p"/>
                            </m:rPr>
                            <a:rPr lang="en-US" sz="1750">
                              <a:solidFill>
                                <a:srgbClr val="111111"/>
                              </a:solidFill>
                              <a:latin typeface="Cambria Math" panose="02040503050406030204" pitchFamily="18" charset="0"/>
                            </a:rPr>
                            <m:t xml:space="preserve">+</m:t>
                          </m:r>
                          <m:nary>
                            <m:naryPr>
                              <m:chr m:val="∑"/>
                              <m:limLoc m:val="subSup"/>
                              <m:supHide m:val="1"/>
                              <m:ctrlPr>
                                <a:rPr lang="en-US" sz="1750" i="1">
                                  <a:solidFill>
                                    <a:srgbClr val="111111"/>
                                  </a:solidFill>
                                  <a:latin typeface="Cambria Math" panose="02040503050406030204" pitchFamily="18" charset="0"/>
                                </a:rPr>
                              </m:ctrlPr>
                            </m:naryPr>
                            <m:sub>
                              <m:r>
                                <a:rPr lang="en-US" sz="1750" i="1">
                                  <a:solidFill>
                                    <a:srgbClr val="111111"/>
                                  </a:solidFill>
                                  <a:latin typeface="Cambria Math" panose="02040503050406030204" pitchFamily="18" charset="0"/>
                                </a:rPr>
                                <m:t xml:space="preserve">k</m:t>
                              </m:r>
                              <m:r>
                                <m:rPr>
                                  <m:sty m:val="p"/>
                                </m:rPr>
                                <a:rPr lang="en-US" sz="1750">
                                  <a:solidFill>
                                    <a:srgbClr val="111111"/>
                                  </a:solidFill>
                                  <a:latin typeface="Cambria Math" panose="02040503050406030204" pitchFamily="18" charset="0"/>
                                </a:rPr>
                                <m:t xml:space="preserve">∈</m:t>
                              </m:r>
                              <m:r>
                                <m:rPr>
                                  <m:scr m:val="script"/>
                                  <m:sty m:val="p"/>
                                </m:rPr>
                                <a:rPr lang="en-US" sz="1750">
                                  <a:solidFill>
                                    <a:srgbClr val="111111"/>
                                  </a:solidFill>
                                  <a:latin typeface="Cambria Math" panose="02040503050406030204" pitchFamily="18" charset="0"/>
                                </a:rPr>
                                <m:t xml:space="preserve">N</m:t>
                              </m:r>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j</m:t>
                              </m:r>
                              <m:r>
                                <m:rPr>
                                  <m:sty m:val="p"/>
                                </m:rPr>
                                <a:rPr lang="en-US" sz="1750">
                                  <a:solidFill>
                                    <a:srgbClr val="111111"/>
                                  </a:solidFill>
                                  <a:latin typeface="Cambria Math" panose="02040503050406030204" pitchFamily="18" charset="0"/>
                                </a:rPr>
                                <m:t xml:space="preserve">)</m:t>
                              </m:r>
                            </m:sub>
                            <m:sup/>
                            <m:e>
                              <m:sSub>
                                <m:sSubPr>
                                  <m:ctrlPr>
                                    <a:rPr lang="en-US" sz="1750" i="1">
                                      <a:solidFill>
                                        <a:srgbClr val="111111"/>
                                      </a:solidFill>
                                      <a:latin typeface="Cambria Math" panose="02040503050406030204" pitchFamily="18" charset="0"/>
                                    </a:rPr>
                                  </m:ctrlPr>
                                </m:sSubPr>
                                <m:e>
                                  <m:r>
                                    <a:rPr lang="en-US" sz="1750" i="1">
                                      <a:solidFill>
                                        <a:srgbClr val="111111"/>
                                      </a:solidFill>
                                      <a:latin typeface="Cambria Math" panose="02040503050406030204" pitchFamily="18" charset="0"/>
                                    </a:rPr>
                                    <m:t xml:space="preserve">w</m:t>
                                  </m:r>
                                </m:e>
                                <m:sub>
                                  <m:r>
                                    <a:rPr lang="en-US" sz="1750" i="1">
                                      <a:solidFill>
                                        <a:srgbClr val="111111"/>
                                      </a:solidFill>
                                      <a:latin typeface="Cambria Math" panose="02040503050406030204" pitchFamily="18" charset="0"/>
                                    </a:rPr>
                                    <m:t xml:space="preserve">jk</m:t>
                                  </m:r>
                                </m:sub>
                              </m:sSub>
                            </m:e>
                          </m:nary>
                          <m:r>
                            <m:rPr>
                              <m:sty m:val="p"/>
                            </m:rPr>
                            <a:rPr lang="en-US" sz="1750">
                              <a:solidFill>
                                <a:srgbClr val="111111"/>
                              </a:solidFill>
                              <a:latin typeface="Cambria Math" panose="02040503050406030204" pitchFamily="18" charset="0"/>
                            </a:rPr>
                            <m:t xml:space="preserve"> </m:t>
                          </m:r>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k</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e>
                      </m:d>
                    </m:oMath>
                  </m:oMathPara>
                </a14:m>
                <a:endParaRPr lang="en-US" sz="1750"/>
              </a:p>
            </p:txBody>
          </p:sp>
        </mc:Choice>
        <mc:Fallback>
          <p:sp>
            <p:nvSpPr>
              <p:cNvPr id="36" name="Equation"/>
              <p:cNvSpPr txBox="1"/>
              <p:nvPr/>
            </p:nvSpPr>
            <p:spPr>
              <a:xfrm>
                <a:off x="4686300" y="5985213"/>
                <a:ext cx="12298680" cy="609811"/>
              </a:xfrm>
              <a:prstGeom prst="rect">
                <a:avLst/>
              </a:prstGeom>
              <a:blipFill>
                <a:blip r:embed="rId7"/>
                <a:stretch>
                  <a:fillRect/>
                </a:stretch>
              </a:blipFill>
            </p:spPr>
            <p:txBody>
              <a:bodyPr/>
              <a:lstStyle/>
              <a:p>
                <a:endParaRPr lang="en-US"/>
              </a:p>
            </p:txBody>
          </p:sp>
        </mc:Fallback>
      </mc:AlternateContent>
      <p:sp>
        <p:nvSpPr>
          <p:cNvPr id="37" name="Rounded Rectangle 36"/>
          <p:cNvSpPr/>
          <p:nvPr/>
        </p:nvSpPr>
        <p:spPr>
          <a:xfrm>
            <a:off x="1028700" y="6686465"/>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8" name="TextBox 37"/>
          <p:cNvSpPr txBox="1"/>
          <p:nvPr/>
        </p:nvSpPr>
        <p:spPr>
          <a:xfrm>
            <a:off x="1348740" y="6686465"/>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Normalised weights</a:t>
            </a:r>
          </a:p>
        </p:txBody>
      </p:sp>
      <mc:AlternateContent xmlns:mc="http://schemas.openxmlformats.org/markup-compatibility/2006">
        <mc:Choice xmlns:a14="http://schemas.microsoft.com/office/drawing/2010/main" Requires="a14">
          <p:sp>
            <p:nvSpPr>
              <p:cNvPr id="39" name="Equation"/>
              <p:cNvSpPr txBox="1"/>
              <p:nvPr/>
            </p:nvSpPr>
            <p:spPr>
              <a:xfrm>
                <a:off x="4686300" y="6686465"/>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050" i="1">
                              <a:solidFill>
                                <a:srgbClr val="111111"/>
                              </a:solidFill>
                              <a:latin typeface="Cambria Math" panose="02040503050406030204" pitchFamily="18" charset="0"/>
                            </a:rPr>
                          </m:ctrlPr>
                        </m:sSubPr>
                        <m:e>
                          <m:r>
                            <a:rPr lang="en-US" sz="2050" i="1">
                              <a:solidFill>
                                <a:srgbClr val="111111"/>
                              </a:solidFill>
                              <a:latin typeface="Cambria Math" panose="02040503050406030204" pitchFamily="18" charset="0"/>
                            </a:rPr>
                            <m:t xml:space="preserve">w</m:t>
                          </m:r>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m:t>
                      </m:r>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 / </m:t>
                      </m:r>
                      <m:nary>
                        <m:naryPr>
                          <m:chr m:val="∑"/>
                          <m:limLoc m:val="subSup"/>
                          <m:supHide m:val="1"/>
                          <m:ctrlPr>
                            <a:rPr lang="en-US" sz="2050" i="1">
                              <a:solidFill>
                                <a:srgbClr val="111111"/>
                              </a:solidFill>
                              <a:latin typeface="Cambria Math" panose="02040503050406030204" pitchFamily="18" charset="0"/>
                            </a:rPr>
                          </m:ctrlPr>
                        </m:naryPr>
                        <m:sub>
                          <m:r>
                            <a:rPr lang="en-US" sz="2050" i="1">
                              <a:solidFill>
                                <a:srgbClr val="111111"/>
                              </a:solidFill>
                              <a:latin typeface="Cambria Math" panose="02040503050406030204" pitchFamily="18" charset="0"/>
                            </a:rPr>
                            <m:t xml:space="preserve">k′</m:t>
                          </m:r>
                          <m:r>
                            <m:rPr>
                              <m:sty m:val="p"/>
                            </m:rPr>
                            <a:rPr lang="en-US" sz="2050">
                              <a:solidFill>
                                <a:srgbClr val="111111"/>
                              </a:solidFill>
                              <a:latin typeface="Cambria Math" panose="02040503050406030204" pitchFamily="18" charset="0"/>
                            </a:rPr>
                            <m:t xml:space="preserve">∈</m:t>
                          </m:r>
                          <m:r>
                            <m:rPr>
                              <m:scr m:val="script"/>
                              <m:sty m:val="p"/>
                            </m:rPr>
                            <a:rPr lang="en-US" sz="2050">
                              <a:solidFill>
                                <a:srgbClr val="111111"/>
                              </a:solidFill>
                              <a:latin typeface="Cambria Math" panose="02040503050406030204" pitchFamily="18" charset="0"/>
                            </a:rPr>
                            <m:t xml:space="preserve">N</m:t>
                          </m:r>
                          <m:r>
                            <m:rPr>
                              <m:sty m:val="p"/>
                            </m:rPr>
                            <a:rPr lang="en-US" sz="2050">
                              <a:solidFill>
                                <a:srgbClr val="111111"/>
                              </a:solidFill>
                              <a:latin typeface="Cambria Math" panose="02040503050406030204" pitchFamily="18" charset="0"/>
                            </a:rPr>
                            <m:t xml:space="preserve">(</m:t>
                          </m:r>
                          <m:r>
                            <a:rPr lang="en-US" sz="2050" i="1">
                              <a:solidFill>
                                <a:srgbClr val="111111"/>
                              </a:solidFill>
                              <a:latin typeface="Cambria Math" panose="02040503050406030204" pitchFamily="18" charset="0"/>
                            </a:rPr>
                            <m:t xml:space="preserve">j</m:t>
                          </m:r>
                          <m:r>
                            <m:rPr>
                              <m:sty m:val="p"/>
                            </m:rPr>
                            <a:rPr lang="en-US" sz="2050">
                              <a:solidFill>
                                <a:srgbClr val="111111"/>
                              </a:solidFill>
                              <a:latin typeface="Cambria Math" panose="02040503050406030204" pitchFamily="18" charset="0"/>
                            </a:rPr>
                            <m:t xml:space="preserve">)</m:t>
                          </m:r>
                        </m:sub>
                        <m:sup/>
                        <m:e>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e>
                      </m:nary>
                    </m:oMath>
                  </m:oMathPara>
                </a14:m>
                <a:endParaRPr lang="en-US" sz="2050"/>
              </a:p>
            </p:txBody>
          </p:sp>
        </mc:Choice>
        <mc:Fallback>
          <p:sp>
            <p:nvSpPr>
              <p:cNvPr id="39" name="Equation"/>
              <p:cNvSpPr txBox="1"/>
              <p:nvPr/>
            </p:nvSpPr>
            <p:spPr>
              <a:xfrm>
                <a:off x="4686300" y="6686465"/>
                <a:ext cx="9372600" cy="609811"/>
              </a:xfrm>
              <a:prstGeom prst="rect">
                <a:avLst/>
              </a:prstGeom>
              <a:blipFill>
                <a:blip r:embed="rId8"/>
                <a:stretch>
                  <a:fillRect/>
                </a:stretch>
              </a:blipFill>
            </p:spPr>
            <p:txBody>
              <a:bodyPr/>
              <a:lstStyle/>
              <a:p>
                <a:endParaRPr lang="en-US"/>
              </a:p>
            </p:txBody>
          </p:sp>
        </mc:Fallback>
      </mc:AlternateContent>
      <p:sp>
        <p:nvSpPr>
          <p:cNvPr id="40" name="TextBox 39"/>
          <p:cNvSpPr txBox="1"/>
          <p:nvPr/>
        </p:nvSpPr>
        <p:spPr>
          <a:xfrm>
            <a:off x="14241780" y="6686465"/>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clipped + EMA-smoothed</a:t>
            </a:r>
          </a:p>
        </p:txBody>
      </p:sp>
      <p:sp>
        <p:nvSpPr>
          <p:cNvPr id="41" name="Rounded Rectangle 40"/>
          <p:cNvSpPr/>
          <p:nvPr/>
        </p:nvSpPr>
        <p:spPr>
          <a:xfrm>
            <a:off x="1028700" y="7387717"/>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2" name="TextBox 41"/>
          <p:cNvSpPr txBox="1"/>
          <p:nvPr/>
        </p:nvSpPr>
        <p:spPr>
          <a:xfrm>
            <a:off x="1348740" y="7387717"/>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Attention gate</a:t>
            </a:r>
          </a:p>
        </p:txBody>
      </p:sp>
      <mc:AlternateContent xmlns:mc="http://schemas.openxmlformats.org/markup-compatibility/2006">
        <mc:Choice xmlns:a14="http://schemas.microsoft.com/office/drawing/2010/main" Requires="a14">
          <p:sp>
            <p:nvSpPr>
              <p:cNvPr id="43" name="Equation"/>
              <p:cNvSpPr txBox="1"/>
              <p:nvPr/>
            </p:nvSpPr>
            <p:spPr>
              <a:xfrm>
                <a:off x="4686300" y="7387717"/>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W</m:t>
                              </m:r>
                            </m:e>
                            <m:sub>
                              <m:r>
                                <a:rPr lang="en-US" sz="2200" i="1">
                                  <a:solidFill>
                                    <a:srgbClr val="111111"/>
                                  </a:solidFill>
                                  <a:latin typeface="Cambria Math" panose="02040503050406030204" pitchFamily="18" charset="0"/>
                                </a:rPr>
                                <m:t xml:space="preserve">a</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l</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 ]</m:t>
                          </m:r>
                        </m:e>
                      </m:d>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=(1+</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3" name="Equation"/>
              <p:cNvSpPr txBox="1"/>
              <p:nvPr/>
            </p:nvSpPr>
            <p:spPr>
              <a:xfrm>
                <a:off x="4686300" y="7387717"/>
                <a:ext cx="12298680" cy="609811"/>
              </a:xfrm>
              <a:prstGeom prst="rect">
                <a:avLst/>
              </a:prstGeom>
              <a:blipFill>
                <a:blip r:embed="rId9"/>
                <a:stretch>
                  <a:fillRect/>
                </a:stretch>
              </a:blipFill>
            </p:spPr>
            <p:txBody>
              <a:bodyPr/>
              <a:lstStyle/>
              <a:p>
                <a:endParaRPr lang="en-US"/>
              </a:p>
            </p:txBody>
          </p:sp>
        </mc:Fallback>
      </mc:AlternateContent>
      <p:sp>
        <p:nvSpPr>
          <p:cNvPr id="44" name="Rounded Rectangle 43"/>
          <p:cNvSpPr/>
          <p:nvPr/>
        </p:nvSpPr>
        <p:spPr>
          <a:xfrm>
            <a:off x="1028700" y="8088968"/>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45" name="TextBox 44"/>
          <p:cNvSpPr txBox="1"/>
          <p:nvPr/>
        </p:nvSpPr>
        <p:spPr>
          <a:xfrm>
            <a:off x="1348740" y="8088968"/>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Context-aware score</a:t>
            </a:r>
          </a:p>
        </p:txBody>
      </p:sp>
      <mc:AlternateContent xmlns:mc="http://schemas.openxmlformats.org/markup-compatibility/2006">
        <mc:Choice xmlns:a14="http://schemas.microsoft.com/office/drawing/2010/main" Requires="a14">
          <p:sp>
            <p:nvSpPr>
              <p:cNvPr id="46" name="Equation"/>
              <p:cNvSpPr txBox="1"/>
              <p:nvPr/>
            </p:nvSpPr>
            <p:spPr>
              <a:xfrm>
                <a:off x="4686300" y="8088968"/>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2200" i="1">
                          <a:solidFill>
                            <a:srgbClr val="111111"/>
                          </a:solidFill>
                          <a:latin typeface="Cambria Math" panose="02040503050406030204" pitchFamily="18" charset="0"/>
                        </a:rPr>
                        <m:t xml:space="preserve">f</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u</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i</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c</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a:rPr lang="en-US" sz="2200" i="1">
                              <a:solidFill>
                                <a:srgbClr val="111111"/>
                              </a:solidFill>
                              <a:latin typeface="Cambria Math" panose="02040503050406030204" pitchFamily="18" charset="0"/>
                            </a:rPr>
                            <m:t xml:space="preserve">c</m:t>
                          </m:r>
                        </m:sub>
                      </m:sSub>
                      <m:r>
                        <m:rPr>
                          <m:sty m:val="p"/>
                        </m:rPr>
                        <a:rPr lang="en-US" sz="2200">
                          <a:solidFill>
                            <a:srgbClr val="111111"/>
                          </a:solidFill>
                          <a:latin typeface="Cambria Math" panose="02040503050406030204" pitchFamily="18" charset="0"/>
                        </a:rPr>
                        <m:t xml:space="preserve"> ⟨ </m:t>
                      </m:r>
                      <m:r>
                        <a:rPr lang="en-US" sz="2200" i="1">
                          <a:solidFill>
                            <a:srgbClr val="111111"/>
                          </a:solidFill>
                          <a:latin typeface="Cambria Math" panose="02040503050406030204" pitchFamily="18" charset="0"/>
                        </a:rPr>
                        <m:t xml:space="preserve">g</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6" name="Equation"/>
              <p:cNvSpPr txBox="1"/>
              <p:nvPr/>
            </p:nvSpPr>
            <p:spPr>
              <a:xfrm>
                <a:off x="4686300" y="8088968"/>
                <a:ext cx="12298680" cy="609811"/>
              </a:xfrm>
              <a:prstGeom prst="rect">
                <a:avLst/>
              </a:prstGeom>
              <a:blipFill>
                <a:blip r:embed="rId10"/>
                <a:stretch>
                  <a:fillRect/>
                </a:stretch>
              </a:blipFill>
            </p:spPr>
            <p:txBody>
              <a:bodyPr/>
              <a:lstStyle/>
              <a:p>
                <a:endParaRPr lang="en-US"/>
              </a:p>
            </p:txBody>
          </p:sp>
        </mc:Fallback>
      </mc:AlternateContent>
      <p:sp>
        <p:nvSpPr>
          <p:cNvPr id="47" name="Rounded Rectangle 46"/>
          <p:cNvSpPr/>
          <p:nvPr/>
        </p:nvSpPr>
        <p:spPr>
          <a:xfrm>
            <a:off x="1028700" y="8790220"/>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8" name="TextBox 47"/>
          <p:cNvSpPr txBox="1"/>
          <p:nvPr/>
        </p:nvSpPr>
        <p:spPr>
          <a:xfrm>
            <a:off x="1348740" y="8790220"/>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Training loss</a:t>
            </a:r>
          </a:p>
        </p:txBody>
      </p:sp>
      <mc:AlternateContent xmlns:mc="http://schemas.openxmlformats.org/markup-compatibility/2006">
        <mc:Choice xmlns:a14="http://schemas.microsoft.com/office/drawing/2010/main" Requires="a14">
          <p:sp>
            <p:nvSpPr>
              <p:cNvPr id="49" name="Equation"/>
              <p:cNvSpPr txBox="1"/>
              <p:nvPr/>
            </p:nvSpPr>
            <p:spPr>
              <a:xfrm>
                <a:off x="4686300" y="8790220"/>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m:rPr>
                          <m:scr m:val="script"/>
                          <m:sty m:val="p"/>
                        </m:rPr>
                        <a:rPr lang="en-US" sz="2200">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rec</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reg</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reg</m:t>
                          </m:r>
                        </m:sub>
                      </m:sSub>
                    </m:oMath>
                  </m:oMathPara>
                </a14:m>
                <a:endParaRPr lang="en-US" sz="2200"/>
              </a:p>
            </p:txBody>
          </p:sp>
        </mc:Choice>
        <mc:Fallback>
          <p:sp>
            <p:nvSpPr>
              <p:cNvPr id="49" name="Equation"/>
              <p:cNvSpPr txBox="1"/>
              <p:nvPr/>
            </p:nvSpPr>
            <p:spPr>
              <a:xfrm>
                <a:off x="4686300" y="8790220"/>
                <a:ext cx="9372600" cy="609811"/>
              </a:xfrm>
              <a:prstGeom prst="rect">
                <a:avLst/>
              </a:prstGeom>
              <a:blipFill>
                <a:blip r:embed="rId11"/>
                <a:stretch>
                  <a:fillRect/>
                </a:stretch>
              </a:blipFill>
            </p:spPr>
            <p:txBody>
              <a:bodyPr/>
              <a:lstStyle/>
              <a:p>
                <a:endParaRPr lang="en-US"/>
              </a:p>
            </p:txBody>
          </p:sp>
        </mc:Fallback>
      </mc:AlternateContent>
      <p:sp>
        <p:nvSpPr>
          <p:cNvPr id="50" name="TextBox 49"/>
          <p:cNvSpPr txBox="1"/>
          <p:nvPr/>
        </p:nvSpPr>
        <p:spPr>
          <a:xfrm>
            <a:off x="14241780" y="8790220"/>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BPR + diversity + context + L2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   [27]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5073396"/>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MovieLens-1M (dense, 0.0447) and Amazon-Book (sparse, 0.0006); Yelp2018 as a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Split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User-level, time-ordered 70 / 10 / 20; leave-one-out target per user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Baselines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NCF, LightGCN, RecDCL, HCCF, 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Metrics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NDCG@20 (main), Recall@20, Catalogue Coverage, Intra-List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Repeats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Five seeds {42 … 46}; mean ± standard deviation reported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Statistics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Paired t-test and Wilcoxon on per-user NDCG@20; Holm–Bonferroni; Cohen's d</a:t>
                      </a:r>
                      <a:r>
                        <a:rPr lang="en-US" sz="1700" b="true" baseline="-25000">
                          <a:solidFill>
                            <a:srgbClr val="111111"/>
                          </a:solidFill>
                          <a:latin typeface="Nunito Semi-Bold"/>
                          <a:ea typeface="Nunito Semi-Bold"/>
                          <a:cs typeface="Nunito Semi-Bold"/>
                          <a:sym typeface="Nunito Semi-Bold"/>
                        </a:rPr>
                        <a:t>z</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Ablation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Remove one component at a time: Shapley, hypergraph, attention, context,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Beat HPCF on both datasets</a:t>
            </a:r>
            <a:r>
              <a:rPr lang="en-US" sz="1900" b="true">
                <a:solidFill>
                  <a:srgbClr val="FFFFFF"/>
                </a:solidFill>
                <a:latin typeface="Nunito Semi-Bold"/>
                <a:ea typeface="Nunito Semi-Bold"/>
                <a:cs typeface="Nunito Semi-Bold"/>
                <a:sym typeface="Nunito Semi-Bold"/>
              </a:rPr>
              <a:t> in NDCG@20 and Recall@20, with p &lt; 0.05 after correction.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Coverage and ILD go up at the same time</a:t>
            </a:r>
            <a:r>
              <a:rPr lang="en-US" sz="1900" b="true">
                <a:solidFill>
                  <a:srgbClr val="FFFFFF"/>
                </a:solidFill>
                <a:latin typeface="Nunito Semi-Bold"/>
                <a:ea typeface="Nunito Semi-Bold"/>
                <a:cs typeface="Nunito Semi-Bold"/>
                <a:sym typeface="Nunito Semi-Bold"/>
              </a:rPr>
              <a:t>: no accuracy-for-diversity trade.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Every component matters</a:t>
            </a:r>
            <a:r>
              <a:rPr lang="en-US" sz="1900" b="true">
                <a:solidFill>
                  <a:srgbClr val="FFFFFF"/>
                </a:solidFill>
                <a:latin typeface="Nunito Semi-Bold"/>
                <a:ea typeface="Nunito Semi-Bold"/>
                <a:cs typeface="Nunito Semi-Bold"/>
                <a:sym typeface="Nunito Semi-Bold"/>
              </a:rPr>
              <a:t>: removing any one of them lowers NDCG@20.</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Overhead stays bounded</a:t>
            </a:r>
            <a:r>
              <a:rPr lang="en-US" sz="1900" b="true">
                <a:solidFill>
                  <a:srgbClr val="FFFFFF"/>
                </a:solidFill>
                <a:latin typeface="Nunito Semi-Bold"/>
                <a:ea typeface="Nunito Semi-Bold"/>
                <a:cs typeface="Nunito Semi-Bold"/>
                <a:sym typeface="Nunito Semi-Bold"/>
              </a:rPr>
              <a:t>: training time within about 2× HPCF; real-time inference.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MovieLens-1M</a:t>
            </a:r>
          </a:p>
        </p:txBody>
      </p:sp>
      <p:pic>
        <p:nvPicPr>
          <p:cNvPr id="23" name="Picture 22" descr="image.png"/>
          <p:cNvPicPr>
            <a:picLocks noChangeAspect="1"/>
          </p:cNvPicPr>
          <p:nvPr/>
        </p:nvPicPr>
        <p:blipFill>
          <a:blip r:embed="rId3"/>
          <a:stretch>
            <a:fillRect/>
          </a:stretch>
        </p:blipFill>
        <p:spPr>
          <a:xfrm>
            <a:off x="9149156"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DyHuCoG is best on all four metrics</a:t>
            </a:r>
            <a:r>
              <a:rPr lang="en-US" sz="1900" b="true">
                <a:solidFill>
                  <a:srgbClr val="111111"/>
                </a:solidFill>
                <a:latin typeface="Nunito Semi-Bold"/>
                <a:ea typeface="Nunito Semi-Bold"/>
                <a:cs typeface="Nunito Semi-Bold"/>
                <a:sym typeface="Nunito Semi-Bold"/>
              </a:rPr>
              <a:t> against six baselines from four model families.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0.2775 vs 0.2528</a:t>
            </a:r>
            <a:r>
              <a:rPr lang="en-US" sz="1900" b="true">
                <a:solidFill>
                  <a:srgbClr val="111111"/>
                </a:solidFill>
                <a:latin typeface="Nunito Semi-Bold"/>
                <a:ea typeface="Nunito Semi-Bold"/>
                <a:cs typeface="Nunito Semi-Bold"/>
                <a:sym typeface="Nunito Semi-Bold"/>
              </a:rPr>
              <a:t> for HPCF (+9.8 %); Recall@20 </a:t>
            </a:r>
            <a:r>
              <a:rPr lang="en-US" sz="1900" b="true">
                <a:solidFill>
                  <a:srgbClr val="111111"/>
                </a:solidFill>
                <a:latin typeface="Nunito Bold"/>
                <a:ea typeface="Nunito Bold"/>
                <a:cs typeface="Nunito Bold"/>
                <a:sym typeface="Nunito Bold"/>
              </a:rPr>
              <a:t>0.2362 vs 0.2098</a:t>
            </a:r>
            <a:r>
              <a:rPr lang="en-US" sz="1900" b="true">
                <a:solidFill>
                  <a:srgbClr val="111111"/>
                </a:solidFill>
                <a:latin typeface="Nunito Semi-Bold"/>
                <a:ea typeface="Nunito Semi-Bold"/>
                <a:cs typeface="Nunito Semi-Bold"/>
                <a:sym typeface="Nunito Semi-Bold"/>
              </a:rPr>
              <a:t> (+12.6 %).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0.397 vs 0.342</a:t>
            </a:r>
            <a:r>
              <a:rPr lang="en-US" sz="1900" b="true">
                <a:solidFill>
                  <a:srgbClr val="111111"/>
                </a:solidFill>
                <a:latin typeface="Nunito Semi-Bold"/>
                <a:ea typeface="Nunito Semi-Bold"/>
                <a:cs typeface="Nunito Semi-Bold"/>
                <a:sym typeface="Nunito Semi-Bold"/>
              </a:rPr>
              <a:t> (+16.1 %) and ILD </a:t>
            </a:r>
            <a:r>
              <a:rPr lang="en-US" sz="1900" b="true">
                <a:solidFill>
                  <a:srgbClr val="111111"/>
                </a:solidFill>
                <a:latin typeface="Nunito Bold"/>
                <a:ea typeface="Nunito Bold"/>
                <a:cs typeface="Nunito Bold"/>
                <a:sym typeface="Nunito Bold"/>
              </a:rPr>
              <a:t>0.516 vs 0.461</a:t>
            </a:r>
            <a:r>
              <a:rPr lang="en-US" sz="1900" b="true">
                <a:solidFill>
                  <a:srgbClr val="111111"/>
                </a:solidFill>
                <a:latin typeface="Nunito Semi-Bold"/>
                <a:ea typeface="Nunito Semi-Bold"/>
                <a:cs typeface="Nunito Semi-Bold"/>
                <a:sym typeface="Nunito Semi-Bold"/>
              </a:rPr>
              <a:t> (+11.9 %): more of the catalogue reaches users.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gap widens from classical (MF) to graph (LightGCN) to hypergraph (HCCF, HPCF) models, and DyHuCoG adds another step on top of the strongest.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+9.8 %  ·  +12.6 %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0.1200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0.0880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0.239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0.367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0.1100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0.1790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0.1918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0.2362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0.516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Amazon-Book</a:t>
            </a:r>
          </a:p>
        </p:txBody>
      </p:sp>
      <p:pic>
        <p:nvPicPr>
          <p:cNvPr id="23" name="Picture 22" descr="image.png"/>
          <p:cNvPicPr>
            <a:picLocks noChangeAspect="1"/>
          </p:cNvPicPr>
          <p:nvPr/>
        </p:nvPicPr>
        <p:blipFill>
          <a:blip r:embed="rId3"/>
          <a:stretch>
            <a:fillRect/>
          </a:stretch>
        </p:blipFill>
        <p:spPr>
          <a:xfrm>
            <a:off x="9187392"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Same picture on the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dataset (density 0.0006), with </a:t>
            </a:r>
            <a:r>
              <a:rPr lang="en-US" sz="1900" b="true">
                <a:solidFill>
                  <a:srgbClr val="111111"/>
                </a:solidFill>
                <a:latin typeface="Nunito Bold"/>
                <a:ea typeface="Nunito Bold"/>
                <a:cs typeface="Nunito Bold"/>
                <a:sym typeface="Nunito Bold"/>
              </a:rPr>
              <a:t>larger relative gains</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0.0306 vs 0.0270</a:t>
            </a:r>
            <a:r>
              <a:rPr lang="en-US" sz="1900" b="true">
                <a:solidFill>
                  <a:srgbClr val="111111"/>
                </a:solidFill>
                <a:latin typeface="Nunito Semi-Bold"/>
                <a:ea typeface="Nunito Semi-Bold"/>
                <a:cs typeface="Nunito Semi-Bold"/>
                <a:sym typeface="Nunito Semi-Bold"/>
              </a:rPr>
              <a:t> for HPCF (+13.3 %); Recall@20 </a:t>
            </a:r>
            <a:r>
              <a:rPr lang="en-US" sz="1900" b="true">
                <a:solidFill>
                  <a:srgbClr val="111111"/>
                </a:solidFill>
                <a:latin typeface="Nunito Bold"/>
                <a:ea typeface="Nunito Bold"/>
                <a:cs typeface="Nunito Bold"/>
                <a:sym typeface="Nunito Bold"/>
              </a:rPr>
              <a:t>0.0417 vs 0.0359</a:t>
            </a:r>
            <a:r>
              <a:rPr lang="en-US" sz="1900" b="true">
                <a:solidFill>
                  <a:srgbClr val="111111"/>
                </a:solidFill>
                <a:latin typeface="Nunito Semi-Bold"/>
                <a:ea typeface="Nunito Semi-Bold"/>
                <a:cs typeface="Nunito Semi-Bold"/>
                <a:sym typeface="Nunito Semi-Bold"/>
              </a:rPr>
              <a:t> (+16.2 %).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0.336 vs 0.259</a:t>
            </a:r>
            <a:r>
              <a:rPr lang="en-US" sz="1900" b="true">
                <a:solidFill>
                  <a:srgbClr val="111111"/>
                </a:solidFill>
                <a:latin typeface="Nunito Semi-Bold"/>
                <a:ea typeface="Nunito Semi-Bold"/>
                <a:cs typeface="Nunito Semi-Bold"/>
                <a:sym typeface="Nunito Semi-Bold"/>
              </a:rPr>
              <a:t> (+29.7 %) and ILD </a:t>
            </a:r>
            <a:r>
              <a:rPr lang="en-US" sz="1900" b="true">
                <a:solidFill>
                  <a:srgbClr val="111111"/>
                </a:solidFill>
                <a:latin typeface="Nunito Bold"/>
                <a:ea typeface="Nunito Bold"/>
                <a:cs typeface="Nunito Bold"/>
                <a:sym typeface="Nunito Bold"/>
              </a:rPr>
              <a:t>0.602 vs 0.535</a:t>
            </a:r>
            <a:r>
              <a:rPr lang="en-US" sz="1900" b="true">
                <a:solidFill>
                  <a:srgbClr val="111111"/>
                </a:solidFill>
                <a:latin typeface="Nunito Semi-Bold"/>
                <a:ea typeface="Nunito Semi-Bold"/>
                <a:cs typeface="Nunito Semi-Bold"/>
                <a:sym typeface="Nunito Semi-Bold"/>
              </a:rPr>
              <a:t> (+12.5 %).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Absolute values are low for every model because the matrix is almost empty; what matters is the </a:t>
            </a:r>
            <a:r>
              <a:rPr lang="en-US" sz="1900" b="true">
                <a:solidFill>
                  <a:srgbClr val="111111"/>
                </a:solidFill>
                <a:latin typeface="Nunito Bold"/>
                <a:ea typeface="Nunito Bold"/>
                <a:cs typeface="Nunito Bold"/>
                <a:sym typeface="Nunito Bold"/>
              </a:rPr>
              <a:t>consistent ordering and the widening gap</a:t>
            </a:r>
            <a:r>
              <a:rPr lang="en-US" sz="1900" b="true">
                <a:solidFill>
                  <a:srgbClr val="111111"/>
                </a:solidFill>
                <a:latin typeface="Nunito Semi-Bold"/>
                <a:ea typeface="Nunito Semi-Bold"/>
                <a:cs typeface="Nunito Semi-Bold"/>
                <a:sym typeface="Nunito Semi-Bold"/>
              </a:rPr>
              <a:t> where data are weakest.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+13.3 %  ·  +16.2 %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0.491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0.512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0.0417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0.602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Ablation: Every Component Contributes</a:t>
            </a:r>
          </a:p>
        </p:txBody>
      </p:sp>
      <p:pic>
        <p:nvPicPr>
          <p:cNvPr id="23" name="Picture 22" descr="image.png"/>
          <p:cNvPicPr>
            <a:picLocks noChangeAspect="1"/>
          </p:cNvPicPr>
          <p:nvPr/>
        </p:nvPicPr>
        <p:blipFill>
          <a:blip r:embed="rId3"/>
          <a:stretch>
            <a:fillRect/>
          </a:stretch>
        </p:blipFill>
        <p:spPr>
          <a:xfrm>
            <a:off x="11596440"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7.2  ·  MOVIELENS-1M</a:t>
            </a:r>
          </a:p>
        </p:txBody>
      </p:sp>
      <p:graphicFrame>
        <p:nvGraphicFramePr>
          <p:cNvPr id="29" name="Table 28"/>
          <p:cNvGraphicFramePr>
            <a:graphicFrameLocks noGrp="1"/>
          </p:cNvGraphicFramePr>
          <p:nvPr/>
        </p:nvGraphicFramePr>
        <p:xfrm>
          <a:off x="10287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0.2586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0.2678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0.2547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−8.2 %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TextBox 29"/>
          <p:cNvSpPr txBox="1"/>
          <p:nvPr/>
        </p:nvSpPr>
        <p:spPr>
          <a:xfrm>
            <a:off x="93726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31" name="Table 30"/>
          <p:cNvGraphicFramePr>
            <a:graphicFrameLocks noGrp="1"/>
          </p:cNvGraphicFramePr>
          <p:nvPr/>
        </p:nvGraphicFramePr>
        <p:xfrm>
          <a:off x="93726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0.0272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−11.0 %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2" name="Rounded Rectangle 31"/>
          <p:cNvSpPr/>
          <p:nvPr/>
        </p:nvSpPr>
        <p:spPr>
          <a:xfrm>
            <a:off x="1028700" y="7537958"/>
            <a:ext cx="16230600" cy="1724914"/>
          </a:xfrm>
          <a:prstGeom prst="roundRect">
            <a:avLst>
              <a:gd name="adj" fmla="val 1802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7300214"/>
            <a:ext cx="1757407"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Reading</a:t>
            </a:r>
          </a:p>
        </p:txBody>
      </p:sp>
      <p:sp>
        <p:nvSpPr>
          <p:cNvPr id="34" name="TextBox 33"/>
          <p:cNvSpPr txBox="1"/>
          <p:nvPr/>
        </p:nvSpPr>
        <p:spPr>
          <a:xfrm>
            <a:off x="1531620" y="8086598"/>
            <a:ext cx="15270480" cy="993394"/>
          </a:xfrm>
          <a:prstGeom prst="rect">
            <a:avLst/>
          </a:prstGeom>
          <a:noFill/>
        </p:spPr>
        <p:txBody>
          <a:bodyPr anchor="t" rtlCol="false" lIns="0" tIns="0" rIns="0" bIns="0" wrap="square"/>
          <a:lstStyle/>
          <a:p>
            <a:pPr algn="l" marL="274320" indent="-274320">
              <a:lnSpc>
                <a:spcPts val="2142"/>
              </a:lnSpc>
              <a:spcBef>
                <a:spcPts val="0"/>
              </a:spcBef>
              <a:buClr>
                <a:srgbClr val="DF8330"/>
              </a:buClr>
              <a:buSzPct val="100000"/>
              <a:buFont typeface="Arial"/>
              <a:buChar char="•"/>
            </a:pPr>
            <a:r>
              <a:rPr lang="en-US" sz="1530" b="true">
                <a:solidFill>
                  <a:srgbClr val="111111"/>
                </a:solidFill>
                <a:latin typeface="Nunito Bold"/>
                <a:ea typeface="Nunito Bold"/>
                <a:cs typeface="Nunito Bold"/>
                <a:sym typeface="Nunito Bold"/>
              </a:rPr>
              <a:t>Context</a:t>
            </a:r>
            <a:r>
              <a:rPr lang="en-US" sz="1530" b="true">
                <a:solidFill>
                  <a:srgbClr val="111111"/>
                </a:solidFill>
                <a:latin typeface="Nunito Semi-Bold"/>
                <a:ea typeface="Nunito Semi-Bold"/>
                <a:cs typeface="Nunito Semi-Bold"/>
                <a:sym typeface="Nunito Semi-Bold"/>
              </a:rPr>
              <a:t> is the most important component (−8.2 % / −11.0 %), then the </a:t>
            </a:r>
            <a:r>
              <a:rPr lang="en-US" sz="1530" b="true">
                <a:solidFill>
                  <a:srgbClr val="111111"/>
                </a:solidFill>
                <a:latin typeface="Nunito Bold"/>
                <a:ea typeface="Nunito Bold"/>
                <a:cs typeface="Nunito Bold"/>
                <a:sym typeface="Nunito Bold"/>
              </a:rPr>
              <a:t>hypergraph</a:t>
            </a:r>
            <a:r>
              <a:rPr lang="en-US" sz="1530" b="true">
                <a:solidFill>
                  <a:srgbClr val="111111"/>
                </a:solidFill>
                <a:latin typeface="Nunito Semi-Bold"/>
                <a:ea typeface="Nunito Semi-Bold"/>
                <a:cs typeface="Nunito Semi-Bold"/>
                <a:sym typeface="Nunito Semi-Bold"/>
              </a:rPr>
              <a:t> structure (−6.8 % / −8.9 %).</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Removing </a:t>
            </a:r>
            <a:r>
              <a:rPr lang="en-US" sz="1530" b="true">
                <a:solidFill>
                  <a:srgbClr val="111111"/>
                </a:solidFill>
                <a:latin typeface="Nunito Bold"/>
                <a:ea typeface="Nunito Bold"/>
                <a:cs typeface="Nunito Bold"/>
                <a:sym typeface="Nunito Bold"/>
              </a:rPr>
              <a:t>Shapley</a:t>
            </a:r>
            <a:r>
              <a:rPr lang="en-US" sz="1530" b="true">
                <a:solidFill>
                  <a:srgbClr val="111111"/>
                </a:solidFill>
                <a:latin typeface="Nunito Semi-Bold"/>
                <a:ea typeface="Nunito Semi-Bold"/>
                <a:cs typeface="Nunito Semi-Bold"/>
                <a:sym typeface="Nunito Semi-Bold"/>
              </a:rPr>
              <a:t> weighting costs 4.6 % / 6.1 %: more on the sparser dataset, where fair credit for weak signals matters most.</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The ablation removes one component at a time; it does not test combinations.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Efficiency and Shapley Convergence</a:t>
            </a:r>
          </a:p>
        </p:txBody>
      </p:sp>
      <p:pic>
        <p:nvPicPr>
          <p:cNvPr id="23" name="Picture 22" descr="image.png"/>
          <p:cNvPicPr>
            <a:picLocks noChangeAspect="1"/>
          </p:cNvPicPr>
          <p:nvPr/>
        </p:nvPicPr>
        <p:blipFill>
          <a:blip r:embed="rId3"/>
          <a:stretch>
            <a:fillRect/>
          </a:stretch>
        </p:blipFill>
        <p:spPr>
          <a:xfrm>
            <a:off x="10646093"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385191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1.78×</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training time vs HPCF </a:t>
            </a:r>
            <a:r>
              <a:rPr lang="en-US" sz="1700" b="true">
                <a:solidFill>
                  <a:srgbClr val="FFFFFF"/>
                </a:solidFill>
                <a:latin typeface="Nunito Bold"/>
                <a:ea typeface="Nunito Bold"/>
                <a:cs typeface="Nunito Bold"/>
                <a:sym typeface="Nunito Bold"/>
              </a:rPr>
              <a:t>(≈ 2000 s vs 1125 s, ML-1M)</a:t>
            </a:r>
          </a:p>
        </p:txBody>
      </p:sp>
      <p:sp>
        <p:nvSpPr>
          <p:cNvPr id="29" name="Rounded Rectangle 28"/>
          <p:cNvSpPr/>
          <p:nvPr/>
        </p:nvSpPr>
        <p:spPr>
          <a:xfrm>
            <a:off x="5154930" y="3455162"/>
            <a:ext cx="385191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1.84 ms</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inference / query on ML-1M </a:t>
            </a:r>
            <a:r>
              <a:rPr lang="en-US" sz="1700" b="true">
                <a:solidFill>
                  <a:srgbClr val="FFFFFF"/>
                </a:solidFill>
                <a:latin typeface="Nunito Bold"/>
                <a:ea typeface="Nunito Bold"/>
                <a:cs typeface="Nunito Bold"/>
                <a:sym typeface="Nunito Bold"/>
              </a:rPr>
              <a:t>(8.52 ms Amazon)</a:t>
            </a:r>
          </a:p>
        </p:txBody>
      </p:sp>
      <p:sp>
        <p:nvSpPr>
          <p:cNvPr id="30" name="Rounded Rectangle 29"/>
          <p:cNvSpPr/>
          <p:nvPr/>
        </p:nvSpPr>
        <p:spPr>
          <a:xfrm>
            <a:off x="9281160" y="3455162"/>
            <a:ext cx="385191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3960"/>
              </a:lnSpc>
              <a:spcBef>
                <a:spcPts val="0"/>
              </a:spcBef>
              <a:buNone/>
            </a:pPr>
            <a:r>
              <a:rPr lang="en-US" sz="3600" b="true">
                <a:solidFill>
                  <a:srgbClr val="FFFFFF"/>
                </a:solidFill>
                <a:latin typeface="Nunito Ultra-Bold"/>
                <a:ea typeface="Nunito Ultra-Bold"/>
                <a:cs typeface="Nunito Ultra-Bold"/>
                <a:sym typeface="Nunito Ultra-Bold"/>
              </a:rPr>
              <a:t>4.4 GB</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memory ML-1M vs 4.1 GB </a:t>
            </a:r>
            <a:r>
              <a:rPr lang="en-US" sz="1700" b="true">
                <a:solidFill>
                  <a:srgbClr val="FFFFFF"/>
                </a:solidFill>
                <a:latin typeface="Nunito Bold"/>
                <a:ea typeface="Nunito Bold"/>
                <a:cs typeface="Nunito Bold"/>
                <a:sym typeface="Nunito Bold"/>
              </a:rPr>
              <a:t>(17.9 vs 16.8 GB Amazon)</a:t>
            </a:r>
          </a:p>
        </p:txBody>
      </p:sp>
      <p:sp>
        <p:nvSpPr>
          <p:cNvPr id="31" name="Rounded Rectangle 30"/>
          <p:cNvSpPr/>
          <p:nvPr/>
        </p:nvSpPr>
        <p:spPr>
          <a:xfrm>
            <a:off x="13407390" y="3455162"/>
            <a:ext cx="3851910" cy="2103120"/>
          </a:xfrm>
          <a:prstGeom prst="roundRect">
            <a:avLst>
              <a:gd name="adj" fmla="val 13043"/>
            </a:avLst>
          </a:prstGeom>
          <a:solidFill>
            <a:srgbClr val="111111"/>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M = 50</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MSE 1.4×10</a:t>
            </a:r>
            <a:r>
              <a:rPr lang="en-US" sz="1700" b="true" baseline="30000">
                <a:solidFill>
                  <a:srgbClr val="FFFFFF"/>
                </a:solidFill>
                <a:latin typeface="Nunito Semi-Bold"/>
                <a:ea typeface="Nunito Semi-Bold"/>
                <a:cs typeface="Nunito Semi-Bold"/>
                <a:sym typeface="Nunito Semi-Bold"/>
              </a:rPr>
              <a:t>−5</a:t>
            </a:r>
            <a:r>
              <a:rPr lang="en-US" sz="1700" b="true">
                <a:solidFill>
                  <a:srgbClr val="FFFFFF"/>
                </a:solidFill>
                <a:latin typeface="Nunito Semi-Bold"/>
                <a:ea typeface="Nunito Semi-Bold"/>
                <a:cs typeface="Nunito Semi-Bold"/>
                <a:sym typeface="Nunito Semi-Bold"/>
              </a:rPr>
              <a:t> · </a:t>
            </a:r>
            <a:r>
              <a:rPr lang="en-US" sz="1700" b="true">
                <a:solidFill>
                  <a:srgbClr val="FFFFFF"/>
                </a:solidFill>
                <a:latin typeface="Nunito Bold"/>
                <a:ea typeface="Nunito Bold"/>
                <a:cs typeface="Nunito Bold"/>
                <a:sym typeface="Nunito Bold"/>
              </a:rPr>
              <a:t>≈ 99 % accuracy</a:t>
            </a:r>
          </a:p>
        </p:txBody>
      </p:sp>
      <p:sp>
        <p:nvSpPr>
          <p:cNvPr id="32" name="TextBox 31"/>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7.3 (thesis): runtime and scalability  ·  Table 7.4 (thesis): Monte Carlo convergence and runtime trade-offs. Full tables in the backup slides.</a:t>
            </a:r>
          </a:p>
        </p:txBody>
      </p:sp>
      <p:sp>
        <p:nvSpPr>
          <p:cNvPr id="33" name="Rounded Rectangle 32"/>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485900" y="6006338"/>
            <a:ext cx="218505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Complexity</a:t>
            </a:r>
          </a:p>
        </p:txBody>
      </p:sp>
      <p:sp>
        <p:nvSpPr>
          <p:cNvPr id="35" name="TextBox 34"/>
          <p:cNvSpPr txBox="1"/>
          <p:nvPr/>
        </p:nvSpPr>
        <p:spPr>
          <a:xfrm>
            <a:off x="1531620" y="6884162"/>
            <a:ext cx="6972300" cy="15557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Per-epoch cost: propagation plus periodic Shapley refresh:</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A refresh every f = 10 batches keeps the overhead bounded.</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Inference latency is </a:t>
            </a:r>
            <a:r>
              <a:rPr lang="en-US" sz="1820" b="true">
                <a:solidFill>
                  <a:srgbClr val="111111"/>
                </a:solidFill>
                <a:latin typeface="Nunito Bold"/>
                <a:ea typeface="Nunito Bold"/>
                <a:cs typeface="Nunito Bold"/>
                <a:sym typeface="Nunito Bold"/>
              </a:rPr>
              <a:t>suitable for real-time use</a:t>
            </a:r>
            <a:r>
              <a:rPr lang="en-US" sz="1820" b="true">
                <a:solidFill>
                  <a:srgbClr val="111111"/>
                </a:solidFill>
                <a:latin typeface="Nunito Semi-Bold"/>
                <a:ea typeface="Nunito Semi-Bold"/>
                <a:cs typeface="Nunito Semi-Bold"/>
                <a:sym typeface="Nunito Semi-Bold"/>
              </a:rPr>
              <a:t>.</a:t>
            </a:r>
          </a:p>
        </p:txBody>
      </p:sp>
      <mc:AlternateContent xmlns:mc="http://schemas.openxmlformats.org/markup-compatibility/2006">
        <mc:Choice xmlns:a14="http://schemas.microsoft.com/office/drawing/2010/main" Requires="a14">
          <p:sp>
            <p:nvSpPr>
              <p:cNvPr id="36" name="Equation"/>
              <p:cNvSpPr txBox="1"/>
              <p:nvPr/>
            </p:nvSpPr>
            <p:spPr>
              <a:xfrm>
                <a:off x="1531620" y="8485632"/>
                <a:ext cx="6926580" cy="64008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L</m:t>
                          </m:r>
                          <m:r>
                            <m:rPr>
                              <m:sty m:val="p"/>
                            </m:rPr>
                            <a:rPr lang="en-US" sz="2000">
                              <a:solidFill>
                                <a:srgbClr val="124944"/>
                              </a:solidFill>
                              <a:latin typeface="Cambria Math" panose="02040503050406030204" pitchFamily="18" charset="0"/>
                            </a:rPr>
                            <m:t xml:space="preserve">+1) </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d</m:t>
                          </m:r>
                        </m:e>
                      </m:d>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f</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m</m:t>
                          </m:r>
                        </m:e>
                      </m:d>
                    </m:oMath>
                  </m:oMathPara>
                </a14:m>
                <a:endParaRPr lang="en-US" sz="2000"/>
              </a:p>
            </p:txBody>
          </p:sp>
        </mc:Choice>
        <mc:Fallback>
          <p:sp>
            <p:nvSpPr>
              <p:cNvPr id="36" name="Equation"/>
              <p:cNvSpPr txBox="1"/>
              <p:nvPr/>
            </p:nvSpPr>
            <p:spPr>
              <a:xfrm>
                <a:off x="1531620" y="8485632"/>
                <a:ext cx="6926580" cy="640080"/>
              </a:xfrm>
              <a:prstGeom prst="rect">
                <a:avLst/>
              </a:prstGeom>
              <a:blipFill>
                <a:blip r:embed="rId5"/>
                <a:stretch>
                  <a:fillRect/>
                </a:stretch>
              </a:blipFill>
            </p:spPr>
            <p:txBody>
              <a:bodyPr/>
              <a:lstStyle/>
              <a:p>
                <a:endParaRPr lang="en-US"/>
              </a:p>
            </p:txBody>
          </p:sp>
        </mc:Fallback>
      </mc:AlternateContent>
      <p:sp>
        <p:nvSpPr>
          <p:cNvPr id="37" name="Rounded Rectangle 36"/>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8" name="Rounded Rectangle 37"/>
          <p:cNvSpPr/>
          <p:nvPr/>
        </p:nvSpPr>
        <p:spPr>
          <a:xfrm>
            <a:off x="9784080" y="6006338"/>
            <a:ext cx="239858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Convergence</a:t>
            </a:r>
          </a:p>
        </p:txBody>
      </p:sp>
      <p:sp>
        <p:nvSpPr>
          <p:cNvPr id="39" name="TextBox 38"/>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96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50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1.4×10</a:t>
            </a:r>
            <a:r>
              <a:rPr lang="en-US" sz="2000" b="true" baseline="30000">
                <a:solidFill>
                  <a:srgbClr val="FFFFFF"/>
                </a:solidFill>
                <a:latin typeface="Nunito Semi-Bold"/>
                <a:ea typeface="Nunito Semi-Bold"/>
                <a:cs typeface="Nunito Semi-Bold"/>
                <a:sym typeface="Nunito Semi-Bold"/>
              </a:rPr>
              <a:t>−5</a:t>
            </a:r>
            <a:r>
              <a:rPr lang="en-US" sz="2000" b="true">
                <a:solidFill>
                  <a:srgbClr val="FFFFFF"/>
                </a:solidFill>
                <a:latin typeface="Nunito Semi-Bold"/>
                <a:ea typeface="Nunito Semi-Bold"/>
                <a:cs typeface="Nunito Semi-Bold"/>
                <a:sym typeface="Nunito Semi-Bold"/>
              </a:rPr>
              <a:t>, ≈ 99 % accuracy.</a:t>
            </a:r>
          </a:p>
          <a:p>
            <a:pPr algn="l" marL="274320" indent="-274320">
              <a:lnSpc>
                <a:spcPts val="296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100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3.5×10</a:t>
            </a:r>
            <a:r>
              <a:rPr lang="en-US" sz="2000" b="true" baseline="30000">
                <a:solidFill>
                  <a:srgbClr val="FFFFFF"/>
                </a:solidFill>
                <a:latin typeface="Nunito Semi-Bold"/>
                <a:ea typeface="Nunito Semi-Bold"/>
                <a:cs typeface="Nunito Semi-Bold"/>
                <a:sym typeface="Nunito Semi-Bold"/>
              </a:rPr>
              <a:t>−6</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diminishing returns</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The overhead is the price of an in-training attribution signal: measurable, but modest.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Statistical Significance</a:t>
            </a:r>
          </a:p>
        </p:txBody>
      </p:sp>
      <p:pic>
        <p:nvPicPr>
          <p:cNvPr id="23" name="Picture 22" descr="image.png"/>
          <p:cNvPicPr>
            <a:picLocks noChangeAspect="1"/>
          </p:cNvPicPr>
          <p:nvPr/>
        </p:nvPicPr>
        <p:blipFill>
          <a:blip r:embed="rId3"/>
          <a:stretch>
            <a:fillRect/>
          </a:stretch>
        </p:blipFill>
        <p:spPr>
          <a:xfrm>
            <a:off x="7141903"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94560"/>
          </a:xfrm>
          <a:prstGeom prst="roundRect">
            <a:avLst>
              <a:gd name="adj" fmla="val 12500"/>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9" name="Equation"/>
              <p:cNvSpPr txBox="1"/>
              <p:nvPr/>
            </p:nvSpPr>
            <p:spPr>
              <a:xfrm>
                <a:off x="121158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ECC665"/>
                          </a:solidFill>
                          <a:latin typeface="Cambria Math" panose="02040503050406030204" pitchFamily="18" charset="0"/>
                        </a:rPr>
                        <m:t xml:space="preserve">t</m:t>
                      </m:r>
                      <m:r>
                        <m:rPr>
                          <m:sty m:val="p"/>
                        </m:rPr>
                        <a:rPr lang="en-US" sz="3800">
                          <a:solidFill>
                            <a:srgbClr val="ECC665"/>
                          </a:solidFill>
                          <a:latin typeface="Cambria Math" panose="02040503050406030204" pitchFamily="18" charset="0"/>
                        </a:rPr>
                        <m:t xml:space="preserve">=46.38</m:t>
                      </m:r>
                    </m:oMath>
                  </m:oMathPara>
                </a14:m>
                <a:endParaRPr lang="en-US" sz="3800"/>
              </a:p>
            </p:txBody>
          </p:sp>
        </mc:Choice>
        <mc:Fallback>
          <p:sp>
            <p:nvSpPr>
              <p:cNvPr id="29" name="Equation"/>
              <p:cNvSpPr txBox="1"/>
              <p:nvPr/>
            </p:nvSpPr>
            <p:spPr>
              <a:xfrm>
                <a:off x="1211580" y="3729482"/>
                <a:ext cx="4831080" cy="1051560"/>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130302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paired t-test vs HPCF · </a:t>
            </a:r>
            <a:r>
              <a:rPr lang="en-US" sz="1700" b="true">
                <a:solidFill>
                  <a:srgbClr val="FFFFFF"/>
                </a:solidFill>
                <a:latin typeface="Nunito Bold"/>
                <a:ea typeface="Nunito Bold"/>
                <a:cs typeface="Nunito Bold"/>
                <a:sym typeface="Nunito Bold"/>
              </a:rPr>
              <a:t>df = 6,039</a:t>
            </a:r>
          </a:p>
        </p:txBody>
      </p:sp>
      <p:sp>
        <p:nvSpPr>
          <p:cNvPr id="31" name="Rounded Rectangle 30"/>
          <p:cNvSpPr/>
          <p:nvPr/>
        </p:nvSpPr>
        <p:spPr>
          <a:xfrm>
            <a:off x="6545580" y="3455162"/>
            <a:ext cx="5196840" cy="2194560"/>
          </a:xfrm>
          <a:prstGeom prst="roundRect">
            <a:avLst>
              <a:gd name="adj" fmla="val 12500"/>
            </a:avLst>
          </a:prstGeom>
          <a:solidFill>
            <a:srgbClr val="1E5F58"/>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2" name="Equation"/>
              <p:cNvSpPr txBox="1"/>
              <p:nvPr/>
            </p:nvSpPr>
            <p:spPr>
              <a:xfrm>
                <a:off x="672846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3800" i="1">
                              <a:solidFill>
                                <a:srgbClr val="ECC665"/>
                              </a:solidFill>
                              <a:latin typeface="Cambria Math" panose="02040503050406030204" pitchFamily="18" charset="0"/>
                            </a:rPr>
                          </m:ctrlPr>
                        </m:sSubPr>
                        <m:e>
                          <m:r>
                            <a:rPr lang="en-US" sz="3800" i="1">
                              <a:solidFill>
                                <a:srgbClr val="ECC665"/>
                              </a:solidFill>
                              <a:latin typeface="Cambria Math" panose="02040503050406030204" pitchFamily="18" charset="0"/>
                            </a:rPr>
                            <m:t xml:space="preserve">d</m:t>
                          </m:r>
                        </m:e>
                        <m:sub>
                          <m:r>
                            <a:rPr lang="en-US" sz="3800" i="1">
                              <a:solidFill>
                                <a:srgbClr val="ECC665"/>
                              </a:solidFill>
                              <a:latin typeface="Cambria Math" panose="02040503050406030204" pitchFamily="18" charset="0"/>
                            </a:rPr>
                            <m:t xml:space="preserve">z</m:t>
                          </m:r>
                        </m:sub>
                      </m:sSub>
                      <m:r>
                        <m:rPr>
                          <m:sty m:val="p"/>
                        </m:rPr>
                        <a:rPr lang="en-US" sz="3800">
                          <a:solidFill>
                            <a:srgbClr val="ECC665"/>
                          </a:solidFill>
                          <a:latin typeface="Cambria Math" panose="02040503050406030204" pitchFamily="18" charset="0"/>
                        </a:rPr>
                        <m:t xml:space="preserve">=1.33</m:t>
                      </m:r>
                    </m:oMath>
                  </m:oMathPara>
                </a14:m>
                <a:endParaRPr lang="en-US" sz="3800"/>
              </a:p>
            </p:txBody>
          </p:sp>
        </mc:Choice>
        <mc:Fallback>
          <p:sp>
            <p:nvSpPr>
              <p:cNvPr id="32" name="Equation"/>
              <p:cNvSpPr txBox="1"/>
              <p:nvPr/>
            </p:nvSpPr>
            <p:spPr>
              <a:xfrm>
                <a:off x="6728460" y="3729482"/>
                <a:ext cx="4831080" cy="1051560"/>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681990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Bold"/>
                <a:ea typeface="Nunito Bold"/>
                <a:cs typeface="Nunito Bold"/>
                <a:sym typeface="Nunito Bold"/>
              </a:rPr>
              <a:t>Cohen's d</a:t>
            </a:r>
            <a:r>
              <a:rPr lang="en-US" sz="1700" b="true" baseline="-25000">
                <a:solidFill>
                  <a:srgbClr val="FFFFFF"/>
                </a:solidFill>
                <a:latin typeface="Nunito Bold"/>
                <a:ea typeface="Nunito Bold"/>
                <a:cs typeface="Nunito Bold"/>
                <a:sym typeface="Nunito Bold"/>
              </a:rPr>
              <a:t>z</a:t>
            </a:r>
            <a:r>
              <a:rPr lang="en-US" sz="1700" b="true">
                <a:solidFill>
                  <a:srgbClr val="FFFFFF"/>
                </a:solidFill>
                <a:latin typeface="Nunito Semi-Bold"/>
                <a:ea typeface="Nunito Semi-Bold"/>
                <a:cs typeface="Nunito Semi-Bold"/>
                <a:sym typeface="Nunito Semi-Bold"/>
              </a:rPr>
              <a:t> · a large effect size</a:t>
            </a:r>
          </a:p>
        </p:txBody>
      </p:sp>
      <p:sp>
        <p:nvSpPr>
          <p:cNvPr id="34" name="Rounded Rectangle 33"/>
          <p:cNvSpPr/>
          <p:nvPr/>
        </p:nvSpPr>
        <p:spPr>
          <a:xfrm>
            <a:off x="12062460" y="3455162"/>
            <a:ext cx="5196840" cy="2194560"/>
          </a:xfrm>
          <a:prstGeom prst="roundRect">
            <a:avLst>
              <a:gd name="adj" fmla="val 12500"/>
            </a:avLst>
          </a:prstGeom>
          <a:solidFill>
            <a:srgbClr val="DF8330"/>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5" name="Equation"/>
              <p:cNvSpPr txBox="1"/>
              <p:nvPr/>
            </p:nvSpPr>
            <p:spPr>
              <a:xfrm>
                <a:off x="1224534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FFFFFF"/>
                          </a:solidFill>
                          <a:latin typeface="Cambria Math" panose="02040503050406030204" pitchFamily="18" charset="0"/>
                        </a:rPr>
                        <m:t xml:space="preserve">p</m:t>
                      </m:r>
                      <m:r>
                        <m:rPr>
                          <m:sty m:val="p"/>
                        </m:rPr>
                        <a:rPr lang="en-US" sz="3800">
                          <a:solidFill>
                            <a:srgbClr val="FFFFFF"/>
                          </a:solidFill>
                          <a:latin typeface="Cambria Math" panose="02040503050406030204" pitchFamily="18" charset="0"/>
                        </a:rPr>
                        <m:t xml:space="preserve">=1.8×</m:t>
                      </m:r>
                      <m:sSup>
                        <m:sSupPr>
                          <m:ctrlPr>
                            <a:rPr lang="en-US" sz="3800" i="1">
                              <a:solidFill>
                                <a:srgbClr val="FFFFFF"/>
                              </a:solidFill>
                              <a:latin typeface="Cambria Math" panose="02040503050406030204" pitchFamily="18" charset="0"/>
                            </a:rPr>
                          </m:ctrlPr>
                        </m:sSupPr>
                        <m:e>
                          <m:r>
                            <m:rPr>
                              <m:sty m:val="p"/>
                            </m:rPr>
                            <a:rPr lang="en-US" sz="3800">
                              <a:solidFill>
                                <a:srgbClr val="FFFFFF"/>
                              </a:solidFill>
                              <a:latin typeface="Cambria Math" panose="02040503050406030204" pitchFamily="18" charset="0"/>
                            </a:rPr>
                            <m:t xml:space="preserve">10</m:t>
                          </m:r>
                        </m:e>
                        <m:sup>
                          <m:r>
                            <m:rPr>
                              <m:sty m:val="p"/>
                            </m:rPr>
                            <a:rPr lang="en-US" sz="3800">
                              <a:solidFill>
                                <a:srgbClr val="FFFFFF"/>
                              </a:solidFill>
                              <a:latin typeface="Cambria Math" panose="02040503050406030204" pitchFamily="18" charset="0"/>
                            </a:rPr>
                            <m:t xml:space="preserve">−270</m:t>
                          </m:r>
                        </m:sup>
                      </m:sSup>
                    </m:oMath>
                  </m:oMathPara>
                </a14:m>
                <a:endParaRPr lang="en-US" sz="3800"/>
              </a:p>
            </p:txBody>
          </p:sp>
        </mc:Choice>
        <mc:Fallback>
          <p:sp>
            <p:nvSpPr>
              <p:cNvPr id="35" name="Equation"/>
              <p:cNvSpPr txBox="1"/>
              <p:nvPr/>
            </p:nvSpPr>
            <p:spPr>
              <a:xfrm>
                <a:off x="12245340" y="3729482"/>
                <a:ext cx="4831080" cy="1051560"/>
              </a:xfrm>
              <a:prstGeom prst="rect">
                <a:avLst/>
              </a:prstGeom>
              <a:blipFill>
                <a:blip r:embed="rId7"/>
                <a:stretch>
                  <a:fillRect/>
                </a:stretch>
              </a:blipFill>
            </p:spPr>
            <p:txBody>
              <a:bodyPr/>
              <a:lstStyle/>
              <a:p>
                <a:endParaRPr lang="en-US"/>
              </a:p>
            </p:txBody>
          </p:sp>
        </mc:Fallback>
      </mc:AlternateContent>
      <p:sp>
        <p:nvSpPr>
          <p:cNvPr id="36" name="TextBox 35"/>
          <p:cNvSpPr txBox="1"/>
          <p:nvPr/>
        </p:nvSpPr>
        <p:spPr>
          <a:xfrm>
            <a:off x="1233678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after </a:t>
            </a:r>
            <a:r>
              <a:rPr lang="en-US" sz="1700" b="true">
                <a:solidFill>
                  <a:srgbClr val="FFFFFF"/>
                </a:solidFill>
                <a:latin typeface="Nunito Bold"/>
                <a:ea typeface="Nunito Bold"/>
                <a:cs typeface="Nunito Bold"/>
                <a:sym typeface="Nunito Bold"/>
              </a:rPr>
              <a:t>Holm–Bonferroni</a:t>
            </a:r>
            <a:r>
              <a:rPr lang="en-US" sz="1700" b="true">
                <a:solidFill>
                  <a:srgbClr val="FFFFFF"/>
                </a:solidFill>
                <a:latin typeface="Nunito Semi-Bold"/>
                <a:ea typeface="Nunito Semi-Bold"/>
                <a:cs typeface="Nunito Semi-Bold"/>
                <a:sym typeface="Nunito Semi-Bold"/>
              </a:rPr>
              <a:t> correction</a:t>
            </a:r>
          </a:p>
        </p:txBody>
      </p:sp>
      <p:sp>
        <p:nvSpPr>
          <p:cNvPr id="37" name="TextBox 36"/>
          <p:cNvSpPr txBox="1"/>
          <p:nvPr/>
        </p:nvSpPr>
        <p:spPr>
          <a:xfrm>
            <a:off x="1028700" y="569544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7.6 (thesis): paired tests on per-user NDCG@20, DyHuCoG vs HPCF (all six comparisons in the backup slides).</a:t>
            </a:r>
          </a:p>
        </p:txBody>
      </p:sp>
      <p:sp>
        <p:nvSpPr>
          <p:cNvPr id="38" name="Rounded Rectangle 37"/>
          <p:cNvSpPr/>
          <p:nvPr/>
        </p:nvSpPr>
        <p:spPr>
          <a:xfrm>
            <a:off x="1028700" y="6335522"/>
            <a:ext cx="16230600" cy="2973070"/>
          </a:xfrm>
          <a:prstGeom prst="roundRect">
            <a:avLst>
              <a:gd name="adj" fmla="val 10457"/>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1485900" y="6097778"/>
            <a:ext cx="179424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Protocol</a:t>
            </a:r>
          </a:p>
        </p:txBody>
      </p:sp>
      <p:sp>
        <p:nvSpPr>
          <p:cNvPr id="40" name="TextBox 39"/>
          <p:cNvSpPr txBox="1"/>
          <p:nvPr/>
        </p:nvSpPr>
        <p:spPr>
          <a:xfrm>
            <a:off x="1531620" y="6975602"/>
            <a:ext cx="15270480" cy="20586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Paired t-tests on </a:t>
            </a:r>
            <a:r>
              <a:rPr lang="en-US" sz="2100" b="true">
                <a:solidFill>
                  <a:srgbClr val="111111"/>
                </a:solidFill>
                <a:latin typeface="Nunito Bold"/>
                <a:ea typeface="Nunito Bold"/>
                <a:cs typeface="Nunito Bold"/>
                <a:sym typeface="Nunito Bold"/>
              </a:rPr>
              <a:t>per-user NDCG@20</a:t>
            </a:r>
            <a:r>
              <a:rPr lang="en-US" sz="2100" b="true">
                <a:solidFill>
                  <a:srgbClr val="111111"/>
                </a:solidFill>
                <a:latin typeface="Nunito Semi-Bold"/>
                <a:ea typeface="Nunito Semi-Bold"/>
                <a:cs typeface="Nunito Semi-Bold"/>
                <a:sym typeface="Nunito Semi-Bold"/>
              </a:rPr>
              <a:t> (n = 6,040 users, MovieLens-1M).</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DyHuCoG beats </a:t>
            </a:r>
            <a:r>
              <a:rPr lang="en-US" sz="2100" b="true">
                <a:solidFill>
                  <a:srgbClr val="111111"/>
                </a:solidFill>
                <a:latin typeface="Nunito Bold"/>
                <a:ea typeface="Nunito Bold"/>
                <a:cs typeface="Nunito Bold"/>
                <a:sym typeface="Nunito Bold"/>
              </a:rPr>
              <a:t>every baseline</a:t>
            </a:r>
            <a:r>
              <a:rPr lang="en-US" sz="2100" b="true">
                <a:solidFill>
                  <a:srgbClr val="111111"/>
                </a:solidFill>
                <a:latin typeface="Nunito Semi-Bold"/>
                <a:ea typeface="Nunito Semi-Bold"/>
                <a:cs typeface="Nunito Semi-Bold"/>
                <a:sym typeface="Nunito Semi-Bold"/>
              </a:rPr>
              <a:t> with very small p-values after Holm–Bonferroni correction.</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Wilcoxon signed-rank test</a:t>
            </a:r>
            <a:r>
              <a:rPr lang="en-US" sz="2100" b="true">
                <a:solidFill>
                  <a:srgbClr val="111111"/>
                </a:solidFill>
                <a:latin typeface="Nunito Semi-Bold"/>
                <a:ea typeface="Nunito Semi-Bold"/>
                <a:cs typeface="Nunito Semi-Bold"/>
                <a:sym typeface="Nunito Semi-Bold"/>
              </a:rPr>
              <a:t> also significant (p &lt; 0.001): the result does not depend on normality.</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Effect sizes are large</a:t>
            </a:r>
            <a:r>
              <a:rPr lang="en-US" sz="2100" b="true">
                <a:solidFill>
                  <a:srgbClr val="111111"/>
                </a:solidFill>
                <a:latin typeface="Nunito Semi-Bold"/>
                <a:ea typeface="Nunito Semi-Bold"/>
                <a:cs typeface="Nunito Semi-Bold"/>
                <a:sym typeface="Nunito Semi-Bold"/>
              </a:rPr>
              <a:t>: the improvements really matter, they are not only statistically visible.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to RQ3 and RQ4</a:t>
            </a:r>
          </a:p>
        </p:txBody>
      </p:sp>
      <p:pic>
        <p:nvPicPr>
          <p:cNvPr id="23" name="Picture 22" descr="image.png"/>
          <p:cNvPicPr>
            <a:picLocks noChangeAspect="1"/>
          </p:cNvPicPr>
          <p:nvPr/>
        </p:nvPicPr>
        <p:blipFill>
          <a:blip r:embed="rId3"/>
          <a:stretch>
            <a:fillRect/>
          </a:stretch>
        </p:blipFill>
        <p:spPr>
          <a:xfrm>
            <a:off x="7806261"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RQ3</a:t>
            </a:r>
          </a:p>
        </p:txBody>
      </p:sp>
      <p:sp>
        <p:nvSpPr>
          <p:cNvPr id="30" name="TextBox 29"/>
          <p:cNvSpPr txBox="1"/>
          <p:nvPr/>
        </p:nvSpPr>
        <p:spPr>
          <a:xfrm>
            <a:off x="139446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Attribution becomes an </a:t>
            </a:r>
            <a:r>
              <a:rPr lang="en-US" sz="1900" b="true">
                <a:solidFill>
                  <a:srgbClr val="111111"/>
                </a:solidFill>
                <a:latin typeface="Nunito Bold"/>
                <a:ea typeface="Nunito Bold"/>
                <a:cs typeface="Nunito Bold"/>
                <a:sym typeface="Nunito Bold"/>
              </a:rPr>
              <a:t>in-training signal</a:t>
            </a:r>
            <a:r>
              <a:rPr lang="en-US" sz="1900" b="true">
                <a:solidFill>
                  <a:srgbClr val="111111"/>
                </a:solidFill>
                <a:latin typeface="Nunito Semi-Bold"/>
                <a:ea typeface="Nunito Semi-Bold"/>
                <a:cs typeface="Nunito Semi-Bold"/>
                <a:sym typeface="Nunito Semi-Bold"/>
              </a:rPr>
              <a:t>: Shapley estimates set the hyperedge weights while the model learns, instead of describing it afterwards.</a:t>
            </a:r>
          </a:p>
        </p:txBody>
      </p:sp>
      <p:sp>
        <p:nvSpPr>
          <p:cNvPr id="31" name="Rounded Rectangle 30"/>
          <p:cNvSpPr/>
          <p:nvPr/>
        </p:nvSpPr>
        <p:spPr>
          <a:xfrm>
            <a:off x="932688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RQ4</a:t>
            </a:r>
          </a:p>
        </p:txBody>
      </p:sp>
      <p:sp>
        <p:nvSpPr>
          <p:cNvPr id="33" name="TextBox 32"/>
          <p:cNvSpPr txBox="1"/>
          <p:nvPr/>
        </p:nvSpPr>
        <p:spPr>
          <a:xfrm>
            <a:off x="969264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Ranking, coverage and diversity </a:t>
            </a:r>
            <a:r>
              <a:rPr lang="en-US" sz="1900" b="true">
                <a:solidFill>
                  <a:srgbClr val="111111"/>
                </a:solidFill>
                <a:latin typeface="Nunito Bold"/>
                <a:ea typeface="Nunito Bold"/>
                <a:cs typeface="Nunito Bold"/>
                <a:sym typeface="Nunito Bold"/>
              </a:rPr>
              <a:t>improve together</a:t>
            </a:r>
            <a:r>
              <a:rPr lang="en-US" sz="1900" b="true">
                <a:solidFill>
                  <a:srgbClr val="111111"/>
                </a:solidFill>
                <a:latin typeface="Nunito Semi-Bold"/>
                <a:ea typeface="Nunito Semi-Bold"/>
                <a:cs typeface="Nunito Semi-Bold"/>
                <a:sym typeface="Nunito Semi-Bold"/>
              </a:rPr>
              <a:t> on both datasets, with the largest gains where data are sparsest.</a:t>
            </a:r>
          </a:p>
        </p:txBody>
      </p:sp>
      <p:graphicFrame>
        <p:nvGraphicFramePr>
          <p:cNvPr id="34" name="Table 33"/>
          <p:cNvGraphicFramePr>
            <a:graphicFrameLocks noGrp="1"/>
          </p:cNvGraphicFramePr>
          <p:nvPr/>
        </p:nvGraphicFramePr>
        <p:xfrm>
          <a:off x="1028700" y="5558282"/>
          <a:ext cx="16230599" cy="3061716"/>
        </p:xfrm>
        <a:graphic>
          <a:graphicData uri="http://schemas.openxmlformats.org/drawingml/2006/table">
            <a:tbl>
              <a:tblPr firstRow="0" bandRow="0" firstCol="0" lastRow="0" lastCol="0" bandCol="0">
                <a:tableStyleId>{2D5ABB26-0587-4C30-8999-92F81FD0307C}</a:tableStyleId>
              </a:tblPr>
              <a:tblGrid>
                <a:gridCol w="5826369"/>
                <a:gridCol w="1352550"/>
                <a:gridCol w="9051680"/>
              </a:tblGrid>
              <a:tr h="73152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O1  ·  Recommendation as a cooperative game over users, items and contexts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Player set U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I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C; coalition utility </a:t>
                      </a:r>
                      <a:r>
                        <a:rPr lang="en-US" sz="1700" b="true">
                          <a:solidFill>
                            <a:srgbClr val="111111"/>
                          </a:solidFill>
                          <a:latin typeface="Calibri"/>
                          <a:ea typeface="Calibri"/>
                          <a:cs typeface="Calibri"/>
                          <a:sym typeface="Calibri"/>
                        </a:rPr>
                        <a:t>α</a:t>
                      </a:r>
                      <a:r>
                        <a:rPr lang="en-US" sz="1700" b="true">
                          <a:solidFill>
                            <a:srgbClr val="111111"/>
                          </a:solidFill>
                          <a:latin typeface="Nunito Semi-Bold"/>
                          <a:ea typeface="Nunito Semi-Bold"/>
                          <a:cs typeface="Nunito Semi-Bold"/>
                          <a:sym typeface="Nunito Semi-Bold"/>
                        </a:rPr>
                        <a:t>·accuracy + </a:t>
                      </a:r>
                      <a:r>
                        <a:rPr lang="en-US" sz="1700" b="true">
                          <a:solidFill>
                            <a:srgbClr val="111111"/>
                          </a:solidFill>
                          <a:latin typeface="Calibri"/>
                          <a:ea typeface="Calibri"/>
                          <a:cs typeface="Calibri"/>
                          <a:sym typeface="Calibri"/>
                        </a:rPr>
                        <a:t>β</a:t>
                      </a:r>
                      <a:r>
                        <a:rPr lang="en-US" sz="1700" b="true">
                          <a:solidFill>
                            <a:srgbClr val="111111"/>
                          </a:solidFill>
                          <a:latin typeface="Nunito Semi-Bold"/>
                          <a:ea typeface="Nunito Semi-Bold"/>
                          <a:cs typeface="Nunito Semi-Bold"/>
                          <a:sym typeface="Nunito Semi-Bold"/>
                        </a:rPr>
                        <a:t>·diversity + </a:t>
                      </a:r>
                      <a:r>
                        <a:rPr lang="en-US" sz="1700" b="true">
                          <a:solidFill>
                            <a:srgbClr val="111111"/>
                          </a:solidFill>
                          <a:latin typeface="Calibri"/>
                          <a:ea typeface="Calibri"/>
                          <a:cs typeface="Calibri"/>
                          <a:sym typeface="Calibri"/>
                        </a:rPr>
                        <a:t>γ</a:t>
                      </a:r>
                      <a:r>
                        <a:rPr lang="en-US" sz="1700" b="true">
                          <a:solidFill>
                            <a:srgbClr val="111111"/>
                          </a:solidFill>
                          <a:latin typeface="Nunito Semi-Bold"/>
                          <a:ea typeface="Nunito Semi-Bold"/>
                          <a:cs typeface="Nunito Semi-Bold"/>
                          <a:sym typeface="Nunito Semi-Bold"/>
                        </a:rPr>
                        <a:t>·novelty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O2  ·  Preference-aware Monte Carlo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 = 50 permutations, ≈ 99 % accuracy, refreshed every 10 batches; ablation −4.6 % / −6.1 % without 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O3  ·  Ranking,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+9.8 % / +13.3 % NDCG@20, +16.1 % / +29.7 % Coverage, +11.9 % / +12.5 % ILD over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accuracy / diversity / context trade-off is not fixed by nature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When importance comes from a cooperative-game utility, NDCG, Recall, Coverage and ILD all move up together.</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Gains are largest where data are weakest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+13.3 % NDCG@20 on Amazon-Book vs +9.8 % on MovieLens-1M; +10.9 % / +9.6 % for cold users and cold items.</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Context and structure carry the most weight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Removing context (−8.2 % / −11.0 %) or the hypergraph (−6.8 % / −8.9 %) hurts most; Shapley weighting adds a further 4.6 % / 6.1 %.</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improvement is statistically solid and affordable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 = 46.38, d</a:t>
            </a:r>
            <a:r>
              <a:rPr lang="en-US" sz="1900" b="true" baseline="-25000">
                <a:solidFill>
                  <a:srgbClr val="111111"/>
                </a:solidFill>
                <a:latin typeface="Nunito Semi-Bold"/>
                <a:ea typeface="Nunito Semi-Bold"/>
                <a:cs typeface="Nunito Semi-Bold"/>
                <a:sym typeface="Nunito Semi-Bold"/>
              </a:rPr>
              <a:t>z</a:t>
            </a:r>
            <a:r>
              <a:rPr lang="en-US" sz="1900" b="true">
                <a:solidFill>
                  <a:srgbClr val="111111"/>
                </a:solidFill>
                <a:latin typeface="Nunito Semi-Bold"/>
                <a:ea typeface="Nunito Semi-Bold"/>
                <a:cs typeface="Nunito Semi-Bold"/>
                <a:sym typeface="Nunito Semi-Bold"/>
              </a:rPr>
              <a:t> = 1.33, p &lt; 10</a:t>
            </a:r>
            <a:r>
              <a:rPr lang="en-US" sz="1900" b="true" baseline="30000">
                <a:solidFill>
                  <a:srgbClr val="111111"/>
                </a:solidFill>
                <a:latin typeface="Nunito Semi-Bold"/>
                <a:ea typeface="Nunito Semi-Bold"/>
                <a:cs typeface="Nunito Semi-Bold"/>
                <a:sym typeface="Nunito Semi-Bold"/>
              </a:rPr>
              <a:t>−200</a:t>
            </a:r>
            <a:r>
              <a:rPr lang="en-US" sz="1900" b="true">
                <a:solidFill>
                  <a:srgbClr val="111111"/>
                </a:solidFill>
                <a:latin typeface="Nunito Semi-Bold"/>
                <a:ea typeface="Nunito Semi-Bold"/>
                <a:cs typeface="Nunito Semi-Bold"/>
                <a:sym typeface="Nunito Semi-Bold"/>
              </a:rPr>
              <a:t> vs HPCF; training ≈ 1.78× HPCF, inference 1.84 ms per query.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COMPUTE OVERHEAD</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Roughly </a:t>
            </a:r>
            <a:r>
              <a:rPr lang="en-US" sz="1900" b="true">
                <a:solidFill>
                  <a:srgbClr val="FFFFFF"/>
                </a:solidFill>
                <a:latin typeface="Nunito Bold"/>
                <a:ea typeface="Nunito Bold"/>
                <a:cs typeface="Nunito Bold"/>
                <a:sym typeface="Nunito Bold"/>
              </a:rPr>
              <a:t>1.78× the training time</a:t>
            </a:r>
            <a:r>
              <a:rPr lang="en-US" sz="1900" b="true">
                <a:solidFill>
                  <a:srgbClr val="FFFFFF"/>
                </a:solidFill>
                <a:latin typeface="Nunito Semi-Bold"/>
                <a:ea typeface="Nunito Semi-Bold"/>
                <a:cs typeface="Nunito Semi-Bold"/>
                <a:sym typeface="Nunito Semi-Bold"/>
              </a:rPr>
              <a:t> of HPCF on MovieLens-1M (≈ 3.4× MF); acceptable, but not free.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NEEDS MEANINGFUL CONTEXT</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largest single component is </a:t>
            </a:r>
            <a:r>
              <a:rPr lang="en-US" sz="1900" b="true">
                <a:solidFill>
                  <a:srgbClr val="FFFFFF"/>
                </a:solidFill>
                <a:latin typeface="Nunito Bold"/>
                <a:ea typeface="Nunito Bold"/>
                <a:cs typeface="Nunito Bold"/>
                <a:sym typeface="Nunito Bold"/>
              </a:rPr>
              <a:t>context</a:t>
            </a:r>
            <a:r>
              <a:rPr lang="en-US" sz="1900" b="true">
                <a:solidFill>
                  <a:srgbClr val="FFFFFF"/>
                </a:solidFill>
                <a:latin typeface="Nunito Semi-Bold"/>
                <a:ea typeface="Nunito Semi-Bold"/>
                <a:cs typeface="Nunito Semi-Bold"/>
                <a:sym typeface="Nunito Semi-Bold"/>
              </a:rPr>
              <a:t>; on data without usable context the gain shrinks.</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MONTE CARLO VARIANCE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M = 50 gives ≈ 99 % accuracy; </a:t>
            </a:r>
            <a:r>
              <a:rPr lang="en-US" sz="1900" b="true">
                <a:solidFill>
                  <a:srgbClr val="FFFFFF"/>
                </a:solidFill>
                <a:latin typeface="Nunito Bold"/>
                <a:ea typeface="Nunito Bold"/>
                <a:cs typeface="Nunito Bold"/>
                <a:sym typeface="Nunito Bold"/>
              </a:rPr>
              <a:t>variance reduction</a:t>
            </a:r>
            <a:r>
              <a:rPr lang="en-US" sz="1900" b="true">
                <a:solidFill>
                  <a:srgbClr val="FFFFFF"/>
                </a:solidFill>
                <a:latin typeface="Nunito Semi-Bold"/>
                <a:ea typeface="Nunito Semi-Bold"/>
                <a:cs typeface="Nunito Semi-Bold"/>
                <a:sym typeface="Nunito Semi-Bold"/>
              </a:rPr>
              <a:t> could cut the refresh cost further.</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SCOPE OF THE CLAIM</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Component-wise ablation only; baselines fixed in early 2026, so superiority is claimed </a:t>
            </a:r>
            <a:r>
              <a:rPr lang="en-US" sz="1900" b="true">
                <a:solidFill>
                  <a:srgbClr val="FFFFFF"/>
                </a:solidFill>
                <a:latin typeface="Nunito Bold"/>
                <a:ea typeface="Nunito Bold"/>
                <a:cs typeface="Nunito Bold"/>
                <a:sym typeface="Nunito Bold"/>
              </a:rPr>
              <a:t>only against the tested baselines</a:t>
            </a:r>
            <a:r>
              <a:rPr lang="en-US" sz="1900" b="true">
                <a:solidFill>
                  <a:srgbClr val="FFFFFF"/>
                </a:solidFill>
                <a:latin typeface="Nunito Semi-Bold"/>
                <a:ea typeface="Nunito Semi-Bold"/>
                <a:cs typeface="Nunito Semi-Bold"/>
                <a:sym typeface="Nunito Semi-Bold"/>
              </a:rPr>
              <a:t>.</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None of these change the main message: attribution can </a:t>
            </a:r>
            <a:r>
              <a:rPr lang="en-US" sz="2000" b="true">
                <a:solidFill>
                  <a:srgbClr val="111111"/>
                </a:solidFill>
                <a:latin typeface="Nunito Bold"/>
                <a:ea typeface="Nunito Bold"/>
                <a:cs typeface="Nunito Bold"/>
                <a:sym typeface="Nunito Bold"/>
              </a:rPr>
              <a:t>guide learning</a:t>
            </a:r>
            <a:r>
              <a:rPr lang="en-US" sz="2000" b="true">
                <a:solidFill>
                  <a:srgbClr val="111111"/>
                </a:solidFill>
                <a:latin typeface="Nunito Semi-Bold"/>
                <a:ea typeface="Nunito Semi-Bold"/>
                <a:cs typeface="Nunito Semi-Bold"/>
                <a:sym typeface="Nunito Semi-Bold"/>
              </a:rPr>
              <a:t>, not only describe it.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III</a:t>
            </a:r>
          </a:p>
        </p:txBody>
      </p:sp>
      <p:pic>
        <p:nvPicPr>
          <p:cNvPr id="23" name="Picture 22" descr="image.png"/>
          <p:cNvPicPr>
            <a:picLocks noChangeAspect="1"/>
          </p:cNvPicPr>
          <p:nvPr/>
        </p:nvPicPr>
        <p:blipFill>
          <a:blip r:embed="rId3"/>
          <a:stretch>
            <a:fillRect/>
          </a:stretch>
        </p:blipFill>
        <p:spPr>
          <a:xfrm>
            <a:off x="8179226"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First-class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Shapley estimates shape the hyperedge weights during training.</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Read-out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waterfall shows the same terms the loss optimises: ranking, diversity, context, preference.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Axiomatic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Built on the four Shapley axioms, in line with trustworthy-AI expectations.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7127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Attribution becomes a </a:t>
            </a:r>
            <a:r>
              <a:rPr lang="en-US" sz="2300" b="true">
                <a:solidFill>
                  <a:srgbClr val="111111"/>
                </a:solidFill>
                <a:latin typeface="Nunito Bold"/>
                <a:ea typeface="Nunito Bold"/>
                <a:cs typeface="Nunito Bold"/>
                <a:sym typeface="Nunito Bold"/>
              </a:rPr>
              <a:t>first-class part of the learning objective</a:t>
            </a:r>
            <a:r>
              <a:rPr lang="en-US" sz="2300" b="true">
                <a:solidFill>
                  <a:srgbClr val="111111"/>
                </a:solidFill>
                <a:latin typeface="Nunito Semi-Bold"/>
                <a:ea typeface="Nunito Semi-Bold"/>
                <a:cs typeface="Nunito Semi-Bold"/>
                <a:sym typeface="Nunito Semi-Bold"/>
              </a:rPr>
              <a:t>: the explanation is a direct read-out of what the model optimises, so it is </a:t>
            </a:r>
            <a:r>
              <a:rPr lang="en-US" sz="2300" b="true">
                <a:solidFill>
                  <a:srgbClr val="111111"/>
                </a:solidFill>
                <a:latin typeface="Nunito Bold"/>
                <a:ea typeface="Nunito Bold"/>
                <a:cs typeface="Nunito Bold"/>
                <a:sym typeface="Nunito Bold"/>
              </a:rPr>
              <a:t>faithful by design</a:t>
            </a:r>
            <a:r>
              <a:rPr lang="en-US" sz="2300" b="true">
                <a:solidFill>
                  <a:srgbClr val="111111"/>
                </a:solidFill>
                <a:latin typeface="Nunito Semi-Bold"/>
                <a:ea typeface="Nunito Semi-Bold"/>
                <a:cs typeface="Nunito Semi-Bold"/>
                <a:sym typeface="Nunito Semi-Bold"/>
              </a:rPr>
              <a:t>, not an outside approximation.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Semi-Bold"/>
                <a:ea typeface="Nunito Semi-Bold"/>
                <a:cs typeface="Nunito Semi-Bold"/>
                <a:sym typeface="Nunito Semi-Bold"/>
              </a:rPr>
              <a:t>From </a:t>
            </a:r>
            <a:r>
              <a:rPr lang="en-US" sz="2000" b="true">
                <a:solidFill>
                  <a:srgbClr val="FFFFFF"/>
                </a:solidFill>
                <a:latin typeface="Nunito Bold"/>
                <a:ea typeface="Nunito Bold"/>
                <a:cs typeface="Nunito Bold"/>
                <a:sym typeface="Nunito Bold"/>
              </a:rPr>
              <a:t>post-hoc description</a:t>
            </a:r>
            <a:r>
              <a:rPr lang="en-US" sz="2000" b="true">
                <a:solidFill>
                  <a:srgbClr val="FFFFFF"/>
                </a:solidFill>
                <a:latin typeface="Nunito Semi-Bold"/>
                <a:ea typeface="Nunito Semi-Bold"/>
                <a:cs typeface="Nunito Semi-Bold"/>
                <a:sym typeface="Nunito Semi-Bold"/>
              </a:rPr>
              <a:t> (C1, C2) to </a:t>
            </a:r>
            <a:r>
              <a:rPr lang="en-US" sz="2000" b="true">
                <a:solidFill>
                  <a:srgbClr val="FFFFFF"/>
                </a:solidFill>
                <a:latin typeface="Nunito Bold"/>
                <a:ea typeface="Nunito Bold"/>
                <a:cs typeface="Nunito Bold"/>
                <a:sym typeface="Nunito Bold"/>
              </a:rPr>
              <a:t>in-training guidance</a:t>
            </a:r>
            <a:r>
              <a:rPr lang="en-US" sz="2000" b="true">
                <a:solidFill>
                  <a:srgbClr val="FFFFFF"/>
                </a:solidFill>
                <a:latin typeface="Nunito Semi-Bold"/>
                <a:ea typeface="Nunito Semi-Bold"/>
                <a:cs typeface="Nunito Semi-Bold"/>
                <a:sym typeface="Nunito Semi-Bold"/>
              </a:rPr>
              <a:t> (C3): the strongest claim of the thesis.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67</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Conclusion</a:t>
            </a:r>
          </a:p>
        </p:txBody>
      </p:sp>
      <p:sp>
        <p:nvSpPr>
          <p:cNvPr id="8" name="Oval 7"/>
          <p:cNvSpPr/>
          <p:nvPr/>
        </p:nvSpPr>
        <p:spPr>
          <a:xfrm>
            <a:off x="10873987"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0873987"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07</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Synthesis, publications, limitations and perspectives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Synthesis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contributions, one cooperative-game thread: faithful explanation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consistency across levels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in-training attribution.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Limitations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Approximation everywhere; surrogate fidelity; tabular and offline settings; no user study of actionability yet.</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Perspectives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Scalable attribution, online / streaming recommendation, user-centred and trustworthy-AI evaluation.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   [2] Louhichi, M., Nesmaoui, R. &amp; Lazaar, M. Game Theory Meets Explainable AI: An Enhanced Approach to Understanding Black Box Models Through Shapley Values. IJACSA 16(7), 716–725 (2025).   [3]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Synthesis of the Three Contributions</a:t>
            </a:r>
          </a:p>
        </p:txBody>
      </p:sp>
      <p:pic>
        <p:nvPicPr>
          <p:cNvPr id="23" name="Picture 22" descr="image.png"/>
          <p:cNvPicPr>
            <a:picLocks noChangeAspect="1"/>
          </p:cNvPicPr>
          <p:nvPr/>
        </p:nvPicPr>
        <p:blipFill>
          <a:blip r:embed="rId3"/>
          <a:stretch>
            <a:fillRect/>
          </a:stretch>
        </p:blipFill>
        <p:spPr>
          <a:xfrm>
            <a:off x="10723663"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8" cy="2584704"/>
        </p:xfrm>
        <a:graphic>
          <a:graphicData uri="http://schemas.openxmlformats.org/drawingml/2006/table">
            <a:tbl>
              <a:tblPr firstRow="0" bandRow="0" firstCol="0" lastRow="0" lastCol="0" bandCol="0">
                <a:tableStyleId>{2D5ABB26-0587-4C30-8999-92F81FD0307C}</a:tableStyleId>
              </a:tblPr>
              <a:tblGrid>
                <a:gridCol w="1159328"/>
                <a:gridCol w="4379685"/>
                <a:gridCol w="4637314"/>
                <a:gridCol w="6054271"/>
              </a:tblGrid>
              <a:tr h="566928">
                <a:tc>
                  <a:txBody>
                    <a:bodyPr anchor="ctr" rtlCol="false" lIns="0" tIns="0" rIns="0" bIns="0" wrap="square"/>
                    <a:lstStyle/>
                    <a:p>
                      <a:pPr algn="ctr">
                        <a:lnSpc>
                          <a:spcPts val="2080"/>
                        </a:lnSpc>
                        <a:spcBef>
                          <a:spcPts val="0"/>
                        </a:spcBef>
                        <a:buNone/>
                      </a:pPr>
                      <a:endParaRPr lang="en-US" sz="2200"/>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Main idea</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Achievement</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Key finding</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Explain black-box clustering via Shapley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PCA–K-Means–LightGBM–TreeSHAP pipeline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Faithful, chemistry-consistent cluster attribution (wine)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C2</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Multi-level, large-scale clustering XAI</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Cross-level SHAP aggregation + Proposition 6.1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Consistent across levels; explains the differences between them</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DyHuCoG hypergraph cooperative game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Preference-aware Shapley as an in-training signal</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Accuracy + coverage + diversity improve together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0" name="Rounded Rectangle 29"/>
          <p:cNvSpPr/>
          <p:nvPr/>
        </p:nvSpPr>
        <p:spPr>
          <a:xfrm>
            <a:off x="1028700" y="6314186"/>
            <a:ext cx="4023360" cy="822960"/>
          </a:xfrm>
          <a:prstGeom prst="roundRect">
            <a:avLst>
              <a:gd name="adj" fmla="val 27777"/>
            </a:avLst>
          </a:prstGeom>
          <a:solidFill>
            <a:srgbClr val="124944"/>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Explain</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single level</a:t>
            </a:r>
          </a:p>
        </p:txBody>
      </p:sp>
      <p:cxnSp>
        <p:nvCxnSpPr>
          <p:cNvPr id="31" name="Connector 30"/>
          <p:cNvCxnSpPr/>
          <p:nvPr/>
        </p:nvCxnSpPr>
        <p:spPr>
          <a:xfrm>
            <a:off x="5143500" y="6725666"/>
            <a:ext cx="1897380" cy="0"/>
          </a:xfrm>
          <a:prstGeom prst="line">
            <a:avLst/>
          </a:prstGeom>
          <a:ln w="38100">
            <a:solidFill>
              <a:srgbClr val="124944"/>
            </a:solidFill>
            <a:tailEnd type="triangle" w="med" len="med"/>
          </a:ln>
        </p:spPr>
      </p:cxnSp>
      <p:sp>
        <p:nvSpPr>
          <p:cNvPr id="32" name="Rounded Rectangle 31"/>
          <p:cNvSpPr/>
          <p:nvPr/>
        </p:nvSpPr>
        <p:spPr>
          <a:xfrm>
            <a:off x="7132320" y="6314186"/>
            <a:ext cx="4023360" cy="822960"/>
          </a:xfrm>
          <a:prstGeom prst="roundRect">
            <a:avLst>
              <a:gd name="adj" fmla="val 27777"/>
            </a:avLst>
          </a:prstGeom>
          <a:solidFill>
            <a:srgbClr val="1E5F58"/>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Scale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hierarchical</a:t>
            </a:r>
          </a:p>
        </p:txBody>
      </p:sp>
      <p:cxnSp>
        <p:nvCxnSpPr>
          <p:cNvPr id="33" name="Connector 32"/>
          <p:cNvCxnSpPr/>
          <p:nvPr/>
        </p:nvCxnSpPr>
        <p:spPr>
          <a:xfrm>
            <a:off x="11247120" y="6725666"/>
            <a:ext cx="1897380" cy="0"/>
          </a:xfrm>
          <a:prstGeom prst="line">
            <a:avLst/>
          </a:prstGeom>
          <a:ln w="38100">
            <a:solidFill>
              <a:srgbClr val="124944"/>
            </a:solidFill>
            <a:tailEnd type="triangle" w="med" len="med"/>
          </a:ln>
        </p:spPr>
      </p:cxnSp>
      <p:sp>
        <p:nvSpPr>
          <p:cNvPr id="34" name="Rounded Rectangle 33"/>
          <p:cNvSpPr/>
          <p:nvPr/>
        </p:nvSpPr>
        <p:spPr>
          <a:xfrm>
            <a:off x="13235940" y="6314186"/>
            <a:ext cx="4023360" cy="822960"/>
          </a:xfrm>
          <a:prstGeom prst="roundRect">
            <a:avLst>
              <a:gd name="adj" fmla="val 27777"/>
            </a:avLst>
          </a:prstGeom>
          <a:solidFill>
            <a:srgbClr val="DF8330"/>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Guide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in-training signal</a:t>
            </a:r>
          </a:p>
        </p:txBody>
      </p:sp>
      <p:sp>
        <p:nvSpPr>
          <p:cNvPr id="35" name="Rounded Rectangle 34"/>
          <p:cNvSpPr/>
          <p:nvPr/>
        </p:nvSpPr>
        <p:spPr>
          <a:xfrm>
            <a:off x="1028700" y="7640066"/>
            <a:ext cx="16230600" cy="1577086"/>
          </a:xfrm>
          <a:prstGeom prst="roundRect">
            <a:avLst>
              <a:gd name="adj" fmla="val 12755"/>
            </a:avLst>
          </a:prstGeom>
          <a:solidFill>
            <a:srgbClr val="F6ECDF"/>
          </a:solidFill>
          <a:ln w="25400">
            <a:solidFill>
              <a:srgbClr val="DF8330"/>
            </a:solidFill>
          </a:ln>
        </p:spPr>
        <p:txBody>
          <a:bodyPr anchor="ctr" rtlCol="false" lIns="0" tIns="0" rIns="0" bIns="0" wrap="square"/>
          <a:lstStyle/>
          <a:p>
            <a:endParaRPr lang="en-US" sz="1800"/>
          </a:p>
        </p:txBody>
      </p:sp>
      <p:sp>
        <p:nvSpPr>
          <p:cNvPr id="36" name="Rounded Rectangle 35"/>
          <p:cNvSpPr/>
          <p:nvPr/>
        </p:nvSpPr>
        <p:spPr>
          <a:xfrm>
            <a:off x="1348740" y="7448042"/>
            <a:ext cx="2510554"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THESIS</a:t>
            </a:r>
          </a:p>
        </p:txBody>
      </p:sp>
      <p:sp>
        <p:nvSpPr>
          <p:cNvPr id="37" name="TextBox 36"/>
          <p:cNvSpPr txBox="1"/>
          <p:nvPr/>
        </p:nvSpPr>
        <p:spPr>
          <a:xfrm>
            <a:off x="1394460" y="7914386"/>
            <a:ext cx="15499080" cy="1165606"/>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One cooperative-game definition, three value functions: the same Shapley logic </a:t>
            </a:r>
            <a:r>
              <a:rPr lang="en-US" sz="2000" b="true">
                <a:solidFill>
                  <a:srgbClr val="111111"/>
                </a:solidFill>
                <a:latin typeface="Nunito Bold"/>
                <a:ea typeface="Nunito Bold"/>
                <a:cs typeface="Nunito Bold"/>
                <a:sym typeface="Nunito Bold"/>
              </a:rPr>
              <a:t>explains</a:t>
            </a:r>
            <a:r>
              <a:rPr lang="en-US" sz="2000" b="true">
                <a:solidFill>
                  <a:srgbClr val="111111"/>
                </a:solidFill>
                <a:latin typeface="Nunito Semi-Bold"/>
                <a:ea typeface="Nunito Semi-Bold"/>
                <a:cs typeface="Nunito Semi-Bold"/>
                <a:sym typeface="Nunito Semi-Bold"/>
              </a:rPr>
              <a:t> a partition, </a:t>
            </a:r>
            <a:r>
              <a:rPr lang="en-US" sz="2000" b="true">
                <a:solidFill>
                  <a:srgbClr val="111111"/>
                </a:solidFill>
                <a:latin typeface="Nunito Bold"/>
                <a:ea typeface="Nunito Bold"/>
                <a:cs typeface="Nunito Bold"/>
                <a:sym typeface="Nunito Bold"/>
              </a:rPr>
              <a:t>stays consistent</a:t>
            </a:r>
            <a:r>
              <a:rPr lang="en-US" sz="2000" b="true">
                <a:solidFill>
                  <a:srgbClr val="111111"/>
                </a:solidFill>
                <a:latin typeface="Nunito Semi-Bold"/>
                <a:ea typeface="Nunito Semi-Bold"/>
                <a:cs typeface="Nunito Semi-Bold"/>
                <a:sym typeface="Nunito Semi-Bold"/>
              </a:rPr>
              <a:t> across levels, and finally </a:t>
            </a:r>
            <a:r>
              <a:rPr lang="en-US" sz="2000" b="true">
                <a:solidFill>
                  <a:srgbClr val="111111"/>
                </a:solidFill>
                <a:latin typeface="Nunito Bold"/>
                <a:ea typeface="Nunito Bold"/>
                <a:cs typeface="Nunito Bold"/>
                <a:sym typeface="Nunito Bold"/>
              </a:rPr>
              <a:t>guides</a:t>
            </a:r>
            <a:r>
              <a:rPr lang="en-US" sz="2000" b="true">
                <a:solidFill>
                  <a:srgbClr val="111111"/>
                </a:solidFill>
                <a:latin typeface="Nunito Semi-Bold"/>
                <a:ea typeface="Nunito Semi-Bold"/>
                <a:cs typeface="Nunito Semi-Bold"/>
                <a:sym typeface="Nunito Semi-Bold"/>
              </a:rPr>
              <a:t> what a recommender learns.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Publications Supporting the Thesis</a:t>
            </a:r>
          </a:p>
        </p:txBody>
      </p:sp>
      <p:pic>
        <p:nvPicPr>
          <p:cNvPr id="23" name="Picture 22" descr="image.png"/>
          <p:cNvPicPr>
            <a:picLocks noChangeAspect="1"/>
          </p:cNvPicPr>
          <p:nvPr/>
        </p:nvPicPr>
        <p:blipFill>
          <a:blip r:embed="rId3"/>
          <a:stretch>
            <a:fillRect/>
          </a:stretch>
        </p:blipFill>
        <p:spPr>
          <a:xfrm>
            <a:off x="10279040"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4" cy="3291840"/>
        </p:xfrm>
        <a:graphic>
          <a:graphicData uri="http://schemas.openxmlformats.org/drawingml/2006/table">
            <a:tbl>
              <a:tblPr firstRow="0" bandRow="0" firstCol="0" lastRow="0" lastCol="0" bandCol="0">
                <a:tableStyleId>{2D5ABB26-0587-4C30-8999-92F81FD0307C}</a:tableStyleId>
              </a:tblPr>
              <a:tblGrid>
                <a:gridCol w="656729"/>
                <a:gridCol w="2814554"/>
                <a:gridCol w="5253835"/>
                <a:gridCol w="3189828"/>
                <a:gridCol w="750547"/>
                <a:gridCol w="2439280"/>
                <a:gridCol w="1125821"/>
              </a:tblGrid>
              <a:tr h="822960">
                <a:tc>
                  <a:txBody>
                    <a:bodyPr anchor="ctr" rtlCol="false" lIns="0" tIns="0" rIns="0" bIns="0" wrap="square"/>
                    <a:lstStyle/>
                    <a:p>
                      <a:pPr algn="ctr">
                        <a:lnSpc>
                          <a:spcPts val="1820"/>
                        </a:lnSpc>
                        <a:spcBef>
                          <a:spcPts val="0"/>
                        </a:spcBef>
                        <a:buNone/>
                      </a:pPr>
                      <a:endParaRPr lang="en-US" sz="2200"/>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Authors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Journal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Year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DOI</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Status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Mbarek,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Shapley Values for Explaining the Black Box Nature of Machine Learning Model Clustering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Procedia Computer Science 220, 806–811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10.1016/j.procs.2023.03.107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Game Theory Meets Explainable AI: An Enhanced Approach to Understanding Black Box Models Through Shapley Values</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IJACSA 16(7), 716–725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10.14569/IJACSA.2025.0160780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DyHuCoG: A Dynamic Hypergraph Cooperative Game for Preference-aware Recommendation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IJIES 19(2), 887–902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10.22266/ijies2026.0228.54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0" name="Rounded Rectangle 29"/>
          <p:cNvSpPr/>
          <p:nvPr/>
        </p:nvSpPr>
        <p:spPr>
          <a:xfrm>
            <a:off x="1028700" y="7341362"/>
            <a:ext cx="7932420" cy="1921510"/>
          </a:xfrm>
          <a:prstGeom prst="roundRect">
            <a:avLst>
              <a:gd name="adj" fmla="val 16179"/>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485900" y="7103618"/>
            <a:ext cx="356064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Mapping to the thesis</a:t>
            </a:r>
          </a:p>
        </p:txBody>
      </p:sp>
      <p:sp>
        <p:nvSpPr>
          <p:cNvPr id="32" name="TextBox 31"/>
          <p:cNvSpPr txBox="1"/>
          <p:nvPr/>
        </p:nvSpPr>
        <p:spPr>
          <a:xfrm>
            <a:off x="1485900" y="7890002"/>
            <a:ext cx="7063740" cy="1189990"/>
          </a:xfrm>
          <a:prstGeom prst="rect">
            <a:avLst/>
          </a:prstGeom>
          <a:noFill/>
        </p:spPr>
        <p:txBody>
          <a:bodyPr anchor="t" rtlCol="false" lIns="0" tIns="0" rIns="0" bIns="0" wrap="square"/>
          <a:lstStyle/>
          <a:p>
            <a:pPr algn="l" marL="274320" indent="-274320">
              <a:lnSpc>
                <a:spcPts val="2094"/>
              </a:lnSpc>
              <a:spcBef>
                <a:spcPts val="0"/>
              </a:spcBef>
              <a:buClr>
                <a:srgbClr val="DF8330"/>
              </a:buClr>
              <a:buSzPct val="100000"/>
              <a:buFont typeface="Arial"/>
              <a:buChar char="•"/>
            </a:pPr>
            <a:r>
              <a:rPr lang="en-US" sz="1496" b="true">
                <a:solidFill>
                  <a:srgbClr val="111111"/>
                </a:solidFill>
                <a:latin typeface="Nunito Bold"/>
                <a:ea typeface="Nunito Bold"/>
                <a:cs typeface="Nunito Bold"/>
                <a:sym typeface="Nunito Bold"/>
              </a:rPr>
              <a:t>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 (Chapter 5)  ·  </a:t>
            </a:r>
            <a:r>
              <a:rPr lang="en-US" sz="1496" b="true">
                <a:solidFill>
                  <a:srgbClr val="111111"/>
                </a:solidFill>
                <a:latin typeface="Nunito Bold"/>
                <a:ea typeface="Nunito Bold"/>
                <a:cs typeface="Nunito Bold"/>
                <a:sym typeface="Nunito Bold"/>
              </a:rPr>
              <a:t>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 (Chapter 6)  ·  </a:t>
            </a:r>
            <a:r>
              <a:rPr lang="en-US" sz="1496" b="true">
                <a:solidFill>
                  <a:srgbClr val="111111"/>
                </a:solidFill>
                <a:latin typeface="Nunito Bold"/>
                <a:ea typeface="Nunito Bold"/>
                <a:cs typeface="Nunito Bold"/>
                <a:sym typeface="Nunito Bold"/>
              </a:rPr>
              <a:t>III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III (Chapter 7).</a:t>
            </a:r>
          </a:p>
          <a:p>
            <a:pPr algn="l" marL="274320" indent="-274320">
              <a:lnSpc>
                <a:spcPts val="2094"/>
              </a:lnSpc>
              <a:spcBef>
                <a:spcPts val="352"/>
              </a:spcBef>
              <a:buClr>
                <a:srgbClr val="DF8330"/>
              </a:buClr>
              <a:buSzPct val="100000"/>
              <a:buFont typeface="Arial"/>
              <a:buChar char="•"/>
            </a:pPr>
            <a:r>
              <a:rPr lang="en-US" sz="1496" b="true">
                <a:solidFill>
                  <a:srgbClr val="111111"/>
                </a:solidFill>
                <a:latin typeface="Nunito Semi-Bold"/>
                <a:ea typeface="Nunito Semi-Bold"/>
                <a:cs typeface="Nunito Semi-Bold"/>
                <a:sym typeface="Nunito Semi-Bold"/>
              </a:rPr>
              <a:t>Three journal articles, candidate as </a:t>
            </a:r>
            <a:r>
              <a:rPr lang="en-US" sz="1496" b="true">
                <a:solidFill>
                  <a:srgbClr val="111111"/>
                </a:solidFill>
                <a:latin typeface="Nunito Bold"/>
                <a:ea typeface="Nunito Bold"/>
                <a:cs typeface="Nunito Bold"/>
                <a:sym typeface="Nunito Bold"/>
              </a:rPr>
              <a:t>first author</a:t>
            </a:r>
            <a:r>
              <a:rPr lang="en-US" sz="1496" b="true">
                <a:solidFill>
                  <a:srgbClr val="111111"/>
                </a:solidFill>
                <a:latin typeface="Nunito Semi-Bold"/>
                <a:ea typeface="Nunito Semi-Bold"/>
                <a:cs typeface="Nunito Semi-Bold"/>
                <a:sym typeface="Nunito Semi-Bold"/>
              </a:rPr>
              <a:t>; IJACSA and IJIES are Scopus-indexed.</a:t>
            </a:r>
          </a:p>
        </p:txBody>
      </p:sp>
      <p:sp>
        <p:nvSpPr>
          <p:cNvPr id="33" name="Rounded Rectangle 32"/>
          <p:cNvSpPr/>
          <p:nvPr/>
        </p:nvSpPr>
        <p:spPr>
          <a:xfrm>
            <a:off x="9326880" y="7341362"/>
            <a:ext cx="7932420" cy="1921510"/>
          </a:xfrm>
          <a:prstGeom prst="roundRect">
            <a:avLst>
              <a:gd name="adj" fmla="val 16179"/>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9784080" y="7103618"/>
            <a:ext cx="439924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Related work with the team</a:t>
            </a:r>
          </a:p>
        </p:txBody>
      </p:sp>
      <p:sp>
        <p:nvSpPr>
          <p:cNvPr id="35" name="TextBox 34"/>
          <p:cNvSpPr txBox="1"/>
          <p:nvPr/>
        </p:nvSpPr>
        <p:spPr>
          <a:xfrm>
            <a:off x="9784080" y="7890002"/>
            <a:ext cx="7063740" cy="1189990"/>
          </a:xfrm>
          <a:prstGeom prst="rect">
            <a:avLst/>
          </a:prstGeom>
          <a:noFill/>
        </p:spPr>
        <p:txBody>
          <a:bodyPr anchor="t" rtlCol="false" lIns="0" tIns="0" rIns="0" bIns="0" wrap="square"/>
          <a:lstStyle/>
          <a:p>
            <a:pPr algn="l" marL="274320" indent="-274320">
              <a:lnSpc>
                <a:spcPts val="2173"/>
              </a:lnSpc>
              <a:spcBef>
                <a:spcPts val="0"/>
              </a:spcBef>
              <a:buClr>
                <a:srgbClr val="ECC665"/>
              </a:buClr>
              <a:buSzPct val="100000"/>
              <a:buFont typeface="Arial"/>
              <a:buChar char="•"/>
            </a:pPr>
            <a:r>
              <a:rPr lang="en-US" sz="1552" b="true">
                <a:solidFill>
                  <a:srgbClr val="FFFFFF"/>
                </a:solidFill>
                <a:latin typeface="Nunito Semi-Bold"/>
                <a:ea typeface="Nunito Semi-Bold"/>
                <a:cs typeface="Nunito Semi-Bold"/>
                <a:sym typeface="Nunito Semi-Bold"/>
              </a:rPr>
              <a:t>Nesmaoui, R., </a:t>
            </a:r>
            <a:r>
              <a:rPr lang="en-US" sz="1552" b="true">
                <a:solidFill>
                  <a:srgbClr val="FFFFFF"/>
                </a:solidFill>
                <a:latin typeface="Nunito Bold"/>
                <a:ea typeface="Nunito Bold"/>
                <a:cs typeface="Nunito Bold"/>
                <a:sym typeface="Nunito Bold"/>
              </a:rPr>
              <a:t>Louhichi, M.</a:t>
            </a:r>
            <a:r>
              <a:rPr lang="en-US" sz="1552" b="true">
                <a:solidFill>
                  <a:srgbClr val="FFFFFF"/>
                </a:solidFill>
                <a:latin typeface="Nunito Semi-Bold"/>
                <a:ea typeface="Nunito Semi-Bold"/>
                <a:cs typeface="Nunito Semi-Bold"/>
                <a:sym typeface="Nunito Semi-Bold"/>
              </a:rPr>
              <a:t> &amp; Lazaar, M. Dynamic Recommender Systems with Real-time Shapley Value-based Contribution Adjustment. IJIES 18, 241–257 (2025): the same cooperative-game view, applied to real-time contribution adjustment.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 Stated Honestly</a:t>
            </a:r>
          </a:p>
        </p:txBody>
      </p:sp>
      <p:pic>
        <p:nvPicPr>
          <p:cNvPr id="23" name="Picture 22" descr="image.png"/>
          <p:cNvPicPr>
            <a:picLocks noChangeAspect="1"/>
          </p:cNvPicPr>
          <p:nvPr/>
        </p:nvPicPr>
        <p:blipFill>
          <a:blip r:embed="rId3"/>
          <a:stretch>
            <a:fillRect/>
          </a:stretch>
        </p:blipFill>
        <p:spPr>
          <a:xfrm>
            <a:off x="8586542" y="1673352"/>
            <a:ext cx="457200" cy="250983"/>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Computational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Exact Shapley is not feasible; every contribution relies on approximation, surrogates or limited reporting.</a:t>
            </a:r>
          </a:p>
        </p:txBody>
      </p:sp>
      <p:sp>
        <p:nvSpPr>
          <p:cNvPr id="30" name="Rounded Rectangle 29"/>
          <p:cNvSpPr/>
          <p:nvPr/>
        </p:nvSpPr>
        <p:spPr>
          <a:xfrm>
            <a:off x="9281160" y="3455162"/>
            <a:ext cx="7978140" cy="2789555"/>
          </a:xfrm>
          <a:prstGeom prst="roundRect">
            <a:avLst>
              <a:gd name="adj" fmla="val 9833"/>
            </a:avLst>
          </a:prstGeom>
          <a:solidFill>
            <a:srgbClr val="1E5F58"/>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Methodological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Clustering depends on surrogate fidelity; recommendation depends on stable approximate contributions and useful context.</a:t>
            </a:r>
          </a:p>
        </p:txBody>
      </p:sp>
      <p:sp>
        <p:nvSpPr>
          <p:cNvPr id="31" name="Rounded Rectangle 30"/>
          <p:cNvSpPr/>
          <p:nvPr/>
        </p:nvSpPr>
        <p:spPr>
          <a:xfrm>
            <a:off x="1028700" y="6519037"/>
            <a:ext cx="7978140" cy="2789555"/>
          </a:xfrm>
          <a:prstGeom prst="roundRect">
            <a:avLst>
              <a:gd name="adj" fmla="val 9833"/>
            </a:avLst>
          </a:prstGeom>
          <a:solidFill>
            <a:srgbClr val="DF8330"/>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Empirical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Tabular clustering + benchmark recommendation; no multimodal, sequential or online setting; no dedicated user study of actionability.</a:t>
            </a:r>
          </a:p>
        </p:txBody>
      </p:sp>
      <p:sp>
        <p:nvSpPr>
          <p:cNvPr id="32" name="Rounded Rectangle 31"/>
          <p:cNvSpPr/>
          <p:nvPr/>
        </p:nvSpPr>
        <p:spPr>
          <a:xfrm>
            <a:off x="9281160" y="6519037"/>
            <a:ext cx="7978140" cy="2789555"/>
          </a:xfrm>
          <a:prstGeom prst="roundRect">
            <a:avLst>
              <a:gd name="adj" fmla="val 9833"/>
            </a:avLst>
          </a:prstGeom>
          <a:solidFill>
            <a:srgbClr val="111111"/>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Claim scope</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A consistent and productive shared view, not one fully unified framework that removes all tension.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Perspectives: Turning Limitations into an Agenda</a:t>
            </a:r>
          </a:p>
        </p:txBody>
      </p:sp>
      <p:pic>
        <p:nvPicPr>
          <p:cNvPr id="23" name="Picture 22" descr="image.png"/>
          <p:cNvPicPr>
            <a:picLocks noChangeAspect="1"/>
          </p:cNvPicPr>
          <p:nvPr/>
        </p:nvPicPr>
        <p:blipFill>
          <a:blip r:embed="rId3"/>
          <a:stretch>
            <a:fillRect/>
          </a:stretch>
        </p:blipFill>
        <p:spPr>
          <a:xfrm>
            <a:off x="13921521"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0" name="Oval 29"/>
          <p:cNvSpPr/>
          <p:nvPr/>
        </p:nvSpPr>
        <p:spPr>
          <a:xfrm>
            <a:off x="1394460" y="3820922"/>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01</a:t>
            </a:r>
          </a:p>
        </p:txBody>
      </p:sp>
      <p:sp>
        <p:nvSpPr>
          <p:cNvPr id="31" name="TextBox 30"/>
          <p:cNvSpPr txBox="1"/>
          <p:nvPr/>
        </p:nvSpPr>
        <p:spPr>
          <a:xfrm>
            <a:off x="235458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Scalable cooperative attribution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Lower-variance Shapley estimators, learned proposal distributions, adaptive refresh rules.</a:t>
            </a:r>
          </a:p>
        </p:txBody>
      </p:sp>
      <p:sp>
        <p:nvSpPr>
          <p:cNvPr id="32" name="Rounded Rectangle 31"/>
          <p:cNvSpPr/>
          <p:nvPr/>
        </p:nvSpPr>
        <p:spPr>
          <a:xfrm>
            <a:off x="9281160" y="3455162"/>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3" name="Oval 32"/>
          <p:cNvSpPr/>
          <p:nvPr/>
        </p:nvSpPr>
        <p:spPr>
          <a:xfrm>
            <a:off x="9646920" y="3820922"/>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02</a:t>
            </a:r>
          </a:p>
        </p:txBody>
      </p:sp>
      <p:sp>
        <p:nvSpPr>
          <p:cNvPr id="34" name="TextBox 33"/>
          <p:cNvSpPr txBox="1"/>
          <p:nvPr/>
        </p:nvSpPr>
        <p:spPr>
          <a:xfrm>
            <a:off x="1060704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Online / streaming recommendation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Truly incremental settings with changing graphs and delayed feedback; this also addresses the static-graph limitation.</a:t>
            </a:r>
          </a:p>
        </p:txBody>
      </p:sp>
      <p:sp>
        <p:nvSpPr>
          <p:cNvPr id="35" name="Rounded Rectangle 34"/>
          <p:cNvSpPr/>
          <p:nvPr/>
        </p:nvSpPr>
        <p:spPr>
          <a:xfrm>
            <a:off x="1028700" y="6519037"/>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6" name="Oval 35"/>
          <p:cNvSpPr/>
          <p:nvPr/>
        </p:nvSpPr>
        <p:spPr>
          <a:xfrm>
            <a:off x="1394460" y="6884797"/>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03</a:t>
            </a:r>
          </a:p>
        </p:txBody>
      </p:sp>
      <p:sp>
        <p:nvSpPr>
          <p:cNvPr id="37" name="TextBox 36"/>
          <p:cNvSpPr txBox="1"/>
          <p:nvPr/>
        </p:nvSpPr>
        <p:spPr>
          <a:xfrm>
            <a:off x="235458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Richer user-centred evaluation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Do explanations measurably improve analyst judgement, user trust, quality of action or perceived fairness?</a:t>
            </a:r>
          </a:p>
        </p:txBody>
      </p:sp>
      <p:sp>
        <p:nvSpPr>
          <p:cNvPr id="38" name="Rounded Rectangle 37"/>
          <p:cNvSpPr/>
          <p:nvPr/>
        </p:nvSpPr>
        <p:spPr>
          <a:xfrm>
            <a:off x="9281160" y="6519037"/>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9" name="Oval 38"/>
          <p:cNvSpPr/>
          <p:nvPr/>
        </p:nvSpPr>
        <p:spPr>
          <a:xfrm>
            <a:off x="9646920" y="6884797"/>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04</a:t>
            </a:r>
          </a:p>
        </p:txBody>
      </p:sp>
      <p:sp>
        <p:nvSpPr>
          <p:cNvPr id="40" name="TextBox 39"/>
          <p:cNvSpPr txBox="1"/>
          <p:nvPr/>
        </p:nvSpPr>
        <p:spPr>
          <a:xfrm>
            <a:off x="1060704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Broader trustworthy-AI evaluation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Exposure fairness, transparency requirements, auditing for governance.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Conclusion</a:t>
            </a:r>
          </a:p>
        </p:txBody>
      </p:sp>
      <p:pic>
        <p:nvPicPr>
          <p:cNvPr id="23" name="Picture 22" descr="image.png"/>
          <p:cNvPicPr>
            <a:picLocks noChangeAspect="1"/>
          </p:cNvPicPr>
          <p:nvPr/>
        </p:nvPicPr>
        <p:blipFill>
          <a:blip r:embed="rId3"/>
          <a:stretch>
            <a:fillRect/>
          </a:stretch>
        </p:blipFill>
        <p:spPr>
          <a:xfrm>
            <a:off x="4224502"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Conclusion</a:t>
            </a:r>
          </a:p>
        </p:txBody>
      </p:sp>
      <p:sp>
        <p:nvSpPr>
          <p:cNvPr id="29" name="Rounded Rectangle 28"/>
          <p:cNvSpPr/>
          <p:nvPr/>
        </p:nvSpPr>
        <p:spPr>
          <a:xfrm>
            <a:off x="1028700" y="3546602"/>
            <a:ext cx="16230600" cy="1554480"/>
          </a:xfrm>
          <a:prstGeom prst="roundRect">
            <a:avLst>
              <a:gd name="adj" fmla="val 12941"/>
            </a:avLst>
          </a:prstGeom>
          <a:solidFill>
            <a:srgbClr val="F6ECDF"/>
          </a:solidFill>
          <a:ln w="25400">
            <a:solidFill>
              <a:srgbClr val="124944"/>
            </a:solidFill>
          </a:ln>
        </p:spPr>
        <p:txBody>
          <a:bodyPr anchor="ctr" rtlCol="false" lIns="0" tIns="0" rIns="0" bIns="0" wrap="square"/>
          <a:lstStyle/>
          <a:p>
            <a:endParaRPr lang="en-US" sz="1800"/>
          </a:p>
        </p:txBody>
      </p:sp>
      <p:sp>
        <p:nvSpPr>
          <p:cNvPr id="30" name="Rounded Rectangle 29"/>
          <p:cNvSpPr/>
          <p:nvPr/>
        </p:nvSpPr>
        <p:spPr>
          <a:xfrm>
            <a:off x="1348740" y="3354578"/>
            <a:ext cx="207323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THESIS ANSWER</a:t>
            </a:r>
          </a:p>
        </p:txBody>
      </p:sp>
      <p:sp>
        <p:nvSpPr>
          <p:cNvPr id="31" name="TextBox 30"/>
          <p:cNvSpPr txBox="1"/>
          <p:nvPr/>
        </p:nvSpPr>
        <p:spPr>
          <a:xfrm>
            <a:off x="1394460" y="3820922"/>
            <a:ext cx="15499080" cy="1143000"/>
          </a:xfrm>
          <a:prstGeom prst="rect">
            <a:avLst/>
          </a:prstGeom>
          <a:noFill/>
        </p:spPr>
        <p:txBody>
          <a:bodyPr anchor="ctr" rtlCol="false" lIns="0" tIns="0" rIns="0" bIns="0" wrap="square"/>
          <a:lstStyle/>
          <a:p>
            <a:pPr algn="l">
              <a:lnSpc>
                <a:spcPts val="3123"/>
              </a:lnSpc>
              <a:spcBef>
                <a:spcPts val="0"/>
              </a:spcBef>
              <a:buNone/>
            </a:pPr>
            <a:r>
              <a:rPr lang="en-US" sz="2231" b="true">
                <a:solidFill>
                  <a:srgbClr val="111111"/>
                </a:solidFill>
                <a:latin typeface="Nunito Semi-Bold"/>
                <a:ea typeface="Nunito Semi-Bold"/>
                <a:cs typeface="Nunito Semi-Bold"/>
                <a:sym typeface="Nunito Semi-Bold"/>
              </a:rPr>
              <a:t>Cooperative game theory can serve as a </a:t>
            </a:r>
            <a:r>
              <a:rPr lang="en-US" sz="2231" b="true">
                <a:solidFill>
                  <a:srgbClr val="111111"/>
                </a:solidFill>
                <a:latin typeface="Nunito Bold"/>
                <a:ea typeface="Nunito Bold"/>
                <a:cs typeface="Nunito Bold"/>
                <a:sym typeface="Nunito Bold"/>
              </a:rPr>
              <a:t>shared methodological view for actionable explanation</a:t>
            </a:r>
            <a:r>
              <a:rPr lang="en-US" sz="2231" b="true">
                <a:solidFill>
                  <a:srgbClr val="111111"/>
                </a:solidFill>
                <a:latin typeface="Nunito Semi-Bold"/>
                <a:ea typeface="Nunito Semi-Bold"/>
                <a:cs typeface="Nunito Semi-Bold"/>
                <a:sym typeface="Nunito Semi-Bold"/>
              </a:rPr>
              <a:t> across clustering and recommendation: the same Shapley logic explains, stays consistent across levels, and guides learning.</a:t>
            </a:r>
          </a:p>
        </p:txBody>
      </p:sp>
      <p:sp>
        <p:nvSpPr>
          <p:cNvPr id="32" name="TextBox 31"/>
          <p:cNvSpPr txBox="1"/>
          <p:nvPr/>
        </p:nvSpPr>
        <p:spPr>
          <a:xfrm>
            <a:off x="1028700" y="5421122"/>
            <a:ext cx="16230600" cy="32004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KEY OUTCOMES</a:t>
            </a:r>
          </a:p>
        </p:txBody>
      </p:sp>
      <p:sp>
        <p:nvSpPr>
          <p:cNvPr id="33" name="Rounded Rectangle 32"/>
          <p:cNvSpPr/>
          <p:nvPr/>
        </p:nvSpPr>
        <p:spPr>
          <a:xfrm>
            <a:off x="102870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34" name="Oval 33"/>
          <p:cNvSpPr/>
          <p:nvPr/>
        </p:nvSpPr>
        <p:spPr>
          <a:xfrm>
            <a:off x="134874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1</a:t>
            </a:r>
          </a:p>
        </p:txBody>
      </p:sp>
      <p:sp>
        <p:nvSpPr>
          <p:cNvPr id="35" name="TextBox 34"/>
          <p:cNvSpPr txBox="1"/>
          <p:nvPr/>
        </p:nvSpPr>
        <p:spPr>
          <a:xfrm>
            <a:off x="134874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Common language</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Shapley attribution as a common formal language for assigning importance to features, interactions and contexts.</a:t>
            </a:r>
          </a:p>
        </p:txBody>
      </p:sp>
      <p:sp>
        <p:nvSpPr>
          <p:cNvPr id="36" name="Rounded Rectangle 35"/>
          <p:cNvSpPr/>
          <p:nvPr/>
        </p:nvSpPr>
        <p:spPr>
          <a:xfrm>
            <a:off x="515493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37" name="Oval 36"/>
          <p:cNvSpPr/>
          <p:nvPr/>
        </p:nvSpPr>
        <p:spPr>
          <a:xfrm>
            <a:off x="547497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2</a:t>
            </a:r>
          </a:p>
        </p:txBody>
      </p:sp>
      <p:sp>
        <p:nvSpPr>
          <p:cNvPr id="38" name="TextBox 37"/>
          <p:cNvSpPr txBox="1"/>
          <p:nvPr/>
        </p:nvSpPr>
        <p:spPr>
          <a:xfrm>
            <a:off x="547497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Three achievements</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Faithful clustering explanation, consistent multi-level explanation, contribution-aware recommendation learning.</a:t>
            </a:r>
          </a:p>
        </p:txBody>
      </p:sp>
      <p:sp>
        <p:nvSpPr>
          <p:cNvPr id="39" name="Rounded Rectangle 38"/>
          <p:cNvSpPr/>
          <p:nvPr/>
        </p:nvSpPr>
        <p:spPr>
          <a:xfrm>
            <a:off x="928116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40" name="Oval 39"/>
          <p:cNvSpPr/>
          <p:nvPr/>
        </p:nvSpPr>
        <p:spPr>
          <a:xfrm>
            <a:off x="960120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3</a:t>
            </a:r>
          </a:p>
        </p:txBody>
      </p:sp>
      <p:sp>
        <p:nvSpPr>
          <p:cNvPr id="41" name="TextBox 40"/>
          <p:cNvSpPr txBox="1"/>
          <p:nvPr/>
        </p:nvSpPr>
        <p:spPr>
          <a:xfrm>
            <a:off x="960120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Explanation as method</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Not a comment added later: from post-hoc description to in-training guidance.</a:t>
            </a:r>
          </a:p>
        </p:txBody>
      </p:sp>
      <p:sp>
        <p:nvSpPr>
          <p:cNvPr id="42" name="Rounded Rectangle 41"/>
          <p:cNvSpPr/>
          <p:nvPr/>
        </p:nvSpPr>
        <p:spPr>
          <a:xfrm>
            <a:off x="1340739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43" name="Oval 42"/>
          <p:cNvSpPr/>
          <p:nvPr/>
        </p:nvSpPr>
        <p:spPr>
          <a:xfrm>
            <a:off x="1372743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4</a:t>
            </a:r>
          </a:p>
        </p:txBody>
      </p:sp>
      <p:sp>
        <p:nvSpPr>
          <p:cNvPr id="44" name="TextBox 43"/>
          <p:cNvSpPr txBox="1"/>
          <p:nvPr/>
        </p:nvSpPr>
        <p:spPr>
          <a:xfrm>
            <a:off x="1372743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Trustworthy AI</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Aligned with EU AI Act, OECD principles and GDPR expectations.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(1 / 2)</a:t>
            </a:r>
          </a:p>
        </p:txBody>
      </p:sp>
      <p:pic>
        <p:nvPicPr>
          <p:cNvPr id="23" name="Picture 22" descr="image.png"/>
          <p:cNvPicPr>
            <a:picLocks noChangeAspect="1"/>
          </p:cNvPicPr>
          <p:nvPr/>
        </p:nvPicPr>
        <p:blipFill>
          <a:blip r:embed="rId3"/>
          <a:stretch>
            <a:fillRect/>
          </a:stretch>
        </p:blipFill>
        <p:spPr>
          <a:xfrm>
            <a:off x="5569149" y="1673352"/>
            <a:ext cx="457200" cy="617115"/>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Mbarek, M. &amp; Lazaar, M. Shapley Values for Explaining the Black Box Nature of Machine Learning Model Clustering. Procedia Computer Science 220, 806–811 (2023).</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Game Theory Meets Explainable AI: An Enhanced Approach to Understanding Black Box Models Through Shapley Values. IJACSA 16(7), 716–725 (2025).</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[3]</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DyHuCoG: A Dynamic Hypergraph Cooperative Game for Preference-aware Recommendation. IJIES 19(2), 887–902 (2026).</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[4]</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Shapley, L. S. A Value for n-Person Games. Contributions to the Theory of Games II, 307–317, Princeton University Press (1953).</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[5]</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&amp; Lee, S.-I. A Unified Approach to Interpreting Model Predictions (SHAP). NeurIPS 30, 4765–4774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[6]</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et al. From Local Explanations to Global Understanding with Explainable AI for Trees (TreeSHAP). Nature Machine Intelligence 2, 56–67 (2020).</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[7]</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Ribeiro, M. T., Singh, S. &amp; Guestrin, C. "Why Should I Trust You?": Explaining the Predictions of Any Classifier (LIME). KDD, 1135–1144 (2016).</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[8]</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Castro, J., Gómez, D. &amp; Tejada, J. Polynomial Calculation of the Shapley Value Based on Sampling. Computers &amp; Operations Research 36(5), 1726–1730 (2009).</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[9]</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Štrumbelj, E. &amp; Kononenko, I. An Efficient Explanation of Individual Classifications Using Game Theory. JMLR 11, 1–18 (2010).</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[10]</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Koren, Y., Bell, R. &amp; Volinsky, C. Matrix Factorization Techniques for Recommender Systems. Computer 42(8), 30–37 (2009).</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[11]</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Neural Collaborative Filtering. WWW, 173–182 (2017).</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[12]</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LightGCN: Simplifying and Powering Graph Convolution Network for Recommendation. SIGIR, 639–648 (2020).</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[13]</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 L. et al. Hypergraph Contrastive Collaborative Filtering (HCCF). SIGIR, 70–79 (2022).</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[14]</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Xiangyi, Y. et al. Hypergraph Projection Enhanced Collaborative Filtering (HPCF). Int. J. Data Science and Analytics 19(2), 269–281 (2025).</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(2 / 2)</a:t>
            </a:r>
          </a:p>
        </p:txBody>
      </p:sp>
      <p:pic>
        <p:nvPicPr>
          <p:cNvPr id="23" name="Picture 22" descr="image.png"/>
          <p:cNvPicPr>
            <a:picLocks noChangeAspect="1"/>
          </p:cNvPicPr>
          <p:nvPr/>
        </p:nvPicPr>
        <p:blipFill>
          <a:blip r:embed="rId3"/>
          <a:stretch>
            <a:fillRect/>
          </a:stretch>
        </p:blipFill>
        <p:spPr>
          <a:xfrm>
            <a:off x="5713563" y="1673352"/>
            <a:ext cx="457200" cy="250983"/>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[15]</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D. et al. RecDCL: Dual Contrastive Learning for Recommendation. The Web Conference, 3655–3666 (2024).</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[16]</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Feng, Y. et al. Hypergraph Neural Networks. AAAI 33, 3558–3565 (2019).</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[17]</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Rousseeuw, P. J. Silhouettes: A Graphical Aid to the Interpretation and Validation of Cluster Analysis. J. Comput. Appl. Math. 20, 53–65 (1987).</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[18]</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Gramegna, A. &amp; Giudici, P. SHAP and LIME: An Evaluation of Discriminative Power in Credit Risk. Frontiers in AI 4, 752558 (2021).</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[19]</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Cortez, P. et al. Wine Quality. UCI Machine Learning Repository (2009).  ·  Dua, D. &amp; Taniskidou, E. Beijing Multi-Site Air Quality Data. UCI Machine Learning Repository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[20]</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Harper, F. M. &amp; Konstan, J. A. The MovieLens Datasets: History and Context. ACM TiiS 5(4), 19 (2015).  ·  McAuley, J. et al. Amazon Review Data (Amazon-Book). UCSD (2018).</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[21]</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Y. &amp; Chen, X. Explainable Recommendation: A Survey and New Perspectives. Foundations and Trends in IR 14(1), 1–101 (2020).</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[22]</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765"/>
              </a:lnSpc>
              <a:spcBef>
                <a:spcPts val="0"/>
              </a:spcBef>
              <a:buNone/>
            </a:pPr>
            <a:r>
              <a:rPr lang="en-US" sz="1261" b="true">
                <a:solidFill>
                  <a:srgbClr val="111111"/>
                </a:solidFill>
                <a:latin typeface="Nunito Semi-Bold"/>
                <a:ea typeface="Nunito Semi-Bold"/>
                <a:cs typeface="Nunito Semi-Bold"/>
                <a:sym typeface="Nunito Semi-Bold"/>
              </a:rPr>
              <a:t>Adomavicius, G. &amp; Tuzhilin, A. Toward the Next Generation of Recommender Systems. IEEE TKDE 17(6), 734–749 (2005).  ·  Burke, R. Hybrid Recommender Systems. UMUAI 12(4), 331–370 (2002).</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[23]</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Zhu, Z. et al. Popularity Bias in Dynamic Recommendation. KDD, 2439–2449 (2021).  ·  Hurley, N. &amp; Zhang, M. Novelty and Diversity in Top-N Recommendation. ACM TOIT 10(4) (2011).</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[24]</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Arrieta, A. B. et al. Explainable Artificial Intelligence (XAI): Concepts, Taxonomies, Opportunities and Challenges. Information Fusion 58, 82–115 (2020).</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[25]</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602"/>
              </a:lnSpc>
              <a:spcBef>
                <a:spcPts val="0"/>
              </a:spcBef>
              <a:buNone/>
            </a:pPr>
            <a:r>
              <a:rPr lang="en-US" sz="1144" b="true">
                <a:solidFill>
                  <a:srgbClr val="111111"/>
                </a:solidFill>
                <a:latin typeface="Nunito Semi-Bold"/>
                <a:ea typeface="Nunito Semi-Bold"/>
                <a:cs typeface="Nunito Semi-Bold"/>
                <a:sym typeface="Nunito Semi-Bold"/>
              </a:rPr>
              <a:t>Doshi-Velez, F. &amp; Kim, B. Towards a Rigorous Science of Interpretable Machine Learning. arXiv:1702.08608 (2017).  ·  Rudin, C. et al. Interpretable ML: Fundamental Principles and 10 Grand Challenges. Statistics Surveys 16 (2022).</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[26]</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European Union. Regulation (EU) 2024/1689 (AI Act), Art. 13 (2024).  ·  Regulation (EU) 2016/679 (GDPR), Art. 22 (2016).  ·  OECD. Recommendation of the Council on Artificial Intelligence (2019).</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[27]</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Holm, S. A Simple Sequentially Rejective Multiple Test Procedure. Scand. J. Statist. 6(2), 65–70 (1979).  ·  Cohen, J. Statistical Power Analysis for the Behavioral Sciences (1988).</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[28]</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Nesmaoui, R., Louhichi, M. &amp; Lazaar, M. Dynamic Recommender Systems with Real-time Shapley Value-based Contribution Adjustment. IJIES 18, 241–257 (2025).</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43000" y="0"/>
            <a:ext cx="10287000" cy="10287000"/>
          </a:xfrm>
          <a:prstGeom prst="rect">
            <a:avLst/>
          </a:prstGeom>
        </p:spPr>
      </p:pic>
      <p:pic>
        <p:nvPicPr>
          <p:cNvPr id="3" name="Picture 2" descr="image.png"/>
          <p:cNvPicPr>
            <a:picLocks noChangeAspect="1"/>
          </p:cNvPicPr>
          <p:nvPr/>
        </p:nvPicPr>
        <p:blipFill>
          <a:blip r:embed="rId2"/>
          <a:stretch>
            <a:fillRect/>
          </a:stretch>
        </p:blipFill>
        <p:spPr>
          <a:xfrm>
            <a:off x="9144000" y="0"/>
            <a:ext cx="10287000" cy="10287000"/>
          </a:xfrm>
          <a:prstGeom prst="rect">
            <a:avLst/>
          </a:prstGeom>
        </p:spPr>
      </p:pic>
      <p:sp>
        <p:nvSpPr>
          <p:cNvPr id="4" name="TextBox 3"/>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5" name="TextBox 4"/>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6" name="Picture 5" descr="ensias_logo.jpg"/>
          <p:cNvPicPr>
            <a:picLocks noChangeAspect="1"/>
          </p:cNvPicPr>
          <p:nvPr/>
        </p:nvPicPr>
        <p:blipFill>
          <a:blip r:embed="rId3"/>
          <a:stretch>
            <a:fillRect/>
          </a:stretch>
        </p:blipFill>
        <p:spPr>
          <a:xfrm>
            <a:off x="1028700" y="9674352"/>
            <a:ext cx="542964" cy="384048"/>
          </a:xfrm>
          <a:prstGeom prst="rect">
            <a:avLst/>
          </a:prstGeom>
        </p:spPr>
      </p:pic>
      <p:sp>
        <p:nvSpPr>
          <p:cNvPr id="7" name="TextBox 6"/>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8" name="TextBox 7"/>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75</a:t>
            </a:r>
          </a:p>
        </p:txBody>
      </p:sp>
      <p:sp>
        <p:nvSpPr>
          <p:cNvPr id="9" name="TextBox 8"/>
          <p:cNvSpPr txBox="1"/>
          <p:nvPr/>
        </p:nvSpPr>
        <p:spPr>
          <a:xfrm>
            <a:off x="1028700" y="2514600"/>
            <a:ext cx="16230600" cy="3291840"/>
          </a:xfrm>
          <a:prstGeom prst="rect">
            <a:avLst/>
          </a:prstGeom>
          <a:noFill/>
        </p:spPr>
        <p:txBody>
          <a:bodyPr anchor="t" rtlCol="false" lIns="0" tIns="0" rIns="0" bIns="0" wrap="square"/>
          <a:lstStyle/>
          <a:p>
            <a:pPr algn="ctr">
              <a:lnSpc>
                <a:spcPts val="15000"/>
              </a:lnSpc>
              <a:spcBef>
                <a:spcPts val="0"/>
              </a:spcBef>
              <a:buNone/>
            </a:pPr>
            <a:r>
              <a:rPr lang="en-US" sz="15000" b="true" spc="-800">
                <a:solidFill>
                  <a:srgbClr val="111111"/>
                </a:solidFill>
                <a:latin typeface="Roca Two Bold"/>
                <a:ea typeface="Roca Two Bold"/>
                <a:cs typeface="Roca Two Bold"/>
                <a:sym typeface="Roca Two Bold"/>
              </a:rPr>
              <a:t>Thank You</a:t>
            </a:r>
          </a:p>
          <a:p>
            <a:pPr algn="ctr">
              <a:lnSpc>
                <a:spcPts val="8400"/>
              </a:lnSpc>
              <a:spcBef>
                <a:spcPts val="400"/>
              </a:spcBef>
              <a:buNone/>
            </a:pPr>
            <a:r>
              <a:rPr lang="en-US" sz="7200" b="true" spc="-350">
                <a:solidFill>
                  <a:srgbClr val="111111"/>
                </a:solidFill>
                <a:latin typeface="Roca Two Bold"/>
                <a:ea typeface="Roca Two Bold"/>
                <a:cs typeface="Roca Two Bold"/>
                <a:sym typeface="Roca Two Bold"/>
              </a:rPr>
              <a:t>for your attention</a:t>
            </a:r>
          </a:p>
        </p:txBody>
      </p:sp>
      <p:pic>
        <p:nvPicPr>
          <p:cNvPr id="10" name="Picture 9" descr="image.png"/>
          <p:cNvPicPr>
            <a:picLocks noChangeAspect="1"/>
          </p:cNvPicPr>
          <p:nvPr/>
        </p:nvPicPr>
        <p:blipFill>
          <a:blip r:embed="rId4"/>
          <a:stretch>
            <a:fillRect/>
          </a:stretch>
        </p:blipFill>
        <p:spPr>
          <a:xfrm>
            <a:off x="13350240" y="2468880"/>
            <a:ext cx="822960" cy="747445"/>
          </a:xfrm>
          <a:prstGeom prst="rect">
            <a:avLst/>
          </a:prstGeom>
        </p:spPr>
      </p:pic>
      <p:pic>
        <p:nvPicPr>
          <p:cNvPr id="11" name="Picture 10" descr="image.png"/>
          <p:cNvPicPr>
            <a:picLocks noChangeAspect="1"/>
          </p:cNvPicPr>
          <p:nvPr/>
        </p:nvPicPr>
        <p:blipFill>
          <a:blip r:embed="rId5"/>
          <a:stretch>
            <a:fillRect/>
          </a:stretch>
        </p:blipFill>
        <p:spPr>
          <a:xfrm rot="20700000">
            <a:off x="3291840" y="4846320"/>
            <a:ext cx="685800" cy="925673"/>
          </a:xfrm>
          <a:prstGeom prst="rect">
            <a:avLst/>
          </a:prstGeom>
        </p:spPr>
      </p:pic>
      <p:sp>
        <p:nvSpPr>
          <p:cNvPr id="12" name="Oval 11"/>
          <p:cNvSpPr/>
          <p:nvPr/>
        </p:nvSpPr>
        <p:spPr>
          <a:xfrm>
            <a:off x="15613380" y="5760720"/>
            <a:ext cx="1005840" cy="1005840"/>
          </a:xfrm>
          <a:prstGeom prst="ellipse">
            <a:avLst/>
          </a:prstGeom>
          <a:solidFill>
            <a:srgbClr val="124944"/>
          </a:solidFill>
          <a:ln>
            <a:noFill/>
          </a:ln>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a:t>
            </a:r>
          </a:p>
        </p:txBody>
      </p:sp>
      <p:sp>
        <p:nvSpPr>
          <p:cNvPr id="13" name="TextBox 12"/>
          <p:cNvSpPr txBox="1"/>
          <p:nvPr/>
        </p:nvSpPr>
        <p:spPr>
          <a:xfrm>
            <a:off x="1028700" y="6583680"/>
            <a:ext cx="16230600" cy="640080"/>
          </a:xfrm>
          <a:prstGeom prst="rect">
            <a:avLst/>
          </a:prstGeom>
          <a:noFill/>
        </p:spPr>
        <p:txBody>
          <a:bodyPr anchor="t" rtlCol="false" lIns="0" tIns="0" rIns="0" bIns="0" wrap="square"/>
          <a:lstStyle/>
          <a:p>
            <a:pPr algn="ctr">
              <a:lnSpc>
                <a:spcPts val="3400"/>
              </a:lnSpc>
              <a:spcBef>
                <a:spcPts val="0"/>
              </a:spcBef>
              <a:buNone/>
            </a:pPr>
            <a:r>
              <a:rPr lang="en-US" sz="2800" b="true">
                <a:solidFill>
                  <a:srgbClr val="124944"/>
                </a:solidFill>
                <a:latin typeface="Nunito Bold"/>
                <a:ea typeface="Nunito Bold"/>
                <a:cs typeface="Nunito Bold"/>
                <a:sym typeface="Nunito Bold"/>
              </a:rPr>
              <a:t>Questions &amp; Discussion  ·  I welcome your questions and comments.</a:t>
            </a:r>
          </a:p>
        </p:txBody>
      </p:sp>
      <p:sp>
        <p:nvSpPr>
          <p:cNvPr id="14" name="Rounded Rectangle 13"/>
          <p:cNvSpPr/>
          <p:nvPr/>
        </p:nvSpPr>
        <p:spPr>
          <a:xfrm>
            <a:off x="102870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CANDIDATE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Mouad LOUHICHI</a:t>
            </a:r>
          </a:p>
        </p:txBody>
      </p:sp>
      <p:sp>
        <p:nvSpPr>
          <p:cNvPr id="15" name="Rounded Rectangle 14"/>
          <p:cNvSpPr/>
          <p:nvPr/>
        </p:nvSpPr>
        <p:spPr>
          <a:xfrm>
            <a:off x="515493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SUPERVISOR</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Pr. Mohamed LAZAAR</a:t>
            </a:r>
          </a:p>
        </p:txBody>
      </p:sp>
      <p:sp>
        <p:nvSpPr>
          <p:cNvPr id="16" name="Rounded Rectangle 15"/>
          <p:cNvSpPr/>
          <p:nvPr/>
        </p:nvSpPr>
        <p:spPr>
          <a:xfrm>
            <a:off x="928116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LABORATORY</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ENSIAS · UM5 Rabat</a:t>
            </a:r>
          </a:p>
        </p:txBody>
      </p:sp>
      <p:sp>
        <p:nvSpPr>
          <p:cNvPr id="17" name="Rounded Rectangle 16"/>
          <p:cNvSpPr/>
          <p:nvPr/>
        </p:nvSpPr>
        <p:spPr>
          <a:xfrm>
            <a:off x="1340739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DEFENCE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Rabat · 2026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QUESTIONS &amp; DISCUSSION  ·  THANK YOU</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7.1, Full Results (mean </a:t>
            </a:r>
            <a:r>
              <a:rPr lang="en-US" sz="4600" b="true" spc="-230">
                <a:solidFill>
                  <a:srgbClr val="111111"/>
                </a:solidFill>
                <a:latin typeface="Cambria Math"/>
                <a:ea typeface="Cambria Math"/>
                <a:cs typeface="Cambria Math"/>
                <a:sym typeface="Cambria Math"/>
              </a:rPr>
              <a:t>± </a:t>
            </a:r>
            <a:r>
              <a:rPr lang="en-US" sz="4600" b="true" spc="-230">
                <a:solidFill>
                  <a:srgbClr val="111111"/>
                </a:solidFill>
                <a:latin typeface="Roca Two Bold"/>
                <a:ea typeface="Roca Two Bold"/>
                <a:cs typeface="Roca Two Bold"/>
                <a:sym typeface="Roca Two Bold"/>
              </a:rPr>
              <a:t>std, 5 seeds)</a:t>
            </a:r>
          </a:p>
        </p:txBody>
      </p:sp>
      <p:pic>
        <p:nvPicPr>
          <p:cNvPr id="9" name="Picture 8" descr="image.png"/>
          <p:cNvPicPr>
            <a:picLocks noChangeAspect="1"/>
          </p:cNvPicPr>
          <p:nvPr/>
        </p:nvPicPr>
        <p:blipFill>
          <a:blip r:embed="rId3"/>
          <a:stretch>
            <a:fillRect/>
          </a:stretch>
        </p:blipFill>
        <p:spPr>
          <a:xfrm>
            <a:off x="14357876" y="1673352"/>
            <a:ext cx="457200" cy="539881"/>
          </a:xfrm>
          <a:prstGeom prst="rect">
            <a:avLst/>
          </a:prstGeom>
        </p:spPr>
      </p:pic>
      <p:sp>
        <p:nvSpPr>
          <p:cNvPr id="10" name="TextBox 9"/>
          <p:cNvSpPr txBox="1"/>
          <p:nvPr/>
        </p:nvSpPr>
        <p:spPr>
          <a:xfrm>
            <a:off x="10287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MOVIELENS-1M</a:t>
            </a:r>
          </a:p>
        </p:txBody>
      </p:sp>
      <p:graphicFrame>
        <p:nvGraphicFramePr>
          <p:cNvPr id="11" name="Table 10"/>
          <p:cNvGraphicFramePr>
            <a:graphicFrameLocks noGrp="1"/>
          </p:cNvGraphicFramePr>
          <p:nvPr/>
        </p:nvGraphicFramePr>
        <p:xfrm>
          <a:off x="10287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0.1200 ± 0.0025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0.0880 ± 0.0020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0.239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0.367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0.1300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0.1100 ± 0.0022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0.269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0.398 ± 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0.2130 ± 0.0030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0.1790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0.308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0.423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0.2296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0.1918 ± 0.0029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0.324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0.445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0.2470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0.2050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0.448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0.2528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0.2098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0.342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0.461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0.2775 ± 0.0039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0.2362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0.397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0.516 ± 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93726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13" name="Table 12"/>
          <p:cNvGraphicFramePr>
            <a:graphicFrameLocks noGrp="1"/>
          </p:cNvGraphicFramePr>
          <p:nvPr/>
        </p:nvGraphicFramePr>
        <p:xfrm>
          <a:off x="93726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0.0049 ± 0.0005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0.0093 ± 0.0009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0.168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0.425 ± 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0.0085 ± 0.0008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0.0142 ± 0.0014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0.193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0.458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0.0236 ± 0.0024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0.0320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0.226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0.491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0.0255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0.0346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0.512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0.0258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0.0344 ± 0.0034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0.520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0.0270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0.0359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0.535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0.0306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0.0417 ± 0.0042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0.336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0.602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4" name="Rounded Rectangle 13"/>
          <p:cNvSpPr/>
          <p:nvPr/>
        </p:nvSpPr>
        <p:spPr>
          <a:xfrm>
            <a:off x="1028700" y="7387082"/>
            <a:ext cx="16230600" cy="822960"/>
          </a:xfrm>
          <a:prstGeom prst="roundRect">
            <a:avLst>
              <a:gd name="adj" fmla="val 24444"/>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Standard deviations are roughly </a:t>
            </a:r>
            <a:r>
              <a:rPr lang="en-US" sz="1700" b="true">
                <a:solidFill>
                  <a:srgbClr val="111111"/>
                </a:solidFill>
                <a:latin typeface="Nunito Bold"/>
                <a:ea typeface="Nunito Bold"/>
                <a:cs typeface="Nunito Bold"/>
                <a:sym typeface="Nunito Bold"/>
              </a:rPr>
              <a:t>one tenth of the gap</a:t>
            </a:r>
            <a:r>
              <a:rPr lang="en-US" sz="1700" b="true">
                <a:solidFill>
                  <a:srgbClr val="111111"/>
                </a:solidFill>
                <a:latin typeface="Nunito Semi-Bold"/>
                <a:ea typeface="Nunito Semi-Bold"/>
                <a:cs typeface="Nunito Semi-Bold"/>
                <a:sym typeface="Nunito Semi-Bold"/>
              </a:rPr>
              <a:t> between DyHuCoG and HPCF on every metric, so the ordering is stable across seeds.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7.6, Paired Tests vs Every Baseline</a:t>
            </a:r>
          </a:p>
        </p:txBody>
      </p:sp>
      <p:pic>
        <p:nvPicPr>
          <p:cNvPr id="9" name="Picture 8" descr="image.png"/>
          <p:cNvPicPr>
            <a:picLocks noChangeAspect="1"/>
          </p:cNvPicPr>
          <p:nvPr/>
        </p:nvPicPr>
        <p:blipFill>
          <a:blip r:embed="rId3"/>
          <a:stretch>
            <a:fillRect/>
          </a:stretch>
        </p:blipFill>
        <p:spPr>
          <a:xfrm>
            <a:off x="13676893" y="1673352"/>
            <a:ext cx="457200" cy="373212"/>
          </a:xfrm>
          <a:prstGeom prst="rect">
            <a:avLst/>
          </a:prstGeom>
        </p:spPr>
      </p:pic>
      <p:graphicFrame>
        <p:nvGraphicFramePr>
          <p:cNvPr id="10" name="Table 9"/>
          <p:cNvGraphicFramePr>
            <a:graphicFrameLocks noGrp="1"/>
          </p:cNvGraphicFramePr>
          <p:nvPr/>
        </p:nvGraphicFramePr>
        <p:xfrm>
          <a:off x="1028700" y="2943098"/>
          <a:ext cx="16230597" cy="3968496"/>
        </p:xfrm>
        <a:graphic>
          <a:graphicData uri="http://schemas.openxmlformats.org/drawingml/2006/table">
            <a:tbl>
              <a:tblPr firstRow="0" bandRow="0" firstCol="0" lastRow="0" lastCol="0" bandCol="0">
                <a:tableStyleId>{2D5ABB26-0587-4C30-8999-92F81FD0307C}</a:tableStyleId>
              </a:tblPr>
              <a:tblGrid>
                <a:gridCol w="4725364"/>
                <a:gridCol w="2054506"/>
                <a:gridCol w="2670858"/>
                <a:gridCol w="2054506"/>
                <a:gridCol w="2465407"/>
                <a:gridCol w="2259956"/>
              </a:tblGrid>
              <a:tr h="566928">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Comparison (per-user NDCG@20, ML-1M)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t statistic</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p-value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Cohen's d</a:t>
                      </a:r>
                      <a:r>
                        <a:rPr lang="en-US" sz="1600" b="true" baseline="-25000">
                          <a:solidFill>
                            <a:srgbClr val="FFFFFF"/>
                          </a:solidFill>
                          <a:latin typeface="Nunito Bold"/>
                          <a:ea typeface="Nunito Bold"/>
                          <a:cs typeface="Nunito Bold"/>
                          <a:sym typeface="Nunito Bold"/>
                        </a:rPr>
                        <a:t>z</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Holm threshold </a:t>
                      </a:r>
                      <a:r>
                        <a:rPr lang="en-US" sz="1600" b="true">
                          <a:solidFill>
                            <a:srgbClr val="FFFFFF"/>
                          </a:solidFill>
                          <a:latin typeface="Calibri"/>
                          <a:ea typeface="Calibri"/>
                          <a:cs typeface="Calibri"/>
                          <a:sym typeface="Calibri"/>
                        </a:rPr>
                        <a:t>α</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Result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46.38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1.81 × 10</a:t>
                      </a:r>
                      <a:r>
                        <a:rPr lang="en-US" sz="1700" b="true" baseline="30000">
                          <a:solidFill>
                            <a:srgbClr val="111111"/>
                          </a:solidFill>
                          <a:latin typeface="Nunito Semi-Bold"/>
                          <a:ea typeface="Nunito Semi-Bold"/>
                          <a:cs typeface="Nunito Semi-Bold"/>
                          <a:sym typeface="Nunito Semi-Bold"/>
                        </a:rPr>
                        <a:t>−270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0.0500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92.72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61.21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132.19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311.13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MF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341.76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1" name="Rounded Rectangle 10"/>
          <p:cNvSpPr/>
          <p:nvPr/>
        </p:nvSpPr>
        <p:spPr>
          <a:xfrm>
            <a:off x="1028700" y="7551674"/>
            <a:ext cx="7932420" cy="1665478"/>
          </a:xfrm>
          <a:prstGeom prst="roundRect">
            <a:avLst>
              <a:gd name="adj" fmla="val 18667"/>
            </a:avLst>
          </a:prstGeom>
          <a:solidFill>
            <a:srgbClr val="F6ECDF"/>
          </a:solidFill>
          <a:ln>
            <a:noFill/>
          </a:ln>
        </p:spPr>
        <p:txBody>
          <a:bodyPr anchor="ctr" rtlCol="false" lIns="0" tIns="0" rIns="0" bIns="0" wrap="square"/>
          <a:lstStyle/>
          <a:p>
            <a:endParaRPr lang="en-US" sz="1800"/>
          </a:p>
        </p:txBody>
      </p:sp>
      <p:sp>
        <p:nvSpPr>
          <p:cNvPr id="12" name="Rounded Rectangle 11"/>
          <p:cNvSpPr/>
          <p:nvPr/>
        </p:nvSpPr>
        <p:spPr>
          <a:xfrm>
            <a:off x="1485900" y="7313930"/>
            <a:ext cx="2585068"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How to read it</a:t>
            </a:r>
          </a:p>
        </p:txBody>
      </p:sp>
      <p:sp>
        <p:nvSpPr>
          <p:cNvPr id="13" name="TextBox 12"/>
          <p:cNvSpPr txBox="1"/>
          <p:nvPr/>
        </p:nvSpPr>
        <p:spPr>
          <a:xfrm>
            <a:off x="1485900" y="8100314"/>
            <a:ext cx="7063740" cy="933958"/>
          </a:xfrm>
          <a:prstGeom prst="rect">
            <a:avLst/>
          </a:prstGeom>
          <a:noFill/>
        </p:spPr>
        <p:txBody>
          <a:bodyPr anchor="t" rtlCol="false" lIns="0" tIns="0" rIns="0" bIns="0" wrap="square"/>
          <a:lstStyle/>
          <a:p>
            <a:pPr algn="l" marL="274320" indent="-274320">
              <a:lnSpc>
                <a:spcPts val="2173"/>
              </a:lnSpc>
              <a:spcBef>
                <a:spcPts val="0"/>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Paired t-test over </a:t>
            </a:r>
            <a:r>
              <a:rPr lang="en-US" sz="1552" b="true">
                <a:solidFill>
                  <a:srgbClr val="111111"/>
                </a:solidFill>
                <a:latin typeface="Nunito Bold"/>
                <a:ea typeface="Nunito Bold"/>
                <a:cs typeface="Nunito Bold"/>
                <a:sym typeface="Nunito Bold"/>
              </a:rPr>
              <a:t>6,040 users</a:t>
            </a:r>
            <a:r>
              <a:rPr lang="en-US" sz="1552" b="true">
                <a:solidFill>
                  <a:srgbClr val="111111"/>
                </a:solidFill>
                <a:latin typeface="Nunito Semi-Bold"/>
                <a:ea typeface="Nunito Semi-Bold"/>
                <a:cs typeface="Nunito Semi-Bold"/>
                <a:sym typeface="Nunito Semi-Bold"/>
              </a:rPr>
              <a:t> (df = 6,039); Holm–Bonferroni gives each of the six p-values its own threshold.</a:t>
            </a:r>
          </a:p>
          <a:p>
            <a:pPr algn="l" marL="274320" indent="-274320">
              <a:lnSpc>
                <a:spcPts val="2173"/>
              </a:lnSpc>
              <a:spcBef>
                <a:spcPts val="388"/>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Every p-value is far below its threshold; </a:t>
            </a:r>
            <a:r>
              <a:rPr lang="en-US" sz="1552" b="true">
                <a:solidFill>
                  <a:srgbClr val="111111"/>
                </a:solidFill>
                <a:latin typeface="Nunito Bold"/>
                <a:ea typeface="Nunito Bold"/>
                <a:cs typeface="Nunito Bold"/>
                <a:sym typeface="Nunito Bold"/>
              </a:rPr>
              <a:t>Wilcoxon</a:t>
            </a:r>
            <a:r>
              <a:rPr lang="en-US" sz="1552" b="true">
                <a:solidFill>
                  <a:srgbClr val="111111"/>
                </a:solidFill>
                <a:latin typeface="Nunito Semi-Bold"/>
                <a:ea typeface="Nunito Semi-Bold"/>
                <a:cs typeface="Nunito Semi-Bold"/>
                <a:sym typeface="Nunito Semi-Bold"/>
              </a:rPr>
              <a:t> agrees (p &lt; 0.001).</a:t>
            </a:r>
          </a:p>
        </p:txBody>
      </p:sp>
      <p:sp>
        <p:nvSpPr>
          <p:cNvPr id="14" name="Rounded Rectangle 13"/>
          <p:cNvSpPr/>
          <p:nvPr/>
        </p:nvSpPr>
        <p:spPr>
          <a:xfrm>
            <a:off x="9326880" y="7551674"/>
            <a:ext cx="7932420" cy="1665478"/>
          </a:xfrm>
          <a:prstGeom prst="roundRect">
            <a:avLst>
              <a:gd name="adj" fmla="val 18667"/>
            </a:avLst>
          </a:prstGeom>
          <a:solidFill>
            <a:srgbClr val="124944"/>
          </a:solidFill>
          <a:ln>
            <a:noFill/>
          </a:ln>
        </p:spPr>
        <p:txBody>
          <a:bodyPr anchor="ctr" rtlCol="false" lIns="0" tIns="0" rIns="0" bIns="0" wrap="square"/>
          <a:lstStyle/>
          <a:p>
            <a:endParaRPr lang="en-US" sz="1800"/>
          </a:p>
        </p:txBody>
      </p:sp>
      <p:sp>
        <p:nvSpPr>
          <p:cNvPr id="15" name="Rounded Rectangle 14"/>
          <p:cNvSpPr/>
          <p:nvPr/>
        </p:nvSpPr>
        <p:spPr>
          <a:xfrm>
            <a:off x="9784080" y="7313930"/>
            <a:ext cx="202619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Effect size</a:t>
            </a:r>
          </a:p>
        </p:txBody>
      </p:sp>
      <p:sp>
        <p:nvSpPr>
          <p:cNvPr id="16" name="TextBox 15"/>
          <p:cNvSpPr txBox="1"/>
          <p:nvPr/>
        </p:nvSpPr>
        <p:spPr>
          <a:xfrm>
            <a:off x="9784080" y="8100314"/>
            <a:ext cx="7063740" cy="933958"/>
          </a:xfrm>
          <a:prstGeom prst="rect">
            <a:avLst/>
          </a:prstGeom>
          <a:noFill/>
        </p:spPr>
        <p:txBody>
          <a:bodyPr anchor="t" rtlCol="false" lIns="0" tIns="0" rIns="0" bIns="0" wrap="square"/>
          <a:lstStyle/>
          <a:p>
            <a:pPr algn="l" marL="274320" indent="-274320">
              <a:lnSpc>
                <a:spcPts val="2226"/>
              </a:lnSpc>
              <a:spcBef>
                <a:spcPts val="0"/>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Cohen's d</a:t>
            </a:r>
            <a:r>
              <a:rPr lang="en-US" sz="1504" b="true" baseline="-25000">
                <a:solidFill>
                  <a:srgbClr val="FFFFFF"/>
                </a:solidFill>
                <a:latin typeface="Nunito Semi-Bold"/>
                <a:ea typeface="Nunito Semi-Bold"/>
                <a:cs typeface="Nunito Semi-Bold"/>
                <a:sym typeface="Nunito Semi-Bold"/>
              </a:rPr>
              <a:t>z</a:t>
            </a:r>
            <a:r>
              <a:rPr lang="en-US" sz="1504" b="true">
                <a:solidFill>
                  <a:srgbClr val="FFFFFF"/>
                </a:solidFill>
                <a:latin typeface="Nunito Semi-Bold"/>
                <a:ea typeface="Nunito Semi-Bold"/>
                <a:cs typeface="Nunito Semi-Bold"/>
                <a:sym typeface="Nunito Semi-Bold"/>
              </a:rPr>
              <a:t> ≥ 1.33 everywhere: </a:t>
            </a:r>
            <a:r>
              <a:rPr lang="en-US" sz="1504" b="true">
                <a:solidFill>
                  <a:srgbClr val="FFFFFF"/>
                </a:solidFill>
                <a:latin typeface="Nunito Bold"/>
                <a:ea typeface="Nunito Bold"/>
                <a:cs typeface="Nunito Bold"/>
                <a:sym typeface="Nunito Bold"/>
              </a:rPr>
              <a:t>large</a:t>
            </a:r>
            <a:r>
              <a:rPr lang="en-US" sz="1504" b="true">
                <a:solidFill>
                  <a:srgbClr val="FFFFFF"/>
                </a:solidFill>
                <a:latin typeface="Nunito Semi-Bold"/>
                <a:ea typeface="Nunito Semi-Bold"/>
                <a:cs typeface="Nunito Semi-Bold"/>
                <a:sym typeface="Nunito Semi-Bold"/>
              </a:rPr>
              <a:t> (0.8) is exceeded even against the strongest baseline.</a:t>
            </a:r>
          </a:p>
          <a:p>
            <a:pPr algn="l" marL="274320" indent="-274320">
              <a:lnSpc>
                <a:spcPts val="2106"/>
              </a:lnSpc>
              <a:spcBef>
                <a:spcPts val="376"/>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The improvement is practically meaningful, not only statistically visible.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Tables 7.3 and 7.4, Cost and Convergence</a:t>
            </a:r>
          </a:p>
        </p:txBody>
      </p:sp>
      <p:pic>
        <p:nvPicPr>
          <p:cNvPr id="9" name="Picture 8" descr="image.png"/>
          <p:cNvPicPr>
            <a:picLocks noChangeAspect="1"/>
          </p:cNvPicPr>
          <p:nvPr/>
        </p:nvPicPr>
        <p:blipFill>
          <a:blip r:embed="rId3"/>
          <a:stretch>
            <a:fillRect/>
          </a:stretch>
        </p:blipFill>
        <p:spPr>
          <a:xfrm>
            <a:off x="13929945" y="1673352"/>
            <a:ext cx="457200" cy="427074"/>
          </a:xfrm>
          <a:prstGeom prst="rect">
            <a:avLst/>
          </a:prstGeom>
        </p:spPr>
      </p:pic>
      <p:sp>
        <p:nvSpPr>
          <p:cNvPr id="10" name="TextBox 9"/>
          <p:cNvSpPr txBox="1"/>
          <p:nvPr/>
        </p:nvSpPr>
        <p:spPr>
          <a:xfrm>
            <a:off x="1028700" y="2897378"/>
            <a:ext cx="1024128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7.3  ·  RUNTIME AND MEMORY</a:t>
            </a:r>
          </a:p>
        </p:txBody>
      </p:sp>
      <p:graphicFrame>
        <p:nvGraphicFramePr>
          <p:cNvPr id="11" name="Table 10"/>
          <p:cNvGraphicFramePr>
            <a:graphicFrameLocks noGrp="1"/>
          </p:cNvGraphicFramePr>
          <p:nvPr/>
        </p:nvGraphicFramePr>
        <p:xfrm>
          <a:off x="1028700" y="3263138"/>
          <a:ext cx="10241276" cy="3790188"/>
        </p:xfrm>
        <a:graphic>
          <a:graphicData uri="http://schemas.openxmlformats.org/drawingml/2006/table">
            <a:tbl>
              <a:tblPr firstRow="0" bandRow="0" firstCol="0" lastRow="0" lastCol="0" bandCol="0">
                <a:tableStyleId>{2D5ABB26-0587-4C30-8999-92F81FD0307C}</a:tableStyleId>
              </a:tblPr>
              <a:tblGrid>
                <a:gridCol w="1503307"/>
                <a:gridCol w="1597263"/>
                <a:gridCol w="1127480"/>
                <a:gridCol w="1127480"/>
                <a:gridCol w="1691220"/>
                <a:gridCol w="1127480"/>
                <a:gridCol w="1127480"/>
                <a:gridCol w="939566"/>
              </a:tblGrid>
              <a:tr h="589788">
                <a:tc>
                  <a:txBody>
                    <a:bodyPr anchor="ctr" rtlCol="false" lIns="0" tIns="0" rIns="0" bIns="0" wrap="square"/>
                    <a:lstStyle/>
                    <a:p>
                      <a:pPr algn="l">
                        <a:lnSpc>
                          <a:spcPts val="1690"/>
                        </a:lnSpc>
                        <a:spcBef>
                          <a:spcPts val="0"/>
                        </a:spcBef>
                        <a:buNone/>
                      </a:pPr>
                      <a:r>
                        <a:rPr lang="en-US" sz="13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Amazon</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MF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2,202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2.46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675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0.76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3,073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786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0.88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3,645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12.8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4,527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5.04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1.89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4,419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4.92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1.96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5,234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5.48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1.84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4.4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9,279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8.52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3.41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11727180" y="2897378"/>
            <a:ext cx="553212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7.4  ·  MONTE CARLO SHAPLEY</a:t>
            </a:r>
          </a:p>
        </p:txBody>
      </p:sp>
      <p:graphicFrame>
        <p:nvGraphicFramePr>
          <p:cNvPr id="13" name="Table 12"/>
          <p:cNvGraphicFramePr>
            <a:graphicFrameLocks noGrp="1"/>
          </p:cNvGraphicFramePr>
          <p:nvPr/>
        </p:nvGraphicFramePr>
        <p:xfrm>
          <a:off x="11727180" y="3263138"/>
          <a:ext cx="5532120" cy="2286000"/>
        </p:xfrm>
        <a:graphic>
          <a:graphicData uri="http://schemas.openxmlformats.org/drawingml/2006/table">
            <a:tbl>
              <a:tblPr firstRow="0" bandRow="0" firstCol="0" lastRow="0" lastCol="0" bandCol="0">
                <a:tableStyleId>{2D5ABB26-0587-4C30-8999-92F81FD0307C}</a:tableStyleId>
              </a:tblPr>
              <a:tblGrid>
                <a:gridCol w="737616"/>
                <a:gridCol w="1475232"/>
                <a:gridCol w="1198626"/>
                <a:gridCol w="1198626"/>
                <a:gridCol w="922020"/>
              </a:tblGrid>
              <a:tr h="457200">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Accuracy</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base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 × 10</a:t>
                      </a:r>
                      <a:r>
                        <a:rPr lang="en-US" sz="1400" b="true" baseline="30000">
                          <a:solidFill>
                            <a:srgbClr val="111111"/>
                          </a:solidFill>
                          <a:latin typeface="Nunito Semi-Bold"/>
                          <a:ea typeface="Nunito Semi-Bold"/>
                          <a:cs typeface="Nunito Semi-Bold"/>
                          <a:sym typeface="Nunito Semi-Bold"/>
                        </a:rPr>
                        <a:t>−4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1,460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5.6 × 10</a:t>
                      </a:r>
                      <a:r>
                        <a:rPr lang="en-US" sz="1400" b="true"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98 %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1,800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ctr">
                        <a:lnSpc>
                          <a:spcPts val="1820"/>
                        </a:lnSpc>
                        <a:spcBef>
                          <a:spcPts val="0"/>
                        </a:spcBef>
                        <a:buNone/>
                      </a:pPr>
                      <a:r>
                        <a:rPr lang="en-US" sz="1400" b="1">
                          <a:solidFill>
                            <a:srgbClr val="111111"/>
                          </a:solidFill>
                          <a:latin typeface="Nunito Bold"/>
                          <a:ea typeface="Nunito Bold"/>
                          <a:cs typeface="Nunito Bold"/>
                          <a:sym typeface="Nunito Bold"/>
                        </a:rPr>
                        <a:t>50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1.4 × 10</a:t>
                      </a:r>
                      <a:r>
                        <a:rPr lang="en-US" sz="1400" b="1"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99 %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3.5 × 10</a:t>
                      </a:r>
                      <a:r>
                        <a:rPr lang="en-US" sz="1400" b="true" baseline="30000">
                          <a:solidFill>
                            <a:srgbClr val="111111"/>
                          </a:solidFill>
                          <a:latin typeface="Nunito Semi-Bold"/>
                          <a:ea typeface="Nunito Semi-Bold"/>
                          <a:cs typeface="Nunito Semi-Bold"/>
                          <a:sym typeface="Nunito Semi-Bold"/>
                        </a:rPr>
                        <a:t>−6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2,810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4" name="Rounded Rectangle 13"/>
          <p:cNvSpPr/>
          <p:nvPr/>
        </p:nvSpPr>
        <p:spPr>
          <a:xfrm>
            <a:off x="1028700" y="7419086"/>
            <a:ext cx="16230600" cy="1005840"/>
          </a:xfrm>
          <a:prstGeom prst="roundRect">
            <a:avLst>
              <a:gd name="adj" fmla="val 20000"/>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DyHuCoG costs about </a:t>
            </a:r>
            <a:r>
              <a:rPr lang="en-US" sz="1700" b="true">
                <a:solidFill>
                  <a:srgbClr val="111111"/>
                </a:solidFill>
                <a:latin typeface="Nunito Bold"/>
                <a:ea typeface="Nunito Bold"/>
                <a:cs typeface="Nunito Bold"/>
                <a:sym typeface="Nunito Bold"/>
              </a:rPr>
              <a:t>1.78× HPCF</a:t>
            </a:r>
            <a:r>
              <a:rPr lang="en-US" sz="1700" b="true">
                <a:solidFill>
                  <a:srgbClr val="111111"/>
                </a:solidFill>
                <a:latin typeface="Nunito Semi-Bold"/>
                <a:ea typeface="Nunito Semi-Bold"/>
                <a:cs typeface="Nunito Semi-Bold"/>
                <a:sym typeface="Nunito Semi-Bold"/>
              </a:rPr>
              <a:t> in training time and stays under </a:t>
            </a:r>
            <a:r>
              <a:rPr lang="en-US" sz="1700" b="true">
                <a:solidFill>
                  <a:srgbClr val="111111"/>
                </a:solidFill>
                <a:latin typeface="Nunito Bold"/>
                <a:ea typeface="Nunito Bold"/>
                <a:cs typeface="Nunito Bold"/>
                <a:sym typeface="Nunito Bold"/>
              </a:rPr>
              <a:t>2 ms per query</a:t>
            </a:r>
            <a:r>
              <a:rPr lang="en-US" sz="1700" b="true">
                <a:solidFill>
                  <a:srgbClr val="111111"/>
                </a:solidFill>
                <a:latin typeface="Nunito Semi-Bold"/>
                <a:ea typeface="Nunito Semi-Bold"/>
                <a:cs typeface="Nunito Semi-Bold"/>
                <a:sym typeface="Nunito Semi-Bold"/>
              </a:rPr>
              <a:t> on MovieLens-1M; M = 50 permutations is the knee of the accuracy / cost curve, which is why it is the default.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DAHURed54lA</dc:identifier>
  <dcterms:modified xsi:type="dcterms:W3CDTF">2011-08-01T06:04:30Z</dcterms:modified>
  <cp:revision>1</cp:revision>
  <dc:title>Beige Green Modern Illustrative Playful Thesis Defense Presentation</dc:title>
</cp:coreProperties>
</file>