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I am Mouad Louhichi, and the thesis I am defending, supervised by Professor Mohamed Lazaar, is entitled: Cooperative Game Theory for Explainable AI in Recommendation Systems, A Shapley Framework for Actionable Insight. Keep one idea in mind: Shapley attribution is not just a way to explain a model after training. I show how it becomes one framework that explains black-box models, stays consistent across levels of detail, and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the next forty minutes. I will start with the motivation and the concept of actionable insight, then the research context, the limitations and the research questions. Then the common experimental protocol, and the three contributions, each following the same path: the gap, the objectives, the methodology, the protocol, the results and the findings. I will close with the outcomes and the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The first question is simple: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accurate, but their reasoning is hard to understand. Three questions drive this thesis. First, scale: these models shape the experience of billions of users. Second, transparency: even state-of-the-art recommenders and clustering pipelines are often black boxes. Third, trust: can we build transparency into the model itself, instead of adding explanations later? And the thesis starts from one idea: accuracy and interpretability are two goals to achieve together, not competing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thesis turns on. An explanation is actionable when it points to something we can actually change, and changing it clearly affects the output. It must be expressed in the language of the domain: acidity in wine, pollution in air quality, user preferences in recommenders. 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context. The history of this field is also the history of the interpretability problem. Early similarity-based approaches were easy to explain because they used visible features. Matrix factorization improved accuracy and scale, but hid the meaning in latent factors. Neural and graph models added power through hidden representations and message passing, and hypergraphs added richer relationships. At each step we gained predictive power while losing transparency. That growing gap is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only theoretical models. Netflix, Spotify, Amazon and Yelp already personalize the experience of millions of users. The performance is impressive, yet the user rarely knows why a specific item was selected. That is the situation this work starts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67.png"/><Relationship Id="rId5" Type="http://schemas.openxmlformats.org/officeDocument/2006/relationships/image" Target="../media/image6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69.png"/><Relationship Id="rId5"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71.png"/><Relationship Id="rId5" Type="http://schemas.openxmlformats.org/officeDocument/2006/relationships/image" Target="../media/image7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7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 Id="rId4" Type="http://schemas.openxmlformats.org/officeDocument/2006/relationships/image" Target="../media/image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5" name="TextBox 24"/>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FROM EXPLANATION TO ACTION</a:t>
            </a:r>
          </a:p>
        </p:txBody>
      </p:sp>
      <p:sp>
        <p:nvSpPr>
          <p:cNvPr id="26" name="Rounded Rectangle 25"/>
          <p:cNvSpPr/>
          <p:nvPr/>
        </p:nvSpPr>
        <p:spPr>
          <a:xfrm>
            <a:off x="944118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27" name="Connector 26"/>
          <p:cNvCxnSpPr/>
          <p:nvPr/>
        </p:nvCxnSpPr>
        <p:spPr>
          <a:xfrm>
            <a:off x="11087100" y="5352542"/>
            <a:ext cx="381000" cy="0"/>
          </a:xfrm>
          <a:prstGeom prst="line">
            <a:avLst/>
          </a:prstGeom>
          <a:ln w="28575">
            <a:solidFill>
              <a:srgbClr val="4472C4"/>
            </a:solidFill>
            <a:tailEnd type="triangle" w="med" len="med"/>
          </a:ln>
        </p:spPr>
      </p:cxnSp>
      <p:sp>
        <p:nvSpPr>
          <p:cNvPr id="28" name="Rounded Rectangle 27"/>
          <p:cNvSpPr/>
          <p:nvPr/>
        </p:nvSpPr>
        <p:spPr>
          <a:xfrm>
            <a:off x="1151382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29" name="Connector 28"/>
          <p:cNvCxnSpPr/>
          <p:nvPr/>
        </p:nvCxnSpPr>
        <p:spPr>
          <a:xfrm>
            <a:off x="13159740" y="5352542"/>
            <a:ext cx="381000" cy="0"/>
          </a:xfrm>
          <a:prstGeom prst="line">
            <a:avLst/>
          </a:prstGeom>
          <a:ln w="28575">
            <a:solidFill>
              <a:srgbClr val="4472C4"/>
            </a:solidFill>
            <a:tailEnd type="triangle" w="med" len="med"/>
          </a:ln>
        </p:spPr>
      </p:cxnSp>
      <p:sp>
        <p:nvSpPr>
          <p:cNvPr id="30" name="Rounded Rectangle 29"/>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1" name="Connector 30"/>
          <p:cNvCxnSpPr/>
          <p:nvPr/>
        </p:nvCxnSpPr>
        <p:spPr>
          <a:xfrm>
            <a:off x="15232380" y="5352542"/>
            <a:ext cx="381000" cy="0"/>
          </a:xfrm>
          <a:prstGeom prst="line">
            <a:avLst/>
          </a:prstGeom>
          <a:ln w="28575">
            <a:solidFill>
              <a:srgbClr val="4472C4"/>
            </a:solidFill>
            <a:tailEnd type="triangle" w="med" len="med"/>
          </a:ln>
        </p:spPr>
      </p:cxnSp>
      <p:sp>
        <p:nvSpPr>
          <p:cNvPr id="32" name="Rounded Rectangle 31"/>
          <p:cNvSpPr/>
          <p:nvPr/>
        </p:nvSpPr>
        <p:spPr>
          <a:xfrm>
            <a:off x="15659100" y="4643882"/>
            <a:ext cx="1600200" cy="1417320"/>
          </a:xfrm>
          <a:prstGeom prst="roundRect">
            <a:avLst>
              <a:gd name="adj" fmla="val 12903"/>
            </a:avLst>
          </a:prstGeom>
          <a:solidFill>
            <a:srgbClr val="1F7A8C"/>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3" name="Connector 32"/>
          <p:cNvCxnSpPr/>
          <p:nvPr/>
        </p:nvCxnSpPr>
        <p:spPr>
          <a:xfrm>
            <a:off x="10241280" y="6106922"/>
            <a:ext cx="0" cy="365760"/>
          </a:xfrm>
          <a:prstGeom prst="line">
            <a:avLst/>
          </a:prstGeom>
          <a:ln w="28575">
            <a:solidFill>
              <a:srgbClr val="1F7A8C"/>
            </a:solidFill>
          </a:ln>
        </p:spPr>
      </p:cxnSp>
      <p:cxnSp>
        <p:nvCxnSpPr>
          <p:cNvPr id="34" name="Connector 33"/>
          <p:cNvCxnSpPr/>
          <p:nvPr/>
        </p:nvCxnSpPr>
        <p:spPr>
          <a:xfrm>
            <a:off x="10241280" y="6472682"/>
            <a:ext cx="6217920" cy="0"/>
          </a:xfrm>
          <a:prstGeom prst="line">
            <a:avLst/>
          </a:prstGeom>
          <a:ln w="28575">
            <a:solidFill>
              <a:srgbClr val="1F7A8C"/>
            </a:solidFill>
            <a:prstDash val="dash"/>
          </a:ln>
        </p:spPr>
      </p:cxnSp>
      <p:cxnSp>
        <p:nvCxnSpPr>
          <p:cNvPr id="35" name="Connector 34"/>
          <p:cNvCxnSpPr/>
          <p:nvPr/>
        </p:nvCxnSpPr>
        <p:spPr>
          <a:xfrm>
            <a:off x="16459200" y="6106922"/>
            <a:ext cx="0" cy="365760"/>
          </a:xfrm>
          <a:prstGeom prst="line">
            <a:avLst/>
          </a:prstGeom>
          <a:ln w="28575">
            <a:solidFill>
              <a:srgbClr val="1F7A8C"/>
            </a:solidFill>
          </a:ln>
        </p:spPr>
      </p:cxnSp>
      <p:sp>
        <p:nvSpPr>
          <p:cNvPr id="36" name="TextBox 35"/>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Actionable</a:t>
            </a:r>
            <a:r>
              <a:rPr lang="en-US" sz="1800" b="true">
                <a:solidFill>
                  <a:srgbClr val="1F7A8C"/>
                </a:solidFill>
                <a:latin typeface="Nunito Semi-Bold"/>
                <a:ea typeface="Nunito Semi-Bold"/>
                <a:cs typeface="Nunito Semi-Bold"/>
                <a:sym typeface="Nunito Semi-Bold"/>
              </a:rPr>
              <a:t> = a real-world lever you can pull to change the outcome</a:t>
            </a:r>
          </a:p>
        </p:txBody>
      </p:sp>
      <p:sp>
        <p:nvSpPr>
          <p:cNvPr id="37" name="Rounded Rectangle 36"/>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38" name="Rounded Rectangle 37"/>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39" name="Rounded Rectangle 38"/>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5" name="Rounded Rectangle 24"/>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9" name="Rounded Rectangle 28"/>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3" name="Rounded Rectangle 32"/>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7" name="Rounded Rectangle 36"/>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1371600"/>
          </a:xfrm>
          <a:prstGeom prst="roundRect">
            <a:avLst>
              <a:gd name="adj" fmla="val 14666"/>
            </a:avLst>
          </a:prstGeom>
          <a:solidFill>
            <a:srgbClr val="F6ECDF"/>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1" name="TextBox 30"/>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4" name="Equation"/>
              <p:cNvSpPr txBox="1"/>
              <p:nvPr/>
            </p:nvSpPr>
            <p:spPr>
              <a:xfrm>
                <a:off x="1211580" y="8749538"/>
                <a:ext cx="7315200" cy="109728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8" name="Rounded Rectangle 37"/>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0" name="Rounded Rectangle 39"/>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1" name="Rounded Rectangle 40"/>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2" name="Rounded Rectangle 41"/>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3" name="Rounded Rectangle 42"/>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84489" y="3546602"/>
            <a:ext cx="5359901"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10379599" y="7808595"/>
            <a:ext cx="4569680"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9013665" y="3546602"/>
            <a:ext cx="7484428"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6273209" y="3500882"/>
            <a:ext cx="5741581"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29"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1" name="Table 30"/>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TextBox 31"/>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3" name="Rounded Rectangle 32"/>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5" name="TextBox 34"/>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6"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6"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6205039" y="3500882"/>
            <a:ext cx="5877921" cy="1417320"/>
          </a:xfrm>
          <a:prstGeom prst="rect">
            <a:avLst/>
          </a:prstGeom>
        </p:spPr>
      </p:pic>
      <p:sp>
        <p:nvSpPr>
          <p:cNvPr id="27" name="TextBox 26"/>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29" name="TextBox 28"/>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0"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0" name="Equation"/>
              <p:cNvSpPr txBox="1"/>
              <p:nvPr/>
            </p:nvSpPr>
            <p:spPr>
              <a:xfrm>
                <a:off x="4686300" y="5283962"/>
                <a:ext cx="12298680" cy="609811"/>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2" name="TextBox 31"/>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3" name="Equation"/>
              <p:cNvSpPr txBox="1"/>
              <p:nvPr/>
            </p:nvSpPr>
            <p:spPr>
              <a:xfrm>
                <a:off x="4686300" y="5985213"/>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6"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6" name="Equation"/>
              <p:cNvSpPr txBox="1"/>
              <p:nvPr/>
            </p:nvSpPr>
            <p:spPr>
              <a:xfrm>
                <a:off x="4686300" y="6686465"/>
                <a:ext cx="9372600" cy="609811"/>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8" name="Rounded Rectangle 37"/>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9" name="TextBox 38"/>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0"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4686300" y="7387717"/>
                <a:ext cx="12298680" cy="609811"/>
              </a:xfrm>
              <a:prstGeom prst="rect">
                <a:avLst/>
              </a:prstGeom>
              <a:blipFill>
                <a:blip r:embed="rId8"/>
                <a:stretch>
                  <a:fillRect/>
                </a:stretch>
              </a:blipFill>
            </p:spPr>
            <p:txBody>
              <a:bodyPr/>
              <a:lstStyle/>
              <a:p>
                <a:endParaRPr lang="en-US"/>
              </a:p>
            </p:txBody>
          </p:sp>
        </mc:Fallback>
      </mc:AlternateContent>
      <p:sp>
        <p:nvSpPr>
          <p:cNvPr id="41" name="Rounded Rectangle 40"/>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2" name="TextBox 41"/>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3"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8088968"/>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5" name="TextBox 44"/>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6"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6" name="Equation"/>
              <p:cNvSpPr txBox="1"/>
              <p:nvPr/>
            </p:nvSpPr>
            <p:spPr>
              <a:xfrm>
                <a:off x="4686300" y="8790220"/>
                <a:ext cx="9372600" cy="609811"/>
              </a:xfrm>
              <a:prstGeom prst="rect">
                <a:avLst/>
              </a:prstGeom>
              <a:blipFill>
                <a:blip r:embed="rId10"/>
                <a:stretch>
                  <a:fillRect/>
                </a:stretch>
              </a:blipFill>
            </p:spPr>
            <p:txBody>
              <a:bodyPr/>
              <a:lstStyle/>
              <a:p>
                <a:endParaRPr lang="en-US"/>
              </a:p>
            </p:txBody>
          </p:sp>
        </mc:Fallback>
      </mc:AlternateContent>
      <p:sp>
        <p:nvSpPr>
          <p:cNvPr id="47" name="TextBox 46"/>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3"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3"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6" name="TextBox 35"/>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