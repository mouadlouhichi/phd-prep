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7" Type="http://schemas.openxmlformats.org/officeDocument/2006/relationships/slide" Target="slides/slide21.xml"/><Relationship Id="rId48" Type="http://schemas.openxmlformats.org/officeDocument/2006/relationships/slide" Target="slides/slide22.xml"/><Relationship Id="rId49" Type="http://schemas.openxmlformats.org/officeDocument/2006/relationships/slide" Target="slides/slide23.xml"/><Relationship Id="rId50" Type="http://schemas.openxmlformats.org/officeDocument/2006/relationships/slide" Target="slides/slide24.xml"/><Relationship Id="rId51" Type="http://schemas.openxmlformats.org/officeDocument/2006/relationships/slide" Target="slides/slide25.xml"/><Relationship Id="rId52" Type="http://schemas.openxmlformats.org/officeDocument/2006/relationships/slide" Target="slides/slide26.xml"/><Relationship Id="rId53" Type="http://schemas.openxmlformats.org/officeDocument/2006/relationships/slide" Target="slides/slide27.xml"/><Relationship Id="rId54" Type="http://schemas.openxmlformats.org/officeDocument/2006/relationships/slide" Target="slides/slide28.xml"/><Relationship Id="rId55" Type="http://schemas.openxmlformats.org/officeDocument/2006/relationships/slide" Target="slides/slide29.xml"/><Relationship Id="rId56" Type="http://schemas.openxmlformats.org/officeDocument/2006/relationships/slide" Target="slides/slide30.xml"/><Relationship Id="rId57" Type="http://schemas.openxmlformats.org/officeDocument/2006/relationships/slide" Target="slides/slide31.xml"/><Relationship Id="rId58" Type="http://schemas.openxmlformats.org/officeDocument/2006/relationships/slide" Target="slides/slide32.xml"/><Relationship Id="rId59" Type="http://schemas.openxmlformats.org/officeDocument/2006/relationships/slide" Target="slides/slide33.xml"/><Relationship Id="rId60" Type="http://schemas.openxmlformats.org/officeDocument/2006/relationships/slide" Target="slides/slide34.xml"/><Relationship Id="rId61" Type="http://schemas.openxmlformats.org/officeDocument/2006/relationships/slide" Target="slides/slide35.xml"/><Relationship Id="rId62" Type="http://schemas.openxmlformats.org/officeDocument/2006/relationships/slide" Target="slides/slide36.xml"/><Relationship Id="rId63" Type="http://schemas.openxmlformats.org/officeDocument/2006/relationships/slide" Target="slides/slide37.xml"/><Relationship Id="rId64" Type="http://schemas.openxmlformats.org/officeDocument/2006/relationships/slide" Target="slides/slide38.xml"/><Relationship Id="rId65" Type="http://schemas.openxmlformats.org/officeDocument/2006/relationships/slide" Target="slides/slide39.xml"/><Relationship Id="rId66" Type="http://schemas.openxmlformats.org/officeDocument/2006/relationships/slide" Target="slides/slide40.xml"/><Relationship Id="rId67" Type="http://schemas.openxmlformats.org/officeDocument/2006/relationships/slide" Target="slides/slide41.xml"/><Relationship Id="rId68" Type="http://schemas.openxmlformats.org/officeDocument/2006/relationships/slide" Target="slides/slide42.xml"/><Relationship Id="rId69" Type="http://schemas.openxmlformats.org/officeDocument/2006/relationships/slide" Target="slides/slide43.xml"/><Relationship Id="rId70" Type="http://schemas.openxmlformats.org/officeDocument/2006/relationships/slide" Target="slides/slide44.xml"/><Relationship Id="rId71" Type="http://schemas.openxmlformats.org/officeDocument/2006/relationships/slide" Target="slides/slide45.xml"/><Relationship Id="rId72" Type="http://schemas.openxmlformats.org/officeDocument/2006/relationships/slide" Target="slides/slide46.xml"/><Relationship Id="rId73" Type="http://schemas.openxmlformats.org/officeDocument/2006/relationships/slide" Target="slides/slide47.xml"/><Relationship Id="rId74" Type="http://schemas.openxmlformats.org/officeDocument/2006/relationships/slide" Target="slides/slide48.xml"/><Relationship Id="rId75" Type="http://schemas.openxmlformats.org/officeDocument/2006/relationships/slide" Target="slides/slide49.xml"/><Relationship Id="rId76" Type="http://schemas.openxmlformats.org/officeDocument/2006/relationships/slide" Target="slides/slide50.xml"/><Relationship Id="rId77" Type="http://schemas.openxmlformats.org/officeDocument/2006/relationships/slide" Target="slides/slide51.xml"/><Relationship Id="rId78" Type="http://schemas.openxmlformats.org/officeDocument/2006/relationships/slide" Target="slides/slide52.xml"/><Relationship Id="rId79" Type="http://schemas.openxmlformats.org/officeDocument/2006/relationships/slide" Target="slides/slide53.xml"/><Relationship Id="rId80" Type="http://schemas.openxmlformats.org/officeDocument/2006/relationships/slide" Target="slides/slide54.xml"/><Relationship Id="rId81" Type="http://schemas.openxmlformats.org/officeDocument/2006/relationships/slide" Target="slides/slide55.xml"/><Relationship Id="rId82" Type="http://schemas.openxmlformats.org/officeDocument/2006/relationships/slide" Target="slides/slide56.xml"/><Relationship Id="rId83" Type="http://schemas.openxmlformats.org/officeDocument/2006/relationships/slide" Target="slides/slide57.xml"/><Relationship Id="rId84" Type="http://schemas.openxmlformats.org/officeDocument/2006/relationships/slide" Target="slides/slide58.xml"/><Relationship Id="rId85" Type="http://schemas.openxmlformats.org/officeDocument/2006/relationships/slide" Target="slides/slide59.xml"/><Relationship Id="rId86" Type="http://schemas.openxmlformats.org/officeDocument/2006/relationships/slide" Target="slides/slide60.xml"/><Relationship Id="rId87" Type="http://schemas.openxmlformats.org/officeDocument/2006/relationships/slide" Target="slides/slide61.xml"/><Relationship Id="rId88" Type="http://schemas.openxmlformats.org/officeDocument/2006/relationships/slide" Target="slides/slide62.xml"/><Relationship Id="rId89" Type="http://schemas.openxmlformats.org/officeDocument/2006/relationships/slide" Target="slides/slide63.xml"/><Relationship Id="rId90" Type="http://schemas.openxmlformats.org/officeDocument/2006/relationships/slide" Target="slides/slide64.xml"/><Relationship Id="rId91" Type="http://schemas.openxmlformats.org/officeDocument/2006/relationships/slide" Target="slides/slide65.xml"/><Relationship Id="rId92" Type="http://schemas.openxmlformats.org/officeDocument/2006/relationships/slide" Target="slides/slide66.xml"/><Relationship Id="rId93" Type="http://schemas.openxmlformats.org/officeDocument/2006/relationships/slide" Target="slides/slide67.xml"/><Relationship Id="rId94" Type="http://schemas.openxmlformats.org/officeDocument/2006/relationships/slide" Target="slides/slide68.xml"/><Relationship Id="rId95" Type="http://schemas.openxmlformats.org/officeDocument/2006/relationships/slide" Target="slides/slide69.xml"/><Relationship Id="rId96" Type="http://schemas.openxmlformats.org/officeDocument/2006/relationships/slide" Target="slides/slide70.xml"/><Relationship Id="rId97" Type="http://schemas.openxmlformats.org/officeDocument/2006/relationships/slide" Target="slides/slide71.xml"/><Relationship Id="rId98" Type="http://schemas.openxmlformats.org/officeDocument/2006/relationships/slide" Target="slides/slide72.xml"/><Relationship Id="rId99" Type="http://schemas.openxmlformats.org/officeDocument/2006/relationships/slide" Target="slides/slide73.xml"/><Relationship Id="rId100" Type="http://schemas.openxmlformats.org/officeDocument/2006/relationships/slide" Target="slides/slide74.xml"/><Relationship Id="rId101" Type="http://schemas.openxmlformats.org/officeDocument/2006/relationships/slide" Target="slides/slide75.xml"/><Relationship Id="rId102" Type="http://schemas.openxmlformats.org/officeDocument/2006/relationships/slide" Target="slides/slide76.xml"/><Relationship Id="rId103" Type="http://schemas.openxmlformats.org/officeDocument/2006/relationships/slide" Target="slides/slide77.xml"/><Relationship Id="rId104" Type="http://schemas.openxmlformats.org/officeDocument/2006/relationships/slide" Target="slides/slide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giving me the opportunity to present my work today.</a:t>
            </a:r>
          </a:p>
          <a:p/>
          <a:p>
            <a:r>
              <a:t>My name is Mouad Louhichi, and the thesis I am defending, supervised by Professor Mohamed Lazaar, is entitled: "Cooperative Game Theory for Explainable Artificial Intelligence in Recommendation Systems: A Shapley Framework for Actionable Insight."</a:t>
            </a:r>
          </a:p>
          <a:p/>
          <a:p>
            <a:r>
              <a:t>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this presentation. I'll start with the Introduction, then the Context and Problematic, and the Experimental Protocol.</a:t>
            </a:r>
          </a:p>
          <a:p/>
          <a:p>
            <a:r>
              <a:t>Then the three contributions, each following the same path: the gap, the objectives, the methodology, the protocol, the results and the findings.</a:t>
            </a:r>
          </a:p>
          <a:p/>
          <a:p>
            <a:r>
              <a:t>And finally I'll finish with the Conclusion and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a:p/>
          <a:p>
            <a:r>
              <a:t>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why this matters.</a:t>
            </a:r>
          </a:p>
          <a:p/>
          <a:p>
            <a:r>
              <a:t>Recommenders are everywhere: they already decide much of what billions of people see, buy and watch, from news to health and credit. And the reasoning behind those decisions is hidden, in latent factors or in message passing, so nothing can be audited or acted on.</a:t>
            </a:r>
          </a:p>
          <a:p/>
          <a:p>
            <a:r>
              <a:t>Users, designers and regulators all ask for reasons now. So transparency has to be built into the model, not added afterwards. This thesis treats accuracy and interpretability as goals to be met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this in context.</a:t>
            </a:r>
          </a:p>
          <a:p/>
          <a:p>
            <a:r>
              <a:t>Recommendation systems started with similarity models, then matrix factorisation, then neural and graph models, and now hypergraphs. Each step made the ranking stronger, and each step hid more of the reasoning. So the gap keeps growing: the models do more, and we can explain less.</a:t>
            </a:r>
          </a:p>
          <a:p/>
          <a:p>
            <a:r>
              <a:t>Why does this matter? Three reasons. Users get outputs without any reason, so trust drops. Designers cannot debug what they cannot inspect. And regulators now ask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a:p/>
          <a:p>
            <a:r>
              <a:t>Time check: about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classical limits appear from this evolution. Data sparsity: the user-item matrix is almost empty, so there is very little signal to learn from. Cold-start: new users and items arrive with no history. Popularity bias: exposure leads to interaction, which leads to more exposure, a filter-bubble loop that also squeezes diversity. And above all, the absence of interpretability: the limit this thesis targets. For clustering specifically, methods give a local or a global explanation, not both, and rarely stay consistent across levels of detail. Three structural limitations follow. One, complex models are still hard to explain in a way that is faithful and actionable. Two, local explanations do not carry over to multi-level structures or large datasets: a method that works on a toy partition may break on hundreds of thousands of nested records. Three, most explanations stay post-hoc: they never shape how the model learns, nor how it handles the accuracy, diversity and context trade-off. The gap bar closes: the literature still lacks one cooperative-attribution framework that explains clustering faithfully, stays consistent across levels, and then works as an in-training signal in recommendation. Claim: Shapley-value attribution can be that framework.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structure the work, and the slide maps each one to a contribution.</a:t>
            </a:r>
          </a:p>
          <a:p/>
          <a:p>
            <a:r>
              <a:t>RQ1: can Shapley values explain black-box clustering faithfully, at instance level and at cluster level? RQ2: can this extend to large-scale, multi-level clustering while staying feasible and consistent? RQ3: can cooperative attribution move beyond post-hoc and become part of how a recommender learns? RQ4: can ranking, context and diversity improve together when importance comes from a cooperative-game utility? RQ5: what does one cooperative-game view bring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concrete contributions, which I will present in order.</a:t>
            </a:r>
          </a:p>
          <a:p/>
          <a:p>
            <a:r>
              <a:t>The first contribution introduces a Shapley-based framework for explaining black-box clustering, demonstrated on the Wine Quality data. The second contribution extends that idea to large-scale, multi-level clustering on Beijing Air Quality data, with a formal way to keep the attribution consistent across levels. The third contribution is DyHuCoG, a Dynamic Hypergraph Cooperative Game for preference-aware recommendation that brings attribution inside the model itself, evaluated on MovieLens-1M and Amazon-Book.</a:t>
            </a:r>
          </a:p>
          <a:p/>
          <a:p>
            <a:r>
              <a:t>Together, these three contributions follow one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a:p/>
          <a:p>
            <a:r>
              <a:t>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a:p/>
          <a:p>
            <a:r>
              <a:t>Time check: about minute fourteen.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Provide a cluster-level explanation that keeps feature-level attribution. Keep that attribution in the original variables, because explanations are only useful when domain experts can read them. And justify why the cooperative concept, rather than a local surrogate, is the right attribution rule.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Direct TreeSHAP on K-Means is impossible, because TreeSHAP explains tree models, not centroids, and explaining the PCA representation would move the attribution away from the interpretable variables. So the pipeline is four steps: K-Means labels, a LightGBM surrogate that predicts them from the original features, TreeSHAP on that surrogate, and then global importance, cluster profiles and local force plots. The bridge is valid only while the surrogate stays faithful: the floor is macro-F1 about 0.82.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chemically readable: density first, then pH, fixed acidity, sulfur dioxide and alcohol. Density and pH separate wine styles, sulfur dioxide reflects preservation, alcohol shapes body. This is not a side effect of the classifier: the surrogate reproduces the partition from the original variables, and every driver is something a wine maker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RQ1. Shapley values can explain a black-box partition when the surrogate is faithful, at cluster level and at instance level, in the original variables. Compared with LIME, the advantage is the formal cooperative-game foundation: efficiency, symmetry, null player and additivity.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is a principled way to explain an unsupervised model, and keeping it in the original feature space is what makes it actionable. But real data are rarely single-level: broad groups contain nested sub-groups.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a:p/>
          <a:p>
            <a:r>
              <a:t>Time check: about minute twenty.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difficulty is scale and consistency together. When a large cluster is divided, the explanation must stay readable for the parent, for each child, and across levels. Existing hierarchical work reports structure but gives no formal link between a parent explanation and its children: that missing link is the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Build a genuine multi-level workflow, with a surrogate per level rather than a rerun of the single-level pipeline. Provide a formal consistency argument, Proposition 6.1, that relates parent and child importance. And validate at scale on new data: the Beijing air quality records, a domain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recursive. The full dataset is partitioned into coarse clusters, then each cluster can be divided again. At every level a surrogate is trained and SHAP is computed in the same original feature space, so importance stays comparable across levels. The aggregation is not a naive average: it respects cluster size and the nesting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theoretical core: the expected absolute importance of a feature at the parent level equals the size-weighted expectation over its children, plus a residual induced by surrogate approximation, which vanishes under perfect fidelity. It does not say that explanations are identical across levels; it says the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where the multi-level view earns its keep. At the coarse level, temperature and dew point dominate because they separate the broad regimes: that is regime selection. Inside a cluster, other variables become informative, CO, SO2, PM10, wind speed, pressure or ozone: that is variation within a regime. The change is not a contradiction; it is what Proposition 6.1 makes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remain. The clustering process is still static, although the air quality data have a temporal dimension. The explanations still depend on surrogate models. And most importantly, attribution is still post-hoc: it explains what the model has learned, but it does not take part in the learning itself. That is what opens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a:p/>
          <a:p>
            <a:r>
              <a:t>Time check: about minute twenty-six.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in existing models is that message importance is uniform or attention-weighted, with no marginal-contribution account, diversity is a re-ranking heuristic, and interpretability is added after prediction. Contributions I and II showed that Shapley attribution is faithful, but still post-hoc: it never changed what the model learned. That is what DyHuCoG 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at the top of the slide: can cooperative attribution become part of how a recommender learns, and can it improve ranking, context and diversity together?</a:t>
            </a:r>
          </a:p>
          <a:p/>
          <a:p>
            <a:r>
              <a:t>Three objectives answer them. First, model recommendation as a cooperative game over users, items and contexts, where the coalition utility mixes accuracy, diversity and context. Second, put preference-aware Monte Carlo Shapley inside message passing, as dynamic hyperedge weights. Third, show that ranking, coverage and diversity improve together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the idea, recommendation is represented as a cooperative game. The players are the users, the items and the contexts of an episode, and their interactions are hyperedges, which allows higher-order relations. Each entity's contribution is estimated with Shapley values, so the model learns not only that a relationship exists, but how much it is worth for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 So DyHuCoG samples a limited number of permutations and averages the marginal contributions, which preserves the main properties of the estimator. The table gives accuracy against a high-sample reference, not against the exact values: 25 samples already reach about 98 percent, and M = 50 reaches about 99, so 50 is the balance point rather than the cheapest option.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about 9.8 percent, and Recall improves as well, from 0.2098 to 0.2362.</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one component at a time, and every component matters. Context is the largest drop, so contextual signals are the substrate; the hypergraph structure comes next; removing Shapley weighting costs 4.6 percent on MovieLens-1M and 6.1 percent on Amazon-Book. So cooperative attribution contributes directly to learning, and more so when the data are sparser.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answer RQ3 and RQ4. Shapley attribution can move beyond post-hoc and become part of the learning process, and ranking, coverage and diversity improve together on both datasets, with the largest gains where the data are sparsest. Attribution becomes not only an explanation mechanism, but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attribution is used while the model learns. The ablation shows it matters, removing Shapley weighting costs 4.6 percent on MovieLens-1M and 6.1 percent on Amazon-Book. On MovieLens-1M the improvement is statistically solid, t equals 46.38 with an effect size of 1.33 after Holm correction; on Amazon-Book I report the same ordering as a descriptive gain over five seeds.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bring everything together: the synthesis, the publications, the limitations, the perspectives, and then the thesis answer.</a:t>
            </a:r>
          </a:p>
          <a:p/>
          <a:p>
            <a:r>
              <a:t>Before the closing claim, I want to state the limitations honestly, and the perspectives they open.</a:t>
            </a:r>
          </a:p>
          <a:p/>
          <a:p>
            <a:r>
              <a:t>Time check: about minute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thesis in one view.</a:t>
            </a:r>
          </a:p>
          <a:p/>
          <a:p>
            <a:r>
              <a:t>C1 explains a black-box partition with Shapley attribution. C2 keeps that explanation consistent across levels at scale. C3, DyHuCoG, uses attribution as an in-training signal, and improves accuracy, coverage and diversity together.</a:t>
            </a:r>
          </a:p>
          <a:p/>
          <a:p>
            <a:r>
              <a:t>Read across the three rows, the same logic moves from post-hoc description to in-training guidance: explain, scale, guide.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become an agenda, and I see four directions.</a:t>
            </a:r>
          </a:p>
          <a:p/>
          <a:p>
            <a:r>
              <a:t>More scalable cooperative attribution: lower-variance Shapley estimators, learned proposal distributions and adaptive refresh rules.</a:t>
            </a:r>
          </a:p>
          <a:p/>
          <a:p>
            <a:r>
              <a:t>Truly online and streaming recommendation, with changing graphs and delayed feedback, which also removes the static-graph assumption.</a:t>
            </a:r>
          </a:p>
          <a:p/>
          <a:p>
            <a:r>
              <a:t>Richer user-centred evaluation: do explanations measurably improve judgement, trust and perceived fairness?</a:t>
            </a:r>
          </a:p>
          <a:p/>
          <a:p>
            <a:r>
              <a:t>And broader trustworthy-AI evaluation, including exposure fairness and auditing for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is in the orange box: cooperative game theory can serve as a shared methodological view for actionable explanation across clustering and recommendation.</a:t>
            </a:r>
          </a:p>
          <a:p/>
          <a:p>
            <a:r>
              <a:t>Four outcomes support it: a common formal language for assigning importance to features, interactions and contexts; faithful clustering explanation and consistent multi-level explanation; explanation as a method rather than a comment added later; and alignment with the expectations of the AI Act, the OECD principles and the GDPR.</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the two reference slides lists the foundations of this work: my own three papers, Shapley, SHAP, TreeSHAP, LIME, and the recommender baselines from matrix factorisation to HPCF.</a:t>
            </a:r>
          </a:p>
          <a:p/>
          <a:p>
            <a:r>
              <a:t>I will not discuss them individually, but they are the scientific foundations of the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the methodology, the theoretical foundations, or the experimental results.</a:t>
            </a:r>
          </a:p>
          <a:p/>
          <a:p>
            <a:r>
              <a:t>I will stay on the closing slide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a:p>
            <a:r>
              <a:t>The figure walks through one prediction: similarity is computed on the columns two users both rated, and the missing cell is filled by a similarity-weighted average of the neighbours' ratings, 5.85 over 1.37, so 4.3 out of 5. The strip below recalls how sparse the real matrices are: 4.47% and 0.06% observed.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comes straight from the thesis: on the left, eight nodes as an ordinary graph with its adjacency matrix W; on the right, the hypergraph view, where each hyperedge groups nodes of one data type and the incidence matrices H1 to HN concatenate into a single H. Message passing over these structures carries the collaborative signal across one, two and three hops, and DyHuCoG makes the hyperedge weights dynamic.</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recommendation benchmark is MovieLens-1M: about one million ratings from 6,040 users on 3,706 movies, with a density near 0.045.</a:t>
            </a:r>
          </a:p>
          <a:p/>
          <a:p>
            <a:r>
              <a:t>It is the standard benchmark of the field, so the comparison with LightGCN, HCCF and HPCF is directly readable.</a:t>
            </a:r>
          </a:p>
          <a:p/>
          <a:p>
            <a:r>
              <a:t>Ratings above 3 become positive implicit feedback, and the genre is used as the context proxy.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Amazon-Book: 52,643 users, 91,599 books and about three million interactions, so the density is near 0.0006 and the user-item matrix is almost empty.</a:t>
            </a:r>
          </a:p>
          <a:p/>
          <a:p>
            <a:r>
              <a:t>I include it to test whether Shapley-guided weighting helps most when the signal is weakest, and it is the large-scale benchmark of Contribution III.</a:t>
            </a:r>
          </a:p>
          <a:p/>
          <a:p>
            <a:r>
              <a:t>That gap between 0.045 and 0.0006 is the core of the robustness argument.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For recommendation, NDCG@20 is the main ranking measure, and coverage and intra-list diversity matter because quality is not only accuracy. For clustering, Silhouette and Davies-Bouldin judge the partitions, and they are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 Guitar and Drums together are worth 100.</a:t>
            </a:r>
          </a:p>
          <a:p/>
          <a:p>
            <a:r>
              <a:t>The Shapley value shares the total fairly, as the average marginal contribution over every arrival order: one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keeps the same principles as Contribution I, with two changes. First, clustering runs on the full Beijing dataset. Second, each level gets its own surrogate, and the explanations are then aggregated across levels with size weights, followed by a sensitivity check on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protocol for the recommendation study. Two datasets: MovieLens-1M as the dense benchmark and Amazon-Book as the sparse one, with Yelp2018 as an auxiliary check. The split is user-level and time-ordered, 70, 10 and 20, with a leave-one-out target, and ratings above 3 are positives. Six baselines from four model families, four metrics with NDCG@20 as the main one, five seeds, and a component-wise ablation.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reference slide completes the list: the datasets, the evaluation metrics, the AI Act and OECD texts, and the related work with the team.</a:t>
            </a:r>
          </a:p>
          <a:p/>
          <a:p>
            <a:r>
              <a:t>Taken together, these two slides are the full bibliography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1</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Why Explainability Matters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Recommenders decide at scale.</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They shape what billions of users see, buy and watch every day: news, study, health and credit decisions.</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The reasoning behind those decisions is hidden.</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Matrix factorisation hid it in latent factors; deep and graph models hide it in message passing. Neither can be audited or acted on.</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Transparency is now expected.</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Users, designers and regulators now ask for reasons. It has to be built into the model, not added afterwards.</a:t>
            </a:r>
          </a:p>
        </p:txBody>
      </p:sp>
      <p:sp>
        <p:nvSpPr>
          <p:cNvPr id="38" name="Rounded Rectangle 37"/>
          <p:cNvSpPr/>
          <p:nvPr/>
        </p:nvSpPr>
        <p:spPr>
          <a:xfrm>
            <a:off x="1028700" y="8039099"/>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178810"/>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1" name="Rounded Rectangle 40"/>
          <p:cNvSpPr/>
          <p:nvPr/>
        </p:nvSpPr>
        <p:spPr>
          <a:xfrm>
            <a:off x="1024128" y="5833872"/>
            <a:ext cx="16239744" cy="3072384"/>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1328" y="559612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1328"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Users get outputs without reasons:</a:t>
            </a:r>
            <a:r>
              <a:rPr lang="en-US" sz="2200" b="true">
                <a:solidFill>
                  <a:srgbClr val="FFFFFF"/>
                </a:solidFill>
                <a:latin typeface="Nunito Semi-Bold"/>
                <a:ea typeface="Nunito Semi-Bold"/>
                <a:cs typeface="Nunito Semi-Bold"/>
                <a:sym typeface="Nunito Semi-Bold"/>
              </a:rPr>
              <a:t> trust drops.</a:t>
            </a:r>
          </a:p>
        </p:txBody>
      </p:sp>
      <p:sp>
        <p:nvSpPr>
          <p:cNvPr id="43" name="TextBox 42"/>
          <p:cNvSpPr txBox="1"/>
          <p:nvPr/>
        </p:nvSpPr>
        <p:spPr>
          <a:xfrm>
            <a:off x="6711696"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Designers cannot debug</a:t>
            </a:r>
            <a:r>
              <a:rPr lang="en-US" sz="2200" b="true">
                <a:solidFill>
                  <a:srgbClr val="FFFFFF"/>
                </a:solidFill>
                <a:latin typeface="Nunito Semi-Bold"/>
                <a:ea typeface="Nunito Semi-Bold"/>
                <a:cs typeface="Nunito Semi-Bold"/>
                <a:sym typeface="Nunito Semi-Bold"/>
              </a:rPr>
              <a:t> what they cannot inspect.</a:t>
            </a:r>
          </a:p>
        </p:txBody>
      </p:sp>
      <p:sp>
        <p:nvSpPr>
          <p:cNvPr id="43" name="TextBox 42"/>
          <p:cNvSpPr txBox="1"/>
          <p:nvPr/>
        </p:nvSpPr>
        <p:spPr>
          <a:xfrm>
            <a:off x="11942064"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Regulation now asks for transparency:</a:t>
            </a:r>
            <a:r>
              <a:rPr lang="en-US" sz="2200" b="true">
                <a:solidFill>
                  <a:srgbClr val="FFFFFF"/>
                </a:solidFill>
                <a:latin typeface="Nunito Semi-Bold"/>
                <a:ea typeface="Nunito Semi-Bold"/>
                <a:cs typeface="Nunito Semi-Bold"/>
                <a:sym typeface="Nunito Semi-Bold"/>
              </a:rPr>
              <a:t> EU AI Act, GDPR.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253730"/>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7973567"/>
            <a:ext cx="7680960" cy="934212"/>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781544"/>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22198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10049256" y="4059936"/>
            <a:ext cx="6409944" cy="4460443"/>
          </a:xfrm>
          <a:prstGeom prst="rect">
            <a:avLst/>
          </a:prstGeom>
        </p:spPr>
      </p:pic>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34" name="TextBox 33"/>
          <p:cNvSpPr txBox="1"/>
          <p:nvPr/>
        </p:nvSpPr>
        <p:spPr>
          <a:xfrm>
            <a:off x="9253728" y="8558784"/>
            <a:ext cx="8010144" cy="292608"/>
          </a:xfrm>
          <a:prstGeom prst="rect">
            <a:avLst/>
          </a:prstGeom>
          <a:noFill/>
        </p:spPr>
        <p:txBody>
          <a:bodyPr wrap="none">
            <a:spAutoFit/>
          </a:bodyPr>
          <a:lstStyle/>
          <a:p>
            <a:r>
              <a:rPr sz="1600" b="1">
                <a:solidFill>
                  <a:srgbClr val="8A8378"/>
                </a:solidFill>
                <a:latin typeface="Nunito Semi-Bold"/>
              </a:rPr>
              <a:t>Thesis Figure 2.4: the same data as a graph (W) and as a hypergraph (H).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1520"/>
          </a:xfrm>
          <a:prstGeom prst="rect">
            <a:avLst/>
          </a:prstGeom>
          <a:noFill/>
        </p:spPr>
        <p:txBody>
          <a:bodyPr anchor="t" rtlCol="false" lIns="0" tIns="0" rIns="0" bIns="0" wrap="square"/>
          <a:lstStyle/>
          <a:p>
            <a:pPr algn="l">
              <a:lnSpc>
                <a:spcPts val="4620"/>
              </a:lnSpc>
              <a:spcBef>
                <a:spcPts val="0"/>
              </a:spcBef>
              <a:buNone/>
            </a:pPr>
            <a:r>
              <a:rPr lang="en-US" sz="4600" b="true" spc="-210">
                <a:solidFill>
                  <a:srgbClr val="111111"/>
                </a:solidFill>
                <a:latin typeface="Roca Two Bold"/>
                <a:ea typeface="Roca Two Bold"/>
                <a:cs typeface="Roca Two Bold"/>
                <a:sym typeface="Roca Two Bold"/>
              </a:rPr>
              <a:t>Limitations &amp; Problem Statement</a:t>
            </a:r>
          </a:p>
        </p:txBody>
      </p:sp>
      <p:pic>
        <p:nvPicPr>
          <p:cNvPr id="25" name="Picture 24" descr="image.png"/>
          <p:cNvPicPr>
            <a:picLocks noChangeAspect="1"/>
          </p:cNvPicPr>
          <p:nvPr/>
        </p:nvPicPr>
        <p:blipFill>
          <a:blip r:embed="rId3"/>
          <a:stretch>
            <a:fillRect/>
          </a:stretch>
        </p:blipFill>
        <p:spPr>
          <a:xfrm>
            <a:off x="10588752"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5" name="Rounded Rectangle 4"/>
          <p:cNvSpPr/>
          <p:nvPr/>
        </p:nvSpPr>
        <p:spPr>
          <a:xfrm>
            <a:off x="1024128" y="8897112"/>
            <a:ext cx="16239744" cy="777240"/>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3688"/>
            <a:ext cx="16239744" cy="704088"/>
          </a:xfrm>
          <a:prstGeom prst="rect">
            <a:avLst/>
          </a:prstGeom>
          <a:noFill/>
        </p:spPr>
        <p:txBody>
          <a:bodyPr anchor="ctr" rtlCol="false" lIns="0" tIns="0" rIns="0" bIns="0" wrap="square"/>
          <a:lstStyle/>
          <a:p>
            <a:pPr algn="l">
              <a:lnSpc>
                <a:spcPts val="1700"/>
              </a:lnSpc>
              <a:spcBef>
                <a:spcPts val="0"/>
              </a:spcBef>
              <a:buNone/>
            </a:pPr>
            <a:r>
              <a:rPr sz="1400" b="1">
                <a:solidFill>
                  <a:srgbClr val="8A8378"/>
                </a:solidFill>
                <a:latin typeface="Nunito Semi-Bold"/>
              </a:rPr>
              <a:t>[21]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   [24] Arrieta, A. B. et al. Explainable Artificial Intelligence (XAI): Concepts, Taxonomies, Opportunities and Challenges. Information Fusion 58, 82–115 (2020).</a:t>
            </a:r>
          </a:p>
        </p:txBody>
      </p:sp>
      <p:sp>
        <p:nvSpPr>
          <p:cNvPr id="29" name="TextBox 28"/>
          <p:cNvSpPr txBox="1"/>
          <p:nvPr/>
        </p:nvSpPr>
        <p:spPr>
          <a:xfrm>
            <a:off x="1024128" y="3054096"/>
            <a:ext cx="5212080" cy="411480"/>
          </a:xfrm>
          <a:prstGeom prst="rect">
            <a:avLst/>
          </a:prstGeom>
          <a:noFill/>
        </p:spPr>
        <p:txBody>
          <a:bodyPr wrap="none">
            <a:spAutoFit/>
          </a:bodyPr>
          <a:lstStyle/>
          <a:p>
            <a:r>
              <a:rPr sz="1800" b="1">
                <a:solidFill>
                  <a:srgbClr val="5A6B8C"/>
                </a:solidFill>
                <a:latin typeface="Nunito Semi-Bold"/>
              </a:rPr>
              <a:t>Classical limits of recommender systems:</a:t>
            </a:r>
          </a:p>
        </p:txBody>
      </p:sp>
      <p:sp>
        <p:nvSpPr>
          <p:cNvPr id="30" name="Rounded Rectangle 29"/>
          <p:cNvSpPr/>
          <p:nvPr/>
        </p:nvSpPr>
        <p:spPr>
          <a:xfrm>
            <a:off x="6400800" y="2999232"/>
            <a:ext cx="2612898" cy="621792"/>
          </a:xfrm>
          <a:prstGeom prst="roundRect">
            <a:avLst>
              <a:gd name="adj" fmla="val 50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none"/>
          <a:lstStyle/>
          <a:p>
            <a:pPr algn="ctr"/>
            <a:r>
              <a:rPr sz="1800" b="1">
                <a:solidFill>
                  <a:srgbClr val="FFFFFF"/>
                </a:solidFill>
                <a:latin typeface="Nunito Semi-Bold"/>
              </a:rPr>
              <a:t>Data sparsity</a:t>
            </a:r>
          </a:p>
        </p:txBody>
      </p:sp>
      <p:sp>
        <p:nvSpPr>
          <p:cNvPr id="31" name="Rounded Rectangle 30"/>
          <p:cNvSpPr/>
          <p:nvPr/>
        </p:nvSpPr>
        <p:spPr>
          <a:xfrm>
            <a:off x="9127998" y="2999232"/>
            <a:ext cx="2612898" cy="621792"/>
          </a:xfrm>
          <a:prstGeom prst="roundRect">
            <a:avLst>
              <a:gd name="adj" fmla="val 50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none"/>
          <a:lstStyle/>
          <a:p>
            <a:pPr algn="ctr"/>
            <a:r>
              <a:rPr sz="1800" b="1">
                <a:solidFill>
                  <a:srgbClr val="FFFFFF"/>
                </a:solidFill>
                <a:latin typeface="Nunito Semi-Bold"/>
              </a:rPr>
              <a:t>Cold-start</a:t>
            </a:r>
          </a:p>
        </p:txBody>
      </p:sp>
      <p:sp>
        <p:nvSpPr>
          <p:cNvPr id="32" name="Rounded Rectangle 31"/>
          <p:cNvSpPr/>
          <p:nvPr/>
        </p:nvSpPr>
        <p:spPr>
          <a:xfrm>
            <a:off x="11855196" y="2999232"/>
            <a:ext cx="2612898" cy="621792"/>
          </a:xfrm>
          <a:prstGeom prst="roundRect">
            <a:avLst>
              <a:gd name="adj" fmla="val 50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none"/>
          <a:lstStyle/>
          <a:p>
            <a:pPr algn="ctr"/>
            <a:r>
              <a:rPr sz="1800" b="1">
                <a:solidFill>
                  <a:srgbClr val="FFFFFF"/>
                </a:solidFill>
                <a:latin typeface="Nunito Semi-Bold"/>
              </a:rPr>
              <a:t>Popularity bias</a:t>
            </a:r>
          </a:p>
        </p:txBody>
      </p:sp>
      <p:sp>
        <p:nvSpPr>
          <p:cNvPr id="33" name="Rounded Rectangle 32"/>
          <p:cNvSpPr/>
          <p:nvPr/>
        </p:nvSpPr>
        <p:spPr>
          <a:xfrm>
            <a:off x="14582394" y="2999232"/>
            <a:ext cx="2612898" cy="621792"/>
          </a:xfrm>
          <a:prstGeom prst="roundRect">
            <a:avLst>
              <a:gd name="adj" fmla="val 50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none"/>
          <a:lstStyle/>
          <a:p>
            <a:pPr algn="ctr"/>
            <a:r>
              <a:rPr sz="1800" b="1">
                <a:solidFill>
                  <a:srgbClr val="FFFFFF"/>
                </a:solidFill>
                <a:latin typeface="Nunito Semi-Bold"/>
              </a:rPr>
              <a:t>No interpretability</a:t>
            </a:r>
          </a:p>
        </p:txBody>
      </p:sp>
      <p:sp>
        <p:nvSpPr>
          <p:cNvPr id="34" name="TextBox 33"/>
          <p:cNvSpPr txBox="1"/>
          <p:nvPr/>
        </p:nvSpPr>
        <p:spPr>
          <a:xfrm>
            <a:off x="1024128" y="4005072"/>
            <a:ext cx="7772400" cy="411480"/>
          </a:xfrm>
          <a:prstGeom prst="rect">
            <a:avLst/>
          </a:prstGeom>
          <a:noFill/>
        </p:spPr>
        <p:txBody>
          <a:bodyPr wrap="none">
            <a:spAutoFit/>
          </a:bodyPr>
          <a:lstStyle/>
          <a:p>
            <a:r>
              <a:rPr sz="1800" b="1">
                <a:solidFill>
                  <a:srgbClr val="5A6B8C"/>
                </a:solidFill>
                <a:latin typeface="Nunito Semi-Bold"/>
              </a:rPr>
              <a:t>Three structural limits this thesis addresses:</a:t>
            </a:r>
          </a:p>
        </p:txBody>
      </p:sp>
      <p:sp>
        <p:nvSpPr>
          <p:cNvPr id="35" name="Rounded Rectangle 34"/>
          <p:cNvSpPr/>
          <p:nvPr/>
        </p:nvSpPr>
        <p:spPr>
          <a:xfrm>
            <a:off x="1024128" y="4526280"/>
            <a:ext cx="5193792" cy="2423160"/>
          </a:xfrm>
          <a:prstGeom prst="roundRect">
            <a:avLst>
              <a:gd name="adj" fmla="val 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344168" y="4828032"/>
            <a:ext cx="566928" cy="566928"/>
          </a:xfrm>
          <a:prstGeom prst="ellipse">
            <a:avLst/>
          </a:prstGeom>
          <a:solidFill>
            <a:srgbClr val="ECC6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11111"/>
                </a:solidFill>
                <a:latin typeface="Nunito Ultra-Bold"/>
              </a:rPr>
              <a:t>1</a:t>
            </a:r>
          </a:p>
        </p:txBody>
      </p:sp>
      <p:sp>
        <p:nvSpPr>
          <p:cNvPr id="37" name="TextBox 36"/>
          <p:cNvSpPr txBox="1"/>
          <p:nvPr/>
        </p:nvSpPr>
        <p:spPr>
          <a:xfrm>
            <a:off x="2075688" y="4855464"/>
            <a:ext cx="3977639" cy="731520"/>
          </a:xfrm>
          <a:prstGeom prst="rect">
            <a:avLst/>
          </a:prstGeom>
          <a:noFill/>
        </p:spPr>
        <p:txBody>
          <a:bodyPr wrap="none">
            <a:spAutoFit/>
          </a:bodyPr>
          <a:lstStyle/>
          <a:p>
            <a:r>
              <a:rPr sz="2200" b="1">
                <a:solidFill>
                  <a:srgbClr val="FFFFFF"/>
                </a:solidFill>
                <a:latin typeface="Nunito Ultra-Bold"/>
              </a:rPr>
              <a:t>Lack of explainability</a:t>
            </a:r>
          </a:p>
        </p:txBody>
      </p:sp>
      <p:sp>
        <p:nvSpPr>
          <p:cNvPr id="38" name="TextBox 37"/>
          <p:cNvSpPr txBox="1"/>
          <p:nvPr/>
        </p:nvSpPr>
        <p:spPr>
          <a:xfrm>
            <a:off x="1344168" y="5760720"/>
            <a:ext cx="4572000" cy="1051560"/>
          </a:xfrm>
          <a:prstGeom prst="rect">
            <a:avLst/>
          </a:prstGeom>
          <a:noFill/>
        </p:spPr>
        <p:txBody>
          <a:bodyPr wrap="none">
            <a:spAutoFit/>
          </a:bodyPr>
          <a:lstStyle/>
          <a:p>
            <a:r>
              <a:rPr sz="2000" b="0">
                <a:solidFill>
                  <a:srgbClr val="F1EDE6"/>
                </a:solidFill>
                <a:latin typeface="Nunito Semi-Bold"/>
              </a:rPr>
              <a:t>Explanations are neither </a:t>
            </a:r>
            <a:r>
              <a:rPr sz="2000" b="1">
                <a:solidFill>
                  <a:srgbClr val="F1EDE6"/>
                </a:solidFill>
                <a:latin typeface="Nunito Semi-Bold"/>
              </a:rPr>
              <a:t>faithful nor actionable</a:t>
            </a:r>
            <a:r>
              <a:rPr sz="2000" b="0">
                <a:solidFill>
                  <a:srgbClr val="F1EDE6"/>
                </a:solidFill>
                <a:latin typeface="Nunito Semi-Bold"/>
              </a:rPr>
              <a:t>.</a:t>
            </a:r>
          </a:p>
        </p:txBody>
      </p:sp>
      <p:sp>
        <p:nvSpPr>
          <p:cNvPr id="39" name="Rounded Rectangle 38"/>
          <p:cNvSpPr/>
          <p:nvPr/>
        </p:nvSpPr>
        <p:spPr>
          <a:xfrm>
            <a:off x="6542532" y="4526280"/>
            <a:ext cx="5193792" cy="2423160"/>
          </a:xfrm>
          <a:prstGeom prst="roundRect">
            <a:avLst>
              <a:gd name="adj" fmla="val 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862572" y="4828032"/>
            <a:ext cx="566928" cy="566928"/>
          </a:xfrm>
          <a:prstGeom prst="ellipse">
            <a:avLst/>
          </a:prstGeom>
          <a:solidFill>
            <a:srgbClr val="ECC6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11111"/>
                </a:solidFill>
                <a:latin typeface="Nunito Ultra-Bold"/>
              </a:rPr>
              <a:t>2</a:t>
            </a:r>
          </a:p>
        </p:txBody>
      </p:sp>
      <p:sp>
        <p:nvSpPr>
          <p:cNvPr id="41" name="TextBox 40"/>
          <p:cNvSpPr txBox="1"/>
          <p:nvPr/>
        </p:nvSpPr>
        <p:spPr>
          <a:xfrm>
            <a:off x="7594092" y="4855464"/>
            <a:ext cx="3977639" cy="731520"/>
          </a:xfrm>
          <a:prstGeom prst="rect">
            <a:avLst/>
          </a:prstGeom>
          <a:noFill/>
        </p:spPr>
        <p:txBody>
          <a:bodyPr wrap="none">
            <a:spAutoFit/>
          </a:bodyPr>
          <a:lstStyle/>
          <a:p>
            <a:r>
              <a:rPr sz="2200" b="1">
                <a:solidFill>
                  <a:srgbClr val="FFFFFF"/>
                </a:solidFill>
                <a:latin typeface="Nunito Ultra-Bold"/>
              </a:rPr>
              <a:t>Difficulty of scaling</a:t>
            </a:r>
          </a:p>
        </p:txBody>
      </p:sp>
      <p:sp>
        <p:nvSpPr>
          <p:cNvPr id="42" name="TextBox 41"/>
          <p:cNvSpPr txBox="1"/>
          <p:nvPr/>
        </p:nvSpPr>
        <p:spPr>
          <a:xfrm>
            <a:off x="6862572" y="5760720"/>
            <a:ext cx="4572000" cy="1051560"/>
          </a:xfrm>
          <a:prstGeom prst="rect">
            <a:avLst/>
          </a:prstGeom>
          <a:noFill/>
        </p:spPr>
        <p:txBody>
          <a:bodyPr wrap="none">
            <a:spAutoFit/>
          </a:bodyPr>
          <a:lstStyle/>
          <a:p>
            <a:r>
              <a:rPr sz="2000" b="0">
                <a:solidFill>
                  <a:srgbClr val="F1EDE6"/>
                </a:solidFill>
                <a:latin typeface="Nunito Semi-Bold"/>
              </a:rPr>
              <a:t>Local explanations break </a:t>
            </a:r>
            <a:r>
              <a:rPr sz="2000" b="1">
                <a:solidFill>
                  <a:srgbClr val="F1EDE6"/>
                </a:solidFill>
                <a:latin typeface="Nunito Semi-Bold"/>
              </a:rPr>
              <a:t>across levels and at scale</a:t>
            </a:r>
            <a:r>
              <a:rPr sz="2000" b="0">
                <a:solidFill>
                  <a:srgbClr val="F1EDE6"/>
                </a:solidFill>
                <a:latin typeface="Nunito Semi-Bold"/>
              </a:rPr>
              <a:t>.</a:t>
            </a:r>
          </a:p>
        </p:txBody>
      </p:sp>
      <p:sp>
        <p:nvSpPr>
          <p:cNvPr id="43" name="Rounded Rectangle 42"/>
          <p:cNvSpPr/>
          <p:nvPr/>
        </p:nvSpPr>
        <p:spPr>
          <a:xfrm>
            <a:off x="12060936" y="4526280"/>
            <a:ext cx="5193792" cy="2423160"/>
          </a:xfrm>
          <a:prstGeom prst="roundRect">
            <a:avLst>
              <a:gd name="adj" fmla="val 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2380976" y="4828032"/>
            <a:ext cx="566928" cy="566928"/>
          </a:xfrm>
          <a:prstGeom prst="ellipse">
            <a:avLst/>
          </a:prstGeom>
          <a:solidFill>
            <a:srgbClr val="ECC6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11111"/>
                </a:solidFill>
                <a:latin typeface="Nunito Ultra-Bold"/>
              </a:rPr>
              <a:t>3</a:t>
            </a:r>
          </a:p>
        </p:txBody>
      </p:sp>
      <p:sp>
        <p:nvSpPr>
          <p:cNvPr id="45" name="TextBox 44"/>
          <p:cNvSpPr txBox="1"/>
          <p:nvPr/>
        </p:nvSpPr>
        <p:spPr>
          <a:xfrm>
            <a:off x="13112496" y="4855464"/>
            <a:ext cx="3977639" cy="731520"/>
          </a:xfrm>
          <a:prstGeom prst="rect">
            <a:avLst/>
          </a:prstGeom>
          <a:noFill/>
        </p:spPr>
        <p:txBody>
          <a:bodyPr wrap="none">
            <a:spAutoFit/>
          </a:bodyPr>
          <a:lstStyle/>
          <a:p>
            <a:r>
              <a:rPr sz="2200" b="1">
                <a:solidFill>
                  <a:srgbClr val="FFFFFF"/>
                </a:solidFill>
                <a:latin typeface="Nunito Ultra-Bold"/>
              </a:rPr>
              <a:t>Weak integration into learning</a:t>
            </a:r>
          </a:p>
        </p:txBody>
      </p:sp>
      <p:sp>
        <p:nvSpPr>
          <p:cNvPr id="46" name="TextBox 45"/>
          <p:cNvSpPr txBox="1"/>
          <p:nvPr/>
        </p:nvSpPr>
        <p:spPr>
          <a:xfrm>
            <a:off x="12380976" y="5760720"/>
            <a:ext cx="4572000" cy="1051560"/>
          </a:xfrm>
          <a:prstGeom prst="rect">
            <a:avLst/>
          </a:prstGeom>
          <a:noFill/>
        </p:spPr>
        <p:txBody>
          <a:bodyPr wrap="none">
            <a:spAutoFit/>
          </a:bodyPr>
          <a:lstStyle/>
          <a:p>
            <a:r>
              <a:rPr sz="2000" b="1">
                <a:solidFill>
                  <a:srgbClr val="F1EDE6"/>
                </a:solidFill>
                <a:latin typeface="Nunito Semi-Bold"/>
              </a:rPr>
              <a:t>Post-hoc</a:t>
            </a:r>
            <a:r>
              <a:rPr sz="2000" b="0">
                <a:solidFill>
                  <a:srgbClr val="F1EDE6"/>
                </a:solidFill>
                <a:latin typeface="Nunito Semi-Bold"/>
              </a:rPr>
              <a:t> only: training never sees them.</a:t>
            </a:r>
          </a:p>
        </p:txBody>
      </p:sp>
      <p:sp>
        <p:nvSpPr>
          <p:cNvPr id="47" name="Rounded Rectangle 46"/>
          <p:cNvSpPr/>
          <p:nvPr/>
        </p:nvSpPr>
        <p:spPr>
          <a:xfrm>
            <a:off x="1024128" y="7315200"/>
            <a:ext cx="16230600" cy="1536192"/>
          </a:xfrm>
          <a:prstGeom prst="roundRect">
            <a:avLst>
              <a:gd name="adj" fmla="val 8000"/>
            </a:avLst>
          </a:prstGeom>
          <a:solidFill>
            <a:srgbClr val="E7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481328" y="7104888"/>
            <a:ext cx="2331720" cy="438912"/>
          </a:xfrm>
          <a:prstGeom prst="roundRect">
            <a:avLst>
              <a:gd name="adj" fmla="val 35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Nunito Ultra-Bold"/>
              </a:rPr>
              <a:t>THESIS GAP</a:t>
            </a:r>
          </a:p>
        </p:txBody>
      </p:sp>
      <p:sp>
        <p:nvSpPr>
          <p:cNvPr id="49" name="TextBox 48"/>
          <p:cNvSpPr txBox="1"/>
          <p:nvPr/>
        </p:nvSpPr>
        <p:spPr>
          <a:xfrm>
            <a:off x="1536192" y="7607808"/>
            <a:ext cx="15270480" cy="1097280"/>
          </a:xfrm>
          <a:prstGeom prst="rect">
            <a:avLst/>
          </a:prstGeom>
          <a:noFill/>
        </p:spPr>
        <p:txBody>
          <a:bodyPr wrap="none">
            <a:spAutoFit/>
          </a:bodyPr>
          <a:lstStyle/>
          <a:p>
            <a:r>
              <a:rPr sz="1800" b="0">
                <a:solidFill>
                  <a:srgbClr val="111111"/>
                </a:solidFill>
                <a:latin typeface="Nunito Semi-Bold"/>
              </a:rPr>
              <a:t>No </a:t>
            </a:r>
            <a:r>
              <a:rPr sz="1800" b="1">
                <a:solidFill>
                  <a:srgbClr val="111111"/>
                </a:solidFill>
                <a:latin typeface="Nunito Semi-Bold"/>
              </a:rPr>
              <a:t>cooperative-attribution framework</a:t>
            </a:r>
            <a:r>
              <a:rPr sz="1800" b="0">
                <a:solidFill>
                  <a:srgbClr val="111111"/>
                </a:solidFill>
                <a:latin typeface="Nunito Semi-Bold"/>
              </a:rPr>
              <a:t> explains clustering faithfully, stays consistent across levels, and works as an </a:t>
            </a:r>
            <a:r>
              <a:rPr sz="1800" b="1">
                <a:solidFill>
                  <a:srgbClr val="111111"/>
                </a:solidFill>
                <a:latin typeface="Nunito Semi-Bold"/>
              </a:rPr>
              <a:t>in-training signal</a:t>
            </a:r>
            <a:r>
              <a:rPr sz="1800" b="0">
                <a:solidFill>
                  <a:srgbClr val="111111"/>
                </a:solidFill>
                <a:latin typeface="Nunito Semi-Bold"/>
              </a:rPr>
              <a:t>. </a:t>
            </a:r>
            <a:r>
              <a:rPr sz="1800" b="1">
                <a:solidFill>
                  <a:srgbClr val="111111"/>
                </a:solidFill>
                <a:latin typeface="Nunito Semi-Bold"/>
              </a:rPr>
              <a:t>Claim:</a:t>
            </a:r>
            <a:r>
              <a:rPr sz="1800" b="0">
                <a:solidFill>
                  <a:srgbClr val="111111"/>
                </a:solidFill>
                <a:latin typeface="Nunito Semi-Bold"/>
              </a:rPr>
              <a:t> Shapley-value attribution can be that framework.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wind direction,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coarse regimes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benchmark).</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407410"/>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169666"/>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407410"/>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169666"/>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7891526"/>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699502"/>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303005"/>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M. T., Singh, S. &amp; Guestrin, C. KDD, 1135–1144 (2016).   [10] Koren, Y., Bell, R. &amp; Volinsky, C. Computer 42(8), 30–37 (2009).   [11] He, X. et al. WWW, 173–182 (2017).   [12] He, X. et al. SIGIR, 639–648 (2020).   [13] Xia, L. et al. SIGIR, 70–79 (2022).   [14] Xiangyi, Y. et al. Int. J. Data Science and Analytics 19(2), 269–281 (2025).   [15] Zhang, D. et al. The Web Conference, 3655–3666 (2024).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794496"/>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424928"/>
            <a:ext cx="16230600" cy="1482851"/>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232904"/>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1906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124697"/>
            <a:ext cx="8092440" cy="998982"/>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as the theoretical comparator (Ch. 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2372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2999486"/>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151630"/>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532243"/>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715123"/>
            <a:ext cx="6557986" cy="814197"/>
          </a:xfrm>
          <a:prstGeom prst="rect">
            <a:avLst/>
          </a:prstGeom>
        </p:spPr>
      </p:pic>
      <p:sp>
        <p:nvSpPr>
          <p:cNvPr id="36" name="TextBox 35"/>
          <p:cNvSpPr txBox="1"/>
          <p:nvPr/>
        </p:nvSpPr>
        <p:spPr>
          <a:xfrm>
            <a:off x="8069580" y="8712200"/>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LIME comparator theoretical (Ch. 5, §5.4)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Zhang, S. et al. Beijing Multi-Site Air Quality Data Set. UCI Machine Learning Repository (2017).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270250"/>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453130"/>
            <a:ext cx="7517595" cy="5076190"/>
          </a:xfrm>
          <a:prstGeom prst="rect">
            <a:avLst/>
          </a:prstGeom>
        </p:spPr>
      </p:pic>
      <p:sp>
        <p:nvSpPr>
          <p:cNvPr id="33" name="TextBox 32"/>
          <p:cNvSpPr txBox="1"/>
          <p:nvPr/>
        </p:nvSpPr>
        <p:spPr>
          <a:xfrm>
            <a:off x="8252460" y="8712200"/>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cluster-specific SHAP importance, coarse level</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528050"/>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637778"/>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SIGIR, 639–648 (2020).   [13] Xia, L. et al. SIGIR, 70–79 (2022).   [14] Xiangyi, Y. et al. Int. J. Data Science and Analytics 19(2), 269–281 (2025).   [21] Zhang, Y. &amp; Chen, X. Foundations and Trends in IR 14(1), 1–101 (2020).   [23] Zhu, Z. et al. KDD, 2439–2449 (2021). · Hurley, N. &amp; Zhang, M. ACM TOIT 10(4) (2011).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Accuracy vs a high-sample reference: M = 25 already reaches ≈ 98 %,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significance tabulated on MovieLens-1M (Table 7.6).</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042914"/>
            <a:ext cx="7932420" cy="3080765"/>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682994"/>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042914"/>
            <a:ext cx="7932420" cy="3080765"/>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682994"/>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356601"/>
            <a:ext cx="16230600" cy="1551178"/>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164578"/>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742174"/>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Zhang, S. et al. Beijing Multi-Site Air Quality Data Set.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18(9), 241–257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75</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The </a:t>
            </a:r>
            <a:r>
              <a:rPr lang="en-US" sz="1700" b="true">
                <a:solidFill>
                  <a:srgbClr val="111111"/>
                </a:solidFill>
                <a:latin typeface="Nunito Bold"/>
                <a:ea typeface="Nunito Bold"/>
                <a:cs typeface="Nunito Bold"/>
                <a:sym typeface="Nunito Bold"/>
              </a:rPr>
              <a:t>±1σ bands</a:t>
            </a:r>
            <a:r>
              <a:rPr lang="en-US" sz="1700" b="true">
                <a:solidFill>
                  <a:srgbClr val="111111"/>
                </a:solidFill>
                <a:latin typeface="Nunito Semi-Bold"/>
                <a:ea typeface="Nunito Semi-Bold"/>
                <a:cs typeface="Nunito Semi-Bold"/>
                <a:sym typeface="Nunito Semi-Bold"/>
              </a:rPr>
              <a:t> never overlap between DyHuCoG and HPCF on MovieLens-1M; on Amazon-Book the standard deviations are close to the gap for NDCG@20 and Recall@20, so those gains are reported as descriptive.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