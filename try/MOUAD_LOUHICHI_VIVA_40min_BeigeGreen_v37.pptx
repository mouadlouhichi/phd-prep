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 Id="rId59" Type="http://schemas.openxmlformats.org/officeDocument/2006/relationships/slide" Target="slides/slide33.xml"/><Relationship Id="rId60" Type="http://schemas.openxmlformats.org/officeDocument/2006/relationships/slide" Target="slides/slide34.xml"/><Relationship Id="rId61"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slide" Target="slides/slide38.xml"/><Relationship Id="rId65" Type="http://schemas.openxmlformats.org/officeDocument/2006/relationships/slide" Target="slides/slide39.xml"/><Relationship Id="rId66" Type="http://schemas.openxmlformats.org/officeDocument/2006/relationships/slide" Target="slides/slide40.xml"/><Relationship Id="rId67" Type="http://schemas.openxmlformats.org/officeDocument/2006/relationships/slide" Target="slides/slide41.xml"/><Relationship Id="rId68" Type="http://schemas.openxmlformats.org/officeDocument/2006/relationships/slide" Target="slides/slide42.xml"/><Relationship Id="rId69" Type="http://schemas.openxmlformats.org/officeDocument/2006/relationships/slide" Target="slides/slide43.xml"/><Relationship Id="rId70" Type="http://schemas.openxmlformats.org/officeDocument/2006/relationships/slide" Target="slides/slide44.xml"/><Relationship Id="rId71" Type="http://schemas.openxmlformats.org/officeDocument/2006/relationships/slide" Target="slides/slide45.xml"/><Relationship Id="rId72" Type="http://schemas.openxmlformats.org/officeDocument/2006/relationships/slide" Target="slides/slide46.xml"/><Relationship Id="rId73" Type="http://schemas.openxmlformats.org/officeDocument/2006/relationships/slide" Target="slides/slide47.xml"/><Relationship Id="rId74" Type="http://schemas.openxmlformats.org/officeDocument/2006/relationships/slide" Target="slides/slide48.xml"/><Relationship Id="rId75" Type="http://schemas.openxmlformats.org/officeDocument/2006/relationships/slide" Target="slides/slide49.xml"/><Relationship Id="rId76" Type="http://schemas.openxmlformats.org/officeDocument/2006/relationships/slide" Target="slides/slide50.xml"/><Relationship Id="rId77" Type="http://schemas.openxmlformats.org/officeDocument/2006/relationships/slide" Target="slides/slide51.xml"/><Relationship Id="rId78" Type="http://schemas.openxmlformats.org/officeDocument/2006/relationships/slide" Target="slides/slide52.xml"/><Relationship Id="rId79" Type="http://schemas.openxmlformats.org/officeDocument/2006/relationships/slide" Target="slides/slide53.xml"/><Relationship Id="rId80" Type="http://schemas.openxmlformats.org/officeDocument/2006/relationships/slide" Target="slides/slide54.xml"/><Relationship Id="rId81" Type="http://schemas.openxmlformats.org/officeDocument/2006/relationships/slide" Target="slides/slide55.xml"/><Relationship Id="rId82" Type="http://schemas.openxmlformats.org/officeDocument/2006/relationships/slide" Target="slides/slide56.xml"/><Relationship Id="rId83" Type="http://schemas.openxmlformats.org/officeDocument/2006/relationships/slide" Target="slides/slide57.xml"/><Relationship Id="rId84" Type="http://schemas.openxmlformats.org/officeDocument/2006/relationships/slide" Target="slides/slide58.xml"/><Relationship Id="rId85" Type="http://schemas.openxmlformats.org/officeDocument/2006/relationships/slide" Target="slides/slide59.xml"/><Relationship Id="rId86" Type="http://schemas.openxmlformats.org/officeDocument/2006/relationships/slide" Target="slides/slide60.xml"/><Relationship Id="rId87" Type="http://schemas.openxmlformats.org/officeDocument/2006/relationships/slide" Target="slides/slide61.xml"/><Relationship Id="rId88" Type="http://schemas.openxmlformats.org/officeDocument/2006/relationships/slide" Target="slides/slide62.xml"/><Relationship Id="rId89" Type="http://schemas.openxmlformats.org/officeDocument/2006/relationships/slide" Target="slides/slide63.xml"/><Relationship Id="rId90" Type="http://schemas.openxmlformats.org/officeDocument/2006/relationships/slide" Target="slides/slide64.xml"/><Relationship Id="rId91" Type="http://schemas.openxmlformats.org/officeDocument/2006/relationships/slide" Target="slides/slide65.xml"/><Relationship Id="rId92" Type="http://schemas.openxmlformats.org/officeDocument/2006/relationships/slide" Target="slides/slide66.xml"/><Relationship Id="rId93" Type="http://schemas.openxmlformats.org/officeDocument/2006/relationships/slide" Target="slides/slide67.xml"/><Relationship Id="rId94" Type="http://schemas.openxmlformats.org/officeDocument/2006/relationships/slide" Target="slides/slide68.xml"/><Relationship Id="rId95" Type="http://schemas.openxmlformats.org/officeDocument/2006/relationships/slide" Target="slides/slide69.xml"/><Relationship Id="rId96" Type="http://schemas.openxmlformats.org/officeDocument/2006/relationships/slide" Target="slides/slide70.xml"/><Relationship Id="rId97" Type="http://schemas.openxmlformats.org/officeDocument/2006/relationships/slide" Target="slides/slide71.xml"/><Relationship Id="rId98" Type="http://schemas.openxmlformats.org/officeDocument/2006/relationships/slide" Target="slides/slide72.xml"/><Relationship Id="rId99" Type="http://schemas.openxmlformats.org/officeDocument/2006/relationships/slide" Target="slides/slide73.xml"/><Relationship Id="rId100" Type="http://schemas.openxmlformats.org/officeDocument/2006/relationships/slide" Target="slides/slide74.xml"/><Relationship Id="rId101" Type="http://schemas.openxmlformats.org/officeDocument/2006/relationships/slide" Target="slides/slide75.xml"/><Relationship Id="rId102" Type="http://schemas.openxmlformats.org/officeDocument/2006/relationships/slide" Target="slides/slide76.xml"/><Relationship Id="rId103" Type="http://schemas.openxmlformats.org/officeDocument/2006/relationships/slide" Target="slides/slide77.xml"/><Relationship Id="rId104"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a:t>
            </a:r>
          </a:p>
          <a:p/>
          <a:p>
            <a:r>
              <a:t>Recommenders are everywhere: they already decide much of what billions of people see, buy and watch, from news to health and credit. And the reasoning behind those decisions is hidden, in latent factors or in message passing, so nothing can be audited or acted on.</a:t>
            </a:r>
          </a:p>
          <a:p/>
          <a:p>
            <a:r>
              <a:t>Users, designers and regulators all ask for reasons now. So transparency has to be built into the model, not added afterwards. This thesis treats accuracy and interpretability as goals to be met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classical limits appear from this evolution. Data sparsity: the user-item matrix is almost empty, so there is very little signal to learn from. Cold-start: new users and items arrive with no history. Popularity bias: exposure leads to interaction, which leads to more exposure, a filter-bubble loop that also squeezes diversity. And above all, the absence of interpretability: the limit this thesis targets. For clustering specifically, methods give a local or a global explanation, not both, and rarely stay consistent across levels of detail. Three structural limitations follow. One, complex models are still hard to explain in a way that is faithful and actionable. Two, local explanations do not carry over to multi-level structures or large datasets: a method that works on a toy partition may break on hundreds of thousands of nested records. Three, most explanations stay post-hoc: they never shape how the model learns, nor how it handles the accuracy, diversity and context trade-off. The gap bar closes: the literature still lacks one cooperative-attribution framework that explains clustering faithfully, stays consistent across levels, and then works as an in-training signal in recommendation. Claim: Shapley-value attribution can be that framework.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concrete contributions, which I will present in order.</a:t>
            </a:r>
          </a:p>
          <a:p/>
          <a:p>
            <a:r>
              <a:t>The first contribution introduces a Shapley-based framework for explaining black-box clustering, demonstrated on the Wine Quality data. The second contribution extends that idea to large-scale, multi-level clustering on Beijing Air Quality data, with a formal way to keep the attribution consistent across levels. The third contribution is DyHuCoG, a Dynamic Hypergraph Cooperative Game for preference-aware recommendation that brings attribution inside the model itself, evaluated on MovieLens-1M and Amazon-Book.</a:t>
            </a:r>
          </a:p>
          <a:p/>
          <a:p>
            <a:r>
              <a:t>Together, these three contributions follow one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a:p>
            <a:r>
              <a:t>The figure walks through one prediction: similarity is computed on the columns two users both rated, and the missing cell is filled by a similarity-weighted average of the neighbours' ratings, 5.85 over 1.37, so 4.3 out of 5. The strip below recalls how sparse the real matrices are: 4.47% and 0.06% observed.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a:p>
            <a:r>
              <a:t>The figure now contrasts the two structures directly: on the left, the bipartite user-item graph with a two-hop message highlighted, every edge carrying the same weight; on the right, hyperedges that join users, an item and a context at once, with weights that DyHuCoG re-learns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1</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Why Explainability Matters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Recommenders decide at scale.</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They shape what billions of users see, buy and watch every day: news, study, health and credit decisions.</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The reasoning behind those decisions is hidden.</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Matrix factorisation hid it in latent factors; deep and graph models hide it in message passing. Neither can be audited or acted on.</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Transparency is now expected.</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Users, designers and regulators now ask for reasons. It has to be built into the model, not added afterwards.</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1520"/>
          </a:xfrm>
          <a:prstGeom prst="rect">
            <a:avLst/>
          </a:prstGeom>
          <a:noFill/>
        </p:spPr>
        <p:txBody>
          <a:bodyPr anchor="t" rtlCol="false" lIns="0" tIns="0" rIns="0" bIns="0" wrap="square"/>
          <a:lstStyle/>
          <a:p>
            <a:pPr algn="l">
              <a:lnSpc>
                <a:spcPts val="4620"/>
              </a:lnSpc>
              <a:spcBef>
                <a:spcPts val="0"/>
              </a:spcBef>
              <a:buNone/>
            </a:pPr>
            <a:r>
              <a:rPr lang="en-US" sz="4600" b="true" spc="-210">
                <a:solidFill>
                  <a:srgbClr val="111111"/>
                </a:solidFill>
                <a:latin typeface="Roca Two Bold"/>
                <a:ea typeface="Roca Two Bold"/>
                <a:cs typeface="Roca Two Bold"/>
                <a:sym typeface="Roca Two Bold"/>
              </a:rPr>
              <a:t>Limitations &amp; Problem Statement</a:t>
            </a:r>
          </a:p>
        </p:txBody>
      </p:sp>
      <p:pic>
        <p:nvPicPr>
          <p:cNvPr id="25" name="Picture 24" descr="image.png"/>
          <p:cNvPicPr>
            <a:picLocks noChangeAspect="1"/>
          </p:cNvPicPr>
          <p:nvPr/>
        </p:nvPicPr>
        <p:blipFill>
          <a:blip r:embed="rId3"/>
          <a:stretch>
            <a:fillRect/>
          </a:stretch>
        </p:blipFill>
        <p:spPr>
          <a:xfrm>
            <a:off x="10588752"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5" name="Rounded Rectangle 4"/>
          <p:cNvSpPr/>
          <p:nvPr/>
        </p:nvSpPr>
        <p:spPr>
          <a:xfrm>
            <a:off x="1024128" y="8897112"/>
            <a:ext cx="16239744" cy="777240"/>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3688"/>
            <a:ext cx="16239744" cy="704088"/>
          </a:xfrm>
          <a:prstGeom prst="rect">
            <a:avLst/>
          </a:prstGeom>
          <a:noFill/>
        </p:spPr>
        <p:txBody>
          <a:bodyPr anchor="ctr" rtlCol="false" lIns="0" tIns="0" rIns="0" bIns="0" wrap="square"/>
          <a:lstStyle/>
          <a:p>
            <a:pPr algn="l">
              <a:lnSpc>
                <a:spcPts val="1700"/>
              </a:lnSpc>
              <a:spcBef>
                <a:spcPts val="0"/>
              </a:spcBef>
              <a:buNone/>
            </a:pPr>
            <a:r>
              <a:rPr sz="1400" b="1">
                <a:solidFill>
                  <a:srgbClr val="8A8378"/>
                </a:solidFill>
                <a:latin typeface="Nunito Semi-Bold"/>
              </a:rPr>
              <a:t>[21]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   [24] Arrieta, A. B. et al. Explainable Artificial Intelligence (XAI): Concepts, Taxonomies, Opportunities and Challenges. Information Fusion 58, 82–115 (2020).</a:t>
            </a:r>
          </a:p>
        </p:txBody>
      </p:sp>
      <p:sp>
        <p:nvSpPr>
          <p:cNvPr id="29" name="Rounded Rectangle 28"/>
          <p:cNvSpPr/>
          <p:nvPr/>
        </p:nvSpPr>
        <p:spPr>
          <a:xfrm>
            <a:off x="1024128" y="3017520"/>
            <a:ext cx="3849624" cy="2011680"/>
          </a:xfrm>
          <a:prstGeom prst="roundRect">
            <a:avLst>
              <a:gd name="adj" fmla="val 6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164592" tIns="128016" wrap="square"/>
          <a:lstStyle/>
          <a:p>
            <a:pPr algn="ctr"/>
            <a:r>
              <a:rPr sz="2200" b="1">
                <a:solidFill>
                  <a:srgbClr val="ECC665"/>
                </a:solidFill>
                <a:latin typeface="Nunito Ultra-Bold"/>
              </a:rPr>
              <a:t>01</a:t>
            </a:r>
          </a:p>
          <a:p>
            <a:r>
              <a:rPr sz="2000" b="1">
                <a:solidFill>
                  <a:srgbClr val="FFFFFF"/>
                </a:solidFill>
                <a:latin typeface="Nunito Ultra-Bold"/>
              </a:rPr>
              <a:t>Data sparsity &amp; scalability</a:t>
            </a:r>
          </a:p>
          <a:p>
            <a:r>
              <a:rPr sz="2000" b="0">
                <a:solidFill>
                  <a:srgbClr val="F1EDE6"/>
                </a:solidFill>
                <a:latin typeface="Nunito Semi-Bold"/>
              </a:rPr>
              <a:t>Almost-empty interaction matrix.</a:t>
            </a:r>
          </a:p>
        </p:txBody>
      </p:sp>
      <p:sp>
        <p:nvSpPr>
          <p:cNvPr id="30" name="Rounded Rectangle 29"/>
          <p:cNvSpPr/>
          <p:nvPr/>
        </p:nvSpPr>
        <p:spPr>
          <a:xfrm>
            <a:off x="5157216" y="3017520"/>
            <a:ext cx="3849624" cy="2011680"/>
          </a:xfrm>
          <a:prstGeom prst="roundRect">
            <a:avLst>
              <a:gd name="adj" fmla="val 6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164592" tIns="128016" wrap="square"/>
          <a:lstStyle/>
          <a:p>
            <a:pPr algn="ctr"/>
            <a:r>
              <a:rPr sz="2200" b="1">
                <a:solidFill>
                  <a:srgbClr val="ECC665"/>
                </a:solidFill>
                <a:latin typeface="Nunito Ultra-Bold"/>
              </a:rPr>
              <a:t>02</a:t>
            </a:r>
          </a:p>
          <a:p>
            <a:r>
              <a:rPr sz="2000" b="1">
                <a:solidFill>
                  <a:srgbClr val="FFFFFF"/>
                </a:solidFill>
                <a:latin typeface="Nunito Ultra-Bold"/>
              </a:rPr>
              <a:t>Cold-start</a:t>
            </a:r>
          </a:p>
          <a:p>
            <a:r>
              <a:rPr sz="2000" b="0">
                <a:solidFill>
                  <a:srgbClr val="F1EDE6"/>
                </a:solidFill>
                <a:latin typeface="Nunito Semi-Bold"/>
              </a:rPr>
              <a:t>No history for new users or items.</a:t>
            </a:r>
          </a:p>
        </p:txBody>
      </p:sp>
      <p:sp>
        <p:nvSpPr>
          <p:cNvPr id="31" name="Rounded Rectangle 30"/>
          <p:cNvSpPr/>
          <p:nvPr/>
        </p:nvSpPr>
        <p:spPr>
          <a:xfrm>
            <a:off x="9290304" y="3017520"/>
            <a:ext cx="3849624" cy="2011680"/>
          </a:xfrm>
          <a:prstGeom prst="roundRect">
            <a:avLst>
              <a:gd name="adj" fmla="val 6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164592" tIns="128016" wrap="square"/>
          <a:lstStyle/>
          <a:p>
            <a:pPr algn="ctr"/>
            <a:r>
              <a:rPr sz="2200" b="1">
                <a:solidFill>
                  <a:srgbClr val="ECC665"/>
                </a:solidFill>
                <a:latin typeface="Nunito Ultra-Bold"/>
              </a:rPr>
              <a:t>03</a:t>
            </a:r>
          </a:p>
          <a:p>
            <a:r>
              <a:rPr sz="2000" b="1">
                <a:solidFill>
                  <a:srgbClr val="FFFFFF"/>
                </a:solidFill>
                <a:latin typeface="Nunito Ultra-Bold"/>
              </a:rPr>
              <a:t>Popularity bias &amp; lack of diversity</a:t>
            </a:r>
          </a:p>
          <a:p>
            <a:r>
              <a:rPr sz="2000" b="0">
                <a:solidFill>
                  <a:srgbClr val="F1EDE6"/>
                </a:solidFill>
                <a:latin typeface="Nunito Semi-Bold"/>
              </a:rPr>
              <a:t>Exposure feeds exposure.</a:t>
            </a:r>
          </a:p>
        </p:txBody>
      </p:sp>
      <p:sp>
        <p:nvSpPr>
          <p:cNvPr id="32" name="Rounded Rectangle 31"/>
          <p:cNvSpPr/>
          <p:nvPr/>
        </p:nvSpPr>
        <p:spPr>
          <a:xfrm>
            <a:off x="13423392" y="3017520"/>
            <a:ext cx="3849624" cy="2011680"/>
          </a:xfrm>
          <a:prstGeom prst="roundRect">
            <a:avLst>
              <a:gd name="adj" fmla="val 6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164592" tIns="128016" wrap="square"/>
          <a:lstStyle/>
          <a:p>
            <a:pPr algn="ctr"/>
            <a:r>
              <a:rPr sz="2200" b="1">
                <a:solidFill>
                  <a:srgbClr val="FFFFFF"/>
                </a:solidFill>
                <a:latin typeface="Nunito Ultra-Bold"/>
              </a:rPr>
              <a:t>04</a:t>
            </a:r>
          </a:p>
          <a:p>
            <a:r>
              <a:rPr sz="2000" b="1">
                <a:solidFill>
                  <a:srgbClr val="FFFFFF"/>
                </a:solidFill>
                <a:latin typeface="Nunito Ultra-Bold"/>
              </a:rPr>
              <a:t>Absence of interpretability</a:t>
            </a:r>
          </a:p>
          <a:p>
            <a:r>
              <a:rPr sz="2000" b="0">
                <a:solidFill>
                  <a:srgbClr val="F1EDE6"/>
                </a:solidFill>
                <a:latin typeface="Nunito Semi-Bold"/>
              </a:rPr>
              <a:t>The limit this thesis targets.</a:t>
            </a:r>
          </a:p>
        </p:txBody>
      </p:sp>
      <p:sp>
        <p:nvSpPr>
          <p:cNvPr id="33" name="Rounded Rectangle 32"/>
          <p:cNvSpPr/>
          <p:nvPr/>
        </p:nvSpPr>
        <p:spPr>
          <a:xfrm>
            <a:off x="1024128" y="5303520"/>
            <a:ext cx="5193792" cy="210312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44168" y="555955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11111"/>
                </a:solidFill>
                <a:latin typeface="Nunito Ultra-Bold"/>
              </a:rPr>
              <a:t>1</a:t>
            </a:r>
          </a:p>
        </p:txBody>
      </p:sp>
      <p:sp>
        <p:nvSpPr>
          <p:cNvPr id="35" name="TextBox 34"/>
          <p:cNvSpPr txBox="1"/>
          <p:nvPr/>
        </p:nvSpPr>
        <p:spPr>
          <a:xfrm>
            <a:off x="2048256" y="5614416"/>
            <a:ext cx="4023360" cy="457200"/>
          </a:xfrm>
          <a:prstGeom prst="rect">
            <a:avLst/>
          </a:prstGeom>
          <a:noFill/>
        </p:spPr>
        <p:txBody>
          <a:bodyPr wrap="square">
            <a:spAutoFit/>
          </a:bodyPr>
          <a:lstStyle/>
          <a:p>
            <a:r>
              <a:rPr sz="2200" b="1">
                <a:solidFill>
                  <a:srgbClr val="FFFFFF"/>
                </a:solidFill>
                <a:latin typeface="Nunito Ultra-Bold"/>
              </a:rPr>
              <a:t>Lack of explainability</a:t>
            </a:r>
          </a:p>
        </p:txBody>
      </p:sp>
      <p:sp>
        <p:nvSpPr>
          <p:cNvPr id="36" name="TextBox 35"/>
          <p:cNvSpPr txBox="1"/>
          <p:nvPr/>
        </p:nvSpPr>
        <p:spPr>
          <a:xfrm>
            <a:off x="1344168" y="6236208"/>
            <a:ext cx="4572000" cy="1051560"/>
          </a:xfrm>
          <a:prstGeom prst="rect">
            <a:avLst/>
          </a:prstGeom>
          <a:noFill/>
        </p:spPr>
        <p:txBody>
          <a:bodyPr wrap="square">
            <a:spAutoFit/>
          </a:bodyPr>
          <a:lstStyle/>
          <a:p>
            <a:r>
              <a:rPr sz="2000" b="0">
                <a:solidFill>
                  <a:srgbClr val="F1EDE6"/>
                </a:solidFill>
                <a:latin typeface="Nunito Semi-Bold"/>
              </a:rPr>
              <a:t>Explanations are neither </a:t>
            </a:r>
            <a:r>
              <a:rPr sz="2000" b="1">
                <a:solidFill>
                  <a:srgbClr val="F1EDE6"/>
                </a:solidFill>
                <a:latin typeface="Nunito Semi-Bold"/>
              </a:rPr>
              <a:t>faithful nor actionable</a:t>
            </a:r>
            <a:r>
              <a:rPr sz="2000" b="0">
                <a:solidFill>
                  <a:srgbClr val="F1EDE6"/>
                </a:solidFill>
                <a:latin typeface="Nunito Semi-Bold"/>
              </a:rPr>
              <a:t>.</a:t>
            </a:r>
          </a:p>
        </p:txBody>
      </p:sp>
      <p:sp>
        <p:nvSpPr>
          <p:cNvPr id="37" name="Rounded Rectangle 36"/>
          <p:cNvSpPr/>
          <p:nvPr/>
        </p:nvSpPr>
        <p:spPr>
          <a:xfrm>
            <a:off x="6542532" y="5303520"/>
            <a:ext cx="5193792" cy="210312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62572" y="555955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11111"/>
                </a:solidFill>
                <a:latin typeface="Nunito Ultra-Bold"/>
              </a:rPr>
              <a:t>2</a:t>
            </a:r>
          </a:p>
        </p:txBody>
      </p:sp>
      <p:sp>
        <p:nvSpPr>
          <p:cNvPr id="39" name="TextBox 38"/>
          <p:cNvSpPr txBox="1"/>
          <p:nvPr/>
        </p:nvSpPr>
        <p:spPr>
          <a:xfrm>
            <a:off x="7566660" y="5614416"/>
            <a:ext cx="4023360" cy="457200"/>
          </a:xfrm>
          <a:prstGeom prst="rect">
            <a:avLst/>
          </a:prstGeom>
          <a:noFill/>
        </p:spPr>
        <p:txBody>
          <a:bodyPr wrap="square">
            <a:spAutoFit/>
          </a:bodyPr>
          <a:lstStyle/>
          <a:p>
            <a:r>
              <a:rPr sz="2200" b="1">
                <a:solidFill>
                  <a:srgbClr val="FFFFFF"/>
                </a:solidFill>
                <a:latin typeface="Nunito Ultra-Bold"/>
              </a:rPr>
              <a:t>Difficulty of scaling</a:t>
            </a:r>
          </a:p>
        </p:txBody>
      </p:sp>
      <p:sp>
        <p:nvSpPr>
          <p:cNvPr id="40" name="TextBox 39"/>
          <p:cNvSpPr txBox="1"/>
          <p:nvPr/>
        </p:nvSpPr>
        <p:spPr>
          <a:xfrm>
            <a:off x="6862572" y="6236208"/>
            <a:ext cx="4572000" cy="1051560"/>
          </a:xfrm>
          <a:prstGeom prst="rect">
            <a:avLst/>
          </a:prstGeom>
          <a:noFill/>
        </p:spPr>
        <p:txBody>
          <a:bodyPr wrap="square">
            <a:spAutoFit/>
          </a:bodyPr>
          <a:lstStyle/>
          <a:p>
            <a:r>
              <a:rPr sz="2000" b="0">
                <a:solidFill>
                  <a:srgbClr val="F1EDE6"/>
                </a:solidFill>
                <a:latin typeface="Nunito Semi-Bold"/>
              </a:rPr>
              <a:t>Local explanations break </a:t>
            </a:r>
            <a:r>
              <a:rPr sz="2000" b="1">
                <a:solidFill>
                  <a:srgbClr val="F1EDE6"/>
                </a:solidFill>
                <a:latin typeface="Nunito Semi-Bold"/>
              </a:rPr>
              <a:t>across levels and at scale</a:t>
            </a:r>
            <a:r>
              <a:rPr sz="2000" b="0">
                <a:solidFill>
                  <a:srgbClr val="F1EDE6"/>
                </a:solidFill>
                <a:latin typeface="Nunito Semi-Bold"/>
              </a:rPr>
              <a:t>.</a:t>
            </a:r>
          </a:p>
        </p:txBody>
      </p:sp>
      <p:sp>
        <p:nvSpPr>
          <p:cNvPr id="41" name="Rounded Rectangle 40"/>
          <p:cNvSpPr/>
          <p:nvPr/>
        </p:nvSpPr>
        <p:spPr>
          <a:xfrm>
            <a:off x="12060936" y="5303520"/>
            <a:ext cx="5193792" cy="210312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2380976" y="555955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11111"/>
                </a:solidFill>
                <a:latin typeface="Nunito Ultra-Bold"/>
              </a:rPr>
              <a:t>3</a:t>
            </a:r>
          </a:p>
        </p:txBody>
      </p:sp>
      <p:sp>
        <p:nvSpPr>
          <p:cNvPr id="43" name="TextBox 42"/>
          <p:cNvSpPr txBox="1"/>
          <p:nvPr/>
        </p:nvSpPr>
        <p:spPr>
          <a:xfrm>
            <a:off x="13085064" y="5614416"/>
            <a:ext cx="4023360" cy="457200"/>
          </a:xfrm>
          <a:prstGeom prst="rect">
            <a:avLst/>
          </a:prstGeom>
          <a:noFill/>
        </p:spPr>
        <p:txBody>
          <a:bodyPr wrap="square">
            <a:spAutoFit/>
          </a:bodyPr>
          <a:lstStyle/>
          <a:p>
            <a:r>
              <a:rPr sz="2200" b="1">
                <a:solidFill>
                  <a:srgbClr val="FFFFFF"/>
                </a:solidFill>
                <a:latin typeface="Nunito Ultra-Bold"/>
              </a:rPr>
              <a:t>Weak integration into learning</a:t>
            </a:r>
          </a:p>
        </p:txBody>
      </p:sp>
      <p:sp>
        <p:nvSpPr>
          <p:cNvPr id="44" name="TextBox 43"/>
          <p:cNvSpPr txBox="1"/>
          <p:nvPr/>
        </p:nvSpPr>
        <p:spPr>
          <a:xfrm>
            <a:off x="12380976" y="6236208"/>
            <a:ext cx="4572000" cy="1051560"/>
          </a:xfrm>
          <a:prstGeom prst="rect">
            <a:avLst/>
          </a:prstGeom>
          <a:noFill/>
        </p:spPr>
        <p:txBody>
          <a:bodyPr wrap="square">
            <a:spAutoFit/>
          </a:bodyPr>
          <a:lstStyle/>
          <a:p>
            <a:r>
              <a:rPr sz="2000" b="1">
                <a:solidFill>
                  <a:srgbClr val="F1EDE6"/>
                </a:solidFill>
                <a:latin typeface="Nunito Semi-Bold"/>
              </a:rPr>
              <a:t>Post-hoc</a:t>
            </a:r>
            <a:r>
              <a:rPr sz="2000" b="0">
                <a:solidFill>
                  <a:srgbClr val="F1EDE6"/>
                </a:solidFill>
                <a:latin typeface="Nunito Semi-Bold"/>
              </a:rPr>
              <a:t> only: training never sees them.</a:t>
            </a:r>
          </a:p>
        </p:txBody>
      </p:sp>
      <p:sp>
        <p:nvSpPr>
          <p:cNvPr id="45" name="Rounded Rectangle 44"/>
          <p:cNvSpPr/>
          <p:nvPr/>
        </p:nvSpPr>
        <p:spPr>
          <a:xfrm>
            <a:off x="1024128" y="7635240"/>
            <a:ext cx="16230600" cy="1216152"/>
          </a:xfrm>
          <a:prstGeom prst="roundRect">
            <a:avLst>
              <a:gd name="adj" fmla="val 10000"/>
            </a:avLst>
          </a:prstGeom>
          <a:solidFill>
            <a:srgbClr val="E7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481328" y="7424927"/>
            <a:ext cx="2331720" cy="438912"/>
          </a:xfrm>
          <a:prstGeom prst="roundRect">
            <a:avLst>
              <a:gd name="adj" fmla="val 3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Nunito Ultra-Bold"/>
              </a:rPr>
              <a:t>THESIS GAP</a:t>
            </a:r>
          </a:p>
        </p:txBody>
      </p:sp>
      <p:sp>
        <p:nvSpPr>
          <p:cNvPr id="47" name="TextBox 46"/>
          <p:cNvSpPr txBox="1"/>
          <p:nvPr/>
        </p:nvSpPr>
        <p:spPr>
          <a:xfrm>
            <a:off x="1536192" y="7918704"/>
            <a:ext cx="15270480" cy="868680"/>
          </a:xfrm>
          <a:prstGeom prst="rect">
            <a:avLst/>
          </a:prstGeom>
          <a:noFill/>
        </p:spPr>
        <p:txBody>
          <a:bodyPr wrap="square">
            <a:spAutoFit/>
          </a:bodyPr>
          <a:lstStyle/>
          <a:p>
            <a:r>
              <a:rPr sz="1800" b="0">
                <a:solidFill>
                  <a:srgbClr val="111111"/>
                </a:solidFill>
                <a:latin typeface="Nunito Semi-Bold"/>
              </a:rPr>
              <a:t>No </a:t>
            </a:r>
            <a:r>
              <a:rPr sz="1800" b="1">
                <a:solidFill>
                  <a:srgbClr val="111111"/>
                </a:solidFill>
                <a:latin typeface="Nunito Semi-Bold"/>
              </a:rPr>
              <a:t>cooperative-attribution framework</a:t>
            </a:r>
            <a:r>
              <a:rPr sz="1800" b="0">
                <a:solidFill>
                  <a:srgbClr val="111111"/>
                </a:solidFill>
                <a:latin typeface="Nunito Semi-Bold"/>
              </a:rPr>
              <a:t> explains clustering faithfully, stays consistent across levels, and works as an </a:t>
            </a:r>
            <a:r>
              <a:rPr sz="1800" b="1">
                <a:solidFill>
                  <a:srgbClr val="111111"/>
                </a:solidFill>
                <a:latin typeface="Nunito Semi-Bold"/>
              </a:rPr>
              <a:t>in-training signal</a:t>
            </a:r>
            <a:r>
              <a:rPr sz="1800" b="0">
                <a:solidFill>
                  <a:srgbClr val="111111"/>
                </a:solidFill>
                <a:latin typeface="Nunito Semi-Bold"/>
              </a:rPr>
              <a:t>. </a:t>
            </a:r>
            <a:r>
              <a:rPr sz="1800" b="1">
                <a:solidFill>
                  <a:srgbClr val="111111"/>
                </a:solidFill>
                <a:latin typeface="Nunito Semi-Bold"/>
              </a:rPr>
              <a:t>Claim:</a:t>
            </a:r>
            <a:r>
              <a:rPr sz="1800" b="0">
                <a:solidFill>
                  <a:srgbClr val="111111"/>
                </a:solidFill>
                <a:latin typeface="Nunito Semi-Bold"/>
              </a:rPr>
              <a:t> Shapley-value attribution can be that framework.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75</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