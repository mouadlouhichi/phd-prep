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83" r:id="rId2"/>
    <p:sldId id="257" r:id="rId3"/>
    <p:sldId id="293" r:id="rId4"/>
    <p:sldId id="259" r:id="rId5"/>
    <p:sldId id="314" r:id="rId6"/>
    <p:sldId id="341" r:id="rId7"/>
    <p:sldId id="343" r:id="rId8"/>
    <p:sldId id="292" r:id="rId9"/>
    <p:sldId id="316" r:id="rId10"/>
    <p:sldId id="336" r:id="rId11"/>
    <p:sldId id="337" r:id="rId12"/>
    <p:sldId id="338" r:id="rId13"/>
    <p:sldId id="340" r:id="rId14"/>
    <p:sldId id="339" r:id="rId15"/>
    <p:sldId id="317" r:id="rId16"/>
    <p:sldId id="318" r:id="rId17"/>
    <p:sldId id="291" r:id="rId18"/>
    <p:sldId id="281" r:id="rId19"/>
    <p:sldId id="344" r:id="rId20"/>
    <p:sldId id="328" r:id="rId21"/>
    <p:sldId id="347" r:id="rId22"/>
    <p:sldId id="346" r:id="rId23"/>
    <p:sldId id="329" r:id="rId24"/>
    <p:sldId id="348" r:id="rId25"/>
    <p:sldId id="349" r:id="rId26"/>
    <p:sldId id="321" r:id="rId27"/>
    <p:sldId id="330" r:id="rId28"/>
    <p:sldId id="290" r:id="rId29"/>
    <p:sldId id="260" r:id="rId30"/>
    <p:sldId id="277" r:id="rId31"/>
    <p:sldId id="278" r:id="rId32"/>
    <p:sldId id="333" r:id="rId33"/>
    <p:sldId id="350" r:id="rId34"/>
    <p:sldId id="261" r:id="rId35"/>
    <p:sldId id="262" r:id="rId36"/>
    <p:sldId id="284" r:id="rId37"/>
    <p:sldId id="263" r:id="rId38"/>
    <p:sldId id="286" r:id="rId39"/>
    <p:sldId id="285" r:id="rId40"/>
    <p:sldId id="287" r:id="rId41"/>
    <p:sldId id="264" r:id="rId42"/>
    <p:sldId id="294" r:id="rId43"/>
    <p:sldId id="266" r:id="rId44"/>
    <p:sldId id="351" r:id="rId45"/>
    <p:sldId id="267" r:id="rId46"/>
    <p:sldId id="295" r:id="rId47"/>
    <p:sldId id="296" r:id="rId48"/>
    <p:sldId id="297" r:id="rId49"/>
    <p:sldId id="298" r:id="rId50"/>
    <p:sldId id="268" r:id="rId51"/>
    <p:sldId id="299" r:id="rId52"/>
    <p:sldId id="300" r:id="rId53"/>
    <p:sldId id="288" r:id="rId54"/>
    <p:sldId id="265" r:id="rId55"/>
    <p:sldId id="301" r:id="rId56"/>
    <p:sldId id="331" r:id="rId57"/>
    <p:sldId id="334" r:id="rId58"/>
    <p:sldId id="332" r:id="rId59"/>
    <p:sldId id="269" r:id="rId60"/>
    <p:sldId id="270" r:id="rId61"/>
    <p:sldId id="302" r:id="rId62"/>
    <p:sldId id="303" r:id="rId63"/>
    <p:sldId id="305" r:id="rId64"/>
    <p:sldId id="306" r:id="rId65"/>
    <p:sldId id="307" r:id="rId66"/>
    <p:sldId id="308" r:id="rId67"/>
    <p:sldId id="309" r:id="rId68"/>
    <p:sldId id="311" r:id="rId69"/>
    <p:sldId id="289" r:id="rId70"/>
    <p:sldId id="272" r:id="rId71"/>
    <p:sldId id="323" r:id="rId72"/>
    <p:sldId id="324" r:id="rId73"/>
    <p:sldId id="273" r:id="rId74"/>
    <p:sldId id="274" r:id="rId75"/>
    <p:sldId id="275" r:id="rId76"/>
    <p:sldId id="276" r:id="rId77"/>
    <p:sldId id="313" r:id="rId78"/>
    <p:sldId id="326" r:id="rId79"/>
    <p:sldId id="319" r:id="rId80"/>
    <p:sldId id="320"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DD5604A-35BD-46CC-ADF2-0122FC8C099C}">
          <p14:sldIdLst>
            <p14:sldId id="283"/>
            <p14:sldId id="257"/>
            <p14:sldId id="293"/>
            <p14:sldId id="259"/>
            <p14:sldId id="314"/>
            <p14:sldId id="341"/>
            <p14:sldId id="343"/>
            <p14:sldId id="292"/>
            <p14:sldId id="316"/>
            <p14:sldId id="336"/>
            <p14:sldId id="337"/>
            <p14:sldId id="338"/>
            <p14:sldId id="340"/>
            <p14:sldId id="339"/>
            <p14:sldId id="317"/>
            <p14:sldId id="318"/>
            <p14:sldId id="291"/>
            <p14:sldId id="281"/>
            <p14:sldId id="344"/>
            <p14:sldId id="328"/>
            <p14:sldId id="347"/>
            <p14:sldId id="346"/>
            <p14:sldId id="329"/>
            <p14:sldId id="348"/>
            <p14:sldId id="349"/>
            <p14:sldId id="321"/>
            <p14:sldId id="330"/>
            <p14:sldId id="290"/>
            <p14:sldId id="260"/>
            <p14:sldId id="277"/>
            <p14:sldId id="278"/>
            <p14:sldId id="333"/>
            <p14:sldId id="350"/>
            <p14:sldId id="261"/>
            <p14:sldId id="262"/>
            <p14:sldId id="284"/>
            <p14:sldId id="263"/>
            <p14:sldId id="286"/>
            <p14:sldId id="285"/>
            <p14:sldId id="287"/>
            <p14:sldId id="264"/>
            <p14:sldId id="294"/>
            <p14:sldId id="266"/>
            <p14:sldId id="351"/>
            <p14:sldId id="267"/>
            <p14:sldId id="295"/>
            <p14:sldId id="296"/>
            <p14:sldId id="297"/>
            <p14:sldId id="298"/>
            <p14:sldId id="268"/>
            <p14:sldId id="299"/>
            <p14:sldId id="300"/>
            <p14:sldId id="288"/>
            <p14:sldId id="265"/>
            <p14:sldId id="301"/>
            <p14:sldId id="331"/>
            <p14:sldId id="334"/>
            <p14:sldId id="332"/>
            <p14:sldId id="269"/>
            <p14:sldId id="270"/>
            <p14:sldId id="302"/>
            <p14:sldId id="303"/>
            <p14:sldId id="305"/>
            <p14:sldId id="306"/>
            <p14:sldId id="307"/>
            <p14:sldId id="308"/>
            <p14:sldId id="309"/>
            <p14:sldId id="311"/>
            <p14:sldId id="289"/>
            <p14:sldId id="272"/>
            <p14:sldId id="323"/>
            <p14:sldId id="324"/>
            <p14:sldId id="273"/>
            <p14:sldId id="274"/>
            <p14:sldId id="275"/>
            <p14:sldId id="276"/>
            <p14:sldId id="313"/>
          </p14:sldIdLst>
        </p14:section>
        <p14:section name="Hidden" id="{9D07A6B9-F95A-4E5B-A630-A38672DB993B}">
          <p14:sldIdLst>
            <p14:sldId id="326"/>
            <p14:sldId id="319"/>
            <p14:sldId id="32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dwane Nesmaoui" initials="RN" lastIdx="1" clrIdx="0">
    <p:extLst>
      <p:ext uri="{19B8F6BF-5375-455C-9EA6-DF929625EA0E}">
        <p15:presenceInfo xmlns:p15="http://schemas.microsoft.com/office/powerpoint/2012/main" userId="8a7fab1de5a3671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ECB7"/>
    <a:srgbClr val="4C9E65"/>
    <a:srgbClr val="0D1B2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23" autoAdjust="0"/>
    <p:restoredTop sz="93690" autoAdjust="0"/>
  </p:normalViewPr>
  <p:slideViewPr>
    <p:cSldViewPr snapToGrid="0">
      <p:cViewPr varScale="1">
        <p:scale>
          <a:sx n="60" d="100"/>
          <a:sy n="60" d="100"/>
        </p:scale>
        <p:origin x="7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389AAB-E7FE-44C1-AA5E-5543FE15A072}"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B1C6E-8DC2-4E7B-B3D1-0F5C75DF7500}" type="slidenum">
              <a:rPr lang="en-US" smtClean="0"/>
              <a:t>‹#›</a:t>
            </a:fld>
            <a:endParaRPr lang="en-US"/>
          </a:p>
        </p:txBody>
      </p:sp>
    </p:spTree>
    <p:extLst>
      <p:ext uri="{BB962C8B-B14F-4D97-AF65-F5344CB8AC3E}">
        <p14:creationId xmlns:p14="http://schemas.microsoft.com/office/powerpoint/2010/main" val="134191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Good morning. Thank you, President, Professors, for being here today and having time to judge and discuss my thesis. My name is Redwane Nesmaoui, and I'll be presenting my PhD thesis: </a:t>
            </a:r>
            <a:r>
              <a:rPr lang="en-US" b="0" i="1" dirty="0">
                <a:solidFill>
                  <a:srgbClr val="C9D1D9"/>
                </a:solidFill>
                <a:effectLst/>
                <a:latin typeface="Consolas" panose="020B0609020204030204" pitchFamily="49" charset="0"/>
              </a:rPr>
              <a:t>*Explainable Artificial Intelligence for Decision-Making in Graph-Based Recommendation Systems*</a:t>
            </a:r>
            <a:r>
              <a:rPr lang="en-US" b="0" dirty="0">
                <a:solidFill>
                  <a:srgbClr val="BBBEBF"/>
                </a:solidFill>
                <a:effectLst/>
                <a:latin typeface="Consolas" panose="020B0609020204030204" pitchFamily="49" charset="0"/>
              </a:rPr>
              <a:t>, supervised by Professor Mohamed </a:t>
            </a:r>
            <a:r>
              <a:rPr lang="en-US" b="0" dirty="0" err="1">
                <a:solidFill>
                  <a:srgbClr val="BBBEBF"/>
                </a:solidFill>
                <a:effectLst/>
                <a:latin typeface="Consolas" panose="020B0609020204030204" pitchFamily="49" charset="0"/>
              </a:rPr>
              <a:t>Lazaar</a:t>
            </a:r>
            <a:r>
              <a:rPr lang="en-US" b="0" dirty="0">
                <a:solidFill>
                  <a:srgbClr val="BBBEBF"/>
                </a:solidFill>
                <a:effectLst/>
                <a:latin typeface="Consolas" panose="020B0609020204030204" pitchFamily="49" charset="0"/>
              </a:rPr>
              <a:t>.</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a:t>
            </a:fld>
            <a:endParaRPr lang="en-US"/>
          </a:p>
        </p:txBody>
      </p:sp>
    </p:spTree>
    <p:extLst>
      <p:ext uri="{BB962C8B-B14F-4D97-AF65-F5344CB8AC3E}">
        <p14:creationId xmlns:p14="http://schemas.microsoft.com/office/powerpoint/2010/main" val="3888450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I'll walk you through five parts: the context and motivation, the experimental setup shared across contributions, my three research contributions, and finally the conclusion and perspectives. Each contribution follows the same structure  objectives, methodology, results, and findings  so you'll always know where we are.</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a:t>
            </a:fld>
            <a:endParaRPr lang="en-US"/>
          </a:p>
        </p:txBody>
      </p:sp>
    </p:spTree>
    <p:extLst>
      <p:ext uri="{BB962C8B-B14F-4D97-AF65-F5344CB8AC3E}">
        <p14:creationId xmlns:p14="http://schemas.microsoft.com/office/powerpoint/2010/main" val="3078596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Let's start with the introduction.</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a:t>
            </a:fld>
            <a:endParaRPr lang="en-US"/>
          </a:p>
        </p:txBody>
      </p:sp>
    </p:spTree>
    <p:extLst>
      <p:ext uri="{BB962C8B-B14F-4D97-AF65-F5344CB8AC3E}">
        <p14:creationId xmlns:p14="http://schemas.microsoft.com/office/powerpoint/2010/main" val="2710966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Recommender systems shape what billions of users see, buy, and watch every day from Netflix to Amazon. But state-of-the-art graph-based recommenders remain opaque: they're accurate, but neither users nor designers can easily understand </a:t>
            </a:r>
            <a:r>
              <a:rPr lang="en-US" b="0" i="1" dirty="0">
                <a:solidFill>
                  <a:srgbClr val="C9D1D9"/>
                </a:solidFill>
                <a:effectLst/>
                <a:latin typeface="Consolas" panose="020B0609020204030204" pitchFamily="49" charset="0"/>
              </a:rPr>
              <a:t>*why*</a:t>
            </a:r>
            <a:r>
              <a:rPr lang="en-US" b="0" dirty="0">
                <a:solidFill>
                  <a:srgbClr val="BBBEBF"/>
                </a:solidFill>
                <a:effectLst/>
                <a:latin typeface="Consolas" panose="020B0609020204030204" pitchFamily="49" charset="0"/>
              </a:rPr>
              <a:t> a given item was recommended. This raises the central question of trust: how do we build transparency into the recommendation process itself, rather than bolting on an explanation afterward? That tension between predictive power and interpretability  is the starting point of this thesis.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a:t>
            </a:fld>
            <a:endParaRPr lang="en-US"/>
          </a:p>
        </p:txBody>
      </p:sp>
    </p:spTree>
    <p:extLst>
      <p:ext uri="{BB962C8B-B14F-4D97-AF65-F5344CB8AC3E}">
        <p14:creationId xmlns:p14="http://schemas.microsoft.com/office/powerpoint/2010/main" val="526093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These are not abstract concerns Netflix, Spotify, Yelp, Amazon all rely on recommendation engines as a core part of their product. </a:t>
            </a:r>
            <a:r>
              <a:rPr lang="en-US" b="0" i="1" dirty="0">
                <a:solidFill>
                  <a:srgbClr val="C9D1D9"/>
                </a:solidFill>
                <a:effectLst/>
                <a:latin typeface="Consolas" panose="020B0609020204030204" pitchFamily="49" charset="0"/>
              </a:rPr>
              <a:t>Netflix's estimate that recommendations save it over a billion dollars a year in retention.)</a:t>
            </a:r>
            <a:r>
              <a:rPr lang="en-US" b="0" dirty="0">
                <a:solidFill>
                  <a:srgbClr val="BBBEBF"/>
                </a:solidFill>
                <a:effectLst/>
                <a:latin typeface="Consolas" panose="020B0609020204030204" pitchFamily="49" charset="0"/>
              </a:rPr>
              <a:t> The scale of deployment is exactly why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matters, small biases or errors are amplified across millions of users.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a:t>
            </a:fld>
            <a:endParaRPr lang="en-US"/>
          </a:p>
        </p:txBody>
      </p:sp>
    </p:spTree>
    <p:extLst>
      <p:ext uri="{BB962C8B-B14F-4D97-AF65-F5344CB8AC3E}">
        <p14:creationId xmlns:p14="http://schemas.microsoft.com/office/powerpoint/2010/main" val="2284642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These are not abstract concerns Netflix, Spotify, Yelp, Amazon all rely on recommendation engines as a core part of their product. </a:t>
            </a:r>
            <a:r>
              <a:rPr lang="en-US" b="0" i="1" dirty="0">
                <a:solidFill>
                  <a:srgbClr val="C9D1D9"/>
                </a:solidFill>
                <a:effectLst/>
                <a:latin typeface="Consolas" panose="020B0609020204030204" pitchFamily="49" charset="0"/>
              </a:rPr>
              <a:t>Netflix's estimate that recommendations save it over a billion dollars a year in retention.)</a:t>
            </a:r>
            <a:r>
              <a:rPr lang="en-US" b="0" dirty="0">
                <a:solidFill>
                  <a:srgbClr val="BBBEBF"/>
                </a:solidFill>
                <a:effectLst/>
                <a:latin typeface="Consolas" panose="020B0609020204030204" pitchFamily="49" charset="0"/>
              </a:rPr>
              <a:t> The scale of deployment is exactly why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matters, small biases or errors are amplified across millions of users.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a:t>
            </a:fld>
            <a:endParaRPr lang="en-US"/>
          </a:p>
        </p:txBody>
      </p:sp>
    </p:spTree>
    <p:extLst>
      <p:ext uri="{BB962C8B-B14F-4D97-AF65-F5344CB8AC3E}">
        <p14:creationId xmlns:p14="http://schemas.microsoft.com/office/powerpoint/2010/main" val="3548863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These are not abstract concerns Netflix, Spotify, Yelp, Amazon all rely on recommendation engines as a core part of their product. </a:t>
            </a:r>
            <a:r>
              <a:rPr lang="en-US" b="0" i="1" dirty="0">
                <a:solidFill>
                  <a:srgbClr val="C9D1D9"/>
                </a:solidFill>
                <a:effectLst/>
                <a:latin typeface="Consolas" panose="020B0609020204030204" pitchFamily="49" charset="0"/>
              </a:rPr>
              <a:t>Netflix's estimate that recommendations save it over a billion dollars a year in retention.)</a:t>
            </a:r>
            <a:r>
              <a:rPr lang="en-US" b="0" dirty="0">
                <a:solidFill>
                  <a:srgbClr val="BBBEBF"/>
                </a:solidFill>
                <a:effectLst/>
                <a:latin typeface="Consolas" panose="020B0609020204030204" pitchFamily="49" charset="0"/>
              </a:rPr>
              <a:t> The scale of deployment is exactly why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matters, small biases or errors are amplified across millions of users.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a:t>
            </a:fld>
            <a:endParaRPr lang="en-US"/>
          </a:p>
        </p:txBody>
      </p:sp>
    </p:spTree>
    <p:extLst>
      <p:ext uri="{BB962C8B-B14F-4D97-AF65-F5344CB8AC3E}">
        <p14:creationId xmlns:p14="http://schemas.microsoft.com/office/powerpoint/2010/main" val="691365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Now let's look more precisely at the problem this thesis addresses.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8</a:t>
            </a:fld>
            <a:endParaRPr lang="en-US"/>
          </a:p>
        </p:txBody>
      </p:sp>
    </p:spTree>
    <p:extLst>
      <p:ext uri="{BB962C8B-B14F-4D97-AF65-F5344CB8AC3E}">
        <p14:creationId xmlns:p14="http://schemas.microsoft.com/office/powerpoint/2010/main" val="1614180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Recommender systems drive engagement through predictive analytics, automation, data insights, and enhanced decision-making. They're a key lever for converting audience attention into business value but that lever needs to be trustworthy.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9</a:t>
            </a:fld>
            <a:endParaRPr lang="en-US"/>
          </a:p>
        </p:txBody>
      </p:sp>
    </p:spTree>
    <p:extLst>
      <p:ext uri="{BB962C8B-B14F-4D97-AF65-F5344CB8AC3E}">
        <p14:creationId xmlns:p14="http://schemas.microsoft.com/office/powerpoint/2010/main" val="64937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Recommender systems drive engagement through predictive analytics, automation, data insights, and enhanced decision-making. They're a key lever for converting audience attention into business value but that lever needs to be trustworthy.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10</a:t>
            </a:fld>
            <a:endParaRPr lang="en-US"/>
          </a:p>
        </p:txBody>
      </p:sp>
    </p:spTree>
    <p:extLst>
      <p:ext uri="{BB962C8B-B14F-4D97-AF65-F5344CB8AC3E}">
        <p14:creationId xmlns:p14="http://schemas.microsoft.com/office/powerpoint/2010/main" val="3297286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Recommender systems drive engagement through predictive analytics, automation, data insights, and enhanced decision-making. They're a key lever for converting audience attention into business value but that lever needs to be trustworthy.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11</a:t>
            </a:fld>
            <a:endParaRPr lang="en-US"/>
          </a:p>
        </p:txBody>
      </p:sp>
    </p:spTree>
    <p:extLst>
      <p:ext uri="{BB962C8B-B14F-4D97-AF65-F5344CB8AC3E}">
        <p14:creationId xmlns:p14="http://schemas.microsoft.com/office/powerpoint/2010/main" val="1949328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Recommender systems drive engagement through predictive analytics, automation, data insights, and enhanced decision-making. They're a key lever for converting audience attention into business value but that lever needs to be trustworthy.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12</a:t>
            </a:fld>
            <a:endParaRPr lang="en-US"/>
          </a:p>
        </p:txBody>
      </p:sp>
    </p:spTree>
    <p:extLst>
      <p:ext uri="{BB962C8B-B14F-4D97-AF65-F5344CB8AC3E}">
        <p14:creationId xmlns:p14="http://schemas.microsoft.com/office/powerpoint/2010/main" val="1284556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Recommender systems drive engagement through predictive analytics, automation, data insights, and enhanced decision-making. They're a key lever for converting audience attention into business value but that lever needs to be trustworthy.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13</a:t>
            </a:fld>
            <a:endParaRPr lang="en-US"/>
          </a:p>
        </p:txBody>
      </p:sp>
    </p:spTree>
    <p:extLst>
      <p:ext uri="{BB962C8B-B14F-4D97-AF65-F5344CB8AC3E}">
        <p14:creationId xmlns:p14="http://schemas.microsoft.com/office/powerpoint/2010/main" val="3399289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Recommender systems drive engagement through predictive analytics, automation, data insights, and enhanced decision-making. They're a key lever for converting audience attention into business value but that lever needs to be trustworthy.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14</a:t>
            </a:fld>
            <a:endParaRPr lang="en-US"/>
          </a:p>
        </p:txBody>
      </p:sp>
    </p:spTree>
    <p:extLst>
      <p:ext uri="{BB962C8B-B14F-4D97-AF65-F5344CB8AC3E}">
        <p14:creationId xmlns:p14="http://schemas.microsoft.com/office/powerpoint/2010/main" val="2325200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Three structural problems motivate this work. First, graph-based recommenders perform well but remain black boxes. Second, existing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methods are largely post-hoc and weakly integrated they explain a decision after it's made, rather than shaping it. Third, hierarchical structures categories, subcategories, taxonomies are poorly represented in the Euclidean spaces most models use. My objective is to design a unified framework that brings together accuracy,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adaptability, and hierarchical modeling.</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15</a:t>
            </a:fld>
            <a:endParaRPr lang="en-US"/>
          </a:p>
        </p:txBody>
      </p:sp>
    </p:spTree>
    <p:extLst>
      <p:ext uri="{BB962C8B-B14F-4D97-AF65-F5344CB8AC3E}">
        <p14:creationId xmlns:p14="http://schemas.microsoft.com/office/powerpoint/2010/main" val="513557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This objective translates into three concrete contributions, which I'll present in order: first, a graph-based collaborative filtering baseline; second, a Shapley-value-based adaptive reweighting mechanism; and third, a hyperbolic graph neural network that combines hierarchy-awareness with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All three are validated on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and Amazon.</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16</a:t>
            </a:fld>
            <a:endParaRPr lang="en-US"/>
          </a:p>
        </p:txBody>
      </p:sp>
    </p:spTree>
    <p:extLst>
      <p:ext uri="{BB962C8B-B14F-4D97-AF65-F5344CB8AC3E}">
        <p14:creationId xmlns:p14="http://schemas.microsoft.com/office/powerpoint/2010/main" val="3615668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Before the contributions, let me briefly cover the shared experimental setup.</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17</a:t>
            </a:fld>
            <a:endParaRPr lang="en-US"/>
          </a:p>
        </p:txBody>
      </p:sp>
    </p:spTree>
    <p:extLst>
      <p:ext uri="{BB962C8B-B14F-4D97-AF65-F5344CB8AC3E}">
        <p14:creationId xmlns:p14="http://schemas.microsoft.com/office/powerpoint/2010/main" val="762756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18</a:t>
            </a:fld>
            <a:endParaRPr lang="en-US"/>
          </a:p>
        </p:txBody>
      </p:sp>
    </p:spTree>
    <p:extLst>
      <p:ext uri="{BB962C8B-B14F-4D97-AF65-F5344CB8AC3E}">
        <p14:creationId xmlns:p14="http://schemas.microsoft.com/office/powerpoint/2010/main" val="3363971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19</a:t>
            </a:fld>
            <a:endParaRPr lang="en-US"/>
          </a:p>
        </p:txBody>
      </p:sp>
    </p:spTree>
    <p:extLst>
      <p:ext uri="{BB962C8B-B14F-4D97-AF65-F5344CB8AC3E}">
        <p14:creationId xmlns:p14="http://schemas.microsoft.com/office/powerpoint/2010/main" val="3923546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20</a:t>
            </a:fld>
            <a:endParaRPr lang="en-US"/>
          </a:p>
        </p:txBody>
      </p:sp>
    </p:spTree>
    <p:extLst>
      <p:ext uri="{BB962C8B-B14F-4D97-AF65-F5344CB8AC3E}">
        <p14:creationId xmlns:p14="http://schemas.microsoft.com/office/powerpoint/2010/main" val="354856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21</a:t>
            </a:fld>
            <a:endParaRPr lang="en-US"/>
          </a:p>
        </p:txBody>
      </p:sp>
    </p:spTree>
    <p:extLst>
      <p:ext uri="{BB962C8B-B14F-4D97-AF65-F5344CB8AC3E}">
        <p14:creationId xmlns:p14="http://schemas.microsoft.com/office/powerpoint/2010/main" val="1766527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22</a:t>
            </a:fld>
            <a:endParaRPr lang="en-US"/>
          </a:p>
        </p:txBody>
      </p:sp>
    </p:spTree>
    <p:extLst>
      <p:ext uri="{BB962C8B-B14F-4D97-AF65-F5344CB8AC3E}">
        <p14:creationId xmlns:p14="http://schemas.microsoft.com/office/powerpoint/2010/main" val="624748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23</a:t>
            </a:fld>
            <a:endParaRPr lang="en-US"/>
          </a:p>
        </p:txBody>
      </p:sp>
    </p:spTree>
    <p:extLst>
      <p:ext uri="{BB962C8B-B14F-4D97-AF65-F5344CB8AC3E}">
        <p14:creationId xmlns:p14="http://schemas.microsoft.com/office/powerpoint/2010/main" val="38342470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24</a:t>
            </a:fld>
            <a:endParaRPr lang="en-US"/>
          </a:p>
        </p:txBody>
      </p:sp>
    </p:spTree>
    <p:extLst>
      <p:ext uri="{BB962C8B-B14F-4D97-AF65-F5344CB8AC3E}">
        <p14:creationId xmlns:p14="http://schemas.microsoft.com/office/powerpoint/2010/main" val="1175767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25</a:t>
            </a:fld>
            <a:endParaRPr lang="en-US"/>
          </a:p>
        </p:txBody>
      </p:sp>
    </p:spTree>
    <p:extLst>
      <p:ext uri="{BB962C8B-B14F-4D97-AF65-F5344CB8AC3E}">
        <p14:creationId xmlns:p14="http://schemas.microsoft.com/office/powerpoint/2010/main" val="980813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evaluate primarily with Precision, Recall, and F1, for top-K recommendation  I won't read the formulas, but happy to detail them in questions if needed.</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26</a:t>
            </a:fld>
            <a:endParaRPr lang="en-US"/>
          </a:p>
        </p:txBody>
      </p:sp>
    </p:spTree>
    <p:extLst>
      <p:ext uri="{BB962C8B-B14F-4D97-AF65-F5344CB8AC3E}">
        <p14:creationId xmlns:p14="http://schemas.microsoft.com/office/powerpoint/2010/main" val="9559062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Experiments ran on a ThinkPad X1 Carbon for the first contribution and a MacBook Pro M4 Max for the second and third, I mention this mainly for reproducibility and because it explains some of the runtime figures you'll see later</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27</a:t>
            </a:fld>
            <a:endParaRPr lang="en-US"/>
          </a:p>
        </p:txBody>
      </p:sp>
    </p:spTree>
    <p:extLst>
      <p:ext uri="{BB962C8B-B14F-4D97-AF65-F5344CB8AC3E}">
        <p14:creationId xmlns:p14="http://schemas.microsoft.com/office/powerpoint/2010/main" val="8398641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Let's move to the first contribution: a collaborative filtering movie recommender based on graph neural networks.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28</a:t>
            </a:fld>
            <a:endParaRPr lang="en-US"/>
          </a:p>
        </p:txBody>
      </p:sp>
    </p:spTree>
    <p:extLst>
      <p:ext uri="{BB962C8B-B14F-4D97-AF65-F5344CB8AC3E}">
        <p14:creationId xmlns:p14="http://schemas.microsoft.com/office/powerpoint/2010/main" val="2148808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Classical collaborative filtering has a real limitation: it operates on sparse interaction matrices and can't capture indirect, multi-hop relationships between users and items, it ignores the natural graph structure of the data. The gap is a graph-based model that exploits higher-order connectivity directly, without extra side information, to improve performance in sparse settings.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29</a:t>
            </a:fld>
            <a:endParaRPr lang="en-US"/>
          </a:p>
        </p:txBody>
      </p:sp>
    </p:spTree>
    <p:extLst>
      <p:ext uri="{BB962C8B-B14F-4D97-AF65-F5344CB8AC3E}">
        <p14:creationId xmlns:p14="http://schemas.microsoft.com/office/powerpoint/2010/main" val="5215045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structure this contribution around four questions: does graph-based link prediction beat traditional CF methods; does multi-hop propagation help; can a simple graph model support future extensions; and what limitations remain. That last question is deliberately there, it's what motivates Contribution II.</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30</a:t>
            </a:fld>
            <a:endParaRPr lang="en-US"/>
          </a:p>
        </p:txBody>
      </p:sp>
    </p:spTree>
    <p:extLst>
      <p:ext uri="{BB962C8B-B14F-4D97-AF65-F5344CB8AC3E}">
        <p14:creationId xmlns:p14="http://schemas.microsoft.com/office/powerpoint/2010/main" val="1693074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pipeline starts from user-item interactions, builds a bipartite graph, and initializes embeddings for users and items.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31</a:t>
            </a:fld>
            <a:endParaRPr lang="en-US"/>
          </a:p>
        </p:txBody>
      </p:sp>
    </p:spTree>
    <p:extLst>
      <p:ext uri="{BB962C8B-B14F-4D97-AF65-F5344CB8AC3E}">
        <p14:creationId xmlns:p14="http://schemas.microsoft.com/office/powerpoint/2010/main" val="39635933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Experiments ran on a ThinkPad X1 Carbon for the first contribution and a MacBook Pro M4 Max for the second and third, I mention this mainly for reproducibility and because it explains some of the runtime figures you'll see later</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32</a:t>
            </a:fld>
            <a:endParaRPr lang="en-US"/>
          </a:p>
        </p:txBody>
      </p:sp>
    </p:spTree>
    <p:extLst>
      <p:ext uri="{BB962C8B-B14F-4D97-AF65-F5344CB8AC3E}">
        <p14:creationId xmlns:p14="http://schemas.microsoft.com/office/powerpoint/2010/main" val="22114994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pipeline starts from user-item interactions, builds a bipartite graph, and initializes embeddings for users and items.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33</a:t>
            </a:fld>
            <a:endParaRPr lang="en-US"/>
          </a:p>
        </p:txBody>
      </p:sp>
    </p:spTree>
    <p:extLst>
      <p:ext uri="{BB962C8B-B14F-4D97-AF65-F5344CB8AC3E}">
        <p14:creationId xmlns:p14="http://schemas.microsoft.com/office/powerpoint/2010/main" val="13764639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Then we do neighborhood aggregation across multiple layers, combine the layers, and predict interactions via inner product — this is the </a:t>
            </a:r>
            <a:r>
              <a:rPr lang="en-US" b="0" dirty="0" err="1">
                <a:solidFill>
                  <a:srgbClr val="BBBEBF"/>
                </a:solidFill>
                <a:effectLst/>
                <a:latin typeface="Consolas" panose="020B0609020204030204" pitchFamily="49" charset="0"/>
              </a:rPr>
              <a:t>LightGCN</a:t>
            </a:r>
            <a:r>
              <a:rPr lang="en-US" b="0" dirty="0">
                <a:solidFill>
                  <a:srgbClr val="BBBEBF"/>
                </a:solidFill>
                <a:effectLst/>
                <a:latin typeface="Consolas" panose="020B0609020204030204" pitchFamily="49" charset="0"/>
              </a:rPr>
              <a:t>-style design.</a:t>
            </a:r>
          </a:p>
        </p:txBody>
      </p:sp>
      <p:sp>
        <p:nvSpPr>
          <p:cNvPr id="4" name="Slide Number Placeholder 3"/>
          <p:cNvSpPr>
            <a:spLocks noGrp="1"/>
          </p:cNvSpPr>
          <p:nvPr>
            <p:ph type="sldNum" sz="quarter" idx="5"/>
          </p:nvPr>
        </p:nvSpPr>
        <p:spPr/>
        <p:txBody>
          <a:bodyPr/>
          <a:lstStyle/>
          <a:p>
            <a:fld id="{134B1C6E-8DC2-4E7B-B3D1-0F5C75DF7500}" type="slidenum">
              <a:rPr lang="en-US" smtClean="0"/>
              <a:t>34</a:t>
            </a:fld>
            <a:endParaRPr lang="en-US"/>
          </a:p>
        </p:txBody>
      </p:sp>
    </p:spTree>
    <p:extLst>
      <p:ext uri="{BB962C8B-B14F-4D97-AF65-F5344CB8AC3E}">
        <p14:creationId xmlns:p14="http://schemas.microsoft.com/office/powerpoint/2010/main" val="12013297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solidFill>
                  <a:srgbClr val="BBBEBF"/>
                </a:solidFill>
                <a:effectLst/>
                <a:latin typeface="Consolas" panose="020B0609020204030204" pitchFamily="49" charset="0"/>
              </a:rPr>
              <a:t>LightGCN</a:t>
            </a:r>
            <a:r>
              <a:rPr lang="en-US" b="0" dirty="0">
                <a:solidFill>
                  <a:srgbClr val="BBBEBF"/>
                </a:solidFill>
                <a:effectLst/>
                <a:latin typeface="Consolas" panose="020B0609020204030204" pitchFamily="49" charset="0"/>
              </a:rPr>
              <a:t>-CF beats every baseline, UBCF, IBCF, MF, SVD, SVD++  with the biggest gain in recall, confirming it captures multi-hop patterns invisible to matrix-based methods. The important caveat: this is a link-prediction evaluation, not full top-N ranking.</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35</a:t>
            </a:fld>
            <a:endParaRPr lang="en-US"/>
          </a:p>
        </p:txBody>
      </p:sp>
    </p:spTree>
    <p:extLst>
      <p:ext uri="{BB962C8B-B14F-4D97-AF65-F5344CB8AC3E}">
        <p14:creationId xmlns:p14="http://schemas.microsoft.com/office/powerpoint/2010/main" val="1550145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So: higher recall confirms multi-hop propagation adds value; the progression from UBCF to GNN-CF shows richer relational modeling helps link prediction. But, and this is important, these results don't yet establish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temporal adaptation, or full-catalog top-N performance.</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36</a:t>
            </a:fld>
            <a:endParaRPr lang="en-US"/>
          </a:p>
        </p:txBody>
      </p:sp>
    </p:spTree>
    <p:extLst>
      <p:ext uri="{BB962C8B-B14F-4D97-AF65-F5344CB8AC3E}">
        <p14:creationId xmlns:p14="http://schemas.microsoft.com/office/powerpoint/2010/main" val="3370380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To summarize: graph structure improves prediction, higher-order neighborhoods improve recall, and simple architectures are sufficient as a strong baseline. But accuracy alone is not enough, the model remains static and opaque.</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37</a:t>
            </a:fld>
            <a:endParaRPr lang="en-US"/>
          </a:p>
        </p:txBody>
      </p:sp>
    </p:spTree>
    <p:extLst>
      <p:ext uri="{BB962C8B-B14F-4D97-AF65-F5344CB8AC3E}">
        <p14:creationId xmlns:p14="http://schemas.microsoft.com/office/powerpoint/2010/main" val="10506351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This contribution closely follows </a:t>
            </a:r>
            <a:r>
              <a:rPr lang="en-US" b="0" dirty="0" err="1">
                <a:solidFill>
                  <a:srgbClr val="BBBEBF"/>
                </a:solidFill>
                <a:effectLst/>
                <a:latin typeface="Consolas" panose="020B0609020204030204" pitchFamily="49" charset="0"/>
              </a:rPr>
              <a:t>LightGCN</a:t>
            </a:r>
            <a:r>
              <a:rPr lang="en-US" b="0" dirty="0">
                <a:solidFill>
                  <a:srgbClr val="BBBEBF"/>
                </a:solidFill>
                <a:effectLst/>
                <a:latin typeface="Consolas" panose="020B0609020204030204" pitchFamily="49" charset="0"/>
              </a:rPr>
              <a:t> rather than proposing a fundamentally new architecture, evaluation is limited to MovieLens-1M under link prediction, and there's no ablation isolating propagation depth. Most importantly for what follows: interactions are weighted uniformly and are not explainable.</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38</a:t>
            </a:fld>
            <a:endParaRPr lang="en-US"/>
          </a:p>
        </p:txBody>
      </p:sp>
    </p:spTree>
    <p:extLst>
      <p:ext uri="{BB962C8B-B14F-4D97-AF65-F5344CB8AC3E}">
        <p14:creationId xmlns:p14="http://schemas.microsoft.com/office/powerpoint/2010/main" val="3517777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key insight driving Contribution II: every historical interaction influences the model implicitly and uniformly. That raises two questions which interactions actually drive a given recommendation, and can we adjust their influence at inference time? This motivates using Shapley values to quantify interaction-level contributions.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39</a:t>
            </a:fld>
            <a:endParaRPr lang="en-US"/>
          </a:p>
        </p:txBody>
      </p:sp>
    </p:spTree>
    <p:extLst>
      <p:ext uri="{BB962C8B-B14F-4D97-AF65-F5344CB8AC3E}">
        <p14:creationId xmlns:p14="http://schemas.microsoft.com/office/powerpoint/2010/main" val="1793055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This brings us to the second contribution: dynamic recommendation through real-time Shapley-value-based contribution adjustment.</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40</a:t>
            </a:fld>
            <a:endParaRPr lang="en-US"/>
          </a:p>
        </p:txBody>
      </p:sp>
    </p:spTree>
    <p:extLst>
      <p:ext uri="{BB962C8B-B14F-4D97-AF65-F5344CB8AC3E}">
        <p14:creationId xmlns:p14="http://schemas.microsoft.com/office/powerpoint/2010/main" val="26253126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Most recommenders assume preferences are stable and that all past interactions are equally relevant, both are false in practice. Adaptive methods that do exist usually rely on heuristics without explaining their weighting, and Shapley values, when used at all, are typically post-hoc they describe a prediction without influencing it. The gap: a unified, model-agnostic mechanism that both quantifies interaction importance </a:t>
            </a:r>
            <a:r>
              <a:rPr lang="en-US" b="0" i="1" dirty="0">
                <a:solidFill>
                  <a:srgbClr val="C9D1D9"/>
                </a:solidFill>
                <a:effectLst/>
                <a:latin typeface="Consolas" panose="020B0609020204030204" pitchFamily="49" charset="0"/>
              </a:rPr>
              <a:t>*and*</a:t>
            </a:r>
            <a:r>
              <a:rPr lang="en-US" b="0" dirty="0">
                <a:solidFill>
                  <a:srgbClr val="BBBEBF"/>
                </a:solidFill>
                <a:effectLst/>
                <a:latin typeface="Consolas" panose="020B0609020204030204" pitchFamily="49" charset="0"/>
              </a:rPr>
              <a:t> uses it to adapt the recommendation, while exposing it as an explanation.</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41</a:t>
            </a:fld>
            <a:endParaRPr lang="en-US"/>
          </a:p>
        </p:txBody>
      </p:sp>
    </p:spTree>
    <p:extLst>
      <p:ext uri="{BB962C8B-B14F-4D97-AF65-F5344CB8AC3E}">
        <p14:creationId xmlns:p14="http://schemas.microsoft.com/office/powerpoint/2010/main" val="23954967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Five questions here: can Shapley values quantify each interaction's contribution; does Shapley-based reweighting improve top-10 ranking; can the same scores both adjust and explain recommendations; do the performance gains justify the computational cost; and does this demonstrate long-term adaptation or just offline reweighting, I'm careful about that last distinction throughout.</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42</a:t>
            </a:fld>
            <a:endParaRPr lang="en-US"/>
          </a:p>
        </p:txBody>
      </p:sp>
    </p:spTree>
    <p:extLst>
      <p:ext uri="{BB962C8B-B14F-4D97-AF65-F5344CB8AC3E}">
        <p14:creationId xmlns:p14="http://schemas.microsoft.com/office/powerpoint/2010/main" val="31061339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At a high level: I model each historical interaction as a player in a cooperative game, using the model's recommendation score as the value function. Monte Carlo sampling estimates each interaction's Shapley contribution, which is then converted into an adaptive weight and fed back into the recommender the same score doubles as an explanation.</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43</a:t>
            </a:fld>
            <a:endParaRPr lang="en-US"/>
          </a:p>
        </p:txBody>
      </p:sp>
    </p:spTree>
    <p:extLst>
      <p:ext uri="{BB962C8B-B14F-4D97-AF65-F5344CB8AC3E}">
        <p14:creationId xmlns:p14="http://schemas.microsoft.com/office/powerpoint/2010/main" val="31250898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At a high level: I model each historical interaction as a player in a cooperative game, using the model's recommendation score as the value function. Monte Carlo sampling estimates each interaction's Shapley contribution, which is then converted into an adaptive weight and fed back into the recommender the same score doubles as an explanation.</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44</a:t>
            </a:fld>
            <a:endParaRPr lang="en-US"/>
          </a:p>
        </p:txBody>
      </p:sp>
    </p:spTree>
    <p:extLst>
      <p:ext uri="{BB962C8B-B14F-4D97-AF65-F5344CB8AC3E}">
        <p14:creationId xmlns:p14="http://schemas.microsoft.com/office/powerpoint/2010/main" val="28632711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evaluate with sampled-candidate top-10 ranking on MovieLens-1M and Amazon: held-out positives plus 99 sampled negatives per user, measuring Precision, Recall, and F1 at 10. </a:t>
            </a:r>
            <a:r>
              <a:rPr lang="en-US" b="0" i="1" dirty="0">
                <a:solidFill>
                  <a:srgbClr val="C9D1D9"/>
                </a:solidFill>
                <a:effectLst/>
                <a:latin typeface="Consolas" panose="020B0609020204030204" pitchFamily="49" charset="0"/>
              </a:rPr>
              <a:t>*(Note: point estimates only — full multi-seed variance wasn't available; I flag that as a limitation.)*</a:t>
            </a:r>
            <a:endParaRPr lang="en-US" b="0" dirty="0">
              <a:solidFill>
                <a:srgbClr val="BBBEBF"/>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45</a:t>
            </a:fld>
            <a:endParaRPr lang="en-US"/>
          </a:p>
        </p:txBody>
      </p:sp>
    </p:spTree>
    <p:extLst>
      <p:ext uri="{BB962C8B-B14F-4D97-AF65-F5344CB8AC3E}">
        <p14:creationId xmlns:p14="http://schemas.microsoft.com/office/powerpoint/2010/main" val="36042514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Applying Adaptive Shapley Value weighting — ASV — improves every baseline. ASV-MF gets the best overall F1 at 0.840, a 9.4% improvement. ASV-NCF shows the smallest gain, which makes sense — NCF was already the strongest baseline, so there's less headroom.</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46</a:t>
            </a:fld>
            <a:endParaRPr lang="en-US"/>
          </a:p>
        </p:txBody>
      </p:sp>
    </p:spTree>
    <p:extLst>
      <p:ext uri="{BB962C8B-B14F-4D97-AF65-F5344CB8AC3E}">
        <p14:creationId xmlns:p14="http://schemas.microsoft.com/office/powerpoint/2010/main" val="2814704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On Amazon, the pattern shifts: ASV-IBCF gets the largest F1 improvement at 12%, ASV-NCF also gains strongly at 10.9%, but ASV-MF — the best performer on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 only improves 0.95% here. This tells us gains depend on how much headroom the baseline has, and that behavior is dataset-dependent.</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47</a:t>
            </a:fld>
            <a:endParaRPr lang="en-US"/>
          </a:p>
        </p:txBody>
      </p:sp>
    </p:spTree>
    <p:extLst>
      <p:ext uri="{BB962C8B-B14F-4D97-AF65-F5344CB8AC3E}">
        <p14:creationId xmlns:p14="http://schemas.microsoft.com/office/powerpoint/2010/main" val="23730315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This benefit isn't free: ASV-IBCF has the highest training overhead at +83%, and all variants increase latency and memory. I report this transparently because it's central to judging practical </a:t>
            </a:r>
            <a:r>
              <a:rPr lang="en-US" b="0" dirty="0" err="1">
                <a:solidFill>
                  <a:srgbClr val="BBBEBF"/>
                </a:solidFill>
                <a:effectLst/>
                <a:latin typeface="Consolas" panose="020B0609020204030204" pitchFamily="49" charset="0"/>
              </a:rPr>
              <a:t>deployability</a:t>
            </a:r>
            <a:r>
              <a:rPr lang="en-US" b="0" dirty="0">
                <a:solidFill>
                  <a:srgbClr val="BBBEBF"/>
                </a:solidFill>
                <a:effectLst/>
                <a:latin typeface="Consolas" panose="020B0609020204030204" pitchFamily="49" charset="0"/>
              </a:rPr>
              <a:t>.</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48</a:t>
            </a:fld>
            <a:endParaRPr lang="en-US"/>
          </a:p>
        </p:txBody>
      </p:sp>
    </p:spTree>
    <p:extLst>
      <p:ext uri="{BB962C8B-B14F-4D97-AF65-F5344CB8AC3E}">
        <p14:creationId xmlns:p14="http://schemas.microsoft.com/office/powerpoint/2010/main" val="28617205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So: each interaction gets a recommendation-specific Shapley contribution; across both datasets, all ASV variants improve their baseline, F1 gains ranging from under 1% to 12%; the same scores support both reweighting and explanation. But overhead can be substantial, and — critically — what we show here is offline contribution-aware adjustment, not long-term streaming adaptation.</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49</a:t>
            </a:fld>
            <a:endParaRPr lang="en-US"/>
          </a:p>
        </p:txBody>
      </p:sp>
    </p:spTree>
    <p:extLst>
      <p:ext uri="{BB962C8B-B14F-4D97-AF65-F5344CB8AC3E}">
        <p14:creationId xmlns:p14="http://schemas.microsoft.com/office/powerpoint/2010/main" val="9230712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Six findings: the method is broadly reusable across neighborhood, latent-factor, and neural models; it's dual-purpose — weighting and explanation from the same signal; gains are uneven depending on baseline strength; there's a real efficiency cost from Monte Carlo estimation; adaptivity is limited to inference-time or precomputed reweighting, not continuous learning; and the integration mechanism differs by model family.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50</a:t>
            </a:fld>
            <a:endParaRPr lang="en-US"/>
          </a:p>
        </p:txBody>
      </p:sp>
    </p:spTree>
    <p:extLst>
      <p:ext uri="{BB962C8B-B14F-4D97-AF65-F5344CB8AC3E}">
        <p14:creationId xmlns:p14="http://schemas.microsoft.com/office/powerpoint/2010/main" val="15982745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BBBEBF"/>
                </a:solidFill>
                <a:effectLst/>
                <a:latin typeface="Consolas" panose="020B0609020204030204" pitchFamily="49" charset="0"/>
              </a:rPr>
              <a:t>Honestly stated: Shapley estimation is expensive for long interaction histories, we tested on relatively clean implicit-positive data rather than noisier production signals, we didn't test controlled preference drift, there's no live A/B validation, limited statistical rigor around variance, and we didn't test deep graph recommenders.   </a:t>
            </a:r>
          </a:p>
        </p:txBody>
      </p:sp>
      <p:sp>
        <p:nvSpPr>
          <p:cNvPr id="4" name="Slide Number Placeholder 3"/>
          <p:cNvSpPr>
            <a:spLocks noGrp="1"/>
          </p:cNvSpPr>
          <p:nvPr>
            <p:ph type="sldNum" sz="quarter" idx="5"/>
          </p:nvPr>
        </p:nvSpPr>
        <p:spPr/>
        <p:txBody>
          <a:bodyPr/>
          <a:lstStyle/>
          <a:p>
            <a:fld id="{134B1C6E-8DC2-4E7B-B3D1-0F5C75DF7500}" type="slidenum">
              <a:rPr lang="en-US" smtClean="0"/>
              <a:t>51</a:t>
            </a:fld>
            <a:endParaRPr lang="en-US"/>
          </a:p>
        </p:txBody>
      </p:sp>
    </p:spTree>
    <p:extLst>
      <p:ext uri="{BB962C8B-B14F-4D97-AF65-F5344CB8AC3E}">
        <p14:creationId xmlns:p14="http://schemas.microsoft.com/office/powerpoint/2010/main" val="22588255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limitation that carries forward: this contribution still models flat user-item structure in Euclidean space. But movies belong to genres, products belong to nested categories these are hierarchical domains, and preferences at one level can propagate to related categories. That's the motivation for Contribution III: modeling these hierarchies in non-Euclidean space, and extending Shapley attribution to multiple levels.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52</a:t>
            </a:fld>
            <a:endParaRPr lang="en-US"/>
          </a:p>
        </p:txBody>
      </p:sp>
    </p:spTree>
    <p:extLst>
      <p:ext uri="{BB962C8B-B14F-4D97-AF65-F5344CB8AC3E}">
        <p14:creationId xmlns:p14="http://schemas.microsoft.com/office/powerpoint/2010/main" val="17776428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third and final contribution: graph neural networks with Shapley-value explanations for hierarchical recommendation systems.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53</a:t>
            </a:fld>
            <a:endParaRPr lang="en-US"/>
          </a:p>
        </p:txBody>
      </p:sp>
    </p:spTree>
    <p:extLst>
      <p:ext uri="{BB962C8B-B14F-4D97-AF65-F5344CB8AC3E}">
        <p14:creationId xmlns:p14="http://schemas.microsoft.com/office/powerpoint/2010/main" val="1806404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Products live in categories and subcategories, movies in genres  preferences exist at the item level, the category level, and higher abstraction levels, creating long-range parent-child dependencies. Hyperbolic geometry is more expressive for this kind of hierarchical data, but harder to interpret — existing Shapley explainers are built around Euclidean scoring and don't automatically stay consistent with hyperbolic distance. That's the gap I close here.</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54</a:t>
            </a:fld>
            <a:endParaRPr lang="en-US"/>
          </a:p>
        </p:txBody>
      </p:sp>
    </p:spTree>
    <p:extLst>
      <p:ext uri="{BB962C8B-B14F-4D97-AF65-F5344CB8AC3E}">
        <p14:creationId xmlns:p14="http://schemas.microsoft.com/office/powerpoint/2010/main" val="31779909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Three questions: does hyperbolic learning improve accuracy for hierarchical relations; can Shapley explanations be added without hurting performance; and do the explanations actually reflect hierarchy and user preferences — tested through faithfulness and user judgment, not just accuracy.</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55</a:t>
            </a:fld>
            <a:endParaRPr lang="en-US"/>
          </a:p>
        </p:txBody>
      </p:sp>
    </p:spTree>
    <p:extLst>
      <p:ext uri="{BB962C8B-B14F-4D97-AF65-F5344CB8AC3E}">
        <p14:creationId xmlns:p14="http://schemas.microsoft.com/office/powerpoint/2010/main" val="22074366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Experiments ran on a ThinkPad X1 Carbon for the first contribution and a MacBook Pro M4 Max for the second and third, I mention this mainly for reproducibility and because it explains some of the runtime figures you'll see later</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56</a:t>
            </a:fld>
            <a:endParaRPr lang="en-US"/>
          </a:p>
        </p:txBody>
      </p:sp>
    </p:spTree>
    <p:extLst>
      <p:ext uri="{BB962C8B-B14F-4D97-AF65-F5344CB8AC3E}">
        <p14:creationId xmlns:p14="http://schemas.microsoft.com/office/powerpoint/2010/main" val="2316297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Experiments ran on a ThinkPad X1 Carbon for the first contribution and a MacBook Pro M4 Max for the second and third, I mention this mainly for reproducibility and because it explains some of the runtime figures you'll see later</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57</a:t>
            </a:fld>
            <a:endParaRPr lang="en-US"/>
          </a:p>
        </p:txBody>
      </p:sp>
    </p:spTree>
    <p:extLst>
      <p:ext uri="{BB962C8B-B14F-4D97-AF65-F5344CB8AC3E}">
        <p14:creationId xmlns:p14="http://schemas.microsoft.com/office/powerpoint/2010/main" val="1129595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Experiments ran on a ThinkPad X1 Carbon for the first contribution and a MacBook Pro M4 Max for the second and third, I mention this mainly for reproducibility and because it explains some of the runtime figures you'll see later</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58</a:t>
            </a:fld>
            <a:endParaRPr lang="en-US"/>
          </a:p>
        </p:txBody>
      </p:sp>
    </p:spTree>
    <p:extLst>
      <p:ext uri="{BB962C8B-B14F-4D97-AF65-F5344CB8AC3E}">
        <p14:creationId xmlns:p14="http://schemas.microsoft.com/office/powerpoint/2010/main" val="7914550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model embeds users and items in hyperbolic space to naturally capture hierarchy, then computes Shapley contributions adapted to hyperbolic distance rather than Euclidean scoring, producing both a ranking and a multi-level, hierarchy-aware explanation.</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59</a:t>
            </a:fld>
            <a:endParaRPr lang="en-US"/>
          </a:p>
        </p:txBody>
      </p:sp>
    </p:spTree>
    <p:extLst>
      <p:ext uri="{BB962C8B-B14F-4D97-AF65-F5344CB8AC3E}">
        <p14:creationId xmlns:p14="http://schemas.microsoft.com/office/powerpoint/2010/main" val="39894584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Same sampled-candidate top-K setup as before, on MovieLens-1M and Amazon, but this time I add ablation studies, runtime analysis, perturbation-based faithfulness tests, and a user study  a more complete evidence package than Contribution II.</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60</a:t>
            </a:fld>
            <a:endParaRPr lang="en-US"/>
          </a:p>
        </p:txBody>
      </p:sp>
    </p:spTree>
    <p:extLst>
      <p:ext uri="{BB962C8B-B14F-4D97-AF65-F5344CB8AC3E}">
        <p14:creationId xmlns:p14="http://schemas.microsoft.com/office/powerpoint/2010/main" val="18300236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HGNN-SV  my full model  achieves the best results across all metrics. Hyperbolic GCN alone already beats </a:t>
            </a:r>
            <a:r>
              <a:rPr lang="en-US" b="0" dirty="0" err="1">
                <a:solidFill>
                  <a:srgbClr val="BBBEBF"/>
                </a:solidFill>
                <a:effectLst/>
                <a:latin typeface="Consolas" panose="020B0609020204030204" pitchFamily="49" charset="0"/>
              </a:rPr>
              <a:t>LightGCN</a:t>
            </a:r>
            <a:r>
              <a:rPr lang="en-US" b="0" dirty="0">
                <a:solidFill>
                  <a:srgbClr val="BBBEBF"/>
                </a:solidFill>
                <a:effectLst/>
                <a:latin typeface="Consolas" panose="020B0609020204030204" pitchFamily="49" charset="0"/>
              </a:rPr>
              <a:t>, showing the geometry itself matters, and adding Shapley on top gives a further boost, with the largest gains in Recall@10.</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61</a:t>
            </a:fld>
            <a:endParaRPr lang="en-US"/>
          </a:p>
        </p:txBody>
      </p:sp>
    </p:spTree>
    <p:extLst>
      <p:ext uri="{BB962C8B-B14F-4D97-AF65-F5344CB8AC3E}">
        <p14:creationId xmlns:p14="http://schemas.microsoft.com/office/powerpoint/2010/main" val="10474672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Removing hierarchy costs the most a 0.063 F1 drop  more than removing hyperbolic geometry (-0.033) or Shapley (-0.009). This confirms hierarchical modeling is the main driver, with geometry and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contributing incrementally on top.</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62</a:t>
            </a:fld>
            <a:endParaRPr lang="en-US"/>
          </a:p>
        </p:txBody>
      </p:sp>
    </p:spTree>
    <p:extLst>
      <p:ext uri="{BB962C8B-B14F-4D97-AF65-F5344CB8AC3E}">
        <p14:creationId xmlns:p14="http://schemas.microsoft.com/office/powerpoint/2010/main" val="726601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same pattern holds on Amazon: removing hierarchy hurts most, at -0.066 F1, followed by geometry and then Shapley. Consistent across both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63</a:t>
            </a:fld>
            <a:endParaRPr lang="en-US"/>
          </a:p>
        </p:txBody>
      </p:sp>
    </p:spTree>
    <p:extLst>
      <p:ext uri="{BB962C8B-B14F-4D97-AF65-F5344CB8AC3E}">
        <p14:creationId xmlns:p14="http://schemas.microsoft.com/office/powerpoint/2010/main" val="26454801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Training is 33–38% slower than plain Hyperbolic GCN, inference 41–50% slower. Manageable experimentally, but I'm upfront that production readiness isn't established yet</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64</a:t>
            </a:fld>
            <a:endParaRPr lang="en-US"/>
          </a:p>
        </p:txBody>
      </p:sp>
    </p:spTree>
    <p:extLst>
      <p:ext uri="{BB962C8B-B14F-4D97-AF65-F5344CB8AC3E}">
        <p14:creationId xmlns:p14="http://schemas.microsoft.com/office/powerpoint/2010/main" val="37420556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Within the evaluation protocol: the full model achieves the highest precision and recall supported. Recall gains suggest multi-hop benefits, though propagation depth wasn't isolated partially supported. A simple </a:t>
            </a:r>
            <a:r>
              <a:rPr lang="en-US" b="0" dirty="0" err="1">
                <a:solidFill>
                  <a:srgbClr val="BBBEBF"/>
                </a:solidFill>
                <a:effectLst/>
                <a:latin typeface="Consolas" panose="020B0609020204030204" pitchFamily="49" charset="0"/>
              </a:rPr>
              <a:t>LightGCN</a:t>
            </a:r>
            <a:r>
              <a:rPr lang="en-US" b="0" dirty="0">
                <a:solidFill>
                  <a:srgbClr val="BBBEBF"/>
                </a:solidFill>
                <a:effectLst/>
                <a:latin typeface="Consolas" panose="020B0609020204030204" pitchFamily="49" charset="0"/>
              </a:rPr>
              <a:t>-style backbone performs best without added complexity supported. And clearly established: without this contribution, edge weights stay uniform, with no local explanations.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65</a:t>
            </a:fld>
            <a:endParaRPr lang="en-US"/>
          </a:p>
        </p:txBody>
      </p:sp>
    </p:spTree>
    <p:extLst>
      <p:ext uri="{BB962C8B-B14F-4D97-AF65-F5344CB8AC3E}">
        <p14:creationId xmlns:p14="http://schemas.microsoft.com/office/powerpoint/2010/main" val="31165383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Graph structure improves edge prediction beyond matrix methods, higher-order neighborhoods mainly help recall, a simple architecture is a sufficient baseline  but predictive accuracy alone doesn't solve static weighting or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and results should be framed as link prediction, not top-N ranking.</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66</a:t>
            </a:fld>
            <a:endParaRPr lang="en-US"/>
          </a:p>
        </p:txBody>
      </p:sp>
    </p:spTree>
    <p:extLst>
      <p:ext uri="{BB962C8B-B14F-4D97-AF65-F5344CB8AC3E}">
        <p14:creationId xmlns:p14="http://schemas.microsoft.com/office/powerpoint/2010/main" val="19569767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As with the earlier contributions: this model resembles established architectures rather than being fundamentally novel, evaluation is limited to MovieLens-1M under link prediction, no ablation isolates propagation depth, interactions are uniformly weighted, there are no local explanations here, and preference adaptation isn't validated  claims should follow the link-prediction framing, not imply top-N ranking.</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67</a:t>
            </a:fld>
            <a:endParaRPr lang="en-US"/>
          </a:p>
        </p:txBody>
      </p:sp>
    </p:spTree>
    <p:extLst>
      <p:ext uri="{BB962C8B-B14F-4D97-AF65-F5344CB8AC3E}">
        <p14:creationId xmlns:p14="http://schemas.microsoft.com/office/powerpoint/2010/main" val="13911696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Graph propagation is effective, but treats history uniformly. Shapley values identify which interactions actually drive a recommendation. Together, contribution scores enable both adaptive weighting and understandable explanations  which is really the thesis-level synthesis: moving beyond static propagation by measuring and using interaction importance.</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68</a:t>
            </a:fld>
            <a:endParaRPr lang="en-US"/>
          </a:p>
        </p:txBody>
      </p:sp>
    </p:spTree>
    <p:extLst>
      <p:ext uri="{BB962C8B-B14F-4D97-AF65-F5344CB8AC3E}">
        <p14:creationId xmlns:p14="http://schemas.microsoft.com/office/powerpoint/2010/main" val="39619299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Let me now bring everything together.</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69</a:t>
            </a:fld>
            <a:endParaRPr lang="en-US"/>
          </a:p>
        </p:txBody>
      </p:sp>
    </p:spTree>
    <p:extLst>
      <p:ext uri="{BB962C8B-B14F-4D97-AF65-F5344CB8AC3E}">
        <p14:creationId xmlns:p14="http://schemas.microsoft.com/office/powerpoint/2010/main" val="376746210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Three contributions, one thread: C1 introduces faithful, GNN-based explanations via interaction contribution; C2 uses those contributions to adaptively reweight recommendations at inference time; C3 extends everything into hyperbolic space to properly capture hierarchy. The common thesis-level takeaway: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adaptivity, and hyperbolic representation learning are progressively integrated into one unified framework.</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70</a:t>
            </a:fld>
            <a:endParaRPr lang="en-US"/>
          </a:p>
        </p:txBody>
      </p:sp>
    </p:spTree>
    <p:extLst>
      <p:ext uri="{BB962C8B-B14F-4D97-AF65-F5344CB8AC3E}">
        <p14:creationId xmlns:p14="http://schemas.microsoft.com/office/powerpoint/2010/main" val="33720036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This work resulted in four journal-track papers: two published in 2025, one accepted in 2026, and one currently under review  I'll let you read the titles rather than list them all.</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71</a:t>
            </a:fld>
            <a:endParaRPr lang="en-US"/>
          </a:p>
        </p:txBody>
      </p:sp>
    </p:spTree>
    <p:extLst>
      <p:ext uri="{BB962C8B-B14F-4D97-AF65-F5344CB8AC3E}">
        <p14:creationId xmlns:p14="http://schemas.microsoft.com/office/powerpoint/2010/main" val="33575489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Plus two earlier conference papers from 2022 and 2023, which correspond to preliminary work leading into Contribution I.</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72</a:t>
            </a:fld>
            <a:endParaRPr lang="en-US"/>
          </a:p>
        </p:txBody>
      </p:sp>
    </p:spTree>
    <p:extLst>
      <p:ext uri="{BB962C8B-B14F-4D97-AF65-F5344CB8AC3E}">
        <p14:creationId xmlns:p14="http://schemas.microsoft.com/office/powerpoint/2010/main" val="30987659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At the thesis level: evaluation stayed within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and Amazon, broader domain validation is needed; Shapley computation remains expensive at scale; the graphs are static, not continuously evolving; I don't integrate multimodal signals like text or images; the hyperbolic architecture was tested on one specific HGNN design; and everything was evaluated offline, without live A/B testing.</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73</a:t>
            </a:fld>
            <a:endParaRPr lang="en-US"/>
          </a:p>
        </p:txBody>
      </p:sp>
    </p:spTree>
    <p:extLst>
      <p:ext uri="{BB962C8B-B14F-4D97-AF65-F5344CB8AC3E}">
        <p14:creationId xmlns:p14="http://schemas.microsoft.com/office/powerpoint/2010/main" val="8526224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Five directions forward: extending to dynamic, continuously evolving graphs; developing scalable Shapley approximations for real-time use; integrating multimodal information; exploring more expressive hyperbolic architectures like hyperbolic graph transformers and mixed-curvature spaces; and validating everything through real online deployment and A/B testing.</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74</a:t>
            </a:fld>
            <a:endParaRPr lang="en-US"/>
          </a:p>
        </p:txBody>
      </p:sp>
    </p:spTree>
    <p:extLst>
      <p:ext uri="{BB962C8B-B14F-4D97-AF65-F5344CB8AC3E}">
        <p14:creationId xmlns:p14="http://schemas.microsoft.com/office/powerpoint/2010/main" val="11852285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To close: this thesis shows that </a:t>
            </a:r>
            <a:r>
              <a:rPr lang="en-US" b="0" dirty="0" err="1">
                <a:solidFill>
                  <a:srgbClr val="BBBEBF"/>
                </a:solidFill>
                <a:effectLst/>
                <a:latin typeface="Consolas" panose="020B0609020204030204" pitchFamily="49" charset="0"/>
              </a:rPr>
              <a:t>explainability</a:t>
            </a:r>
            <a:r>
              <a:rPr lang="en-US" b="0" dirty="0">
                <a:solidFill>
                  <a:srgbClr val="BBBEBF"/>
                </a:solidFill>
                <a:effectLst/>
                <a:latin typeface="Consolas" panose="020B0609020204030204" pitchFamily="49" charset="0"/>
              </a:rPr>
              <a:t> shouldn't be treated only as a post-hoc add-on, but as a fundamental design component for building accurate, adaptive, and trustworthy graph-based recommender systems. Concretely, that means a unified framework combining GNNs, Shapley values, adaptive inference, and hyperbolic geometry validated on two real-world datasets.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75</a:t>
            </a:fld>
            <a:endParaRPr lang="en-US"/>
          </a:p>
        </p:txBody>
      </p:sp>
    </p:spTree>
    <p:extLst>
      <p:ext uri="{BB962C8B-B14F-4D97-AF65-F5344CB8AC3E}">
        <p14:creationId xmlns:p14="http://schemas.microsoft.com/office/powerpoint/2010/main" val="13480436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Thank you very much for your attention. I'm now happy to take your questions.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76</a:t>
            </a:fld>
            <a:endParaRPr lang="en-US"/>
          </a:p>
        </p:txBody>
      </p:sp>
    </p:spTree>
    <p:extLst>
      <p:ext uri="{BB962C8B-B14F-4D97-AF65-F5344CB8AC3E}">
        <p14:creationId xmlns:p14="http://schemas.microsoft.com/office/powerpoint/2010/main" val="388845111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I use three datasets: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1M,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and Amazon Product Reviews covering both movie recommendation and e-commerce, which lets me test generalization across domains.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78</a:t>
            </a:fld>
            <a:endParaRPr lang="en-US"/>
          </a:p>
        </p:txBody>
      </p:sp>
    </p:spTree>
    <p:extLst>
      <p:ext uri="{BB962C8B-B14F-4D97-AF65-F5344CB8AC3E}">
        <p14:creationId xmlns:p14="http://schemas.microsoft.com/office/powerpoint/2010/main" val="194075297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The scale differs enormously, from about 100,000 ratings in </a:t>
            </a:r>
            <a:r>
              <a:rPr lang="en-US" b="0" dirty="0" err="1">
                <a:solidFill>
                  <a:srgbClr val="BBBEBF"/>
                </a:solidFill>
                <a:effectLst/>
                <a:latin typeface="Consolas" panose="020B0609020204030204" pitchFamily="49" charset="0"/>
              </a:rPr>
              <a:t>MovieLens</a:t>
            </a:r>
            <a:r>
              <a:rPr lang="en-US" b="0" dirty="0">
                <a:solidFill>
                  <a:srgbClr val="BBBEBF"/>
                </a:solidFill>
                <a:effectLst/>
                <a:latin typeface="Consolas" panose="020B0609020204030204" pitchFamily="49" charset="0"/>
              </a:rPr>
              <a:t> 100K to over 15,5 million reviews in Amazon — and so does sparsity, from roughly 94% to extremely sparse in Amazon. This range is deliberate: it stress-tests the models under very different data conditions.</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79</a:t>
            </a:fld>
            <a:endParaRPr lang="en-US"/>
          </a:p>
        </p:txBody>
      </p:sp>
    </p:spTree>
    <p:extLst>
      <p:ext uri="{BB962C8B-B14F-4D97-AF65-F5344CB8AC3E}">
        <p14:creationId xmlns:p14="http://schemas.microsoft.com/office/powerpoint/2010/main" val="147304533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BBBEBF"/>
                </a:solidFill>
                <a:effectLst/>
                <a:latin typeface="Consolas" panose="020B0609020204030204" pitchFamily="49" charset="0"/>
              </a:rPr>
              <a:t>All datasets provide explicit ratings and timestamps; Amazon additionally provides textual reviews, which I don't exploit directly in this thesis but flag as future work.</a:t>
            </a:r>
          </a:p>
          <a:p>
            <a:endParaRPr lang="en-US" dirty="0"/>
          </a:p>
        </p:txBody>
      </p:sp>
      <p:sp>
        <p:nvSpPr>
          <p:cNvPr id="4" name="Slide Number Placeholder 3"/>
          <p:cNvSpPr>
            <a:spLocks noGrp="1"/>
          </p:cNvSpPr>
          <p:nvPr>
            <p:ph type="sldNum" sz="quarter" idx="5"/>
          </p:nvPr>
        </p:nvSpPr>
        <p:spPr/>
        <p:txBody>
          <a:bodyPr/>
          <a:lstStyle/>
          <a:p>
            <a:fld id="{134B1C6E-8DC2-4E7B-B3D1-0F5C75DF7500}" type="slidenum">
              <a:rPr lang="en-US" smtClean="0"/>
              <a:t>80</a:t>
            </a:fld>
            <a:endParaRPr lang="en-US"/>
          </a:p>
        </p:txBody>
      </p:sp>
    </p:spTree>
    <p:extLst>
      <p:ext uri="{BB962C8B-B14F-4D97-AF65-F5344CB8AC3E}">
        <p14:creationId xmlns:p14="http://schemas.microsoft.com/office/powerpoint/2010/main" val="4213005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F54D3-D74B-41A7-ABDF-C08F20987F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9099C5-5240-441D-B3F5-6B223B6711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5E3817-673E-422A-A40E-2250324CE99D}"/>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2FED8D45-DD8C-4D07-996E-E2C7F38A3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E54A3F-E35E-4C53-A8B2-56DE79E128E4}"/>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398141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61A0D-F9AA-452F-8333-3F080A7BD4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4FF36F-E619-4DDD-B358-2791FF6A65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DB7048-12D5-4645-9221-23A77DBF1311}"/>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00504A02-C54F-4C1A-AC03-C427298AF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9AA430-054D-4AF5-938E-602651D84FF3}"/>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346425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DD3CC-3662-4644-93C0-5AA5300C61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CBC00E-09C4-42EC-ACF3-E4F85A1B20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7AD24E-DD96-4632-A0A9-41F2506995DC}"/>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06F99E68-1033-48FB-A4B3-1C8A17D57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28341D-CB73-4CD2-914C-44CEE7DC3028}"/>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226951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9DDF-F57A-47DD-B5C4-818A09C270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0DB151-4F3B-4CFE-B0FC-9AC33248A3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170526-8909-435A-92F8-2999DEDEBF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644E21-7A45-4291-A8CE-885F0EA4B55C}"/>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6" name="Footer Placeholder 5">
            <a:extLst>
              <a:ext uri="{FF2B5EF4-FFF2-40B4-BE49-F238E27FC236}">
                <a16:creationId xmlns:a16="http://schemas.microsoft.com/office/drawing/2014/main" id="{1B605F95-4A7D-4DCE-A59C-89D3F100EA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12B54-4DAC-4B72-9A97-71336855B6A2}"/>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043510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94608-CD25-4F65-8423-9960E8F331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E8FED5-8D4E-4C32-9859-0B8E047A2D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CF85C9-B578-4965-B538-DEDD983E34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625415-D73D-4EEA-A153-1DAE47D07D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1545F-DA67-4337-899D-CBB10D6CE3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A638C9-461F-4186-87FA-E5EB44D41249}"/>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8" name="Footer Placeholder 7">
            <a:extLst>
              <a:ext uri="{FF2B5EF4-FFF2-40B4-BE49-F238E27FC236}">
                <a16:creationId xmlns:a16="http://schemas.microsoft.com/office/drawing/2014/main" id="{DCF95E9E-90BD-40D2-BCFB-428042D477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1BAA64-7926-4C73-A132-3F311A176CBF}"/>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715906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E4D4-FD19-4391-BB5D-127CC57470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01BCB8-DEDB-4431-80B1-95DE7837F70C}"/>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4" name="Footer Placeholder 3">
            <a:extLst>
              <a:ext uri="{FF2B5EF4-FFF2-40B4-BE49-F238E27FC236}">
                <a16:creationId xmlns:a16="http://schemas.microsoft.com/office/drawing/2014/main" id="{24818EC0-FE97-4A33-841D-EA4D12F641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F1B7D-FCDB-4AC6-8A43-877EBE067021}"/>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230327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F818BA-F27C-458C-8781-E8791C0A5E1A}"/>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3" name="Footer Placeholder 2">
            <a:extLst>
              <a:ext uri="{FF2B5EF4-FFF2-40B4-BE49-F238E27FC236}">
                <a16:creationId xmlns:a16="http://schemas.microsoft.com/office/drawing/2014/main" id="{8B7B28D6-0863-4C78-A71D-25195797F9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F016BA-AA77-4EEF-820E-2FBA734350B4}"/>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54246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5E0C3-F4FD-4E0D-9A33-42635C44A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0C5FF9-28DF-4E3A-85C0-E86EC6EB2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D59E7D-72CE-4632-9D0D-8BD85C250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4B5F33-9B3A-4E69-A5B1-742A67D71608}"/>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6" name="Footer Placeholder 5">
            <a:extLst>
              <a:ext uri="{FF2B5EF4-FFF2-40B4-BE49-F238E27FC236}">
                <a16:creationId xmlns:a16="http://schemas.microsoft.com/office/drawing/2014/main" id="{5CFB37CA-5076-4F4F-9F55-D52FD221DD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1A411D-0E2B-40D3-A25C-5192AB7F585C}"/>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832466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5D45-140A-4F36-8E4B-B0A7D07EAF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B60B04-672F-48C4-BE23-CBE85C3AC7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EFD2E4-9C17-4BD2-AE4A-DA13A045B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6EB220-FE37-4D3D-863A-3EFF2CC61FF3}"/>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6" name="Footer Placeholder 5">
            <a:extLst>
              <a:ext uri="{FF2B5EF4-FFF2-40B4-BE49-F238E27FC236}">
                <a16:creationId xmlns:a16="http://schemas.microsoft.com/office/drawing/2014/main" id="{30BACE23-1854-4E77-9F1D-D16F735C0F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1702A8-F40A-471F-A264-F67B4F9D1FBF}"/>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748440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E954-CDA0-4BE0-AED7-2B4E734CC9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2EBB78-2493-4ED3-BDCF-2D6681754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66FB8F-3B97-4F76-A975-43864F1433E2}"/>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B25C82C0-D09D-458D-85EA-1B8890934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D9FB3F-603C-4DD6-AC08-C12F05FF8E7D}"/>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79083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550DE-A91D-4B1D-A889-06640E7E78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6DC8EC-D9CE-42CE-A4E7-5D92C14EF5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7D2307-916B-435F-A995-88EEA07E5B15}"/>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478E6B27-9ED6-43DB-847B-AE99475CC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16577-1559-4546-8104-D545920D87AD}"/>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673052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8D138A-52D3-4DFE-986A-D143E7BE20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A14CE3-8C1D-43E6-822C-C6FEF12AD3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432F1-93B7-45DF-BD08-1467C4DC9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1E1435F8-F9A3-4BE2-88B0-2F6C177505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0ACEF00-7745-402B-B267-B9F3A8DE71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D5577D-44C0-413A-B2CF-621F1242761D}" type="slidenum">
              <a:rPr lang="en-US" smtClean="0"/>
              <a:t>‹#›</a:t>
            </a:fld>
            <a:endParaRPr lang="en-US"/>
          </a:p>
        </p:txBody>
      </p:sp>
    </p:spTree>
    <p:extLst>
      <p:ext uri="{BB962C8B-B14F-4D97-AF65-F5344CB8AC3E}">
        <p14:creationId xmlns:p14="http://schemas.microsoft.com/office/powerpoint/2010/main" val="1587129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20.svg"/><Relationship Id="rId12"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12.png"/><Relationship Id="rId5" Type="http://schemas.openxmlformats.org/officeDocument/2006/relationships/image" Target="../media/image18.sv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17.svg"/><Relationship Id="rId9" Type="http://schemas.openxmlformats.org/officeDocument/2006/relationships/image" Target="../media/image10.pn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1.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3.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9.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7.png"/><Relationship Id="rId5" Type="http://schemas.openxmlformats.org/officeDocument/2006/relationships/image" Target="../media/image5.png"/><Relationship Id="rId15" Type="http://schemas.openxmlformats.org/officeDocument/2006/relationships/image" Target="../media/image3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0.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32.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33.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34.jp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0.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35.jp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0.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36.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2.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0.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2.png"/><Relationship Id="rId3" Type="http://schemas.openxmlformats.org/officeDocument/2006/relationships/image" Target="../media/image4.jp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5.png"/><Relationship Id="rId5" Type="http://schemas.openxmlformats.org/officeDocument/2006/relationships/image" Target="../media/image42.png"/><Relationship Id="rId10" Type="http://schemas.openxmlformats.org/officeDocument/2006/relationships/image" Target="../media/image14.png"/><Relationship Id="rId4" Type="http://schemas.openxmlformats.org/officeDocument/2006/relationships/image" Target="../media/image41.png"/><Relationship Id="rId9" Type="http://schemas.openxmlformats.org/officeDocument/2006/relationships/image" Target="../media/image13.png"/><Relationship Id="rId14" Type="http://schemas.openxmlformats.org/officeDocument/2006/relationships/image" Target="../media/image5.png"/></Relationships>
</file>

<file path=ppt/slides/_rels/slide2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5.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3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6.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3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7.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37.sv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3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7.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15.png"/><Relationship Id="rId4" Type="http://schemas.openxmlformats.org/officeDocument/2006/relationships/image" Target="../media/image37.svg"/><Relationship Id="rId9" Type="http://schemas.openxmlformats.org/officeDocument/2006/relationships/image" Target="../media/image14.png"/></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15.png"/><Relationship Id="rId4" Type="http://schemas.openxmlformats.org/officeDocument/2006/relationships/image" Target="../media/image38.jpg"/><Relationship Id="rId9" Type="http://schemas.openxmlformats.org/officeDocument/2006/relationships/image" Target="../media/image14.png"/></Relationships>
</file>

<file path=ppt/slides/_rels/slide3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7.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15.png"/><Relationship Id="rId4" Type="http://schemas.openxmlformats.org/officeDocument/2006/relationships/image" Target="../media/image39.jpg"/><Relationship Id="rId9" Type="http://schemas.openxmlformats.org/officeDocument/2006/relationships/image" Target="../media/image14.png"/></Relationships>
</file>

<file path=ppt/slides/_rels/slide3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3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3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4.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3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3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4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4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8.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15.png"/><Relationship Id="rId4" Type="http://schemas.openxmlformats.org/officeDocument/2006/relationships/image" Target="../media/image43.png"/><Relationship Id="rId9" Type="http://schemas.openxmlformats.org/officeDocument/2006/relationships/image" Target="../media/image9.png"/></Relationships>
</file>

<file path=ppt/slides/_rels/slide4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45.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44.xml"/><Relationship Id="rId16"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5" Type="http://schemas.openxmlformats.org/officeDocument/2006/relationships/image" Target="../media/image47.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 Id="rId14" Type="http://schemas.openxmlformats.org/officeDocument/2006/relationships/image" Target="../media/image46.png"/></Relationships>
</file>

<file path=ppt/slides/_rels/slide4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4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4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4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4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5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6.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5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5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22.png"/></Relationships>
</file>

<file path=ppt/slides/_rels/slide5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12"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5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5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image" Target="../media/image50.svg"/><Relationship Id="rId9" Type="http://schemas.openxmlformats.org/officeDocument/2006/relationships/image" Target="../media/image14.png"/></Relationships>
</file>

<file path=ppt/slides/_rels/slide5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24.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image" Target="../media/image50.svg"/><Relationship Id="rId9" Type="http://schemas.openxmlformats.org/officeDocument/2006/relationships/image" Target="../media/image14.png"/></Relationships>
</file>

<file path=ppt/slides/_rels/slide5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25.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image" Target="../media/image51.png"/><Relationship Id="rId9" Type="http://schemas.openxmlformats.org/officeDocument/2006/relationships/image" Target="../media/image14.png"/></Relationships>
</file>

<file path=ppt/slides/_rels/slide5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12.png"/><Relationship Id="rId12" Type="http://schemas.openxmlformats.org/officeDocument/2006/relationships/image" Target="../media/image31.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image" Target="../media/image52.png"/><Relationship Id="rId9" Type="http://schemas.openxmlformats.org/officeDocument/2006/relationships/image" Target="../media/image14.png"/></Relationships>
</file>

<file path=ppt/slides/_rels/slide6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6.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6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0.png"/><Relationship Id="rId5" Type="http://schemas.openxmlformats.org/officeDocument/2006/relationships/image" Target="../media/image26.png"/><Relationship Id="rId10"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14.png"/></Relationships>
</file>

<file path=ppt/slides/_rels/slide6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5.png"/><Relationship Id="rId5" Type="http://schemas.openxmlformats.org/officeDocument/2006/relationships/image" Target="../media/image26.png"/><Relationship Id="rId10"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14.png"/></Relationships>
</file>

<file path=ppt/slides/_rels/slide6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6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6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6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6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24.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22.png"/></Relationships>
</file>

<file path=ppt/slides/_rels/slide6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25.png"/><Relationship Id="rId5" Type="http://schemas.openxmlformats.org/officeDocument/2006/relationships/image" Target="../media/image26.png"/><Relationship Id="rId10"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14.png"/></Relationships>
</file>

<file path=ppt/slides/_rels/slide6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2.png"/><Relationship Id="rId4" Type="http://schemas.openxmlformats.org/officeDocument/2006/relationships/image" Target="../media/image24.png"/></Relationships>
</file>

<file path=ppt/slides/_rels/slide7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6.png"/><Relationship Id="rId5" Type="http://schemas.openxmlformats.org/officeDocument/2006/relationships/image" Target="../media/image26.png"/><Relationship Id="rId10"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14.png"/></Relationships>
</file>

<file path=ppt/slides/_rels/slide7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0.png"/><Relationship Id="rId5" Type="http://schemas.openxmlformats.org/officeDocument/2006/relationships/image" Target="../media/image26.png"/><Relationship Id="rId10"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14.png"/></Relationships>
</file>

<file path=ppt/slides/_rels/slide7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2.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5.png"/><Relationship Id="rId5" Type="http://schemas.openxmlformats.org/officeDocument/2006/relationships/image" Target="../media/image26.png"/><Relationship Id="rId10"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14.png"/></Relationships>
</file>

<file path=ppt/slides/_rels/slide7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7.png"/><Relationship Id="rId5" Type="http://schemas.openxmlformats.org/officeDocument/2006/relationships/image" Target="../media/image11.png"/><Relationship Id="rId10" Type="http://schemas.openxmlformats.org/officeDocument/2006/relationships/image" Target="../media/image24.png"/><Relationship Id="rId4" Type="http://schemas.openxmlformats.org/officeDocument/2006/relationships/image" Target="../media/image26.png"/><Relationship Id="rId9" Type="http://schemas.openxmlformats.org/officeDocument/2006/relationships/image" Target="../media/image15.png"/></Relationships>
</file>

<file path=ppt/slides/_rels/slide7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8.png"/><Relationship Id="rId5" Type="http://schemas.openxmlformats.org/officeDocument/2006/relationships/image" Target="../media/image11.png"/><Relationship Id="rId10" Type="http://schemas.openxmlformats.org/officeDocument/2006/relationships/image" Target="../media/image24.png"/><Relationship Id="rId4" Type="http://schemas.openxmlformats.org/officeDocument/2006/relationships/image" Target="../media/image26.png"/><Relationship Id="rId9" Type="http://schemas.openxmlformats.org/officeDocument/2006/relationships/image" Target="../media/image15.png"/></Relationships>
</file>

<file path=ppt/slides/_rels/slide7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24.png"/><Relationship Id="rId4" Type="http://schemas.openxmlformats.org/officeDocument/2006/relationships/image" Target="../media/image26.png"/><Relationship Id="rId9" Type="http://schemas.openxmlformats.org/officeDocument/2006/relationships/image" Target="../media/image15.png"/></Relationships>
</file>

<file path=ppt/slides/_rels/slide7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2.png"/></Relationships>
</file>

<file path=ppt/slides/_rels/slide7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gif"/><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g"/><Relationship Id="rId7" Type="http://schemas.openxmlformats.org/officeDocument/2006/relationships/image" Target="../media/image13.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s>
</file>

<file path=ppt/slides/_rels/slide7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s://grouplens.org/datasets/movielens/1m/" TargetMode="External"/><Relationship Id="rId3" Type="http://schemas.openxmlformats.org/officeDocument/2006/relationships/image" Target="../media/image4.jp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8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g"/><Relationship Id="rId7" Type="http://schemas.openxmlformats.org/officeDocument/2006/relationships/image" Target="../media/image11.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13E993-8D38-4110-BC7A-5BBC472507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083" y="44412"/>
            <a:ext cx="2016529" cy="1468694"/>
          </a:xfrm>
          <a:prstGeom prst="rect">
            <a:avLst/>
          </a:prstGeom>
        </p:spPr>
      </p:pic>
      <p:pic>
        <p:nvPicPr>
          <p:cNvPr id="6" name="Picture 5">
            <a:extLst>
              <a:ext uri="{FF2B5EF4-FFF2-40B4-BE49-F238E27FC236}">
                <a16:creationId xmlns:a16="http://schemas.microsoft.com/office/drawing/2014/main" id="{C53FD27D-107F-4E09-9CE1-C26009B6647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72657" y="27665"/>
            <a:ext cx="2123783" cy="1502187"/>
          </a:xfrm>
          <a:prstGeom prst="rect">
            <a:avLst/>
          </a:prstGeom>
        </p:spPr>
      </p:pic>
      <p:sp>
        <p:nvSpPr>
          <p:cNvPr id="8" name="TextBox 7">
            <a:extLst>
              <a:ext uri="{FF2B5EF4-FFF2-40B4-BE49-F238E27FC236}">
                <a16:creationId xmlns:a16="http://schemas.microsoft.com/office/drawing/2014/main" id="{2A8097A5-6BA2-4865-A08A-1D6CB6951142}"/>
              </a:ext>
            </a:extLst>
          </p:cNvPr>
          <p:cNvSpPr txBox="1"/>
          <p:nvPr/>
        </p:nvSpPr>
        <p:spPr>
          <a:xfrm>
            <a:off x="1655448" y="1105690"/>
            <a:ext cx="9179101" cy="276999"/>
          </a:xfrm>
          <a:prstGeom prst="rect">
            <a:avLst/>
          </a:prstGeom>
          <a:noFill/>
        </p:spPr>
        <p:txBody>
          <a:bodyPr wrap="square">
            <a:spAutoFit/>
          </a:bodyPr>
          <a:lstStyle/>
          <a:p>
            <a:pPr algn="ctr"/>
            <a:r>
              <a:rPr lang="en-US" sz="1200" dirty="0">
                <a:latin typeface="Montserrat" pitchFamily="2" charset="0"/>
                <a:cs typeface="Times New Roman" panose="02020603050405020304" pitchFamily="18" charset="0"/>
              </a:rPr>
              <a:t>Doctoral Studies Center in Information and Engineering  Sciences and Technologies (ST2I)</a:t>
            </a:r>
          </a:p>
        </p:txBody>
      </p:sp>
      <p:sp>
        <p:nvSpPr>
          <p:cNvPr id="9" name="Rectangle 8">
            <a:extLst>
              <a:ext uri="{FF2B5EF4-FFF2-40B4-BE49-F238E27FC236}">
                <a16:creationId xmlns:a16="http://schemas.microsoft.com/office/drawing/2014/main" id="{27C77998-1883-4EA1-B241-A5C292CFB970}"/>
              </a:ext>
            </a:extLst>
          </p:cNvPr>
          <p:cNvSpPr/>
          <p:nvPr/>
        </p:nvSpPr>
        <p:spPr>
          <a:xfrm>
            <a:off x="675083" y="1584372"/>
            <a:ext cx="11255142" cy="778759"/>
          </a:xfrm>
          <a:prstGeom prst="rect">
            <a:avLst/>
          </a:prstGeom>
          <a:ln>
            <a:solidFill>
              <a:srgbClr val="0D1B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Medium" pitchFamily="50" charset="0"/>
              </a:rPr>
              <a:t>Explainable Artificial Intelligence (XAI) for Decision-Making </a:t>
            </a:r>
          </a:p>
          <a:p>
            <a:pPr algn="ctr"/>
            <a:r>
              <a:rPr lang="en-US" dirty="0">
                <a:latin typeface="Montserrat Medium" pitchFamily="50" charset="0"/>
              </a:rPr>
              <a:t>in Graph-Based Recommendation Systems</a:t>
            </a:r>
          </a:p>
        </p:txBody>
      </p:sp>
      <p:sp>
        <p:nvSpPr>
          <p:cNvPr id="7" name="TextBox 6">
            <a:extLst>
              <a:ext uri="{FF2B5EF4-FFF2-40B4-BE49-F238E27FC236}">
                <a16:creationId xmlns:a16="http://schemas.microsoft.com/office/drawing/2014/main" id="{1E4B0EB6-9489-4A65-9E21-C4A3871D04F8}"/>
              </a:ext>
            </a:extLst>
          </p:cNvPr>
          <p:cNvSpPr txBox="1"/>
          <p:nvPr/>
        </p:nvSpPr>
        <p:spPr>
          <a:xfrm>
            <a:off x="1506449" y="2515239"/>
            <a:ext cx="9179101" cy="338554"/>
          </a:xfrm>
          <a:prstGeom prst="rect">
            <a:avLst/>
          </a:prstGeom>
          <a:noFill/>
        </p:spPr>
        <p:txBody>
          <a:bodyPr wrap="square">
            <a:spAutoFit/>
          </a:bodyPr>
          <a:lstStyle/>
          <a:p>
            <a:pPr algn="ctr"/>
            <a:r>
              <a:rPr lang="en-US" sz="1600" b="1" dirty="0">
                <a:latin typeface="Montserrat Medium" pitchFamily="50" charset="0"/>
                <a:cs typeface="Times New Roman" panose="02020603050405020304" pitchFamily="18" charset="0"/>
              </a:rPr>
              <a:t>PhD Viva Presented by: </a:t>
            </a:r>
            <a:r>
              <a:rPr lang="en-US" sz="1600" dirty="0">
                <a:latin typeface="Montserrat Medium" pitchFamily="50" charset="0"/>
                <a:cs typeface="Times New Roman" panose="02020603050405020304" pitchFamily="18" charset="0"/>
              </a:rPr>
              <a:t>Redwane NESMAOUI</a:t>
            </a:r>
          </a:p>
        </p:txBody>
      </p:sp>
      <p:graphicFrame>
        <p:nvGraphicFramePr>
          <p:cNvPr id="2" name="Table 2">
            <a:extLst>
              <a:ext uri="{FF2B5EF4-FFF2-40B4-BE49-F238E27FC236}">
                <a16:creationId xmlns:a16="http://schemas.microsoft.com/office/drawing/2014/main" id="{885F3AD6-276A-48D1-AA87-249946C77A35}"/>
              </a:ext>
            </a:extLst>
          </p:cNvPr>
          <p:cNvGraphicFramePr>
            <a:graphicFrameLocks noGrp="1"/>
          </p:cNvGraphicFramePr>
          <p:nvPr>
            <p:extLst>
              <p:ext uri="{D42A27DB-BD31-4B8C-83A1-F6EECF244321}">
                <p14:modId xmlns:p14="http://schemas.microsoft.com/office/powerpoint/2010/main" val="3170707495"/>
              </p:ext>
            </p:extLst>
          </p:nvPr>
        </p:nvGraphicFramePr>
        <p:xfrm>
          <a:off x="675083" y="3454954"/>
          <a:ext cx="11139832" cy="3272148"/>
        </p:xfrm>
        <a:graphic>
          <a:graphicData uri="http://schemas.openxmlformats.org/drawingml/2006/table">
            <a:tbl>
              <a:tblPr firstRow="1" bandRow="1">
                <a:tableStyleId>{2D5ABB26-0587-4C30-8999-92F81FD0307C}</a:tableStyleId>
              </a:tblPr>
              <a:tblGrid>
                <a:gridCol w="1259595">
                  <a:extLst>
                    <a:ext uri="{9D8B030D-6E8A-4147-A177-3AD203B41FA5}">
                      <a16:colId xmlns:a16="http://schemas.microsoft.com/office/drawing/2014/main" val="3342160351"/>
                    </a:ext>
                  </a:extLst>
                </a:gridCol>
                <a:gridCol w="3157086">
                  <a:extLst>
                    <a:ext uri="{9D8B030D-6E8A-4147-A177-3AD203B41FA5}">
                      <a16:colId xmlns:a16="http://schemas.microsoft.com/office/drawing/2014/main" val="1043481491"/>
                    </a:ext>
                  </a:extLst>
                </a:gridCol>
                <a:gridCol w="981777">
                  <a:extLst>
                    <a:ext uri="{9D8B030D-6E8A-4147-A177-3AD203B41FA5}">
                      <a16:colId xmlns:a16="http://schemas.microsoft.com/office/drawing/2014/main" val="1751524045"/>
                    </a:ext>
                  </a:extLst>
                </a:gridCol>
                <a:gridCol w="5741374">
                  <a:extLst>
                    <a:ext uri="{9D8B030D-6E8A-4147-A177-3AD203B41FA5}">
                      <a16:colId xmlns:a16="http://schemas.microsoft.com/office/drawing/2014/main" val="798941376"/>
                    </a:ext>
                  </a:extLst>
                </a:gridCol>
              </a:tblGrid>
              <a:tr h="363572">
                <a:tc>
                  <a:txBody>
                    <a:bodyPr/>
                    <a:lstStyle/>
                    <a:p>
                      <a:r>
                        <a:rPr lang="en-US" sz="1400" b="1" dirty="0">
                          <a:latin typeface="Montserrat Medium" pitchFamily="50" charset="0"/>
                        </a:rPr>
                        <a:t>President</a:t>
                      </a:r>
                    </a:p>
                  </a:txBody>
                  <a:tcPr/>
                </a:tc>
                <a:tc>
                  <a:txBody>
                    <a:bodyPr/>
                    <a:lstStyle/>
                    <a:p>
                      <a:r>
                        <a:rPr lang="en-US" sz="1400" dirty="0">
                          <a:latin typeface="Montserrat Medium" pitchFamily="50" charset="0"/>
                        </a:rPr>
                        <a:t>Pr. </a:t>
                      </a:r>
                      <a:r>
                        <a:rPr lang="en-US" sz="1400" dirty="0" err="1">
                          <a:latin typeface="Montserrat Medium" pitchFamily="50" charset="0"/>
                        </a:rPr>
                        <a:t>Abdellatif</a:t>
                      </a:r>
                      <a:r>
                        <a:rPr lang="en-US" sz="1400" dirty="0">
                          <a:latin typeface="Montserrat Medium" pitchFamily="50" charset="0"/>
                        </a:rPr>
                        <a:t> EL AFIA</a:t>
                      </a:r>
                    </a:p>
                  </a:txBody>
                  <a:tcPr/>
                </a:tc>
                <a:tc>
                  <a:txBody>
                    <a:bodyPr/>
                    <a:lstStyle/>
                    <a:p>
                      <a:r>
                        <a:rPr lang="en-US" sz="1400" dirty="0">
                          <a:latin typeface="Montserrat Medium" pitchFamily="50" charset="0"/>
                        </a:rPr>
                        <a:t>PES</a:t>
                      </a:r>
                    </a:p>
                  </a:txBody>
                  <a:tcPr/>
                </a:tc>
                <a:tc>
                  <a:txBody>
                    <a:bodyPr/>
                    <a:lstStyle/>
                    <a:p>
                      <a:r>
                        <a:rPr lang="en-US" sz="1400" dirty="0">
                          <a:latin typeface="Montserrat Medium" pitchFamily="50" charset="0"/>
                        </a:rPr>
                        <a:t>ENSIAS, Mohammed V University, Rabat </a:t>
                      </a:r>
                    </a:p>
                  </a:txBody>
                  <a:tcPr/>
                </a:tc>
                <a:extLst>
                  <a:ext uri="{0D108BD9-81ED-4DB2-BD59-A6C34878D82A}">
                    <a16:rowId xmlns:a16="http://schemas.microsoft.com/office/drawing/2014/main" val="431681501"/>
                  </a:ext>
                </a:extLst>
              </a:tr>
              <a:tr h="363572">
                <a:tc>
                  <a:txBody>
                    <a:bodyPr/>
                    <a:lstStyle/>
                    <a:p>
                      <a:r>
                        <a:rPr lang="en-US" sz="1400" b="1" dirty="0">
                          <a:latin typeface="Montserrat Medium" pitchFamily="50" charset="0"/>
                        </a:rPr>
                        <a:t>Supervisor</a:t>
                      </a:r>
                    </a:p>
                  </a:txBody>
                  <a:tcPr/>
                </a:tc>
                <a:tc>
                  <a:txBody>
                    <a:bodyPr/>
                    <a:lstStyle/>
                    <a:p>
                      <a:r>
                        <a:rPr lang="en-US" sz="1400" dirty="0">
                          <a:latin typeface="Montserrat Medium" pitchFamily="50" charset="0"/>
                        </a:rPr>
                        <a:t>Pr. Mohamed LAZAAR</a:t>
                      </a:r>
                    </a:p>
                  </a:txBody>
                  <a:tcPr/>
                </a:tc>
                <a:tc>
                  <a:txBody>
                    <a:bodyPr/>
                    <a:lstStyle/>
                    <a:p>
                      <a:r>
                        <a:rPr lang="en-US" sz="1400" dirty="0">
                          <a:latin typeface="Montserrat Medium" pitchFamily="50" charset="0"/>
                        </a:rPr>
                        <a:t>PES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Medium" pitchFamily="50" charset="0"/>
                        </a:rPr>
                        <a:t>ENSIAS, Mohammed V University, Rabat </a:t>
                      </a:r>
                    </a:p>
                  </a:txBody>
                  <a:tcPr/>
                </a:tc>
                <a:extLst>
                  <a:ext uri="{0D108BD9-81ED-4DB2-BD59-A6C34878D82A}">
                    <a16:rowId xmlns:a16="http://schemas.microsoft.com/office/drawing/2014/main" val="3293723479"/>
                  </a:ext>
                </a:extLst>
              </a:tr>
              <a:tr h="363572">
                <a:tc>
                  <a:txBody>
                    <a:bodyPr/>
                    <a:lstStyle/>
                    <a:p>
                      <a:r>
                        <a:rPr lang="en-US" sz="1400" b="1" dirty="0">
                          <a:latin typeface="Montserrat Medium" pitchFamily="50" charset="0"/>
                        </a:rPr>
                        <a:t>Reviewer</a:t>
                      </a:r>
                    </a:p>
                  </a:txBody>
                  <a:tcPr/>
                </a:tc>
                <a:tc>
                  <a:txBody>
                    <a:bodyPr/>
                    <a:lstStyle/>
                    <a:p>
                      <a:r>
                        <a:rPr lang="en-US" sz="1400" dirty="0">
                          <a:latin typeface="Montserrat Medium" pitchFamily="50" charset="0"/>
                        </a:rPr>
                        <a:t>Pr. </a:t>
                      </a:r>
                      <a:r>
                        <a:rPr lang="en-US" sz="1400" dirty="0" err="1">
                          <a:latin typeface="Montserrat Medium" pitchFamily="50" charset="0"/>
                        </a:rPr>
                        <a:t>M’hamed</a:t>
                      </a:r>
                      <a:r>
                        <a:rPr lang="en-US" sz="1400" dirty="0">
                          <a:latin typeface="Montserrat Medium" pitchFamily="50" charset="0"/>
                        </a:rPr>
                        <a:t> AIT KBIR</a:t>
                      </a:r>
                    </a:p>
                  </a:txBody>
                  <a:tcPr/>
                </a:tc>
                <a:tc>
                  <a:txBody>
                    <a:bodyPr/>
                    <a:lstStyle/>
                    <a:p>
                      <a:r>
                        <a:rPr lang="en-US" sz="1400" dirty="0">
                          <a:latin typeface="Montserrat Medium" pitchFamily="50" charset="0"/>
                        </a:rPr>
                        <a:t>PES</a:t>
                      </a:r>
                    </a:p>
                  </a:txBody>
                  <a:tcPr/>
                </a:tc>
                <a:tc>
                  <a:txBody>
                    <a:bodyPr/>
                    <a:lstStyle/>
                    <a:p>
                      <a:r>
                        <a:rPr lang="en-US" sz="1400" dirty="0">
                          <a:latin typeface="Montserrat Medium" pitchFamily="50" charset="0"/>
                        </a:rPr>
                        <a:t>FST, </a:t>
                      </a:r>
                      <a:r>
                        <a:rPr lang="en-US" sz="1400" dirty="0" err="1">
                          <a:latin typeface="Montserrat Medium" pitchFamily="50" charset="0"/>
                        </a:rPr>
                        <a:t>Abdelmalek</a:t>
                      </a:r>
                      <a:r>
                        <a:rPr lang="en-US" sz="1400" dirty="0">
                          <a:latin typeface="Montserrat Medium" pitchFamily="50" charset="0"/>
                        </a:rPr>
                        <a:t> </a:t>
                      </a:r>
                      <a:r>
                        <a:rPr lang="en-US" sz="1400" dirty="0" err="1">
                          <a:latin typeface="Montserrat Medium" pitchFamily="50" charset="0"/>
                        </a:rPr>
                        <a:t>Essaâdi</a:t>
                      </a:r>
                      <a:r>
                        <a:rPr lang="en-US" sz="1400" dirty="0">
                          <a:latin typeface="Montserrat Medium" pitchFamily="50" charset="0"/>
                        </a:rPr>
                        <a:t> University, Tangier</a:t>
                      </a:r>
                    </a:p>
                  </a:txBody>
                  <a:tcPr/>
                </a:tc>
                <a:extLst>
                  <a:ext uri="{0D108BD9-81ED-4DB2-BD59-A6C34878D82A}">
                    <a16:rowId xmlns:a16="http://schemas.microsoft.com/office/drawing/2014/main" val="1003985861"/>
                  </a:ext>
                </a:extLst>
              </a:tr>
              <a:tr h="363572">
                <a:tc>
                  <a:txBody>
                    <a:bodyPr/>
                    <a:lstStyle/>
                    <a:p>
                      <a:r>
                        <a:rPr lang="en-US" sz="1400" b="1" dirty="0">
                          <a:latin typeface="Montserrat Medium" pitchFamily="50" charset="0"/>
                        </a:rPr>
                        <a:t>Reviewer</a:t>
                      </a:r>
                    </a:p>
                  </a:txBody>
                  <a:tcPr/>
                </a:tc>
                <a:tc>
                  <a:txBody>
                    <a:bodyPr/>
                    <a:lstStyle/>
                    <a:p>
                      <a:r>
                        <a:rPr lang="en-US" sz="1400" dirty="0">
                          <a:latin typeface="Montserrat Medium" pitchFamily="50" charset="0"/>
                        </a:rPr>
                        <a:t>Pr. Oussama MAHBOUB</a:t>
                      </a:r>
                    </a:p>
                  </a:txBody>
                  <a:tcPr/>
                </a:tc>
                <a:tc>
                  <a:txBody>
                    <a:bodyPr/>
                    <a:lstStyle/>
                    <a:p>
                      <a:r>
                        <a:rPr lang="en-US" sz="1400" dirty="0">
                          <a:latin typeface="Montserrat Medium" pitchFamily="50" charset="0"/>
                        </a:rPr>
                        <a:t>PES</a:t>
                      </a:r>
                    </a:p>
                  </a:txBody>
                  <a:tcPr/>
                </a:tc>
                <a:tc>
                  <a:txBody>
                    <a:bodyPr/>
                    <a:lstStyle/>
                    <a:p>
                      <a:r>
                        <a:rPr lang="en-US" sz="1400" dirty="0">
                          <a:latin typeface="Montserrat Medium" pitchFamily="50" charset="0"/>
                        </a:rPr>
                        <a:t>ENSA, </a:t>
                      </a:r>
                      <a:r>
                        <a:rPr lang="en-US" sz="1400" dirty="0" err="1">
                          <a:latin typeface="Montserrat Medium" pitchFamily="50" charset="0"/>
                        </a:rPr>
                        <a:t>Abdelmalek</a:t>
                      </a:r>
                      <a:r>
                        <a:rPr lang="en-US" sz="1400" dirty="0">
                          <a:latin typeface="Montserrat Medium" pitchFamily="50" charset="0"/>
                        </a:rPr>
                        <a:t> </a:t>
                      </a:r>
                      <a:r>
                        <a:rPr lang="en-US" sz="1400" dirty="0" err="1">
                          <a:latin typeface="Montserrat Medium" pitchFamily="50" charset="0"/>
                        </a:rPr>
                        <a:t>Essaâdi</a:t>
                      </a:r>
                      <a:r>
                        <a:rPr lang="en-US" sz="1400" dirty="0">
                          <a:latin typeface="Montserrat Medium" pitchFamily="50" charset="0"/>
                        </a:rPr>
                        <a:t> University, </a:t>
                      </a:r>
                      <a:r>
                        <a:rPr lang="en-US" sz="1400" dirty="0" err="1">
                          <a:latin typeface="Montserrat Medium" pitchFamily="50" charset="0"/>
                        </a:rPr>
                        <a:t>Tetouan</a:t>
                      </a:r>
                      <a:endParaRPr lang="en-US" sz="1400" dirty="0">
                        <a:latin typeface="Montserrat Medium" pitchFamily="50" charset="0"/>
                      </a:endParaRPr>
                    </a:p>
                  </a:txBody>
                  <a:tcPr/>
                </a:tc>
                <a:extLst>
                  <a:ext uri="{0D108BD9-81ED-4DB2-BD59-A6C34878D82A}">
                    <a16:rowId xmlns:a16="http://schemas.microsoft.com/office/drawing/2014/main" val="3682204677"/>
                  </a:ext>
                </a:extLst>
              </a:tr>
              <a:tr h="363572">
                <a:tc>
                  <a:txBody>
                    <a:bodyPr/>
                    <a:lstStyle/>
                    <a:p>
                      <a:r>
                        <a:rPr lang="en-US" sz="1400" b="1" dirty="0">
                          <a:latin typeface="Montserrat Medium" pitchFamily="50" charset="0"/>
                        </a:rPr>
                        <a:t>Reviewer</a:t>
                      </a:r>
                    </a:p>
                  </a:txBody>
                  <a:tcPr/>
                </a:tc>
                <a:tc>
                  <a:txBody>
                    <a:bodyPr/>
                    <a:lstStyle/>
                    <a:p>
                      <a:r>
                        <a:rPr lang="en-US" sz="1400" dirty="0">
                          <a:latin typeface="Montserrat Medium" pitchFamily="50" charset="0"/>
                        </a:rPr>
                        <a:t>Pr. Noureddine KERZAZI</a:t>
                      </a:r>
                    </a:p>
                  </a:txBody>
                  <a:tcPr/>
                </a:tc>
                <a:tc>
                  <a:txBody>
                    <a:bodyPr/>
                    <a:lstStyle/>
                    <a:p>
                      <a:r>
                        <a:rPr lang="en-US" sz="1400" dirty="0">
                          <a:latin typeface="Montserrat Medium" pitchFamily="50" charset="0"/>
                        </a:rPr>
                        <a:t>MCH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Medium" pitchFamily="50" charset="0"/>
                        </a:rPr>
                        <a:t>ENSIAS, Mohammed V University, Rabat </a:t>
                      </a:r>
                    </a:p>
                  </a:txBody>
                  <a:tcPr/>
                </a:tc>
                <a:extLst>
                  <a:ext uri="{0D108BD9-81ED-4DB2-BD59-A6C34878D82A}">
                    <a16:rowId xmlns:a16="http://schemas.microsoft.com/office/drawing/2014/main" val="2317935091"/>
                  </a:ext>
                </a:extLst>
              </a:tr>
              <a:tr h="363572">
                <a:tc>
                  <a:txBody>
                    <a:bodyPr/>
                    <a:lstStyle/>
                    <a:p>
                      <a:r>
                        <a:rPr lang="en-US" sz="1400" b="1" dirty="0">
                          <a:latin typeface="Montserrat Medium" pitchFamily="50" charset="0"/>
                        </a:rPr>
                        <a:t>Examiner</a:t>
                      </a:r>
                    </a:p>
                  </a:txBody>
                  <a:tcPr/>
                </a:tc>
                <a:tc>
                  <a:txBody>
                    <a:bodyPr/>
                    <a:lstStyle/>
                    <a:p>
                      <a:r>
                        <a:rPr lang="en-US" sz="1400" dirty="0">
                          <a:latin typeface="Montserrat Medium" pitchFamily="50" charset="0"/>
                        </a:rPr>
                        <a:t>Pr. Hicham OMARA</a:t>
                      </a:r>
                    </a:p>
                  </a:txBody>
                  <a:tcPr/>
                </a:tc>
                <a:tc>
                  <a:txBody>
                    <a:bodyPr/>
                    <a:lstStyle/>
                    <a:p>
                      <a:r>
                        <a:rPr lang="en-US" sz="1400" dirty="0">
                          <a:latin typeface="Montserrat Medium" pitchFamily="50" charset="0"/>
                        </a:rPr>
                        <a:t>MCH</a:t>
                      </a:r>
                    </a:p>
                  </a:txBody>
                  <a:tcPr/>
                </a:tc>
                <a:tc>
                  <a:txBody>
                    <a:bodyPr/>
                    <a:lstStyle/>
                    <a:p>
                      <a:r>
                        <a:rPr lang="en-US" sz="1400" dirty="0">
                          <a:latin typeface="Montserrat Medium" pitchFamily="50" charset="0"/>
                        </a:rPr>
                        <a:t>FP </a:t>
                      </a:r>
                      <a:r>
                        <a:rPr lang="en-US" sz="1400" dirty="0" err="1">
                          <a:latin typeface="Montserrat Medium" pitchFamily="50" charset="0"/>
                        </a:rPr>
                        <a:t>Taza</a:t>
                      </a:r>
                      <a:r>
                        <a:rPr lang="en-US" sz="1400" dirty="0">
                          <a:latin typeface="Montserrat Medium" pitchFamily="50" charset="0"/>
                        </a:rPr>
                        <a:t>, Sidi Mohamed Ben </a:t>
                      </a:r>
                      <a:r>
                        <a:rPr lang="en-US" sz="1400" dirty="0" err="1">
                          <a:latin typeface="Montserrat Medium" pitchFamily="50" charset="0"/>
                        </a:rPr>
                        <a:t>Abdellah</a:t>
                      </a:r>
                      <a:r>
                        <a:rPr lang="en-US" sz="1400" dirty="0">
                          <a:latin typeface="Montserrat Medium" pitchFamily="50" charset="0"/>
                        </a:rPr>
                        <a:t> University, Fez</a:t>
                      </a:r>
                    </a:p>
                  </a:txBody>
                  <a:tcPr/>
                </a:tc>
                <a:extLst>
                  <a:ext uri="{0D108BD9-81ED-4DB2-BD59-A6C34878D82A}">
                    <a16:rowId xmlns:a16="http://schemas.microsoft.com/office/drawing/2014/main" val="1039505071"/>
                  </a:ext>
                </a:extLst>
              </a:tr>
              <a:tr h="363572">
                <a:tc>
                  <a:txBody>
                    <a:bodyPr/>
                    <a:lstStyle/>
                    <a:p>
                      <a:r>
                        <a:rPr lang="en-US" sz="1400" b="1" dirty="0">
                          <a:latin typeface="Montserrat Medium" pitchFamily="50" charset="0"/>
                        </a:rPr>
                        <a:t>Examiner</a:t>
                      </a:r>
                    </a:p>
                  </a:txBody>
                  <a:tcPr/>
                </a:tc>
                <a:tc>
                  <a:txBody>
                    <a:bodyPr/>
                    <a:lstStyle/>
                    <a:p>
                      <a:r>
                        <a:rPr lang="en-US" sz="1400" dirty="0">
                          <a:latin typeface="Montserrat Medium" pitchFamily="50" charset="0"/>
                        </a:rPr>
                        <a:t>Pr. Fatima OUZAYD</a:t>
                      </a:r>
                    </a:p>
                  </a:txBody>
                  <a:tcPr/>
                </a:tc>
                <a:tc>
                  <a:txBody>
                    <a:bodyPr/>
                    <a:lstStyle/>
                    <a:p>
                      <a:r>
                        <a:rPr lang="en-US" sz="1400" dirty="0">
                          <a:latin typeface="Montserrat Medium" pitchFamily="50" charset="0"/>
                        </a:rPr>
                        <a:t>PES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Medium" pitchFamily="50" charset="0"/>
                        </a:rPr>
                        <a:t>ENSIAS, Mohammed V University, Rabat </a:t>
                      </a:r>
                    </a:p>
                  </a:txBody>
                  <a:tcPr/>
                </a:tc>
                <a:extLst>
                  <a:ext uri="{0D108BD9-81ED-4DB2-BD59-A6C34878D82A}">
                    <a16:rowId xmlns:a16="http://schemas.microsoft.com/office/drawing/2014/main" val="1451702001"/>
                  </a:ext>
                </a:extLst>
              </a:tr>
              <a:tr h="363572">
                <a:tc>
                  <a:txBody>
                    <a:bodyPr/>
                    <a:lstStyle/>
                    <a:p>
                      <a:r>
                        <a:rPr lang="en-US" sz="1400" b="1" dirty="0">
                          <a:latin typeface="Montserrat Medium" pitchFamily="50" charset="0"/>
                        </a:rPr>
                        <a:t>Examiner</a:t>
                      </a:r>
                    </a:p>
                  </a:txBody>
                  <a:tcPr/>
                </a:tc>
                <a:tc>
                  <a:txBody>
                    <a:bodyPr/>
                    <a:lstStyle/>
                    <a:p>
                      <a:r>
                        <a:rPr lang="es-ES" sz="1400" dirty="0">
                          <a:latin typeface="Montserrat Medium" pitchFamily="50" charset="0"/>
                        </a:rPr>
                        <a:t>Pr. Yasser EL MADANI EL ALAMI</a:t>
                      </a:r>
                      <a:endParaRPr lang="en-US" sz="1400" dirty="0">
                        <a:latin typeface="Montserrat Medium" pitchFamily="50" charset="0"/>
                      </a:endParaRPr>
                    </a:p>
                  </a:txBody>
                  <a:tcPr/>
                </a:tc>
                <a:tc>
                  <a:txBody>
                    <a:bodyPr/>
                    <a:lstStyle/>
                    <a:p>
                      <a:r>
                        <a:rPr lang="en-US" sz="1400" dirty="0">
                          <a:latin typeface="Montserrat Medium" pitchFamily="50" charset="0"/>
                        </a:rPr>
                        <a:t>MCH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Medium" pitchFamily="50" charset="0"/>
                        </a:rPr>
                        <a:t>ENSIAS, Mohammed V University, Rabat </a:t>
                      </a:r>
                    </a:p>
                  </a:txBody>
                  <a:tcPr/>
                </a:tc>
                <a:extLst>
                  <a:ext uri="{0D108BD9-81ED-4DB2-BD59-A6C34878D82A}">
                    <a16:rowId xmlns:a16="http://schemas.microsoft.com/office/drawing/2014/main" val="4222725522"/>
                  </a:ext>
                </a:extLst>
              </a:tr>
              <a:tr h="363572">
                <a:tc>
                  <a:txBody>
                    <a:bodyPr/>
                    <a:lstStyle/>
                    <a:p>
                      <a:r>
                        <a:rPr lang="en-US" sz="1400" b="1" dirty="0">
                          <a:latin typeface="Montserrat Medium" pitchFamily="50" charset="0"/>
                        </a:rPr>
                        <a:t>Guest</a:t>
                      </a:r>
                    </a:p>
                  </a:txBody>
                  <a:tcPr/>
                </a:tc>
                <a:tc>
                  <a:txBody>
                    <a:bodyPr/>
                    <a:lstStyle/>
                    <a:p>
                      <a:r>
                        <a:rPr lang="en-US" sz="1400" dirty="0">
                          <a:latin typeface="Montserrat Medium" pitchFamily="50" charset="0"/>
                        </a:rPr>
                        <a:t>Pr. Yassine AFOUDI</a:t>
                      </a:r>
                    </a:p>
                  </a:txBody>
                  <a:tcPr/>
                </a:tc>
                <a:tc>
                  <a:txBody>
                    <a:bodyPr/>
                    <a:lstStyle/>
                    <a:p>
                      <a:r>
                        <a:rPr lang="en-US" sz="1400" dirty="0">
                          <a:latin typeface="Montserrat Medium" pitchFamily="50" charset="0"/>
                        </a:rPr>
                        <a:t>MC</a:t>
                      </a:r>
                    </a:p>
                  </a:txBody>
                  <a:tcPr/>
                </a:tc>
                <a:tc>
                  <a:txBody>
                    <a:bodyPr/>
                    <a:lstStyle/>
                    <a:p>
                      <a:r>
                        <a:rPr lang="en-US" sz="1400" dirty="0">
                          <a:latin typeface="Montserrat Medium" pitchFamily="50" charset="0"/>
                        </a:rPr>
                        <a:t>Faculty of Sciences, Cadi </a:t>
                      </a:r>
                      <a:r>
                        <a:rPr lang="en-US" sz="1400" dirty="0" err="1">
                          <a:latin typeface="Montserrat Medium" pitchFamily="50" charset="0"/>
                        </a:rPr>
                        <a:t>Ayyad</a:t>
                      </a:r>
                      <a:r>
                        <a:rPr lang="en-US" sz="1400" dirty="0">
                          <a:latin typeface="Montserrat Medium" pitchFamily="50" charset="0"/>
                        </a:rPr>
                        <a:t> University, Marrakech</a:t>
                      </a:r>
                    </a:p>
                  </a:txBody>
                  <a:tcPr/>
                </a:tc>
                <a:extLst>
                  <a:ext uri="{0D108BD9-81ED-4DB2-BD59-A6C34878D82A}">
                    <a16:rowId xmlns:a16="http://schemas.microsoft.com/office/drawing/2014/main" val="2724678733"/>
                  </a:ext>
                </a:extLst>
              </a:tr>
            </a:tbl>
          </a:graphicData>
        </a:graphic>
      </p:graphicFrame>
      <p:sp>
        <p:nvSpPr>
          <p:cNvPr id="12" name="TextBox 11">
            <a:extLst>
              <a:ext uri="{FF2B5EF4-FFF2-40B4-BE49-F238E27FC236}">
                <a16:creationId xmlns:a16="http://schemas.microsoft.com/office/drawing/2014/main" id="{AF385954-4759-43DE-9FF5-AD2C46EBAFB3}"/>
              </a:ext>
            </a:extLst>
          </p:cNvPr>
          <p:cNvSpPr txBox="1"/>
          <p:nvPr/>
        </p:nvSpPr>
        <p:spPr>
          <a:xfrm>
            <a:off x="675083" y="3035784"/>
            <a:ext cx="6097604" cy="338554"/>
          </a:xfrm>
          <a:prstGeom prst="rect">
            <a:avLst/>
          </a:prstGeom>
          <a:noFill/>
        </p:spPr>
        <p:txBody>
          <a:bodyPr wrap="square">
            <a:spAutoFit/>
          </a:bodyPr>
          <a:lstStyle/>
          <a:p>
            <a:r>
              <a:rPr lang="en-US" sz="1600" b="1" dirty="0">
                <a:latin typeface="Montserrat Medium" pitchFamily="50" charset="0"/>
                <a:cs typeface="Times New Roman" panose="02020603050405020304" pitchFamily="18" charset="0"/>
              </a:rPr>
              <a:t>Jury members:</a:t>
            </a:r>
            <a:endParaRPr lang="en-US" sz="1600" dirty="0"/>
          </a:p>
        </p:txBody>
      </p:sp>
      <p:pic>
        <p:nvPicPr>
          <p:cNvPr id="4" name="Picture 3">
            <a:extLst>
              <a:ext uri="{FF2B5EF4-FFF2-40B4-BE49-F238E27FC236}">
                <a16:creationId xmlns:a16="http://schemas.microsoft.com/office/drawing/2014/main" id="{F226BDBB-006F-45EB-87D2-F2B9A5576A6F}"/>
              </a:ext>
            </a:extLst>
          </p:cNvPr>
          <p:cNvPicPr>
            <a:picLocks noChangeAspect="1"/>
          </p:cNvPicPr>
          <p:nvPr/>
        </p:nvPicPr>
        <p:blipFill rotWithShape="1">
          <a:blip r:embed="rId5">
            <a:extLst>
              <a:ext uri="{28A0092B-C50C-407E-A947-70E740481C1C}">
                <a14:useLocalDpi xmlns:a14="http://schemas.microsoft.com/office/drawing/2010/main" val="0"/>
              </a:ext>
            </a:extLst>
          </a:blip>
          <a:srcRect t="29775" b="28782"/>
          <a:stretch/>
        </p:blipFill>
        <p:spPr>
          <a:xfrm>
            <a:off x="3497928" y="-44111"/>
            <a:ext cx="5196141" cy="1135736"/>
          </a:xfrm>
          <a:prstGeom prst="rect">
            <a:avLst/>
          </a:prstGeom>
        </p:spPr>
      </p:pic>
    </p:spTree>
    <p:extLst>
      <p:ext uri="{BB962C8B-B14F-4D97-AF65-F5344CB8AC3E}">
        <p14:creationId xmlns:p14="http://schemas.microsoft.com/office/powerpoint/2010/main" val="3616513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2B0EA153-D1B1-47B8-8FC2-F6421B47EF6E}"/>
              </a:ext>
            </a:extLst>
          </p:cNvPr>
          <p:cNvSpPr/>
          <p:nvPr/>
        </p:nvSpPr>
        <p:spPr>
          <a:xfrm>
            <a:off x="9862990" y="2216314"/>
            <a:ext cx="1987286" cy="2768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900" b="1" dirty="0">
                <a:solidFill>
                  <a:schemeClr val="tx1"/>
                </a:solidFill>
                <a:latin typeface="Montserrat Medium" pitchFamily="50" charset="0"/>
              </a:rPr>
              <a:t>Conclusion &amp; Perspectives</a:t>
            </a:r>
          </a:p>
          <a:p>
            <a:pPr algn="just"/>
            <a:r>
              <a:rPr lang="en-US" dirty="0">
                <a:latin typeface="Montserrat Medium" pitchFamily="50" charset="0"/>
              </a:rPr>
              <a:t>Summary</a:t>
            </a:r>
          </a:p>
          <a:p>
            <a:pPr algn="just"/>
            <a:r>
              <a:rPr lang="en-US" dirty="0">
                <a:latin typeface="Montserrat Medium" pitchFamily="50" charset="0"/>
              </a:rPr>
              <a:t>Limitations</a:t>
            </a:r>
          </a:p>
          <a:p>
            <a:pPr algn="just"/>
            <a:r>
              <a:rPr lang="en-US" dirty="0">
                <a:latin typeface="Montserrat Medium" pitchFamily="50" charset="0"/>
              </a:rPr>
              <a:t>Future work</a:t>
            </a:r>
          </a:p>
        </p:txBody>
      </p:sp>
      <p:sp>
        <p:nvSpPr>
          <p:cNvPr id="44" name="Rectangle 43">
            <a:extLst>
              <a:ext uri="{FF2B5EF4-FFF2-40B4-BE49-F238E27FC236}">
                <a16:creationId xmlns:a16="http://schemas.microsoft.com/office/drawing/2014/main" id="{F22E6A38-F910-4318-BD16-C7EA5E538A83}"/>
              </a:ext>
            </a:extLst>
          </p:cNvPr>
          <p:cNvSpPr/>
          <p:nvPr/>
        </p:nvSpPr>
        <p:spPr>
          <a:xfrm>
            <a:off x="7509948" y="2223006"/>
            <a:ext cx="1987286" cy="2768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900" b="1" dirty="0">
              <a:solidFill>
                <a:schemeClr val="tx1"/>
              </a:solidFill>
              <a:latin typeface="Montserrat Medium" pitchFamily="50" charset="0"/>
            </a:endParaRPr>
          </a:p>
          <a:p>
            <a:pPr algn="just"/>
            <a:r>
              <a:rPr lang="en-US" sz="1900" b="1" dirty="0">
                <a:solidFill>
                  <a:schemeClr val="tx1"/>
                </a:solidFill>
                <a:latin typeface="Montserrat Medium" pitchFamily="50" charset="0"/>
              </a:rPr>
              <a:t>Contributions</a:t>
            </a:r>
          </a:p>
          <a:p>
            <a:pPr algn="just"/>
            <a:r>
              <a:rPr lang="en-US" dirty="0">
                <a:latin typeface="Montserrat Medium" pitchFamily="50" charset="0"/>
              </a:rPr>
              <a:t>GNN-CF</a:t>
            </a:r>
          </a:p>
          <a:p>
            <a:pPr algn="just"/>
            <a:r>
              <a:rPr lang="en-US" dirty="0">
                <a:latin typeface="Montserrat Medium" pitchFamily="50" charset="0"/>
              </a:rPr>
              <a:t>Adaptive Shapley</a:t>
            </a:r>
          </a:p>
          <a:p>
            <a:pPr algn="just"/>
            <a:r>
              <a:rPr lang="en-US" dirty="0">
                <a:latin typeface="Montserrat Medium" pitchFamily="50" charset="0"/>
              </a:rPr>
              <a:t>Hyperbolic GNN+XAI</a:t>
            </a:r>
            <a:endParaRPr lang="en-US" b="1" dirty="0">
              <a:solidFill>
                <a:srgbClr val="98ECB7"/>
              </a:solidFill>
              <a:latin typeface="Montserrat Medium" pitchFamily="50" charset="0"/>
            </a:endParaRPr>
          </a:p>
        </p:txBody>
      </p:sp>
      <p:sp>
        <p:nvSpPr>
          <p:cNvPr id="43" name="Rectangle 42">
            <a:extLst>
              <a:ext uri="{FF2B5EF4-FFF2-40B4-BE49-F238E27FC236}">
                <a16:creationId xmlns:a16="http://schemas.microsoft.com/office/drawing/2014/main" id="{D891D8B2-71C1-40F0-BDD4-64D0E4FE1567}"/>
              </a:ext>
            </a:extLst>
          </p:cNvPr>
          <p:cNvSpPr/>
          <p:nvPr/>
        </p:nvSpPr>
        <p:spPr>
          <a:xfrm>
            <a:off x="5144820" y="2223006"/>
            <a:ext cx="1987286" cy="2768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000" b="1" dirty="0">
              <a:solidFill>
                <a:srgbClr val="98ECB7"/>
              </a:solidFill>
              <a:latin typeface="Montserrat Medium" pitchFamily="50" charset="0"/>
            </a:endParaRPr>
          </a:p>
          <a:p>
            <a:pPr algn="just"/>
            <a:r>
              <a:rPr lang="en-US" sz="1900" b="1" dirty="0">
                <a:solidFill>
                  <a:schemeClr val="tx1"/>
                </a:solidFill>
                <a:latin typeface="Montserrat Medium" pitchFamily="50" charset="0"/>
              </a:rPr>
              <a:t>Protocols</a:t>
            </a:r>
          </a:p>
          <a:p>
            <a:pPr algn="just"/>
            <a:r>
              <a:rPr lang="en-US" dirty="0">
                <a:latin typeface="Montserrat Medium" pitchFamily="50" charset="0"/>
              </a:rPr>
              <a:t>Datasets</a:t>
            </a:r>
          </a:p>
          <a:p>
            <a:pPr algn="just"/>
            <a:r>
              <a:rPr lang="en-US" dirty="0">
                <a:latin typeface="Montserrat Medium" pitchFamily="50" charset="0"/>
              </a:rPr>
              <a:t>Baseline</a:t>
            </a:r>
          </a:p>
          <a:p>
            <a:pPr algn="just"/>
            <a:r>
              <a:rPr lang="en-US" dirty="0">
                <a:latin typeface="Montserrat Medium" pitchFamily="50" charset="0"/>
              </a:rPr>
              <a:t>Metrics</a:t>
            </a:r>
          </a:p>
          <a:p>
            <a:pPr algn="just"/>
            <a:r>
              <a:rPr lang="en-US" dirty="0">
                <a:latin typeface="Montserrat Medium" pitchFamily="50" charset="0"/>
              </a:rPr>
              <a:t>Hardware</a:t>
            </a:r>
          </a:p>
        </p:txBody>
      </p:sp>
      <p:sp>
        <p:nvSpPr>
          <p:cNvPr id="42" name="Rectangle 41">
            <a:extLst>
              <a:ext uri="{FF2B5EF4-FFF2-40B4-BE49-F238E27FC236}">
                <a16:creationId xmlns:a16="http://schemas.microsoft.com/office/drawing/2014/main" id="{8D503499-45DA-4224-9A1B-B2763946ACAD}"/>
              </a:ext>
            </a:extLst>
          </p:cNvPr>
          <p:cNvSpPr/>
          <p:nvPr/>
        </p:nvSpPr>
        <p:spPr>
          <a:xfrm>
            <a:off x="2768882" y="2239193"/>
            <a:ext cx="1987286" cy="2768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900" b="1" dirty="0">
                <a:solidFill>
                  <a:schemeClr val="tx1"/>
                </a:solidFill>
                <a:latin typeface="Montserrat Medium" pitchFamily="50" charset="0"/>
              </a:rPr>
              <a:t>Context &amp; Problematic</a:t>
            </a:r>
          </a:p>
          <a:p>
            <a:pPr algn="just"/>
            <a:r>
              <a:rPr lang="en-US" sz="1600" dirty="0">
                <a:latin typeface="Montserrat Medium" pitchFamily="50" charset="0"/>
              </a:rPr>
              <a:t>Limitations</a:t>
            </a:r>
          </a:p>
          <a:p>
            <a:pPr algn="just"/>
            <a:r>
              <a:rPr lang="en-US" sz="1600" dirty="0">
                <a:latin typeface="Montserrat Medium" pitchFamily="50" charset="0"/>
              </a:rPr>
              <a:t>Research gap</a:t>
            </a:r>
            <a:endParaRPr lang="en-US" sz="1600" b="1" dirty="0">
              <a:solidFill>
                <a:srgbClr val="98ECB7"/>
              </a:solidFill>
              <a:latin typeface="Montserrat Medium" pitchFamily="50" charset="0"/>
            </a:endParaRPr>
          </a:p>
        </p:txBody>
      </p:sp>
      <p:sp>
        <p:nvSpPr>
          <p:cNvPr id="4" name="Rectangle 3">
            <a:extLst>
              <a:ext uri="{FF2B5EF4-FFF2-40B4-BE49-F238E27FC236}">
                <a16:creationId xmlns:a16="http://schemas.microsoft.com/office/drawing/2014/main" id="{77F4FAD8-6AB3-49EF-B65B-446911D5EF29}"/>
              </a:ext>
            </a:extLst>
          </p:cNvPr>
          <p:cNvSpPr/>
          <p:nvPr/>
        </p:nvSpPr>
        <p:spPr>
          <a:xfrm>
            <a:off x="0" y="0"/>
            <a:ext cx="12192000" cy="972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Montserrat Medium" pitchFamily="50" charset="0"/>
              </a:rPr>
              <a:t>VIVA Outline</a:t>
            </a:r>
          </a:p>
        </p:txBody>
      </p:sp>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Medium" pitchFamily="50" charset="0"/>
                <a:cs typeface="Times New Roman" panose="02020603050405020304" pitchFamily="18" charset="0"/>
              </a:rPr>
              <a:t>PhD Viva – Redwane NESMAOUI – XAI </a:t>
            </a:r>
            <a:r>
              <a:rPr lang="en-US" sz="1200" dirty="0">
                <a:latin typeface="Montserrat Medium" pitchFamily="50"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pic>
        <p:nvPicPr>
          <p:cNvPr id="17" name="Picture 16">
            <a:extLst>
              <a:ext uri="{FF2B5EF4-FFF2-40B4-BE49-F238E27FC236}">
                <a16:creationId xmlns:a16="http://schemas.microsoft.com/office/drawing/2014/main" id="{B98EC507-9AAF-49BB-B011-715B670C2F1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41276" y="2470737"/>
            <a:ext cx="385680" cy="385680"/>
          </a:xfrm>
          <a:prstGeom prst="rect">
            <a:avLst/>
          </a:prstGeom>
        </p:spPr>
      </p:pic>
      <p:pic>
        <p:nvPicPr>
          <p:cNvPr id="18" name="Picture 17">
            <a:extLst>
              <a:ext uri="{FF2B5EF4-FFF2-40B4-BE49-F238E27FC236}">
                <a16:creationId xmlns:a16="http://schemas.microsoft.com/office/drawing/2014/main" id="{7D167106-10EB-4AF0-B9FA-BE9A96FAA3F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770631" y="2470737"/>
            <a:ext cx="385680" cy="385680"/>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392944" y="2239197"/>
            <a:ext cx="1987286" cy="2768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900" b="1" dirty="0">
                <a:solidFill>
                  <a:schemeClr val="tx1"/>
                </a:solidFill>
                <a:latin typeface="Montserrat Medium" pitchFamily="50" charset="0"/>
              </a:rPr>
              <a:t>Introduction</a:t>
            </a:r>
          </a:p>
          <a:p>
            <a:pPr algn="just"/>
            <a:r>
              <a:rPr lang="en-US" sz="1600" dirty="0">
                <a:latin typeface="Montserrat Medium" pitchFamily="50" charset="0"/>
              </a:rPr>
              <a:t>Recommenders</a:t>
            </a:r>
          </a:p>
          <a:p>
            <a:pPr algn="just"/>
            <a:r>
              <a:rPr lang="en-US" sz="1600" dirty="0">
                <a:latin typeface="Montserrat Medium" pitchFamily="50" charset="0"/>
              </a:rPr>
              <a:t>Black-box problem </a:t>
            </a:r>
          </a:p>
          <a:p>
            <a:pPr algn="just"/>
            <a:r>
              <a:rPr lang="en-US" sz="1600" dirty="0">
                <a:latin typeface="Montserrat Medium" pitchFamily="50" charset="0"/>
              </a:rPr>
              <a:t>Why XAI</a:t>
            </a:r>
            <a:endParaRPr lang="en-US" sz="1600" b="1" dirty="0">
              <a:solidFill>
                <a:srgbClr val="98ECB7"/>
              </a:solidFill>
              <a:latin typeface="Montserrat Medium" pitchFamily="50" charset="0"/>
            </a:endParaRPr>
          </a:p>
        </p:txBody>
      </p:sp>
      <p:pic>
        <p:nvPicPr>
          <p:cNvPr id="32" name="Picture 31">
            <a:extLst>
              <a:ext uri="{FF2B5EF4-FFF2-40B4-BE49-F238E27FC236}">
                <a16:creationId xmlns:a16="http://schemas.microsoft.com/office/drawing/2014/main" id="{7F23EE3A-2F89-47D4-97AF-E7E3C53EB0A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427244" y="2454551"/>
            <a:ext cx="385680" cy="385680"/>
          </a:xfrm>
          <a:prstGeom prst="rect">
            <a:avLst/>
          </a:prstGeom>
        </p:spPr>
      </p:pic>
      <p:pic>
        <p:nvPicPr>
          <p:cNvPr id="33" name="Picture 32">
            <a:extLst>
              <a:ext uri="{FF2B5EF4-FFF2-40B4-BE49-F238E27FC236}">
                <a16:creationId xmlns:a16="http://schemas.microsoft.com/office/drawing/2014/main" id="{314D8C45-88D1-4D8D-83BB-14E62CCEEFE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156599" y="2454551"/>
            <a:ext cx="385680" cy="385680"/>
          </a:xfrm>
          <a:prstGeom prst="rect">
            <a:avLst/>
          </a:prstGeom>
        </p:spPr>
      </p:pic>
      <p:pic>
        <p:nvPicPr>
          <p:cNvPr id="35" name="Picture 34">
            <a:extLst>
              <a:ext uri="{FF2B5EF4-FFF2-40B4-BE49-F238E27FC236}">
                <a16:creationId xmlns:a16="http://schemas.microsoft.com/office/drawing/2014/main" id="{7B0B79F6-13C1-4C1B-8C1A-EA30CFF3BEB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773597" y="2454552"/>
            <a:ext cx="385680" cy="385680"/>
          </a:xfrm>
          <a:prstGeom prst="rect">
            <a:avLst/>
          </a:prstGeom>
        </p:spPr>
      </p:pic>
      <p:pic>
        <p:nvPicPr>
          <p:cNvPr id="36" name="Picture 35">
            <a:extLst>
              <a:ext uri="{FF2B5EF4-FFF2-40B4-BE49-F238E27FC236}">
                <a16:creationId xmlns:a16="http://schemas.microsoft.com/office/drawing/2014/main" id="{2A6749F2-4440-42F7-BAA0-C43D434CB14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502952" y="2454552"/>
            <a:ext cx="385680" cy="385680"/>
          </a:xfrm>
          <a:prstGeom prst="rect">
            <a:avLst/>
          </a:prstGeom>
        </p:spPr>
      </p:pic>
      <p:pic>
        <p:nvPicPr>
          <p:cNvPr id="38" name="Picture 37">
            <a:extLst>
              <a:ext uri="{FF2B5EF4-FFF2-40B4-BE49-F238E27FC236}">
                <a16:creationId xmlns:a16="http://schemas.microsoft.com/office/drawing/2014/main" id="{8FFCB7F3-3E7A-4660-969C-3F6DA253DAA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155719" y="2447861"/>
            <a:ext cx="385680" cy="385680"/>
          </a:xfrm>
          <a:prstGeom prst="rect">
            <a:avLst/>
          </a:prstGeom>
        </p:spPr>
      </p:pic>
      <p:pic>
        <p:nvPicPr>
          <p:cNvPr id="39" name="Picture 38">
            <a:extLst>
              <a:ext uri="{FF2B5EF4-FFF2-40B4-BE49-F238E27FC236}">
                <a16:creationId xmlns:a16="http://schemas.microsoft.com/office/drawing/2014/main" id="{7A5C0422-35FD-4F69-BADA-C75C70F5B7D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885074" y="2447861"/>
            <a:ext cx="385680" cy="385680"/>
          </a:xfrm>
          <a:prstGeom prst="rect">
            <a:avLst/>
          </a:prstGeom>
        </p:spPr>
      </p:pic>
      <p:pic>
        <p:nvPicPr>
          <p:cNvPr id="40" name="Picture 39">
            <a:extLst>
              <a:ext uri="{FF2B5EF4-FFF2-40B4-BE49-F238E27FC236}">
                <a16:creationId xmlns:a16="http://schemas.microsoft.com/office/drawing/2014/main" id="{EC0B00E0-D07A-4950-9556-8EC5FC01532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661840" y="2470740"/>
            <a:ext cx="385680" cy="385680"/>
          </a:xfrm>
          <a:prstGeom prst="rect">
            <a:avLst/>
          </a:prstGeom>
        </p:spPr>
      </p:pic>
      <p:pic>
        <p:nvPicPr>
          <p:cNvPr id="41" name="Picture 40">
            <a:extLst>
              <a:ext uri="{FF2B5EF4-FFF2-40B4-BE49-F238E27FC236}">
                <a16:creationId xmlns:a16="http://schemas.microsoft.com/office/drawing/2014/main" id="{F03CF7ED-4371-4E1E-AB5C-702F96E0FE2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91195" y="2470740"/>
            <a:ext cx="385680" cy="385680"/>
          </a:xfrm>
          <a:prstGeom prst="rect">
            <a:avLst/>
          </a:prstGeom>
        </p:spPr>
      </p:pic>
      <p:pic>
        <p:nvPicPr>
          <p:cNvPr id="49" name="Picture 48">
            <a:extLst>
              <a:ext uri="{FF2B5EF4-FFF2-40B4-BE49-F238E27FC236}">
                <a16:creationId xmlns:a16="http://schemas.microsoft.com/office/drawing/2014/main" id="{52CE41B6-D6E1-4421-9EA6-0C816142904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2980841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rtl="0" eaLnBrk="1" latinLnBrk="0" hangingPunct="1">
              <a:spcBef>
                <a:spcPts val="0"/>
              </a:spcBef>
              <a:spcAft>
                <a:spcPts val="0"/>
              </a:spcAft>
            </a:pPr>
            <a:r>
              <a:rPr lang="en-US" sz="3600" b="1" dirty="0">
                <a:solidFill>
                  <a:schemeClr val="bg1"/>
                </a:solidFill>
                <a:latin typeface="Montserrat Medium" pitchFamily="50" charset="0"/>
              </a:rPr>
              <a:t>Introduction </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8" name="Picture 7">
            <a:extLst>
              <a:ext uri="{FF2B5EF4-FFF2-40B4-BE49-F238E27FC236}">
                <a16:creationId xmlns:a16="http://schemas.microsoft.com/office/drawing/2014/main" id="{164DD2AA-5AF2-4791-BD22-7CD31AD4A6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2452389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48" name="Rectangle 47">
            <a:extLst>
              <a:ext uri="{FF2B5EF4-FFF2-40B4-BE49-F238E27FC236}">
                <a16:creationId xmlns:a16="http://schemas.microsoft.com/office/drawing/2014/main" id="{13D9C6AA-1783-4FA8-8CCA-F6E9A55F890C}"/>
              </a:ext>
            </a:extLst>
          </p:cNvPr>
          <p:cNvSpPr/>
          <p:nvPr/>
        </p:nvSpPr>
        <p:spPr>
          <a:xfrm>
            <a:off x="206045" y="1581483"/>
            <a:ext cx="3595933" cy="17205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Montserrat Medium" pitchFamily="50" charset="0"/>
              </a:rPr>
              <a:t>Ubiquity</a:t>
            </a:r>
            <a:r>
              <a:rPr lang="en-US" sz="1900" b="1" dirty="0">
                <a:solidFill>
                  <a:schemeClr val="bg1"/>
                </a:solidFill>
                <a:latin typeface="Montserrat Medium" pitchFamily="50" charset="0"/>
              </a:rPr>
              <a:t> </a:t>
            </a:r>
          </a:p>
          <a:p>
            <a:pPr algn="just"/>
            <a:r>
              <a:rPr lang="en-US" dirty="0">
                <a:solidFill>
                  <a:schemeClr val="tx1"/>
                </a:solidFill>
                <a:latin typeface="Montserrat Medium" pitchFamily="50" charset="0"/>
              </a:rPr>
              <a:t>How do recommender systems shape what billions of users see, buy, and watch every day?</a:t>
            </a:r>
            <a:endParaRPr lang="en-US" b="1" dirty="0">
              <a:solidFill>
                <a:schemeClr val="tx1"/>
              </a:solidFill>
              <a:latin typeface="Montserrat Medium" pitchFamily="50" charset="0"/>
            </a:endParaRPr>
          </a:p>
        </p:txBody>
      </p:sp>
      <p:sp>
        <p:nvSpPr>
          <p:cNvPr id="49" name="Rectangle 48">
            <a:extLst>
              <a:ext uri="{FF2B5EF4-FFF2-40B4-BE49-F238E27FC236}">
                <a16:creationId xmlns:a16="http://schemas.microsoft.com/office/drawing/2014/main" id="{6D7E0722-A680-4DE4-B488-11CFE545BC63}"/>
              </a:ext>
            </a:extLst>
          </p:cNvPr>
          <p:cNvSpPr/>
          <p:nvPr/>
        </p:nvSpPr>
        <p:spPr>
          <a:xfrm>
            <a:off x="4241885" y="1552636"/>
            <a:ext cx="3595933" cy="17205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Montserrat Medium" pitchFamily="50" charset="0"/>
              </a:rPr>
              <a:t>The Black Box</a:t>
            </a:r>
          </a:p>
          <a:p>
            <a:pPr algn="just"/>
            <a:r>
              <a:rPr lang="en-US" dirty="0">
                <a:solidFill>
                  <a:schemeClr val="tx1"/>
                </a:solidFill>
                <a:latin typeface="Montserrat Medium" pitchFamily="50" charset="0"/>
              </a:rPr>
              <a:t>Why do state-of-the-art graph based RS remain opaque to the users and designers who rely on them?</a:t>
            </a:r>
            <a:endParaRPr lang="en-US" b="1" dirty="0">
              <a:solidFill>
                <a:schemeClr val="tx1"/>
              </a:solidFill>
              <a:latin typeface="Montserrat Medium" pitchFamily="50" charset="0"/>
            </a:endParaRPr>
          </a:p>
        </p:txBody>
      </p:sp>
      <p:sp>
        <p:nvSpPr>
          <p:cNvPr id="50" name="Rectangle 49">
            <a:extLst>
              <a:ext uri="{FF2B5EF4-FFF2-40B4-BE49-F238E27FC236}">
                <a16:creationId xmlns:a16="http://schemas.microsoft.com/office/drawing/2014/main" id="{0AE6385B-CDA7-498E-89D4-F0C85246326C}"/>
              </a:ext>
            </a:extLst>
          </p:cNvPr>
          <p:cNvSpPr/>
          <p:nvPr/>
        </p:nvSpPr>
        <p:spPr>
          <a:xfrm>
            <a:off x="8364296" y="1552636"/>
            <a:ext cx="3621659" cy="17205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Montserrat Medium" pitchFamily="50" charset="0"/>
              </a:rPr>
              <a:t>Toward Trust</a:t>
            </a:r>
          </a:p>
          <a:p>
            <a:pPr algn="just"/>
            <a:r>
              <a:rPr lang="en-US" dirty="0">
                <a:solidFill>
                  <a:schemeClr val="tx1"/>
                </a:solidFill>
                <a:latin typeface="Montserrat Medium" pitchFamily="50" charset="0"/>
              </a:rPr>
              <a:t>How can transparency be built as part of the recommendation process instead of afterwards?</a:t>
            </a:r>
          </a:p>
        </p:txBody>
      </p:sp>
      <p:sp>
        <p:nvSpPr>
          <p:cNvPr id="51" name="TextBox 50">
            <a:extLst>
              <a:ext uri="{FF2B5EF4-FFF2-40B4-BE49-F238E27FC236}">
                <a16:creationId xmlns:a16="http://schemas.microsoft.com/office/drawing/2014/main" id="{EB622D0E-83D3-423E-B034-ADC245766245}"/>
              </a:ext>
            </a:extLst>
          </p:cNvPr>
          <p:cNvSpPr txBox="1"/>
          <p:nvPr/>
        </p:nvSpPr>
        <p:spPr>
          <a:xfrm>
            <a:off x="129298" y="3787804"/>
            <a:ext cx="11966417" cy="2092881"/>
          </a:xfrm>
          <a:prstGeom prst="rect">
            <a:avLst/>
          </a:prstGeom>
          <a:noFill/>
        </p:spPr>
        <p:txBody>
          <a:bodyPr wrap="square">
            <a:spAutoFit/>
          </a:bodyPr>
          <a:lstStyle/>
          <a:p>
            <a:pPr algn="just"/>
            <a:r>
              <a:rPr lang="en-US" dirty="0">
                <a:latin typeface="Montserrat Medium" pitchFamily="50" charset="0"/>
              </a:rPr>
              <a:t>Motivating references </a:t>
            </a:r>
          </a:p>
          <a:p>
            <a:pPr algn="just"/>
            <a:r>
              <a:rPr lang="en-US" sz="1400" dirty="0">
                <a:latin typeface="Agency FB" panose="020B0503020202020204" pitchFamily="34" charset="0"/>
              </a:rPr>
              <a:t>[1] Y. Zhang and X. Chen, "Explainable Recommendation: A Survey and New Perspectives," </a:t>
            </a:r>
            <a:r>
              <a:rPr lang="en-US" sz="1400" i="1" dirty="0">
                <a:latin typeface="Agency FB" panose="020B0503020202020204" pitchFamily="34" charset="0"/>
              </a:rPr>
              <a:t>Foundations and Trends in Information Retrieval</a:t>
            </a:r>
            <a:r>
              <a:rPr lang="en-US" sz="1400" dirty="0">
                <a:latin typeface="Agency FB" panose="020B0503020202020204" pitchFamily="34" charset="0"/>
              </a:rPr>
              <a:t>, vol. 14, no. 1, pp. 1–101, 2020.</a:t>
            </a:r>
          </a:p>
          <a:p>
            <a:pPr algn="just"/>
            <a:r>
              <a:rPr lang="en-US" sz="1400" dirty="0">
                <a:latin typeface="Agency FB" panose="020B0503020202020204" pitchFamily="34" charset="0"/>
              </a:rPr>
              <a:t>[2] D. Gunning and D. W. Aha, "DARPA's Explainable Artificial Intelligence (XAI) Program," </a:t>
            </a:r>
            <a:r>
              <a:rPr lang="en-US" sz="1400" i="1" dirty="0">
                <a:latin typeface="Agency FB" panose="020B0503020202020204" pitchFamily="34" charset="0"/>
              </a:rPr>
              <a:t>AI Magazine</a:t>
            </a:r>
            <a:r>
              <a:rPr lang="en-US" sz="1400" dirty="0">
                <a:latin typeface="Agency FB" panose="020B0503020202020204" pitchFamily="34" charset="0"/>
              </a:rPr>
              <a:t>, vol. 40, no. 2, pp. 44–58, 2019.</a:t>
            </a:r>
          </a:p>
          <a:p>
            <a:pPr algn="just"/>
            <a:r>
              <a:rPr lang="en-US" sz="1400" dirty="0">
                <a:latin typeface="Agency FB" panose="020B0503020202020204" pitchFamily="34" charset="0"/>
              </a:rPr>
              <a:t>[3] A. Das and P. Rad, "Opportunities and Challenges in Explainable Artificial Intelligence (XAI): A Survey," arXiv:2006.11371, 2020.</a:t>
            </a:r>
          </a:p>
          <a:p>
            <a:pPr algn="just"/>
            <a:r>
              <a:rPr lang="en-US" sz="1400" dirty="0">
                <a:latin typeface="Agency FB" panose="020B0503020202020204" pitchFamily="34" charset="0"/>
              </a:rPr>
              <a:t>[4] P. </a:t>
            </a:r>
            <a:r>
              <a:rPr lang="en-US" sz="1400" dirty="0" err="1">
                <a:latin typeface="Agency FB" panose="020B0503020202020204" pitchFamily="34" charset="0"/>
              </a:rPr>
              <a:t>Linardatos</a:t>
            </a:r>
            <a:r>
              <a:rPr lang="en-US" sz="1400" dirty="0">
                <a:latin typeface="Agency FB" panose="020B0503020202020204" pitchFamily="34" charset="0"/>
              </a:rPr>
              <a:t>, V. </a:t>
            </a:r>
            <a:r>
              <a:rPr lang="en-US" sz="1400" dirty="0" err="1">
                <a:latin typeface="Agency FB" panose="020B0503020202020204" pitchFamily="34" charset="0"/>
              </a:rPr>
              <a:t>Papastefanopoulos</a:t>
            </a:r>
            <a:r>
              <a:rPr lang="en-US" sz="1400" dirty="0">
                <a:latin typeface="Agency FB" panose="020B0503020202020204" pitchFamily="34" charset="0"/>
              </a:rPr>
              <a:t>, and S. </a:t>
            </a:r>
            <a:r>
              <a:rPr lang="en-US" sz="1400" dirty="0" err="1">
                <a:latin typeface="Agency FB" panose="020B0503020202020204" pitchFamily="34" charset="0"/>
              </a:rPr>
              <a:t>Kotsiantis</a:t>
            </a:r>
            <a:r>
              <a:rPr lang="en-US" sz="1400" dirty="0">
                <a:latin typeface="Agency FB" panose="020B0503020202020204" pitchFamily="34" charset="0"/>
              </a:rPr>
              <a:t>, "Explainable AI: A Review of Machine Learning Interpretability Methods," </a:t>
            </a:r>
            <a:r>
              <a:rPr lang="en-US" sz="1400" i="1" dirty="0">
                <a:latin typeface="Agency FB" panose="020B0503020202020204" pitchFamily="34" charset="0"/>
              </a:rPr>
              <a:t>Entropy</a:t>
            </a:r>
            <a:r>
              <a:rPr lang="en-US" sz="1400" dirty="0">
                <a:latin typeface="Agency FB" panose="020B0503020202020204" pitchFamily="34" charset="0"/>
              </a:rPr>
              <a:t>, vol. 23, no. 1, p. 18, 2021.</a:t>
            </a:r>
          </a:p>
          <a:p>
            <a:pPr algn="just"/>
            <a:r>
              <a:rPr lang="en-US" sz="1400" dirty="0">
                <a:latin typeface="Agency FB" panose="020B0503020202020204" pitchFamily="34" charset="0"/>
              </a:rPr>
              <a:t>[5] J. Kunkel, T. </a:t>
            </a:r>
            <a:r>
              <a:rPr lang="en-US" sz="1400" dirty="0" err="1">
                <a:latin typeface="Agency FB" panose="020B0503020202020204" pitchFamily="34" charset="0"/>
              </a:rPr>
              <a:t>Donkers</a:t>
            </a:r>
            <a:r>
              <a:rPr lang="en-US" sz="1400" dirty="0">
                <a:latin typeface="Agency FB" panose="020B0503020202020204" pitchFamily="34" charset="0"/>
              </a:rPr>
              <a:t>, L. Michael, C.-M. </a:t>
            </a:r>
            <a:r>
              <a:rPr lang="en-US" sz="1400" dirty="0" err="1">
                <a:latin typeface="Agency FB" panose="020B0503020202020204" pitchFamily="34" charset="0"/>
              </a:rPr>
              <a:t>Barbu</a:t>
            </a:r>
            <a:r>
              <a:rPr lang="en-US" sz="1400" dirty="0">
                <a:latin typeface="Agency FB" panose="020B0503020202020204" pitchFamily="34" charset="0"/>
              </a:rPr>
              <a:t>, and J. Ziegler, "Let Me Explain: Impact of Personal and Impersonal Explanations on Trust in Recommender Systems," in </a:t>
            </a:r>
            <a:r>
              <a:rPr lang="en-US" sz="1400" i="1" dirty="0">
                <a:latin typeface="Agency FB" panose="020B0503020202020204" pitchFamily="34" charset="0"/>
              </a:rPr>
              <a:t>Proc. CHI Conf. Human Factors in Computing Systems (CHI)</a:t>
            </a:r>
            <a:r>
              <a:rPr lang="en-US" sz="1400" dirty="0">
                <a:latin typeface="Agency FB" panose="020B0503020202020204" pitchFamily="34" charset="0"/>
              </a:rPr>
              <a:t>, 2019, pp. 1–12.</a:t>
            </a:r>
          </a:p>
          <a:p>
            <a:pPr algn="just"/>
            <a:r>
              <a:rPr lang="en-US" sz="1400" dirty="0">
                <a:latin typeface="Agency FB" panose="020B0503020202020204" pitchFamily="34" charset="0"/>
              </a:rPr>
              <a:t>[6] A. </a:t>
            </a:r>
            <a:r>
              <a:rPr lang="en-US" sz="1400" dirty="0" err="1">
                <a:latin typeface="Agency FB" panose="020B0503020202020204" pitchFamily="34" charset="0"/>
              </a:rPr>
              <a:t>Jacovi</a:t>
            </a:r>
            <a:r>
              <a:rPr lang="en-US" sz="1400" dirty="0">
                <a:latin typeface="Agency FB" panose="020B0503020202020204" pitchFamily="34" charset="0"/>
              </a:rPr>
              <a:t>, A. </a:t>
            </a:r>
            <a:r>
              <a:rPr lang="en-US" sz="1400" dirty="0" err="1">
                <a:latin typeface="Agency FB" panose="020B0503020202020204" pitchFamily="34" charset="0"/>
              </a:rPr>
              <a:t>Marasović</a:t>
            </a:r>
            <a:r>
              <a:rPr lang="en-US" sz="1400" dirty="0">
                <a:latin typeface="Agency FB" panose="020B0503020202020204" pitchFamily="34" charset="0"/>
              </a:rPr>
              <a:t>, T. Miller, and Y. Goldberg, "Formalizing Trust in Artificial Intelligence: Prerequisites, Causes and Goals of Human Trust in AI," in </a:t>
            </a:r>
            <a:r>
              <a:rPr lang="en-US" sz="1400" i="1" dirty="0">
                <a:latin typeface="Agency FB" panose="020B0503020202020204" pitchFamily="34" charset="0"/>
              </a:rPr>
              <a:t>Proc. ACM Conf. Fairness, Accountability, and Transparency (</a:t>
            </a:r>
            <a:r>
              <a:rPr lang="en-US" sz="1400" i="1" dirty="0" err="1">
                <a:latin typeface="Agency FB" panose="020B0503020202020204" pitchFamily="34" charset="0"/>
              </a:rPr>
              <a:t>FAccT</a:t>
            </a:r>
            <a:r>
              <a:rPr lang="en-US" sz="1400" i="1" dirty="0">
                <a:latin typeface="Agency FB" panose="020B0503020202020204" pitchFamily="34" charset="0"/>
              </a:rPr>
              <a:t>)</a:t>
            </a:r>
            <a:r>
              <a:rPr lang="en-US" sz="1400" dirty="0">
                <a:latin typeface="Agency FB" panose="020B0503020202020204" pitchFamily="34" charset="0"/>
              </a:rPr>
              <a:t>, 2021, pp. 624–635.</a:t>
            </a: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Medium" pitchFamily="50" charset="0"/>
              </a:rPr>
              <a:t>Introduction</a:t>
            </a:r>
          </a:p>
        </p:txBody>
      </p:sp>
      <p:sp>
        <p:nvSpPr>
          <p:cNvPr id="29" name="Rectangle 28">
            <a:extLst>
              <a:ext uri="{FF2B5EF4-FFF2-40B4-BE49-F238E27FC236}">
                <a16:creationId xmlns:a16="http://schemas.microsoft.com/office/drawing/2014/main" id="{DDC35470-259B-41E6-B55D-86604083CCC7}"/>
              </a:ext>
            </a:extLst>
          </p:cNvPr>
          <p:cNvSpPr/>
          <p:nvPr/>
        </p:nvSpPr>
        <p:spPr>
          <a:xfrm>
            <a:off x="6246796" y="727217"/>
            <a:ext cx="5866233" cy="36950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1600" dirty="0">
                <a:latin typeface="Montserrat Medium" pitchFamily="50" charset="0"/>
                <a:cs typeface="Times New Roman" panose="02020603050405020304" pitchFamily="18" charset="0"/>
              </a:rPr>
              <a:t>Examples of AI Powered Recommendation Systems</a:t>
            </a:r>
            <a:endParaRPr lang="en-US" sz="1600" dirty="0">
              <a:latin typeface="Montserrat Medium" pitchFamily="50" charset="0"/>
            </a:endParaRPr>
          </a:p>
          <a:p>
            <a:pPr algn="ctr"/>
            <a:endParaRPr lang="en-US" sz="1200" dirty="0">
              <a:latin typeface="Montserrat" pitchFamily="2" charset="0"/>
            </a:endParaRPr>
          </a:p>
        </p:txBody>
      </p:sp>
      <p:sp>
        <p:nvSpPr>
          <p:cNvPr id="30" name="Rectangle 29">
            <a:extLst>
              <a:ext uri="{FF2B5EF4-FFF2-40B4-BE49-F238E27FC236}">
                <a16:creationId xmlns:a16="http://schemas.microsoft.com/office/drawing/2014/main" id="{13AED925-259D-49A1-9979-03DA54FBFB6B}"/>
              </a:ext>
            </a:extLst>
          </p:cNvPr>
          <p:cNvSpPr/>
          <p:nvPr/>
        </p:nvSpPr>
        <p:spPr>
          <a:xfrm>
            <a:off x="206046" y="726222"/>
            <a:ext cx="5866233" cy="3695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1600" dirty="0">
                <a:latin typeface="Montserrat Medium" pitchFamily="50" charset="0"/>
                <a:cs typeface="Times New Roman" panose="02020603050405020304" pitchFamily="18" charset="0"/>
              </a:rPr>
              <a:t>General Context</a:t>
            </a:r>
            <a:endParaRPr lang="en-US" sz="1600" dirty="0">
              <a:latin typeface="Montserrat Medium" pitchFamily="50" charset="0"/>
            </a:endParaRPr>
          </a:p>
          <a:p>
            <a:pPr algn="ctr"/>
            <a:endParaRPr lang="en-US" sz="1200" dirty="0">
              <a:latin typeface="Montserrat" pitchFamily="2" charset="0"/>
            </a:endParaRPr>
          </a:p>
        </p:txBody>
      </p:sp>
      <p:pic>
        <p:nvPicPr>
          <p:cNvPr id="26" name="Picture 25">
            <a:extLst>
              <a:ext uri="{FF2B5EF4-FFF2-40B4-BE49-F238E27FC236}">
                <a16:creationId xmlns:a16="http://schemas.microsoft.com/office/drawing/2014/main" id="{27A6BE97-AC51-426A-A0DB-4F8EAC24B2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
        <p:nvSpPr>
          <p:cNvPr id="27" name="Rectangle 26">
            <a:extLst>
              <a:ext uri="{FF2B5EF4-FFF2-40B4-BE49-F238E27FC236}">
                <a16:creationId xmlns:a16="http://schemas.microsoft.com/office/drawing/2014/main" id="{2D70F3E7-DEC3-414D-9EF3-8ECD0E33BB70}"/>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1" name="Rectangle 30">
            <a:extLst>
              <a:ext uri="{FF2B5EF4-FFF2-40B4-BE49-F238E27FC236}">
                <a16:creationId xmlns:a16="http://schemas.microsoft.com/office/drawing/2014/main" id="{688A2916-85F8-44E4-A31A-8C984B036D8A}"/>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4" name="Rectangle 33">
            <a:extLst>
              <a:ext uri="{FF2B5EF4-FFF2-40B4-BE49-F238E27FC236}">
                <a16:creationId xmlns:a16="http://schemas.microsoft.com/office/drawing/2014/main" id="{C2554E23-DF83-4155-A45F-FD87FC73005D}"/>
              </a:ext>
            </a:extLst>
          </p:cNvPr>
          <p:cNvSpPr/>
          <p:nvPr/>
        </p:nvSpPr>
        <p:spPr>
          <a:xfrm>
            <a:off x="206046" y="82459"/>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7" name="Rectangle 36">
            <a:extLst>
              <a:ext uri="{FF2B5EF4-FFF2-40B4-BE49-F238E27FC236}">
                <a16:creationId xmlns:a16="http://schemas.microsoft.com/office/drawing/2014/main" id="{61CC7C89-1765-4E1E-89AC-241EC17CEE90}"/>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6" name="Rectangle 45">
            <a:extLst>
              <a:ext uri="{FF2B5EF4-FFF2-40B4-BE49-F238E27FC236}">
                <a16:creationId xmlns:a16="http://schemas.microsoft.com/office/drawing/2014/main" id="{E47218E2-05FA-45BA-9EA9-8D94422BE397}"/>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7" name="Rectangle 46">
            <a:extLst>
              <a:ext uri="{FF2B5EF4-FFF2-40B4-BE49-F238E27FC236}">
                <a16:creationId xmlns:a16="http://schemas.microsoft.com/office/drawing/2014/main" id="{1407607E-D0FA-4B65-9F39-AAB75D90D0A7}"/>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5" name="Rectangle 54">
            <a:extLst>
              <a:ext uri="{FF2B5EF4-FFF2-40B4-BE49-F238E27FC236}">
                <a16:creationId xmlns:a16="http://schemas.microsoft.com/office/drawing/2014/main" id="{3C99BB4A-5E08-4CDB-B8B1-F16A0884CD5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6" name="Picture 55">
            <a:extLst>
              <a:ext uri="{FF2B5EF4-FFF2-40B4-BE49-F238E27FC236}">
                <a16:creationId xmlns:a16="http://schemas.microsoft.com/office/drawing/2014/main" id="{A0759E87-8AA7-467F-9F89-0818D01E77E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7" name="Picture 56">
            <a:extLst>
              <a:ext uri="{FF2B5EF4-FFF2-40B4-BE49-F238E27FC236}">
                <a16:creationId xmlns:a16="http://schemas.microsoft.com/office/drawing/2014/main" id="{CA194759-7E1E-4161-9154-B0811349128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8" name="Picture 57">
            <a:extLst>
              <a:ext uri="{FF2B5EF4-FFF2-40B4-BE49-F238E27FC236}">
                <a16:creationId xmlns:a16="http://schemas.microsoft.com/office/drawing/2014/main" id="{86353AEF-1B4D-478A-9B4D-19A2C995C9C4}"/>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9" name="Picture 58">
            <a:extLst>
              <a:ext uri="{FF2B5EF4-FFF2-40B4-BE49-F238E27FC236}">
                <a16:creationId xmlns:a16="http://schemas.microsoft.com/office/drawing/2014/main" id="{7B1C1695-8516-4A7D-8030-A4B4B4CC0A86}"/>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60" name="Picture 59">
            <a:extLst>
              <a:ext uri="{FF2B5EF4-FFF2-40B4-BE49-F238E27FC236}">
                <a16:creationId xmlns:a16="http://schemas.microsoft.com/office/drawing/2014/main" id="{E4F1DEA8-F0AE-4010-A3AB-216C858844C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1" name="Rectangle 60">
            <a:extLst>
              <a:ext uri="{FF2B5EF4-FFF2-40B4-BE49-F238E27FC236}">
                <a16:creationId xmlns:a16="http://schemas.microsoft.com/office/drawing/2014/main" id="{C7DEB2F6-A63E-4F8F-9C0A-71FFB0C63A60}"/>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ACD4E037-6CF8-4C8F-89F7-19ACBF0A398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3" name="Rectangle 62">
            <a:extLst>
              <a:ext uri="{FF2B5EF4-FFF2-40B4-BE49-F238E27FC236}">
                <a16:creationId xmlns:a16="http://schemas.microsoft.com/office/drawing/2014/main" id="{014784DB-F7A9-42CA-8C26-2573B348C146}"/>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4" name="Picture 63">
            <a:extLst>
              <a:ext uri="{FF2B5EF4-FFF2-40B4-BE49-F238E27FC236}">
                <a16:creationId xmlns:a16="http://schemas.microsoft.com/office/drawing/2014/main" id="{28D52A0A-4C25-4502-BE7D-8387AB88D941}"/>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Tree>
    <p:extLst>
      <p:ext uri="{BB962C8B-B14F-4D97-AF65-F5344CB8AC3E}">
        <p14:creationId xmlns:p14="http://schemas.microsoft.com/office/powerpoint/2010/main" val="3994974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Medium" pitchFamily="50" charset="0"/>
              </a:rPr>
              <a:t>Introduction</a:t>
            </a: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9" name="Rectangle 28">
            <a:extLst>
              <a:ext uri="{FF2B5EF4-FFF2-40B4-BE49-F238E27FC236}">
                <a16:creationId xmlns:a16="http://schemas.microsoft.com/office/drawing/2014/main" id="{DDC35470-259B-41E6-B55D-86604083CCC7}"/>
              </a:ext>
            </a:extLst>
          </p:cNvPr>
          <p:cNvSpPr/>
          <p:nvPr/>
        </p:nvSpPr>
        <p:spPr>
          <a:xfrm>
            <a:off x="6025416" y="721980"/>
            <a:ext cx="6087614"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latin typeface="Montserrat Medium" pitchFamily="50" charset="0"/>
                <a:cs typeface="Times New Roman" panose="02020603050405020304" pitchFamily="18" charset="0"/>
              </a:rPr>
              <a:t>Examples of AI Powered Recommendation systems</a:t>
            </a:r>
            <a:endParaRPr lang="en-US" sz="1700" dirty="0">
              <a:latin typeface="Montserrat Medium" pitchFamily="50" charset="0"/>
            </a:endParaRPr>
          </a:p>
        </p:txBody>
      </p:sp>
      <p:sp>
        <p:nvSpPr>
          <p:cNvPr id="30" name="Rectangle 29">
            <a:extLst>
              <a:ext uri="{FF2B5EF4-FFF2-40B4-BE49-F238E27FC236}">
                <a16:creationId xmlns:a16="http://schemas.microsoft.com/office/drawing/2014/main" id="{13AED925-259D-49A1-9979-03DA54FBFB6B}"/>
              </a:ext>
            </a:extLst>
          </p:cNvPr>
          <p:cNvSpPr/>
          <p:nvPr/>
        </p:nvSpPr>
        <p:spPr>
          <a:xfrm>
            <a:off x="206046" y="726222"/>
            <a:ext cx="5636489"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300000"/>
              </a:lnSpc>
            </a:pPr>
            <a:r>
              <a:rPr lang="en-US" dirty="0">
                <a:latin typeface="Montserrat Medium" pitchFamily="50" charset="0"/>
                <a:cs typeface="Times New Roman" panose="02020603050405020304" pitchFamily="18" charset="0"/>
              </a:rPr>
              <a:t>General Context</a:t>
            </a:r>
            <a:endParaRPr lang="en-US" dirty="0">
              <a:latin typeface="Montserrat Medium" pitchFamily="50" charset="0"/>
            </a:endParaRPr>
          </a:p>
          <a:p>
            <a:pPr algn="ctr"/>
            <a:endParaRPr lang="en-US" dirty="0">
              <a:latin typeface="Montserrat Medium" pitchFamily="50" charset="0"/>
            </a:endParaRPr>
          </a:p>
        </p:txBody>
      </p:sp>
      <p:sp>
        <p:nvSpPr>
          <p:cNvPr id="27" name="TextBox 26">
            <a:extLst>
              <a:ext uri="{FF2B5EF4-FFF2-40B4-BE49-F238E27FC236}">
                <a16:creationId xmlns:a16="http://schemas.microsoft.com/office/drawing/2014/main" id="{CE45315C-01A3-4074-845B-98D61A380123}"/>
              </a:ext>
            </a:extLst>
          </p:cNvPr>
          <p:cNvSpPr txBox="1"/>
          <p:nvPr/>
        </p:nvSpPr>
        <p:spPr>
          <a:xfrm>
            <a:off x="206046" y="5581196"/>
            <a:ext cx="11879607" cy="707886"/>
          </a:xfrm>
          <a:prstGeom prst="rect">
            <a:avLst/>
          </a:prstGeom>
          <a:noFill/>
        </p:spPr>
        <p:txBody>
          <a:bodyPr wrap="square">
            <a:spAutoFit/>
          </a:bodyPr>
          <a:lstStyle/>
          <a:p>
            <a:r>
              <a:rPr lang="en-US" sz="1000" dirty="0">
                <a:latin typeface="Agency FB" panose="020B0503020202020204" pitchFamily="34" charset="0"/>
              </a:rPr>
              <a:t>[7] S. Raza, M. Rahman, S. </a:t>
            </a:r>
            <a:r>
              <a:rPr lang="en-US" sz="1000" dirty="0" err="1">
                <a:latin typeface="Agency FB" panose="020B0503020202020204" pitchFamily="34" charset="0"/>
              </a:rPr>
              <a:t>Kamawal</a:t>
            </a:r>
            <a:r>
              <a:rPr lang="en-US" sz="1000" dirty="0">
                <a:latin typeface="Agency FB" panose="020B0503020202020204" pitchFamily="34" charset="0"/>
              </a:rPr>
              <a:t>, A. </a:t>
            </a:r>
            <a:r>
              <a:rPr lang="en-US" sz="1000" dirty="0" err="1">
                <a:latin typeface="Agency FB" panose="020B0503020202020204" pitchFamily="34" charset="0"/>
              </a:rPr>
              <a:t>Toroghi</a:t>
            </a:r>
            <a:r>
              <a:rPr lang="en-US" sz="1000" dirty="0">
                <a:latin typeface="Agency FB" panose="020B0503020202020204" pitchFamily="34" charset="0"/>
              </a:rPr>
              <a:t>, A. </a:t>
            </a:r>
            <a:r>
              <a:rPr lang="en-US" sz="1000" dirty="0" err="1">
                <a:latin typeface="Agency FB" panose="020B0503020202020204" pitchFamily="34" charset="0"/>
              </a:rPr>
              <a:t>Raval</a:t>
            </a:r>
            <a:r>
              <a:rPr lang="en-US" sz="1000" dirty="0">
                <a:latin typeface="Agency FB" panose="020B0503020202020204" pitchFamily="34" charset="0"/>
              </a:rPr>
              <a:t>, F. </a:t>
            </a:r>
            <a:r>
              <a:rPr lang="en-US" sz="1000" dirty="0" err="1">
                <a:latin typeface="Agency FB" panose="020B0503020202020204" pitchFamily="34" charset="0"/>
              </a:rPr>
              <a:t>Navah</a:t>
            </a:r>
            <a:r>
              <a:rPr lang="en-US" sz="1000" dirty="0">
                <a:latin typeface="Agency FB" panose="020B0503020202020204" pitchFamily="34" charset="0"/>
              </a:rPr>
              <a:t>, and A. </a:t>
            </a:r>
            <a:r>
              <a:rPr lang="en-US" sz="1000" dirty="0" err="1">
                <a:latin typeface="Agency FB" panose="020B0503020202020204" pitchFamily="34" charset="0"/>
              </a:rPr>
              <a:t>Kazemeini</a:t>
            </a:r>
            <a:r>
              <a:rPr lang="en-US" sz="1000" dirty="0">
                <a:latin typeface="Agency FB" panose="020B0503020202020204" pitchFamily="34" charset="0"/>
              </a:rPr>
              <a:t>, “A Comprehensive Review of Recommender Systems: Transitioning from Theory to Practice,” Computer Science Review, 2026. </a:t>
            </a:r>
          </a:p>
          <a:p>
            <a:r>
              <a:rPr lang="en-US" sz="1000" dirty="0">
                <a:latin typeface="Agency FB" panose="020B0503020202020204" pitchFamily="34" charset="0"/>
              </a:rPr>
              <a:t>[8] O. A. S. Ibrahim, E. M. G. Younis, E. A. Mohamed, and W. N. Ismail, “Revisiting Recommender Systems: An Investigative Survey,” Neural Computing and Applications, 2025. </a:t>
            </a:r>
          </a:p>
          <a:p>
            <a:r>
              <a:rPr lang="en-US" sz="1000" dirty="0">
                <a:latin typeface="Agency FB" panose="020B0503020202020204" pitchFamily="34" charset="0"/>
              </a:rPr>
              <a:t>[9] L. </a:t>
            </a:r>
            <a:r>
              <a:rPr lang="en-US" sz="1000" dirty="0" err="1">
                <a:latin typeface="Agency FB" panose="020B0503020202020204" pitchFamily="34" charset="0"/>
              </a:rPr>
              <a:t>Harichandan</a:t>
            </a:r>
            <a:r>
              <a:rPr lang="en-US" sz="1000" dirty="0">
                <a:latin typeface="Agency FB" panose="020B0503020202020204" pitchFamily="34" charset="0"/>
              </a:rPr>
              <a:t>, S. Nayak, and R. K. </a:t>
            </a:r>
            <a:r>
              <a:rPr lang="en-US" sz="1000" dirty="0" err="1">
                <a:latin typeface="Agency FB" panose="020B0503020202020204" pitchFamily="34" charset="0"/>
              </a:rPr>
              <a:t>Lenka</a:t>
            </a:r>
            <a:r>
              <a:rPr lang="en-US" sz="1000" dirty="0">
                <a:latin typeface="Agency FB" panose="020B0503020202020204" pitchFamily="34" charset="0"/>
              </a:rPr>
              <a:t>, “A Comprehensive Review on Video Recommendation Systems: Models, Challenges, and Applications,” Journal of Engineering Science and Technology Review, 2025. </a:t>
            </a:r>
          </a:p>
          <a:p>
            <a:r>
              <a:rPr lang="en-US" sz="1000" dirty="0">
                <a:latin typeface="Agency FB" panose="020B0503020202020204" pitchFamily="34" charset="0"/>
              </a:rPr>
              <a:t>[10] S. Raza, M. Rahman, S. </a:t>
            </a:r>
            <a:r>
              <a:rPr lang="en-US" sz="1000" dirty="0" err="1">
                <a:latin typeface="Agency FB" panose="020B0503020202020204" pitchFamily="34" charset="0"/>
              </a:rPr>
              <a:t>Kamawal</a:t>
            </a:r>
            <a:r>
              <a:rPr lang="en-US" sz="1000" dirty="0">
                <a:latin typeface="Agency FB" panose="020B0503020202020204" pitchFamily="34" charset="0"/>
              </a:rPr>
              <a:t>, A. </a:t>
            </a:r>
            <a:r>
              <a:rPr lang="en-US" sz="1000" dirty="0" err="1">
                <a:latin typeface="Agency FB" panose="020B0503020202020204" pitchFamily="34" charset="0"/>
              </a:rPr>
              <a:t>Toroghi</a:t>
            </a:r>
            <a:r>
              <a:rPr lang="en-US" sz="1000" dirty="0">
                <a:latin typeface="Agency FB" panose="020B0503020202020204" pitchFamily="34" charset="0"/>
              </a:rPr>
              <a:t>, A. </a:t>
            </a:r>
            <a:r>
              <a:rPr lang="en-US" sz="1000" dirty="0" err="1">
                <a:latin typeface="Agency FB" panose="020B0503020202020204" pitchFamily="34" charset="0"/>
              </a:rPr>
              <a:t>Raval</a:t>
            </a:r>
            <a:r>
              <a:rPr lang="en-US" sz="1000" dirty="0">
                <a:latin typeface="Agency FB" panose="020B0503020202020204" pitchFamily="34" charset="0"/>
              </a:rPr>
              <a:t>, F. </a:t>
            </a:r>
            <a:r>
              <a:rPr lang="en-US" sz="1000" dirty="0" err="1">
                <a:latin typeface="Agency FB" panose="020B0503020202020204" pitchFamily="34" charset="0"/>
              </a:rPr>
              <a:t>Navah</a:t>
            </a:r>
            <a:r>
              <a:rPr lang="en-US" sz="1000" dirty="0">
                <a:latin typeface="Agency FB" panose="020B0503020202020204" pitchFamily="34" charset="0"/>
              </a:rPr>
              <a:t>, and A. </a:t>
            </a:r>
            <a:r>
              <a:rPr lang="en-US" sz="1000" dirty="0" err="1">
                <a:latin typeface="Agency FB" panose="020B0503020202020204" pitchFamily="34" charset="0"/>
              </a:rPr>
              <a:t>Kazemeini</a:t>
            </a:r>
            <a:r>
              <a:rPr lang="en-US" sz="1000" dirty="0">
                <a:latin typeface="Agency FB" panose="020B0503020202020204" pitchFamily="34" charset="0"/>
              </a:rPr>
              <a:t>, “A Comprehensive Review of Recommender Systems: Transitioning from Theory to Practice,” </a:t>
            </a:r>
            <a:r>
              <a:rPr lang="en-US" sz="1000" dirty="0" err="1">
                <a:latin typeface="Agency FB" panose="020B0503020202020204" pitchFamily="34" charset="0"/>
              </a:rPr>
              <a:t>arXiv</a:t>
            </a:r>
            <a:r>
              <a:rPr lang="en-US" sz="1000" dirty="0">
                <a:latin typeface="Agency FB" panose="020B0503020202020204" pitchFamily="34" charset="0"/>
              </a:rPr>
              <a:t> preprint arXiv:2407.13699, 2024. </a:t>
            </a:r>
          </a:p>
        </p:txBody>
      </p:sp>
      <p:pic>
        <p:nvPicPr>
          <p:cNvPr id="8" name="Graphic 7">
            <a:extLst>
              <a:ext uri="{FF2B5EF4-FFF2-40B4-BE49-F238E27FC236}">
                <a16:creationId xmlns:a16="http://schemas.microsoft.com/office/drawing/2014/main" id="{2DBD78D5-1DBB-44A8-A644-E42DB264D8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39162" y="2002570"/>
            <a:ext cx="2298039" cy="2298039"/>
          </a:xfrm>
          <a:prstGeom prst="rect">
            <a:avLst/>
          </a:prstGeom>
        </p:spPr>
      </p:pic>
      <p:pic>
        <p:nvPicPr>
          <p:cNvPr id="12" name="Graphic 11">
            <a:extLst>
              <a:ext uri="{FF2B5EF4-FFF2-40B4-BE49-F238E27FC236}">
                <a16:creationId xmlns:a16="http://schemas.microsoft.com/office/drawing/2014/main" id="{94B45EEB-8FC4-476E-9612-3202BDFAA1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0748" y="2002570"/>
            <a:ext cx="2298039" cy="2298039"/>
          </a:xfrm>
          <a:prstGeom prst="rect">
            <a:avLst/>
          </a:prstGeom>
        </p:spPr>
      </p:pic>
      <p:pic>
        <p:nvPicPr>
          <p:cNvPr id="37" name="Graphic 36">
            <a:extLst>
              <a:ext uri="{FF2B5EF4-FFF2-40B4-BE49-F238E27FC236}">
                <a16:creationId xmlns:a16="http://schemas.microsoft.com/office/drawing/2014/main" id="{EA444D40-8E84-4152-B2F8-C7728525D0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754801" y="2002569"/>
            <a:ext cx="2298039" cy="2298039"/>
          </a:xfrm>
          <a:prstGeom prst="rect">
            <a:avLst/>
          </a:prstGeom>
        </p:spPr>
      </p:pic>
      <p:pic>
        <p:nvPicPr>
          <p:cNvPr id="46" name="Graphic 45">
            <a:extLst>
              <a:ext uri="{FF2B5EF4-FFF2-40B4-BE49-F238E27FC236}">
                <a16:creationId xmlns:a16="http://schemas.microsoft.com/office/drawing/2014/main" id="{B1C03A5D-3B4F-4D8D-9CF2-54A8DED70C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753213" y="2002568"/>
            <a:ext cx="2298039" cy="2298039"/>
          </a:xfrm>
          <a:prstGeom prst="rect">
            <a:avLst/>
          </a:prstGeom>
        </p:spPr>
      </p:pic>
      <p:pic>
        <p:nvPicPr>
          <p:cNvPr id="31" name="Picture 30">
            <a:extLst>
              <a:ext uri="{FF2B5EF4-FFF2-40B4-BE49-F238E27FC236}">
                <a16:creationId xmlns:a16="http://schemas.microsoft.com/office/drawing/2014/main" id="{254BE3A4-F9AE-4697-98B5-30F5C73C96C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
        <p:nvSpPr>
          <p:cNvPr id="34" name="Rectangle 33">
            <a:extLst>
              <a:ext uri="{FF2B5EF4-FFF2-40B4-BE49-F238E27FC236}">
                <a16:creationId xmlns:a16="http://schemas.microsoft.com/office/drawing/2014/main" id="{4018BDDA-9B22-4C74-ADC9-9797A3A3D62D}"/>
              </a:ext>
            </a:extLst>
          </p:cNvPr>
          <p:cNvSpPr/>
          <p:nvPr/>
        </p:nvSpPr>
        <p:spPr>
          <a:xfrm>
            <a:off x="206046" y="82459"/>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47" name="Rectangle 46">
            <a:extLst>
              <a:ext uri="{FF2B5EF4-FFF2-40B4-BE49-F238E27FC236}">
                <a16:creationId xmlns:a16="http://schemas.microsoft.com/office/drawing/2014/main" id="{939EAF4E-3640-40FD-AB2B-AC05992AF0C3}"/>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D482A40D-35F3-474A-9E8C-1CA0AAEE3FDE}"/>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B7D5E9E6-331F-4813-80CF-B69AF22384D9}"/>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C325F79E-45D6-4A6A-AC97-E94BD4B2209A}"/>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1" name="Picture 50">
            <a:extLst>
              <a:ext uri="{FF2B5EF4-FFF2-40B4-BE49-F238E27FC236}">
                <a16:creationId xmlns:a16="http://schemas.microsoft.com/office/drawing/2014/main" id="{5ABFAF14-4360-4EF2-ADB6-2993B1AFB06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5" name="Picture 54">
            <a:extLst>
              <a:ext uri="{FF2B5EF4-FFF2-40B4-BE49-F238E27FC236}">
                <a16:creationId xmlns:a16="http://schemas.microsoft.com/office/drawing/2014/main" id="{CF34DBD1-24C5-4DBD-AF1C-604CA733D4B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6" name="Picture 55">
            <a:extLst>
              <a:ext uri="{FF2B5EF4-FFF2-40B4-BE49-F238E27FC236}">
                <a16:creationId xmlns:a16="http://schemas.microsoft.com/office/drawing/2014/main" id="{F6731ABF-4E9B-4F81-9A17-F8DA0B2C0329}"/>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7" name="Picture 56">
            <a:extLst>
              <a:ext uri="{FF2B5EF4-FFF2-40B4-BE49-F238E27FC236}">
                <a16:creationId xmlns:a16="http://schemas.microsoft.com/office/drawing/2014/main" id="{62E177BC-96D8-461C-A78F-D0C3AB885375}"/>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8" name="Picture 57">
            <a:extLst>
              <a:ext uri="{FF2B5EF4-FFF2-40B4-BE49-F238E27FC236}">
                <a16:creationId xmlns:a16="http://schemas.microsoft.com/office/drawing/2014/main" id="{574DD75F-61DC-4EC0-955C-E313988CB4E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9" name="Rectangle 58">
            <a:extLst>
              <a:ext uri="{FF2B5EF4-FFF2-40B4-BE49-F238E27FC236}">
                <a16:creationId xmlns:a16="http://schemas.microsoft.com/office/drawing/2014/main" id="{EE3F5910-4C60-4F20-91E8-BEC1B57A8DBB}"/>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42F74060-F9F5-4935-9BB8-4A1FECD1A10B}"/>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1" name="Rectangle 60">
            <a:extLst>
              <a:ext uri="{FF2B5EF4-FFF2-40B4-BE49-F238E27FC236}">
                <a16:creationId xmlns:a16="http://schemas.microsoft.com/office/drawing/2014/main" id="{751D5675-16E3-495F-9451-0DE56FCCDE0B}"/>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C3D6A910-90B0-4AB5-AB0C-AC6BB2DD42C3}"/>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2" name="TextBox 31">
            <a:extLst>
              <a:ext uri="{FF2B5EF4-FFF2-40B4-BE49-F238E27FC236}">
                <a16:creationId xmlns:a16="http://schemas.microsoft.com/office/drawing/2014/main" id="{6B9C7EC8-7CEE-4BFD-BE7E-72C761F5B406}"/>
              </a:ext>
            </a:extLst>
          </p:cNvPr>
          <p:cNvSpPr txBox="1"/>
          <p:nvPr/>
        </p:nvSpPr>
        <p:spPr>
          <a:xfrm>
            <a:off x="394742" y="4612040"/>
            <a:ext cx="2073935" cy="646331"/>
          </a:xfrm>
          <a:prstGeom prst="rect">
            <a:avLst/>
          </a:prstGeom>
          <a:noFill/>
        </p:spPr>
        <p:txBody>
          <a:bodyPr wrap="square">
            <a:spAutoFit/>
          </a:bodyPr>
          <a:lstStyle/>
          <a:p>
            <a:pPr algn="just"/>
            <a:r>
              <a:rPr lang="en-US" sz="1200" dirty="0">
                <a:latin typeface="Montserrat Medium" pitchFamily="50" charset="0"/>
              </a:rPr>
              <a:t>Netflix – Movie and TV recommendation platform.</a:t>
            </a:r>
          </a:p>
        </p:txBody>
      </p:sp>
      <p:sp>
        <p:nvSpPr>
          <p:cNvPr id="40" name="TextBox 39">
            <a:extLst>
              <a:ext uri="{FF2B5EF4-FFF2-40B4-BE49-F238E27FC236}">
                <a16:creationId xmlns:a16="http://schemas.microsoft.com/office/drawing/2014/main" id="{47EB7F35-6069-4848-992B-CC125A2AA87E}"/>
              </a:ext>
            </a:extLst>
          </p:cNvPr>
          <p:cNvSpPr txBox="1"/>
          <p:nvPr/>
        </p:nvSpPr>
        <p:spPr>
          <a:xfrm>
            <a:off x="6866852" y="4526379"/>
            <a:ext cx="2073935" cy="830997"/>
          </a:xfrm>
          <a:prstGeom prst="rect">
            <a:avLst/>
          </a:prstGeom>
          <a:noFill/>
        </p:spPr>
        <p:txBody>
          <a:bodyPr wrap="square">
            <a:spAutoFit/>
          </a:bodyPr>
          <a:lstStyle/>
          <a:p>
            <a:pPr algn="just"/>
            <a:r>
              <a:rPr lang="en-US" sz="1200" dirty="0">
                <a:latin typeface="Montserrat Medium" pitchFamily="50" charset="0"/>
              </a:rPr>
              <a:t>Yelp – Local business and restaurant recommendation platform.</a:t>
            </a:r>
          </a:p>
        </p:txBody>
      </p:sp>
      <p:sp>
        <p:nvSpPr>
          <p:cNvPr id="41" name="TextBox 40">
            <a:extLst>
              <a:ext uri="{FF2B5EF4-FFF2-40B4-BE49-F238E27FC236}">
                <a16:creationId xmlns:a16="http://schemas.microsoft.com/office/drawing/2014/main" id="{FE72E4C1-F5AA-4B99-BB99-F77449CC7A77}"/>
              </a:ext>
            </a:extLst>
          </p:cNvPr>
          <p:cNvSpPr txBox="1"/>
          <p:nvPr/>
        </p:nvSpPr>
        <p:spPr>
          <a:xfrm>
            <a:off x="3351467" y="4526379"/>
            <a:ext cx="2073935" cy="861774"/>
          </a:xfrm>
          <a:prstGeom prst="rect">
            <a:avLst/>
          </a:prstGeom>
          <a:noFill/>
        </p:spPr>
        <p:txBody>
          <a:bodyPr wrap="square">
            <a:spAutoFit/>
          </a:bodyPr>
          <a:lstStyle/>
          <a:p>
            <a:pPr algn="just"/>
            <a:r>
              <a:rPr lang="en-US" sz="1200" dirty="0">
                <a:latin typeface="Montserrat Medium" pitchFamily="50" charset="0"/>
              </a:rPr>
              <a:t>Spotify – Music recommendation and streaming service.</a:t>
            </a:r>
          </a:p>
          <a:p>
            <a:pPr algn="just"/>
            <a:endParaRPr lang="en-US" sz="1400" dirty="0">
              <a:latin typeface="Montserrat Medium" pitchFamily="50" charset="0"/>
            </a:endParaRPr>
          </a:p>
        </p:txBody>
      </p:sp>
      <p:sp>
        <p:nvSpPr>
          <p:cNvPr id="42" name="TextBox 41">
            <a:extLst>
              <a:ext uri="{FF2B5EF4-FFF2-40B4-BE49-F238E27FC236}">
                <a16:creationId xmlns:a16="http://schemas.microsoft.com/office/drawing/2014/main" id="{850F57B3-7831-4245-A2C2-C7E471D6FC05}"/>
              </a:ext>
            </a:extLst>
          </p:cNvPr>
          <p:cNvSpPr txBox="1"/>
          <p:nvPr/>
        </p:nvSpPr>
        <p:spPr>
          <a:xfrm>
            <a:off x="10075309" y="4526379"/>
            <a:ext cx="2073935" cy="830997"/>
          </a:xfrm>
          <a:prstGeom prst="rect">
            <a:avLst/>
          </a:prstGeom>
          <a:noFill/>
        </p:spPr>
        <p:txBody>
          <a:bodyPr wrap="square">
            <a:spAutoFit/>
          </a:bodyPr>
          <a:lstStyle/>
          <a:p>
            <a:pPr algn="just"/>
            <a:r>
              <a:rPr lang="en-US" sz="1200" dirty="0">
                <a:latin typeface="Montserrat Medium" pitchFamily="50" charset="0"/>
              </a:rPr>
              <a:t>Amazon – E-commerce platform with personalized product recommendations.</a:t>
            </a:r>
          </a:p>
        </p:txBody>
      </p:sp>
    </p:spTree>
    <p:extLst>
      <p:ext uri="{BB962C8B-B14F-4D97-AF65-F5344CB8AC3E}">
        <p14:creationId xmlns:p14="http://schemas.microsoft.com/office/powerpoint/2010/main" val="2177650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Medium" pitchFamily="50" charset="0"/>
              </a:rPr>
              <a:t>Introduction</a:t>
            </a: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9" name="Rectangle 28">
            <a:extLst>
              <a:ext uri="{FF2B5EF4-FFF2-40B4-BE49-F238E27FC236}">
                <a16:creationId xmlns:a16="http://schemas.microsoft.com/office/drawing/2014/main" id="{DDC35470-259B-41E6-B55D-86604083CCC7}"/>
              </a:ext>
            </a:extLst>
          </p:cNvPr>
          <p:cNvSpPr/>
          <p:nvPr/>
        </p:nvSpPr>
        <p:spPr>
          <a:xfrm>
            <a:off x="6025416" y="721980"/>
            <a:ext cx="6087614"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latin typeface="Montserrat Medium" pitchFamily="50" charset="0"/>
                <a:cs typeface="Times New Roman" panose="02020603050405020304" pitchFamily="18" charset="0"/>
              </a:rPr>
              <a:t>Examples of AI Powered Recommendation systems</a:t>
            </a:r>
            <a:endParaRPr lang="en-US" sz="1700" dirty="0">
              <a:latin typeface="Montserrat Medium" pitchFamily="50" charset="0"/>
            </a:endParaRPr>
          </a:p>
        </p:txBody>
      </p:sp>
      <p:sp>
        <p:nvSpPr>
          <p:cNvPr id="30" name="Rectangle 29">
            <a:extLst>
              <a:ext uri="{FF2B5EF4-FFF2-40B4-BE49-F238E27FC236}">
                <a16:creationId xmlns:a16="http://schemas.microsoft.com/office/drawing/2014/main" id="{13AED925-259D-49A1-9979-03DA54FBFB6B}"/>
              </a:ext>
            </a:extLst>
          </p:cNvPr>
          <p:cNvSpPr/>
          <p:nvPr/>
        </p:nvSpPr>
        <p:spPr>
          <a:xfrm>
            <a:off x="206046" y="726222"/>
            <a:ext cx="5636489"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300000"/>
              </a:lnSpc>
            </a:pPr>
            <a:r>
              <a:rPr lang="en-US" dirty="0">
                <a:latin typeface="Montserrat Medium" pitchFamily="50" charset="0"/>
                <a:cs typeface="Times New Roman" panose="02020603050405020304" pitchFamily="18" charset="0"/>
              </a:rPr>
              <a:t>General Context</a:t>
            </a:r>
            <a:endParaRPr lang="en-US" dirty="0">
              <a:latin typeface="Montserrat Medium" pitchFamily="50" charset="0"/>
            </a:endParaRPr>
          </a:p>
          <a:p>
            <a:pPr algn="ctr"/>
            <a:endParaRPr lang="en-US" dirty="0">
              <a:latin typeface="Montserrat Medium" pitchFamily="50" charset="0"/>
            </a:endParaRPr>
          </a:p>
        </p:txBody>
      </p:sp>
      <p:sp>
        <p:nvSpPr>
          <p:cNvPr id="34" name="Rectangle 33">
            <a:extLst>
              <a:ext uri="{FF2B5EF4-FFF2-40B4-BE49-F238E27FC236}">
                <a16:creationId xmlns:a16="http://schemas.microsoft.com/office/drawing/2014/main" id="{4018BDDA-9B22-4C74-ADC9-9797A3A3D62D}"/>
              </a:ext>
            </a:extLst>
          </p:cNvPr>
          <p:cNvSpPr/>
          <p:nvPr/>
        </p:nvSpPr>
        <p:spPr>
          <a:xfrm>
            <a:off x="206046" y="82459"/>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47" name="Rectangle 46">
            <a:extLst>
              <a:ext uri="{FF2B5EF4-FFF2-40B4-BE49-F238E27FC236}">
                <a16:creationId xmlns:a16="http://schemas.microsoft.com/office/drawing/2014/main" id="{939EAF4E-3640-40FD-AB2B-AC05992AF0C3}"/>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D482A40D-35F3-474A-9E8C-1CA0AAEE3FDE}"/>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B7D5E9E6-331F-4813-80CF-B69AF22384D9}"/>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C325F79E-45D6-4A6A-AC97-E94BD4B2209A}"/>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1" name="Picture 50">
            <a:extLst>
              <a:ext uri="{FF2B5EF4-FFF2-40B4-BE49-F238E27FC236}">
                <a16:creationId xmlns:a16="http://schemas.microsoft.com/office/drawing/2014/main" id="{5ABFAF14-4360-4EF2-ADB6-2993B1AFB06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5" name="Picture 54">
            <a:extLst>
              <a:ext uri="{FF2B5EF4-FFF2-40B4-BE49-F238E27FC236}">
                <a16:creationId xmlns:a16="http://schemas.microsoft.com/office/drawing/2014/main" id="{CF34DBD1-24C5-4DBD-AF1C-604CA733D4B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6" name="Picture 55">
            <a:extLst>
              <a:ext uri="{FF2B5EF4-FFF2-40B4-BE49-F238E27FC236}">
                <a16:creationId xmlns:a16="http://schemas.microsoft.com/office/drawing/2014/main" id="{F6731ABF-4E9B-4F81-9A17-F8DA0B2C032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7" name="Picture 56">
            <a:extLst>
              <a:ext uri="{FF2B5EF4-FFF2-40B4-BE49-F238E27FC236}">
                <a16:creationId xmlns:a16="http://schemas.microsoft.com/office/drawing/2014/main" id="{62E177BC-96D8-461C-A78F-D0C3AB88537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8" name="Picture 57">
            <a:extLst>
              <a:ext uri="{FF2B5EF4-FFF2-40B4-BE49-F238E27FC236}">
                <a16:creationId xmlns:a16="http://schemas.microsoft.com/office/drawing/2014/main" id="{574DD75F-61DC-4EC0-955C-E313988CB4E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9" name="Rectangle 58">
            <a:extLst>
              <a:ext uri="{FF2B5EF4-FFF2-40B4-BE49-F238E27FC236}">
                <a16:creationId xmlns:a16="http://schemas.microsoft.com/office/drawing/2014/main" id="{EE3F5910-4C60-4F20-91E8-BEC1B57A8DBB}"/>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42F74060-F9F5-4935-9BB8-4A1FECD1A10B}"/>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1" name="Rectangle 60">
            <a:extLst>
              <a:ext uri="{FF2B5EF4-FFF2-40B4-BE49-F238E27FC236}">
                <a16:creationId xmlns:a16="http://schemas.microsoft.com/office/drawing/2014/main" id="{751D5675-16E3-495F-9451-0DE56FCCDE0B}"/>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C3D6A910-90B0-4AB5-AB0C-AC6BB2DD42C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7" name="Picture 6">
            <a:extLst>
              <a:ext uri="{FF2B5EF4-FFF2-40B4-BE49-F238E27FC236}">
                <a16:creationId xmlns:a16="http://schemas.microsoft.com/office/drawing/2014/main" id="{1FE6FD57-9291-4490-AEE1-F9ED39B17CE0}"/>
              </a:ext>
            </a:extLst>
          </p:cNvPr>
          <p:cNvPicPr>
            <a:picLocks noChangeAspect="1"/>
          </p:cNvPicPr>
          <p:nvPr/>
        </p:nvPicPr>
        <p:blipFill rotWithShape="1">
          <a:blip r:embed="rId11"/>
          <a:srcRect t="14523"/>
          <a:stretch/>
        </p:blipFill>
        <p:spPr>
          <a:xfrm>
            <a:off x="925531" y="1369985"/>
            <a:ext cx="10340938" cy="4825257"/>
          </a:xfrm>
          <a:prstGeom prst="rect">
            <a:avLst/>
          </a:prstGeom>
        </p:spPr>
      </p:pic>
      <p:pic>
        <p:nvPicPr>
          <p:cNvPr id="25" name="Picture 24">
            <a:extLst>
              <a:ext uri="{FF2B5EF4-FFF2-40B4-BE49-F238E27FC236}">
                <a16:creationId xmlns:a16="http://schemas.microsoft.com/office/drawing/2014/main" id="{F586DE7A-47C9-410A-BF09-521603FBF3FF}"/>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910385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Medium" pitchFamily="50" charset="0"/>
              </a:rPr>
              <a:t>Introduction</a:t>
            </a: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9" name="Rectangle 28">
            <a:extLst>
              <a:ext uri="{FF2B5EF4-FFF2-40B4-BE49-F238E27FC236}">
                <a16:creationId xmlns:a16="http://schemas.microsoft.com/office/drawing/2014/main" id="{DDC35470-259B-41E6-B55D-86604083CCC7}"/>
              </a:ext>
            </a:extLst>
          </p:cNvPr>
          <p:cNvSpPr/>
          <p:nvPr/>
        </p:nvSpPr>
        <p:spPr>
          <a:xfrm>
            <a:off x="6025416" y="721980"/>
            <a:ext cx="6087614"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latin typeface="Montserrat Medium" pitchFamily="50" charset="0"/>
                <a:cs typeface="Times New Roman" panose="02020603050405020304" pitchFamily="18" charset="0"/>
              </a:rPr>
              <a:t>Examples of AI Powered Recommendation systems</a:t>
            </a:r>
            <a:endParaRPr lang="en-US" sz="1700" dirty="0">
              <a:latin typeface="Montserrat Medium" pitchFamily="50" charset="0"/>
            </a:endParaRPr>
          </a:p>
        </p:txBody>
      </p:sp>
      <p:sp>
        <p:nvSpPr>
          <p:cNvPr id="30" name="Rectangle 29">
            <a:extLst>
              <a:ext uri="{FF2B5EF4-FFF2-40B4-BE49-F238E27FC236}">
                <a16:creationId xmlns:a16="http://schemas.microsoft.com/office/drawing/2014/main" id="{13AED925-259D-49A1-9979-03DA54FBFB6B}"/>
              </a:ext>
            </a:extLst>
          </p:cNvPr>
          <p:cNvSpPr/>
          <p:nvPr/>
        </p:nvSpPr>
        <p:spPr>
          <a:xfrm>
            <a:off x="206046" y="726222"/>
            <a:ext cx="5636489"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300000"/>
              </a:lnSpc>
            </a:pPr>
            <a:r>
              <a:rPr lang="en-US" dirty="0">
                <a:latin typeface="Montserrat Medium" pitchFamily="50" charset="0"/>
                <a:cs typeface="Times New Roman" panose="02020603050405020304" pitchFamily="18" charset="0"/>
              </a:rPr>
              <a:t>General Context</a:t>
            </a:r>
            <a:endParaRPr lang="en-US" dirty="0">
              <a:latin typeface="Montserrat Medium" pitchFamily="50" charset="0"/>
            </a:endParaRPr>
          </a:p>
          <a:p>
            <a:pPr algn="ctr"/>
            <a:endParaRPr lang="en-US" dirty="0">
              <a:latin typeface="Montserrat Medium" pitchFamily="50" charset="0"/>
            </a:endParaRPr>
          </a:p>
        </p:txBody>
      </p:sp>
      <p:sp>
        <p:nvSpPr>
          <p:cNvPr id="34" name="Rectangle 33">
            <a:extLst>
              <a:ext uri="{FF2B5EF4-FFF2-40B4-BE49-F238E27FC236}">
                <a16:creationId xmlns:a16="http://schemas.microsoft.com/office/drawing/2014/main" id="{4018BDDA-9B22-4C74-ADC9-9797A3A3D62D}"/>
              </a:ext>
            </a:extLst>
          </p:cNvPr>
          <p:cNvSpPr/>
          <p:nvPr/>
        </p:nvSpPr>
        <p:spPr>
          <a:xfrm>
            <a:off x="206046" y="82459"/>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47" name="Rectangle 46">
            <a:extLst>
              <a:ext uri="{FF2B5EF4-FFF2-40B4-BE49-F238E27FC236}">
                <a16:creationId xmlns:a16="http://schemas.microsoft.com/office/drawing/2014/main" id="{939EAF4E-3640-40FD-AB2B-AC05992AF0C3}"/>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D482A40D-35F3-474A-9E8C-1CA0AAEE3FDE}"/>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B7D5E9E6-331F-4813-80CF-B69AF22384D9}"/>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C325F79E-45D6-4A6A-AC97-E94BD4B2209A}"/>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1" name="Picture 50">
            <a:extLst>
              <a:ext uri="{FF2B5EF4-FFF2-40B4-BE49-F238E27FC236}">
                <a16:creationId xmlns:a16="http://schemas.microsoft.com/office/drawing/2014/main" id="{5ABFAF14-4360-4EF2-ADB6-2993B1AFB06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5" name="Picture 54">
            <a:extLst>
              <a:ext uri="{FF2B5EF4-FFF2-40B4-BE49-F238E27FC236}">
                <a16:creationId xmlns:a16="http://schemas.microsoft.com/office/drawing/2014/main" id="{CF34DBD1-24C5-4DBD-AF1C-604CA733D4B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6" name="Picture 55">
            <a:extLst>
              <a:ext uri="{FF2B5EF4-FFF2-40B4-BE49-F238E27FC236}">
                <a16:creationId xmlns:a16="http://schemas.microsoft.com/office/drawing/2014/main" id="{F6731ABF-4E9B-4F81-9A17-F8DA0B2C032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7" name="Picture 56">
            <a:extLst>
              <a:ext uri="{FF2B5EF4-FFF2-40B4-BE49-F238E27FC236}">
                <a16:creationId xmlns:a16="http://schemas.microsoft.com/office/drawing/2014/main" id="{62E177BC-96D8-461C-A78F-D0C3AB88537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8" name="Picture 57">
            <a:extLst>
              <a:ext uri="{FF2B5EF4-FFF2-40B4-BE49-F238E27FC236}">
                <a16:creationId xmlns:a16="http://schemas.microsoft.com/office/drawing/2014/main" id="{574DD75F-61DC-4EC0-955C-E313988CB4E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9" name="Rectangle 58">
            <a:extLst>
              <a:ext uri="{FF2B5EF4-FFF2-40B4-BE49-F238E27FC236}">
                <a16:creationId xmlns:a16="http://schemas.microsoft.com/office/drawing/2014/main" id="{EE3F5910-4C60-4F20-91E8-BEC1B57A8DBB}"/>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42F74060-F9F5-4935-9BB8-4A1FECD1A10B}"/>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1" name="Rectangle 60">
            <a:extLst>
              <a:ext uri="{FF2B5EF4-FFF2-40B4-BE49-F238E27FC236}">
                <a16:creationId xmlns:a16="http://schemas.microsoft.com/office/drawing/2014/main" id="{751D5675-16E3-495F-9451-0DE56FCCDE0B}"/>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C3D6A910-90B0-4AB5-AB0C-AC6BB2DD42C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8" name="Picture 7">
            <a:extLst>
              <a:ext uri="{FF2B5EF4-FFF2-40B4-BE49-F238E27FC236}">
                <a16:creationId xmlns:a16="http://schemas.microsoft.com/office/drawing/2014/main" id="{7D9A6C34-06A4-4F86-8888-108668CE8EAC}"/>
              </a:ext>
            </a:extLst>
          </p:cNvPr>
          <p:cNvPicPr>
            <a:picLocks noChangeAspect="1"/>
          </p:cNvPicPr>
          <p:nvPr/>
        </p:nvPicPr>
        <p:blipFill rotWithShape="1">
          <a:blip r:embed="rId11"/>
          <a:srcRect t="13619"/>
          <a:stretch/>
        </p:blipFill>
        <p:spPr>
          <a:xfrm>
            <a:off x="1081239" y="1351961"/>
            <a:ext cx="10378440" cy="4893965"/>
          </a:xfrm>
          <a:prstGeom prst="rect">
            <a:avLst/>
          </a:prstGeom>
        </p:spPr>
      </p:pic>
      <p:pic>
        <p:nvPicPr>
          <p:cNvPr id="25" name="Picture 24">
            <a:extLst>
              <a:ext uri="{FF2B5EF4-FFF2-40B4-BE49-F238E27FC236}">
                <a16:creationId xmlns:a16="http://schemas.microsoft.com/office/drawing/2014/main" id="{625A598D-EB5F-4625-AC02-C1116CC7AEFB}"/>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031731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rtl="0" eaLnBrk="1" latinLnBrk="0" hangingPunct="1">
              <a:spcBef>
                <a:spcPts val="0"/>
              </a:spcBef>
              <a:spcAft>
                <a:spcPts val="0"/>
              </a:spcAft>
            </a:pPr>
            <a:r>
              <a:rPr lang="en-US" sz="3600" kern="1200" dirty="0">
                <a:solidFill>
                  <a:schemeClr val="bg1"/>
                </a:solidFill>
                <a:effectLst/>
                <a:latin typeface="Montserrat Medium" pitchFamily="50" charset="0"/>
              </a:rPr>
              <a:t>Context and Problematic</a:t>
            </a:r>
            <a:endParaRPr lang="en-US" sz="3600" b="1" dirty="0">
              <a:solidFill>
                <a:schemeClr val="bg1"/>
              </a:solidFill>
              <a:latin typeface="Montserrat Medium" pitchFamily="50" charset="0"/>
            </a:endParaRP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9" name="Picture 8">
            <a:extLst>
              <a:ext uri="{FF2B5EF4-FFF2-40B4-BE49-F238E27FC236}">
                <a16:creationId xmlns:a16="http://schemas.microsoft.com/office/drawing/2014/main" id="{B7A66ACB-825E-443D-A604-7C015890B2E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209449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pitchFamily="2" charset="0"/>
                <a:cs typeface="Times New Roman" panose="02020603050405020304" pitchFamily="18" charset="0"/>
              </a:rPr>
              <a:t>Recommendation Systems</a:t>
            </a:r>
            <a:endParaRPr lang="en-US" dirty="0">
              <a:latin typeface="Montserrat" pitchFamily="2"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Problematic</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Contributions</a:t>
            </a:r>
            <a:endParaRPr lang="en-US" sz="2000" dirty="0">
              <a:latin typeface="Montserrat" pitchFamily="2" charset="0"/>
            </a:endParaRPr>
          </a:p>
          <a:p>
            <a:pPr algn="ctr"/>
            <a:endParaRPr lang="en-US" sz="1200" dirty="0">
              <a:latin typeface="Montserrat" pitchFamily="2" charset="0"/>
            </a:endParaRPr>
          </a:p>
        </p:txBody>
      </p:sp>
      <p:sp>
        <p:nvSpPr>
          <p:cNvPr id="49" name="Rectangle 48">
            <a:extLst>
              <a:ext uri="{FF2B5EF4-FFF2-40B4-BE49-F238E27FC236}">
                <a16:creationId xmlns:a16="http://schemas.microsoft.com/office/drawing/2014/main" id="{6D7E0722-A680-4DE4-B488-11CFE545BC63}"/>
              </a:ext>
            </a:extLst>
          </p:cNvPr>
          <p:cNvSpPr/>
          <p:nvPr/>
        </p:nvSpPr>
        <p:spPr>
          <a:xfrm>
            <a:off x="429950" y="3219501"/>
            <a:ext cx="2406555" cy="1731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r>
              <a:rPr lang="en-US" b="1" dirty="0">
                <a:solidFill>
                  <a:schemeClr val="bg1"/>
                </a:solidFill>
                <a:latin typeface="Montserrat" pitchFamily="2" charset="0"/>
              </a:rPr>
              <a:t>Predictive Analytics</a:t>
            </a:r>
          </a:p>
        </p:txBody>
      </p:sp>
      <p:sp>
        <p:nvSpPr>
          <p:cNvPr id="51" name="TextBox 50">
            <a:extLst>
              <a:ext uri="{FF2B5EF4-FFF2-40B4-BE49-F238E27FC236}">
                <a16:creationId xmlns:a16="http://schemas.microsoft.com/office/drawing/2014/main" id="{EB622D0E-83D3-423E-B034-ADC245766245}"/>
              </a:ext>
            </a:extLst>
          </p:cNvPr>
          <p:cNvSpPr txBox="1"/>
          <p:nvPr/>
        </p:nvSpPr>
        <p:spPr>
          <a:xfrm>
            <a:off x="233422" y="1563278"/>
            <a:ext cx="11232206" cy="1323439"/>
          </a:xfrm>
          <a:prstGeom prst="rect">
            <a:avLst/>
          </a:prstGeom>
          <a:noFill/>
        </p:spPr>
        <p:txBody>
          <a:bodyPr wrap="square">
            <a:spAutoFit/>
          </a:bodyPr>
          <a:lstStyle/>
          <a:p>
            <a:pPr marL="285750" indent="-285750" algn="just">
              <a:buFont typeface="Wingdings" panose="05000000000000000000" pitchFamily="2" charset="2"/>
              <a:buChar char="§"/>
            </a:pPr>
            <a:r>
              <a:rPr lang="en-US" sz="2000" dirty="0">
                <a:latin typeface="Montserrat Medium" pitchFamily="50" charset="0"/>
              </a:rPr>
              <a:t>Recommendation Systems promotes products by leveraging the internet and electronic devices for efficient global reach.</a:t>
            </a:r>
          </a:p>
          <a:p>
            <a:pPr algn="just"/>
            <a:endParaRPr lang="en-US" sz="2000" dirty="0">
              <a:latin typeface="Montserrat Medium" pitchFamily="50" charset="0"/>
            </a:endParaRPr>
          </a:p>
          <a:p>
            <a:pPr marL="285750" indent="-285750" algn="just">
              <a:buFont typeface="Wingdings" panose="05000000000000000000" pitchFamily="2" charset="2"/>
              <a:buChar char="§"/>
            </a:pPr>
            <a:r>
              <a:rPr lang="en-US" sz="2000" dirty="0">
                <a:latin typeface="Montserrat Medium" pitchFamily="50" charset="0"/>
              </a:rPr>
              <a:t>It offers new ways to communicate, engage and convert audiences into customers.</a:t>
            </a: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4" name="Picture 3">
            <a:extLst>
              <a:ext uri="{FF2B5EF4-FFF2-40B4-BE49-F238E27FC236}">
                <a16:creationId xmlns:a16="http://schemas.microsoft.com/office/drawing/2014/main" id="{08502EDF-A8E6-4A53-9A48-85CFABD7E8D9}"/>
              </a:ext>
            </a:extLst>
          </p:cNvPr>
          <p:cNvPicPr>
            <a:picLocks noChangeAspect="1"/>
          </p:cNvPicPr>
          <p:nvPr/>
        </p:nvPicPr>
        <p:blipFill>
          <a:blip r:embed="rId11"/>
          <a:stretch>
            <a:fillRect/>
          </a:stretch>
        </p:blipFill>
        <p:spPr>
          <a:xfrm>
            <a:off x="1065656" y="3360108"/>
            <a:ext cx="938613" cy="938613"/>
          </a:xfrm>
          <a:prstGeom prst="rect">
            <a:avLst/>
          </a:prstGeom>
        </p:spPr>
      </p:pic>
      <p:sp>
        <p:nvSpPr>
          <p:cNvPr id="61" name="Rectangle 60">
            <a:extLst>
              <a:ext uri="{FF2B5EF4-FFF2-40B4-BE49-F238E27FC236}">
                <a16:creationId xmlns:a16="http://schemas.microsoft.com/office/drawing/2014/main" id="{5849F84D-9C83-4401-9E6A-154927BB41D1}"/>
              </a:ext>
            </a:extLst>
          </p:cNvPr>
          <p:cNvSpPr/>
          <p:nvPr/>
        </p:nvSpPr>
        <p:spPr>
          <a:xfrm>
            <a:off x="3472211" y="3220392"/>
            <a:ext cx="2406555" cy="1731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r>
              <a:rPr lang="en-US" b="1" dirty="0">
                <a:solidFill>
                  <a:schemeClr val="bg1"/>
                </a:solidFill>
                <a:latin typeface="Montserrat" pitchFamily="2" charset="0"/>
              </a:rPr>
              <a:t>Automation</a:t>
            </a:r>
          </a:p>
        </p:txBody>
      </p:sp>
      <p:sp>
        <p:nvSpPr>
          <p:cNvPr id="62" name="Rectangle 61">
            <a:extLst>
              <a:ext uri="{FF2B5EF4-FFF2-40B4-BE49-F238E27FC236}">
                <a16:creationId xmlns:a16="http://schemas.microsoft.com/office/drawing/2014/main" id="{0EDB7D7C-CA55-46E9-BBE3-CEDBC528CA88}"/>
              </a:ext>
            </a:extLst>
          </p:cNvPr>
          <p:cNvSpPr/>
          <p:nvPr/>
        </p:nvSpPr>
        <p:spPr>
          <a:xfrm>
            <a:off x="6492922" y="3225968"/>
            <a:ext cx="2406555" cy="17375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r>
              <a:rPr lang="en-US" b="1" dirty="0">
                <a:solidFill>
                  <a:schemeClr val="bg1"/>
                </a:solidFill>
                <a:latin typeface="Montserrat" pitchFamily="2" charset="0"/>
              </a:rPr>
              <a:t>Data Insights</a:t>
            </a:r>
          </a:p>
        </p:txBody>
      </p:sp>
      <p:sp>
        <p:nvSpPr>
          <p:cNvPr id="63" name="Rectangle 62">
            <a:extLst>
              <a:ext uri="{FF2B5EF4-FFF2-40B4-BE49-F238E27FC236}">
                <a16:creationId xmlns:a16="http://schemas.microsoft.com/office/drawing/2014/main" id="{3F91D704-CFE8-4ABB-9FCF-C31045596AB1}"/>
              </a:ext>
            </a:extLst>
          </p:cNvPr>
          <p:cNvSpPr/>
          <p:nvPr/>
        </p:nvSpPr>
        <p:spPr>
          <a:xfrm>
            <a:off x="9513634" y="3225968"/>
            <a:ext cx="2406555" cy="17375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algn="ctr"/>
            <a:endParaRPr lang="en-US" sz="1500" b="1" dirty="0">
              <a:solidFill>
                <a:srgbClr val="98ECB7"/>
              </a:solidFill>
              <a:latin typeface="Montserrat" pitchFamily="2" charset="0"/>
            </a:endParaRPr>
          </a:p>
          <a:p>
            <a:pPr marL="0" algn="ctr" rtl="0" eaLnBrk="1" latinLnBrk="0" hangingPunct="1">
              <a:spcBef>
                <a:spcPts val="0"/>
              </a:spcBef>
              <a:spcAft>
                <a:spcPts val="0"/>
              </a:spcAft>
            </a:pPr>
            <a:r>
              <a:rPr lang="en-US" b="1" kern="1200" dirty="0">
                <a:solidFill>
                  <a:schemeClr val="bg1"/>
                </a:solidFill>
                <a:effectLst/>
                <a:latin typeface="Montserrat" pitchFamily="2" charset="0"/>
                <a:ea typeface="+mn-ea"/>
                <a:cs typeface="+mn-cs"/>
              </a:rPr>
              <a:t>Enhanced Decision Making</a:t>
            </a:r>
            <a:endParaRPr lang="en-US" dirty="0">
              <a:solidFill>
                <a:schemeClr val="bg1"/>
              </a:solidFill>
              <a:effectLst/>
            </a:endParaRPr>
          </a:p>
        </p:txBody>
      </p:sp>
      <p:pic>
        <p:nvPicPr>
          <p:cNvPr id="9" name="Picture 8">
            <a:extLst>
              <a:ext uri="{FF2B5EF4-FFF2-40B4-BE49-F238E27FC236}">
                <a16:creationId xmlns:a16="http://schemas.microsoft.com/office/drawing/2014/main" id="{A7457720-45EC-4A7C-B932-DEF7E324C349}"/>
              </a:ext>
            </a:extLst>
          </p:cNvPr>
          <p:cNvPicPr>
            <a:picLocks noChangeAspect="1"/>
          </p:cNvPicPr>
          <p:nvPr/>
        </p:nvPicPr>
        <p:blipFill>
          <a:blip r:embed="rId12"/>
          <a:stretch>
            <a:fillRect/>
          </a:stretch>
        </p:blipFill>
        <p:spPr>
          <a:xfrm>
            <a:off x="4197882" y="3360108"/>
            <a:ext cx="955211" cy="955211"/>
          </a:xfrm>
          <a:prstGeom prst="rect">
            <a:avLst/>
          </a:prstGeom>
        </p:spPr>
      </p:pic>
      <p:pic>
        <p:nvPicPr>
          <p:cNvPr id="11" name="Picture 10">
            <a:extLst>
              <a:ext uri="{FF2B5EF4-FFF2-40B4-BE49-F238E27FC236}">
                <a16:creationId xmlns:a16="http://schemas.microsoft.com/office/drawing/2014/main" id="{DACA651E-CCF6-4EB3-8DA3-CC8504324310}"/>
              </a:ext>
            </a:extLst>
          </p:cNvPr>
          <p:cNvPicPr>
            <a:picLocks noChangeAspect="1"/>
          </p:cNvPicPr>
          <p:nvPr/>
        </p:nvPicPr>
        <p:blipFill>
          <a:blip r:embed="rId13"/>
          <a:stretch>
            <a:fillRect/>
          </a:stretch>
        </p:blipFill>
        <p:spPr>
          <a:xfrm>
            <a:off x="7226893" y="3380865"/>
            <a:ext cx="938614" cy="938614"/>
          </a:xfrm>
          <a:prstGeom prst="rect">
            <a:avLst/>
          </a:prstGeom>
        </p:spPr>
      </p:pic>
      <p:pic>
        <p:nvPicPr>
          <p:cNvPr id="13" name="Picture 12">
            <a:extLst>
              <a:ext uri="{FF2B5EF4-FFF2-40B4-BE49-F238E27FC236}">
                <a16:creationId xmlns:a16="http://schemas.microsoft.com/office/drawing/2014/main" id="{A1601DA0-92CB-4A8E-BCA8-5265A3DBB979}"/>
              </a:ext>
            </a:extLst>
          </p:cNvPr>
          <p:cNvPicPr>
            <a:picLocks noChangeAspect="1"/>
          </p:cNvPicPr>
          <p:nvPr/>
        </p:nvPicPr>
        <p:blipFill>
          <a:blip r:embed="rId14"/>
          <a:stretch>
            <a:fillRect/>
          </a:stretch>
        </p:blipFill>
        <p:spPr>
          <a:xfrm>
            <a:off x="10376315" y="3360108"/>
            <a:ext cx="817538" cy="817538"/>
          </a:xfrm>
          <a:prstGeom prst="rect">
            <a:avLst/>
          </a:prstGeom>
        </p:spPr>
      </p:pic>
      <p:pic>
        <p:nvPicPr>
          <p:cNvPr id="46" name="Picture 45">
            <a:extLst>
              <a:ext uri="{FF2B5EF4-FFF2-40B4-BE49-F238E27FC236}">
                <a16:creationId xmlns:a16="http://schemas.microsoft.com/office/drawing/2014/main" id="{42DD2490-410A-45FF-8297-71A74F7B637C}"/>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78277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Medium" pitchFamily="50" charset="0"/>
                <a:cs typeface="Times New Roman" panose="02020603050405020304" pitchFamily="18" charset="0"/>
              </a:rPr>
              <a:t>Recommendation Systems</a:t>
            </a:r>
            <a:endParaRPr lang="en-US" dirty="0">
              <a:latin typeface="Montserrat Medium" pitchFamily="50"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Problematic</a:t>
            </a:r>
            <a:endParaRPr lang="en-US" sz="2000" dirty="0">
              <a:latin typeface="Montserrat Medium" pitchFamily="50"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Contributions</a:t>
            </a:r>
            <a:endParaRPr lang="en-US" sz="2000" dirty="0">
              <a:latin typeface="Montserrat Medium" pitchFamily="50"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46" name="Picture 45">
            <a:extLst>
              <a:ext uri="{FF2B5EF4-FFF2-40B4-BE49-F238E27FC236}">
                <a16:creationId xmlns:a16="http://schemas.microsoft.com/office/drawing/2014/main" id="{42DD2490-410A-45FF-8297-71A74F7B637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8" name="Picture 7">
            <a:extLst>
              <a:ext uri="{FF2B5EF4-FFF2-40B4-BE49-F238E27FC236}">
                <a16:creationId xmlns:a16="http://schemas.microsoft.com/office/drawing/2014/main" id="{74390545-AD9A-4652-88D6-9D20DFFD6A42}"/>
              </a:ext>
            </a:extLst>
          </p:cNvPr>
          <p:cNvPicPr>
            <a:picLocks noChangeAspect="1"/>
          </p:cNvPicPr>
          <p:nvPr/>
        </p:nvPicPr>
        <p:blipFill rotWithShape="1">
          <a:blip r:embed="rId12">
            <a:extLst>
              <a:ext uri="{28A0092B-C50C-407E-A947-70E740481C1C}">
                <a14:useLocalDpi xmlns:a14="http://schemas.microsoft.com/office/drawing/2010/main" val="0"/>
              </a:ext>
            </a:extLst>
          </a:blip>
          <a:srcRect t="10672"/>
          <a:stretch/>
        </p:blipFill>
        <p:spPr>
          <a:xfrm>
            <a:off x="5750748" y="1857790"/>
            <a:ext cx="6344968" cy="3186353"/>
          </a:xfrm>
          <a:prstGeom prst="rect">
            <a:avLst/>
          </a:prstGeom>
        </p:spPr>
      </p:pic>
      <p:sp>
        <p:nvSpPr>
          <p:cNvPr id="48" name="TextBox 47">
            <a:extLst>
              <a:ext uri="{FF2B5EF4-FFF2-40B4-BE49-F238E27FC236}">
                <a16:creationId xmlns:a16="http://schemas.microsoft.com/office/drawing/2014/main" id="{19CDF215-6C7A-4F8B-BD1E-4C5775F7C116}"/>
              </a:ext>
            </a:extLst>
          </p:cNvPr>
          <p:cNvSpPr txBox="1"/>
          <p:nvPr/>
        </p:nvSpPr>
        <p:spPr>
          <a:xfrm>
            <a:off x="233422" y="1384859"/>
            <a:ext cx="5272229" cy="4062651"/>
          </a:xfrm>
          <a:prstGeom prst="rect">
            <a:avLst/>
          </a:prstGeom>
          <a:noFill/>
        </p:spPr>
        <p:txBody>
          <a:bodyPr wrap="square">
            <a:spAutoFit/>
          </a:bodyPr>
          <a:lstStyle/>
          <a:p>
            <a:pPr algn="just"/>
            <a:r>
              <a:rPr lang="en-US" sz="2000" b="1" dirty="0">
                <a:latin typeface="Montserrat Medium" pitchFamily="50" charset="0"/>
              </a:rPr>
              <a:t>Content-Based Filtering</a:t>
            </a:r>
          </a:p>
          <a:p>
            <a:pPr algn="just"/>
            <a:endParaRPr lang="en-US" sz="2000" b="1"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Recommends items based on their features and the user’s past preferences. </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Builds a user profile from previously liked, viewed, or selected items.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Suggests new items with similar characteristics.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Limitation: recommendations may become too similar and lack diversity. </a:t>
            </a:r>
          </a:p>
          <a:p>
            <a:pPr algn="just"/>
            <a:endParaRPr lang="en-US" sz="2000" b="1" dirty="0">
              <a:latin typeface="Montserrat Medium" pitchFamily="50" charset="0"/>
            </a:endParaRPr>
          </a:p>
        </p:txBody>
      </p:sp>
      <p:sp>
        <p:nvSpPr>
          <p:cNvPr id="26" name="TextBox 25">
            <a:extLst>
              <a:ext uri="{FF2B5EF4-FFF2-40B4-BE49-F238E27FC236}">
                <a16:creationId xmlns:a16="http://schemas.microsoft.com/office/drawing/2014/main" id="{31E3770F-DF0A-4109-AB96-DD17714E902F}"/>
              </a:ext>
            </a:extLst>
          </p:cNvPr>
          <p:cNvSpPr txBox="1"/>
          <p:nvPr/>
        </p:nvSpPr>
        <p:spPr>
          <a:xfrm>
            <a:off x="250735" y="5997433"/>
            <a:ext cx="11862294" cy="246221"/>
          </a:xfrm>
          <a:prstGeom prst="rect">
            <a:avLst/>
          </a:prstGeom>
          <a:noFill/>
        </p:spPr>
        <p:txBody>
          <a:bodyPr wrap="square">
            <a:spAutoFit/>
          </a:bodyPr>
          <a:lstStyle/>
          <a:p>
            <a:r>
              <a:rPr lang="en-US" sz="1000" dirty="0">
                <a:latin typeface="Agency FB" panose="020B0503020202020204" pitchFamily="34" charset="0"/>
              </a:rPr>
              <a:t>[11] M. J. </a:t>
            </a:r>
            <a:r>
              <a:rPr lang="en-US" sz="1000" dirty="0" err="1">
                <a:latin typeface="Agency FB" panose="020B0503020202020204" pitchFamily="34" charset="0"/>
              </a:rPr>
              <a:t>Pazzani</a:t>
            </a:r>
            <a:r>
              <a:rPr lang="en-US" sz="1000" dirty="0">
                <a:latin typeface="Agency FB" panose="020B0503020202020204" pitchFamily="34" charset="0"/>
              </a:rPr>
              <a:t> and D. </a:t>
            </a:r>
            <a:r>
              <a:rPr lang="en-US" sz="1000" dirty="0" err="1">
                <a:latin typeface="Agency FB" panose="020B0503020202020204" pitchFamily="34" charset="0"/>
              </a:rPr>
              <a:t>Billsus</a:t>
            </a:r>
            <a:r>
              <a:rPr lang="en-US" sz="1000" dirty="0">
                <a:latin typeface="Agency FB" panose="020B0503020202020204" pitchFamily="34" charset="0"/>
              </a:rPr>
              <a:t>, "Content-Based Recommendation Systems," in The Adaptive Web, P. </a:t>
            </a:r>
            <a:r>
              <a:rPr lang="en-US" sz="1000" dirty="0" err="1">
                <a:latin typeface="Agency FB" panose="020B0503020202020204" pitchFamily="34" charset="0"/>
              </a:rPr>
              <a:t>Brusilovsky</a:t>
            </a:r>
            <a:r>
              <a:rPr lang="en-US" sz="1000" dirty="0">
                <a:latin typeface="Agency FB" panose="020B0503020202020204" pitchFamily="34" charset="0"/>
              </a:rPr>
              <a:t>, A. </a:t>
            </a:r>
            <a:r>
              <a:rPr lang="en-US" sz="1000" dirty="0" err="1">
                <a:latin typeface="Agency FB" panose="020B0503020202020204" pitchFamily="34" charset="0"/>
              </a:rPr>
              <a:t>Kobsa</a:t>
            </a:r>
            <a:r>
              <a:rPr lang="en-US" sz="1000" dirty="0">
                <a:latin typeface="Agency FB" panose="020B0503020202020204" pitchFamily="34" charset="0"/>
              </a:rPr>
              <a:t>, and W. </a:t>
            </a:r>
            <a:r>
              <a:rPr lang="en-US" sz="1000" dirty="0" err="1">
                <a:latin typeface="Agency FB" panose="020B0503020202020204" pitchFamily="34" charset="0"/>
              </a:rPr>
              <a:t>Nejdl</a:t>
            </a:r>
            <a:r>
              <a:rPr lang="en-US" sz="1000" dirty="0">
                <a:latin typeface="Agency FB" panose="020B0503020202020204" pitchFamily="34" charset="0"/>
              </a:rPr>
              <a:t>, Eds. Berlin, Germany: Springer, 2007, pp. 325–341.</a:t>
            </a:r>
          </a:p>
        </p:txBody>
      </p:sp>
      <p:pic>
        <p:nvPicPr>
          <p:cNvPr id="27" name="Picture 26">
            <a:extLst>
              <a:ext uri="{FF2B5EF4-FFF2-40B4-BE49-F238E27FC236}">
                <a16:creationId xmlns:a16="http://schemas.microsoft.com/office/drawing/2014/main" id="{CF247202-2AE4-4ED4-94F5-563633C2A57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7897"/>
            <a:ext cx="385680" cy="385680"/>
          </a:xfrm>
          <a:prstGeom prst="rect">
            <a:avLst/>
          </a:prstGeom>
        </p:spPr>
      </p:pic>
    </p:spTree>
    <p:extLst>
      <p:ext uri="{BB962C8B-B14F-4D97-AF65-F5344CB8AC3E}">
        <p14:creationId xmlns:p14="http://schemas.microsoft.com/office/powerpoint/2010/main" val="2736323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Medium" pitchFamily="50" charset="0"/>
                <a:cs typeface="Times New Roman" panose="02020603050405020304" pitchFamily="18" charset="0"/>
              </a:rPr>
              <a:t>Recommendation Systems</a:t>
            </a:r>
            <a:endParaRPr lang="en-US" dirty="0">
              <a:latin typeface="Montserrat Medium" pitchFamily="50"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Problematic</a:t>
            </a:r>
            <a:endParaRPr lang="en-US" sz="2000" dirty="0">
              <a:latin typeface="Montserrat Medium" pitchFamily="50"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Contributions</a:t>
            </a:r>
            <a:endParaRPr lang="en-US" sz="2000" dirty="0">
              <a:latin typeface="Montserrat Medium" pitchFamily="50"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46" name="Picture 45">
            <a:extLst>
              <a:ext uri="{FF2B5EF4-FFF2-40B4-BE49-F238E27FC236}">
                <a16:creationId xmlns:a16="http://schemas.microsoft.com/office/drawing/2014/main" id="{42DD2490-410A-45FF-8297-71A74F7B637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8" name="Picture 7">
            <a:extLst>
              <a:ext uri="{FF2B5EF4-FFF2-40B4-BE49-F238E27FC236}">
                <a16:creationId xmlns:a16="http://schemas.microsoft.com/office/drawing/2014/main" id="{74390545-AD9A-4652-88D6-9D20DFFD6A42}"/>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5662186" y="2016566"/>
            <a:ext cx="6296392" cy="3036697"/>
          </a:xfrm>
          <a:prstGeom prst="rect">
            <a:avLst/>
          </a:prstGeom>
        </p:spPr>
      </p:pic>
      <p:sp>
        <p:nvSpPr>
          <p:cNvPr id="48" name="TextBox 47">
            <a:extLst>
              <a:ext uri="{FF2B5EF4-FFF2-40B4-BE49-F238E27FC236}">
                <a16:creationId xmlns:a16="http://schemas.microsoft.com/office/drawing/2014/main" id="{19CDF215-6C7A-4F8B-BD1E-4C5775F7C116}"/>
              </a:ext>
            </a:extLst>
          </p:cNvPr>
          <p:cNvSpPr txBox="1"/>
          <p:nvPr/>
        </p:nvSpPr>
        <p:spPr>
          <a:xfrm>
            <a:off x="233422" y="1384859"/>
            <a:ext cx="5272229" cy="4339650"/>
          </a:xfrm>
          <a:prstGeom prst="rect">
            <a:avLst/>
          </a:prstGeom>
          <a:noFill/>
        </p:spPr>
        <p:txBody>
          <a:bodyPr wrap="square">
            <a:spAutoFit/>
          </a:bodyPr>
          <a:lstStyle/>
          <a:p>
            <a:pPr algn="just"/>
            <a:r>
              <a:rPr lang="en-US" sz="2000" b="1" dirty="0">
                <a:latin typeface="Montserrat Medium" pitchFamily="50" charset="0"/>
              </a:rPr>
              <a:t>Collaborative Filtering</a:t>
            </a:r>
          </a:p>
          <a:p>
            <a:pPr algn="just"/>
            <a:endParaRPr lang="en-US" sz="2000" b="1"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Recommends items using preferences and behaviors of similar users.</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Identifies patterns in user–item interactions, such as ratings, clicks, or purchases.</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Can be user-based or item-based collaborative filtering.</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Limitation: it struggles with new users or new items due to limited data.</a:t>
            </a:r>
          </a:p>
          <a:p>
            <a:pPr algn="just"/>
            <a:endParaRPr lang="en-US" sz="2000" b="1" dirty="0">
              <a:latin typeface="Montserrat Medium" pitchFamily="50" charset="0"/>
            </a:endParaRPr>
          </a:p>
        </p:txBody>
      </p:sp>
      <p:sp>
        <p:nvSpPr>
          <p:cNvPr id="26" name="TextBox 25">
            <a:extLst>
              <a:ext uri="{FF2B5EF4-FFF2-40B4-BE49-F238E27FC236}">
                <a16:creationId xmlns:a16="http://schemas.microsoft.com/office/drawing/2014/main" id="{53340A10-F665-41E0-8C46-560DFC29BBFD}"/>
              </a:ext>
            </a:extLst>
          </p:cNvPr>
          <p:cNvSpPr txBox="1"/>
          <p:nvPr/>
        </p:nvSpPr>
        <p:spPr>
          <a:xfrm>
            <a:off x="206046" y="5991706"/>
            <a:ext cx="11856655" cy="246221"/>
          </a:xfrm>
          <a:prstGeom prst="rect">
            <a:avLst/>
          </a:prstGeom>
          <a:noFill/>
        </p:spPr>
        <p:txBody>
          <a:bodyPr wrap="square">
            <a:spAutoFit/>
          </a:bodyPr>
          <a:lstStyle/>
          <a:p>
            <a:r>
              <a:rPr lang="en-US" sz="1000" dirty="0">
                <a:latin typeface="Agency FB" panose="020B0503020202020204" pitchFamily="34" charset="0"/>
              </a:rPr>
              <a:t>[12] J. L. </a:t>
            </a:r>
            <a:r>
              <a:rPr lang="en-US" sz="1000" dirty="0" err="1">
                <a:latin typeface="Agency FB" panose="020B0503020202020204" pitchFamily="34" charset="0"/>
              </a:rPr>
              <a:t>Herlocker</a:t>
            </a:r>
            <a:r>
              <a:rPr lang="en-US" sz="1000" dirty="0">
                <a:latin typeface="Agency FB" panose="020B0503020202020204" pitchFamily="34" charset="0"/>
              </a:rPr>
              <a:t>, J. A. </a:t>
            </a:r>
            <a:r>
              <a:rPr lang="en-US" sz="1000" dirty="0" err="1">
                <a:latin typeface="Agency FB" panose="020B0503020202020204" pitchFamily="34" charset="0"/>
              </a:rPr>
              <a:t>Konstan</a:t>
            </a:r>
            <a:r>
              <a:rPr lang="en-US" sz="1000" dirty="0">
                <a:latin typeface="Agency FB" panose="020B0503020202020204" pitchFamily="34" charset="0"/>
              </a:rPr>
              <a:t>, A. Borchers, and J. </a:t>
            </a:r>
            <a:r>
              <a:rPr lang="en-US" sz="1000" dirty="0" err="1">
                <a:latin typeface="Agency FB" panose="020B0503020202020204" pitchFamily="34" charset="0"/>
              </a:rPr>
              <a:t>Riedl</a:t>
            </a:r>
            <a:r>
              <a:rPr lang="en-US" sz="1000" dirty="0">
                <a:latin typeface="Agency FB" panose="020B0503020202020204" pitchFamily="34" charset="0"/>
              </a:rPr>
              <a:t>, "An Algorithmic Framework for Performing Collaborative Filtering," in Proc. 22nd Annual International ACM SIGIR Conference on Research and Development in Information Retrieval, Berkeley, CA, USA, 1999, pp. 230–237.</a:t>
            </a:r>
          </a:p>
        </p:txBody>
      </p:sp>
      <p:pic>
        <p:nvPicPr>
          <p:cNvPr id="29" name="Picture 28">
            <a:extLst>
              <a:ext uri="{FF2B5EF4-FFF2-40B4-BE49-F238E27FC236}">
                <a16:creationId xmlns:a16="http://schemas.microsoft.com/office/drawing/2014/main" id="{F7E69830-F4F6-4B53-9B7D-ED8A43E8541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7897"/>
            <a:ext cx="385680" cy="385680"/>
          </a:xfrm>
          <a:prstGeom prst="rect">
            <a:avLst/>
          </a:prstGeom>
        </p:spPr>
      </p:pic>
    </p:spTree>
    <p:extLst>
      <p:ext uri="{BB962C8B-B14F-4D97-AF65-F5344CB8AC3E}">
        <p14:creationId xmlns:p14="http://schemas.microsoft.com/office/powerpoint/2010/main" val="980741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Medium" pitchFamily="50" charset="0"/>
                <a:cs typeface="Times New Roman" panose="02020603050405020304" pitchFamily="18" charset="0"/>
              </a:rPr>
              <a:t>Recommendation Systems</a:t>
            </a:r>
            <a:endParaRPr lang="en-US" dirty="0">
              <a:latin typeface="Montserrat Medium" pitchFamily="50"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Problematic</a:t>
            </a:r>
            <a:endParaRPr lang="en-US" sz="2000" dirty="0">
              <a:latin typeface="Montserrat Medium" pitchFamily="50"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Contributions</a:t>
            </a:r>
            <a:endParaRPr lang="en-US" sz="2000" dirty="0">
              <a:latin typeface="Montserrat Medium" pitchFamily="50"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8" name="Picture 7">
            <a:extLst>
              <a:ext uri="{FF2B5EF4-FFF2-40B4-BE49-F238E27FC236}">
                <a16:creationId xmlns:a16="http://schemas.microsoft.com/office/drawing/2014/main" id="{74390545-AD9A-4652-88D6-9D20DFFD6A4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925160" y="1907316"/>
            <a:ext cx="6061320" cy="3043367"/>
          </a:xfrm>
          <a:prstGeom prst="rect">
            <a:avLst/>
          </a:prstGeom>
        </p:spPr>
      </p:pic>
      <p:sp>
        <p:nvSpPr>
          <p:cNvPr id="48" name="TextBox 47">
            <a:extLst>
              <a:ext uri="{FF2B5EF4-FFF2-40B4-BE49-F238E27FC236}">
                <a16:creationId xmlns:a16="http://schemas.microsoft.com/office/drawing/2014/main" id="{19CDF215-6C7A-4F8B-BD1E-4C5775F7C116}"/>
              </a:ext>
            </a:extLst>
          </p:cNvPr>
          <p:cNvSpPr txBox="1"/>
          <p:nvPr/>
        </p:nvSpPr>
        <p:spPr>
          <a:xfrm>
            <a:off x="233422" y="1384859"/>
            <a:ext cx="5272229" cy="4616648"/>
          </a:xfrm>
          <a:prstGeom prst="rect">
            <a:avLst/>
          </a:prstGeom>
          <a:noFill/>
        </p:spPr>
        <p:txBody>
          <a:bodyPr wrap="square">
            <a:spAutoFit/>
          </a:bodyPr>
          <a:lstStyle/>
          <a:p>
            <a:pPr algn="just"/>
            <a:r>
              <a:rPr lang="en-US" sz="2000" b="1" dirty="0">
                <a:latin typeface="Montserrat Medium" pitchFamily="50" charset="0"/>
              </a:rPr>
              <a:t>Hybrid Recommendation Approach</a:t>
            </a:r>
          </a:p>
          <a:p>
            <a:pPr algn="just"/>
            <a:endParaRPr lang="en-US" sz="2000" b="1"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Combines content-based and collaborative filtering methods.</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Uses both item features and user–item interaction data.</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Improves recommendation accuracy and reduces the weaknesses of individual methods.</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Can better handle issues such as limited data, overspecialization, and the cold-start problem.</a:t>
            </a:r>
          </a:p>
          <a:p>
            <a:pPr algn="just"/>
            <a:endParaRPr lang="en-US" sz="2000" b="1" dirty="0">
              <a:latin typeface="Montserrat Medium" pitchFamily="50" charset="0"/>
            </a:endParaRPr>
          </a:p>
        </p:txBody>
      </p:sp>
      <p:sp>
        <p:nvSpPr>
          <p:cNvPr id="25" name="TextBox 24">
            <a:extLst>
              <a:ext uri="{FF2B5EF4-FFF2-40B4-BE49-F238E27FC236}">
                <a16:creationId xmlns:a16="http://schemas.microsoft.com/office/drawing/2014/main" id="{7F3DB844-47E4-495B-BB94-F35627A077C5}"/>
              </a:ext>
            </a:extLst>
          </p:cNvPr>
          <p:cNvSpPr txBox="1"/>
          <p:nvPr/>
        </p:nvSpPr>
        <p:spPr>
          <a:xfrm>
            <a:off x="129299" y="6040803"/>
            <a:ext cx="11856655" cy="246221"/>
          </a:xfrm>
          <a:prstGeom prst="rect">
            <a:avLst/>
          </a:prstGeom>
          <a:noFill/>
        </p:spPr>
        <p:txBody>
          <a:bodyPr wrap="square">
            <a:spAutoFit/>
          </a:bodyPr>
          <a:lstStyle/>
          <a:p>
            <a:r>
              <a:rPr lang="en-US" sz="1000" dirty="0">
                <a:latin typeface="Agency FB" panose="020B0503020202020204" pitchFamily="34" charset="0"/>
              </a:rPr>
              <a:t>[13] R. Burke, "Hybrid Recommender Systems: Survey and Experiments," User Modeling and User-Adapted Interaction, vol. 12, no. 4, pp. 331–370, 2002.</a:t>
            </a:r>
          </a:p>
        </p:txBody>
      </p:sp>
      <p:pic>
        <p:nvPicPr>
          <p:cNvPr id="26" name="Picture 25">
            <a:extLst>
              <a:ext uri="{FF2B5EF4-FFF2-40B4-BE49-F238E27FC236}">
                <a16:creationId xmlns:a16="http://schemas.microsoft.com/office/drawing/2014/main" id="{4B3B0586-43D5-4DBF-B2B8-2D5727092A8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27" name="Picture 26">
            <a:extLst>
              <a:ext uri="{FF2B5EF4-FFF2-40B4-BE49-F238E27FC236}">
                <a16:creationId xmlns:a16="http://schemas.microsoft.com/office/drawing/2014/main" id="{F0925B44-5053-48B4-AB08-F47D85D5D3A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7897"/>
            <a:ext cx="385680" cy="385680"/>
          </a:xfrm>
          <a:prstGeom prst="rect">
            <a:avLst/>
          </a:prstGeom>
        </p:spPr>
      </p:pic>
    </p:spTree>
    <p:extLst>
      <p:ext uri="{BB962C8B-B14F-4D97-AF65-F5344CB8AC3E}">
        <p14:creationId xmlns:p14="http://schemas.microsoft.com/office/powerpoint/2010/main" val="2410135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Medium" pitchFamily="50" charset="0"/>
                <a:cs typeface="Times New Roman" panose="02020603050405020304" pitchFamily="18" charset="0"/>
              </a:rPr>
              <a:t>Recommendation Systems</a:t>
            </a:r>
            <a:endParaRPr lang="en-US" dirty="0">
              <a:latin typeface="Montserrat Medium" pitchFamily="50"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Problematic</a:t>
            </a:r>
            <a:endParaRPr lang="en-US" sz="2000" dirty="0">
              <a:latin typeface="Montserrat Medium" pitchFamily="50"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Contributions</a:t>
            </a:r>
            <a:endParaRPr lang="en-US" sz="2000" dirty="0">
              <a:latin typeface="Montserrat Medium" pitchFamily="50"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8" name="Picture 7">
            <a:extLst>
              <a:ext uri="{FF2B5EF4-FFF2-40B4-BE49-F238E27FC236}">
                <a16:creationId xmlns:a16="http://schemas.microsoft.com/office/drawing/2014/main" id="{74390545-AD9A-4652-88D6-9D20DFFD6A4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703912" y="1720580"/>
            <a:ext cx="6254666" cy="3968629"/>
          </a:xfrm>
          <a:prstGeom prst="rect">
            <a:avLst/>
          </a:prstGeom>
        </p:spPr>
      </p:pic>
      <p:sp>
        <p:nvSpPr>
          <p:cNvPr id="48" name="TextBox 47">
            <a:extLst>
              <a:ext uri="{FF2B5EF4-FFF2-40B4-BE49-F238E27FC236}">
                <a16:creationId xmlns:a16="http://schemas.microsoft.com/office/drawing/2014/main" id="{19CDF215-6C7A-4F8B-BD1E-4C5775F7C116}"/>
              </a:ext>
            </a:extLst>
          </p:cNvPr>
          <p:cNvSpPr txBox="1"/>
          <p:nvPr/>
        </p:nvSpPr>
        <p:spPr>
          <a:xfrm>
            <a:off x="233422" y="1955623"/>
            <a:ext cx="5310730" cy="4308872"/>
          </a:xfrm>
          <a:prstGeom prst="rect">
            <a:avLst/>
          </a:prstGeom>
          <a:noFill/>
        </p:spPr>
        <p:txBody>
          <a:bodyPr wrap="square">
            <a:spAutoFit/>
          </a:bodyPr>
          <a:lstStyle/>
          <a:p>
            <a:pPr algn="just"/>
            <a:endParaRPr lang="en-US" sz="2000" b="1"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Represents users, items, and their interactions as nodes and edges in a graph.</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Uses graph structure to discover relationships and multi-hop connections.</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Applies methods such as random walks, graph embeddings, or graph neural networks.</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Limitation: large graphs can require significant computation and memory.</a:t>
            </a:r>
          </a:p>
          <a:p>
            <a:pPr algn="just"/>
            <a:endParaRPr lang="en-US" sz="2000" b="1" dirty="0">
              <a:latin typeface="Montserrat Medium" pitchFamily="50" charset="0"/>
            </a:endParaRPr>
          </a:p>
        </p:txBody>
      </p:sp>
      <p:sp>
        <p:nvSpPr>
          <p:cNvPr id="25" name="TextBox 24">
            <a:extLst>
              <a:ext uri="{FF2B5EF4-FFF2-40B4-BE49-F238E27FC236}">
                <a16:creationId xmlns:a16="http://schemas.microsoft.com/office/drawing/2014/main" id="{796503E6-6FCE-4118-876B-2ED93EEC5B77}"/>
              </a:ext>
            </a:extLst>
          </p:cNvPr>
          <p:cNvSpPr txBox="1"/>
          <p:nvPr/>
        </p:nvSpPr>
        <p:spPr>
          <a:xfrm>
            <a:off x="233422" y="1384859"/>
            <a:ext cx="5862577" cy="400110"/>
          </a:xfrm>
          <a:prstGeom prst="rect">
            <a:avLst/>
          </a:prstGeom>
          <a:noFill/>
        </p:spPr>
        <p:txBody>
          <a:bodyPr wrap="square">
            <a:spAutoFit/>
          </a:bodyPr>
          <a:lstStyle/>
          <a:p>
            <a:pPr algn="just"/>
            <a:r>
              <a:rPr lang="en-US" sz="2000" b="1" dirty="0">
                <a:latin typeface="Montserrat Medium" pitchFamily="50" charset="0"/>
              </a:rPr>
              <a:t>Graph-Based Recommendation Systems</a:t>
            </a:r>
          </a:p>
        </p:txBody>
      </p:sp>
      <p:sp>
        <p:nvSpPr>
          <p:cNvPr id="27" name="TextBox 26">
            <a:extLst>
              <a:ext uri="{FF2B5EF4-FFF2-40B4-BE49-F238E27FC236}">
                <a16:creationId xmlns:a16="http://schemas.microsoft.com/office/drawing/2014/main" id="{BD8ACB24-6D46-4676-B76B-D9C453A7872A}"/>
              </a:ext>
            </a:extLst>
          </p:cNvPr>
          <p:cNvSpPr txBox="1"/>
          <p:nvPr/>
        </p:nvSpPr>
        <p:spPr>
          <a:xfrm>
            <a:off x="112790" y="6017039"/>
            <a:ext cx="11966417" cy="246221"/>
          </a:xfrm>
          <a:prstGeom prst="rect">
            <a:avLst/>
          </a:prstGeom>
          <a:noFill/>
        </p:spPr>
        <p:txBody>
          <a:bodyPr wrap="square">
            <a:spAutoFit/>
          </a:bodyPr>
          <a:lstStyle/>
          <a:p>
            <a:r>
              <a:rPr lang="en-US" sz="1000" dirty="0">
                <a:latin typeface="Agency FB" panose="020B0503020202020204" pitchFamily="34" charset="0"/>
              </a:rPr>
              <a:t>[14] X. Wu, X. He, A. K. Chua, and T.-S. Chua,  "A Survey on Graph Neural Networks for Recommender Systems,“  ACM Computing Surveys, vol. 57, no. 2, pp. 1–37, 2025.</a:t>
            </a:r>
          </a:p>
        </p:txBody>
      </p:sp>
      <p:pic>
        <p:nvPicPr>
          <p:cNvPr id="29" name="Picture 28">
            <a:extLst>
              <a:ext uri="{FF2B5EF4-FFF2-40B4-BE49-F238E27FC236}">
                <a16:creationId xmlns:a16="http://schemas.microsoft.com/office/drawing/2014/main" id="{998944D0-C2AD-4ACB-8C55-3770CF132AE6}"/>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30" name="Picture 29">
            <a:extLst>
              <a:ext uri="{FF2B5EF4-FFF2-40B4-BE49-F238E27FC236}">
                <a16:creationId xmlns:a16="http://schemas.microsoft.com/office/drawing/2014/main" id="{2644F42B-08FE-4769-9814-1815495390A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7897"/>
            <a:ext cx="385680" cy="385680"/>
          </a:xfrm>
          <a:prstGeom prst="rect">
            <a:avLst/>
          </a:prstGeom>
        </p:spPr>
      </p:pic>
    </p:spTree>
    <p:extLst>
      <p:ext uri="{BB962C8B-B14F-4D97-AF65-F5344CB8AC3E}">
        <p14:creationId xmlns:p14="http://schemas.microsoft.com/office/powerpoint/2010/main" val="4171469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Medium" pitchFamily="50" charset="0"/>
                <a:cs typeface="Times New Roman" panose="02020603050405020304" pitchFamily="18" charset="0"/>
              </a:rPr>
              <a:t>Recommendation Systems</a:t>
            </a:r>
            <a:endParaRPr lang="en-US" dirty="0">
              <a:latin typeface="Montserrat Medium" pitchFamily="50"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Problematic</a:t>
            </a:r>
            <a:endParaRPr lang="en-US" sz="2000" dirty="0">
              <a:latin typeface="Montserrat Medium" pitchFamily="50"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Medium" pitchFamily="50" charset="0"/>
                <a:cs typeface="Times New Roman" panose="02020603050405020304" pitchFamily="18" charset="0"/>
              </a:rPr>
              <a:t>Contributions</a:t>
            </a:r>
            <a:endParaRPr lang="en-US" sz="2000" dirty="0">
              <a:latin typeface="Montserrat Medium" pitchFamily="50"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8" name="Picture 7">
            <a:extLst>
              <a:ext uri="{FF2B5EF4-FFF2-40B4-BE49-F238E27FC236}">
                <a16:creationId xmlns:a16="http://schemas.microsoft.com/office/drawing/2014/main" id="{74390545-AD9A-4652-88D6-9D20DFFD6A42}"/>
              </a:ext>
            </a:extLst>
          </p:cNvPr>
          <p:cNvPicPr>
            <a:picLocks noChangeAspect="1"/>
          </p:cNvPicPr>
          <p:nvPr/>
        </p:nvPicPr>
        <p:blipFill rotWithShape="1">
          <a:blip r:embed="rId11">
            <a:extLst>
              <a:ext uri="{28A0092B-C50C-407E-A947-70E740481C1C}">
                <a14:useLocalDpi xmlns:a14="http://schemas.microsoft.com/office/drawing/2010/main" val="0"/>
              </a:ext>
            </a:extLst>
          </a:blip>
          <a:srcRect l="1247" t="12679" r="912" b="2275"/>
          <a:stretch/>
        </p:blipFill>
        <p:spPr>
          <a:xfrm>
            <a:off x="6675119" y="1373441"/>
            <a:ext cx="4957806" cy="4309431"/>
          </a:xfrm>
          <a:prstGeom prst="rect">
            <a:avLst/>
          </a:prstGeom>
        </p:spPr>
      </p:pic>
      <p:sp>
        <p:nvSpPr>
          <p:cNvPr id="48" name="TextBox 47">
            <a:extLst>
              <a:ext uri="{FF2B5EF4-FFF2-40B4-BE49-F238E27FC236}">
                <a16:creationId xmlns:a16="http://schemas.microsoft.com/office/drawing/2014/main" id="{19CDF215-6C7A-4F8B-BD1E-4C5775F7C116}"/>
              </a:ext>
            </a:extLst>
          </p:cNvPr>
          <p:cNvSpPr txBox="1"/>
          <p:nvPr/>
        </p:nvSpPr>
        <p:spPr>
          <a:xfrm>
            <a:off x="233422" y="1384859"/>
            <a:ext cx="5272229" cy="4585871"/>
          </a:xfrm>
          <a:prstGeom prst="rect">
            <a:avLst/>
          </a:prstGeom>
          <a:noFill/>
        </p:spPr>
        <p:txBody>
          <a:bodyPr wrap="square">
            <a:spAutoFit/>
          </a:bodyPr>
          <a:lstStyle/>
          <a:p>
            <a:pPr algn="just"/>
            <a:r>
              <a:rPr lang="en-US" sz="2000" b="1" dirty="0">
                <a:latin typeface="Montserrat Medium" pitchFamily="50" charset="0"/>
              </a:rPr>
              <a:t>Cold-Start Problem</a:t>
            </a:r>
          </a:p>
          <a:p>
            <a:pPr algn="just"/>
            <a:endParaRPr lang="en-US" sz="2000" b="1"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Occurs when the system has insufficient data about a new user or item.</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User cold start: no interaction history is available for generating personalized recommendations.</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Item cold start: a new item has not yet received enough interactions or ratings.</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Common solutions include onboarding questions, demographic data, item features, and hybrid recommendation methods.</a:t>
            </a:r>
          </a:p>
        </p:txBody>
      </p:sp>
      <p:sp>
        <p:nvSpPr>
          <p:cNvPr id="26" name="TextBox 25">
            <a:extLst>
              <a:ext uri="{FF2B5EF4-FFF2-40B4-BE49-F238E27FC236}">
                <a16:creationId xmlns:a16="http://schemas.microsoft.com/office/drawing/2014/main" id="{A4A94EEB-37D3-4954-B1DD-BD3BFB4BE165}"/>
              </a:ext>
            </a:extLst>
          </p:cNvPr>
          <p:cNvSpPr txBox="1"/>
          <p:nvPr/>
        </p:nvSpPr>
        <p:spPr>
          <a:xfrm>
            <a:off x="129299" y="5907009"/>
            <a:ext cx="11983730" cy="400110"/>
          </a:xfrm>
          <a:prstGeom prst="rect">
            <a:avLst/>
          </a:prstGeom>
          <a:noFill/>
        </p:spPr>
        <p:txBody>
          <a:bodyPr wrap="square">
            <a:spAutoFit/>
          </a:bodyPr>
          <a:lstStyle/>
          <a:p>
            <a:pPr algn="just"/>
            <a:r>
              <a:rPr lang="en-US" sz="1000" dirty="0">
                <a:latin typeface="Agency FB" panose="020B0503020202020204" pitchFamily="34" charset="0"/>
              </a:rPr>
              <a:t>[15] M. </a:t>
            </a:r>
            <a:r>
              <a:rPr lang="en-US" sz="1000" dirty="0" err="1">
                <a:latin typeface="Agency FB" panose="020B0503020202020204" pitchFamily="34" charset="0"/>
              </a:rPr>
              <a:t>Kolli</a:t>
            </a:r>
            <a:r>
              <a:rPr lang="en-US" sz="1000" dirty="0">
                <a:latin typeface="Agency FB" panose="020B0503020202020204" pitchFamily="34" charset="0"/>
              </a:rPr>
              <a:t>, L. D. </a:t>
            </a:r>
            <a:r>
              <a:rPr lang="en-US" sz="1000" dirty="0" err="1">
                <a:latin typeface="Agency FB" panose="020B0503020202020204" pitchFamily="34" charset="0"/>
              </a:rPr>
              <a:t>Mukil</a:t>
            </a:r>
            <a:r>
              <a:rPr lang="en-US" sz="1000" dirty="0">
                <a:latin typeface="Agency FB" panose="020B0503020202020204" pitchFamily="34" charset="0"/>
              </a:rPr>
              <a:t>, N. </a:t>
            </a:r>
            <a:r>
              <a:rPr lang="en-US" sz="1000" dirty="0" err="1">
                <a:latin typeface="Agency FB" panose="020B0503020202020204" pitchFamily="34" charset="0"/>
              </a:rPr>
              <a:t>Kartthikeyan</a:t>
            </a:r>
            <a:r>
              <a:rPr lang="en-US" sz="1000" dirty="0">
                <a:latin typeface="Agency FB" panose="020B0503020202020204" pitchFamily="34" charset="0"/>
              </a:rPr>
              <a:t>, M. </a:t>
            </a:r>
            <a:r>
              <a:rPr lang="en-US" sz="1000" dirty="0" err="1">
                <a:latin typeface="Agency FB" panose="020B0503020202020204" pitchFamily="34" charset="0"/>
              </a:rPr>
              <a:t>Pranavkrishnan</a:t>
            </a:r>
            <a:r>
              <a:rPr lang="en-US" sz="1000" dirty="0">
                <a:latin typeface="Agency FB" panose="020B0503020202020204" pitchFamily="34" charset="0"/>
              </a:rPr>
              <a:t>, N. Sampath, and P. C. Nair, "Addressing the Cold Start Challenge through the Implementation of Content-Based Filtering and Hybrid Filtering for Movie Recommendation," in Proc. 15th International Conference on Computing Communication and Networking Technologies (ICCCNT), IEEE, 2024.</a:t>
            </a:r>
          </a:p>
        </p:txBody>
      </p:sp>
      <p:pic>
        <p:nvPicPr>
          <p:cNvPr id="27" name="Picture 26">
            <a:extLst>
              <a:ext uri="{FF2B5EF4-FFF2-40B4-BE49-F238E27FC236}">
                <a16:creationId xmlns:a16="http://schemas.microsoft.com/office/drawing/2014/main" id="{E0B36350-2F4C-470C-AF4C-2940A8F0DF15}"/>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29" name="Picture 28">
            <a:extLst>
              <a:ext uri="{FF2B5EF4-FFF2-40B4-BE49-F238E27FC236}">
                <a16:creationId xmlns:a16="http://schemas.microsoft.com/office/drawing/2014/main" id="{8DFEC27D-C378-4373-8DCF-33A46742C838}"/>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7897"/>
            <a:ext cx="385680" cy="385680"/>
          </a:xfrm>
          <a:prstGeom prst="rect">
            <a:avLst/>
          </a:prstGeom>
        </p:spPr>
      </p:pic>
    </p:spTree>
    <p:extLst>
      <p:ext uri="{BB962C8B-B14F-4D97-AF65-F5344CB8AC3E}">
        <p14:creationId xmlns:p14="http://schemas.microsoft.com/office/powerpoint/2010/main" val="2268848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dirty="0">
                <a:latin typeface="Montserrat" pitchFamily="2" charset="0"/>
                <a:cs typeface="Times New Roman" panose="02020603050405020304" pitchFamily="18" charset="0"/>
              </a:rPr>
              <a:t>Recommendation Systems</a:t>
            </a:r>
            <a:endParaRPr lang="en-US" dirty="0">
              <a:latin typeface="Montserrat" pitchFamily="2"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Problematic &amp; Objectives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Contributions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cxnSp>
        <p:nvCxnSpPr>
          <p:cNvPr id="8" name="Straight Arrow Connector 7">
            <a:extLst>
              <a:ext uri="{FF2B5EF4-FFF2-40B4-BE49-F238E27FC236}">
                <a16:creationId xmlns:a16="http://schemas.microsoft.com/office/drawing/2014/main" id="{E11DC880-E540-4C8F-8596-197D1417314A}"/>
              </a:ext>
            </a:extLst>
          </p:cNvPr>
          <p:cNvCxnSpPr>
            <a:cxnSpLocks/>
          </p:cNvCxnSpPr>
          <p:nvPr/>
        </p:nvCxnSpPr>
        <p:spPr>
          <a:xfrm flipV="1">
            <a:off x="6275376" y="1262946"/>
            <a:ext cx="1" cy="431178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6" name="Straight Arrow Connector 45">
            <a:extLst>
              <a:ext uri="{FF2B5EF4-FFF2-40B4-BE49-F238E27FC236}">
                <a16:creationId xmlns:a16="http://schemas.microsoft.com/office/drawing/2014/main" id="{A74E5194-AC44-4E2A-8795-9D2516FD7D04}"/>
              </a:ext>
            </a:extLst>
          </p:cNvPr>
          <p:cNvCxnSpPr>
            <a:cxnSpLocks/>
          </p:cNvCxnSpPr>
          <p:nvPr/>
        </p:nvCxnSpPr>
        <p:spPr>
          <a:xfrm flipV="1">
            <a:off x="628581" y="3635185"/>
            <a:ext cx="11331503"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Rectangle: Rounded Corners 20">
            <a:extLst>
              <a:ext uri="{FF2B5EF4-FFF2-40B4-BE49-F238E27FC236}">
                <a16:creationId xmlns:a16="http://schemas.microsoft.com/office/drawing/2014/main" id="{F00596E0-CB1C-4208-8FBD-C6DAC8D26684}"/>
              </a:ext>
            </a:extLst>
          </p:cNvPr>
          <p:cNvSpPr/>
          <p:nvPr/>
        </p:nvSpPr>
        <p:spPr>
          <a:xfrm>
            <a:off x="760397" y="1457051"/>
            <a:ext cx="5023536" cy="17362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Montserrat Medium" pitchFamily="50" charset="0"/>
              </a:rPr>
              <a:t>Graph-based recommender systems deliver strong performance, but they often remain black boxes that are difficult to explain.</a:t>
            </a:r>
          </a:p>
        </p:txBody>
      </p:sp>
      <p:sp>
        <p:nvSpPr>
          <p:cNvPr id="48" name="Rectangle: Rounded Corners 47">
            <a:extLst>
              <a:ext uri="{FF2B5EF4-FFF2-40B4-BE49-F238E27FC236}">
                <a16:creationId xmlns:a16="http://schemas.microsoft.com/office/drawing/2014/main" id="{9F3A4C28-6C11-4B31-88AC-79DD5B8BBD0A}"/>
              </a:ext>
            </a:extLst>
          </p:cNvPr>
          <p:cNvSpPr/>
          <p:nvPr/>
        </p:nvSpPr>
        <p:spPr>
          <a:xfrm>
            <a:off x="6686501" y="1414281"/>
            <a:ext cx="5023535" cy="17690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Montserrat Medium" pitchFamily="50" charset="0"/>
              </a:rPr>
              <a:t>Existing </a:t>
            </a:r>
            <a:r>
              <a:rPr lang="en-US" dirty="0" err="1">
                <a:latin typeface="Montserrat Medium" pitchFamily="50" charset="0"/>
              </a:rPr>
              <a:t>explainability</a:t>
            </a:r>
            <a:r>
              <a:rPr lang="en-US" dirty="0">
                <a:latin typeface="Montserrat Medium" pitchFamily="50" charset="0"/>
              </a:rPr>
              <a:t> methods are often post hoc and weakly integrated into the recommendation process [11].</a:t>
            </a:r>
          </a:p>
        </p:txBody>
      </p:sp>
      <p:sp>
        <p:nvSpPr>
          <p:cNvPr id="50" name="Rectangle: Rounded Corners 49">
            <a:extLst>
              <a:ext uri="{FF2B5EF4-FFF2-40B4-BE49-F238E27FC236}">
                <a16:creationId xmlns:a16="http://schemas.microsoft.com/office/drawing/2014/main" id="{9B199FF6-78FD-40C5-BB4B-8CEDCCC44F79}"/>
              </a:ext>
            </a:extLst>
          </p:cNvPr>
          <p:cNvSpPr/>
          <p:nvPr/>
        </p:nvSpPr>
        <p:spPr>
          <a:xfrm>
            <a:off x="760397" y="3731755"/>
            <a:ext cx="5023536" cy="17362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Montserrat Medium" pitchFamily="50" charset="0"/>
              </a:rPr>
              <a:t>User preferences evolve over time, but most models struggle to adapt to these changes [12].</a:t>
            </a:r>
          </a:p>
        </p:txBody>
      </p:sp>
      <p:sp>
        <p:nvSpPr>
          <p:cNvPr id="55" name="Rectangle: Rounded Corners 54">
            <a:extLst>
              <a:ext uri="{FF2B5EF4-FFF2-40B4-BE49-F238E27FC236}">
                <a16:creationId xmlns:a16="http://schemas.microsoft.com/office/drawing/2014/main" id="{33DB0DE8-5F29-408B-8F64-AD0C2E906009}"/>
              </a:ext>
            </a:extLst>
          </p:cNvPr>
          <p:cNvSpPr/>
          <p:nvPr/>
        </p:nvSpPr>
        <p:spPr>
          <a:xfrm>
            <a:off x="6700199" y="3725378"/>
            <a:ext cx="5026449" cy="17426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Montserrat Medium" pitchFamily="50" charset="0"/>
              </a:rPr>
              <a:t>Hierarchical structures, categories, subcategories, and taxonomies  are poorly represented in conventional Euclidean spaces.</a:t>
            </a:r>
          </a:p>
        </p:txBody>
      </p:sp>
      <p:sp>
        <p:nvSpPr>
          <p:cNvPr id="56" name="TextBox 55">
            <a:extLst>
              <a:ext uri="{FF2B5EF4-FFF2-40B4-BE49-F238E27FC236}">
                <a16:creationId xmlns:a16="http://schemas.microsoft.com/office/drawing/2014/main" id="{94C69545-6BF7-4D96-9F0E-6891C734D42B}"/>
              </a:ext>
            </a:extLst>
          </p:cNvPr>
          <p:cNvSpPr txBox="1"/>
          <p:nvPr/>
        </p:nvSpPr>
        <p:spPr>
          <a:xfrm>
            <a:off x="646477" y="3274940"/>
            <a:ext cx="11331503" cy="338554"/>
          </a:xfrm>
          <a:prstGeom prst="rect">
            <a:avLst/>
          </a:prstGeom>
          <a:noFill/>
        </p:spPr>
        <p:txBody>
          <a:bodyPr wrap="square">
            <a:spAutoFit/>
          </a:bodyPr>
          <a:lstStyle/>
          <a:p>
            <a:pPr algn="just"/>
            <a:r>
              <a:rPr lang="en-US" sz="1600" dirty="0">
                <a:highlight>
                  <a:srgbClr val="FFFF00"/>
                </a:highlight>
                <a:latin typeface="Montserrat Medium" pitchFamily="50" charset="0"/>
              </a:rPr>
              <a:t>Design a unified framework combining accuracy, </a:t>
            </a:r>
            <a:r>
              <a:rPr lang="en-US" sz="1600" dirty="0" err="1">
                <a:highlight>
                  <a:srgbClr val="FFFF00"/>
                </a:highlight>
                <a:latin typeface="Montserrat Medium" pitchFamily="50" charset="0"/>
              </a:rPr>
              <a:t>explainability</a:t>
            </a:r>
            <a:r>
              <a:rPr lang="en-US" sz="1600" dirty="0">
                <a:highlight>
                  <a:srgbClr val="FFFF00"/>
                </a:highlight>
                <a:latin typeface="Montserrat Medium" pitchFamily="50" charset="0"/>
              </a:rPr>
              <a:t>, adaptability, and hierarchical modeling</a:t>
            </a:r>
            <a:r>
              <a:rPr lang="en-US" sz="1600" dirty="0">
                <a:highlight>
                  <a:srgbClr val="FFFF00"/>
                </a:highlight>
                <a:latin typeface="Montserrat" pitchFamily="2" charset="0"/>
              </a:rPr>
              <a:t>.</a:t>
            </a:r>
          </a:p>
        </p:txBody>
      </p:sp>
      <p:sp>
        <p:nvSpPr>
          <p:cNvPr id="31" name="Rectangle 30">
            <a:extLst>
              <a:ext uri="{FF2B5EF4-FFF2-40B4-BE49-F238E27FC236}">
                <a16:creationId xmlns:a16="http://schemas.microsoft.com/office/drawing/2014/main" id="{F58A1C1D-9D53-472C-A8B4-561F3BB6002B}"/>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F700640C-AB5F-453D-81BB-85E9B9A494E5}"/>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F240148E-19CC-4FEF-B2D6-5239E7968B3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7" name="Rectangle 56">
            <a:extLst>
              <a:ext uri="{FF2B5EF4-FFF2-40B4-BE49-F238E27FC236}">
                <a16:creationId xmlns:a16="http://schemas.microsoft.com/office/drawing/2014/main" id="{14B64A51-CBDD-4B17-80D3-BA3980E4E01B}"/>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8" name="Rectangle 57">
            <a:extLst>
              <a:ext uri="{FF2B5EF4-FFF2-40B4-BE49-F238E27FC236}">
                <a16:creationId xmlns:a16="http://schemas.microsoft.com/office/drawing/2014/main" id="{4B7C1F3B-1585-4BD0-9C87-F1B2A27AB92A}"/>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9" name="Picture 58">
            <a:extLst>
              <a:ext uri="{FF2B5EF4-FFF2-40B4-BE49-F238E27FC236}">
                <a16:creationId xmlns:a16="http://schemas.microsoft.com/office/drawing/2014/main" id="{D94A3F85-5C5D-4337-B79B-0C12790F128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60" name="Picture 59">
            <a:extLst>
              <a:ext uri="{FF2B5EF4-FFF2-40B4-BE49-F238E27FC236}">
                <a16:creationId xmlns:a16="http://schemas.microsoft.com/office/drawing/2014/main" id="{94B7D297-2849-4430-9801-13B44ACFB3D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61" name="Picture 60">
            <a:extLst>
              <a:ext uri="{FF2B5EF4-FFF2-40B4-BE49-F238E27FC236}">
                <a16:creationId xmlns:a16="http://schemas.microsoft.com/office/drawing/2014/main" id="{548AAFDE-526B-425A-A36B-88401F83D39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62" name="Picture 61">
            <a:extLst>
              <a:ext uri="{FF2B5EF4-FFF2-40B4-BE49-F238E27FC236}">
                <a16:creationId xmlns:a16="http://schemas.microsoft.com/office/drawing/2014/main" id="{96557B0B-B434-4E4F-8262-49EDD33CA66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63" name="Picture 62">
            <a:extLst>
              <a:ext uri="{FF2B5EF4-FFF2-40B4-BE49-F238E27FC236}">
                <a16:creationId xmlns:a16="http://schemas.microsoft.com/office/drawing/2014/main" id="{0DA0CA33-EB29-4E31-9968-D27391C0DE0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4" name="Rectangle 63">
            <a:extLst>
              <a:ext uri="{FF2B5EF4-FFF2-40B4-BE49-F238E27FC236}">
                <a16:creationId xmlns:a16="http://schemas.microsoft.com/office/drawing/2014/main" id="{77241F22-7ABE-42D9-8A8C-2AA022DAEA6B}"/>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5" name="Picture 64">
            <a:extLst>
              <a:ext uri="{FF2B5EF4-FFF2-40B4-BE49-F238E27FC236}">
                <a16:creationId xmlns:a16="http://schemas.microsoft.com/office/drawing/2014/main" id="{A45F3238-BED7-4877-841F-1037973F3AF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6" name="Rectangle 65">
            <a:extLst>
              <a:ext uri="{FF2B5EF4-FFF2-40B4-BE49-F238E27FC236}">
                <a16:creationId xmlns:a16="http://schemas.microsoft.com/office/drawing/2014/main" id="{511478AC-01BD-441C-BAF1-CB02E403DF4E}"/>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7" name="Picture 66">
            <a:extLst>
              <a:ext uri="{FF2B5EF4-FFF2-40B4-BE49-F238E27FC236}">
                <a16:creationId xmlns:a16="http://schemas.microsoft.com/office/drawing/2014/main" id="{B2EC55CD-4CEE-474B-ABF1-FB7E2EB0C3A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2" name="TextBox 31">
            <a:extLst>
              <a:ext uri="{FF2B5EF4-FFF2-40B4-BE49-F238E27FC236}">
                <a16:creationId xmlns:a16="http://schemas.microsoft.com/office/drawing/2014/main" id="{2FB98C0B-1676-47F8-BCE4-4728C6C491CE}"/>
              </a:ext>
            </a:extLst>
          </p:cNvPr>
          <p:cNvSpPr txBox="1"/>
          <p:nvPr/>
        </p:nvSpPr>
        <p:spPr>
          <a:xfrm>
            <a:off x="746697" y="5936089"/>
            <a:ext cx="11879607" cy="400110"/>
          </a:xfrm>
          <a:prstGeom prst="rect">
            <a:avLst/>
          </a:prstGeom>
          <a:noFill/>
        </p:spPr>
        <p:txBody>
          <a:bodyPr wrap="square">
            <a:spAutoFit/>
          </a:bodyPr>
          <a:lstStyle/>
          <a:p>
            <a:r>
              <a:rPr lang="en-US" sz="1000" dirty="0">
                <a:latin typeface="Agency FB" panose="020B0503020202020204" pitchFamily="34" charset="0"/>
              </a:rPr>
              <a:t>[11] A. Kamal, A. </a:t>
            </a:r>
            <a:r>
              <a:rPr lang="en-US" sz="1000" dirty="0" err="1">
                <a:latin typeface="Agency FB" panose="020B0503020202020204" pitchFamily="34" charset="0"/>
              </a:rPr>
              <a:t>Ragno</a:t>
            </a:r>
            <a:r>
              <a:rPr lang="en-US" sz="1000" dirty="0">
                <a:latin typeface="Agency FB" panose="020B0503020202020204" pitchFamily="34" charset="0"/>
              </a:rPr>
              <a:t>, M. </a:t>
            </a:r>
            <a:r>
              <a:rPr lang="en-US" sz="1000" dirty="0" err="1">
                <a:latin typeface="Agency FB" panose="020B0503020202020204" pitchFamily="34" charset="0"/>
              </a:rPr>
              <a:t>Plantevit</a:t>
            </a:r>
            <a:r>
              <a:rPr lang="en-US" sz="1000" dirty="0">
                <a:latin typeface="Agency FB" panose="020B0503020202020204" pitchFamily="34" charset="0"/>
              </a:rPr>
              <a:t>, et al., "Leveraging Internal Representations of GNNs With Shapley Values," </a:t>
            </a:r>
            <a:r>
              <a:rPr lang="en-US" sz="1000" i="1" dirty="0">
                <a:latin typeface="Agency FB" panose="020B0503020202020204" pitchFamily="34" charset="0"/>
              </a:rPr>
              <a:t>Data Min. </a:t>
            </a:r>
            <a:r>
              <a:rPr lang="en-US" sz="1000" i="1" dirty="0" err="1">
                <a:latin typeface="Agency FB" panose="020B0503020202020204" pitchFamily="34" charset="0"/>
              </a:rPr>
              <a:t>Knowl</a:t>
            </a:r>
            <a:r>
              <a:rPr lang="en-US" sz="1000" i="1" dirty="0">
                <a:latin typeface="Agency FB" panose="020B0503020202020204" pitchFamily="34" charset="0"/>
              </a:rPr>
              <a:t>. </a:t>
            </a:r>
            <a:r>
              <a:rPr lang="en-US" sz="1000" i="1" dirty="0" err="1">
                <a:latin typeface="Agency FB" panose="020B0503020202020204" pitchFamily="34" charset="0"/>
              </a:rPr>
              <a:t>Discov</a:t>
            </a:r>
            <a:r>
              <a:rPr lang="en-US" sz="1000" i="1" dirty="0">
                <a:latin typeface="Agency FB" panose="020B0503020202020204" pitchFamily="34" charset="0"/>
              </a:rPr>
              <a:t>.</a:t>
            </a:r>
            <a:r>
              <a:rPr lang="en-US" sz="1000" dirty="0">
                <a:latin typeface="Agency FB" panose="020B0503020202020204" pitchFamily="34" charset="0"/>
              </a:rPr>
              <a:t>, vol. 39, no. 89, 2025. </a:t>
            </a:r>
          </a:p>
          <a:p>
            <a:r>
              <a:rPr lang="en-US" sz="1000" dirty="0">
                <a:latin typeface="Agency FB" panose="020B0503020202020204" pitchFamily="34" charset="0"/>
              </a:rPr>
              <a:t>[12] L. Wu, D. Hao, and Z. Fan, "Explainable Graph Neural Networks via Structural Externalities," in Proc. 34th Int. Joint Conf. </a:t>
            </a:r>
            <a:r>
              <a:rPr lang="en-US" sz="1000" dirty="0" err="1">
                <a:latin typeface="Agency FB" panose="020B0503020202020204" pitchFamily="34" charset="0"/>
              </a:rPr>
              <a:t>Artif</a:t>
            </a:r>
            <a:r>
              <a:rPr lang="en-US" sz="1000" dirty="0">
                <a:latin typeface="Agency FB" panose="020B0503020202020204" pitchFamily="34" charset="0"/>
              </a:rPr>
              <a:t>. </a:t>
            </a:r>
            <a:r>
              <a:rPr lang="en-US" sz="1000" dirty="0" err="1">
                <a:latin typeface="Agency FB" panose="020B0503020202020204" pitchFamily="34" charset="0"/>
              </a:rPr>
              <a:t>Intell</a:t>
            </a:r>
            <a:r>
              <a:rPr lang="en-US" sz="1000" dirty="0">
                <a:latin typeface="Agency FB" panose="020B0503020202020204" pitchFamily="34" charset="0"/>
              </a:rPr>
              <a:t>. (IJCAI), 2025, pp. 583–591.</a:t>
            </a:r>
          </a:p>
        </p:txBody>
      </p:sp>
      <p:pic>
        <p:nvPicPr>
          <p:cNvPr id="33" name="Picture 32">
            <a:extLst>
              <a:ext uri="{FF2B5EF4-FFF2-40B4-BE49-F238E27FC236}">
                <a16:creationId xmlns:a16="http://schemas.microsoft.com/office/drawing/2014/main" id="{2F436D20-123B-449F-BF34-B9A894E539B9}"/>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5" name="Picture 34">
            <a:extLst>
              <a:ext uri="{FF2B5EF4-FFF2-40B4-BE49-F238E27FC236}">
                <a16:creationId xmlns:a16="http://schemas.microsoft.com/office/drawing/2014/main" id="{240B252C-6B06-45AB-9B44-52B7C0C1D604}"/>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7897"/>
            <a:ext cx="385680" cy="385680"/>
          </a:xfrm>
          <a:prstGeom prst="rect">
            <a:avLst/>
          </a:prstGeom>
        </p:spPr>
      </p:pic>
    </p:spTree>
    <p:extLst>
      <p:ext uri="{BB962C8B-B14F-4D97-AF65-F5344CB8AC3E}">
        <p14:creationId xmlns:p14="http://schemas.microsoft.com/office/powerpoint/2010/main" val="812666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lowchart: Process 74">
            <a:extLst>
              <a:ext uri="{FF2B5EF4-FFF2-40B4-BE49-F238E27FC236}">
                <a16:creationId xmlns:a16="http://schemas.microsoft.com/office/drawing/2014/main" id="{845442B2-82CF-4CC2-9DED-E5AA61F3C20D}"/>
              </a:ext>
            </a:extLst>
          </p:cNvPr>
          <p:cNvSpPr/>
          <p:nvPr/>
        </p:nvSpPr>
        <p:spPr>
          <a:xfrm>
            <a:off x="9660048" y="2678620"/>
            <a:ext cx="2874703" cy="164121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02230"/>
            <a:ext cx="3489689"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dirty="0">
                <a:latin typeface="Montserrat" pitchFamily="2" charset="0"/>
                <a:cs typeface="Times New Roman" panose="02020603050405020304" pitchFamily="18" charset="0"/>
              </a:rPr>
              <a:t>Recommendation Systems</a:t>
            </a:r>
            <a:endParaRPr lang="en-US" dirty="0">
              <a:latin typeface="Montserrat" pitchFamily="2" charset="0"/>
            </a:endParaRPr>
          </a:p>
          <a:p>
            <a:pPr algn="ctr"/>
            <a:endParaRPr lang="en-US" sz="14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Problematic &amp; Objectives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8498134" y="715328"/>
            <a:ext cx="3614895"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Contributions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Context and Problematic</a:t>
            </a:r>
          </a:p>
        </p:txBody>
      </p:sp>
      <p:sp>
        <p:nvSpPr>
          <p:cNvPr id="46" name="Rectangle 45">
            <a:extLst>
              <a:ext uri="{FF2B5EF4-FFF2-40B4-BE49-F238E27FC236}">
                <a16:creationId xmlns:a16="http://schemas.microsoft.com/office/drawing/2014/main" id="{D41C82DA-7F7B-4421-8C09-E4F5B9C46D11}"/>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3BF7F6B7-9042-4F82-9E45-5169AF9395D6}"/>
              </a:ext>
            </a:extLst>
          </p:cNvPr>
          <p:cNvSpPr/>
          <p:nvPr/>
        </p:nvSpPr>
        <p:spPr>
          <a:xfrm>
            <a:off x="760397" y="82458"/>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CD59CEE6-AA41-4C51-A09A-0AE8CE1AE921}"/>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5" name="Rectangle 54">
            <a:extLst>
              <a:ext uri="{FF2B5EF4-FFF2-40B4-BE49-F238E27FC236}">
                <a16:creationId xmlns:a16="http://schemas.microsoft.com/office/drawing/2014/main" id="{2CD4F068-40EF-486A-9F7C-F4E355D587F6}"/>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6" name="Rectangle 55">
            <a:extLst>
              <a:ext uri="{FF2B5EF4-FFF2-40B4-BE49-F238E27FC236}">
                <a16:creationId xmlns:a16="http://schemas.microsoft.com/office/drawing/2014/main" id="{5EC96A16-33D5-410B-B65B-EAACAAB47500}"/>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7" name="Picture 56">
            <a:extLst>
              <a:ext uri="{FF2B5EF4-FFF2-40B4-BE49-F238E27FC236}">
                <a16:creationId xmlns:a16="http://schemas.microsoft.com/office/drawing/2014/main" id="{26FAA08A-D709-45AF-BD25-497B4C013E5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8" name="Picture 57">
            <a:extLst>
              <a:ext uri="{FF2B5EF4-FFF2-40B4-BE49-F238E27FC236}">
                <a16:creationId xmlns:a16="http://schemas.microsoft.com/office/drawing/2014/main" id="{1A629074-140B-42C8-ABB5-24CF551392D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9" name="Picture 58">
            <a:extLst>
              <a:ext uri="{FF2B5EF4-FFF2-40B4-BE49-F238E27FC236}">
                <a16:creationId xmlns:a16="http://schemas.microsoft.com/office/drawing/2014/main" id="{0877C668-95CC-4064-B3B7-BF227BF48B6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60" name="Picture 59">
            <a:extLst>
              <a:ext uri="{FF2B5EF4-FFF2-40B4-BE49-F238E27FC236}">
                <a16:creationId xmlns:a16="http://schemas.microsoft.com/office/drawing/2014/main" id="{AA1DF56D-3171-4FEB-886D-ECDD22ADC76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61" name="Picture 60">
            <a:extLst>
              <a:ext uri="{FF2B5EF4-FFF2-40B4-BE49-F238E27FC236}">
                <a16:creationId xmlns:a16="http://schemas.microsoft.com/office/drawing/2014/main" id="{B5941AF8-FAD9-4782-844D-4CFBABB8403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2" name="Rectangle 61">
            <a:extLst>
              <a:ext uri="{FF2B5EF4-FFF2-40B4-BE49-F238E27FC236}">
                <a16:creationId xmlns:a16="http://schemas.microsoft.com/office/drawing/2014/main" id="{49F58944-3DCC-457D-B460-911456419C05}"/>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BF9E8B56-E2AD-42DF-A506-0C1D6CAAB88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4" name="Rectangle 63">
            <a:extLst>
              <a:ext uri="{FF2B5EF4-FFF2-40B4-BE49-F238E27FC236}">
                <a16:creationId xmlns:a16="http://schemas.microsoft.com/office/drawing/2014/main" id="{A65216D9-20F6-4E0A-BF14-7C699A9ECAA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5" name="Picture 64">
            <a:extLst>
              <a:ext uri="{FF2B5EF4-FFF2-40B4-BE49-F238E27FC236}">
                <a16:creationId xmlns:a16="http://schemas.microsoft.com/office/drawing/2014/main" id="{AF0F2667-7F9E-4C1D-B4BA-0D889FBE556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8" name="Arrow: Pentagon 37">
            <a:extLst>
              <a:ext uri="{FF2B5EF4-FFF2-40B4-BE49-F238E27FC236}">
                <a16:creationId xmlns:a16="http://schemas.microsoft.com/office/drawing/2014/main" id="{7CE8C6F7-4D2E-4502-9A2C-C3468A1A79A2}"/>
              </a:ext>
            </a:extLst>
          </p:cNvPr>
          <p:cNvSpPr/>
          <p:nvPr/>
        </p:nvSpPr>
        <p:spPr>
          <a:xfrm>
            <a:off x="237543" y="2678621"/>
            <a:ext cx="2065619" cy="1641217"/>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500" dirty="0">
                <a:latin typeface="Montserrat Medium" pitchFamily="50" charset="0"/>
              </a:rPr>
              <a:t>Graph-based collaborative filtering with a </a:t>
            </a:r>
            <a:r>
              <a:rPr lang="en-US" sz="1500" dirty="0" err="1">
                <a:latin typeface="Montserrat Medium" pitchFamily="50" charset="0"/>
              </a:rPr>
              <a:t>LightGCN</a:t>
            </a:r>
            <a:r>
              <a:rPr lang="en-US" sz="1500" dirty="0">
                <a:latin typeface="Montserrat Medium" pitchFamily="50" charset="0"/>
              </a:rPr>
              <a:t> style recommender</a:t>
            </a:r>
          </a:p>
        </p:txBody>
      </p:sp>
      <p:sp>
        <p:nvSpPr>
          <p:cNvPr id="42" name="Arrow: Chevron 41">
            <a:extLst>
              <a:ext uri="{FF2B5EF4-FFF2-40B4-BE49-F238E27FC236}">
                <a16:creationId xmlns:a16="http://schemas.microsoft.com/office/drawing/2014/main" id="{C263EE7B-6648-4680-8269-0F3B723F17BF}"/>
              </a:ext>
            </a:extLst>
          </p:cNvPr>
          <p:cNvSpPr/>
          <p:nvPr/>
        </p:nvSpPr>
        <p:spPr>
          <a:xfrm>
            <a:off x="1544947" y="2678620"/>
            <a:ext cx="3029419" cy="16412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500" dirty="0">
                <a:latin typeface="Montserrat Medium" pitchFamily="50" charset="0"/>
              </a:rPr>
              <a:t>Shapley-value-based explanation of historical user-item interactions</a:t>
            </a:r>
          </a:p>
        </p:txBody>
      </p:sp>
      <p:sp>
        <p:nvSpPr>
          <p:cNvPr id="70" name="Arrow: Chevron 69">
            <a:extLst>
              <a:ext uri="{FF2B5EF4-FFF2-40B4-BE49-F238E27FC236}">
                <a16:creationId xmlns:a16="http://schemas.microsoft.com/office/drawing/2014/main" id="{B597B477-A3E4-4C47-ACCE-2690DBD07D30}"/>
              </a:ext>
            </a:extLst>
          </p:cNvPr>
          <p:cNvSpPr/>
          <p:nvPr/>
        </p:nvSpPr>
        <p:spPr>
          <a:xfrm>
            <a:off x="3817808" y="2678620"/>
            <a:ext cx="3492085" cy="16412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a:latin typeface="Montserrat Medium" pitchFamily="50" charset="0"/>
              </a:rPr>
              <a:t>Adaptive recommendation through </a:t>
            </a:r>
            <a:r>
              <a:rPr lang="en-US" sz="1400" dirty="0" err="1">
                <a:latin typeface="Montserrat Medium" pitchFamily="50" charset="0"/>
              </a:rPr>
              <a:t>contributio</a:t>
            </a:r>
            <a:r>
              <a:rPr lang="en-US" sz="1400" dirty="0">
                <a:latin typeface="Montserrat Medium" pitchFamily="50" charset="0"/>
              </a:rPr>
              <a:t>-aware inference-time reweighting</a:t>
            </a:r>
          </a:p>
        </p:txBody>
      </p:sp>
      <p:sp>
        <p:nvSpPr>
          <p:cNvPr id="71" name="Arrow: Chevron 70">
            <a:extLst>
              <a:ext uri="{FF2B5EF4-FFF2-40B4-BE49-F238E27FC236}">
                <a16:creationId xmlns:a16="http://schemas.microsoft.com/office/drawing/2014/main" id="{5CB9342B-EB44-4BD5-A915-94C6253A307C}"/>
              </a:ext>
            </a:extLst>
          </p:cNvPr>
          <p:cNvSpPr/>
          <p:nvPr/>
        </p:nvSpPr>
        <p:spPr>
          <a:xfrm>
            <a:off x="6553334" y="2678620"/>
            <a:ext cx="3029420" cy="16412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a:latin typeface="Montserrat Medium" pitchFamily="50" charset="0"/>
              </a:rPr>
              <a:t>Hierarchical recommendation using hyperbolic graph neural networks</a:t>
            </a:r>
          </a:p>
        </p:txBody>
      </p:sp>
      <p:sp>
        <p:nvSpPr>
          <p:cNvPr id="73" name="Arrow: Chevron 72">
            <a:extLst>
              <a:ext uri="{FF2B5EF4-FFF2-40B4-BE49-F238E27FC236}">
                <a16:creationId xmlns:a16="http://schemas.microsoft.com/office/drawing/2014/main" id="{CFD210FB-89B1-4985-B9EF-3B33321D5554}"/>
              </a:ext>
            </a:extLst>
          </p:cNvPr>
          <p:cNvSpPr/>
          <p:nvPr/>
        </p:nvSpPr>
        <p:spPr>
          <a:xfrm>
            <a:off x="8824539" y="2678620"/>
            <a:ext cx="3913083" cy="16412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a:latin typeface="Montserrat Medium" pitchFamily="50" charset="0"/>
              </a:rPr>
              <a:t>Unified experimental validation on </a:t>
            </a:r>
            <a:r>
              <a:rPr lang="en-US" sz="1400" dirty="0" err="1">
                <a:latin typeface="Montserrat Medium" pitchFamily="50" charset="0"/>
              </a:rPr>
              <a:t>MovieLens</a:t>
            </a:r>
            <a:r>
              <a:rPr lang="en-US" sz="1400" dirty="0">
                <a:latin typeface="Montserrat Medium" pitchFamily="50" charset="0"/>
              </a:rPr>
              <a:t> and Amazon, combining accuracy and interpretability analysis</a:t>
            </a:r>
          </a:p>
        </p:txBody>
      </p:sp>
      <p:sp>
        <p:nvSpPr>
          <p:cNvPr id="76" name="Flowchart: Process 75">
            <a:extLst>
              <a:ext uri="{FF2B5EF4-FFF2-40B4-BE49-F238E27FC236}">
                <a16:creationId xmlns:a16="http://schemas.microsoft.com/office/drawing/2014/main" id="{88030DC1-C89E-4BC4-9B4D-5CEAE9C5A196}"/>
              </a:ext>
            </a:extLst>
          </p:cNvPr>
          <p:cNvSpPr/>
          <p:nvPr/>
        </p:nvSpPr>
        <p:spPr>
          <a:xfrm>
            <a:off x="11959785" y="2452569"/>
            <a:ext cx="674353" cy="2127183"/>
          </a:xfrm>
          <a:prstGeom prst="flowChartProcess">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0" name="Picture 29">
            <a:extLst>
              <a:ext uri="{FF2B5EF4-FFF2-40B4-BE49-F238E27FC236}">
                <a16:creationId xmlns:a16="http://schemas.microsoft.com/office/drawing/2014/main" id="{599CD69A-35F3-403B-815E-C8750917C8D0}"/>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2" name="Picture 31">
            <a:extLst>
              <a:ext uri="{FF2B5EF4-FFF2-40B4-BE49-F238E27FC236}">
                <a16:creationId xmlns:a16="http://schemas.microsoft.com/office/drawing/2014/main" id="{92077211-01A1-48F9-80C6-DC4623285925}"/>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7897"/>
            <a:ext cx="385680" cy="385680"/>
          </a:xfrm>
          <a:prstGeom prst="rect">
            <a:avLst/>
          </a:prstGeom>
        </p:spPr>
      </p:pic>
    </p:spTree>
    <p:extLst>
      <p:ext uri="{BB962C8B-B14F-4D97-AF65-F5344CB8AC3E}">
        <p14:creationId xmlns:p14="http://schemas.microsoft.com/office/powerpoint/2010/main" val="100896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Montserrat Medium" pitchFamily="50" charset="0"/>
              </a:rPr>
              <a:t>Protocols</a:t>
            </a:r>
          </a:p>
          <a:p>
            <a:pPr algn="ctr"/>
            <a:br>
              <a:rPr lang="en-US" sz="1600" dirty="0"/>
            </a:br>
            <a:endParaRPr lang="en-US" sz="1600" b="1" dirty="0">
              <a:solidFill>
                <a:srgbClr val="98ECB7"/>
              </a:solidFill>
              <a:latin typeface="Montserrat" pitchFamily="2" charset="0"/>
            </a:endParaRP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11" name="Picture 10">
            <a:extLst>
              <a:ext uri="{FF2B5EF4-FFF2-40B4-BE49-F238E27FC236}">
                <a16:creationId xmlns:a16="http://schemas.microsoft.com/office/drawing/2014/main" id="{F355B24B-FC7B-4F36-8CB6-B332F282DE6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8" name="Picture 7">
            <a:extLst>
              <a:ext uri="{FF2B5EF4-FFF2-40B4-BE49-F238E27FC236}">
                <a16:creationId xmlns:a16="http://schemas.microsoft.com/office/drawing/2014/main" id="{B12BDC57-FFFD-4B42-A60D-1956C496C6B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669225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6" name="Picture 25">
            <a:extLst>
              <a:ext uri="{FF2B5EF4-FFF2-40B4-BE49-F238E27FC236}">
                <a16:creationId xmlns:a16="http://schemas.microsoft.com/office/drawing/2014/main" id="{5B3929C4-CF81-4017-B95B-7AB743BFF57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graphicFrame>
        <p:nvGraphicFramePr>
          <p:cNvPr id="2" name="Table 1">
            <a:extLst>
              <a:ext uri="{FF2B5EF4-FFF2-40B4-BE49-F238E27FC236}">
                <a16:creationId xmlns:a16="http://schemas.microsoft.com/office/drawing/2014/main" id="{6EF509FF-1D17-4250-A124-55E6D1AE75FD}"/>
              </a:ext>
            </a:extLst>
          </p:cNvPr>
          <p:cNvGraphicFramePr>
            <a:graphicFrameLocks noGrp="1"/>
          </p:cNvGraphicFramePr>
          <p:nvPr>
            <p:extLst>
              <p:ext uri="{D42A27DB-BD31-4B8C-83A1-F6EECF244321}">
                <p14:modId xmlns:p14="http://schemas.microsoft.com/office/powerpoint/2010/main" val="4112394959"/>
              </p:ext>
            </p:extLst>
          </p:nvPr>
        </p:nvGraphicFramePr>
        <p:xfrm>
          <a:off x="6096000" y="1859949"/>
          <a:ext cx="5948439" cy="3699608"/>
        </p:xfrm>
        <a:graphic>
          <a:graphicData uri="http://schemas.openxmlformats.org/drawingml/2006/table">
            <a:tbl>
              <a:tblPr>
                <a:tableStyleId>{BC89EF96-8CEA-46FF-86C4-4CE0E7609802}</a:tableStyleId>
              </a:tblPr>
              <a:tblGrid>
                <a:gridCol w="3814870">
                  <a:extLst>
                    <a:ext uri="{9D8B030D-6E8A-4147-A177-3AD203B41FA5}">
                      <a16:colId xmlns:a16="http://schemas.microsoft.com/office/drawing/2014/main" val="519688352"/>
                    </a:ext>
                  </a:extLst>
                </a:gridCol>
                <a:gridCol w="2133569">
                  <a:extLst>
                    <a:ext uri="{9D8B030D-6E8A-4147-A177-3AD203B41FA5}">
                      <a16:colId xmlns:a16="http://schemas.microsoft.com/office/drawing/2014/main" val="709179325"/>
                    </a:ext>
                  </a:extLst>
                </a:gridCol>
              </a:tblGrid>
              <a:tr h="568134">
                <a:tc>
                  <a:txBody>
                    <a:bodyPr/>
                    <a:lstStyle/>
                    <a:p>
                      <a:pPr marL="0" algn="ctr" defTabSz="914400" rtl="0" eaLnBrk="1" latinLnBrk="0" hangingPunct="1"/>
                      <a:r>
                        <a:rPr lang="en-US" sz="1700" b="1" kern="1200" dirty="0">
                          <a:solidFill>
                            <a:schemeClr val="tx1"/>
                          </a:solidFill>
                          <a:latin typeface="Montserrat Medium" pitchFamily="50" charset="0"/>
                          <a:ea typeface="+mn-ea"/>
                          <a:cs typeface="+mn-cs"/>
                        </a:rPr>
                        <a:t>Specification</a:t>
                      </a:r>
                    </a:p>
                  </a:txBody>
                  <a:tcPr anchor="ctr"/>
                </a:tc>
                <a:tc>
                  <a:txBody>
                    <a:bodyPr/>
                    <a:lstStyle/>
                    <a:p>
                      <a:pPr marL="0" algn="ctr" defTabSz="914400" rtl="0" eaLnBrk="1" latinLnBrk="0" hangingPunct="1"/>
                      <a:r>
                        <a:rPr lang="en-US" sz="1700" b="1" kern="1200" dirty="0" err="1">
                          <a:solidFill>
                            <a:schemeClr val="tx1"/>
                          </a:solidFill>
                          <a:latin typeface="Montserrat Medium" pitchFamily="50" charset="0"/>
                          <a:ea typeface="+mn-ea"/>
                          <a:cs typeface="+mn-cs"/>
                        </a:rPr>
                        <a:t>MovieLens</a:t>
                      </a:r>
                      <a:r>
                        <a:rPr lang="en-US" sz="1700" b="1" kern="1200" dirty="0">
                          <a:solidFill>
                            <a:schemeClr val="tx1"/>
                          </a:solidFill>
                          <a:latin typeface="Montserrat Medium" pitchFamily="50" charset="0"/>
                          <a:ea typeface="+mn-ea"/>
                          <a:cs typeface="+mn-cs"/>
                        </a:rPr>
                        <a:t> 100K</a:t>
                      </a:r>
                    </a:p>
                  </a:txBody>
                  <a:tcPr anchor="ctr"/>
                </a:tc>
                <a:extLst>
                  <a:ext uri="{0D108BD9-81ED-4DB2-BD59-A6C34878D82A}">
                    <a16:rowId xmlns:a16="http://schemas.microsoft.com/office/drawing/2014/main" val="386632798"/>
                  </a:ext>
                </a:extLst>
              </a:tr>
              <a:tr h="515157">
                <a:tc>
                  <a:txBody>
                    <a:bodyPr/>
                    <a:lstStyle/>
                    <a:p>
                      <a:pPr algn="ctr"/>
                      <a:r>
                        <a:rPr lang="en-US" sz="1700" b="1" dirty="0">
                          <a:latin typeface="Montserrat Medium" pitchFamily="50" charset="0"/>
                        </a:rPr>
                        <a:t>Number of users</a:t>
                      </a:r>
                    </a:p>
                  </a:txBody>
                  <a:tcPr anchor="ctr"/>
                </a:tc>
                <a:tc>
                  <a:txBody>
                    <a:bodyPr/>
                    <a:lstStyle/>
                    <a:p>
                      <a:pPr algn="just"/>
                      <a:r>
                        <a:rPr lang="en-US" sz="1700" b="0" dirty="0">
                          <a:latin typeface="Montserrat" pitchFamily="2" charset="0"/>
                        </a:rPr>
                        <a:t>943</a:t>
                      </a:r>
                    </a:p>
                  </a:txBody>
                  <a:tcPr anchor="ctr"/>
                </a:tc>
                <a:extLst>
                  <a:ext uri="{0D108BD9-81ED-4DB2-BD59-A6C34878D82A}">
                    <a16:rowId xmlns:a16="http://schemas.microsoft.com/office/drawing/2014/main" val="3526840976"/>
                  </a:ext>
                </a:extLst>
              </a:tr>
              <a:tr h="558754">
                <a:tc>
                  <a:txBody>
                    <a:bodyPr/>
                    <a:lstStyle/>
                    <a:p>
                      <a:pPr algn="ctr"/>
                      <a:r>
                        <a:rPr lang="en-US" sz="1700" b="1">
                          <a:latin typeface="Montserrat Medium" pitchFamily="50" charset="0"/>
                        </a:rPr>
                        <a:t>Number of items</a:t>
                      </a:r>
                    </a:p>
                  </a:txBody>
                  <a:tcPr anchor="ctr"/>
                </a:tc>
                <a:tc>
                  <a:txBody>
                    <a:bodyPr/>
                    <a:lstStyle/>
                    <a:p>
                      <a:pPr algn="just"/>
                      <a:r>
                        <a:rPr lang="en-US" sz="1700" b="0" dirty="0">
                          <a:latin typeface="Montserrat" pitchFamily="2" charset="0"/>
                        </a:rPr>
                        <a:t>1,682 movies</a:t>
                      </a:r>
                    </a:p>
                  </a:txBody>
                  <a:tcPr anchor="ctr"/>
                </a:tc>
                <a:extLst>
                  <a:ext uri="{0D108BD9-81ED-4DB2-BD59-A6C34878D82A}">
                    <a16:rowId xmlns:a16="http://schemas.microsoft.com/office/drawing/2014/main" val="1952118270"/>
                  </a:ext>
                </a:extLst>
              </a:tr>
              <a:tr h="504632">
                <a:tc>
                  <a:txBody>
                    <a:bodyPr/>
                    <a:lstStyle/>
                    <a:p>
                      <a:pPr algn="ctr"/>
                      <a:r>
                        <a:rPr lang="en-US" sz="1700" b="1" dirty="0">
                          <a:latin typeface="Montserrat Medium" pitchFamily="50" charset="0"/>
                        </a:rPr>
                        <a:t>Number of interactions</a:t>
                      </a:r>
                    </a:p>
                  </a:txBody>
                  <a:tcPr anchor="ctr"/>
                </a:tc>
                <a:tc>
                  <a:txBody>
                    <a:bodyPr/>
                    <a:lstStyle/>
                    <a:p>
                      <a:pPr algn="just"/>
                      <a:r>
                        <a:rPr lang="en-US" sz="1700" b="0" dirty="0">
                          <a:latin typeface="Montserrat" pitchFamily="2" charset="0"/>
                        </a:rPr>
                        <a:t>100,000 ratings</a:t>
                      </a:r>
                    </a:p>
                  </a:txBody>
                  <a:tcPr anchor="ctr"/>
                </a:tc>
                <a:extLst>
                  <a:ext uri="{0D108BD9-81ED-4DB2-BD59-A6C34878D82A}">
                    <a16:rowId xmlns:a16="http://schemas.microsoft.com/office/drawing/2014/main" val="706068977"/>
                  </a:ext>
                </a:extLst>
              </a:tr>
              <a:tr h="481263">
                <a:tc>
                  <a:txBody>
                    <a:bodyPr/>
                    <a:lstStyle/>
                    <a:p>
                      <a:pPr algn="ctr"/>
                      <a:r>
                        <a:rPr lang="en-US" sz="1700" b="1">
                          <a:latin typeface="Montserrat Medium" pitchFamily="50" charset="0"/>
                        </a:rPr>
                        <a:t>Rating scale</a:t>
                      </a:r>
                    </a:p>
                  </a:txBody>
                  <a:tcPr anchor="ctr"/>
                </a:tc>
                <a:tc>
                  <a:txBody>
                    <a:bodyPr/>
                    <a:lstStyle/>
                    <a:p>
                      <a:pPr algn="just"/>
                      <a:r>
                        <a:rPr lang="en-US" sz="1700" b="0" dirty="0">
                          <a:latin typeface="Montserrat" pitchFamily="2" charset="0"/>
                        </a:rPr>
                        <a:t>1–5 stars</a:t>
                      </a:r>
                    </a:p>
                  </a:txBody>
                  <a:tcPr anchor="ctr"/>
                </a:tc>
                <a:extLst>
                  <a:ext uri="{0D108BD9-81ED-4DB2-BD59-A6C34878D82A}">
                    <a16:rowId xmlns:a16="http://schemas.microsoft.com/office/drawing/2014/main" val="1522749615"/>
                  </a:ext>
                </a:extLst>
              </a:tr>
              <a:tr h="551904">
                <a:tc>
                  <a:txBody>
                    <a:bodyPr/>
                    <a:lstStyle/>
                    <a:p>
                      <a:pPr algn="ctr"/>
                      <a:r>
                        <a:rPr lang="en-US" sz="1700" b="1" dirty="0">
                          <a:latin typeface="Montserrat Medium" pitchFamily="50" charset="0"/>
                        </a:rPr>
                        <a:t>Minimum interactions per user</a:t>
                      </a:r>
                    </a:p>
                  </a:txBody>
                  <a:tcPr anchor="ctr"/>
                </a:tc>
                <a:tc>
                  <a:txBody>
                    <a:bodyPr/>
                    <a:lstStyle/>
                    <a:p>
                      <a:pPr algn="just"/>
                      <a:r>
                        <a:rPr lang="en-US" sz="1700" b="0" dirty="0">
                          <a:latin typeface="Montserrat" pitchFamily="2" charset="0"/>
                        </a:rPr>
                        <a:t>20 ratings</a:t>
                      </a:r>
                    </a:p>
                  </a:txBody>
                  <a:tcPr anchor="ctr"/>
                </a:tc>
                <a:extLst>
                  <a:ext uri="{0D108BD9-81ED-4DB2-BD59-A6C34878D82A}">
                    <a16:rowId xmlns:a16="http://schemas.microsoft.com/office/drawing/2014/main" val="3974076269"/>
                  </a:ext>
                </a:extLst>
              </a:tr>
              <a:tr h="519764">
                <a:tc>
                  <a:txBody>
                    <a:bodyPr/>
                    <a:lstStyle/>
                    <a:p>
                      <a:pPr algn="ctr"/>
                      <a:r>
                        <a:rPr lang="en-US" sz="1700" b="1" dirty="0">
                          <a:latin typeface="Montserrat Medium" pitchFamily="50" charset="0"/>
                        </a:rPr>
                        <a:t>Approximate sparsity</a:t>
                      </a:r>
                    </a:p>
                  </a:txBody>
                  <a:tcPr anchor="ctr"/>
                </a:tc>
                <a:tc>
                  <a:txBody>
                    <a:bodyPr/>
                    <a:lstStyle/>
                    <a:p>
                      <a:pPr algn="just"/>
                      <a:r>
                        <a:rPr lang="en-US" sz="1700" b="0" dirty="0">
                          <a:latin typeface="Montserrat" pitchFamily="2" charset="0"/>
                        </a:rPr>
                        <a:t>93.7%</a:t>
                      </a:r>
                    </a:p>
                  </a:txBody>
                  <a:tcPr anchor="ctr"/>
                </a:tc>
                <a:extLst>
                  <a:ext uri="{0D108BD9-81ED-4DB2-BD59-A6C34878D82A}">
                    <a16:rowId xmlns:a16="http://schemas.microsoft.com/office/drawing/2014/main" val="954040831"/>
                  </a:ext>
                </a:extLst>
              </a:tr>
            </a:tbl>
          </a:graphicData>
        </a:graphic>
      </p:graphicFrame>
      <p:sp>
        <p:nvSpPr>
          <p:cNvPr id="37" name="TextBox 36">
            <a:extLst>
              <a:ext uri="{FF2B5EF4-FFF2-40B4-BE49-F238E27FC236}">
                <a16:creationId xmlns:a16="http://schemas.microsoft.com/office/drawing/2014/main" id="{7C2C19EF-2830-495D-832F-96365D01033B}"/>
              </a:ext>
            </a:extLst>
          </p:cNvPr>
          <p:cNvSpPr txBox="1"/>
          <p:nvPr/>
        </p:nvSpPr>
        <p:spPr>
          <a:xfrm>
            <a:off x="251673" y="1396419"/>
            <a:ext cx="5656947" cy="4031873"/>
          </a:xfrm>
          <a:prstGeom prst="rect">
            <a:avLst/>
          </a:prstGeom>
          <a:noFill/>
        </p:spPr>
        <p:txBody>
          <a:bodyPr wrap="square">
            <a:spAutoFit/>
          </a:bodyPr>
          <a:lstStyle/>
          <a:p>
            <a:r>
              <a:rPr lang="en-US" sz="2000" b="1" dirty="0" err="1">
                <a:latin typeface="Montserrat Medium" pitchFamily="50" charset="0"/>
              </a:rPr>
              <a:t>MovieLens</a:t>
            </a:r>
            <a:r>
              <a:rPr lang="en-US" sz="2000" b="1" dirty="0">
                <a:latin typeface="Montserrat Medium" pitchFamily="50" charset="0"/>
              </a:rPr>
              <a:t> 100k</a:t>
            </a:r>
          </a:p>
          <a:p>
            <a:endParaRPr lang="en-US" sz="2000" dirty="0">
              <a:latin typeface="Montserrat Medium" pitchFamily="50" charset="0"/>
            </a:endParaRPr>
          </a:p>
          <a:p>
            <a:pPr marL="285750" indent="-285750" algn="just">
              <a:buFont typeface="Arial" panose="020B0604020202020204" pitchFamily="34" charset="0"/>
              <a:buChar char="•"/>
            </a:pPr>
            <a:r>
              <a:rPr lang="en-US" sz="1800" dirty="0">
                <a:latin typeface="Montserrat Medium" pitchFamily="50" charset="0"/>
              </a:rPr>
              <a:t>100,000 ratings from about 1,000 users on 1,700 movies, collected between 1997 and 1998.</a:t>
            </a:r>
          </a:p>
          <a:p>
            <a:pPr marL="285750" indent="-285750" algn="just">
              <a:buFont typeface="Arial" panose="020B0604020202020204" pitchFamily="34" charset="0"/>
              <a:buChar char="•"/>
            </a:pPr>
            <a:endParaRPr lang="en-US" sz="1800" dirty="0">
              <a:latin typeface="Montserrat Medium" pitchFamily="50" charset="0"/>
            </a:endParaRPr>
          </a:p>
          <a:p>
            <a:pPr marL="285750" indent="-285750" algn="just">
              <a:buFont typeface="Arial" panose="020B0604020202020204" pitchFamily="34" charset="0"/>
              <a:buChar char="•"/>
            </a:pPr>
            <a:r>
              <a:rPr lang="en-US" sz="1800" dirty="0">
                <a:latin typeface="Montserrat Medium" pitchFamily="50" charset="0"/>
              </a:rPr>
              <a:t>One of the earliest standard recommender benchmarks, still used today for fast prototyping and ablation studies</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Arial" panose="020B0604020202020204" pitchFamily="34" charset="0"/>
              <a:buChar char="•"/>
            </a:pPr>
            <a:r>
              <a:rPr lang="en-US" sz="1800" dirty="0">
                <a:latin typeface="Montserrat Medium" pitchFamily="50" charset="0"/>
              </a:rPr>
              <a:t> its smaller size allows for running ablations and sensitivity tests quickly, alongside the larger </a:t>
            </a:r>
            <a:r>
              <a:rPr lang="en-US" sz="1800" dirty="0" err="1">
                <a:latin typeface="Montserrat Medium" pitchFamily="50" charset="0"/>
              </a:rPr>
              <a:t>MovieLens</a:t>
            </a:r>
            <a:r>
              <a:rPr lang="en-US" sz="1800" dirty="0">
                <a:latin typeface="Montserrat Medium" pitchFamily="50" charset="0"/>
              </a:rPr>
              <a:t> 1M.</a:t>
            </a:r>
            <a:endParaRPr lang="en-US" sz="1800" b="1" dirty="0">
              <a:solidFill>
                <a:srgbClr val="98ECB7"/>
              </a:solidFill>
              <a:latin typeface="Montserrat Medium" pitchFamily="50" charset="0"/>
            </a:endParaRPr>
          </a:p>
          <a:p>
            <a:endParaRPr lang="en-US" dirty="0">
              <a:latin typeface="Montserrat Medium" pitchFamily="50" charset="0"/>
            </a:endParaRPr>
          </a:p>
        </p:txBody>
      </p:sp>
      <p:sp>
        <p:nvSpPr>
          <p:cNvPr id="59" name="Rectangle 58">
            <a:extLst>
              <a:ext uri="{FF2B5EF4-FFF2-40B4-BE49-F238E27FC236}">
                <a16:creationId xmlns:a16="http://schemas.microsoft.com/office/drawing/2014/main" id="{9E210E99-8E7E-417C-B80A-BBE6CE25A9C0}"/>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60" name="Rectangle 59">
            <a:extLst>
              <a:ext uri="{FF2B5EF4-FFF2-40B4-BE49-F238E27FC236}">
                <a16:creationId xmlns:a16="http://schemas.microsoft.com/office/drawing/2014/main" id="{AB62047B-EB9F-45B7-A8A8-936060098F40}"/>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62" name="Rectangle 61">
            <a:extLst>
              <a:ext uri="{FF2B5EF4-FFF2-40B4-BE49-F238E27FC236}">
                <a16:creationId xmlns:a16="http://schemas.microsoft.com/office/drawing/2014/main" id="{3E03E8B7-0276-4F27-9343-D0723F7C7B65}"/>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sp>
        <p:nvSpPr>
          <p:cNvPr id="30" name="TextBox 29">
            <a:extLst>
              <a:ext uri="{FF2B5EF4-FFF2-40B4-BE49-F238E27FC236}">
                <a16:creationId xmlns:a16="http://schemas.microsoft.com/office/drawing/2014/main" id="{B8029CE7-38EA-4311-B92D-BEBE15E7BF88}"/>
              </a:ext>
            </a:extLst>
          </p:cNvPr>
          <p:cNvSpPr txBox="1"/>
          <p:nvPr/>
        </p:nvSpPr>
        <p:spPr>
          <a:xfrm>
            <a:off x="216109" y="5697237"/>
            <a:ext cx="11879607" cy="553998"/>
          </a:xfrm>
          <a:prstGeom prst="rect">
            <a:avLst/>
          </a:prstGeom>
          <a:noFill/>
        </p:spPr>
        <p:txBody>
          <a:bodyPr wrap="square">
            <a:spAutoFit/>
          </a:bodyPr>
          <a:lstStyle/>
          <a:p>
            <a:r>
              <a:rPr lang="en-US" sz="1000" dirty="0">
                <a:latin typeface="Agency FB" panose="020B0503020202020204" pitchFamily="34" charset="0"/>
              </a:rPr>
              <a:t>[16] F. Maxwell Harper and J. A. </a:t>
            </a:r>
            <a:r>
              <a:rPr lang="en-US" sz="1000" dirty="0" err="1">
                <a:latin typeface="Agency FB" panose="020B0503020202020204" pitchFamily="34" charset="0"/>
              </a:rPr>
              <a:t>Konstan</a:t>
            </a:r>
            <a:r>
              <a:rPr lang="en-US" sz="1000" dirty="0">
                <a:latin typeface="Agency FB" panose="020B0503020202020204" pitchFamily="34" charset="0"/>
              </a:rPr>
              <a:t>, "</a:t>
            </a:r>
            <a:r>
              <a:rPr lang="en-US" sz="1000" dirty="0" err="1">
                <a:latin typeface="Agency FB" panose="020B0503020202020204" pitchFamily="34" charset="0"/>
              </a:rPr>
              <a:t>MovieLens</a:t>
            </a:r>
            <a:r>
              <a:rPr lang="en-US" sz="1000" dirty="0">
                <a:latin typeface="Agency FB" panose="020B0503020202020204" pitchFamily="34" charset="0"/>
              </a:rPr>
              <a:t> 100K Dataset," </a:t>
            </a:r>
            <a:r>
              <a:rPr lang="en-US" sz="1000" dirty="0" err="1">
                <a:latin typeface="Agency FB" panose="020B0503020202020204" pitchFamily="34" charset="0"/>
              </a:rPr>
              <a:t>GroupLens</a:t>
            </a:r>
            <a:r>
              <a:rPr lang="en-US" sz="1000" dirty="0">
                <a:latin typeface="Agency FB" panose="020B0503020202020204" pitchFamily="34" charset="0"/>
              </a:rPr>
              <a:t> Research, University of Minnesota. Available: https://grouplens.org/datasets/movielens/100k/</a:t>
            </a:r>
          </a:p>
          <a:p>
            <a:r>
              <a:rPr lang="en-US" sz="1000" dirty="0">
                <a:latin typeface="Agency FB" panose="020B0503020202020204" pitchFamily="34" charset="0"/>
              </a:rPr>
              <a:t>[17] F. M. Harper and J. A. </a:t>
            </a:r>
            <a:r>
              <a:rPr lang="en-US" sz="1000" dirty="0" err="1">
                <a:latin typeface="Agency FB" panose="020B0503020202020204" pitchFamily="34" charset="0"/>
              </a:rPr>
              <a:t>Konstan</a:t>
            </a:r>
            <a:r>
              <a:rPr lang="en-US" sz="1000" dirty="0">
                <a:latin typeface="Agency FB" panose="020B0503020202020204" pitchFamily="34" charset="0"/>
              </a:rPr>
              <a:t>, "The </a:t>
            </a:r>
            <a:r>
              <a:rPr lang="en-US" sz="1000" dirty="0" err="1">
                <a:latin typeface="Agency FB" panose="020B0503020202020204" pitchFamily="34" charset="0"/>
              </a:rPr>
              <a:t>MovieLens</a:t>
            </a:r>
            <a:r>
              <a:rPr lang="en-US" sz="1000" dirty="0">
                <a:latin typeface="Agency FB" panose="020B0503020202020204" pitchFamily="34" charset="0"/>
              </a:rPr>
              <a:t> Datasets: History and Context," ACM Transactions on Interactive Intelligent Systems, vol. 5, no. 4, pp. 1–19, Dec. 2015, </a:t>
            </a:r>
            <a:r>
              <a:rPr lang="en-US" sz="1000" dirty="0" err="1">
                <a:latin typeface="Agency FB" panose="020B0503020202020204" pitchFamily="34" charset="0"/>
              </a:rPr>
              <a:t>doi</a:t>
            </a:r>
            <a:r>
              <a:rPr lang="en-US" sz="1000" dirty="0">
                <a:latin typeface="Agency FB" panose="020B0503020202020204" pitchFamily="34" charset="0"/>
              </a:rPr>
              <a:t>: 10.1145/2827872</a:t>
            </a:r>
          </a:p>
          <a:p>
            <a:r>
              <a:rPr lang="en-US" sz="1000" dirty="0">
                <a:latin typeface="Agency FB" panose="020B0503020202020204" pitchFamily="34" charset="0"/>
              </a:rPr>
              <a:t>[18] J. Bobadilla, F. Ortega, A. Hernando, and A. Gutiérrez, "Recommender Systems Survey," Knowledge-Based Systems, vol. 46, pp. 109–132, Jul. 2013</a:t>
            </a:r>
          </a:p>
        </p:txBody>
      </p:sp>
      <p:pic>
        <p:nvPicPr>
          <p:cNvPr id="31" name="Picture 30">
            <a:extLst>
              <a:ext uri="{FF2B5EF4-FFF2-40B4-BE49-F238E27FC236}">
                <a16:creationId xmlns:a16="http://schemas.microsoft.com/office/drawing/2014/main" id="{9611B9BA-99E2-4429-A926-B9B8CAC195B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2371950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6" name="Picture 25">
            <a:extLst>
              <a:ext uri="{FF2B5EF4-FFF2-40B4-BE49-F238E27FC236}">
                <a16:creationId xmlns:a16="http://schemas.microsoft.com/office/drawing/2014/main" id="{5B3929C4-CF81-4017-B95B-7AB743BFF57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27" name="Picture 26">
            <a:extLst>
              <a:ext uri="{FF2B5EF4-FFF2-40B4-BE49-F238E27FC236}">
                <a16:creationId xmlns:a16="http://schemas.microsoft.com/office/drawing/2014/main" id="{D9F890B0-1390-4FE0-88C9-4D8C60A2858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
        <p:nvSpPr>
          <p:cNvPr id="37" name="TextBox 36">
            <a:extLst>
              <a:ext uri="{FF2B5EF4-FFF2-40B4-BE49-F238E27FC236}">
                <a16:creationId xmlns:a16="http://schemas.microsoft.com/office/drawing/2014/main" id="{7C2C19EF-2830-495D-832F-96365D01033B}"/>
              </a:ext>
            </a:extLst>
          </p:cNvPr>
          <p:cNvSpPr txBox="1"/>
          <p:nvPr/>
        </p:nvSpPr>
        <p:spPr>
          <a:xfrm>
            <a:off x="251673" y="1396419"/>
            <a:ext cx="5638988" cy="4585871"/>
          </a:xfrm>
          <a:prstGeom prst="rect">
            <a:avLst/>
          </a:prstGeom>
          <a:noFill/>
        </p:spPr>
        <p:txBody>
          <a:bodyPr wrap="square">
            <a:spAutoFit/>
          </a:bodyPr>
          <a:lstStyle/>
          <a:p>
            <a:r>
              <a:rPr lang="en-US" sz="2000" b="1" dirty="0" err="1">
                <a:latin typeface="Montserrat Medium" pitchFamily="50" charset="0"/>
              </a:rPr>
              <a:t>MovieLens</a:t>
            </a:r>
            <a:r>
              <a:rPr lang="en-US" sz="2000" b="1" dirty="0">
                <a:latin typeface="Montserrat Medium" pitchFamily="50" charset="0"/>
              </a:rPr>
              <a:t> 100k</a:t>
            </a:r>
          </a:p>
          <a:p>
            <a:pPr marL="342900" indent="-342900">
              <a:buFont typeface="Wingdings" panose="05000000000000000000" pitchFamily="2" charset="2"/>
              <a:buChar char="§"/>
            </a:pPr>
            <a:endParaRPr lang="en-US" sz="2000"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Recommendation Performance  </a:t>
            </a:r>
            <a:r>
              <a:rPr lang="en-US" dirty="0">
                <a:latin typeface="Montserrat Medium" pitchFamily="50" charset="0"/>
              </a:rPr>
              <a:t>Provides user–movie rating data to train and evaluate recommendation algorithms.</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Algorithm Benchmarking </a:t>
            </a:r>
            <a:r>
              <a:rPr lang="en-US" dirty="0">
                <a:latin typeface="Montserrat Medium" pitchFamily="50" charset="0"/>
              </a:rPr>
              <a:t>Serves as a standard benchmark for fair comparison of collaborative filtering, graph neural networks, and deep learning methods.</a:t>
            </a:r>
          </a:p>
          <a:p>
            <a:pPr marL="285750" indent="-285750" algn="just">
              <a:buFont typeface="Wingdings" panose="05000000000000000000" pitchFamily="2" charset="2"/>
              <a:buChar char="§"/>
            </a:pPr>
            <a:endParaRPr lang="en-US" b="1"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Explainable Recommendation </a:t>
            </a:r>
            <a:r>
              <a:rPr lang="en-US" dirty="0">
                <a:latin typeface="Montserrat Medium" pitchFamily="50" charset="0"/>
              </a:rPr>
              <a:t>Enables analysis of user–item interactions to generate and evaluate interpretable recommendations.</a:t>
            </a:r>
          </a:p>
          <a:p>
            <a:endParaRPr lang="en-US" dirty="0">
              <a:latin typeface="Montserrat Medium" pitchFamily="50" charset="0"/>
            </a:endParaRPr>
          </a:p>
        </p:txBody>
      </p:sp>
      <p:graphicFrame>
        <p:nvGraphicFramePr>
          <p:cNvPr id="4" name="Table 3">
            <a:extLst>
              <a:ext uri="{FF2B5EF4-FFF2-40B4-BE49-F238E27FC236}">
                <a16:creationId xmlns:a16="http://schemas.microsoft.com/office/drawing/2014/main" id="{A4E6AFF8-E7A6-4B07-8B6E-0A384106C07D}"/>
              </a:ext>
            </a:extLst>
          </p:cNvPr>
          <p:cNvGraphicFramePr>
            <a:graphicFrameLocks noGrp="1"/>
          </p:cNvGraphicFramePr>
          <p:nvPr>
            <p:extLst>
              <p:ext uri="{D42A27DB-BD31-4B8C-83A1-F6EECF244321}">
                <p14:modId xmlns:p14="http://schemas.microsoft.com/office/powerpoint/2010/main" val="380131795"/>
              </p:ext>
            </p:extLst>
          </p:nvPr>
        </p:nvGraphicFramePr>
        <p:xfrm>
          <a:off x="6047688" y="2018090"/>
          <a:ext cx="6048028" cy="3529582"/>
        </p:xfrm>
        <a:graphic>
          <a:graphicData uri="http://schemas.openxmlformats.org/drawingml/2006/table">
            <a:tbl>
              <a:tblPr>
                <a:tableStyleId>{BC89EF96-8CEA-46FF-86C4-4CE0E7609802}</a:tableStyleId>
              </a:tblPr>
              <a:tblGrid>
                <a:gridCol w="923201">
                  <a:extLst>
                    <a:ext uri="{9D8B030D-6E8A-4147-A177-3AD203B41FA5}">
                      <a16:colId xmlns:a16="http://schemas.microsoft.com/office/drawing/2014/main" val="2377314780"/>
                    </a:ext>
                  </a:extLst>
                </a:gridCol>
                <a:gridCol w="1126155">
                  <a:extLst>
                    <a:ext uri="{9D8B030D-6E8A-4147-A177-3AD203B41FA5}">
                      <a16:colId xmlns:a16="http://schemas.microsoft.com/office/drawing/2014/main" val="3864207238"/>
                    </a:ext>
                  </a:extLst>
                </a:gridCol>
                <a:gridCol w="1701809">
                  <a:extLst>
                    <a:ext uri="{9D8B030D-6E8A-4147-A177-3AD203B41FA5}">
                      <a16:colId xmlns:a16="http://schemas.microsoft.com/office/drawing/2014/main" val="3408019093"/>
                    </a:ext>
                  </a:extLst>
                </a:gridCol>
                <a:gridCol w="1018608">
                  <a:extLst>
                    <a:ext uri="{9D8B030D-6E8A-4147-A177-3AD203B41FA5}">
                      <a16:colId xmlns:a16="http://schemas.microsoft.com/office/drawing/2014/main" val="2674865353"/>
                    </a:ext>
                  </a:extLst>
                </a:gridCol>
                <a:gridCol w="1278255">
                  <a:extLst>
                    <a:ext uri="{9D8B030D-6E8A-4147-A177-3AD203B41FA5}">
                      <a16:colId xmlns:a16="http://schemas.microsoft.com/office/drawing/2014/main" val="36434304"/>
                    </a:ext>
                  </a:extLst>
                </a:gridCol>
              </a:tblGrid>
              <a:tr h="265633">
                <a:tc>
                  <a:txBody>
                    <a:bodyPr/>
                    <a:lstStyle/>
                    <a:p>
                      <a:pPr algn="ctr"/>
                      <a:r>
                        <a:rPr lang="en-US" b="1" dirty="0"/>
                        <a:t>User ID</a:t>
                      </a:r>
                    </a:p>
                  </a:txBody>
                  <a:tcPr anchor="ctr"/>
                </a:tc>
                <a:tc>
                  <a:txBody>
                    <a:bodyPr/>
                    <a:lstStyle/>
                    <a:p>
                      <a:pPr algn="ctr"/>
                      <a:r>
                        <a:rPr lang="en-US" b="1"/>
                        <a:t>Movie ID</a:t>
                      </a:r>
                    </a:p>
                  </a:txBody>
                  <a:tcPr anchor="ctr"/>
                </a:tc>
                <a:tc>
                  <a:txBody>
                    <a:bodyPr/>
                    <a:lstStyle/>
                    <a:p>
                      <a:r>
                        <a:rPr lang="en-US" b="1"/>
                        <a:t>Movie Title</a:t>
                      </a:r>
                    </a:p>
                  </a:txBody>
                  <a:tcPr anchor="ctr"/>
                </a:tc>
                <a:tc>
                  <a:txBody>
                    <a:bodyPr/>
                    <a:lstStyle/>
                    <a:p>
                      <a:pPr algn="ctr"/>
                      <a:r>
                        <a:rPr lang="en-US" b="1"/>
                        <a:t>Rating</a:t>
                      </a:r>
                    </a:p>
                  </a:txBody>
                  <a:tcPr anchor="ctr"/>
                </a:tc>
                <a:tc>
                  <a:txBody>
                    <a:bodyPr/>
                    <a:lstStyle/>
                    <a:p>
                      <a:pPr algn="ctr"/>
                      <a:r>
                        <a:rPr lang="en-US" b="1" dirty="0"/>
                        <a:t>Timestamp</a:t>
                      </a:r>
                    </a:p>
                  </a:txBody>
                  <a:tcPr anchor="ctr"/>
                </a:tc>
                <a:extLst>
                  <a:ext uri="{0D108BD9-81ED-4DB2-BD59-A6C34878D82A}">
                    <a16:rowId xmlns:a16="http://schemas.microsoft.com/office/drawing/2014/main" val="689656201"/>
                  </a:ext>
                </a:extLst>
              </a:tr>
              <a:tr h="621335">
                <a:tc>
                  <a:txBody>
                    <a:bodyPr/>
                    <a:lstStyle/>
                    <a:p>
                      <a:pPr algn="ctr"/>
                      <a:r>
                        <a:rPr lang="en-US" dirty="0"/>
                        <a:t>1</a:t>
                      </a:r>
                    </a:p>
                  </a:txBody>
                  <a:tcPr anchor="ctr"/>
                </a:tc>
                <a:tc>
                  <a:txBody>
                    <a:bodyPr/>
                    <a:lstStyle/>
                    <a:p>
                      <a:pPr algn="ctr"/>
                      <a:r>
                        <a:rPr lang="en-US"/>
                        <a:t>1</a:t>
                      </a:r>
                    </a:p>
                  </a:txBody>
                  <a:tcPr anchor="ctr"/>
                </a:tc>
                <a:tc>
                  <a:txBody>
                    <a:bodyPr/>
                    <a:lstStyle/>
                    <a:p>
                      <a:r>
                        <a:rPr lang="en-US"/>
                        <a:t>Toy Story (1995)</a:t>
                      </a:r>
                    </a:p>
                  </a:txBody>
                  <a:tcPr anchor="ctr"/>
                </a:tc>
                <a:tc>
                  <a:txBody>
                    <a:bodyPr/>
                    <a:lstStyle/>
                    <a:p>
                      <a:pPr algn="ctr"/>
                      <a:r>
                        <a:rPr lang="en-US"/>
                        <a:t>5</a:t>
                      </a:r>
                    </a:p>
                  </a:txBody>
                  <a:tcPr anchor="ctr"/>
                </a:tc>
                <a:tc>
                  <a:txBody>
                    <a:bodyPr/>
                    <a:lstStyle/>
                    <a:p>
                      <a:pPr algn="ctr"/>
                      <a:r>
                        <a:rPr lang="en-US"/>
                        <a:t>874965758</a:t>
                      </a:r>
                    </a:p>
                  </a:txBody>
                  <a:tcPr anchor="ctr"/>
                </a:tc>
                <a:extLst>
                  <a:ext uri="{0D108BD9-81ED-4DB2-BD59-A6C34878D82A}">
                    <a16:rowId xmlns:a16="http://schemas.microsoft.com/office/drawing/2014/main" val="4190710655"/>
                  </a:ext>
                </a:extLst>
              </a:tr>
              <a:tr h="622247">
                <a:tc>
                  <a:txBody>
                    <a:bodyPr/>
                    <a:lstStyle/>
                    <a:p>
                      <a:pPr algn="ctr"/>
                      <a:r>
                        <a:rPr lang="en-US"/>
                        <a:t>1</a:t>
                      </a:r>
                    </a:p>
                  </a:txBody>
                  <a:tcPr anchor="ctr"/>
                </a:tc>
                <a:tc>
                  <a:txBody>
                    <a:bodyPr/>
                    <a:lstStyle/>
                    <a:p>
                      <a:pPr algn="ctr"/>
                      <a:r>
                        <a:rPr lang="en-US" dirty="0"/>
                        <a:t>32</a:t>
                      </a:r>
                    </a:p>
                  </a:txBody>
                  <a:tcPr anchor="ctr"/>
                </a:tc>
                <a:tc>
                  <a:txBody>
                    <a:bodyPr/>
                    <a:lstStyle/>
                    <a:p>
                      <a:r>
                        <a:rPr lang="en-US"/>
                        <a:t>Crumb (1994)</a:t>
                      </a:r>
                    </a:p>
                  </a:txBody>
                  <a:tcPr anchor="ctr"/>
                </a:tc>
                <a:tc>
                  <a:txBody>
                    <a:bodyPr/>
                    <a:lstStyle/>
                    <a:p>
                      <a:pPr algn="ctr"/>
                      <a:r>
                        <a:rPr lang="en-US"/>
                        <a:t>3</a:t>
                      </a:r>
                    </a:p>
                  </a:txBody>
                  <a:tcPr anchor="ctr"/>
                </a:tc>
                <a:tc>
                  <a:txBody>
                    <a:bodyPr/>
                    <a:lstStyle/>
                    <a:p>
                      <a:pPr algn="ctr"/>
                      <a:r>
                        <a:rPr lang="en-US"/>
                        <a:t>876893171</a:t>
                      </a:r>
                    </a:p>
                  </a:txBody>
                  <a:tcPr anchor="ctr"/>
                </a:tc>
                <a:extLst>
                  <a:ext uri="{0D108BD9-81ED-4DB2-BD59-A6C34878D82A}">
                    <a16:rowId xmlns:a16="http://schemas.microsoft.com/office/drawing/2014/main" val="878082131"/>
                  </a:ext>
                </a:extLst>
              </a:tr>
              <a:tr h="593905">
                <a:tc>
                  <a:txBody>
                    <a:bodyPr/>
                    <a:lstStyle/>
                    <a:p>
                      <a:pPr algn="ctr"/>
                      <a:r>
                        <a:rPr lang="en-US"/>
                        <a:t>2</a:t>
                      </a:r>
                    </a:p>
                  </a:txBody>
                  <a:tcPr anchor="ctr"/>
                </a:tc>
                <a:tc>
                  <a:txBody>
                    <a:bodyPr/>
                    <a:lstStyle/>
                    <a:p>
                      <a:pPr algn="ctr"/>
                      <a:r>
                        <a:rPr lang="en-US"/>
                        <a:t>257</a:t>
                      </a:r>
                    </a:p>
                  </a:txBody>
                  <a:tcPr anchor="ctr"/>
                </a:tc>
                <a:tc>
                  <a:txBody>
                    <a:bodyPr/>
                    <a:lstStyle/>
                    <a:p>
                      <a:r>
                        <a:rPr lang="en-US" dirty="0"/>
                        <a:t>Men in Black (1997)</a:t>
                      </a:r>
                    </a:p>
                  </a:txBody>
                  <a:tcPr anchor="ctr"/>
                </a:tc>
                <a:tc>
                  <a:txBody>
                    <a:bodyPr/>
                    <a:lstStyle/>
                    <a:p>
                      <a:pPr algn="ctr"/>
                      <a:r>
                        <a:rPr lang="en-US"/>
                        <a:t>4</a:t>
                      </a:r>
                    </a:p>
                  </a:txBody>
                  <a:tcPr anchor="ctr"/>
                </a:tc>
                <a:tc>
                  <a:txBody>
                    <a:bodyPr/>
                    <a:lstStyle/>
                    <a:p>
                      <a:pPr algn="ctr"/>
                      <a:r>
                        <a:rPr lang="en-US"/>
                        <a:t>888550871</a:t>
                      </a:r>
                    </a:p>
                  </a:txBody>
                  <a:tcPr anchor="ctr"/>
                </a:tc>
                <a:extLst>
                  <a:ext uri="{0D108BD9-81ED-4DB2-BD59-A6C34878D82A}">
                    <a16:rowId xmlns:a16="http://schemas.microsoft.com/office/drawing/2014/main" val="532142839"/>
                  </a:ext>
                </a:extLst>
              </a:tr>
              <a:tr h="640080">
                <a:tc>
                  <a:txBody>
                    <a:bodyPr/>
                    <a:lstStyle/>
                    <a:p>
                      <a:pPr algn="ctr"/>
                      <a:r>
                        <a:rPr lang="en-US"/>
                        <a:t>5</a:t>
                      </a:r>
                    </a:p>
                  </a:txBody>
                  <a:tcPr anchor="ctr"/>
                </a:tc>
                <a:tc>
                  <a:txBody>
                    <a:bodyPr/>
                    <a:lstStyle/>
                    <a:p>
                      <a:pPr algn="ctr"/>
                      <a:r>
                        <a:rPr lang="en-US"/>
                        <a:t>474</a:t>
                      </a:r>
                    </a:p>
                  </a:txBody>
                  <a:tcPr anchor="ctr"/>
                </a:tc>
                <a:tc>
                  <a:txBody>
                    <a:bodyPr/>
                    <a:lstStyle/>
                    <a:p>
                      <a:r>
                        <a:rPr lang="en-US"/>
                        <a:t>Dr. Strangelove (1964)</a:t>
                      </a:r>
                    </a:p>
                  </a:txBody>
                  <a:tcPr anchor="ctr"/>
                </a:tc>
                <a:tc>
                  <a:txBody>
                    <a:bodyPr/>
                    <a:lstStyle/>
                    <a:p>
                      <a:pPr algn="ctr"/>
                      <a:r>
                        <a:rPr lang="en-US"/>
                        <a:t>5</a:t>
                      </a:r>
                    </a:p>
                  </a:txBody>
                  <a:tcPr anchor="ctr"/>
                </a:tc>
                <a:tc>
                  <a:txBody>
                    <a:bodyPr/>
                    <a:lstStyle/>
                    <a:p>
                      <a:pPr algn="ctr"/>
                      <a:r>
                        <a:rPr lang="en-US"/>
                        <a:t>875635845</a:t>
                      </a:r>
                    </a:p>
                  </a:txBody>
                  <a:tcPr anchor="ctr"/>
                </a:tc>
                <a:extLst>
                  <a:ext uri="{0D108BD9-81ED-4DB2-BD59-A6C34878D82A}">
                    <a16:rowId xmlns:a16="http://schemas.microsoft.com/office/drawing/2014/main" val="1353327791"/>
                  </a:ext>
                </a:extLst>
              </a:tr>
              <a:tr h="557329">
                <a:tc>
                  <a:txBody>
                    <a:bodyPr/>
                    <a:lstStyle/>
                    <a:p>
                      <a:pPr algn="ctr"/>
                      <a:r>
                        <a:rPr lang="en-US" dirty="0"/>
                        <a:t>10</a:t>
                      </a:r>
                    </a:p>
                  </a:txBody>
                  <a:tcPr anchor="ctr"/>
                </a:tc>
                <a:tc>
                  <a:txBody>
                    <a:bodyPr/>
                    <a:lstStyle/>
                    <a:p>
                      <a:pPr algn="ctr"/>
                      <a:r>
                        <a:rPr lang="en-US"/>
                        <a:t>50</a:t>
                      </a:r>
                    </a:p>
                  </a:txBody>
                  <a:tcPr anchor="ctr"/>
                </a:tc>
                <a:tc>
                  <a:txBody>
                    <a:bodyPr/>
                    <a:lstStyle/>
                    <a:p>
                      <a:r>
                        <a:rPr lang="en-US"/>
                        <a:t>Star Wars (1977)</a:t>
                      </a:r>
                    </a:p>
                  </a:txBody>
                  <a:tcPr anchor="ctr"/>
                </a:tc>
                <a:tc>
                  <a:txBody>
                    <a:bodyPr/>
                    <a:lstStyle/>
                    <a:p>
                      <a:pPr algn="ctr"/>
                      <a:r>
                        <a:rPr lang="en-US"/>
                        <a:t>4</a:t>
                      </a:r>
                    </a:p>
                  </a:txBody>
                  <a:tcPr anchor="ctr"/>
                </a:tc>
                <a:tc>
                  <a:txBody>
                    <a:bodyPr/>
                    <a:lstStyle/>
                    <a:p>
                      <a:pPr algn="ctr"/>
                      <a:r>
                        <a:rPr lang="en-US" dirty="0"/>
                        <a:t>877888877</a:t>
                      </a:r>
                    </a:p>
                  </a:txBody>
                  <a:tcPr anchor="ctr"/>
                </a:tc>
                <a:extLst>
                  <a:ext uri="{0D108BD9-81ED-4DB2-BD59-A6C34878D82A}">
                    <a16:rowId xmlns:a16="http://schemas.microsoft.com/office/drawing/2014/main" val="2711096154"/>
                  </a:ext>
                </a:extLst>
              </a:tr>
            </a:tbl>
          </a:graphicData>
        </a:graphic>
      </p:graphicFrame>
      <p:sp>
        <p:nvSpPr>
          <p:cNvPr id="34" name="Rectangle 33">
            <a:extLst>
              <a:ext uri="{FF2B5EF4-FFF2-40B4-BE49-F238E27FC236}">
                <a16:creationId xmlns:a16="http://schemas.microsoft.com/office/drawing/2014/main" id="{4319BB91-3E5E-4ADA-A5E3-531005EB35C0}"/>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DA010F1F-9B63-4A5D-8BD5-A1B624016190}"/>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5BC3503B-7EB4-428A-98F7-48DBD8C6692A}"/>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spTree>
    <p:extLst>
      <p:ext uri="{BB962C8B-B14F-4D97-AF65-F5344CB8AC3E}">
        <p14:creationId xmlns:p14="http://schemas.microsoft.com/office/powerpoint/2010/main" val="4086249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6" name="Picture 25">
            <a:extLst>
              <a:ext uri="{FF2B5EF4-FFF2-40B4-BE49-F238E27FC236}">
                <a16:creationId xmlns:a16="http://schemas.microsoft.com/office/drawing/2014/main" id="{5B3929C4-CF81-4017-B95B-7AB743BFF57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27" name="Picture 26">
            <a:extLst>
              <a:ext uri="{FF2B5EF4-FFF2-40B4-BE49-F238E27FC236}">
                <a16:creationId xmlns:a16="http://schemas.microsoft.com/office/drawing/2014/main" id="{D9F890B0-1390-4FE0-88C9-4D8C60A2858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graphicFrame>
        <p:nvGraphicFramePr>
          <p:cNvPr id="2" name="Table 1">
            <a:extLst>
              <a:ext uri="{FF2B5EF4-FFF2-40B4-BE49-F238E27FC236}">
                <a16:creationId xmlns:a16="http://schemas.microsoft.com/office/drawing/2014/main" id="{6EF509FF-1D17-4250-A124-55E6D1AE75FD}"/>
              </a:ext>
            </a:extLst>
          </p:cNvPr>
          <p:cNvGraphicFramePr>
            <a:graphicFrameLocks noGrp="1"/>
          </p:cNvGraphicFramePr>
          <p:nvPr>
            <p:extLst>
              <p:ext uri="{D42A27DB-BD31-4B8C-83A1-F6EECF244321}">
                <p14:modId xmlns:p14="http://schemas.microsoft.com/office/powerpoint/2010/main" val="121992365"/>
              </p:ext>
            </p:extLst>
          </p:nvPr>
        </p:nvGraphicFramePr>
        <p:xfrm>
          <a:off x="6096000" y="1859949"/>
          <a:ext cx="5948439" cy="3699608"/>
        </p:xfrm>
        <a:graphic>
          <a:graphicData uri="http://schemas.openxmlformats.org/drawingml/2006/table">
            <a:tbl>
              <a:tblPr>
                <a:tableStyleId>{BC89EF96-8CEA-46FF-86C4-4CE0E7609802}</a:tableStyleId>
              </a:tblPr>
              <a:tblGrid>
                <a:gridCol w="3814870">
                  <a:extLst>
                    <a:ext uri="{9D8B030D-6E8A-4147-A177-3AD203B41FA5}">
                      <a16:colId xmlns:a16="http://schemas.microsoft.com/office/drawing/2014/main" val="519688352"/>
                    </a:ext>
                  </a:extLst>
                </a:gridCol>
                <a:gridCol w="2133569">
                  <a:extLst>
                    <a:ext uri="{9D8B030D-6E8A-4147-A177-3AD203B41FA5}">
                      <a16:colId xmlns:a16="http://schemas.microsoft.com/office/drawing/2014/main" val="709179325"/>
                    </a:ext>
                  </a:extLst>
                </a:gridCol>
              </a:tblGrid>
              <a:tr h="568134">
                <a:tc>
                  <a:txBody>
                    <a:bodyPr/>
                    <a:lstStyle/>
                    <a:p>
                      <a:pPr marL="0" algn="ctr" defTabSz="914400" rtl="0" eaLnBrk="1" latinLnBrk="0" hangingPunct="1"/>
                      <a:r>
                        <a:rPr lang="en-US" sz="1700" b="1" kern="1200" dirty="0">
                          <a:solidFill>
                            <a:schemeClr val="tx1"/>
                          </a:solidFill>
                          <a:latin typeface="Montserrat Medium" pitchFamily="50" charset="0"/>
                          <a:ea typeface="+mn-ea"/>
                          <a:cs typeface="+mn-cs"/>
                        </a:rPr>
                        <a:t>Specification</a:t>
                      </a:r>
                    </a:p>
                  </a:txBody>
                  <a:tcPr anchor="ctr"/>
                </a:tc>
                <a:tc>
                  <a:txBody>
                    <a:bodyPr/>
                    <a:lstStyle/>
                    <a:p>
                      <a:pPr marL="0" algn="ctr" defTabSz="914400" rtl="0" eaLnBrk="1" latinLnBrk="0" hangingPunct="1"/>
                      <a:r>
                        <a:rPr lang="en-US" sz="1800" b="1" kern="1200" dirty="0" err="1">
                          <a:solidFill>
                            <a:schemeClr val="tx1"/>
                          </a:solidFill>
                          <a:latin typeface="Montserrat Medium" pitchFamily="50" charset="0"/>
                          <a:ea typeface="+mn-ea"/>
                          <a:cs typeface="+mn-cs"/>
                        </a:rPr>
                        <a:t>MovieLens</a:t>
                      </a:r>
                      <a:r>
                        <a:rPr lang="en-US" sz="1800" b="1" kern="1200" dirty="0">
                          <a:solidFill>
                            <a:schemeClr val="tx1"/>
                          </a:solidFill>
                          <a:latin typeface="Montserrat Medium" pitchFamily="50" charset="0"/>
                          <a:ea typeface="+mn-ea"/>
                          <a:cs typeface="+mn-cs"/>
                        </a:rPr>
                        <a:t> 1M</a:t>
                      </a:r>
                    </a:p>
                  </a:txBody>
                  <a:tcPr anchor="ctr"/>
                </a:tc>
                <a:extLst>
                  <a:ext uri="{0D108BD9-81ED-4DB2-BD59-A6C34878D82A}">
                    <a16:rowId xmlns:a16="http://schemas.microsoft.com/office/drawing/2014/main" val="386632798"/>
                  </a:ext>
                </a:extLst>
              </a:tr>
              <a:tr h="515157">
                <a:tc>
                  <a:txBody>
                    <a:bodyPr/>
                    <a:lstStyle/>
                    <a:p>
                      <a:pPr algn="ctr"/>
                      <a:r>
                        <a:rPr lang="en-US" sz="1700" b="1" dirty="0">
                          <a:latin typeface="Montserrat Medium" pitchFamily="50" charset="0"/>
                        </a:rPr>
                        <a:t>Number of users</a:t>
                      </a:r>
                    </a:p>
                  </a:txBody>
                  <a:tcPr anchor="ctr"/>
                </a:tc>
                <a:tc>
                  <a:txBody>
                    <a:bodyPr/>
                    <a:lstStyle/>
                    <a:p>
                      <a:pPr algn="just"/>
                      <a:r>
                        <a:rPr lang="en-US" sz="1600" b="0" dirty="0">
                          <a:latin typeface="Montserrat" pitchFamily="2" charset="0"/>
                        </a:rPr>
                        <a:t>6,040</a:t>
                      </a:r>
                    </a:p>
                  </a:txBody>
                  <a:tcPr anchor="ctr"/>
                </a:tc>
                <a:extLst>
                  <a:ext uri="{0D108BD9-81ED-4DB2-BD59-A6C34878D82A}">
                    <a16:rowId xmlns:a16="http://schemas.microsoft.com/office/drawing/2014/main" val="3526840976"/>
                  </a:ext>
                </a:extLst>
              </a:tr>
              <a:tr h="558754">
                <a:tc>
                  <a:txBody>
                    <a:bodyPr/>
                    <a:lstStyle/>
                    <a:p>
                      <a:pPr algn="ctr"/>
                      <a:r>
                        <a:rPr lang="en-US" sz="1700" b="1">
                          <a:latin typeface="Montserrat Medium" pitchFamily="50" charset="0"/>
                        </a:rPr>
                        <a:t>Number of items</a:t>
                      </a:r>
                    </a:p>
                  </a:txBody>
                  <a:tcPr anchor="ctr"/>
                </a:tc>
                <a:tc>
                  <a:txBody>
                    <a:bodyPr/>
                    <a:lstStyle/>
                    <a:p>
                      <a:pPr algn="just"/>
                      <a:r>
                        <a:rPr lang="en-US" sz="1600" b="0" dirty="0">
                          <a:latin typeface="Montserrat" pitchFamily="2" charset="0"/>
                        </a:rPr>
                        <a:t>3,952 movie</a:t>
                      </a:r>
                    </a:p>
                  </a:txBody>
                  <a:tcPr anchor="ctr"/>
                </a:tc>
                <a:extLst>
                  <a:ext uri="{0D108BD9-81ED-4DB2-BD59-A6C34878D82A}">
                    <a16:rowId xmlns:a16="http://schemas.microsoft.com/office/drawing/2014/main" val="1952118270"/>
                  </a:ext>
                </a:extLst>
              </a:tr>
              <a:tr h="504632">
                <a:tc>
                  <a:txBody>
                    <a:bodyPr/>
                    <a:lstStyle/>
                    <a:p>
                      <a:pPr algn="ctr"/>
                      <a:r>
                        <a:rPr lang="en-US" sz="1700" b="1" dirty="0">
                          <a:latin typeface="Montserrat Medium" pitchFamily="50" charset="0"/>
                        </a:rPr>
                        <a:t>Number of interactions</a:t>
                      </a:r>
                    </a:p>
                  </a:txBody>
                  <a:tcPr anchor="ctr"/>
                </a:tc>
                <a:tc>
                  <a:txBody>
                    <a:bodyPr/>
                    <a:lstStyle/>
                    <a:p>
                      <a:pPr algn="just"/>
                      <a:r>
                        <a:rPr lang="en-US" sz="1600" b="0" dirty="0">
                          <a:latin typeface="Montserrat" pitchFamily="2" charset="0"/>
                        </a:rPr>
                        <a:t>1,000,209 ratings</a:t>
                      </a:r>
                    </a:p>
                  </a:txBody>
                  <a:tcPr anchor="ctr"/>
                </a:tc>
                <a:extLst>
                  <a:ext uri="{0D108BD9-81ED-4DB2-BD59-A6C34878D82A}">
                    <a16:rowId xmlns:a16="http://schemas.microsoft.com/office/drawing/2014/main" val="706068977"/>
                  </a:ext>
                </a:extLst>
              </a:tr>
              <a:tr h="481263">
                <a:tc>
                  <a:txBody>
                    <a:bodyPr/>
                    <a:lstStyle/>
                    <a:p>
                      <a:pPr algn="ctr"/>
                      <a:r>
                        <a:rPr lang="en-US" sz="1700" b="1">
                          <a:latin typeface="Montserrat Medium" pitchFamily="50" charset="0"/>
                        </a:rPr>
                        <a:t>Rating scale</a:t>
                      </a:r>
                    </a:p>
                  </a:txBody>
                  <a:tcPr anchor="ctr"/>
                </a:tc>
                <a:tc>
                  <a:txBody>
                    <a:bodyPr/>
                    <a:lstStyle/>
                    <a:p>
                      <a:pPr algn="just"/>
                      <a:r>
                        <a:rPr lang="en-US" sz="1600" b="0" dirty="0">
                          <a:latin typeface="Montserrat" pitchFamily="2" charset="0"/>
                        </a:rPr>
                        <a:t>1–5 stars</a:t>
                      </a:r>
                    </a:p>
                  </a:txBody>
                  <a:tcPr anchor="ctr"/>
                </a:tc>
                <a:extLst>
                  <a:ext uri="{0D108BD9-81ED-4DB2-BD59-A6C34878D82A}">
                    <a16:rowId xmlns:a16="http://schemas.microsoft.com/office/drawing/2014/main" val="1522749615"/>
                  </a:ext>
                </a:extLst>
              </a:tr>
              <a:tr h="551904">
                <a:tc>
                  <a:txBody>
                    <a:bodyPr/>
                    <a:lstStyle/>
                    <a:p>
                      <a:pPr algn="ctr"/>
                      <a:r>
                        <a:rPr lang="en-US" sz="1700" b="1" dirty="0">
                          <a:latin typeface="Montserrat Medium" pitchFamily="50" charset="0"/>
                        </a:rPr>
                        <a:t>Minimum interactions per user</a:t>
                      </a:r>
                    </a:p>
                  </a:txBody>
                  <a:tcPr anchor="ctr"/>
                </a:tc>
                <a:tc>
                  <a:txBody>
                    <a:bodyPr/>
                    <a:lstStyle/>
                    <a:p>
                      <a:pPr algn="just"/>
                      <a:r>
                        <a:rPr lang="en-US" sz="1600" b="0" dirty="0">
                          <a:latin typeface="Montserrat" pitchFamily="2" charset="0"/>
                        </a:rPr>
                        <a:t>20 ratings</a:t>
                      </a:r>
                    </a:p>
                  </a:txBody>
                  <a:tcPr anchor="ctr"/>
                </a:tc>
                <a:extLst>
                  <a:ext uri="{0D108BD9-81ED-4DB2-BD59-A6C34878D82A}">
                    <a16:rowId xmlns:a16="http://schemas.microsoft.com/office/drawing/2014/main" val="3974076269"/>
                  </a:ext>
                </a:extLst>
              </a:tr>
              <a:tr h="519764">
                <a:tc>
                  <a:txBody>
                    <a:bodyPr/>
                    <a:lstStyle/>
                    <a:p>
                      <a:pPr algn="ctr"/>
                      <a:r>
                        <a:rPr lang="en-US" sz="1700" b="1" dirty="0">
                          <a:latin typeface="Montserrat Medium" pitchFamily="50" charset="0"/>
                        </a:rPr>
                        <a:t>Approximate sparsity</a:t>
                      </a:r>
                    </a:p>
                  </a:txBody>
                  <a:tcPr anchor="ctr"/>
                </a:tc>
                <a:tc>
                  <a:txBody>
                    <a:bodyPr/>
                    <a:lstStyle/>
                    <a:p>
                      <a:pPr algn="just"/>
                      <a:r>
                        <a:rPr lang="en-US" sz="1600" b="0" dirty="0">
                          <a:latin typeface="Montserrat" pitchFamily="2" charset="0"/>
                        </a:rPr>
                        <a:t>95.8%</a:t>
                      </a:r>
                    </a:p>
                  </a:txBody>
                  <a:tcPr anchor="ctr"/>
                </a:tc>
                <a:extLst>
                  <a:ext uri="{0D108BD9-81ED-4DB2-BD59-A6C34878D82A}">
                    <a16:rowId xmlns:a16="http://schemas.microsoft.com/office/drawing/2014/main" val="954040831"/>
                  </a:ext>
                </a:extLst>
              </a:tr>
            </a:tbl>
          </a:graphicData>
        </a:graphic>
      </p:graphicFrame>
      <p:sp>
        <p:nvSpPr>
          <p:cNvPr id="37" name="TextBox 36">
            <a:extLst>
              <a:ext uri="{FF2B5EF4-FFF2-40B4-BE49-F238E27FC236}">
                <a16:creationId xmlns:a16="http://schemas.microsoft.com/office/drawing/2014/main" id="{7C2C19EF-2830-495D-832F-96365D01033B}"/>
              </a:ext>
            </a:extLst>
          </p:cNvPr>
          <p:cNvSpPr txBox="1"/>
          <p:nvPr/>
        </p:nvSpPr>
        <p:spPr>
          <a:xfrm>
            <a:off x="251673" y="1396419"/>
            <a:ext cx="5656947" cy="4308872"/>
          </a:xfrm>
          <a:prstGeom prst="rect">
            <a:avLst/>
          </a:prstGeom>
          <a:noFill/>
        </p:spPr>
        <p:txBody>
          <a:bodyPr wrap="square">
            <a:spAutoFit/>
          </a:bodyPr>
          <a:lstStyle/>
          <a:p>
            <a:r>
              <a:rPr lang="en-US" sz="2000" b="1" dirty="0" err="1">
                <a:latin typeface="Montserrat Medium" pitchFamily="50" charset="0"/>
              </a:rPr>
              <a:t>MovieLens</a:t>
            </a:r>
            <a:r>
              <a:rPr lang="en-US" sz="2000" b="1" dirty="0">
                <a:latin typeface="Montserrat Medium" pitchFamily="50" charset="0"/>
              </a:rPr>
              <a:t> 1M</a:t>
            </a:r>
          </a:p>
          <a:p>
            <a:endParaRPr lang="en-US" sz="2000"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About 1 million ratings, from 6,000 users on 4,000 movies, collected by </a:t>
            </a:r>
            <a:r>
              <a:rPr lang="en-US" dirty="0" err="1">
                <a:latin typeface="Montserrat Medium" pitchFamily="50" charset="0"/>
              </a:rPr>
              <a:t>GroupLens</a:t>
            </a:r>
            <a:r>
              <a:rPr lang="en-US" dirty="0">
                <a:latin typeface="Montserrat Medium" pitchFamily="50" charset="0"/>
              </a:rPr>
              <a:t> Research in 2000.</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The standard benchmark for collaborative filtering research for over two decades, including </a:t>
            </a:r>
            <a:r>
              <a:rPr lang="en-US" dirty="0" err="1">
                <a:latin typeface="Montserrat Medium" pitchFamily="50" charset="0"/>
              </a:rPr>
              <a:t>LightGCN</a:t>
            </a:r>
            <a:r>
              <a:rPr lang="en-US" dirty="0">
                <a:latin typeface="Montserrat Medium" pitchFamily="50" charset="0"/>
              </a:rPr>
              <a:t>, NGCF, and most GNN recommenders.</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Using this benchmark keeps the results directly comparable with prior work in graph-based recommendation.</a:t>
            </a:r>
          </a:p>
          <a:p>
            <a:pPr marL="285750" indent="-285750">
              <a:buFont typeface="Arial" panose="020B0604020202020204" pitchFamily="34" charset="0"/>
              <a:buChar char="•"/>
            </a:pPr>
            <a:endParaRPr lang="en-US" dirty="0">
              <a:latin typeface="Montserrat Medium" pitchFamily="50" charset="0"/>
            </a:endParaRPr>
          </a:p>
        </p:txBody>
      </p:sp>
      <p:sp>
        <p:nvSpPr>
          <p:cNvPr id="29" name="Rectangle 28">
            <a:extLst>
              <a:ext uri="{FF2B5EF4-FFF2-40B4-BE49-F238E27FC236}">
                <a16:creationId xmlns:a16="http://schemas.microsoft.com/office/drawing/2014/main" id="{9693DEB3-4D0D-4C19-8BC3-A7E273E7E158}"/>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48" name="Rectangle 47">
            <a:extLst>
              <a:ext uri="{FF2B5EF4-FFF2-40B4-BE49-F238E27FC236}">
                <a16:creationId xmlns:a16="http://schemas.microsoft.com/office/drawing/2014/main" id="{A19965E2-2D0A-4189-BBDB-A520F3E48EE2}"/>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49" name="Rectangle 48">
            <a:extLst>
              <a:ext uri="{FF2B5EF4-FFF2-40B4-BE49-F238E27FC236}">
                <a16:creationId xmlns:a16="http://schemas.microsoft.com/office/drawing/2014/main" id="{03618405-9179-4689-9D2B-E3B0330A28B4}"/>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sp>
        <p:nvSpPr>
          <p:cNvPr id="50" name="TextBox 49">
            <a:extLst>
              <a:ext uri="{FF2B5EF4-FFF2-40B4-BE49-F238E27FC236}">
                <a16:creationId xmlns:a16="http://schemas.microsoft.com/office/drawing/2014/main" id="{838BFF7E-E65A-41B8-9F2D-9EA7E772E6E1}"/>
              </a:ext>
            </a:extLst>
          </p:cNvPr>
          <p:cNvSpPr txBox="1"/>
          <p:nvPr/>
        </p:nvSpPr>
        <p:spPr>
          <a:xfrm>
            <a:off x="60720" y="5748122"/>
            <a:ext cx="11879607" cy="553998"/>
          </a:xfrm>
          <a:prstGeom prst="rect">
            <a:avLst/>
          </a:prstGeom>
          <a:noFill/>
        </p:spPr>
        <p:txBody>
          <a:bodyPr wrap="square">
            <a:spAutoFit/>
          </a:bodyPr>
          <a:lstStyle/>
          <a:p>
            <a:r>
              <a:rPr lang="en-US" sz="1000" dirty="0">
                <a:latin typeface="Agency FB" panose="020B0503020202020204" pitchFamily="34" charset="0"/>
              </a:rPr>
              <a:t>[19] </a:t>
            </a:r>
            <a:r>
              <a:rPr lang="en-US" sz="1000" dirty="0" err="1">
                <a:latin typeface="Agency FB" panose="020B0503020202020204" pitchFamily="34" charset="0"/>
              </a:rPr>
              <a:t>GroupLens</a:t>
            </a:r>
            <a:r>
              <a:rPr lang="en-US" sz="1000" dirty="0">
                <a:latin typeface="Agency FB" panose="020B0503020202020204" pitchFamily="34" charset="0"/>
              </a:rPr>
              <a:t> Research, "</a:t>
            </a:r>
            <a:r>
              <a:rPr lang="en-US" sz="1000" dirty="0" err="1">
                <a:latin typeface="Agency FB" panose="020B0503020202020204" pitchFamily="34" charset="0"/>
              </a:rPr>
              <a:t>MovieLens</a:t>
            </a:r>
            <a:r>
              <a:rPr lang="en-US" sz="1000" dirty="0">
                <a:latin typeface="Agency FB" panose="020B0503020202020204" pitchFamily="34" charset="0"/>
              </a:rPr>
              <a:t> 1M Dataset," University of Minnesota. Available: https://grouplens.org/datasets/movielens/1m/ </a:t>
            </a:r>
          </a:p>
          <a:p>
            <a:r>
              <a:rPr lang="en-US" sz="1000" dirty="0">
                <a:latin typeface="Agency FB" panose="020B0503020202020204" pitchFamily="34" charset="0"/>
              </a:rPr>
              <a:t>[20] F. M. Harper and J. A. </a:t>
            </a:r>
            <a:r>
              <a:rPr lang="en-US" sz="1000" dirty="0" err="1">
                <a:latin typeface="Agency FB" panose="020B0503020202020204" pitchFamily="34" charset="0"/>
              </a:rPr>
              <a:t>Konstan</a:t>
            </a:r>
            <a:r>
              <a:rPr lang="en-US" sz="1000" dirty="0">
                <a:latin typeface="Agency FB" panose="020B0503020202020204" pitchFamily="34" charset="0"/>
              </a:rPr>
              <a:t>, "The </a:t>
            </a:r>
            <a:r>
              <a:rPr lang="en-US" sz="1000" dirty="0" err="1">
                <a:latin typeface="Agency FB" panose="020B0503020202020204" pitchFamily="34" charset="0"/>
              </a:rPr>
              <a:t>MovieLens</a:t>
            </a:r>
            <a:r>
              <a:rPr lang="en-US" sz="1000" dirty="0">
                <a:latin typeface="Agency FB" panose="020B0503020202020204" pitchFamily="34" charset="0"/>
              </a:rPr>
              <a:t> Datasets: History and Context," ACM Transactions on Interactive Intelligent Systems, vol. 5, no. 4, Art. no. 19, Dec. 2015, </a:t>
            </a:r>
            <a:r>
              <a:rPr lang="en-US" sz="1000" dirty="0" err="1">
                <a:latin typeface="Agency FB" panose="020B0503020202020204" pitchFamily="34" charset="0"/>
              </a:rPr>
              <a:t>doi</a:t>
            </a:r>
            <a:r>
              <a:rPr lang="en-US" sz="1000" dirty="0">
                <a:latin typeface="Agency FB" panose="020B0503020202020204" pitchFamily="34" charset="0"/>
              </a:rPr>
              <a:t>: 10.1145/2827872.</a:t>
            </a:r>
          </a:p>
          <a:p>
            <a:r>
              <a:rPr lang="en-US" sz="1000" dirty="0">
                <a:latin typeface="Agency FB" panose="020B0503020202020204" pitchFamily="34" charset="0"/>
              </a:rPr>
              <a:t>[21] J. Bobadilla, F. Ortega, A. Hernando, and A. Gutiérrez, "Recommender Systems Survey," Knowledge-Based Systems, vol. 46, pp. 109–132, Jul. 2013. </a:t>
            </a:r>
          </a:p>
        </p:txBody>
      </p:sp>
    </p:spTree>
    <p:extLst>
      <p:ext uri="{BB962C8B-B14F-4D97-AF65-F5344CB8AC3E}">
        <p14:creationId xmlns:p14="http://schemas.microsoft.com/office/powerpoint/2010/main" val="3187850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7" name="Picture 26">
            <a:extLst>
              <a:ext uri="{FF2B5EF4-FFF2-40B4-BE49-F238E27FC236}">
                <a16:creationId xmlns:a16="http://schemas.microsoft.com/office/drawing/2014/main" id="{D9F890B0-1390-4FE0-88C9-4D8C60A2858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
        <p:nvSpPr>
          <p:cNvPr id="37" name="TextBox 36">
            <a:extLst>
              <a:ext uri="{FF2B5EF4-FFF2-40B4-BE49-F238E27FC236}">
                <a16:creationId xmlns:a16="http://schemas.microsoft.com/office/drawing/2014/main" id="{7C2C19EF-2830-495D-832F-96365D01033B}"/>
              </a:ext>
            </a:extLst>
          </p:cNvPr>
          <p:cNvSpPr txBox="1"/>
          <p:nvPr/>
        </p:nvSpPr>
        <p:spPr>
          <a:xfrm>
            <a:off x="251672" y="1396419"/>
            <a:ext cx="11653815" cy="4031873"/>
          </a:xfrm>
          <a:prstGeom prst="rect">
            <a:avLst/>
          </a:prstGeom>
          <a:noFill/>
        </p:spPr>
        <p:txBody>
          <a:bodyPr wrap="square">
            <a:spAutoFit/>
          </a:bodyPr>
          <a:lstStyle/>
          <a:p>
            <a:r>
              <a:rPr lang="en-US" sz="2000" b="1" dirty="0" err="1">
                <a:latin typeface="Montserrat Medium" pitchFamily="50" charset="0"/>
              </a:rPr>
              <a:t>MovieLens</a:t>
            </a:r>
            <a:r>
              <a:rPr lang="en-US" sz="2000" b="1" dirty="0">
                <a:latin typeface="Montserrat Medium" pitchFamily="50" charset="0"/>
              </a:rPr>
              <a:t> 1M</a:t>
            </a:r>
          </a:p>
          <a:p>
            <a:pPr marL="342900" indent="-342900">
              <a:buFont typeface="Wingdings" panose="05000000000000000000" pitchFamily="2" charset="2"/>
              <a:buChar char="§"/>
            </a:pPr>
            <a:endParaRPr lang="en-US" sz="2000"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Scalable Recommendation Evaluation: Provides over 1 million user–movie ratings, enabling the evaluation of recommendation algorithms on a larger and more realistic dataset than </a:t>
            </a:r>
            <a:r>
              <a:rPr lang="en-US" dirty="0" err="1">
                <a:latin typeface="Montserrat Medium" pitchFamily="50" charset="0"/>
              </a:rPr>
              <a:t>MovieLens</a:t>
            </a:r>
            <a:r>
              <a:rPr lang="en-US" dirty="0">
                <a:latin typeface="Montserrat Medium" pitchFamily="50" charset="0"/>
              </a:rPr>
              <a:t> 100K.</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Benchmarking Advanced Models: Serves as a standard benchmark for comparing collaborative filtering, matrix factorization, graph neural networks, deep learning, and explainable recommendation methods.</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Learning Rich User Preferences: Includes demographic information (age, gender, occupation), movie genres, timestamps, and ratings, allowing researchers to model user behavior and improve recommendation quality.</a:t>
            </a:r>
          </a:p>
          <a:p>
            <a:endParaRPr lang="en-US" dirty="0">
              <a:latin typeface="Montserrat Medium" pitchFamily="50" charset="0"/>
            </a:endParaRPr>
          </a:p>
        </p:txBody>
      </p:sp>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46" name="Picture 45">
            <a:extLst>
              <a:ext uri="{FF2B5EF4-FFF2-40B4-BE49-F238E27FC236}">
                <a16:creationId xmlns:a16="http://schemas.microsoft.com/office/drawing/2014/main" id="{8F63320B-B090-4DC8-B80E-1EE0F3092648}"/>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2657551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7" name="TextBox 36">
            <a:extLst>
              <a:ext uri="{FF2B5EF4-FFF2-40B4-BE49-F238E27FC236}">
                <a16:creationId xmlns:a16="http://schemas.microsoft.com/office/drawing/2014/main" id="{7C2C19EF-2830-495D-832F-96365D01033B}"/>
              </a:ext>
            </a:extLst>
          </p:cNvPr>
          <p:cNvSpPr txBox="1"/>
          <p:nvPr/>
        </p:nvSpPr>
        <p:spPr>
          <a:xfrm>
            <a:off x="129299" y="1208030"/>
            <a:ext cx="5638988" cy="984885"/>
          </a:xfrm>
          <a:prstGeom prst="rect">
            <a:avLst/>
          </a:prstGeom>
          <a:noFill/>
        </p:spPr>
        <p:txBody>
          <a:bodyPr wrap="square">
            <a:spAutoFit/>
          </a:bodyPr>
          <a:lstStyle/>
          <a:p>
            <a:r>
              <a:rPr lang="en-US" sz="2000" b="1" dirty="0" err="1">
                <a:latin typeface="Montserrat Medium" pitchFamily="50" charset="0"/>
              </a:rPr>
              <a:t>MovieLens</a:t>
            </a:r>
            <a:r>
              <a:rPr lang="en-US" sz="2000" b="1" dirty="0">
                <a:latin typeface="Montserrat Medium" pitchFamily="50" charset="0"/>
              </a:rPr>
              <a:t> 1M</a:t>
            </a:r>
          </a:p>
          <a:p>
            <a:pPr marL="342900" indent="-342900">
              <a:buFont typeface="Wingdings" panose="05000000000000000000" pitchFamily="2" charset="2"/>
              <a:buChar char="§"/>
            </a:pPr>
            <a:endParaRPr lang="en-US" sz="2000" dirty="0">
              <a:latin typeface="Montserrat Medium" pitchFamily="50" charset="0"/>
            </a:endParaRPr>
          </a:p>
          <a:p>
            <a:endParaRPr lang="en-US" dirty="0">
              <a:latin typeface="Montserrat Medium" pitchFamily="50" charset="0"/>
            </a:endParaRPr>
          </a:p>
        </p:txBody>
      </p:sp>
      <p:graphicFrame>
        <p:nvGraphicFramePr>
          <p:cNvPr id="2" name="Table 1">
            <a:extLst>
              <a:ext uri="{FF2B5EF4-FFF2-40B4-BE49-F238E27FC236}">
                <a16:creationId xmlns:a16="http://schemas.microsoft.com/office/drawing/2014/main" id="{1205648F-71F4-4AEF-84AC-130D1A586309}"/>
              </a:ext>
            </a:extLst>
          </p:cNvPr>
          <p:cNvGraphicFramePr>
            <a:graphicFrameLocks noGrp="1"/>
          </p:cNvGraphicFramePr>
          <p:nvPr>
            <p:extLst>
              <p:ext uri="{D42A27DB-BD31-4B8C-83A1-F6EECF244321}">
                <p14:modId xmlns:p14="http://schemas.microsoft.com/office/powerpoint/2010/main" val="468923010"/>
              </p:ext>
            </p:extLst>
          </p:nvPr>
        </p:nvGraphicFramePr>
        <p:xfrm>
          <a:off x="187760" y="2083804"/>
          <a:ext cx="11891464" cy="3109661"/>
        </p:xfrm>
        <a:graphic>
          <a:graphicData uri="http://schemas.openxmlformats.org/drawingml/2006/table">
            <a:tbl>
              <a:tblPr>
                <a:tableStyleId>{BC89EF96-8CEA-46FF-86C4-4CE0E7609802}</a:tableStyleId>
              </a:tblPr>
              <a:tblGrid>
                <a:gridCol w="790648">
                  <a:extLst>
                    <a:ext uri="{9D8B030D-6E8A-4147-A177-3AD203B41FA5}">
                      <a16:colId xmlns:a16="http://schemas.microsoft.com/office/drawing/2014/main" val="542438246"/>
                    </a:ext>
                  </a:extLst>
                </a:gridCol>
                <a:gridCol w="960120">
                  <a:extLst>
                    <a:ext uri="{9D8B030D-6E8A-4147-A177-3AD203B41FA5}">
                      <a16:colId xmlns:a16="http://schemas.microsoft.com/office/drawing/2014/main" val="958308425"/>
                    </a:ext>
                  </a:extLst>
                </a:gridCol>
                <a:gridCol w="4114800">
                  <a:extLst>
                    <a:ext uri="{9D8B030D-6E8A-4147-A177-3AD203B41FA5}">
                      <a16:colId xmlns:a16="http://schemas.microsoft.com/office/drawing/2014/main" val="1982406247"/>
                    </a:ext>
                  </a:extLst>
                </a:gridCol>
                <a:gridCol w="978408">
                  <a:extLst>
                    <a:ext uri="{9D8B030D-6E8A-4147-A177-3AD203B41FA5}">
                      <a16:colId xmlns:a16="http://schemas.microsoft.com/office/drawing/2014/main" val="3701737222"/>
                    </a:ext>
                  </a:extLst>
                </a:gridCol>
                <a:gridCol w="1097280">
                  <a:extLst>
                    <a:ext uri="{9D8B030D-6E8A-4147-A177-3AD203B41FA5}">
                      <a16:colId xmlns:a16="http://schemas.microsoft.com/office/drawing/2014/main" val="1436568072"/>
                    </a:ext>
                  </a:extLst>
                </a:gridCol>
                <a:gridCol w="777240">
                  <a:extLst>
                    <a:ext uri="{9D8B030D-6E8A-4147-A177-3AD203B41FA5}">
                      <a16:colId xmlns:a16="http://schemas.microsoft.com/office/drawing/2014/main" val="739943035"/>
                    </a:ext>
                  </a:extLst>
                </a:gridCol>
                <a:gridCol w="1618488">
                  <a:extLst>
                    <a:ext uri="{9D8B030D-6E8A-4147-A177-3AD203B41FA5}">
                      <a16:colId xmlns:a16="http://schemas.microsoft.com/office/drawing/2014/main" val="3684551186"/>
                    </a:ext>
                  </a:extLst>
                </a:gridCol>
                <a:gridCol w="1554480">
                  <a:extLst>
                    <a:ext uri="{9D8B030D-6E8A-4147-A177-3AD203B41FA5}">
                      <a16:colId xmlns:a16="http://schemas.microsoft.com/office/drawing/2014/main" val="3031852214"/>
                    </a:ext>
                  </a:extLst>
                </a:gridCol>
              </a:tblGrid>
              <a:tr h="352942">
                <a:tc>
                  <a:txBody>
                    <a:bodyPr/>
                    <a:lstStyle/>
                    <a:p>
                      <a:pPr algn="ctr"/>
                      <a:r>
                        <a:rPr lang="en-US" dirty="0">
                          <a:latin typeface="Montserrat Medium" pitchFamily="50" charset="0"/>
                        </a:rPr>
                        <a:t>User ID</a:t>
                      </a:r>
                    </a:p>
                  </a:txBody>
                  <a:tcPr anchor="ctr"/>
                </a:tc>
                <a:tc>
                  <a:txBody>
                    <a:bodyPr/>
                    <a:lstStyle/>
                    <a:p>
                      <a:pPr algn="ctr"/>
                      <a:r>
                        <a:rPr lang="en-US">
                          <a:latin typeface="Montserrat Medium" pitchFamily="50" charset="0"/>
                        </a:rPr>
                        <a:t>Movie ID</a:t>
                      </a:r>
                    </a:p>
                  </a:txBody>
                  <a:tcPr anchor="ctr"/>
                </a:tc>
                <a:tc>
                  <a:txBody>
                    <a:bodyPr/>
                    <a:lstStyle/>
                    <a:p>
                      <a:r>
                        <a:rPr lang="en-US">
                          <a:latin typeface="Montserrat Medium" pitchFamily="50" charset="0"/>
                        </a:rPr>
                        <a:t>Movie Title</a:t>
                      </a:r>
                    </a:p>
                  </a:txBody>
                  <a:tcPr anchor="ctr"/>
                </a:tc>
                <a:tc>
                  <a:txBody>
                    <a:bodyPr/>
                    <a:lstStyle/>
                    <a:p>
                      <a:pPr algn="ctr"/>
                      <a:r>
                        <a:rPr lang="en-US">
                          <a:latin typeface="Montserrat Medium" pitchFamily="50" charset="0"/>
                        </a:rPr>
                        <a:t>Rating</a:t>
                      </a:r>
                    </a:p>
                  </a:txBody>
                  <a:tcPr anchor="ctr"/>
                </a:tc>
                <a:tc>
                  <a:txBody>
                    <a:bodyPr/>
                    <a:lstStyle/>
                    <a:p>
                      <a:pPr algn="ctr"/>
                      <a:r>
                        <a:rPr lang="en-US">
                          <a:latin typeface="Montserrat Medium" pitchFamily="50" charset="0"/>
                        </a:rPr>
                        <a:t>Gender</a:t>
                      </a:r>
                    </a:p>
                  </a:txBody>
                  <a:tcPr anchor="ctr"/>
                </a:tc>
                <a:tc>
                  <a:txBody>
                    <a:bodyPr/>
                    <a:lstStyle/>
                    <a:p>
                      <a:pPr algn="ctr"/>
                      <a:r>
                        <a:rPr lang="en-US">
                          <a:latin typeface="Montserrat Medium" pitchFamily="50" charset="0"/>
                        </a:rPr>
                        <a:t>Age</a:t>
                      </a:r>
                    </a:p>
                  </a:txBody>
                  <a:tcPr anchor="ctr"/>
                </a:tc>
                <a:tc>
                  <a:txBody>
                    <a:bodyPr/>
                    <a:lstStyle/>
                    <a:p>
                      <a:pPr algn="ctr"/>
                      <a:r>
                        <a:rPr lang="en-US">
                          <a:latin typeface="Montserrat Medium" pitchFamily="50" charset="0"/>
                        </a:rPr>
                        <a:t>Occupation</a:t>
                      </a:r>
                    </a:p>
                  </a:txBody>
                  <a:tcPr anchor="ctr"/>
                </a:tc>
                <a:tc>
                  <a:txBody>
                    <a:bodyPr/>
                    <a:lstStyle/>
                    <a:p>
                      <a:pPr algn="ctr"/>
                      <a:r>
                        <a:rPr lang="en-US" dirty="0">
                          <a:latin typeface="Montserrat Medium" pitchFamily="50" charset="0"/>
                        </a:rPr>
                        <a:t>Timestamp</a:t>
                      </a:r>
                    </a:p>
                  </a:txBody>
                  <a:tcPr anchor="ctr"/>
                </a:tc>
                <a:extLst>
                  <a:ext uri="{0D108BD9-81ED-4DB2-BD59-A6C34878D82A}">
                    <a16:rowId xmlns:a16="http://schemas.microsoft.com/office/drawing/2014/main" val="3922208062"/>
                  </a:ext>
                </a:extLst>
              </a:tr>
              <a:tr h="560857">
                <a:tc>
                  <a:txBody>
                    <a:bodyPr/>
                    <a:lstStyle/>
                    <a:p>
                      <a:pPr algn="ctr"/>
                      <a:r>
                        <a:rPr lang="en-US" dirty="0">
                          <a:latin typeface="Montserrat Medium" pitchFamily="50" charset="0"/>
                        </a:rPr>
                        <a:t>1</a:t>
                      </a:r>
                    </a:p>
                  </a:txBody>
                  <a:tcPr anchor="ctr"/>
                </a:tc>
                <a:tc>
                  <a:txBody>
                    <a:bodyPr/>
                    <a:lstStyle/>
                    <a:p>
                      <a:pPr algn="ctr"/>
                      <a:r>
                        <a:rPr lang="en-US">
                          <a:latin typeface="Montserrat Medium" pitchFamily="50" charset="0"/>
                        </a:rPr>
                        <a:t>1193</a:t>
                      </a:r>
                    </a:p>
                  </a:txBody>
                  <a:tcPr anchor="ctr"/>
                </a:tc>
                <a:tc>
                  <a:txBody>
                    <a:bodyPr/>
                    <a:lstStyle/>
                    <a:p>
                      <a:r>
                        <a:rPr lang="en-US">
                          <a:latin typeface="Montserrat Medium" pitchFamily="50" charset="0"/>
                        </a:rPr>
                        <a:t>One Flew Over the Cuckoo's Nest</a:t>
                      </a:r>
                    </a:p>
                  </a:txBody>
                  <a:tcPr anchor="ctr"/>
                </a:tc>
                <a:tc>
                  <a:txBody>
                    <a:bodyPr/>
                    <a:lstStyle/>
                    <a:p>
                      <a:pPr algn="ctr"/>
                      <a:r>
                        <a:rPr lang="en-US">
                          <a:latin typeface="Montserrat Medium" pitchFamily="50" charset="0"/>
                        </a:rPr>
                        <a:t>5</a:t>
                      </a:r>
                    </a:p>
                  </a:txBody>
                  <a:tcPr anchor="ctr"/>
                </a:tc>
                <a:tc>
                  <a:txBody>
                    <a:bodyPr/>
                    <a:lstStyle/>
                    <a:p>
                      <a:pPr algn="ctr"/>
                      <a:r>
                        <a:rPr lang="en-US" dirty="0">
                          <a:latin typeface="Montserrat Medium" pitchFamily="50" charset="0"/>
                        </a:rPr>
                        <a:t>F</a:t>
                      </a:r>
                    </a:p>
                  </a:txBody>
                  <a:tcPr anchor="ctr"/>
                </a:tc>
                <a:tc>
                  <a:txBody>
                    <a:bodyPr/>
                    <a:lstStyle/>
                    <a:p>
                      <a:pPr algn="ctr"/>
                      <a:r>
                        <a:rPr lang="en-US" dirty="0">
                          <a:latin typeface="Montserrat Medium" pitchFamily="50" charset="0"/>
                        </a:rPr>
                        <a:t>16</a:t>
                      </a:r>
                    </a:p>
                  </a:txBody>
                  <a:tcPr anchor="ctr"/>
                </a:tc>
                <a:tc>
                  <a:txBody>
                    <a:bodyPr/>
                    <a:lstStyle/>
                    <a:p>
                      <a:pPr algn="ctr"/>
                      <a:r>
                        <a:rPr lang="en-US">
                          <a:latin typeface="Montserrat Medium" pitchFamily="50" charset="0"/>
                        </a:rPr>
                        <a:t>10</a:t>
                      </a:r>
                    </a:p>
                  </a:txBody>
                  <a:tcPr anchor="ctr"/>
                </a:tc>
                <a:tc>
                  <a:txBody>
                    <a:bodyPr/>
                    <a:lstStyle/>
                    <a:p>
                      <a:pPr algn="ctr"/>
                      <a:r>
                        <a:rPr lang="en-US">
                          <a:latin typeface="Montserrat Medium" pitchFamily="50" charset="0"/>
                        </a:rPr>
                        <a:t>978300760</a:t>
                      </a:r>
                    </a:p>
                  </a:txBody>
                  <a:tcPr anchor="ctr"/>
                </a:tc>
                <a:extLst>
                  <a:ext uri="{0D108BD9-81ED-4DB2-BD59-A6C34878D82A}">
                    <a16:rowId xmlns:a16="http://schemas.microsoft.com/office/drawing/2014/main" val="72238042"/>
                  </a:ext>
                </a:extLst>
              </a:tr>
              <a:tr h="539496">
                <a:tc>
                  <a:txBody>
                    <a:bodyPr/>
                    <a:lstStyle/>
                    <a:p>
                      <a:pPr algn="ctr"/>
                      <a:r>
                        <a:rPr lang="en-US">
                          <a:latin typeface="Montserrat Medium" pitchFamily="50" charset="0"/>
                        </a:rPr>
                        <a:t>1</a:t>
                      </a:r>
                    </a:p>
                  </a:txBody>
                  <a:tcPr anchor="ctr"/>
                </a:tc>
                <a:tc>
                  <a:txBody>
                    <a:bodyPr/>
                    <a:lstStyle/>
                    <a:p>
                      <a:pPr algn="ctr"/>
                      <a:r>
                        <a:rPr lang="en-US">
                          <a:latin typeface="Montserrat Medium" pitchFamily="50" charset="0"/>
                        </a:rPr>
                        <a:t>661</a:t>
                      </a:r>
                    </a:p>
                  </a:txBody>
                  <a:tcPr anchor="ctr"/>
                </a:tc>
                <a:tc>
                  <a:txBody>
                    <a:bodyPr/>
                    <a:lstStyle/>
                    <a:p>
                      <a:r>
                        <a:rPr lang="en-US">
                          <a:latin typeface="Montserrat Medium" pitchFamily="50" charset="0"/>
                        </a:rPr>
                        <a:t>James and the Giant Peach</a:t>
                      </a:r>
                    </a:p>
                  </a:txBody>
                  <a:tcPr anchor="ctr"/>
                </a:tc>
                <a:tc>
                  <a:txBody>
                    <a:bodyPr/>
                    <a:lstStyle/>
                    <a:p>
                      <a:pPr algn="ctr"/>
                      <a:r>
                        <a:rPr lang="en-US">
                          <a:latin typeface="Montserrat Medium" pitchFamily="50" charset="0"/>
                        </a:rPr>
                        <a:t>3</a:t>
                      </a:r>
                    </a:p>
                  </a:txBody>
                  <a:tcPr anchor="ctr"/>
                </a:tc>
                <a:tc>
                  <a:txBody>
                    <a:bodyPr/>
                    <a:lstStyle/>
                    <a:p>
                      <a:pPr algn="ctr"/>
                      <a:r>
                        <a:rPr lang="en-US">
                          <a:latin typeface="Montserrat Medium" pitchFamily="50" charset="0"/>
                        </a:rPr>
                        <a:t>F</a:t>
                      </a:r>
                    </a:p>
                  </a:txBody>
                  <a:tcPr anchor="ctr"/>
                </a:tc>
                <a:tc>
                  <a:txBody>
                    <a:bodyPr/>
                    <a:lstStyle/>
                    <a:p>
                      <a:pPr algn="ctr"/>
                      <a:r>
                        <a:rPr lang="en-US" dirty="0">
                          <a:latin typeface="Montserrat Medium" pitchFamily="50" charset="0"/>
                        </a:rPr>
                        <a:t>17</a:t>
                      </a:r>
                    </a:p>
                  </a:txBody>
                  <a:tcPr anchor="ctr"/>
                </a:tc>
                <a:tc>
                  <a:txBody>
                    <a:bodyPr/>
                    <a:lstStyle/>
                    <a:p>
                      <a:pPr algn="ctr"/>
                      <a:r>
                        <a:rPr lang="en-US">
                          <a:latin typeface="Montserrat Medium" pitchFamily="50" charset="0"/>
                        </a:rPr>
                        <a:t>10</a:t>
                      </a:r>
                    </a:p>
                  </a:txBody>
                  <a:tcPr anchor="ctr"/>
                </a:tc>
                <a:tc>
                  <a:txBody>
                    <a:bodyPr/>
                    <a:lstStyle/>
                    <a:p>
                      <a:pPr algn="ctr"/>
                      <a:r>
                        <a:rPr lang="en-US">
                          <a:latin typeface="Montserrat Medium" pitchFamily="50" charset="0"/>
                        </a:rPr>
                        <a:t>978302109</a:t>
                      </a:r>
                    </a:p>
                  </a:txBody>
                  <a:tcPr anchor="ctr"/>
                </a:tc>
                <a:extLst>
                  <a:ext uri="{0D108BD9-81ED-4DB2-BD59-A6C34878D82A}">
                    <a16:rowId xmlns:a16="http://schemas.microsoft.com/office/drawing/2014/main" val="40931886"/>
                  </a:ext>
                </a:extLst>
              </a:tr>
              <a:tr h="484632">
                <a:tc>
                  <a:txBody>
                    <a:bodyPr/>
                    <a:lstStyle/>
                    <a:p>
                      <a:pPr algn="ctr"/>
                      <a:r>
                        <a:rPr lang="en-US">
                          <a:latin typeface="Montserrat Medium" pitchFamily="50" charset="0"/>
                        </a:rPr>
                        <a:t>2</a:t>
                      </a:r>
                    </a:p>
                  </a:txBody>
                  <a:tcPr anchor="ctr"/>
                </a:tc>
                <a:tc>
                  <a:txBody>
                    <a:bodyPr/>
                    <a:lstStyle/>
                    <a:p>
                      <a:pPr algn="ctr"/>
                      <a:r>
                        <a:rPr lang="en-US">
                          <a:latin typeface="Montserrat Medium" pitchFamily="50" charset="0"/>
                        </a:rPr>
                        <a:t>914</a:t>
                      </a:r>
                    </a:p>
                  </a:txBody>
                  <a:tcPr anchor="ctr"/>
                </a:tc>
                <a:tc>
                  <a:txBody>
                    <a:bodyPr/>
                    <a:lstStyle/>
                    <a:p>
                      <a:r>
                        <a:rPr lang="en-US">
                          <a:latin typeface="Montserrat Medium" pitchFamily="50" charset="0"/>
                        </a:rPr>
                        <a:t>My Fair Lady</a:t>
                      </a:r>
                    </a:p>
                  </a:txBody>
                  <a:tcPr anchor="ctr"/>
                </a:tc>
                <a:tc>
                  <a:txBody>
                    <a:bodyPr/>
                    <a:lstStyle/>
                    <a:p>
                      <a:pPr algn="ctr"/>
                      <a:r>
                        <a:rPr lang="en-US">
                          <a:latin typeface="Montserrat Medium" pitchFamily="50" charset="0"/>
                        </a:rPr>
                        <a:t>4</a:t>
                      </a:r>
                    </a:p>
                  </a:txBody>
                  <a:tcPr anchor="ctr"/>
                </a:tc>
                <a:tc>
                  <a:txBody>
                    <a:bodyPr/>
                    <a:lstStyle/>
                    <a:p>
                      <a:pPr algn="ctr"/>
                      <a:r>
                        <a:rPr lang="en-US">
                          <a:latin typeface="Montserrat Medium" pitchFamily="50" charset="0"/>
                        </a:rPr>
                        <a:t>M</a:t>
                      </a:r>
                    </a:p>
                  </a:txBody>
                  <a:tcPr anchor="ctr"/>
                </a:tc>
                <a:tc>
                  <a:txBody>
                    <a:bodyPr/>
                    <a:lstStyle/>
                    <a:p>
                      <a:pPr algn="ctr"/>
                      <a:r>
                        <a:rPr lang="en-US" dirty="0">
                          <a:latin typeface="Montserrat Medium" pitchFamily="50" charset="0"/>
                        </a:rPr>
                        <a:t>56</a:t>
                      </a:r>
                    </a:p>
                  </a:txBody>
                  <a:tcPr anchor="ctr"/>
                </a:tc>
                <a:tc>
                  <a:txBody>
                    <a:bodyPr/>
                    <a:lstStyle/>
                    <a:p>
                      <a:pPr algn="ctr"/>
                      <a:r>
                        <a:rPr lang="en-US">
                          <a:latin typeface="Montserrat Medium" pitchFamily="50" charset="0"/>
                        </a:rPr>
                        <a:t>16</a:t>
                      </a:r>
                    </a:p>
                  </a:txBody>
                  <a:tcPr anchor="ctr"/>
                </a:tc>
                <a:tc>
                  <a:txBody>
                    <a:bodyPr/>
                    <a:lstStyle/>
                    <a:p>
                      <a:pPr algn="ctr"/>
                      <a:r>
                        <a:rPr lang="en-US">
                          <a:latin typeface="Montserrat Medium" pitchFamily="50" charset="0"/>
                        </a:rPr>
                        <a:t>978298709</a:t>
                      </a:r>
                    </a:p>
                  </a:txBody>
                  <a:tcPr anchor="ctr"/>
                </a:tc>
                <a:extLst>
                  <a:ext uri="{0D108BD9-81ED-4DB2-BD59-A6C34878D82A}">
                    <a16:rowId xmlns:a16="http://schemas.microsoft.com/office/drawing/2014/main" val="4072961665"/>
                  </a:ext>
                </a:extLst>
              </a:tr>
              <a:tr h="438912">
                <a:tc>
                  <a:txBody>
                    <a:bodyPr/>
                    <a:lstStyle/>
                    <a:p>
                      <a:pPr algn="ctr"/>
                      <a:r>
                        <a:rPr lang="en-US">
                          <a:latin typeface="Montserrat Medium" pitchFamily="50" charset="0"/>
                        </a:rPr>
                        <a:t>5</a:t>
                      </a:r>
                    </a:p>
                  </a:txBody>
                  <a:tcPr anchor="ctr"/>
                </a:tc>
                <a:tc>
                  <a:txBody>
                    <a:bodyPr/>
                    <a:lstStyle/>
                    <a:p>
                      <a:pPr algn="ctr"/>
                      <a:r>
                        <a:rPr lang="en-US">
                          <a:latin typeface="Montserrat Medium" pitchFamily="50" charset="0"/>
                        </a:rPr>
                        <a:t>3408</a:t>
                      </a:r>
                    </a:p>
                  </a:txBody>
                  <a:tcPr anchor="ctr"/>
                </a:tc>
                <a:tc>
                  <a:txBody>
                    <a:bodyPr/>
                    <a:lstStyle/>
                    <a:p>
                      <a:r>
                        <a:rPr lang="en-US">
                          <a:latin typeface="Montserrat Medium" pitchFamily="50" charset="0"/>
                        </a:rPr>
                        <a:t>Erin Brockovich</a:t>
                      </a:r>
                    </a:p>
                  </a:txBody>
                  <a:tcPr anchor="ctr"/>
                </a:tc>
                <a:tc>
                  <a:txBody>
                    <a:bodyPr/>
                    <a:lstStyle/>
                    <a:p>
                      <a:pPr algn="ctr"/>
                      <a:r>
                        <a:rPr lang="en-US">
                          <a:latin typeface="Montserrat Medium" pitchFamily="50" charset="0"/>
                        </a:rPr>
                        <a:t>4</a:t>
                      </a:r>
                    </a:p>
                  </a:txBody>
                  <a:tcPr anchor="ctr"/>
                </a:tc>
                <a:tc>
                  <a:txBody>
                    <a:bodyPr/>
                    <a:lstStyle/>
                    <a:p>
                      <a:pPr algn="ctr"/>
                      <a:r>
                        <a:rPr lang="en-US">
                          <a:latin typeface="Montserrat Medium" pitchFamily="50" charset="0"/>
                        </a:rPr>
                        <a:t>M</a:t>
                      </a:r>
                    </a:p>
                  </a:txBody>
                  <a:tcPr anchor="ctr"/>
                </a:tc>
                <a:tc>
                  <a:txBody>
                    <a:bodyPr/>
                    <a:lstStyle/>
                    <a:p>
                      <a:pPr algn="ctr"/>
                      <a:r>
                        <a:rPr lang="en-US">
                          <a:latin typeface="Montserrat Medium" pitchFamily="50" charset="0"/>
                        </a:rPr>
                        <a:t>25</a:t>
                      </a:r>
                    </a:p>
                  </a:txBody>
                  <a:tcPr anchor="ctr"/>
                </a:tc>
                <a:tc>
                  <a:txBody>
                    <a:bodyPr/>
                    <a:lstStyle/>
                    <a:p>
                      <a:pPr algn="ctr"/>
                      <a:r>
                        <a:rPr lang="en-US">
                          <a:latin typeface="Montserrat Medium" pitchFamily="50" charset="0"/>
                        </a:rPr>
                        <a:t>20</a:t>
                      </a:r>
                    </a:p>
                  </a:txBody>
                  <a:tcPr anchor="ctr"/>
                </a:tc>
                <a:tc>
                  <a:txBody>
                    <a:bodyPr/>
                    <a:lstStyle/>
                    <a:p>
                      <a:pPr algn="ctr"/>
                      <a:r>
                        <a:rPr lang="en-US">
                          <a:latin typeface="Montserrat Medium" pitchFamily="50" charset="0"/>
                        </a:rPr>
                        <a:t>978245234</a:t>
                      </a:r>
                    </a:p>
                  </a:txBody>
                  <a:tcPr anchor="ctr"/>
                </a:tc>
                <a:extLst>
                  <a:ext uri="{0D108BD9-81ED-4DB2-BD59-A6C34878D82A}">
                    <a16:rowId xmlns:a16="http://schemas.microsoft.com/office/drawing/2014/main" val="1588388051"/>
                  </a:ext>
                </a:extLst>
              </a:tr>
              <a:tr h="445684">
                <a:tc>
                  <a:txBody>
                    <a:bodyPr/>
                    <a:lstStyle/>
                    <a:p>
                      <a:pPr algn="ctr"/>
                      <a:r>
                        <a:rPr lang="en-US">
                          <a:latin typeface="Montserrat Medium" pitchFamily="50" charset="0"/>
                        </a:rPr>
                        <a:t>10</a:t>
                      </a:r>
                    </a:p>
                  </a:txBody>
                  <a:tcPr anchor="ctr"/>
                </a:tc>
                <a:tc>
                  <a:txBody>
                    <a:bodyPr/>
                    <a:lstStyle/>
                    <a:p>
                      <a:pPr algn="ctr"/>
                      <a:r>
                        <a:rPr lang="en-US">
                          <a:latin typeface="Montserrat Medium" pitchFamily="50" charset="0"/>
                        </a:rPr>
                        <a:t>2571</a:t>
                      </a:r>
                    </a:p>
                  </a:txBody>
                  <a:tcPr anchor="ctr"/>
                </a:tc>
                <a:tc>
                  <a:txBody>
                    <a:bodyPr/>
                    <a:lstStyle/>
                    <a:p>
                      <a:r>
                        <a:rPr lang="en-US">
                          <a:latin typeface="Montserrat Medium" pitchFamily="50" charset="0"/>
                        </a:rPr>
                        <a:t>Matrix, The</a:t>
                      </a:r>
                    </a:p>
                  </a:txBody>
                  <a:tcPr anchor="ctr"/>
                </a:tc>
                <a:tc>
                  <a:txBody>
                    <a:bodyPr/>
                    <a:lstStyle/>
                    <a:p>
                      <a:pPr algn="ctr"/>
                      <a:r>
                        <a:rPr lang="en-US">
                          <a:latin typeface="Montserrat Medium" pitchFamily="50" charset="0"/>
                        </a:rPr>
                        <a:t>5</a:t>
                      </a:r>
                    </a:p>
                  </a:txBody>
                  <a:tcPr anchor="ctr"/>
                </a:tc>
                <a:tc>
                  <a:txBody>
                    <a:bodyPr/>
                    <a:lstStyle/>
                    <a:p>
                      <a:pPr algn="ctr"/>
                      <a:r>
                        <a:rPr lang="en-US">
                          <a:latin typeface="Montserrat Medium" pitchFamily="50" charset="0"/>
                        </a:rPr>
                        <a:t>F</a:t>
                      </a:r>
                    </a:p>
                  </a:txBody>
                  <a:tcPr anchor="ctr"/>
                </a:tc>
                <a:tc>
                  <a:txBody>
                    <a:bodyPr/>
                    <a:lstStyle/>
                    <a:p>
                      <a:pPr algn="ctr"/>
                      <a:r>
                        <a:rPr lang="en-US">
                          <a:latin typeface="Montserrat Medium" pitchFamily="50" charset="0"/>
                        </a:rPr>
                        <a:t>35</a:t>
                      </a:r>
                    </a:p>
                  </a:txBody>
                  <a:tcPr anchor="ctr"/>
                </a:tc>
                <a:tc>
                  <a:txBody>
                    <a:bodyPr/>
                    <a:lstStyle/>
                    <a:p>
                      <a:pPr algn="ctr"/>
                      <a:r>
                        <a:rPr lang="en-US">
                          <a:latin typeface="Montserrat Medium" pitchFamily="50" charset="0"/>
                        </a:rPr>
                        <a:t>1</a:t>
                      </a:r>
                    </a:p>
                  </a:txBody>
                  <a:tcPr anchor="ctr"/>
                </a:tc>
                <a:tc>
                  <a:txBody>
                    <a:bodyPr/>
                    <a:lstStyle/>
                    <a:p>
                      <a:pPr algn="ctr"/>
                      <a:r>
                        <a:rPr lang="en-US" dirty="0">
                          <a:latin typeface="Montserrat Medium" pitchFamily="50" charset="0"/>
                        </a:rPr>
                        <a:t>978228345</a:t>
                      </a:r>
                    </a:p>
                  </a:txBody>
                  <a:tcPr anchor="ctr"/>
                </a:tc>
                <a:extLst>
                  <a:ext uri="{0D108BD9-81ED-4DB2-BD59-A6C34878D82A}">
                    <a16:rowId xmlns:a16="http://schemas.microsoft.com/office/drawing/2014/main" val="2965177309"/>
                  </a:ext>
                </a:extLst>
              </a:tr>
            </a:tbl>
          </a:graphicData>
        </a:graphic>
      </p:graphicFrame>
      <p:sp>
        <p:nvSpPr>
          <p:cNvPr id="30" name="Rectangle 29">
            <a:extLst>
              <a:ext uri="{FF2B5EF4-FFF2-40B4-BE49-F238E27FC236}">
                <a16:creationId xmlns:a16="http://schemas.microsoft.com/office/drawing/2014/main" id="{F5EEDC26-627E-4D24-A536-35D0A8890A30}"/>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31" name="Rectangle 30">
            <a:extLst>
              <a:ext uri="{FF2B5EF4-FFF2-40B4-BE49-F238E27FC236}">
                <a16:creationId xmlns:a16="http://schemas.microsoft.com/office/drawing/2014/main" id="{0B5B4740-BF44-4E1C-A953-1A9DCAF29246}"/>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34" name="Rectangle 33">
            <a:extLst>
              <a:ext uri="{FF2B5EF4-FFF2-40B4-BE49-F238E27FC236}">
                <a16:creationId xmlns:a16="http://schemas.microsoft.com/office/drawing/2014/main" id="{D157217D-7909-42CC-B378-63EA30E50B48}"/>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46" name="Picture 45">
            <a:extLst>
              <a:ext uri="{FF2B5EF4-FFF2-40B4-BE49-F238E27FC236}">
                <a16:creationId xmlns:a16="http://schemas.microsoft.com/office/drawing/2014/main" id="{DE285F40-8E14-4B27-80D7-CECF777D035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47" name="Picture 46">
            <a:extLst>
              <a:ext uri="{FF2B5EF4-FFF2-40B4-BE49-F238E27FC236}">
                <a16:creationId xmlns:a16="http://schemas.microsoft.com/office/drawing/2014/main" id="{4D143B55-A5EA-4BE5-9BAD-86B21330588B}"/>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978707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7" name="Picture 26">
            <a:extLst>
              <a:ext uri="{FF2B5EF4-FFF2-40B4-BE49-F238E27FC236}">
                <a16:creationId xmlns:a16="http://schemas.microsoft.com/office/drawing/2014/main" id="{D9F890B0-1390-4FE0-88C9-4D8C60A2858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graphicFrame>
        <p:nvGraphicFramePr>
          <p:cNvPr id="2" name="Table 1">
            <a:extLst>
              <a:ext uri="{FF2B5EF4-FFF2-40B4-BE49-F238E27FC236}">
                <a16:creationId xmlns:a16="http://schemas.microsoft.com/office/drawing/2014/main" id="{6EF509FF-1D17-4250-A124-55E6D1AE75FD}"/>
              </a:ext>
            </a:extLst>
          </p:cNvPr>
          <p:cNvGraphicFramePr>
            <a:graphicFrameLocks noGrp="1"/>
          </p:cNvGraphicFramePr>
          <p:nvPr>
            <p:extLst>
              <p:ext uri="{D42A27DB-BD31-4B8C-83A1-F6EECF244321}">
                <p14:modId xmlns:p14="http://schemas.microsoft.com/office/powerpoint/2010/main" val="341813152"/>
              </p:ext>
            </p:extLst>
          </p:nvPr>
        </p:nvGraphicFramePr>
        <p:xfrm>
          <a:off x="5906383" y="1883650"/>
          <a:ext cx="6206646" cy="3699608"/>
        </p:xfrm>
        <a:graphic>
          <a:graphicData uri="http://schemas.openxmlformats.org/drawingml/2006/table">
            <a:tbl>
              <a:tblPr>
                <a:tableStyleId>{BC89EF96-8CEA-46FF-86C4-4CE0E7609802}</a:tableStyleId>
              </a:tblPr>
              <a:tblGrid>
                <a:gridCol w="3752761">
                  <a:extLst>
                    <a:ext uri="{9D8B030D-6E8A-4147-A177-3AD203B41FA5}">
                      <a16:colId xmlns:a16="http://schemas.microsoft.com/office/drawing/2014/main" val="519688352"/>
                    </a:ext>
                  </a:extLst>
                </a:gridCol>
                <a:gridCol w="2453885">
                  <a:extLst>
                    <a:ext uri="{9D8B030D-6E8A-4147-A177-3AD203B41FA5}">
                      <a16:colId xmlns:a16="http://schemas.microsoft.com/office/drawing/2014/main" val="709179325"/>
                    </a:ext>
                  </a:extLst>
                </a:gridCol>
              </a:tblGrid>
              <a:tr h="568134">
                <a:tc>
                  <a:txBody>
                    <a:bodyPr/>
                    <a:lstStyle/>
                    <a:p>
                      <a:pPr marL="0" algn="ctr" defTabSz="914400" rtl="0" eaLnBrk="1" latinLnBrk="0" hangingPunct="1"/>
                      <a:r>
                        <a:rPr lang="en-US" sz="1600" b="1" kern="1200" dirty="0">
                          <a:solidFill>
                            <a:schemeClr val="tx1"/>
                          </a:solidFill>
                          <a:latin typeface="Montserrat Medium" pitchFamily="50" charset="0"/>
                          <a:ea typeface="+mn-ea"/>
                          <a:cs typeface="+mn-cs"/>
                        </a:rPr>
                        <a:t>Specification</a:t>
                      </a:r>
                    </a:p>
                  </a:txBody>
                  <a:tcPr anchor="ctr"/>
                </a:tc>
                <a:tc>
                  <a:txBody>
                    <a:bodyPr/>
                    <a:lstStyle/>
                    <a:p>
                      <a:pPr marL="0" algn="ctr" defTabSz="914400" rtl="0" eaLnBrk="1" latinLnBrk="0" hangingPunct="1"/>
                      <a:r>
                        <a:rPr lang="en-US" sz="1600" b="1" kern="1200" dirty="0">
                          <a:solidFill>
                            <a:schemeClr val="tx1"/>
                          </a:solidFill>
                          <a:latin typeface="Montserrat Medium" pitchFamily="50" charset="0"/>
                          <a:ea typeface="+mn-ea"/>
                          <a:cs typeface="+mn-cs"/>
                        </a:rPr>
                        <a:t>Amazon Products</a:t>
                      </a:r>
                    </a:p>
                  </a:txBody>
                  <a:tcPr anchor="ctr"/>
                </a:tc>
                <a:extLst>
                  <a:ext uri="{0D108BD9-81ED-4DB2-BD59-A6C34878D82A}">
                    <a16:rowId xmlns:a16="http://schemas.microsoft.com/office/drawing/2014/main" val="386632798"/>
                  </a:ext>
                </a:extLst>
              </a:tr>
              <a:tr h="515157">
                <a:tc>
                  <a:txBody>
                    <a:bodyPr/>
                    <a:lstStyle/>
                    <a:p>
                      <a:pPr algn="ctr"/>
                      <a:r>
                        <a:rPr lang="en-US" sz="1600" b="1" dirty="0">
                          <a:latin typeface="Montserrat Medium" pitchFamily="50" charset="0"/>
                        </a:rPr>
                        <a:t>Number of users</a:t>
                      </a:r>
                    </a:p>
                  </a:txBody>
                  <a:tcPr anchor="ctr"/>
                </a:tc>
                <a:tc>
                  <a:txBody>
                    <a:bodyPr/>
                    <a:lstStyle/>
                    <a:p>
                      <a:pPr algn="just"/>
                      <a:r>
                        <a:rPr lang="en-US" sz="1600" b="0" dirty="0">
                          <a:latin typeface="Montserrat" pitchFamily="2" charset="0"/>
                        </a:rPr>
                        <a:t>≈15.5 million</a:t>
                      </a:r>
                    </a:p>
                  </a:txBody>
                  <a:tcPr anchor="ctr"/>
                </a:tc>
                <a:extLst>
                  <a:ext uri="{0D108BD9-81ED-4DB2-BD59-A6C34878D82A}">
                    <a16:rowId xmlns:a16="http://schemas.microsoft.com/office/drawing/2014/main" val="3526840976"/>
                  </a:ext>
                </a:extLst>
              </a:tr>
              <a:tr h="558754">
                <a:tc>
                  <a:txBody>
                    <a:bodyPr/>
                    <a:lstStyle/>
                    <a:p>
                      <a:pPr algn="ctr"/>
                      <a:r>
                        <a:rPr lang="en-US" sz="1600" b="1">
                          <a:latin typeface="Montserrat Medium" pitchFamily="50" charset="0"/>
                        </a:rPr>
                        <a:t>Number of items</a:t>
                      </a:r>
                    </a:p>
                  </a:txBody>
                  <a:tcPr anchor="ctr"/>
                </a:tc>
                <a:tc>
                  <a:txBody>
                    <a:bodyPr/>
                    <a:lstStyle/>
                    <a:p>
                      <a:pPr algn="just"/>
                      <a:r>
                        <a:rPr lang="en-US" sz="1600" b="0" dirty="0">
                          <a:latin typeface="Montserrat" pitchFamily="2" charset="0"/>
                        </a:rPr>
                        <a:t>≈9.4 million products</a:t>
                      </a:r>
                    </a:p>
                  </a:txBody>
                  <a:tcPr anchor="ctr"/>
                </a:tc>
                <a:extLst>
                  <a:ext uri="{0D108BD9-81ED-4DB2-BD59-A6C34878D82A}">
                    <a16:rowId xmlns:a16="http://schemas.microsoft.com/office/drawing/2014/main" val="1952118270"/>
                  </a:ext>
                </a:extLst>
              </a:tr>
              <a:tr h="504632">
                <a:tc>
                  <a:txBody>
                    <a:bodyPr/>
                    <a:lstStyle/>
                    <a:p>
                      <a:pPr algn="ctr"/>
                      <a:r>
                        <a:rPr lang="en-US" sz="1600" b="1" dirty="0">
                          <a:latin typeface="Montserrat Medium" pitchFamily="50" charset="0"/>
                        </a:rPr>
                        <a:t>Number of interactions</a:t>
                      </a:r>
                    </a:p>
                  </a:txBody>
                  <a:tcPr anchor="ctr"/>
                </a:tc>
                <a:tc>
                  <a:txBody>
                    <a:bodyPr/>
                    <a:lstStyle/>
                    <a:p>
                      <a:pPr algn="just"/>
                      <a:r>
                        <a:rPr lang="en-US" sz="1600" b="0" dirty="0">
                          <a:latin typeface="Montserrat" pitchFamily="2" charset="0"/>
                        </a:rPr>
                        <a:t>≈233.1 million reviews</a:t>
                      </a:r>
                    </a:p>
                  </a:txBody>
                  <a:tcPr anchor="ctr"/>
                </a:tc>
                <a:extLst>
                  <a:ext uri="{0D108BD9-81ED-4DB2-BD59-A6C34878D82A}">
                    <a16:rowId xmlns:a16="http://schemas.microsoft.com/office/drawing/2014/main" val="706068977"/>
                  </a:ext>
                </a:extLst>
              </a:tr>
              <a:tr h="481263">
                <a:tc>
                  <a:txBody>
                    <a:bodyPr/>
                    <a:lstStyle/>
                    <a:p>
                      <a:pPr algn="ctr"/>
                      <a:r>
                        <a:rPr lang="en-US" sz="1600" b="1">
                          <a:latin typeface="Montserrat Medium" pitchFamily="50" charset="0"/>
                        </a:rPr>
                        <a:t>Rating scale</a:t>
                      </a:r>
                    </a:p>
                  </a:txBody>
                  <a:tcPr anchor="ctr"/>
                </a:tc>
                <a:tc>
                  <a:txBody>
                    <a:bodyPr/>
                    <a:lstStyle/>
                    <a:p>
                      <a:pPr algn="just"/>
                      <a:r>
                        <a:rPr lang="en-US" sz="1600" b="0">
                          <a:latin typeface="Montserrat" pitchFamily="2" charset="0"/>
                        </a:rPr>
                        <a:t>1–5 stars</a:t>
                      </a:r>
                    </a:p>
                  </a:txBody>
                  <a:tcPr anchor="ctr"/>
                </a:tc>
                <a:extLst>
                  <a:ext uri="{0D108BD9-81ED-4DB2-BD59-A6C34878D82A}">
                    <a16:rowId xmlns:a16="http://schemas.microsoft.com/office/drawing/2014/main" val="1522749615"/>
                  </a:ext>
                </a:extLst>
              </a:tr>
              <a:tr h="551904">
                <a:tc>
                  <a:txBody>
                    <a:bodyPr/>
                    <a:lstStyle/>
                    <a:p>
                      <a:pPr algn="ctr"/>
                      <a:r>
                        <a:rPr lang="en-US" sz="1600" b="1" dirty="0">
                          <a:latin typeface="Montserrat Medium" pitchFamily="50" charset="0"/>
                        </a:rPr>
                        <a:t>Minimum interactions per user</a:t>
                      </a:r>
                    </a:p>
                  </a:txBody>
                  <a:tcPr anchor="ctr"/>
                </a:tc>
                <a:tc>
                  <a:txBody>
                    <a:bodyPr/>
                    <a:lstStyle/>
                    <a:p>
                      <a:pPr algn="just"/>
                      <a:r>
                        <a:rPr lang="en-US" sz="1600" b="0" dirty="0">
                          <a:latin typeface="Montserrat" pitchFamily="2" charset="0"/>
                        </a:rPr>
                        <a:t>No fixed minimum</a:t>
                      </a:r>
                    </a:p>
                  </a:txBody>
                  <a:tcPr anchor="ctr"/>
                </a:tc>
                <a:extLst>
                  <a:ext uri="{0D108BD9-81ED-4DB2-BD59-A6C34878D82A}">
                    <a16:rowId xmlns:a16="http://schemas.microsoft.com/office/drawing/2014/main" val="3974076269"/>
                  </a:ext>
                </a:extLst>
              </a:tr>
              <a:tr h="519764">
                <a:tc>
                  <a:txBody>
                    <a:bodyPr/>
                    <a:lstStyle/>
                    <a:p>
                      <a:pPr algn="ctr"/>
                      <a:r>
                        <a:rPr lang="en-US" sz="1600" b="1" dirty="0">
                          <a:latin typeface="Montserrat Medium" pitchFamily="50" charset="0"/>
                        </a:rPr>
                        <a:t>Approximate sparsity</a:t>
                      </a:r>
                    </a:p>
                  </a:txBody>
                  <a:tcPr anchor="ctr"/>
                </a:tc>
                <a:tc>
                  <a:txBody>
                    <a:bodyPr/>
                    <a:lstStyle/>
                    <a:p>
                      <a:pPr algn="just"/>
                      <a:r>
                        <a:rPr lang="en-US" sz="1600" b="0" dirty="0">
                          <a:latin typeface="Montserrat" pitchFamily="2" charset="0"/>
                        </a:rPr>
                        <a:t>Extremely sparse</a:t>
                      </a:r>
                    </a:p>
                  </a:txBody>
                  <a:tcPr anchor="ctr"/>
                </a:tc>
                <a:extLst>
                  <a:ext uri="{0D108BD9-81ED-4DB2-BD59-A6C34878D82A}">
                    <a16:rowId xmlns:a16="http://schemas.microsoft.com/office/drawing/2014/main" val="954040831"/>
                  </a:ext>
                </a:extLst>
              </a:tr>
            </a:tbl>
          </a:graphicData>
        </a:graphic>
      </p:graphicFrame>
      <p:sp>
        <p:nvSpPr>
          <p:cNvPr id="37" name="TextBox 36">
            <a:extLst>
              <a:ext uri="{FF2B5EF4-FFF2-40B4-BE49-F238E27FC236}">
                <a16:creationId xmlns:a16="http://schemas.microsoft.com/office/drawing/2014/main" id="{7C2C19EF-2830-495D-832F-96365D01033B}"/>
              </a:ext>
            </a:extLst>
          </p:cNvPr>
          <p:cNvSpPr txBox="1"/>
          <p:nvPr/>
        </p:nvSpPr>
        <p:spPr>
          <a:xfrm>
            <a:off x="129299" y="1290398"/>
            <a:ext cx="5656947" cy="4031873"/>
          </a:xfrm>
          <a:prstGeom prst="rect">
            <a:avLst/>
          </a:prstGeom>
          <a:noFill/>
        </p:spPr>
        <p:txBody>
          <a:bodyPr wrap="square">
            <a:spAutoFit/>
          </a:bodyPr>
          <a:lstStyle/>
          <a:p>
            <a:r>
              <a:rPr lang="en-US" sz="2000" b="1" dirty="0">
                <a:latin typeface="Montserrat Medium" pitchFamily="50" charset="0"/>
              </a:rPr>
              <a:t>Amazon Products</a:t>
            </a:r>
          </a:p>
          <a:p>
            <a:endParaRPr lang="en-US" sz="2000"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Large-scale e-commerce ratings and reviews collected by the McAuley Lab, UC San Diego, through 2018.</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Review-based and sentiment-aware recommendation, and evaluating models at realistic, large, sparse scale</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It tests whether the proposed methods generalize beyond movies , to e-commerce data with very different scale and sparsity.</a:t>
            </a:r>
          </a:p>
          <a:p>
            <a:pPr marL="285750" indent="-285750">
              <a:buFont typeface="Arial" panose="020B0604020202020204" pitchFamily="34" charset="0"/>
              <a:buChar char="•"/>
            </a:pPr>
            <a:endParaRPr lang="en-US" dirty="0">
              <a:latin typeface="Montserrat Medium" pitchFamily="50" charset="0"/>
            </a:endParaRPr>
          </a:p>
        </p:txBody>
      </p:sp>
      <p:sp>
        <p:nvSpPr>
          <p:cNvPr id="30" name="TextBox 29">
            <a:extLst>
              <a:ext uri="{FF2B5EF4-FFF2-40B4-BE49-F238E27FC236}">
                <a16:creationId xmlns:a16="http://schemas.microsoft.com/office/drawing/2014/main" id="{053A37F2-1E14-4380-9E04-E31C72839D55}"/>
              </a:ext>
            </a:extLst>
          </p:cNvPr>
          <p:cNvSpPr txBox="1"/>
          <p:nvPr/>
        </p:nvSpPr>
        <p:spPr>
          <a:xfrm>
            <a:off x="236257" y="6066111"/>
            <a:ext cx="11879607" cy="246221"/>
          </a:xfrm>
          <a:prstGeom prst="rect">
            <a:avLst/>
          </a:prstGeom>
          <a:noFill/>
        </p:spPr>
        <p:txBody>
          <a:bodyPr wrap="square">
            <a:spAutoFit/>
          </a:bodyPr>
          <a:lstStyle/>
          <a:p>
            <a:r>
              <a:rPr lang="en-US" sz="1000" dirty="0">
                <a:latin typeface="Agency FB" panose="020B0503020202020204" pitchFamily="34" charset="0"/>
              </a:rPr>
              <a:t>[22] J. McAuley Lab, “Amazon Review Data (2018),” University of California San Diego. [Online]. Available: https://cseweb.ucsd.edu/~jmcauley/datasets/amazon_v2/</a:t>
            </a:r>
          </a:p>
        </p:txBody>
      </p:sp>
      <p:sp>
        <p:nvSpPr>
          <p:cNvPr id="29" name="Rectangle 28">
            <a:extLst>
              <a:ext uri="{FF2B5EF4-FFF2-40B4-BE49-F238E27FC236}">
                <a16:creationId xmlns:a16="http://schemas.microsoft.com/office/drawing/2014/main" id="{3426E494-03C4-40ED-83D6-3AD4313BF5BA}"/>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48" name="Rectangle 47">
            <a:extLst>
              <a:ext uri="{FF2B5EF4-FFF2-40B4-BE49-F238E27FC236}">
                <a16:creationId xmlns:a16="http://schemas.microsoft.com/office/drawing/2014/main" id="{1D32A731-635F-4B89-9ED1-4C33C523BE75}"/>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49" name="Rectangle 48">
            <a:extLst>
              <a:ext uri="{FF2B5EF4-FFF2-40B4-BE49-F238E27FC236}">
                <a16:creationId xmlns:a16="http://schemas.microsoft.com/office/drawing/2014/main" id="{EC0607A8-B37F-41CE-9E48-4BF1A12249F9}"/>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50" name="Picture 49">
            <a:extLst>
              <a:ext uri="{FF2B5EF4-FFF2-40B4-BE49-F238E27FC236}">
                <a16:creationId xmlns:a16="http://schemas.microsoft.com/office/drawing/2014/main" id="{EFEDD829-2061-4B8F-AC7D-5335C27A8A85}"/>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509574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7" name="TextBox 36">
            <a:extLst>
              <a:ext uri="{FF2B5EF4-FFF2-40B4-BE49-F238E27FC236}">
                <a16:creationId xmlns:a16="http://schemas.microsoft.com/office/drawing/2014/main" id="{7C2C19EF-2830-495D-832F-96365D01033B}"/>
              </a:ext>
            </a:extLst>
          </p:cNvPr>
          <p:cNvSpPr txBox="1"/>
          <p:nvPr/>
        </p:nvSpPr>
        <p:spPr>
          <a:xfrm>
            <a:off x="251672" y="1396419"/>
            <a:ext cx="11653815" cy="3477875"/>
          </a:xfrm>
          <a:prstGeom prst="rect">
            <a:avLst/>
          </a:prstGeom>
          <a:noFill/>
        </p:spPr>
        <p:txBody>
          <a:bodyPr wrap="square">
            <a:spAutoFit/>
          </a:bodyPr>
          <a:lstStyle/>
          <a:p>
            <a:pPr marL="0" algn="l" rtl="0" eaLnBrk="1" latinLnBrk="0" hangingPunct="1">
              <a:spcBef>
                <a:spcPts val="0"/>
              </a:spcBef>
              <a:spcAft>
                <a:spcPts val="0"/>
              </a:spcAft>
            </a:pPr>
            <a:r>
              <a:rPr lang="en-US" sz="1800" b="1" kern="1200" dirty="0">
                <a:solidFill>
                  <a:srgbClr val="000000"/>
                </a:solidFill>
                <a:effectLst/>
                <a:latin typeface="Montserrat Medium" pitchFamily="50" charset="0"/>
                <a:ea typeface="+mn-ea"/>
                <a:cs typeface="+mn-cs"/>
              </a:rPr>
              <a:t>Amazon Products</a:t>
            </a:r>
            <a:endParaRPr lang="en-US" sz="2000" dirty="0">
              <a:effectLst/>
            </a:endParaRPr>
          </a:p>
          <a:p>
            <a:endParaRPr lang="en-US" sz="2000" dirty="0">
              <a:latin typeface="Montserrat Medium" pitchFamily="50" charset="0"/>
            </a:endParaRPr>
          </a:p>
          <a:p>
            <a:pPr marL="285750" indent="-285750">
              <a:buFont typeface="Wingdings" panose="05000000000000000000" pitchFamily="2" charset="2"/>
              <a:buChar char="§"/>
            </a:pPr>
            <a:r>
              <a:rPr lang="en-US" b="1" dirty="0">
                <a:latin typeface="Montserrat Medium" pitchFamily="50" charset="0"/>
              </a:rPr>
              <a:t>Large-Scale Recommendation: </a:t>
            </a:r>
            <a:r>
              <a:rPr lang="en-US" dirty="0">
                <a:latin typeface="Montserrat Medium" pitchFamily="50" charset="0"/>
              </a:rPr>
              <a:t>Provides millions of user–product interactions for training and evaluating recommendation algorithms on real-world e-commerce data.</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b="1" dirty="0">
                <a:latin typeface="Montserrat Medium" pitchFamily="50" charset="0"/>
              </a:rPr>
              <a:t>Personalized Product Recommendation: </a:t>
            </a:r>
            <a:r>
              <a:rPr lang="en-US" dirty="0">
                <a:latin typeface="Montserrat Medium" pitchFamily="50" charset="0"/>
              </a:rPr>
              <a:t>Includes user ratings, product metadata, categories, brands, and review history to model user preferences and improve recommendation quality.</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b="1" dirty="0">
                <a:latin typeface="Montserrat Medium" pitchFamily="50" charset="0"/>
              </a:rPr>
              <a:t>Explainable and Context-Aware Recommendation: </a:t>
            </a:r>
            <a:r>
              <a:rPr lang="en-US" dirty="0">
                <a:latin typeface="Montserrat Medium" pitchFamily="50" charset="0"/>
              </a:rPr>
              <a:t>Contains review text, helpfulness votes, and product attributes, enabling explainable recommendations and sentiment-aware recommendation models.</a:t>
            </a:r>
          </a:p>
          <a:p>
            <a:pPr marL="285750" indent="-285750" algn="just">
              <a:buFont typeface="Wingdings" panose="05000000000000000000" pitchFamily="2" charset="2"/>
              <a:buChar char="§"/>
            </a:pPr>
            <a:endParaRPr lang="en-US" dirty="0">
              <a:latin typeface="Montserrat Medium" pitchFamily="50" charset="0"/>
            </a:endParaRPr>
          </a:p>
        </p:txBody>
      </p:sp>
      <p:sp>
        <p:nvSpPr>
          <p:cNvPr id="30" name="Rectangle 29">
            <a:extLst>
              <a:ext uri="{FF2B5EF4-FFF2-40B4-BE49-F238E27FC236}">
                <a16:creationId xmlns:a16="http://schemas.microsoft.com/office/drawing/2014/main" id="{DF71944E-CD6C-4B4E-988D-0EDD4FE740CA}"/>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31" name="Rectangle 30">
            <a:extLst>
              <a:ext uri="{FF2B5EF4-FFF2-40B4-BE49-F238E27FC236}">
                <a16:creationId xmlns:a16="http://schemas.microsoft.com/office/drawing/2014/main" id="{7CF78E86-03A7-4805-99A3-6878B0D16E48}"/>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34" name="Rectangle 33">
            <a:extLst>
              <a:ext uri="{FF2B5EF4-FFF2-40B4-BE49-F238E27FC236}">
                <a16:creationId xmlns:a16="http://schemas.microsoft.com/office/drawing/2014/main" id="{7193802F-29CA-4657-A628-EF6E26476AD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46" name="Picture 45">
            <a:extLst>
              <a:ext uri="{FF2B5EF4-FFF2-40B4-BE49-F238E27FC236}">
                <a16:creationId xmlns:a16="http://schemas.microsoft.com/office/drawing/2014/main" id="{9E7590B8-41DB-4502-A64E-6FE4381C4B20}"/>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47" name="Picture 46">
            <a:extLst>
              <a:ext uri="{FF2B5EF4-FFF2-40B4-BE49-F238E27FC236}">
                <a16:creationId xmlns:a16="http://schemas.microsoft.com/office/drawing/2014/main" id="{393E3EC1-3A9F-48A6-8A1D-89E869AFDB2D}"/>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016054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7" name="TextBox 36">
            <a:extLst>
              <a:ext uri="{FF2B5EF4-FFF2-40B4-BE49-F238E27FC236}">
                <a16:creationId xmlns:a16="http://schemas.microsoft.com/office/drawing/2014/main" id="{7C2C19EF-2830-495D-832F-96365D01033B}"/>
              </a:ext>
            </a:extLst>
          </p:cNvPr>
          <p:cNvSpPr txBox="1"/>
          <p:nvPr/>
        </p:nvSpPr>
        <p:spPr>
          <a:xfrm>
            <a:off x="129299" y="1208030"/>
            <a:ext cx="5638988" cy="984885"/>
          </a:xfrm>
          <a:prstGeom prst="rect">
            <a:avLst/>
          </a:prstGeom>
          <a:noFill/>
        </p:spPr>
        <p:txBody>
          <a:bodyPr wrap="square">
            <a:spAutoFit/>
          </a:bodyPr>
          <a:lstStyle/>
          <a:p>
            <a:pPr marL="0" algn="l" rtl="0" eaLnBrk="1" latinLnBrk="0" hangingPunct="1">
              <a:spcBef>
                <a:spcPts val="0"/>
              </a:spcBef>
              <a:spcAft>
                <a:spcPts val="0"/>
              </a:spcAft>
            </a:pPr>
            <a:r>
              <a:rPr lang="en-US" sz="1800" b="1" kern="1200" dirty="0">
                <a:solidFill>
                  <a:srgbClr val="000000"/>
                </a:solidFill>
                <a:effectLst/>
                <a:latin typeface="Montserrat Medium" pitchFamily="50" charset="0"/>
                <a:ea typeface="+mn-ea"/>
                <a:cs typeface="+mn-cs"/>
              </a:rPr>
              <a:t>Amazon Products</a:t>
            </a:r>
            <a:endParaRPr lang="en-US" sz="2000" dirty="0">
              <a:effectLst/>
            </a:endParaRPr>
          </a:p>
          <a:p>
            <a:endParaRPr lang="en-US" sz="2000" dirty="0">
              <a:latin typeface="Montserrat Medium" pitchFamily="50" charset="0"/>
            </a:endParaRPr>
          </a:p>
          <a:p>
            <a:endParaRPr lang="en-US" dirty="0">
              <a:latin typeface="Montserrat Medium" pitchFamily="50" charset="0"/>
            </a:endParaRPr>
          </a:p>
        </p:txBody>
      </p:sp>
      <p:graphicFrame>
        <p:nvGraphicFramePr>
          <p:cNvPr id="4" name="Table 3">
            <a:extLst>
              <a:ext uri="{FF2B5EF4-FFF2-40B4-BE49-F238E27FC236}">
                <a16:creationId xmlns:a16="http://schemas.microsoft.com/office/drawing/2014/main" id="{28D383B4-B828-45BF-AC8A-56BBD2F2A108}"/>
              </a:ext>
            </a:extLst>
          </p:cNvPr>
          <p:cNvGraphicFramePr>
            <a:graphicFrameLocks noGrp="1"/>
          </p:cNvGraphicFramePr>
          <p:nvPr>
            <p:extLst>
              <p:ext uri="{D42A27DB-BD31-4B8C-83A1-F6EECF244321}">
                <p14:modId xmlns:p14="http://schemas.microsoft.com/office/powerpoint/2010/main" val="3203765449"/>
              </p:ext>
            </p:extLst>
          </p:nvPr>
        </p:nvGraphicFramePr>
        <p:xfrm>
          <a:off x="206046" y="1803824"/>
          <a:ext cx="11873670" cy="3578942"/>
        </p:xfrm>
        <a:graphic>
          <a:graphicData uri="http://schemas.openxmlformats.org/drawingml/2006/table">
            <a:tbl>
              <a:tblPr>
                <a:tableStyleId>{BC89EF96-8CEA-46FF-86C4-4CE0E7609802}</a:tableStyleId>
              </a:tblPr>
              <a:tblGrid>
                <a:gridCol w="1145993">
                  <a:extLst>
                    <a:ext uri="{9D8B030D-6E8A-4147-A177-3AD203B41FA5}">
                      <a16:colId xmlns:a16="http://schemas.microsoft.com/office/drawing/2014/main" val="54940408"/>
                    </a:ext>
                  </a:extLst>
                </a:gridCol>
                <a:gridCol w="2240280">
                  <a:extLst>
                    <a:ext uri="{9D8B030D-6E8A-4147-A177-3AD203B41FA5}">
                      <a16:colId xmlns:a16="http://schemas.microsoft.com/office/drawing/2014/main" val="1743721808"/>
                    </a:ext>
                  </a:extLst>
                </a:gridCol>
                <a:gridCol w="2203704">
                  <a:extLst>
                    <a:ext uri="{9D8B030D-6E8A-4147-A177-3AD203B41FA5}">
                      <a16:colId xmlns:a16="http://schemas.microsoft.com/office/drawing/2014/main" val="2858622172"/>
                    </a:ext>
                  </a:extLst>
                </a:gridCol>
                <a:gridCol w="1197864">
                  <a:extLst>
                    <a:ext uri="{9D8B030D-6E8A-4147-A177-3AD203B41FA5}">
                      <a16:colId xmlns:a16="http://schemas.microsoft.com/office/drawing/2014/main" val="2192780198"/>
                    </a:ext>
                  </a:extLst>
                </a:gridCol>
                <a:gridCol w="3540159">
                  <a:extLst>
                    <a:ext uri="{9D8B030D-6E8A-4147-A177-3AD203B41FA5}">
                      <a16:colId xmlns:a16="http://schemas.microsoft.com/office/drawing/2014/main" val="568680338"/>
                    </a:ext>
                  </a:extLst>
                </a:gridCol>
                <a:gridCol w="1545670">
                  <a:extLst>
                    <a:ext uri="{9D8B030D-6E8A-4147-A177-3AD203B41FA5}">
                      <a16:colId xmlns:a16="http://schemas.microsoft.com/office/drawing/2014/main" val="911773411"/>
                    </a:ext>
                  </a:extLst>
                </a:gridCol>
              </a:tblGrid>
              <a:tr h="705436">
                <a:tc>
                  <a:txBody>
                    <a:bodyPr/>
                    <a:lstStyle/>
                    <a:p>
                      <a:pPr algn="ctr"/>
                      <a:r>
                        <a:rPr lang="en-US" b="1" dirty="0">
                          <a:latin typeface="Montserrat Medium" pitchFamily="50" charset="0"/>
                        </a:rPr>
                        <a:t>User ID</a:t>
                      </a:r>
                    </a:p>
                  </a:txBody>
                  <a:tcPr anchor="ctr"/>
                </a:tc>
                <a:tc>
                  <a:txBody>
                    <a:bodyPr/>
                    <a:lstStyle/>
                    <a:p>
                      <a:pPr algn="ctr"/>
                      <a:r>
                        <a:rPr lang="en-US" b="1" dirty="0">
                          <a:latin typeface="Montserrat Medium" pitchFamily="50" charset="0"/>
                        </a:rPr>
                        <a:t>Product ID (ASIN)</a:t>
                      </a:r>
                    </a:p>
                  </a:txBody>
                  <a:tcPr anchor="ctr"/>
                </a:tc>
                <a:tc>
                  <a:txBody>
                    <a:bodyPr/>
                    <a:lstStyle/>
                    <a:p>
                      <a:r>
                        <a:rPr lang="en-US" b="1" dirty="0">
                          <a:latin typeface="Montserrat Medium" pitchFamily="50" charset="0"/>
                        </a:rPr>
                        <a:t>Category</a:t>
                      </a:r>
                    </a:p>
                  </a:txBody>
                  <a:tcPr anchor="ctr"/>
                </a:tc>
                <a:tc>
                  <a:txBody>
                    <a:bodyPr/>
                    <a:lstStyle/>
                    <a:p>
                      <a:pPr algn="ctr"/>
                      <a:r>
                        <a:rPr lang="en-US" b="1">
                          <a:latin typeface="Montserrat Medium" pitchFamily="50" charset="0"/>
                        </a:rPr>
                        <a:t>Rating</a:t>
                      </a:r>
                    </a:p>
                  </a:txBody>
                  <a:tcPr anchor="ctr"/>
                </a:tc>
                <a:tc>
                  <a:txBody>
                    <a:bodyPr/>
                    <a:lstStyle/>
                    <a:p>
                      <a:r>
                        <a:rPr lang="en-US" b="1" dirty="0">
                          <a:latin typeface="Montserrat Medium" pitchFamily="50" charset="0"/>
                        </a:rPr>
                        <a:t>Review Summary</a:t>
                      </a:r>
                    </a:p>
                  </a:txBody>
                  <a:tcPr anchor="ctr"/>
                </a:tc>
                <a:tc>
                  <a:txBody>
                    <a:bodyPr/>
                    <a:lstStyle/>
                    <a:p>
                      <a:r>
                        <a:rPr lang="en-US" b="1" dirty="0">
                          <a:latin typeface="Montserrat Medium" pitchFamily="50" charset="0"/>
                        </a:rPr>
                        <a:t>Brand</a:t>
                      </a:r>
                    </a:p>
                  </a:txBody>
                  <a:tcPr anchor="ctr"/>
                </a:tc>
                <a:extLst>
                  <a:ext uri="{0D108BD9-81ED-4DB2-BD59-A6C34878D82A}">
                    <a16:rowId xmlns:a16="http://schemas.microsoft.com/office/drawing/2014/main" val="771666667"/>
                  </a:ext>
                </a:extLst>
              </a:tr>
              <a:tr h="605794">
                <a:tc>
                  <a:txBody>
                    <a:bodyPr/>
                    <a:lstStyle/>
                    <a:p>
                      <a:pPr algn="ctr"/>
                      <a:r>
                        <a:rPr lang="en-US">
                          <a:latin typeface="Montserrat Medium" pitchFamily="50" charset="0"/>
                        </a:rPr>
                        <a:t>A1B2C3</a:t>
                      </a:r>
                    </a:p>
                  </a:txBody>
                  <a:tcPr anchor="ctr"/>
                </a:tc>
                <a:tc>
                  <a:txBody>
                    <a:bodyPr/>
                    <a:lstStyle/>
                    <a:p>
                      <a:pPr algn="ctr"/>
                      <a:r>
                        <a:rPr lang="en-US">
                          <a:latin typeface="Montserrat Medium" pitchFamily="50" charset="0"/>
                        </a:rPr>
                        <a:t>B000123XYZ</a:t>
                      </a:r>
                    </a:p>
                  </a:txBody>
                  <a:tcPr anchor="ctr"/>
                </a:tc>
                <a:tc>
                  <a:txBody>
                    <a:bodyPr/>
                    <a:lstStyle/>
                    <a:p>
                      <a:r>
                        <a:rPr lang="en-US">
                          <a:latin typeface="Montserrat Medium" pitchFamily="50" charset="0"/>
                        </a:rPr>
                        <a:t>Electronics</a:t>
                      </a:r>
                    </a:p>
                  </a:txBody>
                  <a:tcPr anchor="ctr"/>
                </a:tc>
                <a:tc>
                  <a:txBody>
                    <a:bodyPr/>
                    <a:lstStyle/>
                    <a:p>
                      <a:pPr algn="ctr"/>
                      <a:r>
                        <a:rPr lang="en-US" dirty="0">
                          <a:latin typeface="Montserrat Medium" pitchFamily="50" charset="0"/>
                        </a:rPr>
                        <a:t>5</a:t>
                      </a:r>
                    </a:p>
                  </a:txBody>
                  <a:tcPr anchor="ctr"/>
                </a:tc>
                <a:tc>
                  <a:txBody>
                    <a:bodyPr/>
                    <a:lstStyle/>
                    <a:p>
                      <a:r>
                        <a:rPr lang="en-US">
                          <a:latin typeface="Montserrat Medium" pitchFamily="50" charset="0"/>
                        </a:rPr>
                        <a:t>Excellent sound quality</a:t>
                      </a:r>
                    </a:p>
                  </a:txBody>
                  <a:tcPr anchor="ctr"/>
                </a:tc>
                <a:tc>
                  <a:txBody>
                    <a:bodyPr/>
                    <a:lstStyle/>
                    <a:p>
                      <a:r>
                        <a:rPr lang="en-US">
                          <a:latin typeface="Montserrat Medium" pitchFamily="50" charset="0"/>
                        </a:rPr>
                        <a:t>Sony</a:t>
                      </a:r>
                    </a:p>
                  </a:txBody>
                  <a:tcPr anchor="ctr"/>
                </a:tc>
                <a:extLst>
                  <a:ext uri="{0D108BD9-81ED-4DB2-BD59-A6C34878D82A}">
                    <a16:rowId xmlns:a16="http://schemas.microsoft.com/office/drawing/2014/main" val="3113567195"/>
                  </a:ext>
                </a:extLst>
              </a:tr>
              <a:tr h="621792">
                <a:tc>
                  <a:txBody>
                    <a:bodyPr/>
                    <a:lstStyle/>
                    <a:p>
                      <a:pPr algn="ctr"/>
                      <a:r>
                        <a:rPr lang="en-US">
                          <a:latin typeface="Montserrat Medium" pitchFamily="50" charset="0"/>
                        </a:rPr>
                        <a:t>A4D5E6</a:t>
                      </a:r>
                    </a:p>
                  </a:txBody>
                  <a:tcPr anchor="ctr"/>
                </a:tc>
                <a:tc>
                  <a:txBody>
                    <a:bodyPr/>
                    <a:lstStyle/>
                    <a:p>
                      <a:pPr algn="ctr"/>
                      <a:r>
                        <a:rPr lang="en-US">
                          <a:latin typeface="Montserrat Medium" pitchFamily="50" charset="0"/>
                        </a:rPr>
                        <a:t>B000456ABC</a:t>
                      </a:r>
                    </a:p>
                  </a:txBody>
                  <a:tcPr anchor="ctr"/>
                </a:tc>
                <a:tc>
                  <a:txBody>
                    <a:bodyPr/>
                    <a:lstStyle/>
                    <a:p>
                      <a:r>
                        <a:rPr lang="en-US">
                          <a:latin typeface="Montserrat Medium" pitchFamily="50" charset="0"/>
                        </a:rPr>
                        <a:t>Books</a:t>
                      </a:r>
                    </a:p>
                  </a:txBody>
                  <a:tcPr anchor="ctr"/>
                </a:tc>
                <a:tc>
                  <a:txBody>
                    <a:bodyPr/>
                    <a:lstStyle/>
                    <a:p>
                      <a:pPr algn="ctr"/>
                      <a:r>
                        <a:rPr lang="en-US">
                          <a:latin typeface="Montserrat Medium" pitchFamily="50" charset="0"/>
                        </a:rPr>
                        <a:t>4</a:t>
                      </a:r>
                    </a:p>
                  </a:txBody>
                  <a:tcPr anchor="ctr"/>
                </a:tc>
                <a:tc>
                  <a:txBody>
                    <a:bodyPr/>
                    <a:lstStyle/>
                    <a:p>
                      <a:r>
                        <a:rPr lang="en-US" dirty="0">
                          <a:latin typeface="Montserrat Medium" pitchFamily="50" charset="0"/>
                        </a:rPr>
                        <a:t>Informative and well written</a:t>
                      </a:r>
                    </a:p>
                  </a:txBody>
                  <a:tcPr anchor="ctr"/>
                </a:tc>
                <a:tc>
                  <a:txBody>
                    <a:bodyPr/>
                    <a:lstStyle/>
                    <a:p>
                      <a:r>
                        <a:rPr lang="en-US">
                          <a:latin typeface="Montserrat Medium" pitchFamily="50" charset="0"/>
                        </a:rPr>
                        <a:t>Penguin</a:t>
                      </a:r>
                    </a:p>
                  </a:txBody>
                  <a:tcPr anchor="ctr"/>
                </a:tc>
                <a:extLst>
                  <a:ext uri="{0D108BD9-81ED-4DB2-BD59-A6C34878D82A}">
                    <a16:rowId xmlns:a16="http://schemas.microsoft.com/office/drawing/2014/main" val="2535686016"/>
                  </a:ext>
                </a:extLst>
              </a:tr>
              <a:tr h="539496">
                <a:tc>
                  <a:txBody>
                    <a:bodyPr/>
                    <a:lstStyle/>
                    <a:p>
                      <a:pPr algn="ctr"/>
                      <a:r>
                        <a:rPr lang="en-US">
                          <a:latin typeface="Montserrat Medium" pitchFamily="50" charset="0"/>
                        </a:rPr>
                        <a:t>A7F8G9</a:t>
                      </a:r>
                    </a:p>
                  </a:txBody>
                  <a:tcPr anchor="ctr"/>
                </a:tc>
                <a:tc>
                  <a:txBody>
                    <a:bodyPr/>
                    <a:lstStyle/>
                    <a:p>
                      <a:pPr algn="ctr"/>
                      <a:r>
                        <a:rPr lang="en-US">
                          <a:latin typeface="Montserrat Medium" pitchFamily="50" charset="0"/>
                        </a:rPr>
                        <a:t>B000789DEF</a:t>
                      </a:r>
                    </a:p>
                  </a:txBody>
                  <a:tcPr anchor="ctr"/>
                </a:tc>
                <a:tc>
                  <a:txBody>
                    <a:bodyPr/>
                    <a:lstStyle/>
                    <a:p>
                      <a:r>
                        <a:rPr lang="en-US">
                          <a:latin typeface="Montserrat Medium" pitchFamily="50" charset="0"/>
                        </a:rPr>
                        <a:t>Home &amp; Kitchen</a:t>
                      </a:r>
                    </a:p>
                  </a:txBody>
                  <a:tcPr anchor="ctr"/>
                </a:tc>
                <a:tc>
                  <a:txBody>
                    <a:bodyPr/>
                    <a:lstStyle/>
                    <a:p>
                      <a:pPr algn="ctr"/>
                      <a:r>
                        <a:rPr lang="en-US">
                          <a:latin typeface="Montserrat Medium" pitchFamily="50" charset="0"/>
                        </a:rPr>
                        <a:t>3</a:t>
                      </a:r>
                    </a:p>
                  </a:txBody>
                  <a:tcPr anchor="ctr"/>
                </a:tc>
                <a:tc>
                  <a:txBody>
                    <a:bodyPr/>
                    <a:lstStyle/>
                    <a:p>
                      <a:r>
                        <a:rPr lang="en-US">
                          <a:latin typeface="Montserrat Medium" pitchFamily="50" charset="0"/>
                        </a:rPr>
                        <a:t>Average quality</a:t>
                      </a:r>
                    </a:p>
                  </a:txBody>
                  <a:tcPr anchor="ctr"/>
                </a:tc>
                <a:tc>
                  <a:txBody>
                    <a:bodyPr/>
                    <a:lstStyle/>
                    <a:p>
                      <a:r>
                        <a:rPr lang="en-US">
                          <a:latin typeface="Montserrat Medium" pitchFamily="50" charset="0"/>
                        </a:rPr>
                        <a:t>KitchenAid</a:t>
                      </a:r>
                    </a:p>
                  </a:txBody>
                  <a:tcPr anchor="ctr"/>
                </a:tc>
                <a:extLst>
                  <a:ext uri="{0D108BD9-81ED-4DB2-BD59-A6C34878D82A}">
                    <a16:rowId xmlns:a16="http://schemas.microsoft.com/office/drawing/2014/main" val="633993878"/>
                  </a:ext>
                </a:extLst>
              </a:tr>
              <a:tr h="557784">
                <a:tc>
                  <a:txBody>
                    <a:bodyPr/>
                    <a:lstStyle/>
                    <a:p>
                      <a:pPr algn="ctr"/>
                      <a:r>
                        <a:rPr lang="en-US">
                          <a:latin typeface="Montserrat Medium" pitchFamily="50" charset="0"/>
                        </a:rPr>
                        <a:t>A2H3I4</a:t>
                      </a:r>
                    </a:p>
                  </a:txBody>
                  <a:tcPr anchor="ctr"/>
                </a:tc>
                <a:tc>
                  <a:txBody>
                    <a:bodyPr/>
                    <a:lstStyle/>
                    <a:p>
                      <a:pPr algn="ctr"/>
                      <a:r>
                        <a:rPr lang="en-US">
                          <a:latin typeface="Montserrat Medium" pitchFamily="50" charset="0"/>
                        </a:rPr>
                        <a:t>B000321GHI</a:t>
                      </a:r>
                    </a:p>
                  </a:txBody>
                  <a:tcPr anchor="ctr"/>
                </a:tc>
                <a:tc>
                  <a:txBody>
                    <a:bodyPr/>
                    <a:lstStyle/>
                    <a:p>
                      <a:r>
                        <a:rPr lang="en-US">
                          <a:latin typeface="Montserrat Medium" pitchFamily="50" charset="0"/>
                        </a:rPr>
                        <a:t>Clothing</a:t>
                      </a:r>
                    </a:p>
                  </a:txBody>
                  <a:tcPr anchor="ctr"/>
                </a:tc>
                <a:tc>
                  <a:txBody>
                    <a:bodyPr/>
                    <a:lstStyle/>
                    <a:p>
                      <a:pPr algn="ctr"/>
                      <a:r>
                        <a:rPr lang="en-US">
                          <a:latin typeface="Montserrat Medium" pitchFamily="50" charset="0"/>
                        </a:rPr>
                        <a:t>5</a:t>
                      </a:r>
                    </a:p>
                  </a:txBody>
                  <a:tcPr anchor="ctr"/>
                </a:tc>
                <a:tc>
                  <a:txBody>
                    <a:bodyPr/>
                    <a:lstStyle/>
                    <a:p>
                      <a:r>
                        <a:rPr lang="en-US">
                          <a:latin typeface="Montserrat Medium" pitchFamily="50" charset="0"/>
                        </a:rPr>
                        <a:t>Fits perfectly</a:t>
                      </a:r>
                    </a:p>
                  </a:txBody>
                  <a:tcPr anchor="ctr"/>
                </a:tc>
                <a:tc>
                  <a:txBody>
                    <a:bodyPr/>
                    <a:lstStyle/>
                    <a:p>
                      <a:r>
                        <a:rPr lang="en-US">
                          <a:latin typeface="Montserrat Medium" pitchFamily="50" charset="0"/>
                        </a:rPr>
                        <a:t>Levi's</a:t>
                      </a:r>
                    </a:p>
                  </a:txBody>
                  <a:tcPr anchor="ctr"/>
                </a:tc>
                <a:extLst>
                  <a:ext uri="{0D108BD9-81ED-4DB2-BD59-A6C34878D82A}">
                    <a16:rowId xmlns:a16="http://schemas.microsoft.com/office/drawing/2014/main" val="2251900854"/>
                  </a:ext>
                </a:extLst>
              </a:tr>
              <a:tr h="548640">
                <a:tc>
                  <a:txBody>
                    <a:bodyPr/>
                    <a:lstStyle/>
                    <a:p>
                      <a:pPr algn="ctr"/>
                      <a:r>
                        <a:rPr lang="en-US">
                          <a:latin typeface="Montserrat Medium" pitchFamily="50" charset="0"/>
                        </a:rPr>
                        <a:t>A5J6K7</a:t>
                      </a:r>
                    </a:p>
                  </a:txBody>
                  <a:tcPr anchor="ctr"/>
                </a:tc>
                <a:tc>
                  <a:txBody>
                    <a:bodyPr/>
                    <a:lstStyle/>
                    <a:p>
                      <a:pPr algn="ctr"/>
                      <a:r>
                        <a:rPr lang="en-US">
                          <a:latin typeface="Montserrat Medium" pitchFamily="50" charset="0"/>
                        </a:rPr>
                        <a:t>B000654JKL</a:t>
                      </a:r>
                    </a:p>
                  </a:txBody>
                  <a:tcPr anchor="ctr"/>
                </a:tc>
                <a:tc>
                  <a:txBody>
                    <a:bodyPr/>
                    <a:lstStyle/>
                    <a:p>
                      <a:r>
                        <a:rPr lang="en-US">
                          <a:latin typeface="Montserrat Medium" pitchFamily="50" charset="0"/>
                        </a:rPr>
                        <a:t>Sports</a:t>
                      </a:r>
                    </a:p>
                  </a:txBody>
                  <a:tcPr anchor="ctr"/>
                </a:tc>
                <a:tc>
                  <a:txBody>
                    <a:bodyPr/>
                    <a:lstStyle/>
                    <a:p>
                      <a:pPr algn="ctr"/>
                      <a:r>
                        <a:rPr lang="en-US">
                          <a:latin typeface="Montserrat Medium" pitchFamily="50" charset="0"/>
                        </a:rPr>
                        <a:t>4</a:t>
                      </a:r>
                    </a:p>
                  </a:txBody>
                  <a:tcPr anchor="ctr"/>
                </a:tc>
                <a:tc>
                  <a:txBody>
                    <a:bodyPr/>
                    <a:lstStyle/>
                    <a:p>
                      <a:r>
                        <a:rPr lang="en-US">
                          <a:latin typeface="Montserrat Medium" pitchFamily="50" charset="0"/>
                        </a:rPr>
                        <a:t>Good value for money</a:t>
                      </a:r>
                    </a:p>
                  </a:txBody>
                  <a:tcPr anchor="ctr"/>
                </a:tc>
                <a:tc>
                  <a:txBody>
                    <a:bodyPr/>
                    <a:lstStyle/>
                    <a:p>
                      <a:r>
                        <a:rPr lang="en-US" dirty="0">
                          <a:latin typeface="Montserrat Medium" pitchFamily="50" charset="0"/>
                        </a:rPr>
                        <a:t>Nike</a:t>
                      </a:r>
                    </a:p>
                  </a:txBody>
                  <a:tcPr anchor="ctr"/>
                </a:tc>
                <a:extLst>
                  <a:ext uri="{0D108BD9-81ED-4DB2-BD59-A6C34878D82A}">
                    <a16:rowId xmlns:a16="http://schemas.microsoft.com/office/drawing/2014/main" val="482290218"/>
                  </a:ext>
                </a:extLst>
              </a:tr>
            </a:tbl>
          </a:graphicData>
        </a:graphic>
      </p:graphicFrame>
      <p:sp>
        <p:nvSpPr>
          <p:cNvPr id="30" name="Rectangle 29">
            <a:extLst>
              <a:ext uri="{FF2B5EF4-FFF2-40B4-BE49-F238E27FC236}">
                <a16:creationId xmlns:a16="http://schemas.microsoft.com/office/drawing/2014/main" id="{AE86E95C-2780-428B-84CE-E95636685B22}"/>
              </a:ext>
            </a:extLst>
          </p:cNvPr>
          <p:cNvSpPr/>
          <p:nvPr/>
        </p:nvSpPr>
        <p:spPr>
          <a:xfrm>
            <a:off x="187760" y="688960"/>
            <a:ext cx="3549662" cy="391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31" name="Rectangle 30">
            <a:extLst>
              <a:ext uri="{FF2B5EF4-FFF2-40B4-BE49-F238E27FC236}">
                <a16:creationId xmlns:a16="http://schemas.microsoft.com/office/drawing/2014/main" id="{F888B4E4-74AE-428C-AEB5-15C701EAE760}"/>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34" name="Rectangle 33">
            <a:extLst>
              <a:ext uri="{FF2B5EF4-FFF2-40B4-BE49-F238E27FC236}">
                <a16:creationId xmlns:a16="http://schemas.microsoft.com/office/drawing/2014/main" id="{D2EDC46C-9DBF-45B7-A6E9-270508B691D5}"/>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46" name="Picture 45">
            <a:extLst>
              <a:ext uri="{FF2B5EF4-FFF2-40B4-BE49-F238E27FC236}">
                <a16:creationId xmlns:a16="http://schemas.microsoft.com/office/drawing/2014/main" id="{E615D8DB-010D-4F0F-9F9E-E2B722600738}"/>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47" name="Picture 46">
            <a:extLst>
              <a:ext uri="{FF2B5EF4-FFF2-40B4-BE49-F238E27FC236}">
                <a16:creationId xmlns:a16="http://schemas.microsoft.com/office/drawing/2014/main" id="{C20BB73D-43C4-4827-B0E3-724FDA7F78E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1188817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7BA094B-387E-4638-9188-9A1320292AFC}"/>
                  </a:ext>
                </a:extLst>
              </p:cNvPr>
              <p:cNvGraphicFramePr>
                <a:graphicFrameLocks noGrp="1"/>
              </p:cNvGraphicFramePr>
              <p:nvPr>
                <p:extLst>
                  <p:ext uri="{D42A27DB-BD31-4B8C-83A1-F6EECF244321}">
                    <p14:modId xmlns:p14="http://schemas.microsoft.com/office/powerpoint/2010/main" val="2889150843"/>
                  </p:ext>
                </p:extLst>
              </p:nvPr>
            </p:nvGraphicFramePr>
            <p:xfrm>
              <a:off x="155226" y="1459905"/>
              <a:ext cx="11907475" cy="3961137"/>
            </p:xfrm>
            <a:graphic>
              <a:graphicData uri="http://schemas.openxmlformats.org/drawingml/2006/table">
                <a:tbl>
                  <a:tblPr>
                    <a:tableStyleId>{BC89EF96-8CEA-46FF-86C4-4CE0E7609802}</a:tableStyleId>
                  </a:tblPr>
                  <a:tblGrid>
                    <a:gridCol w="1962332">
                      <a:extLst>
                        <a:ext uri="{9D8B030D-6E8A-4147-A177-3AD203B41FA5}">
                          <a16:colId xmlns:a16="http://schemas.microsoft.com/office/drawing/2014/main" val="1238570992"/>
                        </a:ext>
                      </a:extLst>
                    </a:gridCol>
                    <a:gridCol w="3311090">
                      <a:extLst>
                        <a:ext uri="{9D8B030D-6E8A-4147-A177-3AD203B41FA5}">
                          <a16:colId xmlns:a16="http://schemas.microsoft.com/office/drawing/2014/main" val="2032443282"/>
                        </a:ext>
                      </a:extLst>
                    </a:gridCol>
                    <a:gridCol w="6634053">
                      <a:extLst>
                        <a:ext uri="{9D8B030D-6E8A-4147-A177-3AD203B41FA5}">
                          <a16:colId xmlns:a16="http://schemas.microsoft.com/office/drawing/2014/main" val="2782644794"/>
                        </a:ext>
                      </a:extLst>
                    </a:gridCol>
                  </a:tblGrid>
                  <a:tr h="464983">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Metric</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Formula</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Why used</a:t>
                          </a:r>
                        </a:p>
                      </a:txBody>
                      <a:tcPr marL="67990" marR="67990" marT="33995" marB="33995" anchor="ctr"/>
                    </a:tc>
                    <a:extLst>
                      <a:ext uri="{0D108BD9-81ED-4DB2-BD59-A6C34878D82A}">
                        <a16:rowId xmlns:a16="http://schemas.microsoft.com/office/drawing/2014/main" val="1004227231"/>
                      </a:ext>
                    </a:extLst>
                  </a:tr>
                  <a:tr h="430448">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Precision</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14:m>
                            <m:oMath xmlns:m="http://schemas.openxmlformats.org/officeDocument/2006/math">
                              <m:r>
                                <a:rPr lang="en-US" sz="1800" kern="1200" smtClean="0">
                                  <a:solidFill>
                                    <a:schemeClr val="tx1"/>
                                  </a:solidFill>
                                  <a:latin typeface="Cambria Math" panose="02040503050406030204" pitchFamily="18" charset="0"/>
                                  <a:ea typeface="+mn-ea"/>
                                  <a:cs typeface="+mn-cs"/>
                                </a:rPr>
                                <m:t>𝑃𝑟𝑒𝑐𝑖𝑠𝑖𝑜𝑛</m:t>
                              </m:r>
                              <m:r>
                                <a:rPr lang="en-US" sz="1800" kern="1200" smtClean="0">
                                  <a:solidFill>
                                    <a:schemeClr val="tx1"/>
                                  </a:solidFill>
                                  <a:latin typeface="Cambria Math" panose="02040503050406030204" pitchFamily="18" charset="0"/>
                                  <a:ea typeface="+mn-ea"/>
                                  <a:cs typeface="+mn-cs"/>
                                </a:rPr>
                                <m:t> =</m:t>
                              </m:r>
                              <m:f>
                                <m:fPr>
                                  <m:ctrlPr>
                                    <a:rPr lang="en-US" sz="1800" i="1" kern="1200" smtClean="0">
                                      <a:solidFill>
                                        <a:schemeClr val="tx1"/>
                                      </a:solidFill>
                                      <a:latin typeface="Cambria Math" panose="02040503050406030204" pitchFamily="18" charset="0"/>
                                      <a:ea typeface="+mn-ea"/>
                                      <a:cs typeface="+mn-cs"/>
                                    </a:rPr>
                                  </m:ctrlPr>
                                </m:fPr>
                                <m:num>
                                  <m:r>
                                    <a:rPr lang="en-US" sz="1800" kern="1200" smtClean="0">
                                      <a:solidFill>
                                        <a:schemeClr val="tx1"/>
                                      </a:solidFill>
                                      <a:latin typeface="Cambria Math" panose="02040503050406030204" pitchFamily="18" charset="0"/>
                                      <a:ea typeface="+mn-ea"/>
                                      <a:cs typeface="+mn-cs"/>
                                    </a:rPr>
                                    <m:t>𝑇𝑃</m:t>
                                  </m:r>
                                </m:num>
                                <m:den>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𝑇𝑃</m:t>
                                  </m:r>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𝐹𝑃</m:t>
                                  </m:r>
                                  <m:r>
                                    <a:rPr lang="en-US" sz="1800" kern="1200" smtClean="0">
                                      <a:solidFill>
                                        <a:schemeClr val="tx1"/>
                                      </a:solidFill>
                                      <a:latin typeface="Cambria Math" panose="02040503050406030204" pitchFamily="18" charset="0"/>
                                      <a:ea typeface="+mn-ea"/>
                                      <a:cs typeface="+mn-cs"/>
                                    </a:rPr>
                                    <m:t>)</m:t>
                                  </m:r>
                                </m:den>
                              </m:f>
                            </m:oMath>
                          </a14:m>
                          <a:endParaRPr lang="en-US" sz="1800" kern="1200" dirty="0">
                            <a:solidFill>
                              <a:schemeClr val="tx1"/>
                            </a:solidFill>
                            <a:latin typeface="Montserrat Medium" pitchFamily="50" charset="0"/>
                            <a:ea typeface="+mn-ea"/>
                            <a:cs typeface="+mn-cs"/>
                          </a:endParaRP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Measures how many predicted links/interactions are correct.</a:t>
                          </a:r>
                        </a:p>
                      </a:txBody>
                      <a:tcPr marL="67990" marR="67990" marT="33995" marB="33995" anchor="ctr"/>
                    </a:tc>
                    <a:extLst>
                      <a:ext uri="{0D108BD9-81ED-4DB2-BD59-A6C34878D82A}">
                        <a16:rowId xmlns:a16="http://schemas.microsoft.com/office/drawing/2014/main" val="3929551814"/>
                      </a:ext>
                    </a:extLst>
                  </a:tr>
                  <a:tr h="505015">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Recall</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14:m>
                            <m:oMath xmlns:m="http://schemas.openxmlformats.org/officeDocument/2006/math">
                              <m:r>
                                <a:rPr lang="en-US" sz="1800" kern="1200" smtClean="0">
                                  <a:solidFill>
                                    <a:schemeClr val="tx1"/>
                                  </a:solidFill>
                                  <a:latin typeface="Cambria Math" panose="02040503050406030204" pitchFamily="18" charset="0"/>
                                  <a:ea typeface="+mn-ea"/>
                                  <a:cs typeface="+mn-cs"/>
                                </a:rPr>
                                <m:t>𝑅𝑒𝑐𝑎𝑙𝑙</m:t>
                              </m:r>
                              <m:r>
                                <a:rPr lang="en-US" sz="1800" kern="1200" smtClean="0">
                                  <a:solidFill>
                                    <a:schemeClr val="tx1"/>
                                  </a:solidFill>
                                  <a:latin typeface="Cambria Math" panose="02040503050406030204" pitchFamily="18" charset="0"/>
                                  <a:ea typeface="+mn-ea"/>
                                  <a:cs typeface="+mn-cs"/>
                                </a:rPr>
                                <m:t>=</m:t>
                              </m:r>
                              <m:f>
                                <m:fPr>
                                  <m:ctrlPr>
                                    <a:rPr lang="en-US" sz="1800" i="1" kern="1200" smtClean="0">
                                      <a:solidFill>
                                        <a:schemeClr val="tx1"/>
                                      </a:solidFill>
                                      <a:latin typeface="Cambria Math" panose="02040503050406030204" pitchFamily="18" charset="0"/>
                                      <a:ea typeface="+mn-ea"/>
                                      <a:cs typeface="+mn-cs"/>
                                    </a:rPr>
                                  </m:ctrlPr>
                                </m:fPr>
                                <m:num>
                                  <m:r>
                                    <a:rPr lang="en-US" sz="1800" kern="1200" smtClean="0">
                                      <a:solidFill>
                                        <a:schemeClr val="tx1"/>
                                      </a:solidFill>
                                      <a:latin typeface="Cambria Math" panose="02040503050406030204" pitchFamily="18" charset="0"/>
                                      <a:ea typeface="+mn-ea"/>
                                      <a:cs typeface="+mn-cs"/>
                                    </a:rPr>
                                    <m:t>𝑇𝑃</m:t>
                                  </m:r>
                                </m:num>
                                <m:den>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𝑇𝑃</m:t>
                                  </m:r>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𝐹𝑁</m:t>
                                  </m:r>
                                  <m:r>
                                    <a:rPr lang="en-US" sz="1800" kern="1200" smtClean="0">
                                      <a:solidFill>
                                        <a:schemeClr val="tx1"/>
                                      </a:solidFill>
                                      <a:latin typeface="Cambria Math" panose="02040503050406030204" pitchFamily="18" charset="0"/>
                                      <a:ea typeface="+mn-ea"/>
                                      <a:cs typeface="+mn-cs"/>
                                    </a:rPr>
                                    <m:t>)</m:t>
                                  </m:r>
                                </m:den>
                              </m:f>
                            </m:oMath>
                          </a14:m>
                          <a:endParaRPr lang="en-US" sz="1800" kern="1200" dirty="0">
                            <a:solidFill>
                              <a:schemeClr val="tx1"/>
                            </a:solidFill>
                            <a:latin typeface="Montserrat Medium" pitchFamily="50" charset="0"/>
                            <a:ea typeface="+mn-ea"/>
                            <a:cs typeface="+mn-cs"/>
                          </a:endParaRP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Measures how many real links/interactions the model successfully recovers.</a:t>
                          </a:r>
                        </a:p>
                      </a:txBody>
                      <a:tcPr marL="67990" marR="67990" marT="33995" marB="33995" anchor="ctr"/>
                    </a:tc>
                    <a:extLst>
                      <a:ext uri="{0D108BD9-81ED-4DB2-BD59-A6C34878D82A}">
                        <a16:rowId xmlns:a16="http://schemas.microsoft.com/office/drawing/2014/main" val="723956005"/>
                      </a:ext>
                    </a:extLst>
                  </a:tr>
                  <a:tr h="584612">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Precision@K</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14:m>
                            <m:oMath xmlns:m="http://schemas.openxmlformats.org/officeDocument/2006/math">
                              <m:r>
                                <a:rPr lang="nn-NO" sz="1800" kern="1200" smtClean="0">
                                  <a:solidFill>
                                    <a:schemeClr val="tx1"/>
                                  </a:solidFill>
                                  <a:latin typeface="Cambria Math" panose="02040503050406030204" pitchFamily="18" charset="0"/>
                                  <a:ea typeface="+mn-ea"/>
                                  <a:cs typeface="+mn-cs"/>
                                </a:rPr>
                                <m:t>𝑃𝑟𝑒𝑐𝑖𝑠𝑖𝑜𝑛</m:t>
                              </m:r>
                              <m:r>
                                <a:rPr lang="nn-NO" sz="1800" kern="1200" smtClean="0">
                                  <a:solidFill>
                                    <a:schemeClr val="tx1"/>
                                  </a:solidFill>
                                  <a:latin typeface="Cambria Math" panose="02040503050406030204" pitchFamily="18" charset="0"/>
                                  <a:ea typeface="+mn-ea"/>
                                  <a:cs typeface="+mn-cs"/>
                                </a:rPr>
                                <m:t>@</m:t>
                              </m:r>
                              <m:r>
                                <a:rPr lang="nn-NO" sz="1800" kern="1200" smtClean="0">
                                  <a:solidFill>
                                    <a:schemeClr val="tx1"/>
                                  </a:solidFill>
                                  <a:latin typeface="Cambria Math" panose="02040503050406030204" pitchFamily="18" charset="0"/>
                                  <a:ea typeface="+mn-ea"/>
                                  <a:cs typeface="+mn-cs"/>
                                </a:rPr>
                                <m:t>𝐾</m:t>
                              </m:r>
                              <m:r>
                                <a:rPr lang="nn-NO" sz="1800" kern="1200" smtClean="0">
                                  <a:solidFill>
                                    <a:schemeClr val="tx1"/>
                                  </a:solidFill>
                                  <a:latin typeface="Cambria Math" panose="02040503050406030204" pitchFamily="18" charset="0"/>
                                  <a:ea typeface="+mn-ea"/>
                                  <a:cs typeface="+mn-cs"/>
                                </a:rPr>
                                <m:t> = </m:t>
                              </m:r>
                              <m:f>
                                <m:fPr>
                                  <m:ctrlPr>
                                    <a:rPr lang="en-US" sz="1800" i="1" kern="1200" dirty="0" smtClean="0">
                                      <a:solidFill>
                                        <a:schemeClr val="tx1"/>
                                      </a:solidFill>
                                      <a:latin typeface="Cambria Math" panose="02040503050406030204" pitchFamily="18" charset="0"/>
                                      <a:ea typeface="+mn-ea"/>
                                      <a:cs typeface="+mn-cs"/>
                                    </a:rPr>
                                  </m:ctrlPr>
                                </m:fPr>
                                <m:num>
                                  <m:r>
                                    <a:rPr lang="en-US" sz="1800" kern="1200" dirty="0">
                                      <a:solidFill>
                                        <a:schemeClr val="tx1"/>
                                      </a:solidFill>
                                      <a:latin typeface="Cambria Math" panose="02040503050406030204" pitchFamily="18" charset="0"/>
                                      <a:ea typeface="+mn-ea"/>
                                      <a:cs typeface="+mn-cs"/>
                                    </a:rPr>
                                    <m:t>1</m:t>
                                  </m:r>
                                </m:num>
                                <m:den>
                                  <m:r>
                                    <a:rPr lang="en-US" sz="1800" kern="1200" dirty="0">
                                      <a:solidFill>
                                        <a:schemeClr val="tx1"/>
                                      </a:solidFill>
                                      <a:latin typeface="Cambria Math" panose="02040503050406030204" pitchFamily="18" charset="0"/>
                                      <a:ea typeface="+mn-ea"/>
                                      <a:cs typeface="+mn-cs"/>
                                    </a:rPr>
                                    <m:t>𝑘</m:t>
                                  </m:r>
                                </m:den>
                              </m:f>
                              <m:nary>
                                <m:naryPr>
                                  <m:chr m:val="∑"/>
                                  <m:limLoc m:val="undOvr"/>
                                  <m:grow m:val="on"/>
                                  <m:ctrlPr>
                                    <a:rPr lang="en-US" sz="1800" i="1" kern="1200" dirty="0">
                                      <a:solidFill>
                                        <a:schemeClr val="tx1"/>
                                      </a:solidFill>
                                      <a:latin typeface="Cambria Math" panose="02040503050406030204" pitchFamily="18" charset="0"/>
                                      <a:ea typeface="+mn-ea"/>
                                      <a:cs typeface="+mn-cs"/>
                                    </a:rPr>
                                  </m:ctrlPr>
                                </m:naryPr>
                                <m:sub>
                                  <m:r>
                                    <a:rPr lang="en-US" sz="1800" kern="1200" dirty="0">
                                      <a:solidFill>
                                        <a:schemeClr val="tx1"/>
                                      </a:solidFill>
                                      <a:latin typeface="Cambria Math" panose="02040503050406030204" pitchFamily="18" charset="0"/>
                                      <a:ea typeface="+mn-ea"/>
                                      <a:cs typeface="+mn-cs"/>
                                    </a:rPr>
                                    <m:t>𝑖</m:t>
                                  </m:r>
                                  <m:r>
                                    <a:rPr lang="en-US" sz="1800" kern="1200" dirty="0">
                                      <a:solidFill>
                                        <a:schemeClr val="tx1"/>
                                      </a:solidFill>
                                      <a:latin typeface="Cambria Math" panose="02040503050406030204" pitchFamily="18" charset="0"/>
                                      <a:ea typeface="+mn-ea"/>
                                      <a:cs typeface="+mn-cs"/>
                                    </a:rPr>
                                    <m:t>=1</m:t>
                                  </m:r>
                                </m:sub>
                                <m:sup>
                                  <m:r>
                                    <a:rPr lang="en-US" sz="1800" kern="1200" dirty="0">
                                      <a:solidFill>
                                        <a:schemeClr val="tx1"/>
                                      </a:solidFill>
                                      <a:latin typeface="Cambria Math" panose="02040503050406030204" pitchFamily="18" charset="0"/>
                                      <a:ea typeface="+mn-ea"/>
                                      <a:cs typeface="+mn-cs"/>
                                    </a:rPr>
                                    <m:t>𝑘</m:t>
                                  </m:r>
                                </m:sup>
                                <m:e>
                                  <m:r>
                                    <a:rPr lang="en-US" sz="1800" kern="1200" dirty="0">
                                      <a:solidFill>
                                        <a:schemeClr val="tx1"/>
                                      </a:solidFill>
                                      <a:latin typeface="Cambria Math" panose="02040503050406030204" pitchFamily="18" charset="0"/>
                                      <a:ea typeface="+mn-ea"/>
                                      <a:cs typeface="+mn-cs"/>
                                    </a:rPr>
                                    <m:t>𝑟</m:t>
                                  </m:r>
                                  <m:r>
                                    <m:rPr>
                                      <m:sty m:val="p"/>
                                    </m:rPr>
                                    <a:rPr lang="en-US" sz="1800" kern="1200" dirty="0" smtClean="0">
                                      <a:solidFill>
                                        <a:schemeClr val="tx1"/>
                                      </a:solidFill>
                                      <a:latin typeface="Cambria Math" panose="02040503050406030204" pitchFamily="18" charset="0"/>
                                      <a:ea typeface="+mn-ea"/>
                                      <a:cs typeface="+mn-cs"/>
                                    </a:rPr>
                                    <m:t>e</m:t>
                                  </m:r>
                                  <m:sSub>
                                    <m:sSubPr>
                                      <m:ctrlPr>
                                        <a:rPr lang="en-US" sz="1800" i="1" kern="1200" dirty="0">
                                          <a:solidFill>
                                            <a:schemeClr val="tx1"/>
                                          </a:solidFill>
                                          <a:latin typeface="Cambria Math" panose="02040503050406030204" pitchFamily="18" charset="0"/>
                                          <a:ea typeface="+mn-ea"/>
                                          <a:cs typeface="+mn-cs"/>
                                        </a:rPr>
                                      </m:ctrlPr>
                                    </m:sSubPr>
                                    <m:e>
                                      <m:r>
                                        <a:rPr lang="en-US" sz="1800" kern="1200" dirty="0">
                                          <a:solidFill>
                                            <a:schemeClr val="tx1"/>
                                          </a:solidFill>
                                          <a:latin typeface="Cambria Math" panose="02040503050406030204" pitchFamily="18" charset="0"/>
                                          <a:ea typeface="+mn-ea"/>
                                          <a:cs typeface="+mn-cs"/>
                                        </a:rPr>
                                        <m:t>𝑙</m:t>
                                      </m:r>
                                    </m:e>
                                    <m:sub>
                                      <m:r>
                                        <a:rPr lang="en-US" sz="1800" kern="1200" dirty="0">
                                          <a:solidFill>
                                            <a:schemeClr val="tx1"/>
                                          </a:solidFill>
                                          <a:latin typeface="Cambria Math" panose="02040503050406030204" pitchFamily="18" charset="0"/>
                                          <a:ea typeface="+mn-ea"/>
                                          <a:cs typeface="+mn-cs"/>
                                        </a:rPr>
                                        <m:t>𝑖</m:t>
                                      </m:r>
                                    </m:sub>
                                  </m:sSub>
                                </m:e>
                              </m:nary>
                            </m:oMath>
                          </a14:m>
                          <a:endParaRPr lang="en-US" sz="1800" kern="1200" dirty="0">
                            <a:solidFill>
                              <a:schemeClr val="tx1"/>
                            </a:solidFill>
                            <a:latin typeface="Montserrat Medium" pitchFamily="50" charset="0"/>
                            <a:ea typeface="+mn-ea"/>
                            <a:cs typeface="+mn-cs"/>
                          </a:endParaRP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Measures the proportion of relevant items among the top-K recommendations.</a:t>
                          </a:r>
                        </a:p>
                      </a:txBody>
                      <a:tcPr marL="67990" marR="67990" marT="33995" marB="33995" anchor="ctr"/>
                    </a:tc>
                    <a:extLst>
                      <a:ext uri="{0D108BD9-81ED-4DB2-BD59-A6C34878D82A}">
                        <a16:rowId xmlns:a16="http://schemas.microsoft.com/office/drawing/2014/main" val="459227356"/>
                      </a:ext>
                    </a:extLst>
                  </a:tr>
                  <a:tr h="0">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Recall@K</a:t>
                          </a:r>
                        </a:p>
                      </a:txBody>
                      <a:tcPr marL="67990" marR="67990" marT="33995" marB="33995" anchor="ctr"/>
                    </a:tc>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lang="en-US" sz="1800" kern="1200" smtClean="0">
                                  <a:solidFill>
                                    <a:schemeClr val="tx1"/>
                                  </a:solidFill>
                                  <a:latin typeface="Cambria Math" panose="02040503050406030204" pitchFamily="18" charset="0"/>
                                  <a:ea typeface="+mn-ea"/>
                                  <a:cs typeface="+mn-cs"/>
                                </a:rPr>
                                <m:t>𝑅𝑒𝑐𝑎𝑙𝑙</m:t>
                              </m:r>
                              <m:r>
                                <a:rPr lang="nn-NO" sz="1800" kern="1200" smtClean="0">
                                  <a:solidFill>
                                    <a:schemeClr val="tx1"/>
                                  </a:solidFill>
                                  <a:latin typeface="Cambria Math" panose="02040503050406030204" pitchFamily="18" charset="0"/>
                                  <a:ea typeface="+mn-ea"/>
                                  <a:cs typeface="+mn-cs"/>
                                </a:rPr>
                                <m:t>@</m:t>
                              </m:r>
                              <m:r>
                                <a:rPr lang="nn-NO" sz="1800" kern="1200" smtClean="0">
                                  <a:solidFill>
                                    <a:schemeClr val="tx1"/>
                                  </a:solidFill>
                                  <a:latin typeface="Cambria Math" panose="02040503050406030204" pitchFamily="18" charset="0"/>
                                  <a:ea typeface="+mn-ea"/>
                                  <a:cs typeface="+mn-cs"/>
                                </a:rPr>
                                <m:t>𝐾</m:t>
                              </m:r>
                              <m:r>
                                <a:rPr lang="nn-NO" sz="1800" kern="1200" smtClean="0">
                                  <a:solidFill>
                                    <a:schemeClr val="tx1"/>
                                  </a:solidFill>
                                  <a:latin typeface="Cambria Math" panose="02040503050406030204" pitchFamily="18" charset="0"/>
                                  <a:ea typeface="+mn-ea"/>
                                  <a:cs typeface="+mn-cs"/>
                                </a:rPr>
                                <m:t> =</m:t>
                              </m:r>
                              <m:f>
                                <m:fPr>
                                  <m:ctrlPr>
                                    <a:rPr lang="nn-NO" sz="1800" i="1" kern="1200" smtClean="0">
                                      <a:solidFill>
                                        <a:schemeClr val="tx1"/>
                                      </a:solidFill>
                                      <a:latin typeface="Cambria Math" panose="02040503050406030204" pitchFamily="18" charset="0"/>
                                      <a:ea typeface="+mn-ea"/>
                                      <a:cs typeface="+mn-cs"/>
                                    </a:rPr>
                                  </m:ctrlPr>
                                </m:fPr>
                                <m:num>
                                  <m:f>
                                    <m:fPr>
                                      <m:ctrlPr>
                                        <a:rPr lang="en-US" sz="1800" i="1" kern="1200" dirty="0" smtClean="0">
                                          <a:solidFill>
                                            <a:schemeClr val="tx1"/>
                                          </a:solidFill>
                                          <a:latin typeface="Cambria Math" panose="02040503050406030204" pitchFamily="18" charset="0"/>
                                          <a:ea typeface="+mn-ea"/>
                                          <a:cs typeface="+mn-cs"/>
                                        </a:rPr>
                                      </m:ctrlPr>
                                    </m:fPr>
                                    <m:num>
                                      <m:r>
                                        <a:rPr lang="en-US" sz="1800" kern="1200" dirty="0">
                                          <a:solidFill>
                                            <a:schemeClr val="tx1"/>
                                          </a:solidFill>
                                          <a:latin typeface="Cambria Math" panose="02040503050406030204" pitchFamily="18" charset="0"/>
                                          <a:ea typeface="+mn-ea"/>
                                          <a:cs typeface="+mn-cs"/>
                                        </a:rPr>
                                        <m:t>1</m:t>
                                      </m:r>
                                    </m:num>
                                    <m:den>
                                      <m:r>
                                        <a:rPr lang="en-US" sz="1800" kern="1200" dirty="0">
                                          <a:solidFill>
                                            <a:schemeClr val="tx1"/>
                                          </a:solidFill>
                                          <a:latin typeface="Cambria Math" panose="02040503050406030204" pitchFamily="18" charset="0"/>
                                          <a:ea typeface="+mn-ea"/>
                                          <a:cs typeface="+mn-cs"/>
                                        </a:rPr>
                                        <m:t>𝑘</m:t>
                                      </m:r>
                                    </m:den>
                                  </m:f>
                                  <m:nary>
                                    <m:naryPr>
                                      <m:chr m:val="∑"/>
                                      <m:limLoc m:val="undOvr"/>
                                      <m:grow m:val="on"/>
                                      <m:ctrlPr>
                                        <a:rPr lang="en-US" sz="1800" i="1" kern="1200" dirty="0">
                                          <a:solidFill>
                                            <a:schemeClr val="tx1"/>
                                          </a:solidFill>
                                          <a:latin typeface="Cambria Math" panose="02040503050406030204" pitchFamily="18" charset="0"/>
                                          <a:ea typeface="+mn-ea"/>
                                          <a:cs typeface="+mn-cs"/>
                                        </a:rPr>
                                      </m:ctrlPr>
                                    </m:naryPr>
                                    <m:sub>
                                      <m:r>
                                        <a:rPr lang="en-US" sz="1800" kern="1200" dirty="0">
                                          <a:solidFill>
                                            <a:schemeClr val="tx1"/>
                                          </a:solidFill>
                                          <a:latin typeface="Cambria Math" panose="02040503050406030204" pitchFamily="18" charset="0"/>
                                          <a:ea typeface="+mn-ea"/>
                                          <a:cs typeface="+mn-cs"/>
                                        </a:rPr>
                                        <m:t>𝑖</m:t>
                                      </m:r>
                                      <m:r>
                                        <a:rPr lang="en-US" sz="1800" kern="1200" dirty="0">
                                          <a:solidFill>
                                            <a:schemeClr val="tx1"/>
                                          </a:solidFill>
                                          <a:latin typeface="Cambria Math" panose="02040503050406030204" pitchFamily="18" charset="0"/>
                                          <a:ea typeface="+mn-ea"/>
                                          <a:cs typeface="+mn-cs"/>
                                        </a:rPr>
                                        <m:t>=1</m:t>
                                      </m:r>
                                    </m:sub>
                                    <m:sup>
                                      <m:r>
                                        <a:rPr lang="en-US" sz="1800" kern="1200" dirty="0">
                                          <a:solidFill>
                                            <a:schemeClr val="tx1"/>
                                          </a:solidFill>
                                          <a:latin typeface="Cambria Math" panose="02040503050406030204" pitchFamily="18" charset="0"/>
                                          <a:ea typeface="+mn-ea"/>
                                          <a:cs typeface="+mn-cs"/>
                                        </a:rPr>
                                        <m:t>𝑘</m:t>
                                      </m:r>
                                    </m:sup>
                                    <m:e>
                                      <m:r>
                                        <a:rPr lang="en-US" sz="1800" kern="1200" dirty="0">
                                          <a:solidFill>
                                            <a:schemeClr val="tx1"/>
                                          </a:solidFill>
                                          <a:latin typeface="Cambria Math" panose="02040503050406030204" pitchFamily="18" charset="0"/>
                                          <a:ea typeface="+mn-ea"/>
                                          <a:cs typeface="+mn-cs"/>
                                        </a:rPr>
                                        <m:t>𝑟</m:t>
                                      </m:r>
                                      <m:r>
                                        <a:rPr lang="en-US" sz="1800" kern="1200" dirty="0">
                                          <a:solidFill>
                                            <a:schemeClr val="tx1"/>
                                          </a:solidFill>
                                          <a:latin typeface="Cambria Math" panose="02040503050406030204" pitchFamily="18" charset="0"/>
                                          <a:ea typeface="+mn-ea"/>
                                          <a:cs typeface="+mn-cs"/>
                                        </a:rPr>
                                        <m:t>ⅇ</m:t>
                                      </m:r>
                                      <m:sSub>
                                        <m:sSubPr>
                                          <m:ctrlPr>
                                            <a:rPr lang="en-US" sz="1800" i="1" kern="1200" dirty="0">
                                              <a:solidFill>
                                                <a:schemeClr val="tx1"/>
                                              </a:solidFill>
                                              <a:latin typeface="Cambria Math" panose="02040503050406030204" pitchFamily="18" charset="0"/>
                                              <a:ea typeface="+mn-ea"/>
                                              <a:cs typeface="+mn-cs"/>
                                            </a:rPr>
                                          </m:ctrlPr>
                                        </m:sSubPr>
                                        <m:e>
                                          <m:r>
                                            <a:rPr lang="en-US" sz="1800" kern="1200" dirty="0">
                                              <a:solidFill>
                                                <a:schemeClr val="tx1"/>
                                              </a:solidFill>
                                              <a:latin typeface="Cambria Math" panose="02040503050406030204" pitchFamily="18" charset="0"/>
                                              <a:ea typeface="+mn-ea"/>
                                              <a:cs typeface="+mn-cs"/>
                                            </a:rPr>
                                            <m:t>𝑙</m:t>
                                          </m:r>
                                        </m:e>
                                        <m:sub>
                                          <m:r>
                                            <a:rPr lang="en-US" sz="1800" kern="1200" dirty="0">
                                              <a:solidFill>
                                                <a:schemeClr val="tx1"/>
                                              </a:solidFill>
                                              <a:latin typeface="Cambria Math" panose="02040503050406030204" pitchFamily="18" charset="0"/>
                                              <a:ea typeface="+mn-ea"/>
                                              <a:cs typeface="+mn-cs"/>
                                            </a:rPr>
                                            <m:t>𝑖</m:t>
                                          </m:r>
                                        </m:sub>
                                      </m:sSub>
                                    </m:e>
                                  </m:nary>
                                </m:num>
                                <m:den>
                                  <m:d>
                                    <m:dPr>
                                      <m:begChr m:val="|"/>
                                      <m:endChr m:val="|"/>
                                      <m:ctrlPr>
                                        <a:rPr lang="nn-NO" sz="1800" i="1" kern="1200" smtClean="0">
                                          <a:solidFill>
                                            <a:schemeClr val="tx1"/>
                                          </a:solidFill>
                                          <a:latin typeface="Cambria Math" panose="02040503050406030204" pitchFamily="18" charset="0"/>
                                          <a:ea typeface="+mn-ea"/>
                                          <a:cs typeface="+mn-cs"/>
                                        </a:rPr>
                                      </m:ctrlPr>
                                    </m:dPr>
                                    <m:e>
                                      <m:sSub>
                                        <m:sSubPr>
                                          <m:ctrlPr>
                                            <a:rPr lang="nn-NO" sz="1800" i="1" kern="1200" smtClean="0">
                                              <a:solidFill>
                                                <a:schemeClr val="tx1"/>
                                              </a:solidFill>
                                              <a:latin typeface="Cambria Math" panose="02040503050406030204" pitchFamily="18" charset="0"/>
                                              <a:ea typeface="+mn-ea"/>
                                              <a:cs typeface="+mn-cs"/>
                                            </a:rPr>
                                          </m:ctrlPr>
                                        </m:sSubPr>
                                        <m:e>
                                          <m:r>
                                            <a:rPr lang="nn-NO" sz="1800" kern="1200" smtClean="0">
                                              <a:solidFill>
                                                <a:schemeClr val="tx1"/>
                                              </a:solidFill>
                                              <a:latin typeface="Cambria Math" panose="02040503050406030204" pitchFamily="18" charset="0"/>
                                              <a:ea typeface="+mn-ea"/>
                                              <a:cs typeface="+mn-cs"/>
                                            </a:rPr>
                                            <m:t>ℛ</m:t>
                                          </m:r>
                                        </m:e>
                                        <m:sub>
                                          <m:r>
                                            <a:rPr lang="en-US" sz="1800" kern="1200" smtClean="0">
                                              <a:solidFill>
                                                <a:schemeClr val="tx1"/>
                                              </a:solidFill>
                                              <a:latin typeface="Cambria Math" panose="02040503050406030204" pitchFamily="18" charset="0"/>
                                              <a:ea typeface="+mn-ea"/>
                                              <a:cs typeface="+mn-cs"/>
                                            </a:rPr>
                                            <m:t>𝑈</m:t>
                                          </m:r>
                                        </m:sub>
                                      </m:sSub>
                                    </m:e>
                                  </m:d>
                                </m:den>
                              </m:f>
                            </m:oMath>
                          </a14:m>
                          <a:endParaRPr lang="en-US" sz="1800" kern="1200" dirty="0">
                            <a:solidFill>
                              <a:schemeClr val="tx1"/>
                            </a:solidFill>
                            <a:latin typeface="Montserrat Medium" pitchFamily="50" charset="0"/>
                            <a:ea typeface="+mn-ea"/>
                            <a:cs typeface="+mn-cs"/>
                          </a:endParaRPr>
                        </a:p>
                        <a:p>
                          <a:pPr marL="285750" indent="-285750" algn="just" defTabSz="914400" rtl="0" eaLnBrk="1" latinLnBrk="0" hangingPunct="1">
                            <a:buFont typeface="Arial" panose="020B0604020202020204" pitchFamily="34" charset="0"/>
                            <a:buChar char="•"/>
                          </a:pPr>
                          <a:endParaRPr lang="en-US" sz="1800" kern="1200" dirty="0">
                            <a:solidFill>
                              <a:schemeClr val="tx1"/>
                            </a:solidFill>
                            <a:latin typeface="Montserrat Medium" pitchFamily="50" charset="0"/>
                            <a:ea typeface="+mn-ea"/>
                            <a:cs typeface="+mn-cs"/>
                          </a:endParaRP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Measures how many of the user’s relevant items are successfully retrieved in the top-K recommendations.</a:t>
                          </a:r>
                        </a:p>
                      </a:txBody>
                      <a:tcPr marL="67990" marR="67990" marT="33995" marB="33995" anchor="ctr"/>
                    </a:tc>
                    <a:extLst>
                      <a:ext uri="{0D108BD9-81ED-4DB2-BD59-A6C34878D82A}">
                        <a16:rowId xmlns:a16="http://schemas.microsoft.com/office/drawing/2014/main" val="3806694153"/>
                      </a:ext>
                    </a:extLst>
                  </a:tr>
                  <a:tr h="516088">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F1-Score@K</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14:m>
                            <m:oMath xmlns:m="http://schemas.openxmlformats.org/officeDocument/2006/math">
                              <m:r>
                                <a:rPr lang="en-US" sz="1800" kern="1200" smtClean="0">
                                  <a:solidFill>
                                    <a:schemeClr val="tx1"/>
                                  </a:solidFill>
                                  <a:latin typeface="Cambria Math" panose="02040503050406030204" pitchFamily="18" charset="0"/>
                                  <a:ea typeface="+mn-ea"/>
                                  <a:cs typeface="+mn-cs"/>
                                </a:rPr>
                                <m:t>𝐹</m:t>
                              </m:r>
                              <m:r>
                                <a:rPr lang="en-US" sz="1800" kern="1200" smtClean="0">
                                  <a:solidFill>
                                    <a:schemeClr val="tx1"/>
                                  </a:solidFill>
                                  <a:latin typeface="Cambria Math" panose="02040503050406030204" pitchFamily="18" charset="0"/>
                                  <a:ea typeface="+mn-ea"/>
                                  <a:cs typeface="+mn-cs"/>
                                </a:rPr>
                                <m:t>1@</m:t>
                              </m:r>
                              <m:r>
                                <a:rPr lang="en-US" sz="1800" kern="1200" smtClean="0">
                                  <a:solidFill>
                                    <a:schemeClr val="tx1"/>
                                  </a:solidFill>
                                  <a:latin typeface="Cambria Math" panose="02040503050406030204" pitchFamily="18" charset="0"/>
                                  <a:ea typeface="+mn-ea"/>
                                  <a:cs typeface="+mn-cs"/>
                                </a:rPr>
                                <m:t>𝐾</m:t>
                              </m:r>
                              <m:r>
                                <a:rPr lang="en-US" sz="1800" kern="1200" smtClean="0">
                                  <a:solidFill>
                                    <a:schemeClr val="tx1"/>
                                  </a:solidFill>
                                  <a:latin typeface="Cambria Math" panose="02040503050406030204" pitchFamily="18" charset="0"/>
                                  <a:ea typeface="+mn-ea"/>
                                  <a:cs typeface="+mn-cs"/>
                                </a:rPr>
                                <m:t>=2 × </m:t>
                              </m:r>
                              <m:f>
                                <m:fPr>
                                  <m:ctrlPr>
                                    <a:rPr lang="en-US" sz="1800" i="1" kern="1200" smtClean="0">
                                      <a:solidFill>
                                        <a:schemeClr val="tx1"/>
                                      </a:solidFill>
                                      <a:latin typeface="Cambria Math" panose="02040503050406030204" pitchFamily="18" charset="0"/>
                                      <a:ea typeface="+mn-ea"/>
                                      <a:cs typeface="+mn-cs"/>
                                    </a:rPr>
                                  </m:ctrlPr>
                                </m:fPr>
                                <m:num>
                                  <m:r>
                                    <a:rPr lang="en-US" sz="1800" kern="1200" smtClean="0">
                                      <a:solidFill>
                                        <a:schemeClr val="tx1"/>
                                      </a:solidFill>
                                      <a:latin typeface="Cambria Math" panose="02040503050406030204" pitchFamily="18" charset="0"/>
                                      <a:ea typeface="+mn-ea"/>
                                      <a:cs typeface="+mn-cs"/>
                                    </a:rPr>
                                    <m:t>𝑃𝑟𝑒𝑐𝑖𝑠𝑖𝑜𝑛</m:t>
                                  </m:r>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𝐾</m:t>
                                  </m:r>
                                  <m:r>
                                    <a:rPr lang="en-US" sz="1800" kern="1200" smtClean="0">
                                      <a:solidFill>
                                        <a:schemeClr val="tx1"/>
                                      </a:solidFill>
                                      <a:latin typeface="Cambria Math" panose="02040503050406030204" pitchFamily="18" charset="0"/>
                                      <a:ea typeface="+mn-ea"/>
                                      <a:cs typeface="+mn-cs"/>
                                    </a:rPr>
                                    <m:t> ×</m:t>
                                  </m:r>
                                  <m:r>
                                    <a:rPr lang="en-US" sz="1800" kern="1200" smtClean="0">
                                      <a:solidFill>
                                        <a:schemeClr val="tx1"/>
                                      </a:solidFill>
                                      <a:latin typeface="Cambria Math" panose="02040503050406030204" pitchFamily="18" charset="0"/>
                                      <a:ea typeface="+mn-ea"/>
                                      <a:cs typeface="+mn-cs"/>
                                    </a:rPr>
                                    <m:t>𝑅𝑒𝑐𝑎𝑙𝑙</m:t>
                                  </m:r>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𝐾</m:t>
                                  </m:r>
                                </m:num>
                                <m:den>
                                  <m:r>
                                    <a:rPr lang="en-US" sz="1800" kern="1200" smtClean="0">
                                      <a:solidFill>
                                        <a:schemeClr val="tx1"/>
                                      </a:solidFill>
                                      <a:latin typeface="Cambria Math" panose="02040503050406030204" pitchFamily="18" charset="0"/>
                                      <a:ea typeface="+mn-ea"/>
                                      <a:cs typeface="+mn-cs"/>
                                    </a:rPr>
                                    <m:t>𝑃𝑟𝑒𝑐𝑖𝑠𝑖𝑜𝑛</m:t>
                                  </m:r>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𝐾</m:t>
                                  </m:r>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𝑅𝑒𝑐𝑎𝑙𝑙</m:t>
                                  </m:r>
                                  <m:r>
                                    <a:rPr lang="en-US" sz="1800" kern="1200" smtClean="0">
                                      <a:solidFill>
                                        <a:schemeClr val="tx1"/>
                                      </a:solidFill>
                                      <a:latin typeface="Cambria Math" panose="02040503050406030204" pitchFamily="18" charset="0"/>
                                      <a:ea typeface="+mn-ea"/>
                                      <a:cs typeface="+mn-cs"/>
                                    </a:rPr>
                                    <m:t>@</m:t>
                                  </m:r>
                                  <m:r>
                                    <a:rPr lang="en-US" sz="1800" kern="1200" smtClean="0">
                                      <a:solidFill>
                                        <a:schemeClr val="tx1"/>
                                      </a:solidFill>
                                      <a:latin typeface="Cambria Math" panose="02040503050406030204" pitchFamily="18" charset="0"/>
                                      <a:ea typeface="+mn-ea"/>
                                      <a:cs typeface="+mn-cs"/>
                                    </a:rPr>
                                    <m:t>𝐾</m:t>
                                  </m:r>
                                </m:den>
                              </m:f>
                            </m:oMath>
                          </a14:m>
                          <a:endParaRPr lang="en-US" sz="1800" kern="1200" dirty="0">
                            <a:solidFill>
                              <a:schemeClr val="tx1"/>
                            </a:solidFill>
                            <a:latin typeface="Montserrat Medium" pitchFamily="50" charset="0"/>
                            <a:ea typeface="+mn-ea"/>
                            <a:cs typeface="+mn-cs"/>
                          </a:endParaRP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Provides a balanced score between precision and recall.</a:t>
                          </a:r>
                        </a:p>
                      </a:txBody>
                      <a:tcPr marL="67990" marR="67990" marT="33995" marB="33995" anchor="ctr"/>
                    </a:tc>
                    <a:extLst>
                      <a:ext uri="{0D108BD9-81ED-4DB2-BD59-A6C34878D82A}">
                        <a16:rowId xmlns:a16="http://schemas.microsoft.com/office/drawing/2014/main" val="3624910265"/>
                      </a:ext>
                    </a:extLst>
                  </a:tr>
                </a:tbl>
              </a:graphicData>
            </a:graphic>
          </p:graphicFrame>
        </mc:Choice>
        <mc:Fallback xmlns="">
          <p:graphicFrame>
            <p:nvGraphicFramePr>
              <p:cNvPr id="2" name="Table 1">
                <a:extLst>
                  <a:ext uri="{FF2B5EF4-FFF2-40B4-BE49-F238E27FC236}">
                    <a16:creationId xmlns:a16="http://schemas.microsoft.com/office/drawing/2014/main" id="{67BA094B-387E-4638-9188-9A1320292AFC}"/>
                  </a:ext>
                </a:extLst>
              </p:cNvPr>
              <p:cNvGraphicFramePr>
                <a:graphicFrameLocks noGrp="1"/>
              </p:cNvGraphicFramePr>
              <p:nvPr>
                <p:extLst>
                  <p:ext uri="{D42A27DB-BD31-4B8C-83A1-F6EECF244321}">
                    <p14:modId xmlns:p14="http://schemas.microsoft.com/office/powerpoint/2010/main" val="2889150843"/>
                  </p:ext>
                </p:extLst>
              </p:nvPr>
            </p:nvGraphicFramePr>
            <p:xfrm>
              <a:off x="155226" y="1459905"/>
              <a:ext cx="11907475" cy="3961137"/>
            </p:xfrm>
            <a:graphic>
              <a:graphicData uri="http://schemas.openxmlformats.org/drawingml/2006/table">
                <a:tbl>
                  <a:tblPr>
                    <a:tableStyleId>{BC89EF96-8CEA-46FF-86C4-4CE0E7609802}</a:tableStyleId>
                  </a:tblPr>
                  <a:tblGrid>
                    <a:gridCol w="1962332">
                      <a:extLst>
                        <a:ext uri="{9D8B030D-6E8A-4147-A177-3AD203B41FA5}">
                          <a16:colId xmlns:a16="http://schemas.microsoft.com/office/drawing/2014/main" val="1238570992"/>
                        </a:ext>
                      </a:extLst>
                    </a:gridCol>
                    <a:gridCol w="3311090">
                      <a:extLst>
                        <a:ext uri="{9D8B030D-6E8A-4147-A177-3AD203B41FA5}">
                          <a16:colId xmlns:a16="http://schemas.microsoft.com/office/drawing/2014/main" val="2032443282"/>
                        </a:ext>
                      </a:extLst>
                    </a:gridCol>
                    <a:gridCol w="6634053">
                      <a:extLst>
                        <a:ext uri="{9D8B030D-6E8A-4147-A177-3AD203B41FA5}">
                          <a16:colId xmlns:a16="http://schemas.microsoft.com/office/drawing/2014/main" val="2782644794"/>
                        </a:ext>
                      </a:extLst>
                    </a:gridCol>
                  </a:tblGrid>
                  <a:tr h="464983">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Metric</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Formula</a:t>
                          </a:r>
                        </a:p>
                      </a:txBody>
                      <a:tcPr marL="67990" marR="67990" marT="33995" marB="33995" anchor="ct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Why used</a:t>
                          </a:r>
                        </a:p>
                      </a:txBody>
                      <a:tcPr marL="67990" marR="67990" marT="33995" marB="33995" anchor="ctr"/>
                    </a:tc>
                    <a:extLst>
                      <a:ext uri="{0D108BD9-81ED-4DB2-BD59-A6C34878D82A}">
                        <a16:rowId xmlns:a16="http://schemas.microsoft.com/office/drawing/2014/main" val="1004227231"/>
                      </a:ext>
                    </a:extLst>
                  </a:tr>
                  <a:tr h="616630">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Precision</a:t>
                          </a:r>
                        </a:p>
                      </a:txBody>
                      <a:tcPr marL="67990" marR="67990" marT="33995" marB="33995" anchor="ctr"/>
                    </a:tc>
                    <a:tc>
                      <a:txBody>
                        <a:bodyPr/>
                        <a:lstStyle/>
                        <a:p>
                          <a:endParaRPr lang="en-US"/>
                        </a:p>
                      </a:txBody>
                      <a:tcPr marL="67990" marR="67990" marT="33995" marB="33995" anchor="ctr">
                        <a:blipFill>
                          <a:blip r:embed="rId4"/>
                          <a:stretch>
                            <a:fillRect l="-59484" t="-75490" r="-200921" b="-470588"/>
                          </a:stretch>
                        </a:blipFill>
                      </a:tcP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Measures how many predicted links/interactions are correct.</a:t>
                          </a:r>
                        </a:p>
                      </a:txBody>
                      <a:tcPr marL="67990" marR="67990" marT="33995" marB="33995" anchor="ctr"/>
                    </a:tc>
                    <a:extLst>
                      <a:ext uri="{0D108BD9-81ED-4DB2-BD59-A6C34878D82A}">
                        <a16:rowId xmlns:a16="http://schemas.microsoft.com/office/drawing/2014/main" val="3929551814"/>
                      </a:ext>
                    </a:extLst>
                  </a:tr>
                  <a:tr h="616630">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Recall</a:t>
                          </a:r>
                        </a:p>
                      </a:txBody>
                      <a:tcPr marL="67990" marR="67990" marT="33995" marB="33995" anchor="ctr"/>
                    </a:tc>
                    <a:tc>
                      <a:txBody>
                        <a:bodyPr/>
                        <a:lstStyle/>
                        <a:p>
                          <a:endParaRPr lang="en-US"/>
                        </a:p>
                      </a:txBody>
                      <a:tcPr marL="67990" marR="67990" marT="33995" marB="33995" anchor="ctr">
                        <a:blipFill>
                          <a:blip r:embed="rId4"/>
                          <a:stretch>
                            <a:fillRect l="-59484" t="-177228" r="-200921" b="-375248"/>
                          </a:stretch>
                        </a:blipFill>
                      </a:tcPr>
                    </a:tc>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Measures how many real links/interactions the model successfully recovers.</a:t>
                          </a:r>
                        </a:p>
                      </a:txBody>
                      <a:tcPr marL="67990" marR="67990" marT="33995" marB="33995" anchor="ctr"/>
                    </a:tc>
                    <a:extLst>
                      <a:ext uri="{0D108BD9-81ED-4DB2-BD59-A6C34878D82A}">
                        <a16:rowId xmlns:a16="http://schemas.microsoft.com/office/drawing/2014/main" val="723956005"/>
                      </a:ext>
                    </a:extLst>
                  </a:tr>
                  <a:tr h="616630">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Precision@K</a:t>
                          </a:r>
                        </a:p>
                      </a:txBody>
                      <a:tcPr marL="67990" marR="67990" marT="33995" marB="33995" anchor="ctr"/>
                    </a:tc>
                    <a:tc>
                      <a:txBody>
                        <a:bodyPr/>
                        <a:lstStyle/>
                        <a:p>
                          <a:endParaRPr lang="en-US"/>
                        </a:p>
                      </a:txBody>
                      <a:tcPr marL="67990" marR="67990" marT="33995" marB="33995" anchor="ctr">
                        <a:blipFill>
                          <a:blip r:embed="rId4"/>
                          <a:stretch>
                            <a:fillRect l="-59484" t="-277228" r="-200921" b="-275248"/>
                          </a:stretch>
                        </a:blipFill>
                      </a:tcP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Measures the proportion of relevant items among the top-K recommendations.</a:t>
                          </a:r>
                        </a:p>
                      </a:txBody>
                      <a:tcPr marL="67990" marR="67990" marT="33995" marB="33995" anchor="ctr"/>
                    </a:tc>
                    <a:extLst>
                      <a:ext uri="{0D108BD9-81ED-4DB2-BD59-A6C34878D82A}">
                        <a16:rowId xmlns:a16="http://schemas.microsoft.com/office/drawing/2014/main" val="459227356"/>
                      </a:ext>
                    </a:extLst>
                  </a:tr>
                  <a:tr h="899967">
                    <a:tc>
                      <a:txBody>
                        <a:bodyPr/>
                        <a:lstStyle/>
                        <a:p>
                          <a:pPr marL="285750" indent="-285750" algn="just" defTabSz="914400" rtl="0" eaLnBrk="1" latinLnBrk="0" hangingPunct="1">
                            <a:buFont typeface="Arial" panose="020B0604020202020204" pitchFamily="34" charset="0"/>
                            <a:buChar char="•"/>
                          </a:pPr>
                          <a:r>
                            <a:rPr lang="en-US" sz="1800" kern="1200">
                              <a:solidFill>
                                <a:schemeClr val="tx1"/>
                              </a:solidFill>
                              <a:latin typeface="Montserrat Medium" pitchFamily="50" charset="0"/>
                              <a:ea typeface="+mn-ea"/>
                              <a:cs typeface="+mn-cs"/>
                            </a:rPr>
                            <a:t>Recall@K</a:t>
                          </a:r>
                        </a:p>
                      </a:txBody>
                      <a:tcPr marL="67990" marR="67990" marT="33995" marB="33995" anchor="ctr"/>
                    </a:tc>
                    <a:tc>
                      <a:txBody>
                        <a:bodyPr/>
                        <a:lstStyle/>
                        <a:p>
                          <a:endParaRPr lang="en-US"/>
                        </a:p>
                      </a:txBody>
                      <a:tcPr marL="67990" marR="67990" marT="33995" marB="33995" anchor="ctr">
                        <a:blipFill>
                          <a:blip r:embed="rId4"/>
                          <a:stretch>
                            <a:fillRect l="-59484" t="-257432" r="-200921" b="-87838"/>
                          </a:stretch>
                        </a:blipFill>
                      </a:tcP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Measures how many of the user’s relevant items are successfully retrieved in the top-K recommendations.</a:t>
                          </a:r>
                        </a:p>
                      </a:txBody>
                      <a:tcPr marL="67990" marR="67990" marT="33995" marB="33995" anchor="ctr"/>
                    </a:tc>
                    <a:extLst>
                      <a:ext uri="{0D108BD9-81ED-4DB2-BD59-A6C34878D82A}">
                        <a16:rowId xmlns:a16="http://schemas.microsoft.com/office/drawing/2014/main" val="3806694153"/>
                      </a:ext>
                    </a:extLst>
                  </a:tr>
                  <a:tr h="746297">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F1-Score@K</a:t>
                          </a:r>
                        </a:p>
                      </a:txBody>
                      <a:tcPr marL="67990" marR="67990" marT="33995" marB="33995" anchor="ctr"/>
                    </a:tc>
                    <a:tc>
                      <a:txBody>
                        <a:bodyPr/>
                        <a:lstStyle/>
                        <a:p>
                          <a:endParaRPr lang="en-US"/>
                        </a:p>
                      </a:txBody>
                      <a:tcPr marL="67990" marR="67990" marT="33995" marB="33995" anchor="ctr">
                        <a:blipFill>
                          <a:blip r:embed="rId4"/>
                          <a:stretch>
                            <a:fillRect l="-59484" t="-430081" r="-200921" b="-5691"/>
                          </a:stretch>
                        </a:blipFill>
                      </a:tcPr>
                    </a:tc>
                    <a:tc>
                      <a:txBody>
                        <a:bodyPr/>
                        <a:lstStyle/>
                        <a:p>
                          <a:pPr marL="285750" indent="-285750" algn="just" defTabSz="914400" rtl="0" eaLnBrk="1" latinLnBrk="0" hangingPunct="1">
                            <a:buFont typeface="Arial" panose="020B0604020202020204" pitchFamily="34" charset="0"/>
                            <a:buChar char="•"/>
                          </a:pPr>
                          <a:r>
                            <a:rPr lang="en-US" sz="1800" kern="1200" dirty="0">
                              <a:solidFill>
                                <a:schemeClr val="tx1"/>
                              </a:solidFill>
                              <a:latin typeface="Montserrat Medium" pitchFamily="50" charset="0"/>
                              <a:ea typeface="+mn-ea"/>
                              <a:cs typeface="+mn-cs"/>
                            </a:rPr>
                            <a:t>Provides a balanced score between precision and recall.</a:t>
                          </a:r>
                        </a:p>
                      </a:txBody>
                      <a:tcPr marL="67990" marR="67990" marT="33995" marB="33995" anchor="ctr"/>
                    </a:tc>
                    <a:extLst>
                      <a:ext uri="{0D108BD9-81ED-4DB2-BD59-A6C34878D82A}">
                        <a16:rowId xmlns:a16="http://schemas.microsoft.com/office/drawing/2014/main" val="3624910265"/>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8B88973-FC6C-44DD-B8CC-D80621192B5C}"/>
                  </a:ext>
                </a:extLst>
              </p:cNvPr>
              <p:cNvSpPr txBox="1"/>
              <p:nvPr/>
            </p:nvSpPr>
            <p:spPr>
              <a:xfrm>
                <a:off x="129299" y="5413980"/>
                <a:ext cx="11232206" cy="830997"/>
              </a:xfrm>
              <a:prstGeom prst="rect">
                <a:avLst/>
              </a:prstGeom>
              <a:noFill/>
            </p:spPr>
            <p:txBody>
              <a:bodyPr wrap="square">
                <a:spAutoFit/>
              </a:bodyPr>
              <a:lstStyle/>
              <a:p>
                <a:r>
                  <a:rPr lang="en-US" sz="1600" b="1" dirty="0">
                    <a:latin typeface="Montserrat Medium" pitchFamily="50" charset="0"/>
                  </a:rPr>
                  <a:t>Notations</a:t>
                </a:r>
              </a:p>
              <a:p>
                <a:pPr algn="just"/>
                <a14:m>
                  <m:oMath xmlns:m="http://schemas.openxmlformats.org/officeDocument/2006/math">
                    <m:r>
                      <a:rPr lang="en-US" sz="1600" smtClean="0">
                        <a:latin typeface="Cambria Math" panose="02040503050406030204" pitchFamily="18" charset="0"/>
                      </a:rPr>
                      <m:t>𝑇𝑃</m:t>
                    </m:r>
                  </m:oMath>
                </a14:m>
                <a:r>
                  <a:rPr lang="en-US" sz="1600" dirty="0"/>
                  <a:t> = true positives, </a:t>
                </a:r>
                <a14:m>
                  <m:oMath xmlns:m="http://schemas.openxmlformats.org/officeDocument/2006/math">
                    <m:r>
                      <a:rPr lang="en-US" sz="1600">
                        <a:latin typeface="Cambria Math" panose="02040503050406030204" pitchFamily="18" charset="0"/>
                      </a:rPr>
                      <m:t>𝐹𝑃</m:t>
                    </m:r>
                  </m:oMath>
                </a14:m>
                <a:r>
                  <a:rPr lang="en-US" sz="1600" dirty="0"/>
                  <a:t> = false positives, </a:t>
                </a:r>
                <a14:m>
                  <m:oMath xmlns:m="http://schemas.openxmlformats.org/officeDocument/2006/math">
                    <m:r>
                      <a:rPr lang="en-US" sz="1600">
                        <a:latin typeface="Cambria Math" panose="02040503050406030204" pitchFamily="18" charset="0"/>
                      </a:rPr>
                      <m:t>𝐹𝑁</m:t>
                    </m:r>
                  </m:oMath>
                </a14:m>
                <a:r>
                  <a:rPr lang="en-US" sz="1600" dirty="0"/>
                  <a:t> = false negatives, </a:t>
                </a:r>
                <a14:m>
                  <m:oMath xmlns:m="http://schemas.openxmlformats.org/officeDocument/2006/math">
                    <m:r>
                      <a:rPr lang="en-US" sz="1600" dirty="0">
                        <a:latin typeface="Cambria Math" panose="02040503050406030204" pitchFamily="18" charset="0"/>
                      </a:rPr>
                      <m:t>𝑟</m:t>
                    </m:r>
                    <m:r>
                      <m:rPr>
                        <m:sty m:val="p"/>
                      </m:rPr>
                      <a:rPr lang="en-US" sz="1600" dirty="0">
                        <a:latin typeface="Cambria Math" panose="02040503050406030204" pitchFamily="18" charset="0"/>
                      </a:rPr>
                      <m:t>e</m:t>
                    </m:r>
                    <m:sSub>
                      <m:sSubPr>
                        <m:ctrlPr>
                          <a:rPr lang="en-US" sz="1600" i="1" dirty="0">
                            <a:solidFill>
                              <a:srgbClr val="836967"/>
                            </a:solidFill>
                            <a:latin typeface="Cambria Math" panose="02040503050406030204" pitchFamily="18" charset="0"/>
                          </a:rPr>
                        </m:ctrlPr>
                      </m:sSubPr>
                      <m:e>
                        <m:r>
                          <a:rPr lang="en-US" sz="1600" dirty="0">
                            <a:latin typeface="Cambria Math" panose="02040503050406030204" pitchFamily="18" charset="0"/>
                          </a:rPr>
                          <m:t>𝑙</m:t>
                        </m:r>
                      </m:e>
                      <m:sub>
                        <m:r>
                          <a:rPr lang="en-US" sz="1600" dirty="0">
                            <a:latin typeface="Cambria Math" panose="02040503050406030204" pitchFamily="18" charset="0"/>
                          </a:rPr>
                          <m:t>𝑖</m:t>
                        </m:r>
                      </m:sub>
                    </m:sSub>
                  </m:oMath>
                </a14:m>
                <a:r>
                  <a:rPr lang="en-US" sz="1600" dirty="0"/>
                  <a:t> = relevance of item at rank </a:t>
                </a:r>
                <a14:m>
                  <m:oMath xmlns:m="http://schemas.openxmlformats.org/officeDocument/2006/math">
                    <m:r>
                      <a:rPr lang="en-US" sz="1600" dirty="0">
                        <a:latin typeface="Cambria Math" panose="02040503050406030204" pitchFamily="18" charset="0"/>
                      </a:rPr>
                      <m:t>𝑖</m:t>
                    </m:r>
                  </m:oMath>
                </a14:m>
                <a:r>
                  <a:rPr lang="en-US" sz="1600" dirty="0"/>
                  <a:t> , and </a:t>
                </a:r>
                <a14:m>
                  <m:oMath xmlns:m="http://schemas.openxmlformats.org/officeDocument/2006/math">
                    <m:sSub>
                      <m:sSubPr>
                        <m:ctrlPr>
                          <a:rPr lang="nn-NO" sz="1600" i="1">
                            <a:latin typeface="Cambria Math" panose="02040503050406030204" pitchFamily="18" charset="0"/>
                          </a:rPr>
                        </m:ctrlPr>
                      </m:sSubPr>
                      <m:e>
                        <m:r>
                          <a:rPr lang="nn-NO" sz="1600">
                            <a:latin typeface="Cambria Math" panose="02040503050406030204" pitchFamily="18" charset="0"/>
                          </a:rPr>
                          <m:t>ℛ</m:t>
                        </m:r>
                      </m:e>
                      <m:sub>
                        <m:r>
                          <a:rPr lang="en-US" sz="1600">
                            <a:latin typeface="Cambria Math" panose="02040503050406030204" pitchFamily="18" charset="0"/>
                          </a:rPr>
                          <m:t>𝑈</m:t>
                        </m:r>
                      </m:sub>
                    </m:sSub>
                  </m:oMath>
                </a14:m>
                <a:r>
                  <a:rPr lang="en-US" sz="1600" dirty="0"/>
                  <a:t> = total number of relevant items for user u.</a:t>
                </a:r>
                <a:endParaRPr lang="en-US" sz="1600" b="1" dirty="0">
                  <a:latin typeface="Montserrat Medium" pitchFamily="50" charset="0"/>
                </a:endParaRPr>
              </a:p>
            </p:txBody>
          </p:sp>
        </mc:Choice>
        <mc:Fallback xmlns="">
          <p:sp>
            <p:nvSpPr>
              <p:cNvPr id="27" name="TextBox 26">
                <a:extLst>
                  <a:ext uri="{FF2B5EF4-FFF2-40B4-BE49-F238E27FC236}">
                    <a16:creationId xmlns:a16="http://schemas.microsoft.com/office/drawing/2014/main" id="{78B88973-FC6C-44DD-B8CC-D80621192B5C}"/>
                  </a:ext>
                </a:extLst>
              </p:cNvPr>
              <p:cNvSpPr txBox="1">
                <a:spLocks noRot="1" noChangeAspect="1" noMove="1" noResize="1" noEditPoints="1" noAdjustHandles="1" noChangeArrowheads="1" noChangeShapeType="1" noTextEdit="1"/>
              </p:cNvSpPr>
              <p:nvPr/>
            </p:nvSpPr>
            <p:spPr>
              <a:xfrm>
                <a:off x="129299" y="5413980"/>
                <a:ext cx="11232206" cy="830997"/>
              </a:xfrm>
              <a:prstGeom prst="rect">
                <a:avLst/>
              </a:prstGeom>
              <a:blipFill>
                <a:blip r:embed="rId5"/>
                <a:stretch>
                  <a:fillRect l="-271" t="-2206" r="-326" b="-7353"/>
                </a:stretch>
              </a:blipFill>
            </p:spPr>
            <p:txBody>
              <a:bodyPr/>
              <a:lstStyle/>
              <a:p>
                <a:r>
                  <a:rPr lang="en-US">
                    <a:noFill/>
                  </a:rPr>
                  <a:t> </a:t>
                </a:r>
              </a:p>
            </p:txBody>
          </p:sp>
        </mc:Fallback>
      </mc:AlternateContent>
      <p:sp>
        <p:nvSpPr>
          <p:cNvPr id="37" name="Rectangle 36">
            <a:extLst>
              <a:ext uri="{FF2B5EF4-FFF2-40B4-BE49-F238E27FC236}">
                <a16:creationId xmlns:a16="http://schemas.microsoft.com/office/drawing/2014/main" id="{A3C00FE6-14A2-43F6-86AC-608A20F28511}"/>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6" name="Rectangle 45">
            <a:extLst>
              <a:ext uri="{FF2B5EF4-FFF2-40B4-BE49-F238E27FC236}">
                <a16:creationId xmlns:a16="http://schemas.microsoft.com/office/drawing/2014/main" id="{80CE7A56-CF61-43BC-98C7-932605C10148}"/>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7" name="Rectangle 46">
            <a:extLst>
              <a:ext uri="{FF2B5EF4-FFF2-40B4-BE49-F238E27FC236}">
                <a16:creationId xmlns:a16="http://schemas.microsoft.com/office/drawing/2014/main" id="{558A2020-D117-420D-82A3-9EE0BFB8B237}"/>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C556C544-F0B5-44E6-AB80-D6B8D3764F4E}"/>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3" name="Rectangle 52">
            <a:extLst>
              <a:ext uri="{FF2B5EF4-FFF2-40B4-BE49-F238E27FC236}">
                <a16:creationId xmlns:a16="http://schemas.microsoft.com/office/drawing/2014/main" id="{06EEA9A7-D80A-4DCF-B692-6EA9C525D439}"/>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3AD6CCA5-29FE-4FFC-AE17-3A1806C5FA6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56" name="Picture 55">
            <a:extLst>
              <a:ext uri="{FF2B5EF4-FFF2-40B4-BE49-F238E27FC236}">
                <a16:creationId xmlns:a16="http://schemas.microsoft.com/office/drawing/2014/main" id="{CC5D7FC3-A6D3-440E-829A-E41BC49F6EE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7" name="Picture 56">
            <a:extLst>
              <a:ext uri="{FF2B5EF4-FFF2-40B4-BE49-F238E27FC236}">
                <a16:creationId xmlns:a16="http://schemas.microsoft.com/office/drawing/2014/main" id="{60065ED6-751E-4613-9F88-6DA23C345FA2}"/>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58" name="Picture 57">
            <a:extLst>
              <a:ext uri="{FF2B5EF4-FFF2-40B4-BE49-F238E27FC236}">
                <a16:creationId xmlns:a16="http://schemas.microsoft.com/office/drawing/2014/main" id="{E7E4535B-06A2-4292-A77F-27867E2EA4F4}"/>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9" name="Picture 58">
            <a:extLst>
              <a:ext uri="{FF2B5EF4-FFF2-40B4-BE49-F238E27FC236}">
                <a16:creationId xmlns:a16="http://schemas.microsoft.com/office/drawing/2014/main" id="{C861B764-2E8A-4B56-81C4-96E384BE059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0" name="Rectangle 59">
            <a:extLst>
              <a:ext uri="{FF2B5EF4-FFF2-40B4-BE49-F238E27FC236}">
                <a16:creationId xmlns:a16="http://schemas.microsoft.com/office/drawing/2014/main" id="{F46BF9F7-329F-4DA8-8885-E036584C0965}"/>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3B16063B-581C-41FF-B298-EB293415C9E8}"/>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2" name="Rectangle 61">
            <a:extLst>
              <a:ext uri="{FF2B5EF4-FFF2-40B4-BE49-F238E27FC236}">
                <a16:creationId xmlns:a16="http://schemas.microsoft.com/office/drawing/2014/main" id="{133E6561-66F6-4D11-A964-C8189B2CA341}"/>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308F4A50-8510-4E65-BF4D-01A6FA8147C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3" name="Rectangle 32">
            <a:extLst>
              <a:ext uri="{FF2B5EF4-FFF2-40B4-BE49-F238E27FC236}">
                <a16:creationId xmlns:a16="http://schemas.microsoft.com/office/drawing/2014/main" id="{EDEF4971-6C1B-4A30-991D-D5F86C7888E0}"/>
              </a:ext>
            </a:extLst>
          </p:cNvPr>
          <p:cNvSpPr/>
          <p:nvPr/>
        </p:nvSpPr>
        <p:spPr>
          <a:xfrm>
            <a:off x="187760" y="688960"/>
            <a:ext cx="3549662" cy="3916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35" name="Rectangle 34">
            <a:extLst>
              <a:ext uri="{FF2B5EF4-FFF2-40B4-BE49-F238E27FC236}">
                <a16:creationId xmlns:a16="http://schemas.microsoft.com/office/drawing/2014/main" id="{E5845B45-2E83-4E2A-975B-25DD30C523BA}"/>
              </a:ext>
            </a:extLst>
          </p:cNvPr>
          <p:cNvSpPr/>
          <p:nvPr/>
        </p:nvSpPr>
        <p:spPr>
          <a:xfrm>
            <a:off x="4434457" y="692327"/>
            <a:ext cx="3549662" cy="384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36" name="Rectangle 35">
            <a:extLst>
              <a:ext uri="{FF2B5EF4-FFF2-40B4-BE49-F238E27FC236}">
                <a16:creationId xmlns:a16="http://schemas.microsoft.com/office/drawing/2014/main" id="{B2D8E713-E1E9-4A23-90DA-5A47C8B64307}"/>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38" name="Picture 37">
            <a:extLst>
              <a:ext uri="{FF2B5EF4-FFF2-40B4-BE49-F238E27FC236}">
                <a16:creationId xmlns:a16="http://schemas.microsoft.com/office/drawing/2014/main" id="{907A66AB-E73F-4721-BA56-E0D283FFD3DB}"/>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9" name="Picture 38">
            <a:extLst>
              <a:ext uri="{FF2B5EF4-FFF2-40B4-BE49-F238E27FC236}">
                <a16:creationId xmlns:a16="http://schemas.microsoft.com/office/drawing/2014/main" id="{5946898C-733C-4B33-87A5-24B9852DE8CD}"/>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2583594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graphicFrame>
        <p:nvGraphicFramePr>
          <p:cNvPr id="4" name="Table 3">
            <a:extLst>
              <a:ext uri="{FF2B5EF4-FFF2-40B4-BE49-F238E27FC236}">
                <a16:creationId xmlns:a16="http://schemas.microsoft.com/office/drawing/2014/main" id="{BFE784F4-AE91-493D-ABA4-B58FDA8312A1}"/>
              </a:ext>
            </a:extLst>
          </p:cNvPr>
          <p:cNvGraphicFramePr>
            <a:graphicFrameLocks noGrp="1"/>
          </p:cNvGraphicFramePr>
          <p:nvPr/>
        </p:nvGraphicFramePr>
        <p:xfrm>
          <a:off x="206046" y="2322516"/>
          <a:ext cx="11906984" cy="1597794"/>
        </p:xfrm>
        <a:graphic>
          <a:graphicData uri="http://schemas.openxmlformats.org/drawingml/2006/table">
            <a:tbl>
              <a:tblPr>
                <a:tableStyleId>{BC89EF96-8CEA-46FF-86C4-4CE0E7609802}</a:tableStyleId>
              </a:tblPr>
              <a:tblGrid>
                <a:gridCol w="2800917">
                  <a:extLst>
                    <a:ext uri="{9D8B030D-6E8A-4147-A177-3AD203B41FA5}">
                      <a16:colId xmlns:a16="http://schemas.microsoft.com/office/drawing/2014/main" val="4161972226"/>
                    </a:ext>
                  </a:extLst>
                </a:gridCol>
                <a:gridCol w="3047328">
                  <a:extLst>
                    <a:ext uri="{9D8B030D-6E8A-4147-A177-3AD203B41FA5}">
                      <a16:colId xmlns:a16="http://schemas.microsoft.com/office/drawing/2014/main" val="3651500733"/>
                    </a:ext>
                  </a:extLst>
                </a:gridCol>
                <a:gridCol w="2579570">
                  <a:extLst>
                    <a:ext uri="{9D8B030D-6E8A-4147-A177-3AD203B41FA5}">
                      <a16:colId xmlns:a16="http://schemas.microsoft.com/office/drawing/2014/main" val="931313714"/>
                    </a:ext>
                  </a:extLst>
                </a:gridCol>
                <a:gridCol w="1848051">
                  <a:extLst>
                    <a:ext uri="{9D8B030D-6E8A-4147-A177-3AD203B41FA5}">
                      <a16:colId xmlns:a16="http://schemas.microsoft.com/office/drawing/2014/main" val="179315668"/>
                    </a:ext>
                  </a:extLst>
                </a:gridCol>
                <a:gridCol w="1631118">
                  <a:extLst>
                    <a:ext uri="{9D8B030D-6E8A-4147-A177-3AD203B41FA5}">
                      <a16:colId xmlns:a16="http://schemas.microsoft.com/office/drawing/2014/main" val="3544019676"/>
                    </a:ext>
                  </a:extLst>
                </a:gridCol>
              </a:tblGrid>
              <a:tr h="482245">
                <a:tc>
                  <a:txBody>
                    <a:bodyPr/>
                    <a:lstStyle/>
                    <a:p>
                      <a:pPr algn="ctr"/>
                      <a:r>
                        <a:rPr lang="en-US" b="1" dirty="0">
                          <a:latin typeface="Montserrat Medium" pitchFamily="50" charset="0"/>
                        </a:rPr>
                        <a:t>Contribution</a:t>
                      </a:r>
                    </a:p>
                  </a:txBody>
                  <a:tcPr anchor="ctr"/>
                </a:tc>
                <a:tc>
                  <a:txBody>
                    <a:bodyPr/>
                    <a:lstStyle/>
                    <a:p>
                      <a:pPr algn="ctr"/>
                      <a:r>
                        <a:rPr lang="en-US" b="1" dirty="0">
                          <a:latin typeface="Montserrat Medium" pitchFamily="50" charset="0"/>
                        </a:rPr>
                        <a:t>Hardware</a:t>
                      </a:r>
                    </a:p>
                  </a:txBody>
                  <a:tcPr anchor="ctr"/>
                </a:tc>
                <a:tc>
                  <a:txBody>
                    <a:bodyPr/>
                    <a:lstStyle/>
                    <a:p>
                      <a:pPr algn="ctr"/>
                      <a:r>
                        <a:rPr lang="en-US" b="1" dirty="0">
                          <a:latin typeface="Montserrat Medium" pitchFamily="50" charset="0"/>
                        </a:rPr>
                        <a:t>CPU / Chip</a:t>
                      </a:r>
                    </a:p>
                  </a:txBody>
                  <a:tcPr anchor="ctr"/>
                </a:tc>
                <a:tc>
                  <a:txBody>
                    <a:bodyPr/>
                    <a:lstStyle/>
                    <a:p>
                      <a:pPr algn="ctr"/>
                      <a:r>
                        <a:rPr lang="en-US" b="1" dirty="0">
                          <a:latin typeface="Montserrat Medium" pitchFamily="50" charset="0"/>
                        </a:rPr>
                        <a:t>RAM</a:t>
                      </a:r>
                    </a:p>
                  </a:txBody>
                  <a:tcPr anchor="ctr"/>
                </a:tc>
                <a:tc>
                  <a:txBody>
                    <a:bodyPr/>
                    <a:lstStyle/>
                    <a:p>
                      <a:pPr algn="ctr"/>
                      <a:r>
                        <a:rPr lang="en-US" b="1" dirty="0">
                          <a:latin typeface="Montserrat Medium" pitchFamily="50" charset="0"/>
                        </a:rPr>
                        <a:t>Storage</a:t>
                      </a:r>
                    </a:p>
                  </a:txBody>
                  <a:tcPr anchor="ctr"/>
                </a:tc>
                <a:extLst>
                  <a:ext uri="{0D108BD9-81ED-4DB2-BD59-A6C34878D82A}">
                    <a16:rowId xmlns:a16="http://schemas.microsoft.com/office/drawing/2014/main" val="3002799573"/>
                  </a:ext>
                </a:extLst>
              </a:tr>
              <a:tr h="525861">
                <a:tc>
                  <a:txBody>
                    <a:bodyPr/>
                    <a:lstStyle/>
                    <a:p>
                      <a:pPr algn="ctr"/>
                      <a:r>
                        <a:rPr lang="en-US" b="1" dirty="0">
                          <a:latin typeface="Montserrat Medium" pitchFamily="50" charset="0"/>
                        </a:rPr>
                        <a:t>First</a:t>
                      </a:r>
                    </a:p>
                  </a:txBody>
                  <a:tcPr anchor="ctr"/>
                </a:tc>
                <a:tc>
                  <a:txBody>
                    <a:bodyPr/>
                    <a:lstStyle/>
                    <a:p>
                      <a:pPr algn="just"/>
                      <a:r>
                        <a:rPr lang="en-US" sz="1600" dirty="0">
                          <a:latin typeface="Montserrat" pitchFamily="2" charset="0"/>
                        </a:rPr>
                        <a:t>Lenovo ThinkPad X1 Carbon</a:t>
                      </a:r>
                    </a:p>
                  </a:txBody>
                  <a:tcPr anchor="ctr"/>
                </a:tc>
                <a:tc>
                  <a:txBody>
                    <a:bodyPr/>
                    <a:lstStyle/>
                    <a:p>
                      <a:pPr algn="just"/>
                      <a:r>
                        <a:rPr lang="en-US" sz="1600" dirty="0">
                          <a:latin typeface="Montserrat" pitchFamily="2" charset="0"/>
                        </a:rPr>
                        <a:t>Intel Core i7-7600U</a:t>
                      </a:r>
                    </a:p>
                  </a:txBody>
                  <a:tcPr anchor="ctr"/>
                </a:tc>
                <a:tc>
                  <a:txBody>
                    <a:bodyPr/>
                    <a:lstStyle/>
                    <a:p>
                      <a:pPr algn="just"/>
                      <a:r>
                        <a:rPr lang="en-US" sz="1600" dirty="0">
                          <a:latin typeface="Montserrat" pitchFamily="2" charset="0"/>
                        </a:rPr>
                        <a:t>16 GB</a:t>
                      </a:r>
                    </a:p>
                  </a:txBody>
                  <a:tcPr anchor="ctr"/>
                </a:tc>
                <a:tc>
                  <a:txBody>
                    <a:bodyPr/>
                    <a:lstStyle/>
                    <a:p>
                      <a:pPr algn="just"/>
                      <a:r>
                        <a:rPr lang="en-US" sz="1600">
                          <a:latin typeface="Montserrat" pitchFamily="2" charset="0"/>
                        </a:rPr>
                        <a:t>512 GB</a:t>
                      </a:r>
                    </a:p>
                  </a:txBody>
                  <a:tcPr anchor="ctr"/>
                </a:tc>
                <a:extLst>
                  <a:ext uri="{0D108BD9-81ED-4DB2-BD59-A6C34878D82A}">
                    <a16:rowId xmlns:a16="http://schemas.microsoft.com/office/drawing/2014/main" val="2605896478"/>
                  </a:ext>
                </a:extLst>
              </a:tr>
              <a:tr h="589688">
                <a:tc>
                  <a:txBody>
                    <a:bodyPr/>
                    <a:lstStyle/>
                    <a:p>
                      <a:pPr algn="ctr"/>
                      <a:r>
                        <a:rPr lang="en-US" b="1" dirty="0">
                          <a:latin typeface="Montserrat Medium" pitchFamily="50" charset="0"/>
                        </a:rPr>
                        <a:t>Second and Third</a:t>
                      </a:r>
                    </a:p>
                  </a:txBody>
                  <a:tcPr anchor="ctr"/>
                </a:tc>
                <a:tc>
                  <a:txBody>
                    <a:bodyPr/>
                    <a:lstStyle/>
                    <a:p>
                      <a:pPr algn="just"/>
                      <a:r>
                        <a:rPr lang="en-US" sz="1600">
                          <a:latin typeface="Montserrat" pitchFamily="2" charset="0"/>
                        </a:rPr>
                        <a:t>MacBook Pro</a:t>
                      </a:r>
                    </a:p>
                  </a:txBody>
                  <a:tcPr anchor="ctr"/>
                </a:tc>
                <a:tc>
                  <a:txBody>
                    <a:bodyPr/>
                    <a:lstStyle/>
                    <a:p>
                      <a:pPr algn="just"/>
                      <a:r>
                        <a:rPr lang="en-US" sz="1600">
                          <a:latin typeface="Montserrat" pitchFamily="2" charset="0"/>
                        </a:rPr>
                        <a:t>Apple M4 Max</a:t>
                      </a:r>
                    </a:p>
                  </a:txBody>
                  <a:tcPr anchor="ctr"/>
                </a:tc>
                <a:tc>
                  <a:txBody>
                    <a:bodyPr/>
                    <a:lstStyle/>
                    <a:p>
                      <a:pPr algn="just"/>
                      <a:r>
                        <a:rPr lang="en-US" sz="1600">
                          <a:latin typeface="Montserrat" pitchFamily="2" charset="0"/>
                        </a:rPr>
                        <a:t>48 GB</a:t>
                      </a:r>
                    </a:p>
                  </a:txBody>
                  <a:tcPr anchor="ctr"/>
                </a:tc>
                <a:tc>
                  <a:txBody>
                    <a:bodyPr/>
                    <a:lstStyle/>
                    <a:p>
                      <a:pPr algn="just"/>
                      <a:r>
                        <a:rPr lang="en-US" sz="1600" dirty="0">
                          <a:latin typeface="Montserrat" pitchFamily="2" charset="0"/>
                        </a:rPr>
                        <a:t>1 TB</a:t>
                      </a:r>
                    </a:p>
                  </a:txBody>
                  <a:tcPr anchor="ctr"/>
                </a:tc>
                <a:extLst>
                  <a:ext uri="{0D108BD9-81ED-4DB2-BD59-A6C34878D82A}">
                    <a16:rowId xmlns:a16="http://schemas.microsoft.com/office/drawing/2014/main" val="3333227320"/>
                  </a:ext>
                </a:extLst>
              </a:tr>
            </a:tbl>
          </a:graphicData>
        </a:graphic>
      </p:graphicFrame>
      <p:sp>
        <p:nvSpPr>
          <p:cNvPr id="27" name="Rectangle 26">
            <a:extLst>
              <a:ext uri="{FF2B5EF4-FFF2-40B4-BE49-F238E27FC236}">
                <a16:creationId xmlns:a16="http://schemas.microsoft.com/office/drawing/2014/main" id="{7B0F065A-DC01-4818-B636-3D343CFFA6A8}"/>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1" name="Rectangle 30">
            <a:extLst>
              <a:ext uri="{FF2B5EF4-FFF2-40B4-BE49-F238E27FC236}">
                <a16:creationId xmlns:a16="http://schemas.microsoft.com/office/drawing/2014/main" id="{CD142B36-153B-4314-A01E-271080F68E6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4" name="Rectangle 33">
            <a:extLst>
              <a:ext uri="{FF2B5EF4-FFF2-40B4-BE49-F238E27FC236}">
                <a16:creationId xmlns:a16="http://schemas.microsoft.com/office/drawing/2014/main" id="{BCD7666E-E86B-499A-A6BD-B6AC892FD47F}"/>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7" name="Rectangle 36">
            <a:extLst>
              <a:ext uri="{FF2B5EF4-FFF2-40B4-BE49-F238E27FC236}">
                <a16:creationId xmlns:a16="http://schemas.microsoft.com/office/drawing/2014/main" id="{005B4EF2-AFFB-489C-90F4-BCFA005072D8}"/>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6" name="Rectangle 45">
            <a:extLst>
              <a:ext uri="{FF2B5EF4-FFF2-40B4-BE49-F238E27FC236}">
                <a16:creationId xmlns:a16="http://schemas.microsoft.com/office/drawing/2014/main" id="{4299E802-2625-4FB8-9046-8F91E4F64D3B}"/>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7" name="Picture 46">
            <a:extLst>
              <a:ext uri="{FF2B5EF4-FFF2-40B4-BE49-F238E27FC236}">
                <a16:creationId xmlns:a16="http://schemas.microsoft.com/office/drawing/2014/main" id="{5E16A8FB-538B-476D-A513-28E796C6514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51" name="Picture 50">
            <a:extLst>
              <a:ext uri="{FF2B5EF4-FFF2-40B4-BE49-F238E27FC236}">
                <a16:creationId xmlns:a16="http://schemas.microsoft.com/office/drawing/2014/main" id="{2B39BEFE-35BE-4CF1-8451-37C79AA807B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3" name="Picture 52">
            <a:extLst>
              <a:ext uri="{FF2B5EF4-FFF2-40B4-BE49-F238E27FC236}">
                <a16:creationId xmlns:a16="http://schemas.microsoft.com/office/drawing/2014/main" id="{1857FA9F-3BDB-44E2-A3F3-C8C34FBC329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55" name="Picture 54">
            <a:extLst>
              <a:ext uri="{FF2B5EF4-FFF2-40B4-BE49-F238E27FC236}">
                <a16:creationId xmlns:a16="http://schemas.microsoft.com/office/drawing/2014/main" id="{EA6EBB1A-5414-40D2-B598-82EF034885F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6" name="Picture 55">
            <a:extLst>
              <a:ext uri="{FF2B5EF4-FFF2-40B4-BE49-F238E27FC236}">
                <a16:creationId xmlns:a16="http://schemas.microsoft.com/office/drawing/2014/main" id="{01632630-063B-4F32-A69C-6F65B87A1DF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7" name="Rectangle 56">
            <a:extLst>
              <a:ext uri="{FF2B5EF4-FFF2-40B4-BE49-F238E27FC236}">
                <a16:creationId xmlns:a16="http://schemas.microsoft.com/office/drawing/2014/main" id="{A61819D2-A199-4924-BE4D-C8516395D386}"/>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8" name="Picture 57">
            <a:extLst>
              <a:ext uri="{FF2B5EF4-FFF2-40B4-BE49-F238E27FC236}">
                <a16:creationId xmlns:a16="http://schemas.microsoft.com/office/drawing/2014/main" id="{980A7137-AD61-4A93-9445-37366064205D}"/>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9" name="Rectangle 58">
            <a:extLst>
              <a:ext uri="{FF2B5EF4-FFF2-40B4-BE49-F238E27FC236}">
                <a16:creationId xmlns:a16="http://schemas.microsoft.com/office/drawing/2014/main" id="{58B2A466-73CB-44D8-B76C-BC018E2C5C1B}"/>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7C0203CF-563D-4360-8A6C-738BFF2EAF4D}"/>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36" name="Picture 35">
            <a:extLst>
              <a:ext uri="{FF2B5EF4-FFF2-40B4-BE49-F238E27FC236}">
                <a16:creationId xmlns:a16="http://schemas.microsoft.com/office/drawing/2014/main" id="{6C444909-17BB-41F9-8E24-6559F74AF4D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26" name="Rectangle 25">
            <a:extLst>
              <a:ext uri="{FF2B5EF4-FFF2-40B4-BE49-F238E27FC236}">
                <a16:creationId xmlns:a16="http://schemas.microsoft.com/office/drawing/2014/main" id="{A8E2D657-A56C-4C8E-9D21-371EDA46D690}"/>
              </a:ext>
            </a:extLst>
          </p:cNvPr>
          <p:cNvSpPr/>
          <p:nvPr/>
        </p:nvSpPr>
        <p:spPr>
          <a:xfrm>
            <a:off x="187760" y="688960"/>
            <a:ext cx="3549662" cy="3916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Datasets</a:t>
            </a:r>
            <a:endParaRPr lang="en-US" sz="2000" dirty="0">
              <a:latin typeface="Montserrat" pitchFamily="2" charset="0"/>
            </a:endParaRPr>
          </a:p>
          <a:p>
            <a:pPr algn="ctr"/>
            <a:endParaRPr lang="en-US" sz="1200" dirty="0">
              <a:latin typeface="Montserrat" pitchFamily="2" charset="0"/>
            </a:endParaRPr>
          </a:p>
        </p:txBody>
      </p:sp>
      <p:sp>
        <p:nvSpPr>
          <p:cNvPr id="38" name="Rectangle 37">
            <a:extLst>
              <a:ext uri="{FF2B5EF4-FFF2-40B4-BE49-F238E27FC236}">
                <a16:creationId xmlns:a16="http://schemas.microsoft.com/office/drawing/2014/main" id="{EA19C440-4AAF-4E94-9AF7-EE87D28D8DAE}"/>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39" name="Rectangle 38">
            <a:extLst>
              <a:ext uri="{FF2B5EF4-FFF2-40B4-BE49-F238E27FC236}">
                <a16:creationId xmlns:a16="http://schemas.microsoft.com/office/drawing/2014/main" id="{565F6839-ABCD-49CC-88BE-3F0BC0F2FFAC}"/>
              </a:ext>
            </a:extLst>
          </p:cNvPr>
          <p:cNvSpPr/>
          <p:nvPr/>
        </p:nvSpPr>
        <p:spPr>
          <a:xfrm>
            <a:off x="8546053" y="692327"/>
            <a:ext cx="3549663" cy="384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40" name="Picture 39">
            <a:extLst>
              <a:ext uri="{FF2B5EF4-FFF2-40B4-BE49-F238E27FC236}">
                <a16:creationId xmlns:a16="http://schemas.microsoft.com/office/drawing/2014/main" id="{9D4A64FA-319A-48CB-B214-9C2A50A1886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976422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Montserrat Medium" pitchFamily="50" charset="0"/>
              </a:rPr>
              <a:t>Contribution I</a:t>
            </a:r>
          </a:p>
          <a:p>
            <a:pPr algn="ctr"/>
            <a:r>
              <a:rPr lang="en-US" sz="2400" dirty="0">
                <a:solidFill>
                  <a:schemeClr val="tx1"/>
                </a:solidFill>
                <a:latin typeface="Montserrat" pitchFamily="2" charset="0"/>
              </a:rPr>
              <a:t>Collaborative Filtering Movies Recommendation System based on Graph Neural Networks </a:t>
            </a:r>
            <a:endParaRPr lang="en-US" sz="2400" b="1" dirty="0">
              <a:solidFill>
                <a:schemeClr val="tx1"/>
              </a:solidFill>
              <a:latin typeface="Montserrat" pitchFamily="2" charset="0"/>
            </a:endParaRP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12" name="Picture 11">
            <a:extLst>
              <a:ext uri="{FF2B5EF4-FFF2-40B4-BE49-F238E27FC236}">
                <a16:creationId xmlns:a16="http://schemas.microsoft.com/office/drawing/2014/main" id="{0A2AA8E5-1801-41AF-A1EC-E61B77A5432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8" name="Picture 7">
            <a:extLst>
              <a:ext uri="{FF2B5EF4-FFF2-40B4-BE49-F238E27FC236}">
                <a16:creationId xmlns:a16="http://schemas.microsoft.com/office/drawing/2014/main" id="{3B33B7BC-F298-4FB4-89E0-325B14296C5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173838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39" name="TextBox 38">
            <a:extLst>
              <a:ext uri="{FF2B5EF4-FFF2-40B4-BE49-F238E27FC236}">
                <a16:creationId xmlns:a16="http://schemas.microsoft.com/office/drawing/2014/main" id="{798EAAC3-E540-4CE9-83E4-9F31AAA07564}"/>
              </a:ext>
            </a:extLst>
          </p:cNvPr>
          <p:cNvSpPr txBox="1"/>
          <p:nvPr/>
        </p:nvSpPr>
        <p:spPr>
          <a:xfrm>
            <a:off x="233422" y="1430559"/>
            <a:ext cx="11703208" cy="1508105"/>
          </a:xfrm>
          <a:prstGeom prst="rect">
            <a:avLst/>
          </a:prstGeom>
          <a:noFill/>
        </p:spPr>
        <p:txBody>
          <a:bodyPr wrap="square">
            <a:spAutoFit/>
          </a:bodyPr>
          <a:lstStyle/>
          <a:p>
            <a:r>
              <a:rPr lang="en-US" sz="2000" b="1" dirty="0">
                <a:latin typeface="Montserrat Medium" pitchFamily="50" charset="0"/>
              </a:rPr>
              <a:t>Research Gap</a:t>
            </a:r>
          </a:p>
          <a:p>
            <a:pPr algn="just"/>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Sparse interaction matrices provide limited learning signals.</a:t>
            </a:r>
          </a:p>
          <a:p>
            <a:pPr marL="285750" indent="-285750" algn="just">
              <a:buFont typeface="Wingdings" panose="05000000000000000000" pitchFamily="2" charset="2"/>
              <a:buChar char="§"/>
            </a:pPr>
            <a:r>
              <a:rPr lang="en-US" dirty="0">
                <a:latin typeface="Montserrat Medium" pitchFamily="50" charset="0"/>
              </a:rPr>
              <a:t>Classical collaborative filtering poorly captures indirect, multi-hop user–item relationships.</a:t>
            </a:r>
          </a:p>
          <a:p>
            <a:pPr marL="285750" indent="-285750" algn="just">
              <a:buFont typeface="Wingdings" panose="05000000000000000000" pitchFamily="2" charset="2"/>
              <a:buChar char="§"/>
            </a:pPr>
            <a:r>
              <a:rPr lang="en-US" dirty="0">
                <a:latin typeface="Montserrat Medium" pitchFamily="50" charset="0"/>
              </a:rPr>
              <a:t>Matrix-based models ignore the natural graph structure of recommendation data.</a:t>
            </a:r>
          </a:p>
        </p:txBody>
      </p:sp>
      <p:graphicFrame>
        <p:nvGraphicFramePr>
          <p:cNvPr id="7" name="Table 7">
            <a:extLst>
              <a:ext uri="{FF2B5EF4-FFF2-40B4-BE49-F238E27FC236}">
                <a16:creationId xmlns:a16="http://schemas.microsoft.com/office/drawing/2014/main" id="{27149896-C14A-438A-A2BD-84758AD9C5B4}"/>
              </a:ext>
            </a:extLst>
          </p:cNvPr>
          <p:cNvGraphicFramePr>
            <a:graphicFrameLocks noGrp="1"/>
          </p:cNvGraphicFramePr>
          <p:nvPr>
            <p:extLst>
              <p:ext uri="{D42A27DB-BD31-4B8C-83A1-F6EECF244321}">
                <p14:modId xmlns:p14="http://schemas.microsoft.com/office/powerpoint/2010/main" val="2648083627"/>
              </p:ext>
            </p:extLst>
          </p:nvPr>
        </p:nvGraphicFramePr>
        <p:xfrm>
          <a:off x="289868" y="3082556"/>
          <a:ext cx="11703209" cy="1517377"/>
        </p:xfrm>
        <a:graphic>
          <a:graphicData uri="http://schemas.openxmlformats.org/drawingml/2006/table">
            <a:tbl>
              <a:tblPr firstRow="1" bandRow="1">
                <a:tableStyleId>{21E4AEA4-8DFA-4A89-87EB-49C32662AFE0}</a:tableStyleId>
              </a:tblPr>
              <a:tblGrid>
                <a:gridCol w="11703209">
                  <a:extLst>
                    <a:ext uri="{9D8B030D-6E8A-4147-A177-3AD203B41FA5}">
                      <a16:colId xmlns:a16="http://schemas.microsoft.com/office/drawing/2014/main" val="1386659453"/>
                    </a:ext>
                  </a:extLst>
                </a:gridCol>
              </a:tblGrid>
              <a:tr h="3564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ontserrat Medium" pitchFamily="50" charset="0"/>
                        </a:rPr>
                        <a:t>Research Gap </a:t>
                      </a:r>
                    </a:p>
                  </a:txBody>
                  <a:tcPr/>
                </a:tc>
                <a:extLst>
                  <a:ext uri="{0D108BD9-81ED-4DB2-BD59-A6C34878D82A}">
                    <a16:rowId xmlns:a16="http://schemas.microsoft.com/office/drawing/2014/main" val="2958281240"/>
                  </a:ext>
                </a:extLst>
              </a:tr>
              <a:tr h="1151617">
                <a:tc>
                  <a:txBody>
                    <a:bodyPr/>
                    <a:lstStyle/>
                    <a:p>
                      <a:pPr algn="just"/>
                      <a:r>
                        <a:rPr lang="en-US" sz="2000" dirty="0">
                          <a:latin typeface="Montserrat Medium" pitchFamily="50" charset="0"/>
                        </a:rPr>
                        <a:t>There is a need for a graph-based collaborative filtering model that directly exploits higher-order user–item connectivity, without relying on side information, to improve recommendation performance in sparse settings.</a:t>
                      </a:r>
                    </a:p>
                  </a:txBody>
                  <a:tcPr/>
                </a:tc>
                <a:extLst>
                  <a:ext uri="{0D108BD9-81ED-4DB2-BD59-A6C34878D82A}">
                    <a16:rowId xmlns:a16="http://schemas.microsoft.com/office/drawing/2014/main" val="2059531609"/>
                  </a:ext>
                </a:extLst>
              </a:tr>
            </a:tbl>
          </a:graphicData>
        </a:graphic>
      </p:graphicFrame>
      <p:sp>
        <p:nvSpPr>
          <p:cNvPr id="42" name="Rectangle 41">
            <a:extLst>
              <a:ext uri="{FF2B5EF4-FFF2-40B4-BE49-F238E27FC236}">
                <a16:creationId xmlns:a16="http://schemas.microsoft.com/office/drawing/2014/main" id="{AF9CDD71-D443-44B7-9343-52364A142801}"/>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3" name="Rectangle 42">
            <a:extLst>
              <a:ext uri="{FF2B5EF4-FFF2-40B4-BE49-F238E27FC236}">
                <a16:creationId xmlns:a16="http://schemas.microsoft.com/office/drawing/2014/main" id="{F5B2E7DB-3377-4AE3-B847-38698F0EF0C6}"/>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AE938DB7-25A9-4EEC-B321-860679FC217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09AF8525-9ABF-439E-AFD1-A8139AC30412}"/>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A4829373-9F10-40BC-B8F2-259438EB0783}"/>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3" name="Picture 52">
            <a:extLst>
              <a:ext uri="{FF2B5EF4-FFF2-40B4-BE49-F238E27FC236}">
                <a16:creationId xmlns:a16="http://schemas.microsoft.com/office/drawing/2014/main" id="{295B9A8E-760B-4CDA-B75C-64DF9DD36FE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4" name="Picture 53">
            <a:extLst>
              <a:ext uri="{FF2B5EF4-FFF2-40B4-BE49-F238E27FC236}">
                <a16:creationId xmlns:a16="http://schemas.microsoft.com/office/drawing/2014/main" id="{D9C2D18A-62E8-4EF7-BD16-7D5A442138C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5" name="Picture 54">
            <a:extLst>
              <a:ext uri="{FF2B5EF4-FFF2-40B4-BE49-F238E27FC236}">
                <a16:creationId xmlns:a16="http://schemas.microsoft.com/office/drawing/2014/main" id="{6E072208-CE4D-4C21-83DA-F371212661C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6" name="Picture 55">
            <a:extLst>
              <a:ext uri="{FF2B5EF4-FFF2-40B4-BE49-F238E27FC236}">
                <a16:creationId xmlns:a16="http://schemas.microsoft.com/office/drawing/2014/main" id="{A5C76FDC-7735-43FD-81DE-58C4B2F5ECE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7" name="Picture 56">
            <a:extLst>
              <a:ext uri="{FF2B5EF4-FFF2-40B4-BE49-F238E27FC236}">
                <a16:creationId xmlns:a16="http://schemas.microsoft.com/office/drawing/2014/main" id="{1433FCEC-45A3-42F5-BA67-2282E9B2EEAB}"/>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8" name="Rectangle 57">
            <a:extLst>
              <a:ext uri="{FF2B5EF4-FFF2-40B4-BE49-F238E27FC236}">
                <a16:creationId xmlns:a16="http://schemas.microsoft.com/office/drawing/2014/main" id="{3CA4763E-7E27-4929-9827-F055ABFCD533}"/>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9" name="Picture 58">
            <a:extLst>
              <a:ext uri="{FF2B5EF4-FFF2-40B4-BE49-F238E27FC236}">
                <a16:creationId xmlns:a16="http://schemas.microsoft.com/office/drawing/2014/main" id="{D810DB63-3F8B-4CAC-82FD-3304BE67FE4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0" name="Rectangle 59">
            <a:extLst>
              <a:ext uri="{FF2B5EF4-FFF2-40B4-BE49-F238E27FC236}">
                <a16:creationId xmlns:a16="http://schemas.microsoft.com/office/drawing/2014/main" id="{FF5F0DF4-BAEE-4E83-BDD2-E29F24EA970D}"/>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FC274684-396E-4927-9DEF-675A1E34349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32" name="Picture 31">
            <a:extLst>
              <a:ext uri="{FF2B5EF4-FFF2-40B4-BE49-F238E27FC236}">
                <a16:creationId xmlns:a16="http://schemas.microsoft.com/office/drawing/2014/main" id="{D00C5088-989E-4081-B7C9-1FA53798067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29" name="TextBox 28">
            <a:extLst>
              <a:ext uri="{FF2B5EF4-FFF2-40B4-BE49-F238E27FC236}">
                <a16:creationId xmlns:a16="http://schemas.microsoft.com/office/drawing/2014/main" id="{8FA0CB22-372F-4D80-8EDB-972C4947073A}"/>
              </a:ext>
            </a:extLst>
          </p:cNvPr>
          <p:cNvSpPr txBox="1"/>
          <p:nvPr/>
        </p:nvSpPr>
        <p:spPr>
          <a:xfrm>
            <a:off x="206046" y="5605944"/>
            <a:ext cx="11470975" cy="400110"/>
          </a:xfrm>
          <a:prstGeom prst="rect">
            <a:avLst/>
          </a:prstGeom>
          <a:noFill/>
        </p:spPr>
        <p:txBody>
          <a:bodyPr wrap="square">
            <a:spAutoFit/>
          </a:bodyPr>
          <a:lstStyle/>
          <a:p>
            <a:r>
              <a:rPr lang="en-US" sz="1000" dirty="0">
                <a:latin typeface="Agency FB" panose="020B0503020202020204" pitchFamily="34" charset="0"/>
              </a:rPr>
              <a:t>[23] Y. Zhang and X. Chen, "Explainable Recommendation: A Survey and New Perspectives,“ IEEE Access, vol. 8, pp. 110-120, 2020.</a:t>
            </a:r>
          </a:p>
          <a:p>
            <a:r>
              <a:rPr lang="en-US" sz="1000" dirty="0">
                <a:latin typeface="Agency FB" panose="020B0503020202020204" pitchFamily="34" charset="0"/>
              </a:rPr>
              <a:t>[24] B. P. Chamberlain, S. R. Hardwick, D. R. </a:t>
            </a:r>
            <a:r>
              <a:rPr lang="en-US" sz="1000" dirty="0" err="1">
                <a:latin typeface="Agency FB" panose="020B0503020202020204" pitchFamily="34" charset="0"/>
              </a:rPr>
              <a:t>Wardrope</a:t>
            </a:r>
            <a:r>
              <a:rPr lang="en-US" sz="1000" dirty="0">
                <a:latin typeface="Agency FB" panose="020B0503020202020204" pitchFamily="34" charset="0"/>
              </a:rPr>
              <a:t>, F. </a:t>
            </a:r>
            <a:r>
              <a:rPr lang="en-US" sz="1000" dirty="0" err="1">
                <a:latin typeface="Agency FB" panose="020B0503020202020204" pitchFamily="34" charset="0"/>
              </a:rPr>
              <a:t>Dzogang</a:t>
            </a:r>
            <a:r>
              <a:rPr lang="en-US" sz="1000" dirty="0">
                <a:latin typeface="Agency FB" panose="020B0503020202020204" pitchFamily="34" charset="0"/>
              </a:rPr>
              <a:t>, F. </a:t>
            </a:r>
            <a:r>
              <a:rPr lang="en-US" sz="1000" dirty="0" err="1">
                <a:latin typeface="Agency FB" panose="020B0503020202020204" pitchFamily="34" charset="0"/>
              </a:rPr>
              <a:t>Daolio</a:t>
            </a:r>
            <a:r>
              <a:rPr lang="en-US" sz="1000" dirty="0">
                <a:latin typeface="Agency FB" panose="020B0503020202020204" pitchFamily="34" charset="0"/>
              </a:rPr>
              <a:t>, and S. Vargas, "Scalable Hyperbolic Recommender Systems," arXiv:1902.08648, 2019.</a:t>
            </a:r>
          </a:p>
        </p:txBody>
      </p:sp>
      <p:pic>
        <p:nvPicPr>
          <p:cNvPr id="35" name="Picture 34">
            <a:extLst>
              <a:ext uri="{FF2B5EF4-FFF2-40B4-BE49-F238E27FC236}">
                <a16:creationId xmlns:a16="http://schemas.microsoft.com/office/drawing/2014/main" id="{A6D18EDC-ACC0-4163-93D8-E1309C0C0D42}"/>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796382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39" name="TextBox 38">
            <a:extLst>
              <a:ext uri="{FF2B5EF4-FFF2-40B4-BE49-F238E27FC236}">
                <a16:creationId xmlns:a16="http://schemas.microsoft.com/office/drawing/2014/main" id="{798EAAC3-E540-4CE9-83E4-9F31AAA07564}"/>
              </a:ext>
            </a:extLst>
          </p:cNvPr>
          <p:cNvSpPr txBox="1"/>
          <p:nvPr/>
        </p:nvSpPr>
        <p:spPr>
          <a:xfrm>
            <a:off x="233422" y="1381712"/>
            <a:ext cx="5656947" cy="400110"/>
          </a:xfrm>
          <a:prstGeom prst="rect">
            <a:avLst/>
          </a:prstGeom>
          <a:noFill/>
        </p:spPr>
        <p:txBody>
          <a:bodyPr wrap="square">
            <a:spAutoFit/>
          </a:bodyPr>
          <a:lstStyle/>
          <a:p>
            <a:r>
              <a:rPr lang="en-US" sz="2000" b="1" dirty="0">
                <a:latin typeface="Montserrat Medium" pitchFamily="50" charset="0"/>
              </a:rPr>
              <a:t>Research Questions → Objectives</a:t>
            </a:r>
          </a:p>
        </p:txBody>
      </p:sp>
      <p:graphicFrame>
        <p:nvGraphicFramePr>
          <p:cNvPr id="7" name="Table 6">
            <a:extLst>
              <a:ext uri="{FF2B5EF4-FFF2-40B4-BE49-F238E27FC236}">
                <a16:creationId xmlns:a16="http://schemas.microsoft.com/office/drawing/2014/main" id="{CB08021D-55FF-4EDF-9C9F-291284F432C4}"/>
              </a:ext>
            </a:extLst>
          </p:cNvPr>
          <p:cNvGraphicFramePr>
            <a:graphicFrameLocks noGrp="1"/>
          </p:cNvGraphicFramePr>
          <p:nvPr>
            <p:extLst>
              <p:ext uri="{D42A27DB-BD31-4B8C-83A1-F6EECF244321}">
                <p14:modId xmlns:p14="http://schemas.microsoft.com/office/powerpoint/2010/main" val="3848557462"/>
              </p:ext>
            </p:extLst>
          </p:nvPr>
        </p:nvGraphicFramePr>
        <p:xfrm>
          <a:off x="206046" y="2010680"/>
          <a:ext cx="11815908" cy="3630541"/>
        </p:xfrm>
        <a:graphic>
          <a:graphicData uri="http://schemas.openxmlformats.org/drawingml/2006/table">
            <a:tbl>
              <a:tblPr>
                <a:tableStyleId>{BC89EF96-8CEA-46FF-86C4-4CE0E7609802}</a:tableStyleId>
              </a:tblPr>
              <a:tblGrid>
                <a:gridCol w="1046012">
                  <a:extLst>
                    <a:ext uri="{9D8B030D-6E8A-4147-A177-3AD203B41FA5}">
                      <a16:colId xmlns:a16="http://schemas.microsoft.com/office/drawing/2014/main" val="2540600105"/>
                    </a:ext>
                  </a:extLst>
                </a:gridCol>
                <a:gridCol w="5223875">
                  <a:extLst>
                    <a:ext uri="{9D8B030D-6E8A-4147-A177-3AD203B41FA5}">
                      <a16:colId xmlns:a16="http://schemas.microsoft.com/office/drawing/2014/main" val="633469410"/>
                    </a:ext>
                  </a:extLst>
                </a:gridCol>
                <a:gridCol w="5546021">
                  <a:extLst>
                    <a:ext uri="{9D8B030D-6E8A-4147-A177-3AD203B41FA5}">
                      <a16:colId xmlns:a16="http://schemas.microsoft.com/office/drawing/2014/main" val="2423726944"/>
                    </a:ext>
                  </a:extLst>
                </a:gridCol>
              </a:tblGrid>
              <a:tr h="418909">
                <a:tc>
                  <a:txBody>
                    <a:bodyPr/>
                    <a:lstStyle/>
                    <a:p>
                      <a:pPr algn="ctr"/>
                      <a:r>
                        <a:rPr lang="en-US" b="1">
                          <a:latin typeface="Montserrat Medium" pitchFamily="50" charset="0"/>
                        </a:rPr>
                        <a:t>ID</a:t>
                      </a:r>
                    </a:p>
                  </a:txBody>
                  <a:tcPr anchor="ctr"/>
                </a:tc>
                <a:tc>
                  <a:txBody>
                    <a:bodyPr/>
                    <a:lstStyle/>
                    <a:p>
                      <a:pPr algn="ctr"/>
                      <a:r>
                        <a:rPr lang="en-US" b="1" dirty="0">
                          <a:latin typeface="Montserrat Medium" pitchFamily="50" charset="0"/>
                        </a:rPr>
                        <a:t>Research Question</a:t>
                      </a:r>
                    </a:p>
                  </a:txBody>
                  <a:tcPr anchor="ctr"/>
                </a:tc>
                <a:tc>
                  <a:txBody>
                    <a:bodyPr/>
                    <a:lstStyle/>
                    <a:p>
                      <a:pPr algn="ctr"/>
                      <a:r>
                        <a:rPr lang="en-US" b="1" dirty="0">
                          <a:latin typeface="Montserrat Medium" pitchFamily="50" charset="0"/>
                        </a:rPr>
                        <a:t>Objective</a:t>
                      </a:r>
                    </a:p>
                  </a:txBody>
                  <a:tcPr anchor="ctr"/>
                </a:tc>
                <a:extLst>
                  <a:ext uri="{0D108BD9-81ED-4DB2-BD59-A6C34878D82A}">
                    <a16:rowId xmlns:a16="http://schemas.microsoft.com/office/drawing/2014/main" val="149451394"/>
                  </a:ext>
                </a:extLst>
              </a:tr>
              <a:tr h="942544">
                <a:tc>
                  <a:txBody>
                    <a:bodyPr/>
                    <a:lstStyle/>
                    <a:p>
                      <a:pPr algn="ctr"/>
                      <a:r>
                        <a:rPr lang="en-US" b="1" dirty="0">
                          <a:latin typeface="Montserrat Medium" pitchFamily="50" charset="0"/>
                        </a:rPr>
                        <a:t>RQ1.1</a:t>
                      </a:r>
                      <a:endParaRPr lang="en-US" dirty="0">
                        <a:latin typeface="Montserrat Medium" pitchFamily="50" charset="0"/>
                      </a:endParaRPr>
                    </a:p>
                  </a:txBody>
                  <a:tcPr anchor="ctr"/>
                </a:tc>
                <a:tc>
                  <a:txBody>
                    <a:bodyPr/>
                    <a:lstStyle/>
                    <a:p>
                      <a:pPr algn="just"/>
                      <a:r>
                        <a:rPr lang="en-US" sz="1600" dirty="0">
                          <a:latin typeface="Montserrat Medium" pitchFamily="50" charset="0"/>
                        </a:rPr>
                        <a:t>Does graph-based link prediction outperform traditional collaborative filtering methods?</a:t>
                      </a:r>
                    </a:p>
                  </a:txBody>
                  <a:tcPr anchor="ctr"/>
                </a:tc>
                <a:tc>
                  <a:txBody>
                    <a:bodyPr/>
                    <a:lstStyle/>
                    <a:p>
                      <a:pPr algn="just"/>
                      <a:r>
                        <a:rPr lang="en-US" sz="1600" dirty="0">
                          <a:latin typeface="Montserrat Medium" pitchFamily="50" charset="0"/>
                        </a:rPr>
                        <a:t>Compare </a:t>
                      </a:r>
                      <a:r>
                        <a:rPr lang="en-US" sz="1600" dirty="0" err="1">
                          <a:latin typeface="Montserrat Medium" pitchFamily="50" charset="0"/>
                        </a:rPr>
                        <a:t>LightGCN</a:t>
                      </a:r>
                      <a:r>
                        <a:rPr lang="en-US" sz="1600" dirty="0">
                          <a:latin typeface="Montserrat Medium" pitchFamily="50" charset="0"/>
                        </a:rPr>
                        <a:t> with UBCF, IBCF, MF, SVD, and SVD++.</a:t>
                      </a:r>
                    </a:p>
                  </a:txBody>
                  <a:tcPr anchor="ctr"/>
                </a:tc>
                <a:extLst>
                  <a:ext uri="{0D108BD9-81ED-4DB2-BD59-A6C34878D82A}">
                    <a16:rowId xmlns:a16="http://schemas.microsoft.com/office/drawing/2014/main" val="2392819907"/>
                  </a:ext>
                </a:extLst>
              </a:tr>
              <a:tr h="942544">
                <a:tc>
                  <a:txBody>
                    <a:bodyPr/>
                    <a:lstStyle/>
                    <a:p>
                      <a:pPr algn="ctr"/>
                      <a:r>
                        <a:rPr lang="en-US" b="1" dirty="0">
                          <a:latin typeface="Montserrat Medium" pitchFamily="50" charset="0"/>
                        </a:rPr>
                        <a:t>RQ1.2</a:t>
                      </a:r>
                      <a:endParaRPr lang="en-US" dirty="0">
                        <a:latin typeface="Montserrat Medium" pitchFamily="50" charset="0"/>
                      </a:endParaRPr>
                    </a:p>
                  </a:txBody>
                  <a:tcPr anchor="ctr"/>
                </a:tc>
                <a:tc>
                  <a:txBody>
                    <a:bodyPr/>
                    <a:lstStyle/>
                    <a:p>
                      <a:pPr algn="just"/>
                      <a:r>
                        <a:rPr lang="en-US" sz="1600" dirty="0">
                          <a:latin typeface="Montserrat Medium" pitchFamily="50" charset="0"/>
                        </a:rPr>
                        <a:t>Do multi-hop propagation and layer aggregation improve collaborative learning?</a:t>
                      </a:r>
                    </a:p>
                  </a:txBody>
                  <a:tcPr anchor="ctr"/>
                </a:tc>
                <a:tc>
                  <a:txBody>
                    <a:bodyPr/>
                    <a:lstStyle/>
                    <a:p>
                      <a:pPr algn="just"/>
                      <a:r>
                        <a:rPr lang="en-US" sz="1600">
                          <a:latin typeface="Montserrat Medium" pitchFamily="50" charset="0"/>
                        </a:rPr>
                        <a:t>Combine user–item representations across multiple graph layers.</a:t>
                      </a:r>
                    </a:p>
                  </a:txBody>
                  <a:tcPr anchor="ctr"/>
                </a:tc>
                <a:extLst>
                  <a:ext uri="{0D108BD9-81ED-4DB2-BD59-A6C34878D82A}">
                    <a16:rowId xmlns:a16="http://schemas.microsoft.com/office/drawing/2014/main" val="604180575"/>
                  </a:ext>
                </a:extLst>
              </a:tr>
              <a:tr h="663272">
                <a:tc>
                  <a:txBody>
                    <a:bodyPr/>
                    <a:lstStyle/>
                    <a:p>
                      <a:pPr algn="ctr"/>
                      <a:r>
                        <a:rPr lang="en-US" b="1" dirty="0">
                          <a:latin typeface="Montserrat Medium" pitchFamily="50" charset="0"/>
                        </a:rPr>
                        <a:t>RQ1.3</a:t>
                      </a:r>
                      <a:endParaRPr lang="en-US" dirty="0">
                        <a:latin typeface="Montserrat Medium" pitchFamily="50" charset="0"/>
                      </a:endParaRPr>
                    </a:p>
                  </a:txBody>
                  <a:tcPr anchor="ctr"/>
                </a:tc>
                <a:tc>
                  <a:txBody>
                    <a:bodyPr/>
                    <a:lstStyle/>
                    <a:p>
                      <a:pPr algn="just"/>
                      <a:r>
                        <a:rPr lang="en-US" sz="1600">
                          <a:latin typeface="Montserrat Medium" pitchFamily="50" charset="0"/>
                        </a:rPr>
                        <a:t>Can a simple graph model support stable future extensions?</a:t>
                      </a:r>
                    </a:p>
                  </a:txBody>
                  <a:tcPr anchor="ctr"/>
                </a:tc>
                <a:tc>
                  <a:txBody>
                    <a:bodyPr/>
                    <a:lstStyle/>
                    <a:p>
                      <a:pPr algn="just"/>
                      <a:r>
                        <a:rPr lang="en-US" sz="1600" dirty="0">
                          <a:latin typeface="Montserrat Medium" pitchFamily="50" charset="0"/>
                        </a:rPr>
                        <a:t>Use linear aggregation and inner-product scoring.</a:t>
                      </a:r>
                    </a:p>
                  </a:txBody>
                  <a:tcPr anchor="ctr"/>
                </a:tc>
                <a:extLst>
                  <a:ext uri="{0D108BD9-81ED-4DB2-BD59-A6C34878D82A}">
                    <a16:rowId xmlns:a16="http://schemas.microsoft.com/office/drawing/2014/main" val="761211537"/>
                  </a:ext>
                </a:extLst>
              </a:tr>
              <a:tr h="663272">
                <a:tc>
                  <a:txBody>
                    <a:bodyPr/>
                    <a:lstStyle/>
                    <a:p>
                      <a:pPr algn="ctr"/>
                      <a:r>
                        <a:rPr lang="en-US" b="1" dirty="0">
                          <a:latin typeface="Montserrat Medium" pitchFamily="50" charset="0"/>
                        </a:rPr>
                        <a:t>RQ1.4</a:t>
                      </a:r>
                      <a:endParaRPr lang="en-US" dirty="0">
                        <a:latin typeface="Montserrat Medium" pitchFamily="50" charset="0"/>
                      </a:endParaRPr>
                    </a:p>
                  </a:txBody>
                  <a:tcPr anchor="ctr"/>
                </a:tc>
                <a:tc>
                  <a:txBody>
                    <a:bodyPr/>
                    <a:lstStyle/>
                    <a:p>
                      <a:pPr algn="just"/>
                      <a:r>
                        <a:rPr lang="en-US" sz="1600">
                          <a:latin typeface="Montserrat Medium" pitchFamily="50" charset="0"/>
                        </a:rPr>
                        <a:t>What limitations remain despite improved accuracy?</a:t>
                      </a:r>
                    </a:p>
                  </a:txBody>
                  <a:tcPr anchor="ctr"/>
                </a:tc>
                <a:tc>
                  <a:txBody>
                    <a:bodyPr/>
                    <a:lstStyle/>
                    <a:p>
                      <a:pPr algn="just"/>
                      <a:r>
                        <a:rPr lang="en-US" sz="1600" dirty="0">
                          <a:latin typeface="Montserrat Medium" pitchFamily="50" charset="0"/>
                        </a:rPr>
                        <a:t>Identify static, uniform, and opaque interactions to motivate Contribution 2.</a:t>
                      </a:r>
                    </a:p>
                  </a:txBody>
                  <a:tcPr anchor="ctr"/>
                </a:tc>
                <a:extLst>
                  <a:ext uri="{0D108BD9-81ED-4DB2-BD59-A6C34878D82A}">
                    <a16:rowId xmlns:a16="http://schemas.microsoft.com/office/drawing/2014/main" val="1177640848"/>
                  </a:ext>
                </a:extLst>
              </a:tr>
            </a:tbl>
          </a:graphicData>
        </a:graphic>
      </p:graphicFrame>
      <p:sp>
        <p:nvSpPr>
          <p:cNvPr id="42" name="Rectangle 41">
            <a:extLst>
              <a:ext uri="{FF2B5EF4-FFF2-40B4-BE49-F238E27FC236}">
                <a16:creationId xmlns:a16="http://schemas.microsoft.com/office/drawing/2014/main" id="{5658F175-9381-451A-AD38-0595B917E8F3}"/>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3" name="Rectangle 42">
            <a:extLst>
              <a:ext uri="{FF2B5EF4-FFF2-40B4-BE49-F238E27FC236}">
                <a16:creationId xmlns:a16="http://schemas.microsoft.com/office/drawing/2014/main" id="{0BEDF5F7-F7DA-4331-B522-F17088A32175}"/>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6BF4BFF7-2132-4E90-9573-1C3E8C7D2590}"/>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B403BA1C-2B31-4741-8CE0-8D93C4001D31}"/>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94712E65-4F42-426A-9555-037368C59C0F}"/>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9" name="Picture 48">
            <a:extLst>
              <a:ext uri="{FF2B5EF4-FFF2-40B4-BE49-F238E27FC236}">
                <a16:creationId xmlns:a16="http://schemas.microsoft.com/office/drawing/2014/main" id="{468CBE44-E2D7-47E5-9C97-29A90533F0A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0" name="Picture 49">
            <a:extLst>
              <a:ext uri="{FF2B5EF4-FFF2-40B4-BE49-F238E27FC236}">
                <a16:creationId xmlns:a16="http://schemas.microsoft.com/office/drawing/2014/main" id="{BDE5074C-7D5B-4307-9010-01801D5C879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1" name="Picture 50">
            <a:extLst>
              <a:ext uri="{FF2B5EF4-FFF2-40B4-BE49-F238E27FC236}">
                <a16:creationId xmlns:a16="http://schemas.microsoft.com/office/drawing/2014/main" id="{C775084E-946F-41D5-831E-06BA7CDBAA1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2" name="Picture 51">
            <a:extLst>
              <a:ext uri="{FF2B5EF4-FFF2-40B4-BE49-F238E27FC236}">
                <a16:creationId xmlns:a16="http://schemas.microsoft.com/office/drawing/2014/main" id="{0EEAF87A-9E0F-44EA-8CC0-ADA45E839E2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3" name="Picture 52">
            <a:extLst>
              <a:ext uri="{FF2B5EF4-FFF2-40B4-BE49-F238E27FC236}">
                <a16:creationId xmlns:a16="http://schemas.microsoft.com/office/drawing/2014/main" id="{B8EA954E-C989-42DE-B651-8978F10BE54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4" name="Rectangle 53">
            <a:extLst>
              <a:ext uri="{FF2B5EF4-FFF2-40B4-BE49-F238E27FC236}">
                <a16:creationId xmlns:a16="http://schemas.microsoft.com/office/drawing/2014/main" id="{5F636D18-2CE5-4D7C-8974-9D435582AAB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202E9111-5513-446B-A8CC-4590C6720B6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6" name="Rectangle 55">
            <a:extLst>
              <a:ext uri="{FF2B5EF4-FFF2-40B4-BE49-F238E27FC236}">
                <a16:creationId xmlns:a16="http://schemas.microsoft.com/office/drawing/2014/main" id="{ECF81223-C9B7-4800-B301-0200ED8258DD}"/>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7" name="Picture 56">
            <a:extLst>
              <a:ext uri="{FF2B5EF4-FFF2-40B4-BE49-F238E27FC236}">
                <a16:creationId xmlns:a16="http://schemas.microsoft.com/office/drawing/2014/main" id="{3934EE62-DA5E-4951-8AA9-A0268B3D2D17}"/>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7" name="Picture 26">
            <a:extLst>
              <a:ext uri="{FF2B5EF4-FFF2-40B4-BE49-F238E27FC236}">
                <a16:creationId xmlns:a16="http://schemas.microsoft.com/office/drawing/2014/main" id="{E0251E86-093A-4EB0-BA19-A14BBA8B4C3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28" name="Picture 27">
            <a:extLst>
              <a:ext uri="{FF2B5EF4-FFF2-40B4-BE49-F238E27FC236}">
                <a16:creationId xmlns:a16="http://schemas.microsoft.com/office/drawing/2014/main" id="{D459901D-19D0-42D6-9F99-F6E581D3BCA8}"/>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4233967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941D18EF-B602-44A9-A1BB-08C1C1EEF2A4}"/>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32" name="Rectangle 31">
            <a:extLst>
              <a:ext uri="{FF2B5EF4-FFF2-40B4-BE49-F238E27FC236}">
                <a16:creationId xmlns:a16="http://schemas.microsoft.com/office/drawing/2014/main" id="{A1E87D52-1E81-46EB-A623-BA07FBACE00A}"/>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0B5FC4F7-3BFD-456B-8EF3-2C3CC306514D}"/>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BD17C1B6-450C-449B-AAB8-B795C2230B91}"/>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87186A8E-5927-4B39-AFB2-9B4CE1EE2554}"/>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C58372C1-B2AC-4600-8BAE-49A88C528381}"/>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B34B2778-8DD4-4FAC-8E07-523F1EAF74A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6" name="Picture 55">
            <a:extLst>
              <a:ext uri="{FF2B5EF4-FFF2-40B4-BE49-F238E27FC236}">
                <a16:creationId xmlns:a16="http://schemas.microsoft.com/office/drawing/2014/main" id="{619D1073-EBC6-4467-A663-82ACC4928AD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7" name="Picture 56">
            <a:extLst>
              <a:ext uri="{FF2B5EF4-FFF2-40B4-BE49-F238E27FC236}">
                <a16:creationId xmlns:a16="http://schemas.microsoft.com/office/drawing/2014/main" id="{9292B742-223F-4488-91D3-269E9AE6937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8" name="Picture 57">
            <a:extLst>
              <a:ext uri="{FF2B5EF4-FFF2-40B4-BE49-F238E27FC236}">
                <a16:creationId xmlns:a16="http://schemas.microsoft.com/office/drawing/2014/main" id="{F26C04F5-762F-45E8-993E-D9DBF638889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9" name="Picture 58">
            <a:extLst>
              <a:ext uri="{FF2B5EF4-FFF2-40B4-BE49-F238E27FC236}">
                <a16:creationId xmlns:a16="http://schemas.microsoft.com/office/drawing/2014/main" id="{7813167B-6744-4217-9F0B-22A85F2CE3E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0" name="Rectangle 59">
            <a:extLst>
              <a:ext uri="{FF2B5EF4-FFF2-40B4-BE49-F238E27FC236}">
                <a16:creationId xmlns:a16="http://schemas.microsoft.com/office/drawing/2014/main" id="{F3B67D35-6550-414E-B588-669DFE3C56C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81BEDE7E-F8AF-4EC3-8D11-55D12DB448F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2" name="Rectangle 61">
            <a:extLst>
              <a:ext uri="{FF2B5EF4-FFF2-40B4-BE49-F238E27FC236}">
                <a16:creationId xmlns:a16="http://schemas.microsoft.com/office/drawing/2014/main" id="{7D5D0EA7-8D68-4EC7-985A-8DE70D086329}"/>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EDF051CB-AB5A-499E-9EB6-2865284A6B6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7" name="Picture 26">
            <a:extLst>
              <a:ext uri="{FF2B5EF4-FFF2-40B4-BE49-F238E27FC236}">
                <a16:creationId xmlns:a16="http://schemas.microsoft.com/office/drawing/2014/main" id="{F57A0DF7-FD15-417D-9BAA-3AF9BB8CE3AF}"/>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
        <p:nvSpPr>
          <p:cNvPr id="30" name="TextBox 29">
            <a:extLst>
              <a:ext uri="{FF2B5EF4-FFF2-40B4-BE49-F238E27FC236}">
                <a16:creationId xmlns:a16="http://schemas.microsoft.com/office/drawing/2014/main" id="{3D6A6792-7926-434F-9CEE-1E2F0DAF0DEE}"/>
              </a:ext>
            </a:extLst>
          </p:cNvPr>
          <p:cNvSpPr txBox="1"/>
          <p:nvPr/>
        </p:nvSpPr>
        <p:spPr>
          <a:xfrm>
            <a:off x="251673" y="1396418"/>
            <a:ext cx="7297207" cy="3754874"/>
          </a:xfrm>
          <a:prstGeom prst="rect">
            <a:avLst/>
          </a:prstGeom>
          <a:noFill/>
        </p:spPr>
        <p:txBody>
          <a:bodyPr wrap="square">
            <a:spAutoFit/>
          </a:bodyPr>
          <a:lstStyle/>
          <a:p>
            <a:r>
              <a:rPr lang="en-US" sz="2000" b="1" dirty="0">
                <a:latin typeface="Montserrat Medium" pitchFamily="50" charset="0"/>
              </a:rPr>
              <a:t>Euclidean Space</a:t>
            </a:r>
          </a:p>
          <a:p>
            <a:endParaRPr lang="en-US" sz="2000"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Flat, normal geometry distance is a straight line between two points, the space we use every day.</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The standard choice for embeddings: matrix </a:t>
            </a:r>
            <a:r>
              <a:rPr lang="en-US" dirty="0" err="1">
                <a:latin typeface="Montserrat Medium" pitchFamily="50" charset="0"/>
              </a:rPr>
              <a:t>factorisation</a:t>
            </a:r>
            <a:r>
              <a:rPr lang="en-US" dirty="0">
                <a:latin typeface="Montserrat Medium" pitchFamily="50" charset="0"/>
              </a:rPr>
              <a:t>, word embeddings, and most graph neural networks, including </a:t>
            </a:r>
            <a:r>
              <a:rPr lang="en-US" dirty="0" err="1">
                <a:latin typeface="Montserrat Medium" pitchFamily="50" charset="0"/>
              </a:rPr>
              <a:t>LightGCN</a:t>
            </a:r>
            <a:r>
              <a:rPr lang="en-US" dirty="0">
                <a:latin typeface="Montserrat Medium" pitchFamily="50" charset="0"/>
              </a:rPr>
              <a:t>.</a:t>
            </a:r>
          </a:p>
          <a:p>
            <a:pPr marL="285750" indent="-285750" algn="just">
              <a:buFont typeface="Arial" panose="020B0604020202020204" pitchFamily="34" charset="0"/>
              <a:buChar char="•"/>
            </a:pPr>
            <a:endParaRPr lang="en-US"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It is the natural starting point and the space used in Contribution I, before hierarchy motivates a different geometry later.</a:t>
            </a:r>
          </a:p>
          <a:p>
            <a:pPr marL="285750" indent="-285750">
              <a:buFont typeface="Arial" panose="020B0604020202020204" pitchFamily="34" charset="0"/>
              <a:buChar char="•"/>
            </a:pPr>
            <a:endParaRPr lang="en-US" dirty="0">
              <a:latin typeface="Montserrat Medium" pitchFamily="50" charset="0"/>
            </a:endParaRPr>
          </a:p>
        </p:txBody>
      </p:sp>
      <p:pic>
        <p:nvPicPr>
          <p:cNvPr id="31" name="Graphic 30">
            <a:extLst>
              <a:ext uri="{FF2B5EF4-FFF2-40B4-BE49-F238E27FC236}">
                <a16:creationId xmlns:a16="http://schemas.microsoft.com/office/drawing/2014/main" id="{790589C8-3F28-44C1-A3A2-1644D1AA2B2D}"/>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313" t="10513" r="52115" b="4117"/>
          <a:stretch/>
        </p:blipFill>
        <p:spPr>
          <a:xfrm>
            <a:off x="7629594" y="1275451"/>
            <a:ext cx="4466122" cy="4833884"/>
          </a:xfrm>
          <a:prstGeom prst="rect">
            <a:avLst/>
          </a:prstGeom>
        </p:spPr>
      </p:pic>
      <p:sp>
        <p:nvSpPr>
          <p:cNvPr id="40" name="TextBox 39">
            <a:extLst>
              <a:ext uri="{FF2B5EF4-FFF2-40B4-BE49-F238E27FC236}">
                <a16:creationId xmlns:a16="http://schemas.microsoft.com/office/drawing/2014/main" id="{567E469E-AF32-4947-9130-371A38A42DE6}"/>
              </a:ext>
            </a:extLst>
          </p:cNvPr>
          <p:cNvSpPr txBox="1"/>
          <p:nvPr/>
        </p:nvSpPr>
        <p:spPr>
          <a:xfrm>
            <a:off x="349513" y="5971022"/>
            <a:ext cx="11653189" cy="246221"/>
          </a:xfrm>
          <a:prstGeom prst="rect">
            <a:avLst/>
          </a:prstGeom>
          <a:noFill/>
        </p:spPr>
        <p:txBody>
          <a:bodyPr wrap="square">
            <a:spAutoFit/>
          </a:bodyPr>
          <a:lstStyle/>
          <a:p>
            <a:r>
              <a:rPr lang="en-US" sz="1000" dirty="0">
                <a:latin typeface="Agency FB" panose="020B0503020202020204" pitchFamily="34" charset="0"/>
              </a:rPr>
              <a:t>[25] Y. </a:t>
            </a:r>
            <a:r>
              <a:rPr lang="en-US" sz="1000" dirty="0" err="1">
                <a:latin typeface="Agency FB" panose="020B0503020202020204" pitchFamily="34" charset="0"/>
              </a:rPr>
              <a:t>Koren</a:t>
            </a:r>
            <a:r>
              <a:rPr lang="en-US" sz="1000" dirty="0">
                <a:latin typeface="Agency FB" panose="020B0503020202020204" pitchFamily="34" charset="0"/>
              </a:rPr>
              <a:t>, R. Bell, and C. </a:t>
            </a:r>
            <a:r>
              <a:rPr lang="en-US" sz="1000" dirty="0" err="1">
                <a:latin typeface="Agency FB" panose="020B0503020202020204" pitchFamily="34" charset="0"/>
              </a:rPr>
              <a:t>Volinsky</a:t>
            </a:r>
            <a:r>
              <a:rPr lang="en-US" sz="1000" dirty="0">
                <a:latin typeface="Agency FB" panose="020B0503020202020204" pitchFamily="34" charset="0"/>
              </a:rPr>
              <a:t>, "Matrix Factorization Techniques for Recommender Systems," IEEE Computer, vol. 42, no. 8, pp. 30–37, 2009.</a:t>
            </a:r>
          </a:p>
        </p:txBody>
      </p:sp>
      <p:pic>
        <p:nvPicPr>
          <p:cNvPr id="41" name="Picture 40">
            <a:extLst>
              <a:ext uri="{FF2B5EF4-FFF2-40B4-BE49-F238E27FC236}">
                <a16:creationId xmlns:a16="http://schemas.microsoft.com/office/drawing/2014/main" id="{CBC67B0D-359A-4D4C-86C4-64D9565B8CB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697568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5" name="TextBox 34">
            <a:extLst>
              <a:ext uri="{FF2B5EF4-FFF2-40B4-BE49-F238E27FC236}">
                <a16:creationId xmlns:a16="http://schemas.microsoft.com/office/drawing/2014/main" id="{8360A9E7-F9C3-48EA-9710-D15A0DA6F519}"/>
              </a:ext>
            </a:extLst>
          </p:cNvPr>
          <p:cNvSpPr txBox="1"/>
          <p:nvPr/>
        </p:nvSpPr>
        <p:spPr>
          <a:xfrm>
            <a:off x="129902" y="1248844"/>
            <a:ext cx="5656947" cy="400110"/>
          </a:xfrm>
          <a:prstGeom prst="rect">
            <a:avLst/>
          </a:prstGeom>
          <a:noFill/>
        </p:spPr>
        <p:txBody>
          <a:bodyPr wrap="square">
            <a:spAutoFit/>
          </a:bodyPr>
          <a:lstStyle/>
          <a:p>
            <a:r>
              <a:rPr lang="en-US" sz="2000" b="1" dirty="0">
                <a:latin typeface="Montserrat Medium" pitchFamily="50" charset="0"/>
              </a:rPr>
              <a:t>Euclidean Space</a:t>
            </a:r>
          </a:p>
        </p:txBody>
      </p:sp>
      <p:pic>
        <p:nvPicPr>
          <p:cNvPr id="5" name="Graphic 4">
            <a:extLst>
              <a:ext uri="{FF2B5EF4-FFF2-40B4-BE49-F238E27FC236}">
                <a16:creationId xmlns:a16="http://schemas.microsoft.com/office/drawing/2014/main" id="{1369134A-81AC-4ABC-988B-036DC3469A5C}"/>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1802" t="10542" r="2123" b="4273"/>
          <a:stretch/>
        </p:blipFill>
        <p:spPr>
          <a:xfrm>
            <a:off x="1532817" y="1648954"/>
            <a:ext cx="8985836" cy="4603406"/>
          </a:xfrm>
          <a:prstGeom prst="rect">
            <a:avLst/>
          </a:prstGeom>
        </p:spPr>
      </p:pic>
      <p:sp>
        <p:nvSpPr>
          <p:cNvPr id="38" name="Rectangle 37">
            <a:extLst>
              <a:ext uri="{FF2B5EF4-FFF2-40B4-BE49-F238E27FC236}">
                <a16:creationId xmlns:a16="http://schemas.microsoft.com/office/drawing/2014/main" id="{42FC3DD7-A738-4118-AB75-56D6DF8ECC17}"/>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9" name="Rectangle 38">
            <a:extLst>
              <a:ext uri="{FF2B5EF4-FFF2-40B4-BE49-F238E27FC236}">
                <a16:creationId xmlns:a16="http://schemas.microsoft.com/office/drawing/2014/main" id="{8B62FA9D-0796-4FB6-A147-A1574B23ED53}"/>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0" name="Rectangle 39">
            <a:extLst>
              <a:ext uri="{FF2B5EF4-FFF2-40B4-BE49-F238E27FC236}">
                <a16:creationId xmlns:a16="http://schemas.microsoft.com/office/drawing/2014/main" id="{2A463FC4-5888-4DBE-97C1-017E5593DC6A}"/>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1" name="Rectangle 40">
            <a:extLst>
              <a:ext uri="{FF2B5EF4-FFF2-40B4-BE49-F238E27FC236}">
                <a16:creationId xmlns:a16="http://schemas.microsoft.com/office/drawing/2014/main" id="{BFF26637-EE85-4025-98B0-16DFE7022554}"/>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42" name="Rectangle 41">
            <a:extLst>
              <a:ext uri="{FF2B5EF4-FFF2-40B4-BE49-F238E27FC236}">
                <a16:creationId xmlns:a16="http://schemas.microsoft.com/office/drawing/2014/main" id="{ED6AA8C1-FEC4-418F-84E5-9ACCAFAEB0B9}"/>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43" name="Rectangle 42">
            <a:extLst>
              <a:ext uri="{FF2B5EF4-FFF2-40B4-BE49-F238E27FC236}">
                <a16:creationId xmlns:a16="http://schemas.microsoft.com/office/drawing/2014/main" id="{B0F6B6C6-BC2A-4A71-86EA-A91D42B4A7BF}"/>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EA417313-E01E-462D-8C6C-60900854D247}"/>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C145C612-3293-4A2F-8466-DEBC5526DE0B}"/>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B7DC15B8-A904-436C-8CB0-8E91932ADD97}"/>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655ECDBF-E793-4C2B-8B54-4C0A31E9FF83}"/>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0" name="Picture 49">
            <a:extLst>
              <a:ext uri="{FF2B5EF4-FFF2-40B4-BE49-F238E27FC236}">
                <a16:creationId xmlns:a16="http://schemas.microsoft.com/office/drawing/2014/main" id="{25F1E597-B250-4F57-B39C-A7934A4CC94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2" name="Picture 51">
            <a:extLst>
              <a:ext uri="{FF2B5EF4-FFF2-40B4-BE49-F238E27FC236}">
                <a16:creationId xmlns:a16="http://schemas.microsoft.com/office/drawing/2014/main" id="{8F85EB67-E4BF-42B3-9802-F8722136BA9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4" name="Picture 53">
            <a:extLst>
              <a:ext uri="{FF2B5EF4-FFF2-40B4-BE49-F238E27FC236}">
                <a16:creationId xmlns:a16="http://schemas.microsoft.com/office/drawing/2014/main" id="{18084BD0-47AC-4422-B703-9E8326BDE40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61" name="Picture 60">
            <a:extLst>
              <a:ext uri="{FF2B5EF4-FFF2-40B4-BE49-F238E27FC236}">
                <a16:creationId xmlns:a16="http://schemas.microsoft.com/office/drawing/2014/main" id="{0DC00B93-631B-4541-A20D-03F2EC12CE4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62" name="Picture 61">
            <a:extLst>
              <a:ext uri="{FF2B5EF4-FFF2-40B4-BE49-F238E27FC236}">
                <a16:creationId xmlns:a16="http://schemas.microsoft.com/office/drawing/2014/main" id="{F944BA62-CCA7-474D-931A-AB66B77E2E5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3" name="Rectangle 62">
            <a:extLst>
              <a:ext uri="{FF2B5EF4-FFF2-40B4-BE49-F238E27FC236}">
                <a16:creationId xmlns:a16="http://schemas.microsoft.com/office/drawing/2014/main" id="{457BA3AC-8231-4D02-AE8C-979E28691140}"/>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4" name="Picture 63">
            <a:extLst>
              <a:ext uri="{FF2B5EF4-FFF2-40B4-BE49-F238E27FC236}">
                <a16:creationId xmlns:a16="http://schemas.microsoft.com/office/drawing/2014/main" id="{5F3628E0-89EB-420C-83D2-47F526A4E6A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5" name="Rectangle 64">
            <a:extLst>
              <a:ext uri="{FF2B5EF4-FFF2-40B4-BE49-F238E27FC236}">
                <a16:creationId xmlns:a16="http://schemas.microsoft.com/office/drawing/2014/main" id="{2333344B-AB5D-4CF4-A883-E8F25DEC2D75}"/>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6" name="Picture 65">
            <a:extLst>
              <a:ext uri="{FF2B5EF4-FFF2-40B4-BE49-F238E27FC236}">
                <a16:creationId xmlns:a16="http://schemas.microsoft.com/office/drawing/2014/main" id="{FCD08857-CADA-4189-939D-832ABD4C262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67" name="Picture 66">
            <a:extLst>
              <a:ext uri="{FF2B5EF4-FFF2-40B4-BE49-F238E27FC236}">
                <a16:creationId xmlns:a16="http://schemas.microsoft.com/office/drawing/2014/main" id="{DB3B4832-30C1-4D5C-B058-E4FBFE3460F4}"/>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68" name="Picture 67">
            <a:extLst>
              <a:ext uri="{FF2B5EF4-FFF2-40B4-BE49-F238E27FC236}">
                <a16:creationId xmlns:a16="http://schemas.microsoft.com/office/drawing/2014/main" id="{AB7206E2-C73B-47FF-82BF-300553C6296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121437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941D18EF-B602-44A9-A1BB-08C1C1EEF2A4}"/>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pic>
        <p:nvPicPr>
          <p:cNvPr id="9" name="Picture 8">
            <a:extLst>
              <a:ext uri="{FF2B5EF4-FFF2-40B4-BE49-F238E27FC236}">
                <a16:creationId xmlns:a16="http://schemas.microsoft.com/office/drawing/2014/main" id="{3F844AD2-5C1E-4411-9586-AABFE81BCB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6399" y="1800917"/>
            <a:ext cx="5471859" cy="3411030"/>
          </a:xfrm>
          <a:prstGeom prst="rect">
            <a:avLst/>
          </a:prstGeom>
        </p:spPr>
      </p:pic>
      <p:sp>
        <p:nvSpPr>
          <p:cNvPr id="26" name="TextBox 25">
            <a:extLst>
              <a:ext uri="{FF2B5EF4-FFF2-40B4-BE49-F238E27FC236}">
                <a16:creationId xmlns:a16="http://schemas.microsoft.com/office/drawing/2014/main" id="{723B0A0C-8439-40D9-B52B-512861E4E345}"/>
              </a:ext>
            </a:extLst>
          </p:cNvPr>
          <p:cNvSpPr txBox="1"/>
          <p:nvPr/>
        </p:nvSpPr>
        <p:spPr>
          <a:xfrm>
            <a:off x="339452" y="1284811"/>
            <a:ext cx="5656947" cy="2461571"/>
          </a:xfrm>
          <a:prstGeom prst="rect">
            <a:avLst/>
          </a:prstGeom>
          <a:noFill/>
        </p:spPr>
        <p:txBody>
          <a:bodyPr wrap="square">
            <a:spAutoFit/>
          </a:bodyPr>
          <a:lstStyle/>
          <a:p>
            <a:r>
              <a:rPr lang="en-US" sz="2000" b="1" dirty="0">
                <a:latin typeface="Montserrat Medium" pitchFamily="50" charset="0"/>
              </a:rPr>
              <a:t>Architecture Walkthrough</a:t>
            </a:r>
          </a:p>
          <a:p>
            <a:endParaRPr lang="en-US" sz="2000" dirty="0">
              <a:latin typeface="Montserrat Medium" pitchFamily="50" charset="0"/>
            </a:endParaRPr>
          </a:p>
          <a:p>
            <a:endParaRPr lang="en-US" dirty="0">
              <a:latin typeface="Montserrat Medium" pitchFamily="50" charset="0"/>
            </a:endParaRPr>
          </a:p>
          <a:p>
            <a:pPr algn="just"/>
            <a:r>
              <a:rPr lang="en-US" dirty="0">
                <a:latin typeface="Montserrat Medium" pitchFamily="50" charset="0"/>
              </a:rPr>
              <a:t>Step1</a:t>
            </a:r>
          </a:p>
          <a:p>
            <a:pPr algn="just">
              <a:lnSpc>
                <a:spcPct val="150000"/>
              </a:lnSpc>
              <a:buFont typeface="+mj-lt"/>
              <a:buAutoNum type="arabicPeriod"/>
            </a:pPr>
            <a:r>
              <a:rPr lang="en-US" dirty="0">
                <a:latin typeface="Montserrat Medium" pitchFamily="50" charset="0"/>
              </a:rPr>
              <a:t>User–Item Interaction Input</a:t>
            </a:r>
          </a:p>
          <a:p>
            <a:pPr algn="just">
              <a:lnSpc>
                <a:spcPct val="150000"/>
              </a:lnSpc>
              <a:buFont typeface="+mj-lt"/>
              <a:buAutoNum type="arabicPeriod"/>
            </a:pPr>
            <a:r>
              <a:rPr lang="en-US" dirty="0">
                <a:latin typeface="Montserrat Medium" pitchFamily="50" charset="0"/>
              </a:rPr>
              <a:t>Bipartite Graph Construction</a:t>
            </a:r>
          </a:p>
          <a:p>
            <a:pPr algn="just">
              <a:lnSpc>
                <a:spcPct val="150000"/>
              </a:lnSpc>
              <a:buFont typeface="+mj-lt"/>
              <a:buAutoNum type="arabicPeriod"/>
            </a:pPr>
            <a:r>
              <a:rPr lang="en-US" dirty="0">
                <a:latin typeface="Montserrat Medium" pitchFamily="50" charset="0"/>
              </a:rPr>
              <a:t>Embedding Initialization</a:t>
            </a:r>
          </a:p>
        </p:txBody>
      </p:sp>
      <p:sp>
        <p:nvSpPr>
          <p:cNvPr id="32" name="Rectangle 31">
            <a:extLst>
              <a:ext uri="{FF2B5EF4-FFF2-40B4-BE49-F238E27FC236}">
                <a16:creationId xmlns:a16="http://schemas.microsoft.com/office/drawing/2014/main" id="{A1E87D52-1E81-46EB-A623-BA07FBACE00A}"/>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0B5FC4F7-3BFD-456B-8EF3-2C3CC306514D}"/>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BD17C1B6-450C-449B-AAB8-B795C2230B91}"/>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87186A8E-5927-4B39-AFB2-9B4CE1EE2554}"/>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C58372C1-B2AC-4600-8BAE-49A88C528381}"/>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B34B2778-8DD4-4FAC-8E07-523F1EAF74A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6" name="Picture 55">
            <a:extLst>
              <a:ext uri="{FF2B5EF4-FFF2-40B4-BE49-F238E27FC236}">
                <a16:creationId xmlns:a16="http://schemas.microsoft.com/office/drawing/2014/main" id="{619D1073-EBC6-4467-A663-82ACC4928AD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7" name="Picture 56">
            <a:extLst>
              <a:ext uri="{FF2B5EF4-FFF2-40B4-BE49-F238E27FC236}">
                <a16:creationId xmlns:a16="http://schemas.microsoft.com/office/drawing/2014/main" id="{9292B742-223F-4488-91D3-269E9AE6937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8" name="Picture 57">
            <a:extLst>
              <a:ext uri="{FF2B5EF4-FFF2-40B4-BE49-F238E27FC236}">
                <a16:creationId xmlns:a16="http://schemas.microsoft.com/office/drawing/2014/main" id="{F26C04F5-762F-45E8-993E-D9DBF638889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9" name="Picture 58">
            <a:extLst>
              <a:ext uri="{FF2B5EF4-FFF2-40B4-BE49-F238E27FC236}">
                <a16:creationId xmlns:a16="http://schemas.microsoft.com/office/drawing/2014/main" id="{7813167B-6744-4217-9F0B-22A85F2CE3E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0" name="Rectangle 59">
            <a:extLst>
              <a:ext uri="{FF2B5EF4-FFF2-40B4-BE49-F238E27FC236}">
                <a16:creationId xmlns:a16="http://schemas.microsoft.com/office/drawing/2014/main" id="{F3B67D35-6550-414E-B588-669DFE3C56C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81BEDE7E-F8AF-4EC3-8D11-55D12DB448F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2" name="Rectangle 61">
            <a:extLst>
              <a:ext uri="{FF2B5EF4-FFF2-40B4-BE49-F238E27FC236}">
                <a16:creationId xmlns:a16="http://schemas.microsoft.com/office/drawing/2014/main" id="{7D5D0EA7-8D68-4EC7-985A-8DE70D086329}"/>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EDF051CB-AB5A-499E-9EB6-2865284A6B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30" name="Picture 29">
            <a:extLst>
              <a:ext uri="{FF2B5EF4-FFF2-40B4-BE49-F238E27FC236}">
                <a16:creationId xmlns:a16="http://schemas.microsoft.com/office/drawing/2014/main" id="{3EF65401-1CDE-4A57-BC0F-7FBCF5017811}"/>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31" name="Picture 30">
            <a:extLst>
              <a:ext uri="{FF2B5EF4-FFF2-40B4-BE49-F238E27FC236}">
                <a16:creationId xmlns:a16="http://schemas.microsoft.com/office/drawing/2014/main" id="{3D050F2E-5533-41E1-89C3-E102B05E85C6}"/>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2653540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941D18EF-B602-44A9-A1BB-08C1C1EEF2A4}"/>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pic>
        <p:nvPicPr>
          <p:cNvPr id="9" name="Picture 8">
            <a:extLst>
              <a:ext uri="{FF2B5EF4-FFF2-40B4-BE49-F238E27FC236}">
                <a16:creationId xmlns:a16="http://schemas.microsoft.com/office/drawing/2014/main" id="{3F844AD2-5C1E-4411-9586-AABFE81BCB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46480" y="1722922"/>
            <a:ext cx="6446908" cy="3115129"/>
          </a:xfrm>
          <a:prstGeom prst="rect">
            <a:avLst/>
          </a:prstGeom>
        </p:spPr>
      </p:pic>
      <p:sp>
        <p:nvSpPr>
          <p:cNvPr id="56" name="TextBox 55">
            <a:extLst>
              <a:ext uri="{FF2B5EF4-FFF2-40B4-BE49-F238E27FC236}">
                <a16:creationId xmlns:a16="http://schemas.microsoft.com/office/drawing/2014/main" id="{AA474CA0-5DFE-499C-A94A-3793A4F2C1CF}"/>
              </a:ext>
            </a:extLst>
          </p:cNvPr>
          <p:cNvSpPr txBox="1"/>
          <p:nvPr/>
        </p:nvSpPr>
        <p:spPr>
          <a:xfrm>
            <a:off x="339452" y="1714052"/>
            <a:ext cx="5656947" cy="1261884"/>
          </a:xfrm>
          <a:prstGeom prst="rect">
            <a:avLst/>
          </a:prstGeom>
          <a:noFill/>
        </p:spPr>
        <p:txBody>
          <a:bodyPr wrap="square">
            <a:spAutoFit/>
          </a:bodyPr>
          <a:lstStyle/>
          <a:p>
            <a:r>
              <a:rPr lang="en-US" sz="2000" b="1" dirty="0">
                <a:latin typeface="Montserrat Medium" pitchFamily="50" charset="0"/>
              </a:rPr>
              <a:t>Architecture Walkthrough</a:t>
            </a:r>
          </a:p>
          <a:p>
            <a:endParaRPr lang="en-US" sz="2000" dirty="0">
              <a:latin typeface="Montserrat Medium" pitchFamily="50" charset="0"/>
            </a:endParaRPr>
          </a:p>
          <a:p>
            <a:endParaRPr lang="en-US" dirty="0">
              <a:latin typeface="Montserrat Medium" pitchFamily="50" charset="0"/>
            </a:endParaRPr>
          </a:p>
          <a:p>
            <a:pPr algn="just"/>
            <a:r>
              <a:rPr lang="en-US" dirty="0">
                <a:latin typeface="Montserrat Medium" pitchFamily="50" charset="0"/>
              </a:rPr>
              <a:t>Step 2</a:t>
            </a:r>
          </a:p>
        </p:txBody>
      </p:sp>
      <p:sp>
        <p:nvSpPr>
          <p:cNvPr id="31" name="Rectangle 30">
            <a:extLst>
              <a:ext uri="{FF2B5EF4-FFF2-40B4-BE49-F238E27FC236}">
                <a16:creationId xmlns:a16="http://schemas.microsoft.com/office/drawing/2014/main" id="{C149DDA2-A40B-4AB7-ACEF-9F829D45E212}"/>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2" name="Rectangle 31">
            <a:extLst>
              <a:ext uri="{FF2B5EF4-FFF2-40B4-BE49-F238E27FC236}">
                <a16:creationId xmlns:a16="http://schemas.microsoft.com/office/drawing/2014/main" id="{17534423-77FF-4BDC-9BD7-234A7A052FE0}"/>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0116026B-BC05-406A-8D52-1B02D095F48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3B807F6E-C005-4A4F-B8CA-5DC25E698097}"/>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C0592402-41E8-40EA-9B6F-52EAED7B7FA1}"/>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8" name="Picture 37">
            <a:extLst>
              <a:ext uri="{FF2B5EF4-FFF2-40B4-BE49-F238E27FC236}">
                <a16:creationId xmlns:a16="http://schemas.microsoft.com/office/drawing/2014/main" id="{989F48A5-4306-4069-B9EC-E9A5DEBCA03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39" name="Picture 38">
            <a:extLst>
              <a:ext uri="{FF2B5EF4-FFF2-40B4-BE49-F238E27FC236}">
                <a16:creationId xmlns:a16="http://schemas.microsoft.com/office/drawing/2014/main" id="{33AEE25C-7177-43D6-9F04-A51718ACDCD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7" name="Picture 56">
            <a:extLst>
              <a:ext uri="{FF2B5EF4-FFF2-40B4-BE49-F238E27FC236}">
                <a16:creationId xmlns:a16="http://schemas.microsoft.com/office/drawing/2014/main" id="{A393F2F1-AE14-4D36-AB44-EC61AB98429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8" name="Picture 57">
            <a:extLst>
              <a:ext uri="{FF2B5EF4-FFF2-40B4-BE49-F238E27FC236}">
                <a16:creationId xmlns:a16="http://schemas.microsoft.com/office/drawing/2014/main" id="{122B35B7-1135-4C1C-B3E8-24256257D91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9" name="Picture 58">
            <a:extLst>
              <a:ext uri="{FF2B5EF4-FFF2-40B4-BE49-F238E27FC236}">
                <a16:creationId xmlns:a16="http://schemas.microsoft.com/office/drawing/2014/main" id="{DF90A3A0-2054-4A01-B395-A8A3D6340D4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0" name="Rectangle 59">
            <a:extLst>
              <a:ext uri="{FF2B5EF4-FFF2-40B4-BE49-F238E27FC236}">
                <a16:creationId xmlns:a16="http://schemas.microsoft.com/office/drawing/2014/main" id="{28A64D9C-CAC5-4F50-9FFB-754F00032E69}"/>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C94B8F38-D6C8-4F49-B410-38D8996FF7F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2" name="Rectangle 61">
            <a:extLst>
              <a:ext uri="{FF2B5EF4-FFF2-40B4-BE49-F238E27FC236}">
                <a16:creationId xmlns:a16="http://schemas.microsoft.com/office/drawing/2014/main" id="{DD596E49-C7DA-439F-9958-C75C529DCE3E}"/>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0A4EEDAA-F01B-4B21-86D9-6DAB5D2ED8E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4" name="Picture 3">
            <a:extLst>
              <a:ext uri="{FF2B5EF4-FFF2-40B4-BE49-F238E27FC236}">
                <a16:creationId xmlns:a16="http://schemas.microsoft.com/office/drawing/2014/main" id="{0AA1DBAA-1292-48E8-9E0E-C37A616DEEF3}"/>
              </a:ext>
            </a:extLst>
          </p:cNvPr>
          <p:cNvPicPr>
            <a:picLocks noChangeAspect="1"/>
          </p:cNvPicPr>
          <p:nvPr/>
        </p:nvPicPr>
        <p:blipFill>
          <a:blip r:embed="rId12"/>
          <a:stretch>
            <a:fillRect/>
          </a:stretch>
        </p:blipFill>
        <p:spPr>
          <a:xfrm>
            <a:off x="296459" y="2879689"/>
            <a:ext cx="3789823" cy="2264259"/>
          </a:xfrm>
          <a:prstGeom prst="rect">
            <a:avLst/>
          </a:prstGeom>
        </p:spPr>
      </p:pic>
      <p:pic>
        <p:nvPicPr>
          <p:cNvPr id="41" name="Picture 40">
            <a:extLst>
              <a:ext uri="{FF2B5EF4-FFF2-40B4-BE49-F238E27FC236}">
                <a16:creationId xmlns:a16="http://schemas.microsoft.com/office/drawing/2014/main" id="{6A38FF5A-3451-46A4-B0D2-DC9353AEA25E}"/>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42" name="Picture 41">
            <a:extLst>
              <a:ext uri="{FF2B5EF4-FFF2-40B4-BE49-F238E27FC236}">
                <a16:creationId xmlns:a16="http://schemas.microsoft.com/office/drawing/2014/main" id="{B9CA62AF-91FF-4009-ADCB-E8670578896D}"/>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122905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D08C4A48-A19E-4FB9-9B3C-5C81433A03EC}"/>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57" name="TextBox 56">
            <a:extLst>
              <a:ext uri="{FF2B5EF4-FFF2-40B4-BE49-F238E27FC236}">
                <a16:creationId xmlns:a16="http://schemas.microsoft.com/office/drawing/2014/main" id="{B5E66EAF-026B-432B-8831-FC9FB30A43F3}"/>
              </a:ext>
            </a:extLst>
          </p:cNvPr>
          <p:cNvSpPr txBox="1"/>
          <p:nvPr/>
        </p:nvSpPr>
        <p:spPr>
          <a:xfrm>
            <a:off x="339452" y="1714052"/>
            <a:ext cx="5656947" cy="3170099"/>
          </a:xfrm>
          <a:prstGeom prst="rect">
            <a:avLst/>
          </a:prstGeom>
          <a:noFill/>
        </p:spPr>
        <p:txBody>
          <a:bodyPr wrap="square">
            <a:spAutoFit/>
          </a:bodyPr>
          <a:lstStyle/>
          <a:p>
            <a:r>
              <a:rPr lang="en-US" sz="2000" b="1" dirty="0">
                <a:latin typeface="Montserrat Medium" pitchFamily="50" charset="0"/>
              </a:rPr>
              <a:t>Key results findings</a:t>
            </a:r>
          </a:p>
          <a:p>
            <a:pPr algn="just"/>
            <a:endParaRPr lang="en-US" sz="2000" dirty="0">
              <a:latin typeface="Montserrat Medium" pitchFamily="50" charset="0"/>
            </a:endParaRPr>
          </a:p>
          <a:p>
            <a:pPr marL="285750" indent="-285750" algn="just">
              <a:buFont typeface="Wingdings" panose="05000000000000000000" pitchFamily="2" charset="2"/>
              <a:buChar char="§"/>
            </a:pPr>
            <a:r>
              <a:rPr lang="en-US" sz="2000" dirty="0">
                <a:latin typeface="Montserrat Medium" pitchFamily="50" charset="0"/>
              </a:rPr>
              <a:t>Best of all baselines </a:t>
            </a:r>
          </a:p>
          <a:p>
            <a:pPr marL="285750" indent="-285750" algn="just">
              <a:buFont typeface="Wingdings" panose="05000000000000000000" pitchFamily="2" charset="2"/>
              <a:buChar char="§"/>
            </a:pPr>
            <a:endParaRPr lang="en-US" sz="2000" dirty="0">
              <a:latin typeface="Montserrat Medium" pitchFamily="50" charset="0"/>
            </a:endParaRPr>
          </a:p>
          <a:p>
            <a:pPr marL="285750" indent="-285750" algn="just">
              <a:buFont typeface="Wingdings" panose="05000000000000000000" pitchFamily="2" charset="2"/>
              <a:buChar char="§"/>
            </a:pPr>
            <a:r>
              <a:rPr lang="en-US" sz="2000" dirty="0">
                <a:latin typeface="Montserrat Medium" pitchFamily="50" charset="0"/>
              </a:rPr>
              <a:t>Biggest gain in recall </a:t>
            </a:r>
          </a:p>
          <a:p>
            <a:pPr marL="285750" indent="-285750" algn="just">
              <a:buFont typeface="Wingdings" panose="05000000000000000000" pitchFamily="2" charset="2"/>
              <a:buChar char="§"/>
            </a:pPr>
            <a:endParaRPr lang="en-US" sz="2000" dirty="0">
              <a:latin typeface="Montserrat Medium" pitchFamily="50" charset="0"/>
            </a:endParaRPr>
          </a:p>
          <a:p>
            <a:pPr marL="285750" indent="-285750" algn="just">
              <a:buFont typeface="Wingdings" panose="05000000000000000000" pitchFamily="2" charset="2"/>
              <a:buChar char="§"/>
            </a:pPr>
            <a:r>
              <a:rPr lang="en-US" sz="2000" dirty="0">
                <a:latin typeface="Montserrat Medium" pitchFamily="50" charset="0"/>
              </a:rPr>
              <a:t>Captures multi-hop patterns invisible to matrix methods</a:t>
            </a:r>
          </a:p>
          <a:p>
            <a:pPr marL="285750" indent="-285750" algn="just">
              <a:buFont typeface="Wingdings" panose="05000000000000000000" pitchFamily="2" charset="2"/>
              <a:buChar char="§"/>
            </a:pPr>
            <a:endParaRPr lang="en-US" sz="2000" dirty="0">
              <a:latin typeface="Montserrat Medium" pitchFamily="50" charset="0"/>
            </a:endParaRPr>
          </a:p>
          <a:p>
            <a:pPr marL="285750" indent="-285750" algn="just">
              <a:buFont typeface="Wingdings" panose="05000000000000000000" pitchFamily="2" charset="2"/>
              <a:buChar char="§"/>
            </a:pPr>
            <a:r>
              <a:rPr lang="en-US" sz="2000" dirty="0">
                <a:latin typeface="Montserrat Medium" pitchFamily="50" charset="0"/>
              </a:rPr>
              <a:t>Limitation: link-prediction, not Top-N</a:t>
            </a:r>
          </a:p>
        </p:txBody>
      </p:sp>
      <p:graphicFrame>
        <p:nvGraphicFramePr>
          <p:cNvPr id="2" name="Table 1">
            <a:extLst>
              <a:ext uri="{FF2B5EF4-FFF2-40B4-BE49-F238E27FC236}">
                <a16:creationId xmlns:a16="http://schemas.microsoft.com/office/drawing/2014/main" id="{A6D2168D-F710-4A34-8A49-66301AA62146}"/>
              </a:ext>
            </a:extLst>
          </p:cNvPr>
          <p:cNvGraphicFramePr>
            <a:graphicFrameLocks noGrp="1"/>
          </p:cNvGraphicFramePr>
          <p:nvPr>
            <p:extLst>
              <p:ext uri="{D42A27DB-BD31-4B8C-83A1-F6EECF244321}">
                <p14:modId xmlns:p14="http://schemas.microsoft.com/office/powerpoint/2010/main" val="3039355303"/>
              </p:ext>
            </p:extLst>
          </p:nvPr>
        </p:nvGraphicFramePr>
        <p:xfrm>
          <a:off x="6708808" y="2296608"/>
          <a:ext cx="5211381" cy="2560320"/>
        </p:xfrm>
        <a:graphic>
          <a:graphicData uri="http://schemas.openxmlformats.org/drawingml/2006/table">
            <a:tbl>
              <a:tblPr>
                <a:tableStyleId>{BC89EF96-8CEA-46FF-86C4-4CE0E7609802}</a:tableStyleId>
              </a:tblPr>
              <a:tblGrid>
                <a:gridCol w="2579571">
                  <a:extLst>
                    <a:ext uri="{9D8B030D-6E8A-4147-A177-3AD203B41FA5}">
                      <a16:colId xmlns:a16="http://schemas.microsoft.com/office/drawing/2014/main" val="3806875192"/>
                    </a:ext>
                  </a:extLst>
                </a:gridCol>
                <a:gridCol w="1376413">
                  <a:extLst>
                    <a:ext uri="{9D8B030D-6E8A-4147-A177-3AD203B41FA5}">
                      <a16:colId xmlns:a16="http://schemas.microsoft.com/office/drawing/2014/main" val="1984990776"/>
                    </a:ext>
                  </a:extLst>
                </a:gridCol>
                <a:gridCol w="1255397">
                  <a:extLst>
                    <a:ext uri="{9D8B030D-6E8A-4147-A177-3AD203B41FA5}">
                      <a16:colId xmlns:a16="http://schemas.microsoft.com/office/drawing/2014/main" val="2928064216"/>
                    </a:ext>
                  </a:extLst>
                </a:gridCol>
              </a:tblGrid>
              <a:tr h="0">
                <a:tc>
                  <a:txBody>
                    <a:bodyPr/>
                    <a:lstStyle/>
                    <a:p>
                      <a:pPr algn="ctr"/>
                      <a:r>
                        <a:rPr lang="en-US" b="1" dirty="0">
                          <a:latin typeface="Montserrat" pitchFamily="2" charset="0"/>
                        </a:rPr>
                        <a:t>Method</a:t>
                      </a:r>
                    </a:p>
                  </a:txBody>
                  <a:tcPr anchor="ctr"/>
                </a:tc>
                <a:tc>
                  <a:txBody>
                    <a:bodyPr/>
                    <a:lstStyle/>
                    <a:p>
                      <a:pPr algn="ctr"/>
                      <a:r>
                        <a:rPr lang="en-US" b="1">
                          <a:latin typeface="Montserrat" pitchFamily="2" charset="0"/>
                        </a:rPr>
                        <a:t>Precision</a:t>
                      </a:r>
                    </a:p>
                  </a:txBody>
                  <a:tcPr anchor="ctr"/>
                </a:tc>
                <a:tc>
                  <a:txBody>
                    <a:bodyPr/>
                    <a:lstStyle/>
                    <a:p>
                      <a:pPr algn="ctr"/>
                      <a:r>
                        <a:rPr lang="en-US" b="1" dirty="0">
                          <a:latin typeface="Montserrat" pitchFamily="2" charset="0"/>
                        </a:rPr>
                        <a:t>Recall</a:t>
                      </a:r>
                    </a:p>
                  </a:txBody>
                  <a:tcPr anchor="ctr"/>
                </a:tc>
                <a:extLst>
                  <a:ext uri="{0D108BD9-81ED-4DB2-BD59-A6C34878D82A}">
                    <a16:rowId xmlns:a16="http://schemas.microsoft.com/office/drawing/2014/main" val="2839063806"/>
                  </a:ext>
                </a:extLst>
              </a:tr>
              <a:tr h="0">
                <a:tc>
                  <a:txBody>
                    <a:bodyPr/>
                    <a:lstStyle/>
                    <a:p>
                      <a:pPr algn="l"/>
                      <a:r>
                        <a:rPr lang="en-US" dirty="0">
                          <a:latin typeface="Montserrat Medium" pitchFamily="50" charset="0"/>
                        </a:rPr>
                        <a:t>UCBF</a:t>
                      </a:r>
                    </a:p>
                  </a:txBody>
                  <a:tcPr anchor="ctr"/>
                </a:tc>
                <a:tc>
                  <a:txBody>
                    <a:bodyPr/>
                    <a:lstStyle/>
                    <a:p>
                      <a:pPr algn="l"/>
                      <a:r>
                        <a:rPr lang="en-US" dirty="0">
                          <a:latin typeface="Montserrat Medium" pitchFamily="50" charset="0"/>
                        </a:rPr>
                        <a:t>0.7423</a:t>
                      </a:r>
                    </a:p>
                  </a:txBody>
                  <a:tcPr anchor="ctr"/>
                </a:tc>
                <a:tc>
                  <a:txBody>
                    <a:bodyPr/>
                    <a:lstStyle/>
                    <a:p>
                      <a:pPr algn="l"/>
                      <a:r>
                        <a:rPr lang="en-US">
                          <a:latin typeface="Montserrat Medium" pitchFamily="50" charset="0"/>
                        </a:rPr>
                        <a:t>0.8015</a:t>
                      </a:r>
                    </a:p>
                  </a:txBody>
                  <a:tcPr anchor="ctr"/>
                </a:tc>
                <a:extLst>
                  <a:ext uri="{0D108BD9-81ED-4DB2-BD59-A6C34878D82A}">
                    <a16:rowId xmlns:a16="http://schemas.microsoft.com/office/drawing/2014/main" val="2030493360"/>
                  </a:ext>
                </a:extLst>
              </a:tr>
              <a:tr h="0">
                <a:tc>
                  <a:txBody>
                    <a:bodyPr/>
                    <a:lstStyle/>
                    <a:p>
                      <a:pPr algn="l"/>
                      <a:r>
                        <a:rPr lang="en-US">
                          <a:latin typeface="Montserrat Medium" pitchFamily="50" charset="0"/>
                        </a:rPr>
                        <a:t>IBCF</a:t>
                      </a:r>
                    </a:p>
                  </a:txBody>
                  <a:tcPr anchor="ctr"/>
                </a:tc>
                <a:tc>
                  <a:txBody>
                    <a:bodyPr/>
                    <a:lstStyle/>
                    <a:p>
                      <a:pPr algn="l"/>
                      <a:r>
                        <a:rPr lang="en-US" dirty="0">
                          <a:latin typeface="Montserrat Medium" pitchFamily="50" charset="0"/>
                        </a:rPr>
                        <a:t>0.7689</a:t>
                      </a:r>
                    </a:p>
                  </a:txBody>
                  <a:tcPr anchor="ctr"/>
                </a:tc>
                <a:tc>
                  <a:txBody>
                    <a:bodyPr/>
                    <a:lstStyle/>
                    <a:p>
                      <a:pPr algn="l"/>
                      <a:r>
                        <a:rPr lang="en-US">
                          <a:latin typeface="Montserrat Medium" pitchFamily="50" charset="0"/>
                        </a:rPr>
                        <a:t>0.8247</a:t>
                      </a:r>
                    </a:p>
                  </a:txBody>
                  <a:tcPr anchor="ctr"/>
                </a:tc>
                <a:extLst>
                  <a:ext uri="{0D108BD9-81ED-4DB2-BD59-A6C34878D82A}">
                    <a16:rowId xmlns:a16="http://schemas.microsoft.com/office/drawing/2014/main" val="3045300196"/>
                  </a:ext>
                </a:extLst>
              </a:tr>
              <a:tr h="0">
                <a:tc>
                  <a:txBody>
                    <a:bodyPr/>
                    <a:lstStyle/>
                    <a:p>
                      <a:pPr algn="l"/>
                      <a:r>
                        <a:rPr lang="en-US">
                          <a:latin typeface="Montserrat Medium" pitchFamily="50" charset="0"/>
                        </a:rPr>
                        <a:t>MF</a:t>
                      </a:r>
                    </a:p>
                  </a:txBody>
                  <a:tcPr anchor="ctr"/>
                </a:tc>
                <a:tc>
                  <a:txBody>
                    <a:bodyPr/>
                    <a:lstStyle/>
                    <a:p>
                      <a:pPr algn="l"/>
                      <a:r>
                        <a:rPr lang="en-US" dirty="0">
                          <a:latin typeface="Montserrat Medium" pitchFamily="50" charset="0"/>
                        </a:rPr>
                        <a:t>0.8012</a:t>
                      </a:r>
                    </a:p>
                  </a:txBody>
                  <a:tcPr anchor="ctr"/>
                </a:tc>
                <a:tc>
                  <a:txBody>
                    <a:bodyPr/>
                    <a:lstStyle/>
                    <a:p>
                      <a:pPr algn="l"/>
                      <a:r>
                        <a:rPr lang="en-US" dirty="0">
                          <a:latin typeface="Montserrat Medium" pitchFamily="50" charset="0"/>
                        </a:rPr>
                        <a:t>0.8619</a:t>
                      </a:r>
                    </a:p>
                  </a:txBody>
                  <a:tcPr anchor="ctr"/>
                </a:tc>
                <a:extLst>
                  <a:ext uri="{0D108BD9-81ED-4DB2-BD59-A6C34878D82A}">
                    <a16:rowId xmlns:a16="http://schemas.microsoft.com/office/drawing/2014/main" val="245063802"/>
                  </a:ext>
                </a:extLst>
              </a:tr>
              <a:tr h="0">
                <a:tc>
                  <a:txBody>
                    <a:bodyPr/>
                    <a:lstStyle/>
                    <a:p>
                      <a:pPr algn="l"/>
                      <a:r>
                        <a:rPr lang="en-US">
                          <a:latin typeface="Montserrat Medium" pitchFamily="50" charset="0"/>
                        </a:rPr>
                        <a:t>SVD</a:t>
                      </a:r>
                    </a:p>
                  </a:txBody>
                  <a:tcPr anchor="ctr"/>
                </a:tc>
                <a:tc>
                  <a:txBody>
                    <a:bodyPr/>
                    <a:lstStyle/>
                    <a:p>
                      <a:pPr algn="l"/>
                      <a:r>
                        <a:rPr lang="en-US">
                          <a:latin typeface="Montserrat Medium" pitchFamily="50" charset="0"/>
                        </a:rPr>
                        <a:t>0.8294</a:t>
                      </a:r>
                    </a:p>
                  </a:txBody>
                  <a:tcPr anchor="ctr"/>
                </a:tc>
                <a:tc>
                  <a:txBody>
                    <a:bodyPr/>
                    <a:lstStyle/>
                    <a:p>
                      <a:pPr algn="l"/>
                      <a:r>
                        <a:rPr lang="en-US" dirty="0">
                          <a:latin typeface="Montserrat Medium" pitchFamily="50" charset="0"/>
                        </a:rPr>
                        <a:t>0.8896</a:t>
                      </a:r>
                    </a:p>
                  </a:txBody>
                  <a:tcPr anchor="ctr"/>
                </a:tc>
                <a:extLst>
                  <a:ext uri="{0D108BD9-81ED-4DB2-BD59-A6C34878D82A}">
                    <a16:rowId xmlns:a16="http://schemas.microsoft.com/office/drawing/2014/main" val="4054095180"/>
                  </a:ext>
                </a:extLst>
              </a:tr>
              <a:tr h="0">
                <a:tc>
                  <a:txBody>
                    <a:bodyPr/>
                    <a:lstStyle/>
                    <a:p>
                      <a:pPr algn="l"/>
                      <a:r>
                        <a:rPr lang="en-US">
                          <a:latin typeface="Montserrat Medium" pitchFamily="50" charset="0"/>
                        </a:rPr>
                        <a:t>SVD++</a:t>
                      </a:r>
                    </a:p>
                  </a:txBody>
                  <a:tcPr anchor="ctr"/>
                </a:tc>
                <a:tc>
                  <a:txBody>
                    <a:bodyPr/>
                    <a:lstStyle/>
                    <a:p>
                      <a:pPr algn="l"/>
                      <a:r>
                        <a:rPr lang="en-US">
                          <a:latin typeface="Montserrat Medium" pitchFamily="50" charset="0"/>
                        </a:rPr>
                        <a:t>0.8627</a:t>
                      </a:r>
                    </a:p>
                  </a:txBody>
                  <a:tcPr anchor="ctr"/>
                </a:tc>
                <a:tc>
                  <a:txBody>
                    <a:bodyPr/>
                    <a:lstStyle/>
                    <a:p>
                      <a:pPr algn="l"/>
                      <a:r>
                        <a:rPr lang="en-US" dirty="0">
                          <a:latin typeface="Montserrat Medium" pitchFamily="50" charset="0"/>
                        </a:rPr>
                        <a:t>0.9138</a:t>
                      </a:r>
                    </a:p>
                  </a:txBody>
                  <a:tcPr anchor="ctr"/>
                </a:tc>
                <a:extLst>
                  <a:ext uri="{0D108BD9-81ED-4DB2-BD59-A6C34878D82A}">
                    <a16:rowId xmlns:a16="http://schemas.microsoft.com/office/drawing/2014/main" val="2659542856"/>
                  </a:ext>
                </a:extLst>
              </a:tr>
              <a:tr h="0">
                <a:tc>
                  <a:txBody>
                    <a:bodyPr/>
                    <a:lstStyle/>
                    <a:p>
                      <a:pPr algn="l"/>
                      <a:r>
                        <a:rPr lang="en-US" dirty="0" err="1">
                          <a:latin typeface="Montserrat Medium" pitchFamily="50" charset="0"/>
                        </a:rPr>
                        <a:t>LightGCN</a:t>
                      </a:r>
                      <a:r>
                        <a:rPr lang="en-US" dirty="0">
                          <a:latin typeface="Montserrat Medium" pitchFamily="50" charset="0"/>
                        </a:rPr>
                        <a:t>-CF</a:t>
                      </a:r>
                    </a:p>
                  </a:txBody>
                  <a:tcPr anchor="ctr"/>
                </a:tc>
                <a:tc>
                  <a:txBody>
                    <a:bodyPr/>
                    <a:lstStyle/>
                    <a:p>
                      <a:pPr algn="l"/>
                      <a:r>
                        <a:rPr lang="en-US">
                          <a:latin typeface="Montserrat Medium" pitchFamily="50" charset="0"/>
                        </a:rPr>
                        <a:t>0.9101</a:t>
                      </a:r>
                    </a:p>
                  </a:txBody>
                  <a:tcPr anchor="ctr"/>
                </a:tc>
                <a:tc>
                  <a:txBody>
                    <a:bodyPr/>
                    <a:lstStyle/>
                    <a:p>
                      <a:pPr algn="l"/>
                      <a:r>
                        <a:rPr lang="en-US" dirty="0">
                          <a:latin typeface="Montserrat Medium" pitchFamily="50" charset="0"/>
                        </a:rPr>
                        <a:t>0.9625</a:t>
                      </a:r>
                    </a:p>
                  </a:txBody>
                  <a:tcPr anchor="ctr"/>
                </a:tc>
                <a:extLst>
                  <a:ext uri="{0D108BD9-81ED-4DB2-BD59-A6C34878D82A}">
                    <a16:rowId xmlns:a16="http://schemas.microsoft.com/office/drawing/2014/main" val="3901071392"/>
                  </a:ext>
                </a:extLst>
              </a:tr>
            </a:tbl>
          </a:graphicData>
        </a:graphic>
      </p:graphicFrame>
      <p:sp>
        <p:nvSpPr>
          <p:cNvPr id="31" name="Rectangle 30">
            <a:extLst>
              <a:ext uri="{FF2B5EF4-FFF2-40B4-BE49-F238E27FC236}">
                <a16:creationId xmlns:a16="http://schemas.microsoft.com/office/drawing/2014/main" id="{8FAD1476-FAE5-4D93-B5A8-324FB0E770E2}"/>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2" name="Rectangle 31">
            <a:extLst>
              <a:ext uri="{FF2B5EF4-FFF2-40B4-BE49-F238E27FC236}">
                <a16:creationId xmlns:a16="http://schemas.microsoft.com/office/drawing/2014/main" id="{05BADB5E-3C1A-43C4-A688-AC1D2A61825C}"/>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8464A8B8-B505-4609-9F7C-9F42F6E7E884}"/>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2B157A7A-039C-4BAB-98E0-319E74404D9E}"/>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4442E4F4-72FD-48EA-A1D0-5524E791E4FE}"/>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8" name="Picture 37">
            <a:extLst>
              <a:ext uri="{FF2B5EF4-FFF2-40B4-BE49-F238E27FC236}">
                <a16:creationId xmlns:a16="http://schemas.microsoft.com/office/drawing/2014/main" id="{968CA622-BA39-445C-90BD-C474381C16E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5" name="Picture 54">
            <a:extLst>
              <a:ext uri="{FF2B5EF4-FFF2-40B4-BE49-F238E27FC236}">
                <a16:creationId xmlns:a16="http://schemas.microsoft.com/office/drawing/2014/main" id="{0658D127-0F11-40BF-9ECF-F0EACFB2D7A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6" name="Picture 55">
            <a:extLst>
              <a:ext uri="{FF2B5EF4-FFF2-40B4-BE49-F238E27FC236}">
                <a16:creationId xmlns:a16="http://schemas.microsoft.com/office/drawing/2014/main" id="{48396B52-51E8-44EC-B103-0B01A7E364F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8" name="Picture 57">
            <a:extLst>
              <a:ext uri="{FF2B5EF4-FFF2-40B4-BE49-F238E27FC236}">
                <a16:creationId xmlns:a16="http://schemas.microsoft.com/office/drawing/2014/main" id="{AD51A410-5F6C-4457-90CF-C5DC907ABF2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9" name="Picture 58">
            <a:extLst>
              <a:ext uri="{FF2B5EF4-FFF2-40B4-BE49-F238E27FC236}">
                <a16:creationId xmlns:a16="http://schemas.microsoft.com/office/drawing/2014/main" id="{446640E1-44B8-4CA4-9C06-73F8D9A85242}"/>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0" name="Rectangle 59">
            <a:extLst>
              <a:ext uri="{FF2B5EF4-FFF2-40B4-BE49-F238E27FC236}">
                <a16:creationId xmlns:a16="http://schemas.microsoft.com/office/drawing/2014/main" id="{1DF1B99E-470A-4E1D-8A3B-84D8513CEED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14AF94B2-9375-4D21-B2E4-6CA53971F02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2" name="Rectangle 61">
            <a:extLst>
              <a:ext uri="{FF2B5EF4-FFF2-40B4-BE49-F238E27FC236}">
                <a16:creationId xmlns:a16="http://schemas.microsoft.com/office/drawing/2014/main" id="{35C36F2F-5BE6-4927-B395-EA0280989A53}"/>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525661A1-6305-4160-A27E-4FF75EE36E1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30" name="Picture 29">
            <a:extLst>
              <a:ext uri="{FF2B5EF4-FFF2-40B4-BE49-F238E27FC236}">
                <a16:creationId xmlns:a16="http://schemas.microsoft.com/office/drawing/2014/main" id="{3BDF68BA-315A-4802-8CCE-1AF69B1C5F6D}"/>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9" name="Picture 38">
            <a:extLst>
              <a:ext uri="{FF2B5EF4-FFF2-40B4-BE49-F238E27FC236}">
                <a16:creationId xmlns:a16="http://schemas.microsoft.com/office/drawing/2014/main" id="{0899B774-2975-463F-8A84-BDF3F82E26E9}"/>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613996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D08C4A48-A19E-4FB9-9B3C-5C81433A03EC}"/>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57" name="TextBox 56">
            <a:extLst>
              <a:ext uri="{FF2B5EF4-FFF2-40B4-BE49-F238E27FC236}">
                <a16:creationId xmlns:a16="http://schemas.microsoft.com/office/drawing/2014/main" id="{B5E66EAF-026B-432B-8831-FC9FB30A43F3}"/>
              </a:ext>
            </a:extLst>
          </p:cNvPr>
          <p:cNvSpPr txBox="1"/>
          <p:nvPr/>
        </p:nvSpPr>
        <p:spPr>
          <a:xfrm>
            <a:off x="339452" y="1714052"/>
            <a:ext cx="11773577" cy="3539430"/>
          </a:xfrm>
          <a:prstGeom prst="rect">
            <a:avLst/>
          </a:prstGeom>
          <a:noFill/>
        </p:spPr>
        <p:txBody>
          <a:bodyPr wrap="square">
            <a:spAutoFit/>
          </a:bodyPr>
          <a:lstStyle/>
          <a:p>
            <a:r>
              <a:rPr lang="en-US" sz="2000" b="1" dirty="0">
                <a:latin typeface="Montserrat Medium" pitchFamily="50" charset="0"/>
              </a:rPr>
              <a:t>Answers to the questions and objectives</a:t>
            </a:r>
          </a:p>
          <a:p>
            <a:endParaRPr lang="en-US" sz="2000" dirty="0">
              <a:latin typeface="Montserrat" pitchFamily="2" charset="0"/>
            </a:endParaRPr>
          </a:p>
          <a:p>
            <a:pPr marL="285750" indent="-285750" algn="just">
              <a:buFont typeface="Wingdings" panose="05000000000000000000" pitchFamily="2" charset="2"/>
              <a:buChar char="§"/>
            </a:pPr>
            <a:r>
              <a:rPr lang="en-US" b="0" dirty="0">
                <a:effectLst/>
                <a:latin typeface="Montserrat Medium" pitchFamily="50" charset="0"/>
              </a:rPr>
              <a:t>Higher recall indicates that multi-hop propagation captures relevant interactions missed by similarity- and latent-factor methods.</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0" dirty="0">
                <a:effectLst/>
                <a:latin typeface="Montserrat Medium" pitchFamily="50" charset="0"/>
              </a:rPr>
              <a:t>The progression from UBCF to GNN-CF suggests that richer relational modelling improves link prediction.</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0" dirty="0">
                <a:effectLst/>
                <a:latin typeface="Montserrat Medium" pitchFamily="50" charset="0"/>
              </a:rPr>
              <a:t>However, the results do not yet establish </a:t>
            </a:r>
            <a:r>
              <a:rPr lang="en-US" b="0" dirty="0" err="1">
                <a:effectLst/>
                <a:latin typeface="Montserrat Medium" pitchFamily="50" charset="0"/>
              </a:rPr>
              <a:t>explainability</a:t>
            </a:r>
            <a:r>
              <a:rPr lang="en-US" b="0" dirty="0">
                <a:effectLst/>
                <a:latin typeface="Montserrat Medium" pitchFamily="50" charset="0"/>
              </a:rPr>
              <a:t>, temporal adaptation, or full-catalog top-N performance.</a:t>
            </a:r>
          </a:p>
          <a:p>
            <a:br>
              <a:rPr lang="en-US" sz="2000" b="0" dirty="0">
                <a:solidFill>
                  <a:srgbClr val="BBBEBF"/>
                </a:solidFill>
                <a:effectLst/>
                <a:latin typeface="Consolas" panose="020B0609020204030204" pitchFamily="49" charset="0"/>
              </a:rPr>
            </a:br>
            <a:endParaRPr lang="en-US" sz="2000" b="0" dirty="0">
              <a:solidFill>
                <a:srgbClr val="BBBEBF"/>
              </a:solidFill>
              <a:effectLst/>
              <a:latin typeface="Consolas" panose="020B0609020204030204" pitchFamily="49" charset="0"/>
            </a:endParaRPr>
          </a:p>
        </p:txBody>
      </p:sp>
      <p:sp>
        <p:nvSpPr>
          <p:cNvPr id="5" name="Rectangle 3">
            <a:extLst>
              <a:ext uri="{FF2B5EF4-FFF2-40B4-BE49-F238E27FC236}">
                <a16:creationId xmlns:a16="http://schemas.microsoft.com/office/drawing/2014/main" id="{6EAB708B-3538-4A89-8FF4-232B05148ADC}"/>
              </a:ext>
            </a:extLst>
          </p:cNvPr>
          <p:cNvSpPr>
            <a:spLocks noChangeArrowheads="1"/>
          </p:cNvSpPr>
          <p:nvPr/>
        </p:nvSpPr>
        <p:spPr bwMode="auto">
          <a:xfrm>
            <a:off x="0" y="90100"/>
            <a:ext cx="65" cy="276999"/>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30">
            <a:extLst>
              <a:ext uri="{FF2B5EF4-FFF2-40B4-BE49-F238E27FC236}">
                <a16:creationId xmlns:a16="http://schemas.microsoft.com/office/drawing/2014/main" id="{84163AD6-A3BB-4331-8F09-B2163EA396F3}"/>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2" name="Rectangle 31">
            <a:extLst>
              <a:ext uri="{FF2B5EF4-FFF2-40B4-BE49-F238E27FC236}">
                <a16:creationId xmlns:a16="http://schemas.microsoft.com/office/drawing/2014/main" id="{9E5AD544-735B-4E29-B7FF-B596668BAF16}"/>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10A5CA79-BD64-4E33-BA2D-70A135EF54D3}"/>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E0978963-BE3E-4ACE-A0F0-2D00EE713237}"/>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D62217BF-7F88-41A7-9C55-E77520E08324}"/>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8" name="Picture 37">
            <a:extLst>
              <a:ext uri="{FF2B5EF4-FFF2-40B4-BE49-F238E27FC236}">
                <a16:creationId xmlns:a16="http://schemas.microsoft.com/office/drawing/2014/main" id="{1F8BBCFB-A110-4E19-BD31-6D005EC5430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5" name="Picture 54">
            <a:extLst>
              <a:ext uri="{FF2B5EF4-FFF2-40B4-BE49-F238E27FC236}">
                <a16:creationId xmlns:a16="http://schemas.microsoft.com/office/drawing/2014/main" id="{8B00DFFB-EA81-43AD-AC7D-941E9F26B6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6" name="Picture 55">
            <a:extLst>
              <a:ext uri="{FF2B5EF4-FFF2-40B4-BE49-F238E27FC236}">
                <a16:creationId xmlns:a16="http://schemas.microsoft.com/office/drawing/2014/main" id="{62E242D1-E185-4C79-BAEE-0C6B9952896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8" name="Picture 57">
            <a:extLst>
              <a:ext uri="{FF2B5EF4-FFF2-40B4-BE49-F238E27FC236}">
                <a16:creationId xmlns:a16="http://schemas.microsoft.com/office/drawing/2014/main" id="{78EF5882-779B-49D2-BAFC-DAC428FDED3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9" name="Picture 58">
            <a:extLst>
              <a:ext uri="{FF2B5EF4-FFF2-40B4-BE49-F238E27FC236}">
                <a16:creationId xmlns:a16="http://schemas.microsoft.com/office/drawing/2014/main" id="{DAD27EAA-6153-4298-9385-4EED5C574B7E}"/>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0" name="Rectangle 59">
            <a:extLst>
              <a:ext uri="{FF2B5EF4-FFF2-40B4-BE49-F238E27FC236}">
                <a16:creationId xmlns:a16="http://schemas.microsoft.com/office/drawing/2014/main" id="{F6C8122F-9F05-4B73-AEC3-19905932EA76}"/>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20D3D00E-A47E-43B8-AA32-44B01E7997F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2" name="Rectangle 61">
            <a:extLst>
              <a:ext uri="{FF2B5EF4-FFF2-40B4-BE49-F238E27FC236}">
                <a16:creationId xmlns:a16="http://schemas.microsoft.com/office/drawing/2014/main" id="{AAE9D942-6955-4699-9F82-2CF1CFB5889F}"/>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5FAB19A6-9D22-46C6-99B8-30C5E5506AD0}"/>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7" name="Picture 26">
            <a:extLst>
              <a:ext uri="{FF2B5EF4-FFF2-40B4-BE49-F238E27FC236}">
                <a16:creationId xmlns:a16="http://schemas.microsoft.com/office/drawing/2014/main" id="{59EA0E41-8E7E-4FE0-9C44-F341B9B96DA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29" name="Picture 28">
            <a:extLst>
              <a:ext uri="{FF2B5EF4-FFF2-40B4-BE49-F238E27FC236}">
                <a16:creationId xmlns:a16="http://schemas.microsoft.com/office/drawing/2014/main" id="{5F591C73-AFB7-40DD-95F4-CB87E87D4C26}"/>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427112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3ED481E5-1AD6-4161-B8B1-77F313A1ED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26" name="TextBox 25">
            <a:extLst>
              <a:ext uri="{FF2B5EF4-FFF2-40B4-BE49-F238E27FC236}">
                <a16:creationId xmlns:a16="http://schemas.microsoft.com/office/drawing/2014/main" id="{5AB48492-FE6C-472A-B693-897583EDE627}"/>
              </a:ext>
            </a:extLst>
          </p:cNvPr>
          <p:cNvSpPr txBox="1"/>
          <p:nvPr/>
        </p:nvSpPr>
        <p:spPr>
          <a:xfrm>
            <a:off x="78971" y="1714052"/>
            <a:ext cx="12113029" cy="4308872"/>
          </a:xfrm>
          <a:prstGeom prst="rect">
            <a:avLst/>
          </a:prstGeom>
          <a:noFill/>
        </p:spPr>
        <p:txBody>
          <a:bodyPr wrap="square">
            <a:spAutoFit/>
          </a:bodyPr>
          <a:lstStyle/>
          <a:p>
            <a:r>
              <a:rPr lang="en-US" sz="2000" b="1" dirty="0">
                <a:latin typeface="Montserrat Medium" pitchFamily="50" charset="0"/>
              </a:rPr>
              <a:t>Key findings</a:t>
            </a:r>
          </a:p>
          <a:p>
            <a:endParaRPr lang="en-US" sz="2000" dirty="0">
              <a:latin typeface="Montserrat" pitchFamily="2" charset="0"/>
            </a:endParaRPr>
          </a:p>
          <a:p>
            <a:pPr marL="285750" indent="-285750" algn="just">
              <a:buFont typeface="Wingdings" panose="05000000000000000000" pitchFamily="2" charset="2"/>
              <a:buChar char="§"/>
            </a:pPr>
            <a:r>
              <a:rPr lang="en-US" b="1" dirty="0">
                <a:effectLst/>
                <a:latin typeface="Montserrat Medium" pitchFamily="50" charset="0"/>
              </a:rPr>
              <a:t>Graph structure improves prediction: </a:t>
            </a:r>
            <a:r>
              <a:rPr lang="en-US" dirty="0">
                <a:effectLst/>
                <a:latin typeface="Montserrat Medium" pitchFamily="50" charset="0"/>
              </a:rPr>
              <a:t>Interaction connectivity adds value beyond matrix-based modelling.</a:t>
            </a:r>
          </a:p>
          <a:p>
            <a:pPr algn="just"/>
            <a:endParaRPr lang="en-US" dirty="0">
              <a:effectLst/>
              <a:latin typeface="Montserrat Medium" pitchFamily="50" charset="0"/>
            </a:endParaRPr>
          </a:p>
          <a:p>
            <a:pPr marL="285750" indent="-285750" algn="just">
              <a:buFont typeface="Wingdings" panose="05000000000000000000" pitchFamily="2" charset="2"/>
              <a:buChar char="§"/>
            </a:pPr>
            <a:r>
              <a:rPr lang="en-US" b="1" dirty="0">
                <a:effectLst/>
                <a:latin typeface="Montserrat Medium" pitchFamily="50" charset="0"/>
              </a:rPr>
              <a:t>Higher-order neighborhoods improve recall: </a:t>
            </a:r>
            <a:r>
              <a:rPr lang="en-US" dirty="0">
                <a:effectLst/>
                <a:latin typeface="Montserrat Medium" pitchFamily="50" charset="0"/>
              </a:rPr>
              <a:t>Indirect signals recover interactions missed by direct similarity.</a:t>
            </a:r>
          </a:p>
          <a:p>
            <a:pPr algn="just"/>
            <a:endParaRPr lang="en-US" dirty="0">
              <a:effectLst/>
              <a:latin typeface="Montserrat Medium" pitchFamily="50" charset="0"/>
            </a:endParaRPr>
          </a:p>
          <a:p>
            <a:pPr marL="285750" indent="-285750" algn="just">
              <a:buFont typeface="Wingdings" panose="05000000000000000000" pitchFamily="2" charset="2"/>
              <a:buChar char="§"/>
            </a:pPr>
            <a:r>
              <a:rPr lang="en-US" b="1" dirty="0">
                <a:effectLst/>
                <a:latin typeface="Montserrat Medium" pitchFamily="50" charset="0"/>
              </a:rPr>
              <a:t>Simple architectures are sufficient: </a:t>
            </a:r>
            <a:r>
              <a:rPr lang="en-US" dirty="0">
                <a:effectLst/>
                <a:latin typeface="Montserrat Medium" pitchFamily="50" charset="0"/>
              </a:rPr>
              <a:t>Complex nonlinear GNN components are unnecessary for a strong baseline.</a:t>
            </a:r>
          </a:p>
          <a:p>
            <a:pPr algn="just"/>
            <a:endParaRPr lang="en-US" b="1" dirty="0">
              <a:effectLst/>
              <a:latin typeface="Montserrat Medium" pitchFamily="50" charset="0"/>
            </a:endParaRPr>
          </a:p>
          <a:p>
            <a:pPr marL="285750" indent="-285750" algn="just">
              <a:buFont typeface="Wingdings" panose="05000000000000000000" pitchFamily="2" charset="2"/>
              <a:buChar char="§"/>
            </a:pPr>
            <a:r>
              <a:rPr lang="en-US" b="1" dirty="0">
                <a:effectLst/>
                <a:latin typeface="Montserrat Medium" pitchFamily="50" charset="0"/>
              </a:rPr>
              <a:t>Accuracy is not enough: </a:t>
            </a:r>
            <a:r>
              <a:rPr lang="en-US" dirty="0">
                <a:effectLst/>
                <a:latin typeface="Montserrat Medium" pitchFamily="50" charset="0"/>
              </a:rPr>
              <a:t>The model remains static and opaque.</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1" dirty="0">
                <a:effectLst/>
                <a:latin typeface="Montserrat Medium" pitchFamily="50" charset="0"/>
              </a:rPr>
              <a:t>Evaluation scope must remain clear: </a:t>
            </a:r>
            <a:r>
              <a:rPr lang="en-US" dirty="0">
                <a:effectLst/>
                <a:latin typeface="Montserrat Medium" pitchFamily="50" charset="0"/>
              </a:rPr>
              <a:t>the contribution addresses link prediction, not top-N ranking.</a:t>
            </a:r>
            <a:br>
              <a:rPr lang="en-US" dirty="0">
                <a:effectLst/>
                <a:latin typeface="Montserrat" pitchFamily="2" charset="0"/>
              </a:rPr>
            </a:br>
            <a:endParaRPr lang="en-US" dirty="0">
              <a:effectLst/>
              <a:latin typeface="Montserrat" pitchFamily="2" charset="0"/>
            </a:endParaRPr>
          </a:p>
        </p:txBody>
      </p:sp>
      <p:sp>
        <p:nvSpPr>
          <p:cNvPr id="31" name="Rectangle 30">
            <a:extLst>
              <a:ext uri="{FF2B5EF4-FFF2-40B4-BE49-F238E27FC236}">
                <a16:creationId xmlns:a16="http://schemas.microsoft.com/office/drawing/2014/main" id="{F46A8E7A-1BB5-4EE4-A06A-0AD53E8CED14}"/>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2" name="Rectangle 31">
            <a:extLst>
              <a:ext uri="{FF2B5EF4-FFF2-40B4-BE49-F238E27FC236}">
                <a16:creationId xmlns:a16="http://schemas.microsoft.com/office/drawing/2014/main" id="{3B75FF10-86E3-4709-BD53-2B42A2C16F5D}"/>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4F983AD4-05CF-4825-B9A3-367C58BE44F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B8ADD89C-9169-40A8-A292-C4737618D741}"/>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B8C5C25E-977C-4B4C-868E-93D844C0C3A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8" name="Picture 37">
            <a:extLst>
              <a:ext uri="{FF2B5EF4-FFF2-40B4-BE49-F238E27FC236}">
                <a16:creationId xmlns:a16="http://schemas.microsoft.com/office/drawing/2014/main" id="{89ACF6BD-11F2-4B8C-BF06-1D382F3E01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5" name="Picture 54">
            <a:extLst>
              <a:ext uri="{FF2B5EF4-FFF2-40B4-BE49-F238E27FC236}">
                <a16:creationId xmlns:a16="http://schemas.microsoft.com/office/drawing/2014/main" id="{1071E31A-D204-44E6-B05E-04E1E603856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6" name="Picture 55">
            <a:extLst>
              <a:ext uri="{FF2B5EF4-FFF2-40B4-BE49-F238E27FC236}">
                <a16:creationId xmlns:a16="http://schemas.microsoft.com/office/drawing/2014/main" id="{37B0458C-EBDC-4668-9803-D15CE085DEB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7" name="Picture 56">
            <a:extLst>
              <a:ext uri="{FF2B5EF4-FFF2-40B4-BE49-F238E27FC236}">
                <a16:creationId xmlns:a16="http://schemas.microsoft.com/office/drawing/2014/main" id="{68A8D220-D135-4470-B91C-267F82FEE69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8" name="Picture 57">
            <a:extLst>
              <a:ext uri="{FF2B5EF4-FFF2-40B4-BE49-F238E27FC236}">
                <a16:creationId xmlns:a16="http://schemas.microsoft.com/office/drawing/2014/main" id="{438E4FD2-F924-46C1-B071-50C752296AE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9" name="Rectangle 58">
            <a:extLst>
              <a:ext uri="{FF2B5EF4-FFF2-40B4-BE49-F238E27FC236}">
                <a16:creationId xmlns:a16="http://schemas.microsoft.com/office/drawing/2014/main" id="{F51CAE26-16F1-4BF4-9ACD-C05975078F86}"/>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7D95C3E9-F58A-4342-96E2-E1FBF5970DE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1" name="Rectangle 60">
            <a:extLst>
              <a:ext uri="{FF2B5EF4-FFF2-40B4-BE49-F238E27FC236}">
                <a16:creationId xmlns:a16="http://schemas.microsoft.com/office/drawing/2014/main" id="{978847AF-74F1-4AC5-9928-68EDD5BC4CC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D5E99F81-6D83-4FA8-9EB9-1DA1173ED638}"/>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9" name="Picture 28">
            <a:extLst>
              <a:ext uri="{FF2B5EF4-FFF2-40B4-BE49-F238E27FC236}">
                <a16:creationId xmlns:a16="http://schemas.microsoft.com/office/drawing/2014/main" id="{D462126A-A871-4C77-8AFD-E65BF3D7CF9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9" name="Picture 38">
            <a:extLst>
              <a:ext uri="{FF2B5EF4-FFF2-40B4-BE49-F238E27FC236}">
                <a16:creationId xmlns:a16="http://schemas.microsoft.com/office/drawing/2014/main" id="{A392EF60-3100-41BA-BCA5-7DE67DD42C7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7499874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3ED481E5-1AD6-4161-B8B1-77F313A1ED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sp>
        <p:nvSpPr>
          <p:cNvPr id="26" name="TextBox 25">
            <a:extLst>
              <a:ext uri="{FF2B5EF4-FFF2-40B4-BE49-F238E27FC236}">
                <a16:creationId xmlns:a16="http://schemas.microsoft.com/office/drawing/2014/main" id="{5AB48492-FE6C-472A-B693-897583EDE627}"/>
              </a:ext>
            </a:extLst>
          </p:cNvPr>
          <p:cNvSpPr txBox="1"/>
          <p:nvPr/>
        </p:nvSpPr>
        <p:spPr>
          <a:xfrm>
            <a:off x="339452" y="1714052"/>
            <a:ext cx="11773577" cy="3200876"/>
          </a:xfrm>
          <a:prstGeom prst="rect">
            <a:avLst/>
          </a:prstGeom>
          <a:noFill/>
        </p:spPr>
        <p:txBody>
          <a:bodyPr wrap="square">
            <a:spAutoFit/>
          </a:bodyPr>
          <a:lstStyle/>
          <a:p>
            <a:r>
              <a:rPr lang="en-US" sz="2000" b="1" dirty="0">
                <a:latin typeface="Montserrat Medium" pitchFamily="50" charset="0"/>
              </a:rPr>
              <a:t>Limitations</a:t>
            </a:r>
          </a:p>
          <a:p>
            <a:endParaRPr lang="en-US" dirty="0">
              <a:latin typeface="Montserrat Medium" pitchFamily="50" charset="0"/>
            </a:endParaRPr>
          </a:p>
          <a:p>
            <a:pPr marL="285750" indent="-285750">
              <a:buFont typeface="Wingdings" panose="05000000000000000000" pitchFamily="2" charset="2"/>
              <a:buChar char="§"/>
            </a:pPr>
            <a:r>
              <a:rPr lang="en-US" b="0" dirty="0">
                <a:effectLst/>
                <a:latin typeface="Montserrat Medium" pitchFamily="50" charset="0"/>
              </a:rPr>
              <a:t>The model closely follows </a:t>
            </a:r>
            <a:r>
              <a:rPr lang="en-US" b="0" dirty="0" err="1">
                <a:effectLst/>
                <a:latin typeface="Montserrat Medium" pitchFamily="50" charset="0"/>
              </a:rPr>
              <a:t>LightGCN</a:t>
            </a:r>
            <a:r>
              <a:rPr lang="en-US" b="0" dirty="0">
                <a:effectLst/>
                <a:latin typeface="Montserrat Medium" pitchFamily="50" charset="0"/>
              </a:rPr>
              <a:t> and is not a fundamentally new GNN architecture.</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b="0" dirty="0">
                <a:effectLst/>
                <a:latin typeface="Montserrat Medium" pitchFamily="50" charset="0"/>
              </a:rPr>
              <a:t>Evaluation is limited to MovieLens-100k under a link-prediction protocol.</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b="0" dirty="0">
                <a:effectLst/>
                <a:latin typeface="Montserrat Medium" pitchFamily="50" charset="0"/>
              </a:rPr>
              <a:t>No ablation isolates propagation depth or layer aggregation.</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b="0" dirty="0">
                <a:effectLst/>
                <a:latin typeface="Montserrat Medium" pitchFamily="50" charset="0"/>
              </a:rPr>
              <a:t>Interactions are uniformly weighted, static, and not explicitly explainable.</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b="0" dirty="0">
                <a:effectLst/>
                <a:latin typeface="Montserrat Medium" pitchFamily="50" charset="0"/>
              </a:rPr>
              <a:t>The contribution describes the experiment as link prediction, not top-N recommendation.</a:t>
            </a:r>
          </a:p>
        </p:txBody>
      </p:sp>
      <p:sp>
        <p:nvSpPr>
          <p:cNvPr id="32" name="Rectangle 31">
            <a:extLst>
              <a:ext uri="{FF2B5EF4-FFF2-40B4-BE49-F238E27FC236}">
                <a16:creationId xmlns:a16="http://schemas.microsoft.com/office/drawing/2014/main" id="{B634C14C-9633-4002-BFEE-384776C5075B}"/>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5094F7A2-4C15-46F2-9B49-93CE0E292988}"/>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3074B969-6B61-45E9-8028-DF20025F903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6E2766C3-AC82-424A-A2B2-C5B5D9A292E8}"/>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83090A17-ABFD-46D3-B52A-B66FACC5A16C}"/>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D411C19D-573D-4943-BA1C-277B764BBD9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6" name="Picture 55">
            <a:extLst>
              <a:ext uri="{FF2B5EF4-FFF2-40B4-BE49-F238E27FC236}">
                <a16:creationId xmlns:a16="http://schemas.microsoft.com/office/drawing/2014/main" id="{F1A0A470-7ABF-4F7F-95F2-2C6268FD6E6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7" name="Picture 56">
            <a:extLst>
              <a:ext uri="{FF2B5EF4-FFF2-40B4-BE49-F238E27FC236}">
                <a16:creationId xmlns:a16="http://schemas.microsoft.com/office/drawing/2014/main" id="{E51BA563-F5AD-41AD-AAF1-32E1A7612DA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8" name="Picture 57">
            <a:extLst>
              <a:ext uri="{FF2B5EF4-FFF2-40B4-BE49-F238E27FC236}">
                <a16:creationId xmlns:a16="http://schemas.microsoft.com/office/drawing/2014/main" id="{2BD26723-539F-4828-B8D6-B80C4747861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9" name="Picture 58">
            <a:extLst>
              <a:ext uri="{FF2B5EF4-FFF2-40B4-BE49-F238E27FC236}">
                <a16:creationId xmlns:a16="http://schemas.microsoft.com/office/drawing/2014/main" id="{14415653-C23A-4392-9415-9F191E7A4DC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0" name="Rectangle 59">
            <a:extLst>
              <a:ext uri="{FF2B5EF4-FFF2-40B4-BE49-F238E27FC236}">
                <a16:creationId xmlns:a16="http://schemas.microsoft.com/office/drawing/2014/main" id="{F7B44167-B4DE-4151-9A35-2B361645717F}"/>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5BE79D14-8BE9-4471-883F-96B4296ADE8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2" name="Rectangle 61">
            <a:extLst>
              <a:ext uri="{FF2B5EF4-FFF2-40B4-BE49-F238E27FC236}">
                <a16:creationId xmlns:a16="http://schemas.microsoft.com/office/drawing/2014/main" id="{ABC7B294-0F52-45F1-89BA-67AC1866D321}"/>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1F65AE3D-0E54-441C-AE23-5A48280B134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9" name="Picture 28">
            <a:extLst>
              <a:ext uri="{FF2B5EF4-FFF2-40B4-BE49-F238E27FC236}">
                <a16:creationId xmlns:a16="http://schemas.microsoft.com/office/drawing/2014/main" id="{C8B3E242-3FCD-4004-894E-C8E6A2EAD9E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9" name="Picture 38">
            <a:extLst>
              <a:ext uri="{FF2B5EF4-FFF2-40B4-BE49-F238E27FC236}">
                <a16:creationId xmlns:a16="http://schemas.microsoft.com/office/drawing/2014/main" id="{A2B7FC40-ED62-45E9-A48C-BC850907AC7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961039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8" name="Rectangle 27">
            <a:extLst>
              <a:ext uri="{FF2B5EF4-FFF2-40B4-BE49-F238E27FC236}">
                <a16:creationId xmlns:a16="http://schemas.microsoft.com/office/drawing/2014/main" id="{3ED481E5-1AD6-4161-B8B1-77F313A1ED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Collaborative Filtering Movies Recommendation System based on Graph Neural Networks </a:t>
            </a:r>
          </a:p>
        </p:txBody>
      </p:sp>
      <p:graphicFrame>
        <p:nvGraphicFramePr>
          <p:cNvPr id="57" name="Table 7">
            <a:extLst>
              <a:ext uri="{FF2B5EF4-FFF2-40B4-BE49-F238E27FC236}">
                <a16:creationId xmlns:a16="http://schemas.microsoft.com/office/drawing/2014/main" id="{4A387721-B29E-40DF-99F0-E548953B96DE}"/>
              </a:ext>
            </a:extLst>
          </p:cNvPr>
          <p:cNvGraphicFramePr>
            <a:graphicFrameLocks noGrp="1"/>
          </p:cNvGraphicFramePr>
          <p:nvPr>
            <p:extLst>
              <p:ext uri="{D42A27DB-BD31-4B8C-83A1-F6EECF244321}">
                <p14:modId xmlns:p14="http://schemas.microsoft.com/office/powerpoint/2010/main" val="1085719567"/>
              </p:ext>
            </p:extLst>
          </p:nvPr>
        </p:nvGraphicFramePr>
        <p:xfrm>
          <a:off x="214522" y="4077961"/>
          <a:ext cx="11906983" cy="1174639"/>
        </p:xfrm>
        <a:graphic>
          <a:graphicData uri="http://schemas.openxmlformats.org/drawingml/2006/table">
            <a:tbl>
              <a:tblPr firstRow="1" bandRow="1">
                <a:tableStyleId>{21E4AEA4-8DFA-4A89-87EB-49C32662AFE0}</a:tableStyleId>
              </a:tblPr>
              <a:tblGrid>
                <a:gridCol w="11906983">
                  <a:extLst>
                    <a:ext uri="{9D8B030D-6E8A-4147-A177-3AD203B41FA5}">
                      <a16:colId xmlns:a16="http://schemas.microsoft.com/office/drawing/2014/main" val="1386659453"/>
                    </a:ext>
                  </a:extLst>
                </a:gridCol>
              </a:tblGrid>
              <a:tr h="2569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ontserrat Medium" pitchFamily="50" charset="0"/>
                        </a:rPr>
                        <a:t>Takeaway – Contribution I</a:t>
                      </a:r>
                      <a:r>
                        <a:rPr lang="en-US" sz="1800" dirty="0">
                          <a:latin typeface="Montserrat Medium" pitchFamily="50" charset="0"/>
                        </a:rPr>
                        <a:t> </a:t>
                      </a:r>
                    </a:p>
                  </a:txBody>
                  <a:tcPr/>
                </a:tc>
                <a:extLst>
                  <a:ext uri="{0D108BD9-81ED-4DB2-BD59-A6C34878D82A}">
                    <a16:rowId xmlns:a16="http://schemas.microsoft.com/office/drawing/2014/main" val="2958281240"/>
                  </a:ext>
                </a:extLst>
              </a:tr>
              <a:tr h="808879">
                <a:tc>
                  <a:txBody>
                    <a:bodyPr/>
                    <a:lstStyle/>
                    <a:p>
                      <a:pPr algn="just"/>
                      <a:r>
                        <a:rPr lang="en-US" sz="1800" b="0" kern="1200" dirty="0">
                          <a:solidFill>
                            <a:schemeClr val="dk1"/>
                          </a:solidFill>
                          <a:effectLst/>
                          <a:latin typeface="Montserrat Medium" pitchFamily="50" charset="0"/>
                          <a:ea typeface="+mn-ea"/>
                          <a:cs typeface="+mn-cs"/>
                        </a:rPr>
                        <a:t>Motivation to use Shapley values to estimate interaction-level contributions, convert them into adaptive weights, and produce human-understandable evidence for each recommendation.</a:t>
                      </a:r>
                    </a:p>
                  </a:txBody>
                  <a:tcPr/>
                </a:tc>
                <a:extLst>
                  <a:ext uri="{0D108BD9-81ED-4DB2-BD59-A6C34878D82A}">
                    <a16:rowId xmlns:a16="http://schemas.microsoft.com/office/drawing/2014/main" val="2059531609"/>
                  </a:ext>
                </a:extLst>
              </a:tr>
            </a:tbl>
          </a:graphicData>
        </a:graphic>
      </p:graphicFrame>
      <p:sp>
        <p:nvSpPr>
          <p:cNvPr id="26" name="TextBox 25">
            <a:extLst>
              <a:ext uri="{FF2B5EF4-FFF2-40B4-BE49-F238E27FC236}">
                <a16:creationId xmlns:a16="http://schemas.microsoft.com/office/drawing/2014/main" id="{7A55A892-04DF-4B17-94F3-489DCB63949C}"/>
              </a:ext>
            </a:extLst>
          </p:cNvPr>
          <p:cNvSpPr txBox="1"/>
          <p:nvPr/>
        </p:nvSpPr>
        <p:spPr>
          <a:xfrm>
            <a:off x="45721" y="1329481"/>
            <a:ext cx="12075784" cy="2923877"/>
          </a:xfrm>
          <a:prstGeom prst="rect">
            <a:avLst/>
          </a:prstGeom>
          <a:noFill/>
        </p:spPr>
        <p:txBody>
          <a:bodyPr wrap="square">
            <a:spAutoFit/>
          </a:bodyPr>
          <a:lstStyle/>
          <a:p>
            <a:r>
              <a:rPr lang="en-US" sz="2000" b="1" dirty="0">
                <a:latin typeface="Montserrat Medium" pitchFamily="50" charset="0"/>
              </a:rPr>
              <a:t>Takeaways</a:t>
            </a:r>
          </a:p>
          <a:p>
            <a:endParaRPr lang="en-US" sz="2000" dirty="0">
              <a:latin typeface="Montserrat" pitchFamily="2" charset="0"/>
            </a:endParaRPr>
          </a:p>
          <a:p>
            <a:pPr marL="285750" indent="-285750" algn="just">
              <a:buFont typeface="Wingdings" panose="05000000000000000000" pitchFamily="2" charset="2"/>
              <a:buChar char="§"/>
            </a:pPr>
            <a:r>
              <a:rPr lang="en-US" dirty="0">
                <a:effectLst/>
                <a:latin typeface="Montserrat Medium" pitchFamily="50" charset="0"/>
              </a:rPr>
              <a:t>Graph propagation is an effective representation mechanism, </a:t>
            </a:r>
            <a:endParaRPr lang="en-US" dirty="0">
              <a:latin typeface="Montserrat Medium" pitchFamily="50" charset="0"/>
            </a:endParaRPr>
          </a:p>
          <a:p>
            <a:pPr marL="285750" indent="-285750" algn="just">
              <a:buFont typeface="Wingdings" panose="05000000000000000000" pitchFamily="2" charset="2"/>
              <a:buChar char="§"/>
            </a:pPr>
            <a:r>
              <a:rPr lang="en-US" dirty="0">
                <a:effectLst/>
                <a:latin typeface="Montserrat Medium" pitchFamily="50" charset="0"/>
              </a:rPr>
              <a:t>Graph propagation has a new limitation: All historical interactions influence the graph model implicitly and uniformly.</a:t>
            </a:r>
          </a:p>
          <a:p>
            <a:pPr marL="285750" indent="-285750" algn="just">
              <a:buFont typeface="Wingdings" panose="05000000000000000000" pitchFamily="2" charset="2"/>
              <a:buChar char="§"/>
            </a:pPr>
            <a:r>
              <a:rPr lang="en-US" b="0" dirty="0">
                <a:effectLst/>
                <a:latin typeface="Montserrat Medium" pitchFamily="50" charset="0"/>
              </a:rPr>
              <a:t>The next contribution is therefore motivated by two questions:</a:t>
            </a:r>
          </a:p>
          <a:p>
            <a:pPr marL="742950" lvl="1" indent="-285750" algn="just">
              <a:buFont typeface="Wingdings" panose="05000000000000000000" pitchFamily="2" charset="2"/>
              <a:buChar char="§"/>
            </a:pPr>
            <a:r>
              <a:rPr lang="en-US" b="0" dirty="0">
                <a:effectLst/>
                <a:latin typeface="Montserrat Medium" pitchFamily="50" charset="0"/>
              </a:rPr>
              <a:t>Which historical interactions actually drive a recommendation?</a:t>
            </a:r>
          </a:p>
          <a:p>
            <a:pPr marL="742950" lvl="1" indent="-285750" algn="just">
              <a:buFont typeface="Wingdings" panose="05000000000000000000" pitchFamily="2" charset="2"/>
              <a:buChar char="§"/>
            </a:pPr>
            <a:r>
              <a:rPr lang="en-US" b="0" dirty="0">
                <a:effectLst/>
                <a:latin typeface="Montserrat Medium" pitchFamily="50" charset="0"/>
              </a:rPr>
              <a:t>Can their influence be adjusted during recommendation generation rather than remaining fixed?</a:t>
            </a:r>
            <a:br>
              <a:rPr lang="en-US" b="0" dirty="0">
                <a:effectLst/>
                <a:latin typeface="Montserrat Medium" pitchFamily="50" charset="0"/>
              </a:rPr>
            </a:br>
            <a:endParaRPr lang="en-US" b="0" dirty="0">
              <a:effectLst/>
              <a:latin typeface="Montserrat Medium" pitchFamily="50" charset="0"/>
            </a:endParaRPr>
          </a:p>
        </p:txBody>
      </p:sp>
      <p:sp>
        <p:nvSpPr>
          <p:cNvPr id="32" name="Rectangle 31">
            <a:extLst>
              <a:ext uri="{FF2B5EF4-FFF2-40B4-BE49-F238E27FC236}">
                <a16:creationId xmlns:a16="http://schemas.microsoft.com/office/drawing/2014/main" id="{A8D14597-907D-4911-AFA7-CBCF20970A17}"/>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9CF81E7F-7AB8-4CBE-B9C7-E182A18219E1}"/>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BE81B5AD-09EF-4549-A5DB-BE8379E9832C}"/>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BF2DA43B-427C-4AD5-8F2A-D1509AD81CFC}"/>
              </a:ext>
            </a:extLst>
          </p:cNvPr>
          <p:cNvSpPr/>
          <p:nvPr/>
        </p:nvSpPr>
        <p:spPr>
          <a:xfrm>
            <a:off x="1869099" y="76192"/>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C4FE5264-9690-45AB-88AE-337A42C73ED9}"/>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64A2015B-4853-4EBE-8973-668BBD08004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6" name="Picture 55">
            <a:extLst>
              <a:ext uri="{FF2B5EF4-FFF2-40B4-BE49-F238E27FC236}">
                <a16:creationId xmlns:a16="http://schemas.microsoft.com/office/drawing/2014/main" id="{F5DECBD5-5E63-4126-A07E-8504D43F492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38" y="126067"/>
            <a:ext cx="385680" cy="385680"/>
          </a:xfrm>
          <a:prstGeom prst="rect">
            <a:avLst/>
          </a:prstGeom>
        </p:spPr>
      </p:pic>
      <p:pic>
        <p:nvPicPr>
          <p:cNvPr id="58" name="Picture 57">
            <a:extLst>
              <a:ext uri="{FF2B5EF4-FFF2-40B4-BE49-F238E27FC236}">
                <a16:creationId xmlns:a16="http://schemas.microsoft.com/office/drawing/2014/main" id="{B3159E78-6EEB-4EEE-B57F-3CE57175144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9" name="Picture 58">
            <a:extLst>
              <a:ext uri="{FF2B5EF4-FFF2-40B4-BE49-F238E27FC236}">
                <a16:creationId xmlns:a16="http://schemas.microsoft.com/office/drawing/2014/main" id="{37483C42-D6A4-4AF3-B9B8-286AB315C66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60" name="Picture 59">
            <a:extLst>
              <a:ext uri="{FF2B5EF4-FFF2-40B4-BE49-F238E27FC236}">
                <a16:creationId xmlns:a16="http://schemas.microsoft.com/office/drawing/2014/main" id="{0F802D40-12CF-4D89-A9DF-D1B2FBD40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1" name="Rectangle 60">
            <a:extLst>
              <a:ext uri="{FF2B5EF4-FFF2-40B4-BE49-F238E27FC236}">
                <a16:creationId xmlns:a16="http://schemas.microsoft.com/office/drawing/2014/main" id="{4C4FC5FD-7362-4D18-812D-09F71A5ABC54}"/>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95A8A1EB-9774-4464-9CBD-F2987231625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3" name="Rectangle 62">
            <a:extLst>
              <a:ext uri="{FF2B5EF4-FFF2-40B4-BE49-F238E27FC236}">
                <a16:creationId xmlns:a16="http://schemas.microsoft.com/office/drawing/2014/main" id="{A98848B1-F952-4371-829F-81816E6AD897}"/>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4" name="Picture 63">
            <a:extLst>
              <a:ext uri="{FF2B5EF4-FFF2-40B4-BE49-F238E27FC236}">
                <a16:creationId xmlns:a16="http://schemas.microsoft.com/office/drawing/2014/main" id="{05B3661D-DA3F-4838-B58C-5319766960B0}"/>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29" name="Picture 28">
            <a:extLst>
              <a:ext uri="{FF2B5EF4-FFF2-40B4-BE49-F238E27FC236}">
                <a16:creationId xmlns:a16="http://schemas.microsoft.com/office/drawing/2014/main" id="{3793C769-6517-462D-9AE5-FFF4A4A9CC44}"/>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129CC4AC-4E7D-477A-8D92-4BD58E74AFF6}"/>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90870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Montserrat Medium" pitchFamily="50" charset="0"/>
              </a:rPr>
              <a:t>Contribution II</a:t>
            </a:r>
          </a:p>
          <a:p>
            <a:pPr algn="ctr"/>
            <a:r>
              <a:rPr lang="en-US" sz="2400" dirty="0">
                <a:solidFill>
                  <a:schemeClr val="tx1"/>
                </a:solidFill>
                <a:latin typeface="Montserrat" pitchFamily="2" charset="0"/>
              </a:rPr>
              <a:t>Dynamic Recommender Systems with Real-time Shapley Value-based Contribution Adjustment</a:t>
            </a:r>
            <a:endParaRPr lang="en-US" sz="2400" b="1" dirty="0">
              <a:solidFill>
                <a:schemeClr val="tx1"/>
              </a:solidFill>
              <a:latin typeface="Montserrat" pitchFamily="2" charset="0"/>
            </a:endParaRP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12" name="Picture 11">
            <a:extLst>
              <a:ext uri="{FF2B5EF4-FFF2-40B4-BE49-F238E27FC236}">
                <a16:creationId xmlns:a16="http://schemas.microsoft.com/office/drawing/2014/main" id="{6F7A2139-CEDC-4A74-8EFD-98602709C00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13" name="Picture 12">
            <a:extLst>
              <a:ext uri="{FF2B5EF4-FFF2-40B4-BE49-F238E27FC236}">
                <a16:creationId xmlns:a16="http://schemas.microsoft.com/office/drawing/2014/main" id="{6AB4BEC6-2AE5-4B35-BF80-7E516452D89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710092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32" name="TextBox 31">
            <a:extLst>
              <a:ext uri="{FF2B5EF4-FFF2-40B4-BE49-F238E27FC236}">
                <a16:creationId xmlns:a16="http://schemas.microsoft.com/office/drawing/2014/main" id="{DDD7AEB2-5383-4B68-B733-E5577C2264D8}"/>
              </a:ext>
            </a:extLst>
          </p:cNvPr>
          <p:cNvSpPr txBox="1"/>
          <p:nvPr/>
        </p:nvSpPr>
        <p:spPr>
          <a:xfrm>
            <a:off x="199397" y="1225709"/>
            <a:ext cx="11232206" cy="2616101"/>
          </a:xfrm>
          <a:prstGeom prst="rect">
            <a:avLst/>
          </a:prstGeom>
          <a:noFill/>
        </p:spPr>
        <p:txBody>
          <a:bodyPr wrap="square">
            <a:spAutoFit/>
          </a:bodyPr>
          <a:lstStyle/>
          <a:p>
            <a:r>
              <a:rPr lang="en-US" sz="2000" b="1" dirty="0">
                <a:latin typeface="Montserrat Medium" pitchFamily="50" charset="0"/>
              </a:rPr>
              <a:t>Research Gap</a:t>
            </a:r>
          </a:p>
          <a:p>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Most recommender systems make two simplifying assumptions:</a:t>
            </a:r>
          </a:p>
          <a:p>
            <a:pPr marL="742950" lvl="1" indent="-285750" algn="just">
              <a:buFont typeface="Wingdings" panose="05000000000000000000" pitchFamily="2" charset="2"/>
              <a:buChar char="§"/>
            </a:pPr>
            <a:r>
              <a:rPr lang="en-US" dirty="0">
                <a:latin typeface="Montserrat Medium" pitchFamily="50" charset="0"/>
              </a:rPr>
              <a:t>User preferences remain stable</a:t>
            </a:r>
          </a:p>
          <a:p>
            <a:pPr marL="742950" lvl="1" indent="-285750" algn="just">
              <a:buFont typeface="Wingdings" panose="05000000000000000000" pitchFamily="2" charset="2"/>
              <a:buChar char="§"/>
            </a:pPr>
            <a:r>
              <a:rPr lang="en-US" dirty="0">
                <a:latin typeface="Montserrat Medium" pitchFamily="50" charset="0"/>
              </a:rPr>
              <a:t>All historical interactions have comparable relevance to the current recommendation.</a:t>
            </a:r>
          </a:p>
          <a:p>
            <a:pPr marL="285750" indent="-285750" algn="just">
              <a:buFont typeface="Wingdings" panose="05000000000000000000" pitchFamily="2" charset="2"/>
              <a:buChar char="§"/>
            </a:pPr>
            <a:r>
              <a:rPr lang="en-US" dirty="0">
                <a:latin typeface="Montserrat Medium" pitchFamily="50" charset="0"/>
              </a:rPr>
              <a:t>Adaptive methods often rely on heuristic weights without explaining their importance.</a:t>
            </a:r>
          </a:p>
          <a:p>
            <a:pPr marL="285750" indent="-285750" algn="just">
              <a:buFont typeface="Wingdings" panose="05000000000000000000" pitchFamily="2" charset="2"/>
              <a:buChar char="§"/>
            </a:pPr>
            <a:r>
              <a:rPr lang="en-US" dirty="0">
                <a:latin typeface="Montserrat Medium" pitchFamily="50" charset="0"/>
              </a:rPr>
              <a:t>Post-hoc explanations describe predictions without influencing them. </a:t>
            </a:r>
          </a:p>
          <a:p>
            <a:pPr marL="285750" indent="-285750">
              <a:buFont typeface="Wingdings" panose="05000000000000000000" pitchFamily="2" charset="2"/>
              <a:buChar char="§"/>
            </a:pPr>
            <a:endParaRPr lang="en-US" dirty="0">
              <a:latin typeface="Montserrat" pitchFamily="2" charset="0"/>
            </a:endParaRPr>
          </a:p>
          <a:p>
            <a:pPr marL="285750" indent="-285750">
              <a:buFont typeface="Wingdings" panose="05000000000000000000" pitchFamily="2" charset="2"/>
              <a:buChar char="§"/>
            </a:pPr>
            <a:r>
              <a:rPr lang="en-US" dirty="0">
                <a:latin typeface="Montserrat" pitchFamily="2" charset="0"/>
              </a:rPr>
              <a:t>Shapley values are normally used only for post-hoc explanation</a:t>
            </a:r>
          </a:p>
        </p:txBody>
      </p:sp>
      <p:graphicFrame>
        <p:nvGraphicFramePr>
          <p:cNvPr id="39" name="Table 7">
            <a:extLst>
              <a:ext uri="{FF2B5EF4-FFF2-40B4-BE49-F238E27FC236}">
                <a16:creationId xmlns:a16="http://schemas.microsoft.com/office/drawing/2014/main" id="{ADBA283A-C46F-4F6F-B141-D4E052EBD62C}"/>
              </a:ext>
            </a:extLst>
          </p:cNvPr>
          <p:cNvGraphicFramePr>
            <a:graphicFrameLocks noGrp="1"/>
          </p:cNvGraphicFramePr>
          <p:nvPr>
            <p:extLst>
              <p:ext uri="{D42A27DB-BD31-4B8C-83A1-F6EECF244321}">
                <p14:modId xmlns:p14="http://schemas.microsoft.com/office/powerpoint/2010/main" val="1387674556"/>
              </p:ext>
            </p:extLst>
          </p:nvPr>
        </p:nvGraphicFramePr>
        <p:xfrm>
          <a:off x="324921" y="3426247"/>
          <a:ext cx="11232206" cy="1676400"/>
        </p:xfrm>
        <a:graphic>
          <a:graphicData uri="http://schemas.openxmlformats.org/drawingml/2006/table">
            <a:tbl>
              <a:tblPr firstRow="1" bandRow="1">
                <a:tableStyleId>{21E4AEA4-8DFA-4A89-87EB-49C32662AFE0}</a:tableStyleId>
              </a:tblPr>
              <a:tblGrid>
                <a:gridCol w="11232206">
                  <a:extLst>
                    <a:ext uri="{9D8B030D-6E8A-4147-A177-3AD203B41FA5}">
                      <a16:colId xmlns:a16="http://schemas.microsoft.com/office/drawing/2014/main" val="138665945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ontserrat" pitchFamily="2" charset="0"/>
                        </a:rPr>
                        <a:t>Research Gap </a:t>
                      </a:r>
                    </a:p>
                  </a:txBody>
                  <a:tcPr/>
                </a:tc>
                <a:extLst>
                  <a:ext uri="{0D108BD9-81ED-4DB2-BD59-A6C34878D82A}">
                    <a16:rowId xmlns:a16="http://schemas.microsoft.com/office/drawing/2014/main" val="2958281240"/>
                  </a:ext>
                </a:extLst>
              </a:tr>
              <a:tr h="1151617">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a:latin typeface="Montserrat Medium" pitchFamily="50" charset="0"/>
                        </a:rPr>
                        <a:t>The absence of a unified, model-agnostic mechanism that quantifies interaction importance, uses it to adapt recommendations, and exposes it as an explanation. </a:t>
                      </a:r>
                    </a:p>
                    <a:p>
                      <a:endParaRPr lang="en-US" sz="2000" dirty="0">
                        <a:latin typeface="Montserrat" pitchFamily="2" charset="0"/>
                      </a:endParaRPr>
                    </a:p>
                  </a:txBody>
                  <a:tcPr/>
                </a:tc>
                <a:extLst>
                  <a:ext uri="{0D108BD9-81ED-4DB2-BD59-A6C34878D82A}">
                    <a16:rowId xmlns:a16="http://schemas.microsoft.com/office/drawing/2014/main" val="2059531609"/>
                  </a:ext>
                </a:extLst>
              </a:tr>
            </a:tbl>
          </a:graphicData>
        </a:graphic>
      </p:graphicFrame>
      <p:pic>
        <p:nvPicPr>
          <p:cNvPr id="40" name="Picture 39">
            <a:extLst>
              <a:ext uri="{FF2B5EF4-FFF2-40B4-BE49-F238E27FC236}">
                <a16:creationId xmlns:a16="http://schemas.microsoft.com/office/drawing/2014/main" id="{16917540-F16D-4C7F-B58B-79DAC52F2B9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41" name="Picture 40">
            <a:extLst>
              <a:ext uri="{FF2B5EF4-FFF2-40B4-BE49-F238E27FC236}">
                <a16:creationId xmlns:a16="http://schemas.microsoft.com/office/drawing/2014/main" id="{6F1957F2-C2B5-472B-BBC6-F0E63737ABCB}"/>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42" name="TextBox 41">
            <a:extLst>
              <a:ext uri="{FF2B5EF4-FFF2-40B4-BE49-F238E27FC236}">
                <a16:creationId xmlns:a16="http://schemas.microsoft.com/office/drawing/2014/main" id="{05327767-48C1-486D-B8F1-AB13D4C2D755}"/>
              </a:ext>
            </a:extLst>
          </p:cNvPr>
          <p:cNvSpPr txBox="1"/>
          <p:nvPr/>
        </p:nvSpPr>
        <p:spPr>
          <a:xfrm>
            <a:off x="199397" y="5709262"/>
            <a:ext cx="11899377" cy="553998"/>
          </a:xfrm>
          <a:prstGeom prst="rect">
            <a:avLst/>
          </a:prstGeom>
          <a:noFill/>
        </p:spPr>
        <p:txBody>
          <a:bodyPr wrap="square">
            <a:spAutoFit/>
          </a:bodyPr>
          <a:lstStyle/>
          <a:p>
            <a:r>
              <a:rPr lang="en-US" sz="1000" dirty="0">
                <a:latin typeface="Agency FB" panose="020B0503020202020204" pitchFamily="34" charset="0"/>
              </a:rPr>
              <a:t>[26] O. A. S. Ibrahim, E. M. G. Younis, E. A. Mohamed, and W. N. Ismail, "Revisiting Recommender Systems: An Investigative Survey," Neural Computing and Applications, vol. 37, pp. 2145–2173, 2025.  </a:t>
            </a:r>
          </a:p>
          <a:p>
            <a:r>
              <a:rPr lang="en-US" sz="1000" dirty="0">
                <a:latin typeface="Agency FB" panose="020B0503020202020204" pitchFamily="34" charset="0"/>
              </a:rPr>
              <a:t>[27] P. </a:t>
            </a:r>
            <a:r>
              <a:rPr lang="en-US" sz="1000" dirty="0" err="1">
                <a:latin typeface="Agency FB" panose="020B0503020202020204" pitchFamily="34" charset="0"/>
              </a:rPr>
              <a:t>Mateos</a:t>
            </a:r>
            <a:r>
              <a:rPr lang="en-US" sz="1000" dirty="0">
                <a:latin typeface="Agency FB" panose="020B0503020202020204" pitchFamily="34" charset="0"/>
              </a:rPr>
              <a:t> and A. </a:t>
            </a:r>
            <a:r>
              <a:rPr lang="en-US" sz="1000" dirty="0" err="1">
                <a:latin typeface="Agency FB" panose="020B0503020202020204" pitchFamily="34" charset="0"/>
              </a:rPr>
              <a:t>Bellogín</a:t>
            </a:r>
            <a:r>
              <a:rPr lang="en-US" sz="1000" dirty="0">
                <a:latin typeface="Agency FB" panose="020B0503020202020204" pitchFamily="34" charset="0"/>
              </a:rPr>
              <a:t>, "A Systematic Literature Review of Recent Advances on Context-Aware Recommender Systems," Artificial Intelligence Review, vol. 58, Art. no. 20, 2025.  </a:t>
            </a:r>
          </a:p>
          <a:p>
            <a:r>
              <a:rPr lang="en-US" sz="1000" dirty="0">
                <a:latin typeface="Agency FB" panose="020B0503020202020204" pitchFamily="34" charset="0"/>
              </a:rPr>
              <a:t>[28] X. Fan and Y. Ji, "A Dynamic Preference Recommendation Model Based on Spatiotemporal Knowledge Graphs," Complex &amp; Intelligent Systems, vol. 11, Art. no. 46, 2025.</a:t>
            </a:r>
          </a:p>
        </p:txBody>
      </p:sp>
    </p:spTree>
    <p:extLst>
      <p:ext uri="{BB962C8B-B14F-4D97-AF65-F5344CB8AC3E}">
        <p14:creationId xmlns:p14="http://schemas.microsoft.com/office/powerpoint/2010/main" val="40511113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40" name="TextBox 39">
            <a:extLst>
              <a:ext uri="{FF2B5EF4-FFF2-40B4-BE49-F238E27FC236}">
                <a16:creationId xmlns:a16="http://schemas.microsoft.com/office/drawing/2014/main" id="{E383ABED-B1AA-47D7-9FAD-9CD135E625F7}"/>
              </a:ext>
            </a:extLst>
          </p:cNvPr>
          <p:cNvSpPr txBox="1"/>
          <p:nvPr/>
        </p:nvSpPr>
        <p:spPr>
          <a:xfrm>
            <a:off x="233422" y="1381712"/>
            <a:ext cx="5656947" cy="400110"/>
          </a:xfrm>
          <a:prstGeom prst="rect">
            <a:avLst/>
          </a:prstGeom>
          <a:noFill/>
        </p:spPr>
        <p:txBody>
          <a:bodyPr wrap="square">
            <a:spAutoFit/>
          </a:bodyPr>
          <a:lstStyle/>
          <a:p>
            <a:r>
              <a:rPr lang="en-US" sz="2000" b="1" dirty="0">
                <a:latin typeface="Montserrat Medium" pitchFamily="50" charset="0"/>
              </a:rPr>
              <a:t>Research Questions → Objectives</a:t>
            </a:r>
          </a:p>
        </p:txBody>
      </p:sp>
      <p:graphicFrame>
        <p:nvGraphicFramePr>
          <p:cNvPr id="2" name="Table 1">
            <a:extLst>
              <a:ext uri="{FF2B5EF4-FFF2-40B4-BE49-F238E27FC236}">
                <a16:creationId xmlns:a16="http://schemas.microsoft.com/office/drawing/2014/main" id="{9169CA95-6E35-464F-8530-3F7F2DA5BCB1}"/>
              </a:ext>
            </a:extLst>
          </p:cNvPr>
          <p:cNvGraphicFramePr>
            <a:graphicFrameLocks noGrp="1"/>
          </p:cNvGraphicFramePr>
          <p:nvPr>
            <p:extLst>
              <p:ext uri="{D42A27DB-BD31-4B8C-83A1-F6EECF244321}">
                <p14:modId xmlns:p14="http://schemas.microsoft.com/office/powerpoint/2010/main" val="271859298"/>
              </p:ext>
            </p:extLst>
          </p:nvPr>
        </p:nvGraphicFramePr>
        <p:xfrm>
          <a:off x="426261" y="1906504"/>
          <a:ext cx="11557191" cy="4228214"/>
        </p:xfrm>
        <a:graphic>
          <a:graphicData uri="http://schemas.openxmlformats.org/drawingml/2006/table">
            <a:tbl>
              <a:tblPr>
                <a:tableStyleId>{BC89EF96-8CEA-46FF-86C4-4CE0E7609802}</a:tableStyleId>
              </a:tblPr>
              <a:tblGrid>
                <a:gridCol w="1229284">
                  <a:extLst>
                    <a:ext uri="{9D8B030D-6E8A-4147-A177-3AD203B41FA5}">
                      <a16:colId xmlns:a16="http://schemas.microsoft.com/office/drawing/2014/main" val="4290470176"/>
                    </a:ext>
                  </a:extLst>
                </a:gridCol>
                <a:gridCol w="5130266">
                  <a:extLst>
                    <a:ext uri="{9D8B030D-6E8A-4147-A177-3AD203B41FA5}">
                      <a16:colId xmlns:a16="http://schemas.microsoft.com/office/drawing/2014/main" val="2448348871"/>
                    </a:ext>
                  </a:extLst>
                </a:gridCol>
                <a:gridCol w="5197641">
                  <a:extLst>
                    <a:ext uri="{9D8B030D-6E8A-4147-A177-3AD203B41FA5}">
                      <a16:colId xmlns:a16="http://schemas.microsoft.com/office/drawing/2014/main" val="226939188"/>
                    </a:ext>
                  </a:extLst>
                </a:gridCol>
              </a:tblGrid>
              <a:tr h="305451">
                <a:tc>
                  <a:txBody>
                    <a:bodyPr/>
                    <a:lstStyle/>
                    <a:p>
                      <a:pPr algn="ctr"/>
                      <a:r>
                        <a:rPr lang="en-US" sz="1600" b="1">
                          <a:latin typeface="Montserrat Medium" pitchFamily="50" charset="0"/>
                        </a:rPr>
                        <a:t>ID</a:t>
                      </a:r>
                    </a:p>
                  </a:txBody>
                  <a:tcPr marL="80580" marR="80580" marT="40290" marB="40290" anchor="ctr"/>
                </a:tc>
                <a:tc>
                  <a:txBody>
                    <a:bodyPr/>
                    <a:lstStyle/>
                    <a:p>
                      <a:pPr algn="ctr"/>
                      <a:r>
                        <a:rPr lang="en-US" sz="1600" b="1">
                          <a:latin typeface="Montserrat Medium" pitchFamily="50" charset="0"/>
                        </a:rPr>
                        <a:t>Research Question</a:t>
                      </a:r>
                    </a:p>
                  </a:txBody>
                  <a:tcPr marL="80580" marR="80580" marT="40290" marB="40290" anchor="ctr"/>
                </a:tc>
                <a:tc>
                  <a:txBody>
                    <a:bodyPr/>
                    <a:lstStyle/>
                    <a:p>
                      <a:pPr algn="ctr"/>
                      <a:r>
                        <a:rPr lang="en-US" sz="1600" b="1" dirty="0">
                          <a:latin typeface="Montserrat Medium" pitchFamily="50" charset="0"/>
                        </a:rPr>
                        <a:t>Objective</a:t>
                      </a:r>
                    </a:p>
                  </a:txBody>
                  <a:tcPr marL="80580" marR="80580" marT="40290" marB="40290" anchor="ctr"/>
                </a:tc>
                <a:extLst>
                  <a:ext uri="{0D108BD9-81ED-4DB2-BD59-A6C34878D82A}">
                    <a16:rowId xmlns:a16="http://schemas.microsoft.com/office/drawing/2014/main" val="3618495028"/>
                  </a:ext>
                </a:extLst>
              </a:tr>
              <a:tr h="994200">
                <a:tc>
                  <a:txBody>
                    <a:bodyPr/>
                    <a:lstStyle/>
                    <a:p>
                      <a:pPr algn="ctr"/>
                      <a:r>
                        <a:rPr lang="en-US" sz="1600" b="1" dirty="0">
                          <a:latin typeface="Montserrat Medium" pitchFamily="50" charset="0"/>
                        </a:rPr>
                        <a:t>RQ2.1</a:t>
                      </a:r>
                    </a:p>
                  </a:txBody>
                  <a:tcPr marL="80580" marR="80580" marT="40290" marB="40290" anchor="ctr"/>
                </a:tc>
                <a:tc>
                  <a:txBody>
                    <a:bodyPr/>
                    <a:lstStyle/>
                    <a:p>
                      <a:pPr algn="just"/>
                      <a:r>
                        <a:rPr lang="en-US" sz="1600">
                          <a:latin typeface="Montserrat Medium" pitchFamily="50" charset="0"/>
                        </a:rPr>
                        <a:t>Can Shapley values quantify each interaction’s contribution to a recommendation?</a:t>
                      </a:r>
                    </a:p>
                  </a:txBody>
                  <a:tcPr marL="80580" marR="80580" marT="40290" marB="40290" anchor="ctr"/>
                </a:tc>
                <a:tc>
                  <a:txBody>
                    <a:bodyPr/>
                    <a:lstStyle/>
                    <a:p>
                      <a:pPr algn="just"/>
                      <a:r>
                        <a:rPr lang="en-US" sz="1600">
                          <a:latin typeface="Montserrat Medium" pitchFamily="50" charset="0"/>
                        </a:rPr>
                        <a:t>Model interactions as cooperative-game players using recommendation score as the value function.</a:t>
                      </a:r>
                    </a:p>
                  </a:txBody>
                  <a:tcPr marL="80580" marR="80580" marT="40290" marB="40290" anchor="ctr"/>
                </a:tc>
                <a:extLst>
                  <a:ext uri="{0D108BD9-81ED-4DB2-BD59-A6C34878D82A}">
                    <a16:rowId xmlns:a16="http://schemas.microsoft.com/office/drawing/2014/main" val="463901998"/>
                  </a:ext>
                </a:extLst>
              </a:tr>
              <a:tr h="764617">
                <a:tc>
                  <a:txBody>
                    <a:bodyPr/>
                    <a:lstStyle/>
                    <a:p>
                      <a:pPr algn="ctr"/>
                      <a:r>
                        <a:rPr lang="en-US" sz="1600" b="1" dirty="0">
                          <a:latin typeface="Montserrat Medium" pitchFamily="50" charset="0"/>
                        </a:rPr>
                        <a:t>RQ2.2</a:t>
                      </a:r>
                    </a:p>
                  </a:txBody>
                  <a:tcPr marL="80580" marR="80580" marT="40290" marB="40290" anchor="ctr"/>
                </a:tc>
                <a:tc>
                  <a:txBody>
                    <a:bodyPr/>
                    <a:lstStyle/>
                    <a:p>
                      <a:pPr algn="just"/>
                      <a:r>
                        <a:rPr lang="en-US" sz="1600">
                          <a:latin typeface="Montserrat Medium" pitchFamily="50" charset="0"/>
                        </a:rPr>
                        <a:t>Does Shapley-based reweighting improve top-10 ranking across models and datasets?</a:t>
                      </a:r>
                    </a:p>
                  </a:txBody>
                  <a:tcPr marL="80580" marR="80580" marT="40290" marB="40290" anchor="ctr"/>
                </a:tc>
                <a:tc>
                  <a:txBody>
                    <a:bodyPr/>
                    <a:lstStyle/>
                    <a:p>
                      <a:pPr algn="just"/>
                      <a:r>
                        <a:rPr lang="en-US" sz="1600">
                          <a:latin typeface="Montserrat Medium" pitchFamily="50" charset="0"/>
                        </a:rPr>
                        <a:t>Apply adaptive weights to UBCF, IBCF, MF, and NCF on MovieLens-1M and Amazon Reviews.</a:t>
                      </a:r>
                    </a:p>
                  </a:txBody>
                  <a:tcPr marL="80580" marR="80580" marT="40290" marB="40290" anchor="ctr"/>
                </a:tc>
                <a:extLst>
                  <a:ext uri="{0D108BD9-81ED-4DB2-BD59-A6C34878D82A}">
                    <a16:rowId xmlns:a16="http://schemas.microsoft.com/office/drawing/2014/main" val="23471041"/>
                  </a:ext>
                </a:extLst>
              </a:tr>
              <a:tr h="764617">
                <a:tc>
                  <a:txBody>
                    <a:bodyPr/>
                    <a:lstStyle/>
                    <a:p>
                      <a:pPr algn="ctr"/>
                      <a:r>
                        <a:rPr lang="en-US" sz="1600" b="1" dirty="0">
                          <a:latin typeface="Montserrat Medium" pitchFamily="50" charset="0"/>
                        </a:rPr>
                        <a:t>RQ2.3</a:t>
                      </a:r>
                    </a:p>
                  </a:txBody>
                  <a:tcPr marL="80580" marR="80580" marT="40290" marB="40290" anchor="ctr"/>
                </a:tc>
                <a:tc>
                  <a:txBody>
                    <a:bodyPr/>
                    <a:lstStyle/>
                    <a:p>
                      <a:pPr algn="just"/>
                      <a:r>
                        <a:rPr lang="en-US" sz="1600">
                          <a:latin typeface="Montserrat Medium" pitchFamily="50" charset="0"/>
                        </a:rPr>
                        <a:t>Can contribution scores both adjust and explain recommendations?</a:t>
                      </a:r>
                    </a:p>
                  </a:txBody>
                  <a:tcPr marL="80580" marR="80580" marT="40290" marB="40290" anchor="ctr"/>
                </a:tc>
                <a:tc>
                  <a:txBody>
                    <a:bodyPr/>
                    <a:lstStyle/>
                    <a:p>
                      <a:pPr algn="just"/>
                      <a:r>
                        <a:rPr lang="en-US" sz="1600">
                          <a:latin typeface="Montserrat Medium" pitchFamily="50" charset="0"/>
                        </a:rPr>
                        <a:t>Use Shapley values to reweight recommendations and identify influential interactions.</a:t>
                      </a:r>
                    </a:p>
                  </a:txBody>
                  <a:tcPr marL="80580" marR="80580" marT="40290" marB="40290" anchor="ctr"/>
                </a:tc>
                <a:extLst>
                  <a:ext uri="{0D108BD9-81ED-4DB2-BD59-A6C34878D82A}">
                    <a16:rowId xmlns:a16="http://schemas.microsoft.com/office/drawing/2014/main" val="3983700720"/>
                  </a:ext>
                </a:extLst>
              </a:tr>
              <a:tr h="535034">
                <a:tc>
                  <a:txBody>
                    <a:bodyPr/>
                    <a:lstStyle/>
                    <a:p>
                      <a:pPr algn="ctr"/>
                      <a:r>
                        <a:rPr lang="en-US" sz="1600" b="1" dirty="0">
                          <a:latin typeface="Montserrat Medium" pitchFamily="50" charset="0"/>
                        </a:rPr>
                        <a:t>RQ2.4</a:t>
                      </a:r>
                    </a:p>
                  </a:txBody>
                  <a:tcPr marL="80580" marR="80580" marT="40290" marB="40290" anchor="ctr"/>
                </a:tc>
                <a:tc>
                  <a:txBody>
                    <a:bodyPr/>
                    <a:lstStyle/>
                    <a:p>
                      <a:pPr algn="just"/>
                      <a:r>
                        <a:rPr lang="en-US" sz="1600">
                          <a:latin typeface="Montserrat Medium" pitchFamily="50" charset="0"/>
                        </a:rPr>
                        <a:t>Do performance gains justify the computational cost?</a:t>
                      </a:r>
                    </a:p>
                  </a:txBody>
                  <a:tcPr marL="80580" marR="80580" marT="40290" marB="40290" anchor="ctr"/>
                </a:tc>
                <a:tc>
                  <a:txBody>
                    <a:bodyPr/>
                    <a:lstStyle/>
                    <a:p>
                      <a:pPr algn="just"/>
                      <a:r>
                        <a:rPr lang="en-US" sz="1600">
                          <a:latin typeface="Montserrat Medium" pitchFamily="50" charset="0"/>
                        </a:rPr>
                        <a:t>Compare runtime, memory use, and cost–benefit trade-offs.</a:t>
                      </a:r>
                    </a:p>
                  </a:txBody>
                  <a:tcPr marL="80580" marR="80580" marT="40290" marB="40290" anchor="ctr"/>
                </a:tc>
                <a:extLst>
                  <a:ext uri="{0D108BD9-81ED-4DB2-BD59-A6C34878D82A}">
                    <a16:rowId xmlns:a16="http://schemas.microsoft.com/office/drawing/2014/main" val="1301215879"/>
                  </a:ext>
                </a:extLst>
              </a:tr>
              <a:tr h="764617">
                <a:tc>
                  <a:txBody>
                    <a:bodyPr/>
                    <a:lstStyle/>
                    <a:p>
                      <a:pPr algn="ctr"/>
                      <a:r>
                        <a:rPr lang="en-US" sz="1600" b="1" dirty="0">
                          <a:latin typeface="Montserrat Medium" pitchFamily="50" charset="0"/>
                        </a:rPr>
                        <a:t>RQ2.5</a:t>
                      </a:r>
                    </a:p>
                  </a:txBody>
                  <a:tcPr marL="80580" marR="80580" marT="40290" marB="40290" anchor="ctr"/>
                </a:tc>
                <a:tc>
                  <a:txBody>
                    <a:bodyPr/>
                    <a:lstStyle/>
                    <a:p>
                      <a:pPr algn="just"/>
                      <a:r>
                        <a:rPr lang="en-US" sz="1600">
                          <a:latin typeface="Montserrat Medium" pitchFamily="50" charset="0"/>
                        </a:rPr>
                        <a:t>Does the study demonstrate long-term preference adaptation?</a:t>
                      </a:r>
                    </a:p>
                  </a:txBody>
                  <a:tcPr marL="80580" marR="80580" marT="40290" marB="40290" anchor="ctr"/>
                </a:tc>
                <a:tc>
                  <a:txBody>
                    <a:bodyPr/>
                    <a:lstStyle/>
                    <a:p>
                      <a:pPr algn="just"/>
                      <a:r>
                        <a:rPr lang="en-US" sz="1600" dirty="0">
                          <a:latin typeface="Montserrat Medium" pitchFamily="50" charset="0"/>
                        </a:rPr>
                        <a:t>Distinguish offline reweighting from streaming adaptation and limit the claim accordingly.</a:t>
                      </a:r>
                    </a:p>
                  </a:txBody>
                  <a:tcPr marL="80580" marR="80580" marT="40290" marB="40290" anchor="ctr"/>
                </a:tc>
                <a:extLst>
                  <a:ext uri="{0D108BD9-81ED-4DB2-BD59-A6C34878D82A}">
                    <a16:rowId xmlns:a16="http://schemas.microsoft.com/office/drawing/2014/main" val="2798810985"/>
                  </a:ext>
                </a:extLst>
              </a:tr>
            </a:tbl>
          </a:graphicData>
        </a:graphic>
      </p:graphicFrame>
      <p:sp>
        <p:nvSpPr>
          <p:cNvPr id="42" name="Rectangle 41">
            <a:extLst>
              <a:ext uri="{FF2B5EF4-FFF2-40B4-BE49-F238E27FC236}">
                <a16:creationId xmlns:a16="http://schemas.microsoft.com/office/drawing/2014/main" id="{41A8389B-B767-43FB-B53B-753D5FFCF01B}"/>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3" name="Rectangle 42">
            <a:extLst>
              <a:ext uri="{FF2B5EF4-FFF2-40B4-BE49-F238E27FC236}">
                <a16:creationId xmlns:a16="http://schemas.microsoft.com/office/drawing/2014/main" id="{23B5ADC3-9D56-4668-885D-2D12617DD216}"/>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12B0973A-DBDF-49C4-B806-4160F861B1FA}"/>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556F40CC-AFF9-4F05-8BC6-E0676658846C}"/>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8C3B6C80-B54E-4356-9AC7-1EB9A19121A5}"/>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49" name="Picture 48">
            <a:extLst>
              <a:ext uri="{FF2B5EF4-FFF2-40B4-BE49-F238E27FC236}">
                <a16:creationId xmlns:a16="http://schemas.microsoft.com/office/drawing/2014/main" id="{3C21A8DF-2903-477D-96AB-6F310FD9B6C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0" name="Picture 49">
            <a:extLst>
              <a:ext uri="{FF2B5EF4-FFF2-40B4-BE49-F238E27FC236}">
                <a16:creationId xmlns:a16="http://schemas.microsoft.com/office/drawing/2014/main" id="{AF8F9468-ACBD-4A5E-8D6E-DA99E177642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1" name="Picture 50">
            <a:extLst>
              <a:ext uri="{FF2B5EF4-FFF2-40B4-BE49-F238E27FC236}">
                <a16:creationId xmlns:a16="http://schemas.microsoft.com/office/drawing/2014/main" id="{6F008ABE-4073-4182-8E65-2D3B0E8331C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2" name="Picture 51">
            <a:extLst>
              <a:ext uri="{FF2B5EF4-FFF2-40B4-BE49-F238E27FC236}">
                <a16:creationId xmlns:a16="http://schemas.microsoft.com/office/drawing/2014/main" id="{62869F63-9321-46E8-845E-76C34E6846C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3" name="Picture 52">
            <a:extLst>
              <a:ext uri="{FF2B5EF4-FFF2-40B4-BE49-F238E27FC236}">
                <a16:creationId xmlns:a16="http://schemas.microsoft.com/office/drawing/2014/main" id="{00E75E7C-5DAE-4FF8-83B2-2A7F3572BA3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4" name="Rectangle 53">
            <a:extLst>
              <a:ext uri="{FF2B5EF4-FFF2-40B4-BE49-F238E27FC236}">
                <a16:creationId xmlns:a16="http://schemas.microsoft.com/office/drawing/2014/main" id="{4CE9A38A-0232-4493-90DA-8B122E37B99E}"/>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667DE2D2-2C9A-4A49-AB60-25F7C62E046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56" name="Rectangle 55">
            <a:extLst>
              <a:ext uri="{FF2B5EF4-FFF2-40B4-BE49-F238E27FC236}">
                <a16:creationId xmlns:a16="http://schemas.microsoft.com/office/drawing/2014/main" id="{7D1AB837-63E6-4E15-A0A4-4B90C6F5C768}"/>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7" name="Picture 56">
            <a:extLst>
              <a:ext uri="{FF2B5EF4-FFF2-40B4-BE49-F238E27FC236}">
                <a16:creationId xmlns:a16="http://schemas.microsoft.com/office/drawing/2014/main" id="{38190948-ED32-4A3F-AEEB-8146739A677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8" name="Picture 27">
            <a:extLst>
              <a:ext uri="{FF2B5EF4-FFF2-40B4-BE49-F238E27FC236}">
                <a16:creationId xmlns:a16="http://schemas.microsoft.com/office/drawing/2014/main" id="{92EB1D7B-4A53-440C-A6B2-D70EF770ACBF}"/>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30" name="Picture 29">
            <a:extLst>
              <a:ext uri="{FF2B5EF4-FFF2-40B4-BE49-F238E27FC236}">
                <a16:creationId xmlns:a16="http://schemas.microsoft.com/office/drawing/2014/main" id="{415D5276-866C-49D9-805D-BF1F0FB3A7E4}"/>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12385482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0288F160-0948-4259-B36B-6587FA49B9FC}"/>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6" name="TextBox 25">
            <a:extLst>
              <a:ext uri="{FF2B5EF4-FFF2-40B4-BE49-F238E27FC236}">
                <a16:creationId xmlns:a16="http://schemas.microsoft.com/office/drawing/2014/main" id="{12E794CF-6877-4E99-BAC1-39EB0372C6DF}"/>
              </a:ext>
            </a:extLst>
          </p:cNvPr>
          <p:cNvSpPr txBox="1"/>
          <p:nvPr/>
        </p:nvSpPr>
        <p:spPr>
          <a:xfrm>
            <a:off x="129299" y="1310378"/>
            <a:ext cx="6102416" cy="400110"/>
          </a:xfrm>
          <a:prstGeom prst="rect">
            <a:avLst/>
          </a:prstGeom>
          <a:noFill/>
        </p:spPr>
        <p:txBody>
          <a:bodyPr wrap="square">
            <a:spAutoFit/>
          </a:bodyPr>
          <a:lstStyle/>
          <a:p>
            <a:r>
              <a:rPr lang="en-US" sz="2000" b="1" dirty="0">
                <a:latin typeface="Montserrat Medium" pitchFamily="50" charset="0"/>
              </a:rPr>
              <a:t>Architecture Walkthrough</a:t>
            </a:r>
          </a:p>
        </p:txBody>
      </p:sp>
      <p:pic>
        <p:nvPicPr>
          <p:cNvPr id="5" name="Picture 4">
            <a:extLst>
              <a:ext uri="{FF2B5EF4-FFF2-40B4-BE49-F238E27FC236}">
                <a16:creationId xmlns:a16="http://schemas.microsoft.com/office/drawing/2014/main" id="{0DF7E278-90E2-4D6A-871F-C68F987F1B61}"/>
              </a:ext>
            </a:extLst>
          </p:cNvPr>
          <p:cNvPicPr>
            <a:picLocks noChangeAspect="1"/>
          </p:cNvPicPr>
          <p:nvPr/>
        </p:nvPicPr>
        <p:blipFill rotWithShape="1">
          <a:blip r:embed="rId4">
            <a:extLst>
              <a:ext uri="{28A0092B-C50C-407E-A947-70E740481C1C}">
                <a14:useLocalDpi xmlns:a14="http://schemas.microsoft.com/office/drawing/2010/main" val="0"/>
              </a:ext>
            </a:extLst>
          </a:blip>
          <a:srcRect l="2" t="17335" r="-547" b="3682"/>
          <a:stretch/>
        </p:blipFill>
        <p:spPr>
          <a:xfrm>
            <a:off x="251229" y="2132623"/>
            <a:ext cx="11861800" cy="3414999"/>
          </a:xfrm>
          <a:prstGeom prst="rect">
            <a:avLst/>
          </a:prstGeom>
        </p:spPr>
      </p:pic>
      <p:sp>
        <p:nvSpPr>
          <p:cNvPr id="33" name="Rectangle 32">
            <a:extLst>
              <a:ext uri="{FF2B5EF4-FFF2-40B4-BE49-F238E27FC236}">
                <a16:creationId xmlns:a16="http://schemas.microsoft.com/office/drawing/2014/main" id="{7488BD13-8EC5-40B8-9491-013B0FAC6088}"/>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BC22F8BE-C116-4B3D-8745-3C5900C21AF0}"/>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00807101-C168-41B7-9764-9EE889FD9C07}"/>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ED0C3F05-007E-4388-8926-296A26A27230}"/>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23DC342B-ADA1-4C79-B5A0-0E74A103BAD1}"/>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848414F1-AA4C-44B0-80FC-C357F7CC4E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6" name="Picture 55">
            <a:extLst>
              <a:ext uri="{FF2B5EF4-FFF2-40B4-BE49-F238E27FC236}">
                <a16:creationId xmlns:a16="http://schemas.microsoft.com/office/drawing/2014/main" id="{C4073476-9576-49A4-8B07-EE9AF3CF51E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7" name="Picture 56">
            <a:extLst>
              <a:ext uri="{FF2B5EF4-FFF2-40B4-BE49-F238E27FC236}">
                <a16:creationId xmlns:a16="http://schemas.microsoft.com/office/drawing/2014/main" id="{1B7E91D5-5772-48C3-BBAA-B86DDC4096C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8" name="Picture 57">
            <a:extLst>
              <a:ext uri="{FF2B5EF4-FFF2-40B4-BE49-F238E27FC236}">
                <a16:creationId xmlns:a16="http://schemas.microsoft.com/office/drawing/2014/main" id="{1CDB132D-A6B5-4504-89D7-BC370965334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9" name="Picture 58">
            <a:extLst>
              <a:ext uri="{FF2B5EF4-FFF2-40B4-BE49-F238E27FC236}">
                <a16:creationId xmlns:a16="http://schemas.microsoft.com/office/drawing/2014/main" id="{0C200315-586A-4E31-9024-7B8B15FA995D}"/>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0" name="Rectangle 59">
            <a:extLst>
              <a:ext uri="{FF2B5EF4-FFF2-40B4-BE49-F238E27FC236}">
                <a16:creationId xmlns:a16="http://schemas.microsoft.com/office/drawing/2014/main" id="{2A633DF6-C02B-4442-B521-B4665710D92A}"/>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04A76C30-CF00-4E50-8D95-C7269F4EABC7}"/>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2" name="Rectangle 61">
            <a:extLst>
              <a:ext uri="{FF2B5EF4-FFF2-40B4-BE49-F238E27FC236}">
                <a16:creationId xmlns:a16="http://schemas.microsoft.com/office/drawing/2014/main" id="{0D06CB5D-046E-4AC9-A192-EBC42020572C}"/>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F15E06A2-1CE5-4A26-9FB3-BD6C3520023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30" name="Picture 29">
            <a:extLst>
              <a:ext uri="{FF2B5EF4-FFF2-40B4-BE49-F238E27FC236}">
                <a16:creationId xmlns:a16="http://schemas.microsoft.com/office/drawing/2014/main" id="{CB3D3111-7272-4298-9FB2-7226B806978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31" name="Picture 30">
            <a:extLst>
              <a:ext uri="{FF2B5EF4-FFF2-40B4-BE49-F238E27FC236}">
                <a16:creationId xmlns:a16="http://schemas.microsoft.com/office/drawing/2014/main" id="{0F9E7943-8EB2-436F-8AB9-31DFC17ACD06}"/>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473767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0288F160-0948-4259-B36B-6587FA49B9FC}"/>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6" name="TextBox 25">
            <a:extLst>
              <a:ext uri="{FF2B5EF4-FFF2-40B4-BE49-F238E27FC236}">
                <a16:creationId xmlns:a16="http://schemas.microsoft.com/office/drawing/2014/main" id="{12E794CF-6877-4E99-BAC1-39EB0372C6DF}"/>
              </a:ext>
            </a:extLst>
          </p:cNvPr>
          <p:cNvSpPr txBox="1"/>
          <p:nvPr/>
        </p:nvSpPr>
        <p:spPr>
          <a:xfrm>
            <a:off x="129299" y="1310378"/>
            <a:ext cx="6102416" cy="400110"/>
          </a:xfrm>
          <a:prstGeom prst="rect">
            <a:avLst/>
          </a:prstGeom>
          <a:noFill/>
        </p:spPr>
        <p:txBody>
          <a:bodyPr wrap="square">
            <a:spAutoFit/>
          </a:bodyPr>
          <a:lstStyle/>
          <a:p>
            <a:r>
              <a:rPr lang="en-US" sz="2000" b="1" dirty="0">
                <a:latin typeface="Montserrat Medium" pitchFamily="50" charset="0"/>
              </a:rPr>
              <a:t>Architecture Walkthrough</a:t>
            </a:r>
          </a:p>
        </p:txBody>
      </p:sp>
      <p:sp>
        <p:nvSpPr>
          <p:cNvPr id="33" name="Rectangle 32">
            <a:extLst>
              <a:ext uri="{FF2B5EF4-FFF2-40B4-BE49-F238E27FC236}">
                <a16:creationId xmlns:a16="http://schemas.microsoft.com/office/drawing/2014/main" id="{7488BD13-8EC5-40B8-9491-013B0FAC6088}"/>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BC22F8BE-C116-4B3D-8745-3C5900C21AF0}"/>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00807101-C168-41B7-9764-9EE889FD9C07}"/>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ED0C3F05-007E-4388-8926-296A26A27230}"/>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23DC342B-ADA1-4C79-B5A0-0E74A103BAD1}"/>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848414F1-AA4C-44B0-80FC-C357F7CC4E1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6" name="Picture 55">
            <a:extLst>
              <a:ext uri="{FF2B5EF4-FFF2-40B4-BE49-F238E27FC236}">
                <a16:creationId xmlns:a16="http://schemas.microsoft.com/office/drawing/2014/main" id="{C4073476-9576-49A4-8B07-EE9AF3CF51E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7" name="Picture 56">
            <a:extLst>
              <a:ext uri="{FF2B5EF4-FFF2-40B4-BE49-F238E27FC236}">
                <a16:creationId xmlns:a16="http://schemas.microsoft.com/office/drawing/2014/main" id="{1B7E91D5-5772-48C3-BBAA-B86DDC4096C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8" name="Picture 57">
            <a:extLst>
              <a:ext uri="{FF2B5EF4-FFF2-40B4-BE49-F238E27FC236}">
                <a16:creationId xmlns:a16="http://schemas.microsoft.com/office/drawing/2014/main" id="{1CDB132D-A6B5-4504-89D7-BC370965334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9" name="Picture 58">
            <a:extLst>
              <a:ext uri="{FF2B5EF4-FFF2-40B4-BE49-F238E27FC236}">
                <a16:creationId xmlns:a16="http://schemas.microsoft.com/office/drawing/2014/main" id="{0C200315-586A-4E31-9024-7B8B15FA995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0" name="Rectangle 59">
            <a:extLst>
              <a:ext uri="{FF2B5EF4-FFF2-40B4-BE49-F238E27FC236}">
                <a16:creationId xmlns:a16="http://schemas.microsoft.com/office/drawing/2014/main" id="{2A633DF6-C02B-4442-B521-B4665710D92A}"/>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04A76C30-CF00-4E50-8D95-C7269F4EABC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2" name="Rectangle 61">
            <a:extLst>
              <a:ext uri="{FF2B5EF4-FFF2-40B4-BE49-F238E27FC236}">
                <a16:creationId xmlns:a16="http://schemas.microsoft.com/office/drawing/2014/main" id="{0D06CB5D-046E-4AC9-A192-EBC42020572C}"/>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F15E06A2-1CE5-4A26-9FB3-BD6C3520023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30" name="Picture 29">
            <a:extLst>
              <a:ext uri="{FF2B5EF4-FFF2-40B4-BE49-F238E27FC236}">
                <a16:creationId xmlns:a16="http://schemas.microsoft.com/office/drawing/2014/main" id="{CB3D3111-7272-4298-9FB2-7226B806978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31" name="Picture 30">
            <a:extLst>
              <a:ext uri="{FF2B5EF4-FFF2-40B4-BE49-F238E27FC236}">
                <a16:creationId xmlns:a16="http://schemas.microsoft.com/office/drawing/2014/main" id="{0F9E7943-8EB2-436F-8AB9-31DFC17ACD0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27" name="Text 1">
            <a:extLst>
              <a:ext uri="{FF2B5EF4-FFF2-40B4-BE49-F238E27FC236}">
                <a16:creationId xmlns:a16="http://schemas.microsoft.com/office/drawing/2014/main" id="{7F2A678B-30AE-4A7F-8EED-6C8A56E84462}"/>
              </a:ext>
            </a:extLst>
          </p:cNvPr>
          <p:cNvSpPr/>
          <p:nvPr/>
        </p:nvSpPr>
        <p:spPr>
          <a:xfrm>
            <a:off x="304657" y="1888806"/>
            <a:ext cx="292608" cy="310896"/>
          </a:xfrm>
          <a:prstGeom prst="rect">
            <a:avLst/>
          </a:prstGeom>
          <a:noFill/>
          <a:ln/>
        </p:spPr>
        <p:txBody>
          <a:bodyPr wrap="square" lIns="0" tIns="0" rIns="0" bIns="0" rtlCol="0" anchor="ctr">
            <a:normAutofit fontScale="77500" lnSpcReduction="20000"/>
          </a:bodyPr>
          <a:lstStyle/>
          <a:p>
            <a:pPr marL="0" indent="0" algn="l">
              <a:buNone/>
            </a:pPr>
            <a:r>
              <a:rPr lang="en-US" sz="1750" dirty="0">
                <a:solidFill>
                  <a:srgbClr val="172033"/>
                </a:solidFill>
                <a:latin typeface="Montserrat Medium" pitchFamily="50" charset="0"/>
                <a:ea typeface="Aptos" pitchFamily="34" charset="-122"/>
                <a:cs typeface="Aptos" pitchFamily="34" charset="-120"/>
              </a:rPr>
              <a:t>Let</a:t>
            </a:r>
            <a:endParaRPr lang="en-US" sz="1750" dirty="0">
              <a:latin typeface="Montserrat Medium" pitchFamily="50" charset="0"/>
            </a:endParaRPr>
          </a:p>
        </p:txBody>
      </p:sp>
      <p:pic>
        <p:nvPicPr>
          <p:cNvPr id="28" name="Image 0" descr="/mnt/data/eq_interactions.png">
            <a:extLst>
              <a:ext uri="{FF2B5EF4-FFF2-40B4-BE49-F238E27FC236}">
                <a16:creationId xmlns:a16="http://schemas.microsoft.com/office/drawing/2014/main" id="{7677743B-9FD2-4E5C-A42A-C51746888A1A}"/>
              </a:ext>
            </a:extLst>
          </p:cNvPr>
          <p:cNvPicPr>
            <a:picLocks noChangeAspect="1"/>
          </p:cNvPicPr>
          <p:nvPr/>
        </p:nvPicPr>
        <p:blipFill>
          <a:blip r:embed="rId12"/>
          <a:stretch>
            <a:fillRect/>
          </a:stretch>
        </p:blipFill>
        <p:spPr>
          <a:xfrm>
            <a:off x="642985" y="1843086"/>
            <a:ext cx="2514600" cy="448056"/>
          </a:xfrm>
          <a:prstGeom prst="rect">
            <a:avLst/>
          </a:prstGeom>
        </p:spPr>
      </p:pic>
      <p:sp>
        <p:nvSpPr>
          <p:cNvPr id="29" name="Text 2">
            <a:extLst>
              <a:ext uri="{FF2B5EF4-FFF2-40B4-BE49-F238E27FC236}">
                <a16:creationId xmlns:a16="http://schemas.microsoft.com/office/drawing/2014/main" id="{23C8F9A0-543D-4DF5-8BC4-93F0A02389C9}"/>
              </a:ext>
            </a:extLst>
          </p:cNvPr>
          <p:cNvSpPr/>
          <p:nvPr/>
        </p:nvSpPr>
        <p:spPr>
          <a:xfrm>
            <a:off x="3230737" y="1888806"/>
            <a:ext cx="8183880" cy="310896"/>
          </a:xfrm>
          <a:prstGeom prst="rect">
            <a:avLst/>
          </a:prstGeom>
          <a:noFill/>
          <a:ln/>
        </p:spPr>
        <p:txBody>
          <a:bodyPr wrap="square" lIns="0" tIns="0" rIns="0" bIns="0" rtlCol="0" anchor="ctr">
            <a:normAutofit/>
          </a:bodyPr>
          <a:lstStyle/>
          <a:p>
            <a:pPr marL="0" indent="0" algn="l">
              <a:buNone/>
            </a:pPr>
            <a:r>
              <a:rPr lang="en-US" sz="1750" dirty="0">
                <a:solidFill>
                  <a:srgbClr val="172033"/>
                </a:solidFill>
                <a:latin typeface="Montserrat Medium" pitchFamily="50" charset="0"/>
                <a:ea typeface="Aptos" pitchFamily="34" charset="-122"/>
                <a:cs typeface="Aptos" pitchFamily="34" charset="-120"/>
              </a:rPr>
              <a:t>be user u’s historical interactions.  For candidate item j and coalition</a:t>
            </a:r>
            <a:endParaRPr lang="en-US" sz="1750" dirty="0">
              <a:latin typeface="Montserrat Medium" pitchFamily="50" charset="0"/>
            </a:endParaRPr>
          </a:p>
        </p:txBody>
      </p:sp>
      <p:pic>
        <p:nvPicPr>
          <p:cNvPr id="32" name="Image 1" descr="/mnt/data/eq_coalition.png">
            <a:extLst>
              <a:ext uri="{FF2B5EF4-FFF2-40B4-BE49-F238E27FC236}">
                <a16:creationId xmlns:a16="http://schemas.microsoft.com/office/drawing/2014/main" id="{6A8D908D-057B-4B3E-98E4-25066AC4EBC5}"/>
              </a:ext>
            </a:extLst>
          </p:cNvPr>
          <p:cNvPicPr>
            <a:picLocks noChangeAspect="1"/>
          </p:cNvPicPr>
          <p:nvPr/>
        </p:nvPicPr>
        <p:blipFill>
          <a:blip r:embed="rId13"/>
          <a:stretch>
            <a:fillRect/>
          </a:stretch>
        </p:blipFill>
        <p:spPr>
          <a:xfrm>
            <a:off x="10768098" y="1836094"/>
            <a:ext cx="1234440" cy="411480"/>
          </a:xfrm>
          <a:prstGeom prst="rect">
            <a:avLst/>
          </a:prstGeom>
        </p:spPr>
      </p:pic>
      <p:pic>
        <p:nvPicPr>
          <p:cNvPr id="40" name="Image 2" descr="/mnt/data/eq_value_function.png">
            <a:extLst>
              <a:ext uri="{FF2B5EF4-FFF2-40B4-BE49-F238E27FC236}">
                <a16:creationId xmlns:a16="http://schemas.microsoft.com/office/drawing/2014/main" id="{74D727ED-7A28-4A72-9C68-DF6F1975FC51}"/>
              </a:ext>
            </a:extLst>
          </p:cNvPr>
          <p:cNvPicPr>
            <a:picLocks noChangeAspect="1"/>
          </p:cNvPicPr>
          <p:nvPr/>
        </p:nvPicPr>
        <p:blipFill>
          <a:blip r:embed="rId14"/>
          <a:stretch>
            <a:fillRect/>
          </a:stretch>
        </p:blipFill>
        <p:spPr>
          <a:xfrm>
            <a:off x="4847923" y="2193652"/>
            <a:ext cx="1828800" cy="438912"/>
          </a:xfrm>
          <a:prstGeom prst="rect">
            <a:avLst/>
          </a:prstGeom>
        </p:spPr>
      </p:pic>
      <p:sp>
        <p:nvSpPr>
          <p:cNvPr id="41" name="Text 4">
            <a:extLst>
              <a:ext uri="{FF2B5EF4-FFF2-40B4-BE49-F238E27FC236}">
                <a16:creationId xmlns:a16="http://schemas.microsoft.com/office/drawing/2014/main" id="{36CC6C95-D7BD-4550-8A4A-AE93E46964D9}"/>
              </a:ext>
            </a:extLst>
          </p:cNvPr>
          <p:cNvSpPr/>
          <p:nvPr/>
        </p:nvSpPr>
        <p:spPr>
          <a:xfrm>
            <a:off x="304657" y="2697655"/>
            <a:ext cx="10881360" cy="411480"/>
          </a:xfrm>
          <a:prstGeom prst="rect">
            <a:avLst/>
          </a:prstGeom>
          <a:noFill/>
          <a:ln/>
        </p:spPr>
        <p:txBody>
          <a:bodyPr wrap="square" lIns="0" tIns="0" rIns="0" bIns="0" rtlCol="0" anchor="ctr">
            <a:normAutofit/>
          </a:bodyPr>
          <a:lstStyle/>
          <a:p>
            <a:pPr marL="0" indent="0" algn="l">
              <a:buNone/>
            </a:pPr>
            <a:r>
              <a:rPr lang="en-US" sz="1820" dirty="0">
                <a:solidFill>
                  <a:srgbClr val="172033"/>
                </a:solidFill>
                <a:latin typeface="Montserrat Medium" pitchFamily="50" charset="0"/>
                <a:ea typeface="Aptos" pitchFamily="34" charset="-122"/>
                <a:cs typeface="Aptos" pitchFamily="34" charset="-120"/>
              </a:rPr>
              <a:t>The Shapley value of interaction e is its expected marginal contribution over all coalitions:</a:t>
            </a:r>
            <a:endParaRPr lang="en-US" sz="1820" dirty="0">
              <a:latin typeface="Montserrat Medium" pitchFamily="50" charset="0"/>
            </a:endParaRPr>
          </a:p>
        </p:txBody>
      </p:sp>
      <p:pic>
        <p:nvPicPr>
          <p:cNvPr id="42" name="Image 3" descr="/mnt/data/eq_shapley_full.png">
            <a:extLst>
              <a:ext uri="{FF2B5EF4-FFF2-40B4-BE49-F238E27FC236}">
                <a16:creationId xmlns:a16="http://schemas.microsoft.com/office/drawing/2014/main" id="{DEB335FB-CC9F-4B79-9369-1DA2E346620B}"/>
              </a:ext>
            </a:extLst>
          </p:cNvPr>
          <p:cNvPicPr>
            <a:picLocks noChangeAspect="1"/>
          </p:cNvPicPr>
          <p:nvPr/>
        </p:nvPicPr>
        <p:blipFill>
          <a:blip r:embed="rId15"/>
          <a:stretch>
            <a:fillRect/>
          </a:stretch>
        </p:blipFill>
        <p:spPr>
          <a:xfrm>
            <a:off x="2735580" y="3149888"/>
            <a:ext cx="6720840" cy="914400"/>
          </a:xfrm>
          <a:prstGeom prst="rect">
            <a:avLst/>
          </a:prstGeom>
        </p:spPr>
      </p:pic>
      <p:pic>
        <p:nvPicPr>
          <p:cNvPr id="4" name="Picture 3">
            <a:extLst>
              <a:ext uri="{FF2B5EF4-FFF2-40B4-BE49-F238E27FC236}">
                <a16:creationId xmlns:a16="http://schemas.microsoft.com/office/drawing/2014/main" id="{428153A5-736A-44FF-BF9D-F22A14EDF699}"/>
              </a:ext>
            </a:extLst>
          </p:cNvPr>
          <p:cNvPicPr>
            <a:picLocks noChangeAspect="1"/>
          </p:cNvPicPr>
          <p:nvPr/>
        </p:nvPicPr>
        <p:blipFill>
          <a:blip r:embed="rId16"/>
          <a:stretch>
            <a:fillRect/>
          </a:stretch>
        </p:blipFill>
        <p:spPr>
          <a:xfrm>
            <a:off x="4020390" y="4505590"/>
            <a:ext cx="3447093" cy="523220"/>
          </a:xfrm>
          <a:prstGeom prst="rect">
            <a:avLst/>
          </a:prstGeom>
        </p:spPr>
      </p:pic>
      <p:sp>
        <p:nvSpPr>
          <p:cNvPr id="43" name="TextBox 42">
            <a:extLst>
              <a:ext uri="{FF2B5EF4-FFF2-40B4-BE49-F238E27FC236}">
                <a16:creationId xmlns:a16="http://schemas.microsoft.com/office/drawing/2014/main" id="{06620521-6686-4820-BF86-D5C795E2DAE1}"/>
              </a:ext>
            </a:extLst>
          </p:cNvPr>
          <p:cNvSpPr txBox="1"/>
          <p:nvPr/>
        </p:nvSpPr>
        <p:spPr>
          <a:xfrm>
            <a:off x="179193" y="4078118"/>
            <a:ext cx="11883508" cy="369332"/>
          </a:xfrm>
          <a:prstGeom prst="rect">
            <a:avLst/>
          </a:prstGeom>
          <a:noFill/>
        </p:spPr>
        <p:txBody>
          <a:bodyPr wrap="square">
            <a:spAutoFit/>
          </a:bodyPr>
          <a:lstStyle/>
          <a:p>
            <a:r>
              <a:rPr lang="en-US" sz="1800" b="0" i="0" u="none" strike="noStrike" baseline="0" dirty="0">
                <a:solidFill>
                  <a:srgbClr val="1A1A2E"/>
                </a:solidFill>
                <a:latin typeface="Montserrat Medium" pitchFamily="50" charset="0"/>
              </a:rPr>
              <a:t>Shapley scores become adaptive interaction weights:</a:t>
            </a:r>
            <a:endParaRPr lang="en-US" dirty="0">
              <a:latin typeface="Montserrat Medium" pitchFamily="50" charset="0"/>
            </a:endParaRPr>
          </a:p>
        </p:txBody>
      </p:sp>
      <p:sp>
        <p:nvSpPr>
          <p:cNvPr id="44" name="TextBox 43">
            <a:extLst>
              <a:ext uri="{FF2B5EF4-FFF2-40B4-BE49-F238E27FC236}">
                <a16:creationId xmlns:a16="http://schemas.microsoft.com/office/drawing/2014/main" id="{85F98C99-DB3C-49D7-BAB3-3D43D0AC1C00}"/>
              </a:ext>
            </a:extLst>
          </p:cNvPr>
          <p:cNvSpPr txBox="1"/>
          <p:nvPr/>
        </p:nvSpPr>
        <p:spPr>
          <a:xfrm>
            <a:off x="237245" y="5068343"/>
            <a:ext cx="11769116" cy="369332"/>
          </a:xfrm>
          <a:prstGeom prst="rect">
            <a:avLst/>
          </a:prstGeom>
          <a:noFill/>
        </p:spPr>
        <p:txBody>
          <a:bodyPr wrap="square">
            <a:spAutoFit/>
          </a:bodyPr>
          <a:lstStyle/>
          <a:p>
            <a:r>
              <a:rPr lang="en-US" dirty="0">
                <a:solidFill>
                  <a:srgbClr val="1A1A2E"/>
                </a:solidFill>
                <a:latin typeface="Montserrat Medium" pitchFamily="50" charset="0"/>
              </a:rPr>
              <a:t>A</a:t>
            </a:r>
            <a:r>
              <a:rPr lang="en-US" sz="1800" b="0" i="0" u="none" strike="noStrike" baseline="0" dirty="0">
                <a:solidFill>
                  <a:srgbClr val="1A1A2E"/>
                </a:solidFill>
                <a:latin typeface="Montserrat Medium" pitchFamily="50" charset="0"/>
              </a:rPr>
              <a:t>pplied directly inside the scoring rule of the base model, e.g. for user-based CF:</a:t>
            </a:r>
            <a:endParaRPr lang="en-US" dirty="0">
              <a:latin typeface="Montserrat Medium" pitchFamily="50" charset="0"/>
            </a:endParaRPr>
          </a:p>
        </p:txBody>
      </p:sp>
      <p:pic>
        <p:nvPicPr>
          <p:cNvPr id="10" name="Picture 9">
            <a:extLst>
              <a:ext uri="{FF2B5EF4-FFF2-40B4-BE49-F238E27FC236}">
                <a16:creationId xmlns:a16="http://schemas.microsoft.com/office/drawing/2014/main" id="{711DA009-38F6-4E18-B19E-4912A3781C2B}"/>
              </a:ext>
            </a:extLst>
          </p:cNvPr>
          <p:cNvPicPr>
            <a:picLocks noChangeAspect="1"/>
          </p:cNvPicPr>
          <p:nvPr/>
        </p:nvPicPr>
        <p:blipFill rotWithShape="1">
          <a:blip r:embed="rId17"/>
          <a:srcRect l="9061" t="14331" r="2457" b="19431"/>
          <a:stretch/>
        </p:blipFill>
        <p:spPr>
          <a:xfrm>
            <a:off x="3447289" y="5476765"/>
            <a:ext cx="5098220" cy="800755"/>
          </a:xfrm>
          <a:prstGeom prst="rect">
            <a:avLst/>
          </a:prstGeom>
        </p:spPr>
      </p:pic>
    </p:spTree>
    <p:extLst>
      <p:ext uri="{BB962C8B-B14F-4D97-AF65-F5344CB8AC3E}">
        <p14:creationId xmlns:p14="http://schemas.microsoft.com/office/powerpoint/2010/main" val="23053652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8F0C54BD-D8A0-48CE-BE94-80F322CD9B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6" name="TextBox 25">
            <a:extLst>
              <a:ext uri="{FF2B5EF4-FFF2-40B4-BE49-F238E27FC236}">
                <a16:creationId xmlns:a16="http://schemas.microsoft.com/office/drawing/2014/main" id="{2EA2F809-F36E-4607-93F0-B45BC57BE30D}"/>
              </a:ext>
            </a:extLst>
          </p:cNvPr>
          <p:cNvSpPr txBox="1"/>
          <p:nvPr/>
        </p:nvSpPr>
        <p:spPr>
          <a:xfrm>
            <a:off x="339452" y="1714052"/>
            <a:ext cx="11773577" cy="3785652"/>
          </a:xfrm>
          <a:prstGeom prst="rect">
            <a:avLst/>
          </a:prstGeom>
          <a:noFill/>
        </p:spPr>
        <p:txBody>
          <a:bodyPr wrap="square">
            <a:spAutoFit/>
          </a:bodyPr>
          <a:lstStyle/>
          <a:p>
            <a:r>
              <a:rPr lang="en-US" sz="2000" b="1" dirty="0">
                <a:effectLst/>
                <a:latin typeface="Montserrat Medium" pitchFamily="50" charset="0"/>
              </a:rPr>
              <a:t>Evaluation protocol</a:t>
            </a:r>
            <a:endParaRPr lang="en-US" sz="2000" b="1" dirty="0">
              <a:latin typeface="Montserrat Medium" pitchFamily="50" charset="0"/>
            </a:endParaRPr>
          </a:p>
          <a:p>
            <a:pPr algn="just"/>
            <a:endParaRPr lang="en-US" sz="2000" dirty="0">
              <a:solidFill>
                <a:srgbClr val="BBBEBF"/>
              </a:solidFill>
              <a:latin typeface="Consolas" panose="020B0609020204030204" pitchFamily="49" charset="0"/>
            </a:endParaRPr>
          </a:p>
          <a:p>
            <a:pPr marL="342900" indent="-342900" algn="just">
              <a:buFont typeface="Wingdings" panose="05000000000000000000" pitchFamily="2" charset="2"/>
              <a:buChar char="§"/>
            </a:pPr>
            <a:r>
              <a:rPr lang="en-US" b="1" dirty="0">
                <a:effectLst/>
                <a:latin typeface="Montserrat Medium" pitchFamily="50" charset="0"/>
              </a:rPr>
              <a:t>Datasets:</a:t>
            </a:r>
            <a:r>
              <a:rPr lang="en-US" b="0" dirty="0">
                <a:effectLst/>
                <a:latin typeface="Montserrat Medium" pitchFamily="50" charset="0"/>
              </a:rPr>
              <a:t> MovieLens-1M and Amazon Product Reviews.</a:t>
            </a:r>
          </a:p>
          <a:p>
            <a:pPr algn="just"/>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Task:</a:t>
            </a:r>
            <a:r>
              <a:rPr lang="en-US" b="0" dirty="0">
                <a:effectLst/>
                <a:latin typeface="Montserrat Medium" pitchFamily="50" charset="0"/>
              </a:rPr>
              <a:t> sampled-candidate top-10 recommendation.</a:t>
            </a:r>
          </a:p>
          <a:p>
            <a:pPr marL="342900" indent="-342900" algn="just">
              <a:buFont typeface="Wingdings" panose="05000000000000000000" pitchFamily="2" charset="2"/>
              <a:buChar char="§"/>
            </a:pPr>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Candidate set:</a:t>
            </a:r>
            <a:r>
              <a:rPr lang="en-US" b="0" dirty="0">
                <a:effectLst/>
                <a:latin typeface="Montserrat Medium" pitchFamily="50" charset="0"/>
              </a:rPr>
              <a:t> held-out positives plus 99 sampled unobserved items per user.</a:t>
            </a:r>
          </a:p>
          <a:p>
            <a:pPr marL="342900" indent="-342900" algn="just">
              <a:buFont typeface="Wingdings" panose="05000000000000000000" pitchFamily="2" charset="2"/>
              <a:buChar char="§"/>
            </a:pPr>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Metrics: </a:t>
            </a:r>
            <a:r>
              <a:rPr lang="en-US" b="0" dirty="0">
                <a:effectLst/>
                <a:latin typeface="Montserrat Medium" pitchFamily="50" charset="0"/>
              </a:rPr>
              <a:t>Precision@10, Recall@10, and F1@10.</a:t>
            </a:r>
          </a:p>
          <a:p>
            <a:pPr marL="342900" indent="-342900" algn="just">
              <a:buFont typeface="Wingdings" panose="05000000000000000000" pitchFamily="2" charset="2"/>
              <a:buChar char="§"/>
            </a:pPr>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Evidence limitation:</a:t>
            </a:r>
            <a:r>
              <a:rPr lang="en-US" b="0" dirty="0">
                <a:effectLst/>
                <a:latin typeface="Montserrat Medium" pitchFamily="50" charset="0"/>
              </a:rPr>
              <a:t> the main values are point estimates; complete multi-seed variance was not available.</a:t>
            </a:r>
          </a:p>
          <a:p>
            <a:pPr marL="285750" indent="-285750" algn="just">
              <a:buFont typeface="Wingdings" panose="05000000000000000000" pitchFamily="2" charset="2"/>
              <a:buChar char="§"/>
            </a:pPr>
            <a:endParaRPr lang="en-US" sz="2000" dirty="0">
              <a:latin typeface="Montserrat" pitchFamily="2" charset="0"/>
            </a:endParaRPr>
          </a:p>
        </p:txBody>
      </p:sp>
      <p:sp>
        <p:nvSpPr>
          <p:cNvPr id="33" name="Rectangle 32">
            <a:extLst>
              <a:ext uri="{FF2B5EF4-FFF2-40B4-BE49-F238E27FC236}">
                <a16:creationId xmlns:a16="http://schemas.microsoft.com/office/drawing/2014/main" id="{70EF26DE-4D49-496E-9F0E-AFD1222CB7D6}"/>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9FAD0715-DBF2-4842-A88A-AD965B319CB7}"/>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AC390CCB-98E5-4774-8E75-ADA511A2D75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C1913695-4DC7-437A-B0E9-24767CF9B80D}"/>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0FECCAC2-A185-4452-BE55-AEF4C56BE2D9}"/>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AAA77E77-674E-4593-966C-42A62B4EA69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6" name="Picture 55">
            <a:extLst>
              <a:ext uri="{FF2B5EF4-FFF2-40B4-BE49-F238E27FC236}">
                <a16:creationId xmlns:a16="http://schemas.microsoft.com/office/drawing/2014/main" id="{8BF5464E-C481-4CED-AE56-D9EF9EEF1BB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7" name="Picture 56">
            <a:extLst>
              <a:ext uri="{FF2B5EF4-FFF2-40B4-BE49-F238E27FC236}">
                <a16:creationId xmlns:a16="http://schemas.microsoft.com/office/drawing/2014/main" id="{28BBC7D7-D824-4A34-A369-586EE0AEAA4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8" name="Picture 57">
            <a:extLst>
              <a:ext uri="{FF2B5EF4-FFF2-40B4-BE49-F238E27FC236}">
                <a16:creationId xmlns:a16="http://schemas.microsoft.com/office/drawing/2014/main" id="{A3176D9F-630E-4359-A567-68613A54861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9" name="Picture 58">
            <a:extLst>
              <a:ext uri="{FF2B5EF4-FFF2-40B4-BE49-F238E27FC236}">
                <a16:creationId xmlns:a16="http://schemas.microsoft.com/office/drawing/2014/main" id="{04035D9B-D259-4844-A768-B30051A31AE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0" name="Rectangle 59">
            <a:extLst>
              <a:ext uri="{FF2B5EF4-FFF2-40B4-BE49-F238E27FC236}">
                <a16:creationId xmlns:a16="http://schemas.microsoft.com/office/drawing/2014/main" id="{0D0398C7-E86B-4C01-AB47-4DAD2A757714}"/>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B2940392-B7AE-4669-AB54-01817924BCE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2" name="Rectangle 61">
            <a:extLst>
              <a:ext uri="{FF2B5EF4-FFF2-40B4-BE49-F238E27FC236}">
                <a16:creationId xmlns:a16="http://schemas.microsoft.com/office/drawing/2014/main" id="{77C5262E-917E-4A88-8022-A961CED3EACB}"/>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8EAC05BA-D2F6-4F49-BCB7-4244ED6DF95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F900C5C9-1932-4A84-8C5D-E4714714F531}"/>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8A4FFD3C-D139-4EBE-B5B2-A3BE03CD566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3807048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8F0C54BD-D8A0-48CE-BE94-80F322CD9B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6" name="TextBox 25">
            <a:extLst>
              <a:ext uri="{FF2B5EF4-FFF2-40B4-BE49-F238E27FC236}">
                <a16:creationId xmlns:a16="http://schemas.microsoft.com/office/drawing/2014/main" id="{2EA2F809-F36E-4607-93F0-B45BC57BE30D}"/>
              </a:ext>
            </a:extLst>
          </p:cNvPr>
          <p:cNvSpPr txBox="1"/>
          <p:nvPr/>
        </p:nvSpPr>
        <p:spPr>
          <a:xfrm>
            <a:off x="129299" y="1583544"/>
            <a:ext cx="5656947" cy="4031873"/>
          </a:xfrm>
          <a:prstGeom prst="rect">
            <a:avLst/>
          </a:prstGeom>
          <a:noFill/>
        </p:spPr>
        <p:txBody>
          <a:bodyPr wrap="square">
            <a:spAutoFit/>
          </a:bodyPr>
          <a:lstStyle/>
          <a:p>
            <a:r>
              <a:rPr lang="en-US" sz="2000" b="1" dirty="0">
                <a:latin typeface="Montserrat Medium" pitchFamily="50" charset="0"/>
              </a:rPr>
              <a:t>Key results findings - </a:t>
            </a:r>
            <a:r>
              <a:rPr lang="en-US" sz="2000" b="1" dirty="0" err="1">
                <a:latin typeface="Montserrat Medium" pitchFamily="50" charset="0"/>
              </a:rPr>
              <a:t>Movielens</a:t>
            </a:r>
            <a:r>
              <a:rPr lang="en-US" sz="2000" b="1" dirty="0">
                <a:latin typeface="Montserrat Medium" pitchFamily="50" charset="0"/>
              </a:rPr>
              <a:t> 1M</a:t>
            </a:r>
          </a:p>
          <a:p>
            <a:pPr algn="just"/>
            <a:endParaRPr lang="en-US" dirty="0">
              <a:latin typeface="Montserrat" pitchFamily="2" charset="0"/>
            </a:endParaRPr>
          </a:p>
          <a:p>
            <a:pPr marL="285750" indent="-285750" algn="just">
              <a:buFont typeface="Wingdings" panose="05000000000000000000" pitchFamily="2" charset="2"/>
              <a:buChar char="§"/>
            </a:pPr>
            <a:r>
              <a:rPr lang="en-US" dirty="0">
                <a:latin typeface="Montserrat Medium" pitchFamily="50" charset="0"/>
              </a:rPr>
              <a:t>ASV (Adaptive Shapley Value) improves every baseline, confirming that contribution-aware weighting is broadly effective.</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ASV-MF achieves the best overall F1 score at 0.840, with a 9.4% improvement.</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ASV-NCF shows the smallest gain, suggesting limited improvement when the baseline is already strong.</a:t>
            </a:r>
          </a:p>
          <a:p>
            <a:endParaRPr lang="en-US" sz="2000" dirty="0">
              <a:latin typeface="Montserrat Medium" pitchFamily="50" charset="0"/>
            </a:endParaRPr>
          </a:p>
        </p:txBody>
      </p:sp>
      <p:graphicFrame>
        <p:nvGraphicFramePr>
          <p:cNvPr id="30" name="Table 29">
            <a:extLst>
              <a:ext uri="{FF2B5EF4-FFF2-40B4-BE49-F238E27FC236}">
                <a16:creationId xmlns:a16="http://schemas.microsoft.com/office/drawing/2014/main" id="{5969BB8B-31E0-45F6-9027-0D6197CA19A9}"/>
              </a:ext>
            </a:extLst>
          </p:cNvPr>
          <p:cNvGraphicFramePr>
            <a:graphicFrameLocks noGrp="1"/>
          </p:cNvGraphicFramePr>
          <p:nvPr>
            <p:extLst>
              <p:ext uri="{D42A27DB-BD31-4B8C-83A1-F6EECF244321}">
                <p14:modId xmlns:p14="http://schemas.microsoft.com/office/powerpoint/2010/main" val="3024204747"/>
              </p:ext>
            </p:extLst>
          </p:nvPr>
        </p:nvGraphicFramePr>
        <p:xfrm>
          <a:off x="6007608" y="2162838"/>
          <a:ext cx="6055093" cy="3017520"/>
        </p:xfrm>
        <a:graphic>
          <a:graphicData uri="http://schemas.openxmlformats.org/drawingml/2006/table">
            <a:tbl>
              <a:tblPr>
                <a:tableStyleId>{BC89EF96-8CEA-46FF-86C4-4CE0E7609802}</a:tableStyleId>
              </a:tblPr>
              <a:tblGrid>
                <a:gridCol w="1554971">
                  <a:extLst>
                    <a:ext uri="{9D8B030D-6E8A-4147-A177-3AD203B41FA5}">
                      <a16:colId xmlns:a16="http://schemas.microsoft.com/office/drawing/2014/main" val="4031512299"/>
                    </a:ext>
                  </a:extLst>
                </a:gridCol>
                <a:gridCol w="1574042">
                  <a:extLst>
                    <a:ext uri="{9D8B030D-6E8A-4147-A177-3AD203B41FA5}">
                      <a16:colId xmlns:a16="http://schemas.microsoft.com/office/drawing/2014/main" val="4059618190"/>
                    </a:ext>
                  </a:extLst>
                </a:gridCol>
                <a:gridCol w="1453415">
                  <a:extLst>
                    <a:ext uri="{9D8B030D-6E8A-4147-A177-3AD203B41FA5}">
                      <a16:colId xmlns:a16="http://schemas.microsoft.com/office/drawing/2014/main" val="879600396"/>
                    </a:ext>
                  </a:extLst>
                </a:gridCol>
                <a:gridCol w="1472665">
                  <a:extLst>
                    <a:ext uri="{9D8B030D-6E8A-4147-A177-3AD203B41FA5}">
                      <a16:colId xmlns:a16="http://schemas.microsoft.com/office/drawing/2014/main" val="3457915157"/>
                    </a:ext>
                  </a:extLst>
                </a:gridCol>
              </a:tblGrid>
              <a:tr h="0">
                <a:tc>
                  <a:txBody>
                    <a:bodyPr/>
                    <a:lstStyle/>
                    <a:p>
                      <a:pPr algn="ctr"/>
                      <a:r>
                        <a:rPr lang="en-US" sz="1600" b="1" dirty="0">
                          <a:latin typeface="Montserrat Medium" pitchFamily="50" charset="0"/>
                        </a:rPr>
                        <a:t>Model</a:t>
                      </a:r>
                    </a:p>
                  </a:txBody>
                  <a:tcPr anchor="ctr"/>
                </a:tc>
                <a:tc>
                  <a:txBody>
                    <a:bodyPr/>
                    <a:lstStyle/>
                    <a:p>
                      <a:pPr algn="ctr"/>
                      <a:r>
                        <a:rPr lang="en-US" sz="1600" b="1" dirty="0">
                          <a:latin typeface="Montserrat Medium" pitchFamily="50" charset="0"/>
                        </a:rPr>
                        <a:t>Precision@10</a:t>
                      </a:r>
                    </a:p>
                  </a:txBody>
                  <a:tcPr anchor="ctr"/>
                </a:tc>
                <a:tc>
                  <a:txBody>
                    <a:bodyPr/>
                    <a:lstStyle/>
                    <a:p>
                      <a:pPr algn="ctr"/>
                      <a:r>
                        <a:rPr lang="en-US" sz="1600" b="1" dirty="0">
                          <a:latin typeface="Montserrat Medium" pitchFamily="50" charset="0"/>
                        </a:rPr>
                        <a:t>Recall@10</a:t>
                      </a:r>
                    </a:p>
                  </a:txBody>
                  <a:tcPr anchor="ctr"/>
                </a:tc>
                <a:tc>
                  <a:txBody>
                    <a:bodyPr/>
                    <a:lstStyle/>
                    <a:p>
                      <a:pPr algn="ctr"/>
                      <a:r>
                        <a:rPr lang="en-US" sz="1600" b="1" dirty="0">
                          <a:latin typeface="Montserrat Medium" pitchFamily="50" charset="0"/>
                        </a:rPr>
                        <a:t>F1@10</a:t>
                      </a:r>
                    </a:p>
                  </a:txBody>
                  <a:tcPr anchor="ctr"/>
                </a:tc>
                <a:extLst>
                  <a:ext uri="{0D108BD9-81ED-4DB2-BD59-A6C34878D82A}">
                    <a16:rowId xmlns:a16="http://schemas.microsoft.com/office/drawing/2014/main" val="3509584005"/>
                  </a:ext>
                </a:extLst>
              </a:tr>
              <a:tr h="0">
                <a:tc>
                  <a:txBody>
                    <a:bodyPr/>
                    <a:lstStyle/>
                    <a:p>
                      <a:pPr algn="just"/>
                      <a:r>
                        <a:rPr lang="en-US" sz="1600" dirty="0">
                          <a:latin typeface="Montserrat Medium" pitchFamily="50" charset="0"/>
                        </a:rPr>
                        <a:t>UBCF</a:t>
                      </a:r>
                    </a:p>
                  </a:txBody>
                  <a:tcPr anchor="ctr"/>
                </a:tc>
                <a:tc>
                  <a:txBody>
                    <a:bodyPr/>
                    <a:lstStyle/>
                    <a:p>
                      <a:pPr algn="just"/>
                      <a:r>
                        <a:rPr lang="en-US" sz="1600" dirty="0">
                          <a:latin typeface="Montserrat Medium" pitchFamily="50" charset="0"/>
                        </a:rPr>
                        <a:t>0.750</a:t>
                      </a:r>
                    </a:p>
                  </a:txBody>
                  <a:tcPr anchor="ctr"/>
                </a:tc>
                <a:tc>
                  <a:txBody>
                    <a:bodyPr/>
                    <a:lstStyle/>
                    <a:p>
                      <a:pPr algn="just"/>
                      <a:r>
                        <a:rPr lang="en-US" sz="1600" dirty="0">
                          <a:latin typeface="Montserrat Medium" pitchFamily="50" charset="0"/>
                        </a:rPr>
                        <a:t>0.650</a:t>
                      </a:r>
                    </a:p>
                  </a:txBody>
                  <a:tcPr anchor="ctr"/>
                </a:tc>
                <a:tc>
                  <a:txBody>
                    <a:bodyPr/>
                    <a:lstStyle/>
                    <a:p>
                      <a:pPr algn="just"/>
                      <a:r>
                        <a:rPr lang="en-US" sz="1600" dirty="0">
                          <a:latin typeface="Montserrat Medium" pitchFamily="50" charset="0"/>
                        </a:rPr>
                        <a:t>0.696</a:t>
                      </a:r>
                    </a:p>
                  </a:txBody>
                  <a:tcPr anchor="ctr"/>
                </a:tc>
                <a:extLst>
                  <a:ext uri="{0D108BD9-81ED-4DB2-BD59-A6C34878D82A}">
                    <a16:rowId xmlns:a16="http://schemas.microsoft.com/office/drawing/2014/main" val="1914027214"/>
                  </a:ext>
                </a:extLst>
              </a:tr>
              <a:tr h="0">
                <a:tc>
                  <a:txBody>
                    <a:bodyPr/>
                    <a:lstStyle/>
                    <a:p>
                      <a:pPr algn="just"/>
                      <a:r>
                        <a:rPr lang="en-US" sz="1600" b="1" dirty="0">
                          <a:latin typeface="Montserrat Medium" pitchFamily="50" charset="0"/>
                        </a:rPr>
                        <a:t>ASV-UBCF</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0.820</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0.709</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0.760</a:t>
                      </a:r>
                      <a:endParaRPr lang="en-US" sz="1600" dirty="0">
                        <a:latin typeface="Montserrat Medium" pitchFamily="50" charset="0"/>
                      </a:endParaRPr>
                    </a:p>
                  </a:txBody>
                  <a:tcPr anchor="ctr"/>
                </a:tc>
                <a:extLst>
                  <a:ext uri="{0D108BD9-81ED-4DB2-BD59-A6C34878D82A}">
                    <a16:rowId xmlns:a16="http://schemas.microsoft.com/office/drawing/2014/main" val="1063322136"/>
                  </a:ext>
                </a:extLst>
              </a:tr>
              <a:tr h="0">
                <a:tc>
                  <a:txBody>
                    <a:bodyPr/>
                    <a:lstStyle/>
                    <a:p>
                      <a:pPr algn="just"/>
                      <a:r>
                        <a:rPr lang="en-US" sz="1600">
                          <a:latin typeface="Montserrat Medium" pitchFamily="50" charset="0"/>
                        </a:rPr>
                        <a:t>IBCF</a:t>
                      </a:r>
                    </a:p>
                  </a:txBody>
                  <a:tcPr anchor="ctr"/>
                </a:tc>
                <a:tc>
                  <a:txBody>
                    <a:bodyPr/>
                    <a:lstStyle/>
                    <a:p>
                      <a:pPr algn="just"/>
                      <a:r>
                        <a:rPr lang="en-US" sz="1600" dirty="0">
                          <a:latin typeface="Montserrat Medium" pitchFamily="50" charset="0"/>
                        </a:rPr>
                        <a:t>0.780</a:t>
                      </a:r>
                    </a:p>
                  </a:txBody>
                  <a:tcPr anchor="ctr"/>
                </a:tc>
                <a:tc>
                  <a:txBody>
                    <a:bodyPr/>
                    <a:lstStyle/>
                    <a:p>
                      <a:pPr algn="just"/>
                      <a:r>
                        <a:rPr lang="en-US" sz="1600" dirty="0">
                          <a:latin typeface="Montserrat Medium" pitchFamily="50" charset="0"/>
                        </a:rPr>
                        <a:t>0.700</a:t>
                      </a:r>
                    </a:p>
                  </a:txBody>
                  <a:tcPr anchor="ctr"/>
                </a:tc>
                <a:tc>
                  <a:txBody>
                    <a:bodyPr/>
                    <a:lstStyle/>
                    <a:p>
                      <a:pPr algn="just"/>
                      <a:r>
                        <a:rPr lang="en-US" sz="1600" dirty="0">
                          <a:latin typeface="Montserrat Medium" pitchFamily="50" charset="0"/>
                        </a:rPr>
                        <a:t>0.738</a:t>
                      </a:r>
                    </a:p>
                  </a:txBody>
                  <a:tcPr anchor="ctr"/>
                </a:tc>
                <a:extLst>
                  <a:ext uri="{0D108BD9-81ED-4DB2-BD59-A6C34878D82A}">
                    <a16:rowId xmlns:a16="http://schemas.microsoft.com/office/drawing/2014/main" val="2290690917"/>
                  </a:ext>
                </a:extLst>
              </a:tr>
              <a:tr h="0">
                <a:tc>
                  <a:txBody>
                    <a:bodyPr/>
                    <a:lstStyle/>
                    <a:p>
                      <a:pPr algn="just"/>
                      <a:r>
                        <a:rPr lang="en-US" sz="1600" b="1">
                          <a:latin typeface="Montserrat Medium" pitchFamily="50" charset="0"/>
                        </a:rPr>
                        <a:t>ASV-IBCF</a:t>
                      </a:r>
                      <a:endParaRPr lang="en-US" sz="1600">
                        <a:latin typeface="Montserrat Medium" pitchFamily="50" charset="0"/>
                      </a:endParaRPr>
                    </a:p>
                  </a:txBody>
                  <a:tcPr anchor="ctr"/>
                </a:tc>
                <a:tc>
                  <a:txBody>
                    <a:bodyPr/>
                    <a:lstStyle/>
                    <a:p>
                      <a:pPr algn="just"/>
                      <a:r>
                        <a:rPr lang="en-US" sz="1600" b="1" dirty="0">
                          <a:latin typeface="Montserrat Medium" pitchFamily="50" charset="0"/>
                        </a:rPr>
                        <a:t>0.851</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0.763</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0.805</a:t>
                      </a:r>
                      <a:endParaRPr lang="en-US" sz="1600" dirty="0">
                        <a:latin typeface="Montserrat Medium" pitchFamily="50" charset="0"/>
                      </a:endParaRPr>
                    </a:p>
                  </a:txBody>
                  <a:tcPr anchor="ctr"/>
                </a:tc>
                <a:extLst>
                  <a:ext uri="{0D108BD9-81ED-4DB2-BD59-A6C34878D82A}">
                    <a16:rowId xmlns:a16="http://schemas.microsoft.com/office/drawing/2014/main" val="3730433033"/>
                  </a:ext>
                </a:extLst>
              </a:tr>
              <a:tr h="0">
                <a:tc>
                  <a:txBody>
                    <a:bodyPr/>
                    <a:lstStyle/>
                    <a:p>
                      <a:pPr algn="just"/>
                      <a:r>
                        <a:rPr lang="en-US" sz="1600">
                          <a:latin typeface="Montserrat Medium" pitchFamily="50" charset="0"/>
                        </a:rPr>
                        <a:t>MF</a:t>
                      </a:r>
                    </a:p>
                  </a:txBody>
                  <a:tcPr anchor="ctr"/>
                </a:tc>
                <a:tc>
                  <a:txBody>
                    <a:bodyPr/>
                    <a:lstStyle/>
                    <a:p>
                      <a:pPr algn="just"/>
                      <a:r>
                        <a:rPr lang="en-US" sz="1600" dirty="0">
                          <a:latin typeface="Montserrat Medium" pitchFamily="50" charset="0"/>
                        </a:rPr>
                        <a:t>0.810</a:t>
                      </a:r>
                    </a:p>
                  </a:txBody>
                  <a:tcPr anchor="ctr"/>
                </a:tc>
                <a:tc>
                  <a:txBody>
                    <a:bodyPr/>
                    <a:lstStyle/>
                    <a:p>
                      <a:pPr algn="just"/>
                      <a:r>
                        <a:rPr lang="en-US" sz="1600" dirty="0">
                          <a:latin typeface="Montserrat Medium" pitchFamily="50" charset="0"/>
                        </a:rPr>
                        <a:t>0.730</a:t>
                      </a:r>
                    </a:p>
                  </a:txBody>
                  <a:tcPr anchor="ctr"/>
                </a:tc>
                <a:tc>
                  <a:txBody>
                    <a:bodyPr/>
                    <a:lstStyle/>
                    <a:p>
                      <a:pPr algn="just"/>
                      <a:r>
                        <a:rPr lang="en-US" sz="1600" dirty="0">
                          <a:latin typeface="Montserrat Medium" pitchFamily="50" charset="0"/>
                        </a:rPr>
                        <a:t>0.768</a:t>
                      </a:r>
                    </a:p>
                  </a:txBody>
                  <a:tcPr anchor="ctr"/>
                </a:tc>
                <a:extLst>
                  <a:ext uri="{0D108BD9-81ED-4DB2-BD59-A6C34878D82A}">
                    <a16:rowId xmlns:a16="http://schemas.microsoft.com/office/drawing/2014/main" val="3870175263"/>
                  </a:ext>
                </a:extLst>
              </a:tr>
              <a:tr h="0">
                <a:tc>
                  <a:txBody>
                    <a:bodyPr/>
                    <a:lstStyle/>
                    <a:p>
                      <a:pPr algn="just"/>
                      <a:r>
                        <a:rPr lang="en-US" sz="1600" b="1">
                          <a:latin typeface="Montserrat Medium" pitchFamily="50" charset="0"/>
                        </a:rPr>
                        <a:t>ASV-MF</a:t>
                      </a:r>
                      <a:endParaRPr lang="en-US" sz="1600">
                        <a:latin typeface="Montserrat Medium" pitchFamily="50" charset="0"/>
                      </a:endParaRPr>
                    </a:p>
                  </a:txBody>
                  <a:tcPr anchor="ctr"/>
                </a:tc>
                <a:tc>
                  <a:txBody>
                    <a:bodyPr/>
                    <a:lstStyle/>
                    <a:p>
                      <a:pPr algn="just"/>
                      <a:r>
                        <a:rPr lang="en-US" sz="1600" b="1" dirty="0">
                          <a:latin typeface="Montserrat Medium" pitchFamily="50" charset="0"/>
                        </a:rPr>
                        <a:t>0.886</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0.798</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0.840</a:t>
                      </a:r>
                      <a:endParaRPr lang="en-US" sz="1600" dirty="0">
                        <a:latin typeface="Montserrat Medium" pitchFamily="50" charset="0"/>
                      </a:endParaRPr>
                    </a:p>
                  </a:txBody>
                  <a:tcPr anchor="ctr"/>
                </a:tc>
                <a:extLst>
                  <a:ext uri="{0D108BD9-81ED-4DB2-BD59-A6C34878D82A}">
                    <a16:rowId xmlns:a16="http://schemas.microsoft.com/office/drawing/2014/main" val="2546542203"/>
                  </a:ext>
                </a:extLst>
              </a:tr>
              <a:tr h="0">
                <a:tc>
                  <a:txBody>
                    <a:bodyPr/>
                    <a:lstStyle/>
                    <a:p>
                      <a:pPr algn="just"/>
                      <a:r>
                        <a:rPr lang="en-US" sz="1600">
                          <a:latin typeface="Montserrat Medium" pitchFamily="50" charset="0"/>
                        </a:rPr>
                        <a:t>NCF</a:t>
                      </a:r>
                    </a:p>
                  </a:txBody>
                  <a:tcPr anchor="ctr"/>
                </a:tc>
                <a:tc>
                  <a:txBody>
                    <a:bodyPr/>
                    <a:lstStyle/>
                    <a:p>
                      <a:pPr algn="just"/>
                      <a:r>
                        <a:rPr lang="en-US" sz="1600" dirty="0">
                          <a:latin typeface="Montserrat Medium" pitchFamily="50" charset="0"/>
                        </a:rPr>
                        <a:t>0.850</a:t>
                      </a:r>
                    </a:p>
                  </a:txBody>
                  <a:tcPr anchor="ctr"/>
                </a:tc>
                <a:tc>
                  <a:txBody>
                    <a:bodyPr/>
                    <a:lstStyle/>
                    <a:p>
                      <a:pPr algn="just"/>
                      <a:r>
                        <a:rPr lang="en-US" sz="1600" dirty="0">
                          <a:latin typeface="Montserrat Medium" pitchFamily="50" charset="0"/>
                        </a:rPr>
                        <a:t>0.780</a:t>
                      </a:r>
                    </a:p>
                  </a:txBody>
                  <a:tcPr anchor="ctr"/>
                </a:tc>
                <a:tc>
                  <a:txBody>
                    <a:bodyPr/>
                    <a:lstStyle/>
                    <a:p>
                      <a:pPr algn="just"/>
                      <a:r>
                        <a:rPr lang="en-US" sz="1600" dirty="0">
                          <a:latin typeface="Montserrat Medium" pitchFamily="50" charset="0"/>
                        </a:rPr>
                        <a:t>0.813</a:t>
                      </a:r>
                    </a:p>
                  </a:txBody>
                  <a:tcPr anchor="ctr"/>
                </a:tc>
                <a:extLst>
                  <a:ext uri="{0D108BD9-81ED-4DB2-BD59-A6C34878D82A}">
                    <a16:rowId xmlns:a16="http://schemas.microsoft.com/office/drawing/2014/main" val="436619072"/>
                  </a:ext>
                </a:extLst>
              </a:tr>
              <a:tr h="0">
                <a:tc>
                  <a:txBody>
                    <a:bodyPr/>
                    <a:lstStyle/>
                    <a:p>
                      <a:pPr algn="just"/>
                      <a:r>
                        <a:rPr lang="en-US" sz="1600" b="1" dirty="0">
                          <a:latin typeface="Montserrat Medium" pitchFamily="50" charset="0"/>
                        </a:rPr>
                        <a:t>ASV-NCF</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0.873</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0.796</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0.832</a:t>
                      </a:r>
                      <a:endParaRPr lang="en-US" sz="1600" dirty="0">
                        <a:latin typeface="Montserrat Medium" pitchFamily="50" charset="0"/>
                      </a:endParaRPr>
                    </a:p>
                  </a:txBody>
                  <a:tcPr anchor="ctr"/>
                </a:tc>
                <a:extLst>
                  <a:ext uri="{0D108BD9-81ED-4DB2-BD59-A6C34878D82A}">
                    <a16:rowId xmlns:a16="http://schemas.microsoft.com/office/drawing/2014/main" val="3742605686"/>
                  </a:ext>
                </a:extLst>
              </a:tr>
            </a:tbl>
          </a:graphicData>
        </a:graphic>
      </p:graphicFrame>
      <p:sp>
        <p:nvSpPr>
          <p:cNvPr id="35" name="Rectangle 34">
            <a:extLst>
              <a:ext uri="{FF2B5EF4-FFF2-40B4-BE49-F238E27FC236}">
                <a16:creationId xmlns:a16="http://schemas.microsoft.com/office/drawing/2014/main" id="{405BC27E-7FE1-4079-A352-1A784A90A01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A3CEAE07-E23C-4FF0-B800-51C2DF58195E}"/>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E58BF86C-C73C-4AF4-BA16-664E8D38FB03}"/>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4DC2A373-4BB7-49D6-9DD3-5EA5F87E212D}"/>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5" name="Rectangle 54">
            <a:extLst>
              <a:ext uri="{FF2B5EF4-FFF2-40B4-BE49-F238E27FC236}">
                <a16:creationId xmlns:a16="http://schemas.microsoft.com/office/drawing/2014/main" id="{DF2CD94A-5015-40D2-9B2E-438985A240B8}"/>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6" name="Picture 55">
            <a:extLst>
              <a:ext uri="{FF2B5EF4-FFF2-40B4-BE49-F238E27FC236}">
                <a16:creationId xmlns:a16="http://schemas.microsoft.com/office/drawing/2014/main" id="{260F8EFD-7068-4114-9B0E-8048BEFC573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7" name="Picture 56">
            <a:extLst>
              <a:ext uri="{FF2B5EF4-FFF2-40B4-BE49-F238E27FC236}">
                <a16:creationId xmlns:a16="http://schemas.microsoft.com/office/drawing/2014/main" id="{6CDF3B39-748A-45C9-A4E4-DBDA2D92530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8" name="Picture 57">
            <a:extLst>
              <a:ext uri="{FF2B5EF4-FFF2-40B4-BE49-F238E27FC236}">
                <a16:creationId xmlns:a16="http://schemas.microsoft.com/office/drawing/2014/main" id="{F1D90085-D676-43C5-A78A-9EFF262D2A0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9" name="Picture 58">
            <a:extLst>
              <a:ext uri="{FF2B5EF4-FFF2-40B4-BE49-F238E27FC236}">
                <a16:creationId xmlns:a16="http://schemas.microsoft.com/office/drawing/2014/main" id="{687C44FB-B6F1-4010-AEF0-B15432D1634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60" name="Picture 59">
            <a:extLst>
              <a:ext uri="{FF2B5EF4-FFF2-40B4-BE49-F238E27FC236}">
                <a16:creationId xmlns:a16="http://schemas.microsoft.com/office/drawing/2014/main" id="{FFB3ED81-3836-46CB-A6A8-45D6E06534B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1" name="Rectangle 60">
            <a:extLst>
              <a:ext uri="{FF2B5EF4-FFF2-40B4-BE49-F238E27FC236}">
                <a16:creationId xmlns:a16="http://schemas.microsoft.com/office/drawing/2014/main" id="{83EDCF2A-9A42-4F00-BDCF-98504E9584D8}"/>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FFEA40DC-BD2B-433D-BA4C-B6399F6BA36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3" name="Rectangle 62">
            <a:extLst>
              <a:ext uri="{FF2B5EF4-FFF2-40B4-BE49-F238E27FC236}">
                <a16:creationId xmlns:a16="http://schemas.microsoft.com/office/drawing/2014/main" id="{66C5474F-BFEC-4DD8-8955-D8454A6E3589}"/>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4" name="Picture 63">
            <a:extLst>
              <a:ext uri="{FF2B5EF4-FFF2-40B4-BE49-F238E27FC236}">
                <a16:creationId xmlns:a16="http://schemas.microsoft.com/office/drawing/2014/main" id="{38735160-BE0B-4610-A763-C464DE89233D}"/>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279A8355-5D1A-419B-8194-C87830F31F4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2" name="Picture 31">
            <a:extLst>
              <a:ext uri="{FF2B5EF4-FFF2-40B4-BE49-F238E27FC236}">
                <a16:creationId xmlns:a16="http://schemas.microsoft.com/office/drawing/2014/main" id="{1AC66BCC-9217-4209-A362-795B2F1A7931}"/>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846964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8F0C54BD-D8A0-48CE-BE94-80F322CD9B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6" name="TextBox 25">
            <a:extLst>
              <a:ext uri="{FF2B5EF4-FFF2-40B4-BE49-F238E27FC236}">
                <a16:creationId xmlns:a16="http://schemas.microsoft.com/office/drawing/2014/main" id="{2EA2F809-F36E-4607-93F0-B45BC57BE30D}"/>
              </a:ext>
            </a:extLst>
          </p:cNvPr>
          <p:cNvSpPr txBox="1"/>
          <p:nvPr/>
        </p:nvSpPr>
        <p:spPr>
          <a:xfrm>
            <a:off x="139535" y="1474105"/>
            <a:ext cx="5616372" cy="3847207"/>
          </a:xfrm>
          <a:prstGeom prst="rect">
            <a:avLst/>
          </a:prstGeom>
          <a:noFill/>
        </p:spPr>
        <p:txBody>
          <a:bodyPr wrap="square">
            <a:spAutoFit/>
          </a:bodyPr>
          <a:lstStyle/>
          <a:p>
            <a:r>
              <a:rPr lang="en-US" sz="2000" b="1" dirty="0">
                <a:latin typeface="Montserrat Medium" pitchFamily="50" charset="0"/>
              </a:rPr>
              <a:t>Key results findings – Amazon Products</a:t>
            </a:r>
          </a:p>
          <a:p>
            <a:endParaRPr lang="en-US" sz="2000"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ASV-IBCF achieves the largest F1 improvement at 12.0%.</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ASV-NCF also shows a strong gain, improving F1 by 10.9%.</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ASV-MF records the highest F1 score, but its improvement is only 0.95%.</a:t>
            </a:r>
          </a:p>
          <a:p>
            <a:endParaRPr lang="en-US" sz="2000" dirty="0">
              <a:latin typeface="Montserrat Medium" pitchFamily="50" charset="0"/>
            </a:endParaRPr>
          </a:p>
          <a:p>
            <a:endParaRPr lang="en-US" sz="2000" dirty="0">
              <a:latin typeface="Montserrat Medium" pitchFamily="50" charset="0"/>
            </a:endParaRPr>
          </a:p>
          <a:p>
            <a:endParaRPr lang="en-US" sz="2000" dirty="0">
              <a:latin typeface="Montserrat Medium" pitchFamily="50" charset="0"/>
            </a:endParaRPr>
          </a:p>
        </p:txBody>
      </p:sp>
      <p:graphicFrame>
        <p:nvGraphicFramePr>
          <p:cNvPr id="29" name="Table 28">
            <a:extLst>
              <a:ext uri="{FF2B5EF4-FFF2-40B4-BE49-F238E27FC236}">
                <a16:creationId xmlns:a16="http://schemas.microsoft.com/office/drawing/2014/main" id="{A1205A51-15C4-447D-99D0-94D0DF31A68D}"/>
              </a:ext>
            </a:extLst>
          </p:cNvPr>
          <p:cNvGraphicFramePr>
            <a:graphicFrameLocks noGrp="1"/>
          </p:cNvGraphicFramePr>
          <p:nvPr>
            <p:extLst>
              <p:ext uri="{D42A27DB-BD31-4B8C-83A1-F6EECF244321}">
                <p14:modId xmlns:p14="http://schemas.microsoft.com/office/powerpoint/2010/main" val="3198166798"/>
              </p:ext>
            </p:extLst>
          </p:nvPr>
        </p:nvGraphicFramePr>
        <p:xfrm>
          <a:off x="5952744" y="1958922"/>
          <a:ext cx="6099721" cy="3017520"/>
        </p:xfrm>
        <a:graphic>
          <a:graphicData uri="http://schemas.openxmlformats.org/drawingml/2006/table">
            <a:tbl>
              <a:tblPr>
                <a:tableStyleId>{BC89EF96-8CEA-46FF-86C4-4CE0E7609802}</a:tableStyleId>
              </a:tblPr>
              <a:tblGrid>
                <a:gridCol w="1490472">
                  <a:extLst>
                    <a:ext uri="{9D8B030D-6E8A-4147-A177-3AD203B41FA5}">
                      <a16:colId xmlns:a16="http://schemas.microsoft.com/office/drawing/2014/main" val="4031512299"/>
                    </a:ext>
                  </a:extLst>
                </a:gridCol>
                <a:gridCol w="1683169">
                  <a:extLst>
                    <a:ext uri="{9D8B030D-6E8A-4147-A177-3AD203B41FA5}">
                      <a16:colId xmlns:a16="http://schemas.microsoft.com/office/drawing/2014/main" val="4059618190"/>
                    </a:ext>
                  </a:extLst>
                </a:gridCol>
                <a:gridCol w="1453415">
                  <a:extLst>
                    <a:ext uri="{9D8B030D-6E8A-4147-A177-3AD203B41FA5}">
                      <a16:colId xmlns:a16="http://schemas.microsoft.com/office/drawing/2014/main" val="879600396"/>
                    </a:ext>
                  </a:extLst>
                </a:gridCol>
                <a:gridCol w="1472665">
                  <a:extLst>
                    <a:ext uri="{9D8B030D-6E8A-4147-A177-3AD203B41FA5}">
                      <a16:colId xmlns:a16="http://schemas.microsoft.com/office/drawing/2014/main" val="3457915157"/>
                    </a:ext>
                  </a:extLst>
                </a:gridCol>
              </a:tblGrid>
              <a:tr h="0">
                <a:tc>
                  <a:txBody>
                    <a:bodyPr/>
                    <a:lstStyle/>
                    <a:p>
                      <a:pPr algn="ctr"/>
                      <a:r>
                        <a:rPr lang="en-US" sz="1600" b="1" dirty="0">
                          <a:latin typeface="Montserrat Medium" pitchFamily="50" charset="0"/>
                        </a:rPr>
                        <a:t>Model</a:t>
                      </a:r>
                    </a:p>
                  </a:txBody>
                  <a:tcPr anchor="ctr"/>
                </a:tc>
                <a:tc>
                  <a:txBody>
                    <a:bodyPr/>
                    <a:lstStyle/>
                    <a:p>
                      <a:pPr algn="ctr"/>
                      <a:r>
                        <a:rPr lang="en-US" sz="1600" b="1" dirty="0">
                          <a:latin typeface="Montserrat Medium" pitchFamily="50" charset="0"/>
                        </a:rPr>
                        <a:t>Precision@10</a:t>
                      </a:r>
                    </a:p>
                  </a:txBody>
                  <a:tcPr anchor="ctr"/>
                </a:tc>
                <a:tc>
                  <a:txBody>
                    <a:bodyPr/>
                    <a:lstStyle/>
                    <a:p>
                      <a:pPr algn="ctr"/>
                      <a:r>
                        <a:rPr lang="en-US" sz="1600" b="1" dirty="0">
                          <a:latin typeface="Montserrat Medium" pitchFamily="50" charset="0"/>
                        </a:rPr>
                        <a:t>Recall@10</a:t>
                      </a:r>
                    </a:p>
                  </a:txBody>
                  <a:tcPr anchor="ctr"/>
                </a:tc>
                <a:tc>
                  <a:txBody>
                    <a:bodyPr/>
                    <a:lstStyle/>
                    <a:p>
                      <a:pPr algn="ctr"/>
                      <a:r>
                        <a:rPr lang="en-US" sz="1600" b="1" dirty="0">
                          <a:latin typeface="Montserrat Medium" pitchFamily="50" charset="0"/>
                        </a:rPr>
                        <a:t>F1@10</a:t>
                      </a:r>
                    </a:p>
                  </a:txBody>
                  <a:tcPr anchor="ctr"/>
                </a:tc>
                <a:extLst>
                  <a:ext uri="{0D108BD9-81ED-4DB2-BD59-A6C34878D82A}">
                    <a16:rowId xmlns:a16="http://schemas.microsoft.com/office/drawing/2014/main" val="3509584005"/>
                  </a:ext>
                </a:extLst>
              </a:tr>
              <a:tr h="0">
                <a:tc>
                  <a:txBody>
                    <a:bodyPr/>
                    <a:lstStyle/>
                    <a:p>
                      <a:pPr algn="just"/>
                      <a:r>
                        <a:rPr lang="en-US" sz="1600" dirty="0">
                          <a:latin typeface="Montserrat Medium" pitchFamily="50" charset="0"/>
                        </a:rPr>
                        <a:t>UBCF</a:t>
                      </a:r>
                    </a:p>
                  </a:txBody>
                  <a:tcPr anchor="ctr"/>
                </a:tc>
                <a:tc>
                  <a:txBody>
                    <a:bodyPr/>
                    <a:lstStyle/>
                    <a:p>
                      <a:pPr algn="just"/>
                      <a:r>
                        <a:rPr lang="en-US" sz="1600" dirty="0">
                          <a:latin typeface="Montserrat Medium" pitchFamily="50" charset="0"/>
                        </a:rPr>
                        <a:t>0.698</a:t>
                      </a:r>
                    </a:p>
                  </a:txBody>
                  <a:tcPr anchor="ctr"/>
                </a:tc>
                <a:tc>
                  <a:txBody>
                    <a:bodyPr/>
                    <a:lstStyle/>
                    <a:p>
                      <a:pPr algn="just"/>
                      <a:r>
                        <a:rPr lang="en-US" sz="1600">
                          <a:latin typeface="Montserrat Medium" pitchFamily="50" charset="0"/>
                        </a:rPr>
                        <a:t>0.673</a:t>
                      </a:r>
                    </a:p>
                  </a:txBody>
                  <a:tcPr anchor="ctr"/>
                </a:tc>
                <a:tc>
                  <a:txBody>
                    <a:bodyPr/>
                    <a:lstStyle/>
                    <a:p>
                      <a:pPr algn="just"/>
                      <a:r>
                        <a:rPr lang="en-US" sz="1600">
                          <a:latin typeface="Montserrat Medium" pitchFamily="50" charset="0"/>
                        </a:rPr>
                        <a:t>0.685</a:t>
                      </a:r>
                    </a:p>
                  </a:txBody>
                  <a:tcPr anchor="ctr"/>
                </a:tc>
                <a:extLst>
                  <a:ext uri="{0D108BD9-81ED-4DB2-BD59-A6C34878D82A}">
                    <a16:rowId xmlns:a16="http://schemas.microsoft.com/office/drawing/2014/main" val="1914027214"/>
                  </a:ext>
                </a:extLst>
              </a:tr>
              <a:tr h="0">
                <a:tc>
                  <a:txBody>
                    <a:bodyPr/>
                    <a:lstStyle/>
                    <a:p>
                      <a:pPr algn="just"/>
                      <a:r>
                        <a:rPr lang="en-US" sz="1600" b="1">
                          <a:latin typeface="Montserrat Medium" pitchFamily="50" charset="0"/>
                        </a:rPr>
                        <a:t>ASV-UBCF</a:t>
                      </a:r>
                      <a:endParaRPr lang="en-US" sz="1600">
                        <a:latin typeface="Montserrat Medium" pitchFamily="50" charset="0"/>
                      </a:endParaRPr>
                    </a:p>
                  </a:txBody>
                  <a:tcPr anchor="ctr"/>
                </a:tc>
                <a:tc>
                  <a:txBody>
                    <a:bodyPr/>
                    <a:lstStyle/>
                    <a:p>
                      <a:pPr algn="just"/>
                      <a:r>
                        <a:rPr lang="en-US" sz="1600" b="1" dirty="0">
                          <a:latin typeface="Montserrat Medium" pitchFamily="50" charset="0"/>
                        </a:rPr>
                        <a:t>0.768</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0.740</a:t>
                      </a:r>
                      <a:endParaRPr lang="en-US" sz="1600" dirty="0">
                        <a:latin typeface="Montserrat Medium" pitchFamily="50" charset="0"/>
                      </a:endParaRPr>
                    </a:p>
                  </a:txBody>
                  <a:tcPr anchor="ctr"/>
                </a:tc>
                <a:tc>
                  <a:txBody>
                    <a:bodyPr/>
                    <a:lstStyle/>
                    <a:p>
                      <a:pPr algn="just"/>
                      <a:r>
                        <a:rPr lang="en-US" sz="1600" b="1">
                          <a:latin typeface="Montserrat Medium" pitchFamily="50" charset="0"/>
                        </a:rPr>
                        <a:t>0.753</a:t>
                      </a:r>
                      <a:endParaRPr lang="en-US" sz="1600">
                        <a:latin typeface="Montserrat Medium" pitchFamily="50" charset="0"/>
                      </a:endParaRPr>
                    </a:p>
                  </a:txBody>
                  <a:tcPr anchor="ctr"/>
                </a:tc>
                <a:extLst>
                  <a:ext uri="{0D108BD9-81ED-4DB2-BD59-A6C34878D82A}">
                    <a16:rowId xmlns:a16="http://schemas.microsoft.com/office/drawing/2014/main" val="1063322136"/>
                  </a:ext>
                </a:extLst>
              </a:tr>
              <a:tr h="0">
                <a:tc>
                  <a:txBody>
                    <a:bodyPr/>
                    <a:lstStyle/>
                    <a:p>
                      <a:pPr algn="just"/>
                      <a:r>
                        <a:rPr lang="en-US" sz="1600">
                          <a:latin typeface="Montserrat Medium" pitchFamily="50" charset="0"/>
                        </a:rPr>
                        <a:t>IBCF</a:t>
                      </a:r>
                    </a:p>
                  </a:txBody>
                  <a:tcPr anchor="ctr"/>
                </a:tc>
                <a:tc>
                  <a:txBody>
                    <a:bodyPr/>
                    <a:lstStyle/>
                    <a:p>
                      <a:pPr algn="just"/>
                      <a:r>
                        <a:rPr lang="en-US" sz="1600">
                          <a:latin typeface="Montserrat Medium" pitchFamily="50" charset="0"/>
                        </a:rPr>
                        <a:t>0.705</a:t>
                      </a:r>
                    </a:p>
                  </a:txBody>
                  <a:tcPr anchor="ctr"/>
                </a:tc>
                <a:tc>
                  <a:txBody>
                    <a:bodyPr/>
                    <a:lstStyle/>
                    <a:p>
                      <a:pPr algn="just"/>
                      <a:r>
                        <a:rPr lang="en-US" sz="1600" dirty="0">
                          <a:latin typeface="Montserrat Medium" pitchFamily="50" charset="0"/>
                        </a:rPr>
                        <a:t>0.696</a:t>
                      </a:r>
                    </a:p>
                  </a:txBody>
                  <a:tcPr anchor="ctr"/>
                </a:tc>
                <a:tc>
                  <a:txBody>
                    <a:bodyPr/>
                    <a:lstStyle/>
                    <a:p>
                      <a:pPr algn="just"/>
                      <a:r>
                        <a:rPr lang="en-US" sz="1600">
                          <a:latin typeface="Montserrat Medium" pitchFamily="50" charset="0"/>
                        </a:rPr>
                        <a:t>0.700</a:t>
                      </a:r>
                    </a:p>
                  </a:txBody>
                  <a:tcPr anchor="ctr"/>
                </a:tc>
                <a:extLst>
                  <a:ext uri="{0D108BD9-81ED-4DB2-BD59-A6C34878D82A}">
                    <a16:rowId xmlns:a16="http://schemas.microsoft.com/office/drawing/2014/main" val="2290690917"/>
                  </a:ext>
                </a:extLst>
              </a:tr>
              <a:tr h="0">
                <a:tc>
                  <a:txBody>
                    <a:bodyPr/>
                    <a:lstStyle/>
                    <a:p>
                      <a:pPr algn="just"/>
                      <a:r>
                        <a:rPr lang="en-US" sz="1600" b="1">
                          <a:latin typeface="Montserrat Medium" pitchFamily="50" charset="0"/>
                        </a:rPr>
                        <a:t>ASV-IBCF</a:t>
                      </a:r>
                      <a:endParaRPr lang="en-US" sz="1600">
                        <a:latin typeface="Montserrat Medium" pitchFamily="50" charset="0"/>
                      </a:endParaRPr>
                    </a:p>
                  </a:txBody>
                  <a:tcPr anchor="ctr"/>
                </a:tc>
                <a:tc>
                  <a:txBody>
                    <a:bodyPr/>
                    <a:lstStyle/>
                    <a:p>
                      <a:pPr algn="just"/>
                      <a:r>
                        <a:rPr lang="en-US" sz="1600" b="1">
                          <a:latin typeface="Montserrat Medium" pitchFamily="50" charset="0"/>
                        </a:rPr>
                        <a:t>0.790</a:t>
                      </a:r>
                      <a:endParaRPr lang="en-US" sz="1600">
                        <a:latin typeface="Montserrat Medium" pitchFamily="50" charset="0"/>
                      </a:endParaRPr>
                    </a:p>
                  </a:txBody>
                  <a:tcPr anchor="ctr"/>
                </a:tc>
                <a:tc>
                  <a:txBody>
                    <a:bodyPr/>
                    <a:lstStyle/>
                    <a:p>
                      <a:pPr algn="just"/>
                      <a:r>
                        <a:rPr lang="en-US" sz="1600" b="1" dirty="0">
                          <a:latin typeface="Montserrat Medium" pitchFamily="50" charset="0"/>
                        </a:rPr>
                        <a:t>0.779</a:t>
                      </a:r>
                      <a:endParaRPr lang="en-US" sz="1600" dirty="0">
                        <a:latin typeface="Montserrat Medium" pitchFamily="50" charset="0"/>
                      </a:endParaRPr>
                    </a:p>
                  </a:txBody>
                  <a:tcPr anchor="ctr"/>
                </a:tc>
                <a:tc>
                  <a:txBody>
                    <a:bodyPr/>
                    <a:lstStyle/>
                    <a:p>
                      <a:pPr algn="just"/>
                      <a:r>
                        <a:rPr lang="en-US" sz="1600" b="1">
                          <a:latin typeface="Montserrat Medium" pitchFamily="50" charset="0"/>
                        </a:rPr>
                        <a:t>0.784</a:t>
                      </a:r>
                      <a:endParaRPr lang="en-US" sz="1600">
                        <a:latin typeface="Montserrat Medium" pitchFamily="50" charset="0"/>
                      </a:endParaRPr>
                    </a:p>
                  </a:txBody>
                  <a:tcPr anchor="ctr"/>
                </a:tc>
                <a:extLst>
                  <a:ext uri="{0D108BD9-81ED-4DB2-BD59-A6C34878D82A}">
                    <a16:rowId xmlns:a16="http://schemas.microsoft.com/office/drawing/2014/main" val="3730433033"/>
                  </a:ext>
                </a:extLst>
              </a:tr>
              <a:tr h="0">
                <a:tc>
                  <a:txBody>
                    <a:bodyPr/>
                    <a:lstStyle/>
                    <a:p>
                      <a:pPr algn="just"/>
                      <a:r>
                        <a:rPr lang="en-US" sz="1600">
                          <a:latin typeface="Montserrat Medium" pitchFamily="50" charset="0"/>
                        </a:rPr>
                        <a:t>MF</a:t>
                      </a:r>
                    </a:p>
                  </a:txBody>
                  <a:tcPr anchor="ctr"/>
                </a:tc>
                <a:tc>
                  <a:txBody>
                    <a:bodyPr/>
                    <a:lstStyle/>
                    <a:p>
                      <a:pPr algn="just"/>
                      <a:r>
                        <a:rPr lang="en-US" sz="1600">
                          <a:latin typeface="Montserrat Medium" pitchFamily="50" charset="0"/>
                        </a:rPr>
                        <a:t>0.886</a:t>
                      </a:r>
                    </a:p>
                  </a:txBody>
                  <a:tcPr anchor="ctr"/>
                </a:tc>
                <a:tc>
                  <a:txBody>
                    <a:bodyPr/>
                    <a:lstStyle/>
                    <a:p>
                      <a:pPr algn="just"/>
                      <a:r>
                        <a:rPr lang="en-US" sz="1600">
                          <a:latin typeface="Montserrat Medium" pitchFamily="50" charset="0"/>
                        </a:rPr>
                        <a:t>0.800</a:t>
                      </a:r>
                    </a:p>
                  </a:txBody>
                  <a:tcPr anchor="ctr"/>
                </a:tc>
                <a:tc>
                  <a:txBody>
                    <a:bodyPr/>
                    <a:lstStyle/>
                    <a:p>
                      <a:pPr algn="just"/>
                      <a:r>
                        <a:rPr lang="en-US" sz="1600" dirty="0">
                          <a:latin typeface="Montserrat Medium" pitchFamily="50" charset="0"/>
                        </a:rPr>
                        <a:t>0.841</a:t>
                      </a:r>
                    </a:p>
                  </a:txBody>
                  <a:tcPr anchor="ctr"/>
                </a:tc>
                <a:extLst>
                  <a:ext uri="{0D108BD9-81ED-4DB2-BD59-A6C34878D82A}">
                    <a16:rowId xmlns:a16="http://schemas.microsoft.com/office/drawing/2014/main" val="3870175263"/>
                  </a:ext>
                </a:extLst>
              </a:tr>
              <a:tr h="0">
                <a:tc>
                  <a:txBody>
                    <a:bodyPr/>
                    <a:lstStyle/>
                    <a:p>
                      <a:pPr algn="just"/>
                      <a:r>
                        <a:rPr lang="en-US" sz="1600" b="1">
                          <a:latin typeface="Montserrat Medium" pitchFamily="50" charset="0"/>
                        </a:rPr>
                        <a:t>ASV-MF</a:t>
                      </a:r>
                      <a:endParaRPr lang="en-US" sz="1600">
                        <a:latin typeface="Montserrat Medium" pitchFamily="50" charset="0"/>
                      </a:endParaRPr>
                    </a:p>
                  </a:txBody>
                  <a:tcPr anchor="ctr"/>
                </a:tc>
                <a:tc>
                  <a:txBody>
                    <a:bodyPr/>
                    <a:lstStyle/>
                    <a:p>
                      <a:pPr algn="just"/>
                      <a:r>
                        <a:rPr lang="en-US" sz="1600" b="1">
                          <a:latin typeface="Montserrat Medium" pitchFamily="50" charset="0"/>
                        </a:rPr>
                        <a:t>0.898</a:t>
                      </a:r>
                      <a:endParaRPr lang="en-US" sz="1600">
                        <a:latin typeface="Montserrat Medium" pitchFamily="50" charset="0"/>
                      </a:endParaRPr>
                    </a:p>
                  </a:txBody>
                  <a:tcPr anchor="ctr"/>
                </a:tc>
                <a:tc>
                  <a:txBody>
                    <a:bodyPr/>
                    <a:lstStyle/>
                    <a:p>
                      <a:pPr algn="just"/>
                      <a:r>
                        <a:rPr lang="en-US" sz="1600" b="1">
                          <a:latin typeface="Montserrat Medium" pitchFamily="50" charset="0"/>
                        </a:rPr>
                        <a:t>0.808</a:t>
                      </a:r>
                      <a:endParaRPr lang="en-US" sz="1600">
                        <a:latin typeface="Montserrat Medium" pitchFamily="50" charset="0"/>
                      </a:endParaRPr>
                    </a:p>
                  </a:txBody>
                  <a:tcPr anchor="ctr"/>
                </a:tc>
                <a:tc>
                  <a:txBody>
                    <a:bodyPr/>
                    <a:lstStyle/>
                    <a:p>
                      <a:pPr algn="just"/>
                      <a:r>
                        <a:rPr lang="en-US" sz="1600" b="1" dirty="0">
                          <a:latin typeface="Montserrat Medium" pitchFamily="50" charset="0"/>
                        </a:rPr>
                        <a:t>0.849</a:t>
                      </a:r>
                      <a:endParaRPr lang="en-US" sz="1600" dirty="0">
                        <a:latin typeface="Montserrat Medium" pitchFamily="50" charset="0"/>
                      </a:endParaRPr>
                    </a:p>
                  </a:txBody>
                  <a:tcPr anchor="ctr"/>
                </a:tc>
                <a:extLst>
                  <a:ext uri="{0D108BD9-81ED-4DB2-BD59-A6C34878D82A}">
                    <a16:rowId xmlns:a16="http://schemas.microsoft.com/office/drawing/2014/main" val="2546542203"/>
                  </a:ext>
                </a:extLst>
              </a:tr>
              <a:tr h="0">
                <a:tc>
                  <a:txBody>
                    <a:bodyPr/>
                    <a:lstStyle/>
                    <a:p>
                      <a:pPr algn="just"/>
                      <a:r>
                        <a:rPr lang="en-US" sz="1600">
                          <a:latin typeface="Montserrat Medium" pitchFamily="50" charset="0"/>
                        </a:rPr>
                        <a:t>NCF</a:t>
                      </a:r>
                    </a:p>
                  </a:txBody>
                  <a:tcPr anchor="ctr"/>
                </a:tc>
                <a:tc>
                  <a:txBody>
                    <a:bodyPr/>
                    <a:lstStyle/>
                    <a:p>
                      <a:pPr algn="just"/>
                      <a:r>
                        <a:rPr lang="en-US" sz="1600">
                          <a:latin typeface="Montserrat Medium" pitchFamily="50" charset="0"/>
                        </a:rPr>
                        <a:t>0.742</a:t>
                      </a:r>
                    </a:p>
                  </a:txBody>
                  <a:tcPr anchor="ctr"/>
                </a:tc>
                <a:tc>
                  <a:txBody>
                    <a:bodyPr/>
                    <a:lstStyle/>
                    <a:p>
                      <a:pPr algn="just"/>
                      <a:r>
                        <a:rPr lang="en-US" sz="1600">
                          <a:latin typeface="Montserrat Medium" pitchFamily="50" charset="0"/>
                        </a:rPr>
                        <a:t>0.715</a:t>
                      </a:r>
                    </a:p>
                  </a:txBody>
                  <a:tcPr anchor="ctr"/>
                </a:tc>
                <a:tc>
                  <a:txBody>
                    <a:bodyPr/>
                    <a:lstStyle/>
                    <a:p>
                      <a:pPr algn="just"/>
                      <a:r>
                        <a:rPr lang="en-US" sz="1600" dirty="0">
                          <a:latin typeface="Montserrat Medium" pitchFamily="50" charset="0"/>
                        </a:rPr>
                        <a:t>0.728</a:t>
                      </a:r>
                    </a:p>
                  </a:txBody>
                  <a:tcPr anchor="ctr"/>
                </a:tc>
                <a:extLst>
                  <a:ext uri="{0D108BD9-81ED-4DB2-BD59-A6C34878D82A}">
                    <a16:rowId xmlns:a16="http://schemas.microsoft.com/office/drawing/2014/main" val="436619072"/>
                  </a:ext>
                </a:extLst>
              </a:tr>
              <a:tr h="0">
                <a:tc>
                  <a:txBody>
                    <a:bodyPr/>
                    <a:lstStyle/>
                    <a:p>
                      <a:pPr algn="just"/>
                      <a:r>
                        <a:rPr lang="en-US" sz="1600" b="1" dirty="0">
                          <a:latin typeface="Montserrat Medium" pitchFamily="50" charset="0"/>
                        </a:rPr>
                        <a:t>ASV-NCF</a:t>
                      </a:r>
                      <a:endParaRPr lang="en-US" sz="1600" dirty="0">
                        <a:latin typeface="Montserrat Medium" pitchFamily="50" charset="0"/>
                      </a:endParaRPr>
                    </a:p>
                  </a:txBody>
                  <a:tcPr anchor="ctr"/>
                </a:tc>
                <a:tc>
                  <a:txBody>
                    <a:bodyPr/>
                    <a:lstStyle/>
                    <a:p>
                      <a:pPr algn="just"/>
                      <a:r>
                        <a:rPr lang="en-US" sz="1600" b="1" dirty="0">
                          <a:latin typeface="Montserrat Medium" pitchFamily="50" charset="0"/>
                        </a:rPr>
                        <a:t>0.841</a:t>
                      </a:r>
                      <a:endParaRPr lang="en-US" sz="1600" dirty="0">
                        <a:latin typeface="Montserrat Medium" pitchFamily="50" charset="0"/>
                      </a:endParaRPr>
                    </a:p>
                  </a:txBody>
                  <a:tcPr anchor="ctr"/>
                </a:tc>
                <a:tc>
                  <a:txBody>
                    <a:bodyPr/>
                    <a:lstStyle/>
                    <a:p>
                      <a:pPr algn="just"/>
                      <a:r>
                        <a:rPr lang="en-US" sz="1600" b="1">
                          <a:latin typeface="Montserrat Medium" pitchFamily="50" charset="0"/>
                        </a:rPr>
                        <a:t>0.776</a:t>
                      </a:r>
                      <a:endParaRPr lang="en-US" sz="1600">
                        <a:latin typeface="Montserrat Medium" pitchFamily="50" charset="0"/>
                      </a:endParaRPr>
                    </a:p>
                  </a:txBody>
                  <a:tcPr anchor="ctr"/>
                </a:tc>
                <a:tc>
                  <a:txBody>
                    <a:bodyPr/>
                    <a:lstStyle/>
                    <a:p>
                      <a:pPr algn="just"/>
                      <a:r>
                        <a:rPr lang="en-US" sz="1600" b="1" dirty="0">
                          <a:latin typeface="Montserrat Medium" pitchFamily="50" charset="0"/>
                        </a:rPr>
                        <a:t>0.807</a:t>
                      </a:r>
                      <a:endParaRPr lang="en-US" sz="1600" dirty="0">
                        <a:latin typeface="Montserrat Medium" pitchFamily="50" charset="0"/>
                      </a:endParaRPr>
                    </a:p>
                  </a:txBody>
                  <a:tcPr anchor="ctr"/>
                </a:tc>
                <a:extLst>
                  <a:ext uri="{0D108BD9-81ED-4DB2-BD59-A6C34878D82A}">
                    <a16:rowId xmlns:a16="http://schemas.microsoft.com/office/drawing/2014/main" val="3742605686"/>
                  </a:ext>
                </a:extLst>
              </a:tr>
            </a:tbl>
          </a:graphicData>
        </a:graphic>
      </p:graphicFrame>
      <p:sp>
        <p:nvSpPr>
          <p:cNvPr id="35" name="Rectangle 34">
            <a:extLst>
              <a:ext uri="{FF2B5EF4-FFF2-40B4-BE49-F238E27FC236}">
                <a16:creationId xmlns:a16="http://schemas.microsoft.com/office/drawing/2014/main" id="{BF16558C-0DE1-4982-A9EC-9B89E088E579}"/>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2A765FB1-BE11-4E27-B977-ECEBC2154DF1}"/>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734A7530-FA84-4508-AB0B-2607FA26706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AB536D72-798C-4DC1-A4FE-AAB2C0221E09}"/>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5" name="Rectangle 54">
            <a:extLst>
              <a:ext uri="{FF2B5EF4-FFF2-40B4-BE49-F238E27FC236}">
                <a16:creationId xmlns:a16="http://schemas.microsoft.com/office/drawing/2014/main" id="{3A6299C8-5F29-4BE7-A104-A49E3973D2B7}"/>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6" name="Picture 55">
            <a:extLst>
              <a:ext uri="{FF2B5EF4-FFF2-40B4-BE49-F238E27FC236}">
                <a16:creationId xmlns:a16="http://schemas.microsoft.com/office/drawing/2014/main" id="{6C2C2D71-163B-444C-A755-D0AEFC8B78F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7" name="Picture 56">
            <a:extLst>
              <a:ext uri="{FF2B5EF4-FFF2-40B4-BE49-F238E27FC236}">
                <a16:creationId xmlns:a16="http://schemas.microsoft.com/office/drawing/2014/main" id="{D98F80F7-A473-4FD7-8BB4-A322F9416FA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8" name="Picture 57">
            <a:extLst>
              <a:ext uri="{FF2B5EF4-FFF2-40B4-BE49-F238E27FC236}">
                <a16:creationId xmlns:a16="http://schemas.microsoft.com/office/drawing/2014/main" id="{4F9291CC-5D1A-48D9-BA40-937DFD93B1D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9" name="Picture 58">
            <a:extLst>
              <a:ext uri="{FF2B5EF4-FFF2-40B4-BE49-F238E27FC236}">
                <a16:creationId xmlns:a16="http://schemas.microsoft.com/office/drawing/2014/main" id="{2BB9CCAA-1120-4E2C-B5DF-FF6401510F3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60" name="Picture 59">
            <a:extLst>
              <a:ext uri="{FF2B5EF4-FFF2-40B4-BE49-F238E27FC236}">
                <a16:creationId xmlns:a16="http://schemas.microsoft.com/office/drawing/2014/main" id="{E4C369E1-64BA-413F-891B-713B24EBCD9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1" name="Rectangle 60">
            <a:extLst>
              <a:ext uri="{FF2B5EF4-FFF2-40B4-BE49-F238E27FC236}">
                <a16:creationId xmlns:a16="http://schemas.microsoft.com/office/drawing/2014/main" id="{259B22A1-4E9F-4FC7-ACF9-C3415CA35C0A}"/>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538E900A-D3E4-4CC1-A089-488DF0934E1E}"/>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3" name="Rectangle 62">
            <a:extLst>
              <a:ext uri="{FF2B5EF4-FFF2-40B4-BE49-F238E27FC236}">
                <a16:creationId xmlns:a16="http://schemas.microsoft.com/office/drawing/2014/main" id="{E65F13BB-B537-41B7-9D00-C456A94C9C8C}"/>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4" name="Picture 63">
            <a:extLst>
              <a:ext uri="{FF2B5EF4-FFF2-40B4-BE49-F238E27FC236}">
                <a16:creationId xmlns:a16="http://schemas.microsoft.com/office/drawing/2014/main" id="{FD2D89BC-2A81-4FAF-B637-EED13894AA2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31" name="Picture 30">
            <a:extLst>
              <a:ext uri="{FF2B5EF4-FFF2-40B4-BE49-F238E27FC236}">
                <a16:creationId xmlns:a16="http://schemas.microsoft.com/office/drawing/2014/main" id="{8ED9D0E7-EB12-4D1F-9706-F6EF33BAD7E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2" name="Picture 31">
            <a:extLst>
              <a:ext uri="{FF2B5EF4-FFF2-40B4-BE49-F238E27FC236}">
                <a16:creationId xmlns:a16="http://schemas.microsoft.com/office/drawing/2014/main" id="{262F6FCC-C9CC-4571-B291-0CDC9A6EEC48}"/>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708148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8F0C54BD-D8A0-48CE-BE94-80F322CD9B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6" name="TextBox 25">
            <a:extLst>
              <a:ext uri="{FF2B5EF4-FFF2-40B4-BE49-F238E27FC236}">
                <a16:creationId xmlns:a16="http://schemas.microsoft.com/office/drawing/2014/main" id="{2EA2F809-F36E-4607-93F0-B45BC57BE30D}"/>
              </a:ext>
            </a:extLst>
          </p:cNvPr>
          <p:cNvSpPr txBox="1"/>
          <p:nvPr/>
        </p:nvSpPr>
        <p:spPr>
          <a:xfrm>
            <a:off x="78971" y="1600444"/>
            <a:ext cx="5656947" cy="2400657"/>
          </a:xfrm>
          <a:prstGeom prst="rect">
            <a:avLst/>
          </a:prstGeom>
          <a:noFill/>
        </p:spPr>
        <p:txBody>
          <a:bodyPr wrap="square">
            <a:spAutoFit/>
          </a:bodyPr>
          <a:lstStyle/>
          <a:p>
            <a:r>
              <a:rPr lang="en-US" sz="2000" b="1" dirty="0">
                <a:effectLst/>
                <a:latin typeface="Montserrat Medium" pitchFamily="50" charset="0"/>
              </a:rPr>
              <a:t>Computational overhead</a:t>
            </a:r>
          </a:p>
          <a:p>
            <a:endParaRPr lang="en-US" sz="2000"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ASV-IBCF has the highest overhead.</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ASV-NCF has the lowest training overhead.</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All variants increase latency and memory.</a:t>
            </a:r>
          </a:p>
          <a:p>
            <a:endParaRPr lang="en-US" sz="2000" dirty="0">
              <a:effectLst/>
              <a:latin typeface="Montserrat Medium" pitchFamily="50" charset="0"/>
            </a:endParaRPr>
          </a:p>
        </p:txBody>
      </p:sp>
      <p:graphicFrame>
        <p:nvGraphicFramePr>
          <p:cNvPr id="2" name="Table 1">
            <a:extLst>
              <a:ext uri="{FF2B5EF4-FFF2-40B4-BE49-F238E27FC236}">
                <a16:creationId xmlns:a16="http://schemas.microsoft.com/office/drawing/2014/main" id="{60A90D13-6960-44D7-AA8A-AE741DA2DB73}"/>
              </a:ext>
            </a:extLst>
          </p:cNvPr>
          <p:cNvGraphicFramePr>
            <a:graphicFrameLocks noGrp="1"/>
          </p:cNvGraphicFramePr>
          <p:nvPr>
            <p:extLst>
              <p:ext uri="{D42A27DB-BD31-4B8C-83A1-F6EECF244321}">
                <p14:modId xmlns:p14="http://schemas.microsoft.com/office/powerpoint/2010/main" val="3703696273"/>
              </p:ext>
            </p:extLst>
          </p:nvPr>
        </p:nvGraphicFramePr>
        <p:xfrm>
          <a:off x="5784783" y="2230291"/>
          <a:ext cx="6328246" cy="1920240"/>
        </p:xfrm>
        <a:graphic>
          <a:graphicData uri="http://schemas.openxmlformats.org/drawingml/2006/table">
            <a:tbl>
              <a:tblPr>
                <a:tableStyleId>{BC89EF96-8CEA-46FF-86C4-4CE0E7609802}</a:tableStyleId>
              </a:tblPr>
              <a:tblGrid>
                <a:gridCol w="1405289">
                  <a:extLst>
                    <a:ext uri="{9D8B030D-6E8A-4147-A177-3AD203B41FA5}">
                      <a16:colId xmlns:a16="http://schemas.microsoft.com/office/drawing/2014/main" val="3053966246"/>
                    </a:ext>
                  </a:extLst>
                </a:gridCol>
                <a:gridCol w="1713296">
                  <a:extLst>
                    <a:ext uri="{9D8B030D-6E8A-4147-A177-3AD203B41FA5}">
                      <a16:colId xmlns:a16="http://schemas.microsoft.com/office/drawing/2014/main" val="2963035789"/>
                    </a:ext>
                  </a:extLst>
                </a:gridCol>
                <a:gridCol w="1684421">
                  <a:extLst>
                    <a:ext uri="{9D8B030D-6E8A-4147-A177-3AD203B41FA5}">
                      <a16:colId xmlns:a16="http://schemas.microsoft.com/office/drawing/2014/main" val="113572968"/>
                    </a:ext>
                  </a:extLst>
                </a:gridCol>
                <a:gridCol w="1525240">
                  <a:extLst>
                    <a:ext uri="{9D8B030D-6E8A-4147-A177-3AD203B41FA5}">
                      <a16:colId xmlns:a16="http://schemas.microsoft.com/office/drawing/2014/main" val="1738717635"/>
                    </a:ext>
                  </a:extLst>
                </a:gridCol>
              </a:tblGrid>
              <a:tr h="0">
                <a:tc>
                  <a:txBody>
                    <a:bodyPr/>
                    <a:lstStyle/>
                    <a:p>
                      <a:pPr algn="ctr"/>
                      <a:r>
                        <a:rPr lang="en-US" sz="1600">
                          <a:latin typeface="Montserrat Medium" pitchFamily="50" charset="0"/>
                        </a:rPr>
                        <a:t>Enhanced Method</a:t>
                      </a:r>
                    </a:p>
                  </a:txBody>
                  <a:tcPr anchor="ctr"/>
                </a:tc>
                <a:tc>
                  <a:txBody>
                    <a:bodyPr/>
                    <a:lstStyle/>
                    <a:p>
                      <a:pPr algn="ctr"/>
                      <a:r>
                        <a:rPr lang="en-US" sz="1600">
                          <a:latin typeface="Montserrat Medium" pitchFamily="50" charset="0"/>
                        </a:rPr>
                        <a:t>Training-Time Overhead</a:t>
                      </a:r>
                    </a:p>
                  </a:txBody>
                  <a:tcPr anchor="ctr"/>
                </a:tc>
                <a:tc>
                  <a:txBody>
                    <a:bodyPr/>
                    <a:lstStyle/>
                    <a:p>
                      <a:pPr algn="ctr"/>
                      <a:r>
                        <a:rPr lang="en-US" sz="1600">
                          <a:latin typeface="Montserrat Medium" pitchFamily="50" charset="0"/>
                        </a:rPr>
                        <a:t>Prediction-Time Change</a:t>
                      </a:r>
                    </a:p>
                  </a:txBody>
                  <a:tcPr anchor="ctr"/>
                </a:tc>
                <a:tc>
                  <a:txBody>
                    <a:bodyPr/>
                    <a:lstStyle/>
                    <a:p>
                      <a:pPr algn="ctr"/>
                      <a:r>
                        <a:rPr lang="en-US" sz="1600" dirty="0">
                          <a:latin typeface="Montserrat Medium" pitchFamily="50" charset="0"/>
                        </a:rPr>
                        <a:t>Memory Change</a:t>
                      </a:r>
                    </a:p>
                  </a:txBody>
                  <a:tcPr anchor="ctr"/>
                </a:tc>
                <a:extLst>
                  <a:ext uri="{0D108BD9-81ED-4DB2-BD59-A6C34878D82A}">
                    <a16:rowId xmlns:a16="http://schemas.microsoft.com/office/drawing/2014/main" val="3871436627"/>
                  </a:ext>
                </a:extLst>
              </a:tr>
              <a:tr h="0">
                <a:tc>
                  <a:txBody>
                    <a:bodyPr/>
                    <a:lstStyle/>
                    <a:p>
                      <a:pPr algn="just"/>
                      <a:r>
                        <a:rPr lang="en-US" sz="1600" dirty="0">
                          <a:latin typeface="Montserrat Medium" pitchFamily="50" charset="0"/>
                        </a:rPr>
                        <a:t>ASV-UBCF</a:t>
                      </a:r>
                    </a:p>
                  </a:txBody>
                  <a:tcPr anchor="ctr"/>
                </a:tc>
                <a:tc>
                  <a:txBody>
                    <a:bodyPr/>
                    <a:lstStyle/>
                    <a:p>
                      <a:pPr algn="just"/>
                      <a:r>
                        <a:rPr lang="en-US" sz="1600" dirty="0">
                          <a:latin typeface="Montserrat Medium" pitchFamily="50" charset="0"/>
                        </a:rPr>
                        <a:t>+60%</a:t>
                      </a:r>
                    </a:p>
                  </a:txBody>
                  <a:tcPr anchor="ctr"/>
                </a:tc>
                <a:tc>
                  <a:txBody>
                    <a:bodyPr/>
                    <a:lstStyle/>
                    <a:p>
                      <a:pPr algn="just"/>
                      <a:r>
                        <a:rPr lang="en-US" sz="1600">
                          <a:latin typeface="Montserrat Medium" pitchFamily="50" charset="0"/>
                        </a:rPr>
                        <a:t>8.7 → 14.2 ms</a:t>
                      </a:r>
                    </a:p>
                  </a:txBody>
                  <a:tcPr anchor="ctr"/>
                </a:tc>
                <a:tc>
                  <a:txBody>
                    <a:bodyPr/>
                    <a:lstStyle/>
                    <a:p>
                      <a:pPr algn="just"/>
                      <a:r>
                        <a:rPr lang="en-US" sz="1600">
                          <a:latin typeface="Montserrat Medium" pitchFamily="50" charset="0"/>
                        </a:rPr>
                        <a:t>145 → 189 MB</a:t>
                      </a:r>
                    </a:p>
                  </a:txBody>
                  <a:tcPr anchor="ctr"/>
                </a:tc>
                <a:extLst>
                  <a:ext uri="{0D108BD9-81ED-4DB2-BD59-A6C34878D82A}">
                    <a16:rowId xmlns:a16="http://schemas.microsoft.com/office/drawing/2014/main" val="3719683749"/>
                  </a:ext>
                </a:extLst>
              </a:tr>
              <a:tr h="0">
                <a:tc>
                  <a:txBody>
                    <a:bodyPr/>
                    <a:lstStyle/>
                    <a:p>
                      <a:pPr algn="just"/>
                      <a:r>
                        <a:rPr lang="en-US" sz="1600">
                          <a:latin typeface="Montserrat Medium" pitchFamily="50" charset="0"/>
                        </a:rPr>
                        <a:t>ASV-IBCF</a:t>
                      </a:r>
                    </a:p>
                  </a:txBody>
                  <a:tcPr anchor="ctr"/>
                </a:tc>
                <a:tc>
                  <a:txBody>
                    <a:bodyPr/>
                    <a:lstStyle/>
                    <a:p>
                      <a:pPr algn="just"/>
                      <a:r>
                        <a:rPr lang="en-US" sz="1600" dirty="0">
                          <a:latin typeface="Montserrat Medium" pitchFamily="50" charset="0"/>
                        </a:rPr>
                        <a:t>+83%</a:t>
                      </a:r>
                    </a:p>
                  </a:txBody>
                  <a:tcPr anchor="ctr"/>
                </a:tc>
                <a:tc>
                  <a:txBody>
                    <a:bodyPr/>
                    <a:lstStyle/>
                    <a:p>
                      <a:pPr algn="just"/>
                      <a:r>
                        <a:rPr lang="en-US" sz="1600" dirty="0">
                          <a:latin typeface="Montserrat Medium" pitchFamily="50" charset="0"/>
                        </a:rPr>
                        <a:t>7.4 → 13.8 </a:t>
                      </a:r>
                      <a:r>
                        <a:rPr lang="en-US" sz="1600" dirty="0" err="1">
                          <a:latin typeface="Montserrat Medium" pitchFamily="50" charset="0"/>
                        </a:rPr>
                        <a:t>ms</a:t>
                      </a:r>
                      <a:endParaRPr lang="en-US" sz="1600" dirty="0">
                        <a:latin typeface="Montserrat Medium" pitchFamily="50" charset="0"/>
                      </a:endParaRPr>
                    </a:p>
                  </a:txBody>
                  <a:tcPr anchor="ctr"/>
                </a:tc>
                <a:tc>
                  <a:txBody>
                    <a:bodyPr/>
                    <a:lstStyle/>
                    <a:p>
                      <a:pPr algn="just"/>
                      <a:r>
                        <a:rPr lang="en-US" sz="1600">
                          <a:latin typeface="Montserrat Medium" pitchFamily="50" charset="0"/>
                        </a:rPr>
                        <a:t>138 → 185 MB</a:t>
                      </a:r>
                    </a:p>
                  </a:txBody>
                  <a:tcPr anchor="ctr"/>
                </a:tc>
                <a:extLst>
                  <a:ext uri="{0D108BD9-81ED-4DB2-BD59-A6C34878D82A}">
                    <a16:rowId xmlns:a16="http://schemas.microsoft.com/office/drawing/2014/main" val="801205314"/>
                  </a:ext>
                </a:extLst>
              </a:tr>
              <a:tr h="245798">
                <a:tc>
                  <a:txBody>
                    <a:bodyPr/>
                    <a:lstStyle/>
                    <a:p>
                      <a:pPr algn="just"/>
                      <a:r>
                        <a:rPr lang="en-US" sz="1600">
                          <a:latin typeface="Montserrat Medium" pitchFamily="50" charset="0"/>
                        </a:rPr>
                        <a:t>ASV-MF</a:t>
                      </a:r>
                    </a:p>
                  </a:txBody>
                  <a:tcPr anchor="ctr"/>
                </a:tc>
                <a:tc>
                  <a:txBody>
                    <a:bodyPr/>
                    <a:lstStyle/>
                    <a:p>
                      <a:pPr algn="just"/>
                      <a:r>
                        <a:rPr lang="en-US" sz="1600">
                          <a:latin typeface="Montserrat Medium" pitchFamily="50" charset="0"/>
                        </a:rPr>
                        <a:t>+39%</a:t>
                      </a:r>
                    </a:p>
                  </a:txBody>
                  <a:tcPr anchor="ctr"/>
                </a:tc>
                <a:tc>
                  <a:txBody>
                    <a:bodyPr/>
                    <a:lstStyle/>
                    <a:p>
                      <a:pPr algn="just"/>
                      <a:r>
                        <a:rPr lang="en-US" sz="1600" dirty="0">
                          <a:latin typeface="Montserrat Medium" pitchFamily="50" charset="0"/>
                        </a:rPr>
                        <a:t>12.1 → 18.9 </a:t>
                      </a:r>
                      <a:r>
                        <a:rPr lang="en-US" sz="1600" dirty="0" err="1">
                          <a:latin typeface="Montserrat Medium" pitchFamily="50" charset="0"/>
                        </a:rPr>
                        <a:t>ms</a:t>
                      </a:r>
                      <a:endParaRPr lang="en-US" sz="1600" dirty="0">
                        <a:latin typeface="Montserrat Medium" pitchFamily="50" charset="0"/>
                      </a:endParaRPr>
                    </a:p>
                  </a:txBody>
                  <a:tcPr anchor="ctr"/>
                </a:tc>
                <a:tc>
                  <a:txBody>
                    <a:bodyPr/>
                    <a:lstStyle/>
                    <a:p>
                      <a:pPr algn="just"/>
                      <a:r>
                        <a:rPr lang="en-US" sz="1600">
                          <a:latin typeface="Montserrat Medium" pitchFamily="50" charset="0"/>
                        </a:rPr>
                        <a:t>267 → 341 MB</a:t>
                      </a:r>
                    </a:p>
                  </a:txBody>
                  <a:tcPr anchor="ctr"/>
                </a:tc>
                <a:extLst>
                  <a:ext uri="{0D108BD9-81ED-4DB2-BD59-A6C34878D82A}">
                    <a16:rowId xmlns:a16="http://schemas.microsoft.com/office/drawing/2014/main" val="3967379135"/>
                  </a:ext>
                </a:extLst>
              </a:tr>
              <a:tr h="0">
                <a:tc>
                  <a:txBody>
                    <a:bodyPr/>
                    <a:lstStyle/>
                    <a:p>
                      <a:pPr algn="just"/>
                      <a:r>
                        <a:rPr lang="en-US" sz="1600">
                          <a:latin typeface="Montserrat Medium" pitchFamily="50" charset="0"/>
                        </a:rPr>
                        <a:t>ASV-NCF</a:t>
                      </a:r>
                    </a:p>
                  </a:txBody>
                  <a:tcPr anchor="ctr"/>
                </a:tc>
                <a:tc>
                  <a:txBody>
                    <a:bodyPr/>
                    <a:lstStyle/>
                    <a:p>
                      <a:pPr algn="just"/>
                      <a:r>
                        <a:rPr lang="en-US" sz="1600" dirty="0">
                          <a:latin typeface="Montserrat Medium" pitchFamily="50" charset="0"/>
                        </a:rPr>
                        <a:t>+30%</a:t>
                      </a:r>
                    </a:p>
                  </a:txBody>
                  <a:tcPr anchor="ctr"/>
                </a:tc>
                <a:tc>
                  <a:txBody>
                    <a:bodyPr/>
                    <a:lstStyle/>
                    <a:p>
                      <a:pPr algn="just"/>
                      <a:r>
                        <a:rPr lang="en-US" sz="1600">
                          <a:latin typeface="Montserrat Medium" pitchFamily="50" charset="0"/>
                        </a:rPr>
                        <a:t>15.4 → 24.7 ms</a:t>
                      </a:r>
                    </a:p>
                  </a:txBody>
                  <a:tcPr anchor="ctr"/>
                </a:tc>
                <a:tc>
                  <a:txBody>
                    <a:bodyPr/>
                    <a:lstStyle/>
                    <a:p>
                      <a:pPr algn="just"/>
                      <a:r>
                        <a:rPr lang="en-US" sz="1600" dirty="0">
                          <a:latin typeface="Montserrat Medium" pitchFamily="50" charset="0"/>
                        </a:rPr>
                        <a:t>412 → 523 MB</a:t>
                      </a:r>
                    </a:p>
                  </a:txBody>
                  <a:tcPr anchor="ctr"/>
                </a:tc>
                <a:extLst>
                  <a:ext uri="{0D108BD9-81ED-4DB2-BD59-A6C34878D82A}">
                    <a16:rowId xmlns:a16="http://schemas.microsoft.com/office/drawing/2014/main" val="2928542126"/>
                  </a:ext>
                </a:extLst>
              </a:tr>
            </a:tbl>
          </a:graphicData>
        </a:graphic>
      </p:graphicFrame>
      <p:sp>
        <p:nvSpPr>
          <p:cNvPr id="36" name="Rectangle 35">
            <a:extLst>
              <a:ext uri="{FF2B5EF4-FFF2-40B4-BE49-F238E27FC236}">
                <a16:creationId xmlns:a16="http://schemas.microsoft.com/office/drawing/2014/main" id="{C7C6A1E4-7BA9-48FA-BCDA-9EDF8308A0E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3674A871-3985-4088-A9AD-17AB4D50D62D}"/>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C477BF06-3C3F-49CA-A431-71885BBE12BC}"/>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5" name="Rectangle 54">
            <a:extLst>
              <a:ext uri="{FF2B5EF4-FFF2-40B4-BE49-F238E27FC236}">
                <a16:creationId xmlns:a16="http://schemas.microsoft.com/office/drawing/2014/main" id="{5CBF64BF-8078-4170-A154-1D6C2AFC8633}"/>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6" name="Rectangle 55">
            <a:extLst>
              <a:ext uri="{FF2B5EF4-FFF2-40B4-BE49-F238E27FC236}">
                <a16:creationId xmlns:a16="http://schemas.microsoft.com/office/drawing/2014/main" id="{2E285AA0-F31E-4E2A-A87B-E2BA743365AD}"/>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7" name="Picture 56">
            <a:extLst>
              <a:ext uri="{FF2B5EF4-FFF2-40B4-BE49-F238E27FC236}">
                <a16:creationId xmlns:a16="http://schemas.microsoft.com/office/drawing/2014/main" id="{A763F028-EBF4-439F-A89A-DC6D9DE7E9D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8" name="Picture 57">
            <a:extLst>
              <a:ext uri="{FF2B5EF4-FFF2-40B4-BE49-F238E27FC236}">
                <a16:creationId xmlns:a16="http://schemas.microsoft.com/office/drawing/2014/main" id="{2CE16758-39C7-47E8-A838-463A8D827B3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9" name="Picture 58">
            <a:extLst>
              <a:ext uri="{FF2B5EF4-FFF2-40B4-BE49-F238E27FC236}">
                <a16:creationId xmlns:a16="http://schemas.microsoft.com/office/drawing/2014/main" id="{062C679E-3814-4AF7-A3E6-ABD5512BB90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60" name="Picture 59">
            <a:extLst>
              <a:ext uri="{FF2B5EF4-FFF2-40B4-BE49-F238E27FC236}">
                <a16:creationId xmlns:a16="http://schemas.microsoft.com/office/drawing/2014/main" id="{41B4A363-B30A-490A-9290-84ED9C68410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61" name="Picture 60">
            <a:extLst>
              <a:ext uri="{FF2B5EF4-FFF2-40B4-BE49-F238E27FC236}">
                <a16:creationId xmlns:a16="http://schemas.microsoft.com/office/drawing/2014/main" id="{C207ABA6-57CA-4B11-B4DE-7FCFD19D6EB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2" name="Rectangle 61">
            <a:extLst>
              <a:ext uri="{FF2B5EF4-FFF2-40B4-BE49-F238E27FC236}">
                <a16:creationId xmlns:a16="http://schemas.microsoft.com/office/drawing/2014/main" id="{CD9DB0BB-C8B8-4423-A00A-4EA1339FE349}"/>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7CA062AB-BC5C-402F-B8BF-EFDA169C6B9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4" name="Rectangle 63">
            <a:extLst>
              <a:ext uri="{FF2B5EF4-FFF2-40B4-BE49-F238E27FC236}">
                <a16:creationId xmlns:a16="http://schemas.microsoft.com/office/drawing/2014/main" id="{96D1A4B7-AF74-4F65-A530-AE33B70663D2}"/>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5" name="Picture 64">
            <a:extLst>
              <a:ext uri="{FF2B5EF4-FFF2-40B4-BE49-F238E27FC236}">
                <a16:creationId xmlns:a16="http://schemas.microsoft.com/office/drawing/2014/main" id="{16D3D1C1-2906-4765-94D1-25458836C4E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06304737-E06B-45F0-81B8-9FF642AF8F5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DE5DF711-1D12-4E13-A20C-45990CA0C037}"/>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28592271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8F0C54BD-D8A0-48CE-BE94-80F322CD9B1B}"/>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7" name="TextBox 26">
            <a:extLst>
              <a:ext uri="{FF2B5EF4-FFF2-40B4-BE49-F238E27FC236}">
                <a16:creationId xmlns:a16="http://schemas.microsoft.com/office/drawing/2014/main" id="{DCEC7BB0-8F09-423A-82DB-BD0D7D51551C}"/>
              </a:ext>
            </a:extLst>
          </p:cNvPr>
          <p:cNvSpPr txBox="1"/>
          <p:nvPr/>
        </p:nvSpPr>
        <p:spPr>
          <a:xfrm>
            <a:off x="339452" y="1714052"/>
            <a:ext cx="11773577" cy="4062651"/>
          </a:xfrm>
          <a:prstGeom prst="rect">
            <a:avLst/>
          </a:prstGeom>
          <a:noFill/>
        </p:spPr>
        <p:txBody>
          <a:bodyPr wrap="square">
            <a:spAutoFit/>
          </a:bodyPr>
          <a:lstStyle/>
          <a:p>
            <a:r>
              <a:rPr lang="en-US" sz="2000" b="1" dirty="0">
                <a:latin typeface="Montserrat Medium" pitchFamily="50" charset="0"/>
              </a:rPr>
              <a:t>Answers to the questions and objectives</a:t>
            </a:r>
          </a:p>
          <a:p>
            <a:endParaRPr lang="en-US" dirty="0">
              <a:latin typeface="Montserrat" pitchFamily="2" charset="0"/>
            </a:endParaRPr>
          </a:p>
          <a:p>
            <a:pPr marL="285750" indent="-285750">
              <a:buFont typeface="Wingdings" panose="05000000000000000000" pitchFamily="2" charset="2"/>
              <a:buChar char="§"/>
            </a:pPr>
            <a:r>
              <a:rPr lang="en-US" dirty="0">
                <a:latin typeface="Montserrat Medium" pitchFamily="50" charset="0"/>
              </a:rPr>
              <a:t>Each interaction receives a recommendation-specific Shapley contribution.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Across both datasets, all ASV variants improve their baselines, with F1 gains from 0.95% to 12.0%.</a:t>
            </a:r>
          </a:p>
          <a:p>
            <a:r>
              <a:rPr lang="en-US" dirty="0">
                <a:latin typeface="Montserrat Medium" pitchFamily="50" charset="0"/>
              </a:rPr>
              <a:t> </a:t>
            </a:r>
          </a:p>
          <a:p>
            <a:pPr marL="285750" indent="-285750">
              <a:buFont typeface="Wingdings" panose="05000000000000000000" pitchFamily="2" charset="2"/>
              <a:buChar char="§"/>
            </a:pPr>
            <a:r>
              <a:rPr lang="en-US" dirty="0">
                <a:latin typeface="Montserrat Medium" pitchFamily="50" charset="0"/>
              </a:rPr>
              <a:t>The same scores support both reweighting and interaction-level explanation.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Overhead can be substantial: ASV-MF performs best on </a:t>
            </a:r>
            <a:r>
              <a:rPr lang="en-US" dirty="0" err="1">
                <a:latin typeface="Montserrat Medium" pitchFamily="50" charset="0"/>
              </a:rPr>
              <a:t>MovieLens</a:t>
            </a:r>
            <a:r>
              <a:rPr lang="en-US" dirty="0">
                <a:latin typeface="Montserrat Medium" pitchFamily="50" charset="0"/>
              </a:rPr>
              <a:t>, ASV-NCF on Amazon, while ASV-MF offers weak value on Amazon.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The results show offline contribution-aware adjustment, not long-term streaming adaptation. </a:t>
            </a:r>
          </a:p>
          <a:p>
            <a:br>
              <a:rPr lang="en-US" sz="2000" b="0" dirty="0">
                <a:solidFill>
                  <a:srgbClr val="BBBEBF"/>
                </a:solidFill>
                <a:effectLst/>
                <a:latin typeface="Consolas" panose="020B0609020204030204" pitchFamily="49" charset="0"/>
              </a:rPr>
            </a:br>
            <a:endParaRPr lang="en-US" sz="2000" b="0" dirty="0">
              <a:solidFill>
                <a:srgbClr val="BBBEBF"/>
              </a:solidFill>
              <a:effectLst/>
              <a:latin typeface="Consolas" panose="020B0609020204030204" pitchFamily="49" charset="0"/>
            </a:endParaRPr>
          </a:p>
        </p:txBody>
      </p:sp>
      <p:sp>
        <p:nvSpPr>
          <p:cNvPr id="33" name="Rectangle 32">
            <a:extLst>
              <a:ext uri="{FF2B5EF4-FFF2-40B4-BE49-F238E27FC236}">
                <a16:creationId xmlns:a16="http://schemas.microsoft.com/office/drawing/2014/main" id="{0B653ECF-D1C7-456B-A71A-A3D5DB6F0439}"/>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EE3A88B8-1AD2-4E86-A80F-E8EF1E842EFE}"/>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E1BCA61-E388-454F-A2A7-4C71A42DC854}"/>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E117A5D1-1464-4B78-A0D6-3D1FB4F7FA91}"/>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63DA7F16-1086-455E-BC78-81D2988C1924}"/>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A7DFD9B2-5C6A-40DC-B060-E92C0E44470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6" name="Picture 55">
            <a:extLst>
              <a:ext uri="{FF2B5EF4-FFF2-40B4-BE49-F238E27FC236}">
                <a16:creationId xmlns:a16="http://schemas.microsoft.com/office/drawing/2014/main" id="{FE53E0F8-3421-4292-BA34-83436D65D89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7" name="Picture 56">
            <a:extLst>
              <a:ext uri="{FF2B5EF4-FFF2-40B4-BE49-F238E27FC236}">
                <a16:creationId xmlns:a16="http://schemas.microsoft.com/office/drawing/2014/main" id="{C3840795-81BB-48B8-9D3A-C5109E3C876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8" name="Picture 57">
            <a:extLst>
              <a:ext uri="{FF2B5EF4-FFF2-40B4-BE49-F238E27FC236}">
                <a16:creationId xmlns:a16="http://schemas.microsoft.com/office/drawing/2014/main" id="{FD9E10C0-2EC3-41A2-9DC3-6690D83D7EA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9" name="Picture 58">
            <a:extLst>
              <a:ext uri="{FF2B5EF4-FFF2-40B4-BE49-F238E27FC236}">
                <a16:creationId xmlns:a16="http://schemas.microsoft.com/office/drawing/2014/main" id="{95DF723C-7E41-4D30-9C80-9955027E79B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0" name="Rectangle 59">
            <a:extLst>
              <a:ext uri="{FF2B5EF4-FFF2-40B4-BE49-F238E27FC236}">
                <a16:creationId xmlns:a16="http://schemas.microsoft.com/office/drawing/2014/main" id="{589DE81B-542A-4A2F-B3DE-AEE459C6DECC}"/>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D60CE7DC-AFB7-4079-9D18-8FDBE2253204}"/>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2" name="Rectangle 61">
            <a:extLst>
              <a:ext uri="{FF2B5EF4-FFF2-40B4-BE49-F238E27FC236}">
                <a16:creationId xmlns:a16="http://schemas.microsoft.com/office/drawing/2014/main" id="{AA701650-9506-4CBE-A3ED-CEC0DA2D8F9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F166E659-3153-45E4-B96E-06E8121480E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3EBC71D2-AD91-460F-9D2D-552BF57DDD19}"/>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B94FDBDD-5539-4E4A-8683-98E3FB76C9F2}"/>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211545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3C98E391-67C7-470F-85C1-9D5DF0FF2E56}"/>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5" name="TextBox 24">
            <a:extLst>
              <a:ext uri="{FF2B5EF4-FFF2-40B4-BE49-F238E27FC236}">
                <a16:creationId xmlns:a16="http://schemas.microsoft.com/office/drawing/2014/main" id="{9884BA67-8FDC-4E72-B27D-C9206445F476}"/>
              </a:ext>
            </a:extLst>
          </p:cNvPr>
          <p:cNvSpPr txBox="1"/>
          <p:nvPr/>
        </p:nvSpPr>
        <p:spPr>
          <a:xfrm>
            <a:off x="339452" y="1630855"/>
            <a:ext cx="11773577" cy="4770537"/>
          </a:xfrm>
          <a:prstGeom prst="rect">
            <a:avLst/>
          </a:prstGeom>
          <a:noFill/>
        </p:spPr>
        <p:txBody>
          <a:bodyPr wrap="square">
            <a:spAutoFit/>
          </a:bodyPr>
          <a:lstStyle/>
          <a:p>
            <a:r>
              <a:rPr lang="en-US" sz="2000" b="1" dirty="0">
                <a:latin typeface="Montserrat Medium" pitchFamily="50" charset="0"/>
              </a:rPr>
              <a:t>Key findings</a:t>
            </a:r>
          </a:p>
          <a:p>
            <a:endParaRPr lang="en-US" dirty="0">
              <a:latin typeface="Montserrat" pitchFamily="2" charset="0"/>
            </a:endParaRPr>
          </a:p>
          <a:p>
            <a:pPr marL="285750" indent="-285750" algn="just">
              <a:buFont typeface="Wingdings" panose="05000000000000000000" pitchFamily="2" charset="2"/>
              <a:buChar char="§"/>
            </a:pPr>
            <a:r>
              <a:rPr lang="en-US" dirty="0">
                <a:latin typeface="Montserrat Medium" pitchFamily="50" charset="0"/>
              </a:rPr>
              <a:t>Broadly reusable: Improves neighborhood, latent-factor, and neural models.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Dual purpose: Shapley values support both weighting and explanation.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Uneven gains: Strong baselines may have limited headroom, as with ASV-MF on Amazon.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Efficiency cost: Monte Carlo reduces complexity but increases training, prediction, and memory use.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Limited adaptivity: Supports inference-time or precomputed reweighting, not continuous production learning.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Different integration: UBCF/IBCF adjust scores directly; MF/NCF use offline enhancement. </a:t>
            </a:r>
          </a:p>
          <a:p>
            <a:br>
              <a:rPr lang="en-US" sz="1600" dirty="0">
                <a:effectLst/>
                <a:latin typeface="Montserrat" pitchFamily="2" charset="0"/>
              </a:rPr>
            </a:br>
            <a:endParaRPr lang="en-US" sz="1600" dirty="0">
              <a:effectLst/>
              <a:latin typeface="Montserrat" pitchFamily="2" charset="0"/>
            </a:endParaRPr>
          </a:p>
        </p:txBody>
      </p:sp>
      <p:sp>
        <p:nvSpPr>
          <p:cNvPr id="31" name="Rectangle 30">
            <a:extLst>
              <a:ext uri="{FF2B5EF4-FFF2-40B4-BE49-F238E27FC236}">
                <a16:creationId xmlns:a16="http://schemas.microsoft.com/office/drawing/2014/main" id="{7C69E741-5077-4338-9A0B-5EA54237DC92}"/>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AD0A8DD-13D9-4FA2-88DB-BCAD24EB4451}"/>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1608D25E-F7C9-4DF3-B08E-D88069D746A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DB9522C5-87E4-47BE-B4F4-3D5423B4980A}"/>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58A7C6D4-00B2-4C52-B1C1-D2D4FF390062}"/>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31BAC386-2A24-4558-A514-6F58F1BB599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5" name="Picture 54">
            <a:extLst>
              <a:ext uri="{FF2B5EF4-FFF2-40B4-BE49-F238E27FC236}">
                <a16:creationId xmlns:a16="http://schemas.microsoft.com/office/drawing/2014/main" id="{5634984B-1966-45D5-8E1B-8AF382D2466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6" name="Picture 55">
            <a:extLst>
              <a:ext uri="{FF2B5EF4-FFF2-40B4-BE49-F238E27FC236}">
                <a16:creationId xmlns:a16="http://schemas.microsoft.com/office/drawing/2014/main" id="{642696AB-A2C6-408D-90A4-8ACD049EE91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7" name="Picture 56">
            <a:extLst>
              <a:ext uri="{FF2B5EF4-FFF2-40B4-BE49-F238E27FC236}">
                <a16:creationId xmlns:a16="http://schemas.microsoft.com/office/drawing/2014/main" id="{79EECA85-295A-4CAE-8BAC-A3E2438A7F0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8" name="Picture 57">
            <a:extLst>
              <a:ext uri="{FF2B5EF4-FFF2-40B4-BE49-F238E27FC236}">
                <a16:creationId xmlns:a16="http://schemas.microsoft.com/office/drawing/2014/main" id="{67CB0EB2-9950-433F-A8C2-A64E676E08DE}"/>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9" name="Rectangle 58">
            <a:extLst>
              <a:ext uri="{FF2B5EF4-FFF2-40B4-BE49-F238E27FC236}">
                <a16:creationId xmlns:a16="http://schemas.microsoft.com/office/drawing/2014/main" id="{312F1FFD-B48A-46F6-B103-A9CB6789FFFF}"/>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F6E63520-9611-47E4-A1E4-F411746D052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1" name="Rectangle 60">
            <a:extLst>
              <a:ext uri="{FF2B5EF4-FFF2-40B4-BE49-F238E27FC236}">
                <a16:creationId xmlns:a16="http://schemas.microsoft.com/office/drawing/2014/main" id="{4E7FFBCB-EFE7-43B0-A88E-AD6676B89768}"/>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BF8C97BB-7EB7-4060-AA2B-BF75B2BD9EF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32" name="Picture 31">
            <a:extLst>
              <a:ext uri="{FF2B5EF4-FFF2-40B4-BE49-F238E27FC236}">
                <a16:creationId xmlns:a16="http://schemas.microsoft.com/office/drawing/2014/main" id="{53DD2D22-F3FF-423C-A75C-72C0F13CC4F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27349" y="6400800"/>
            <a:ext cx="385680" cy="385680"/>
          </a:xfrm>
          <a:prstGeom prst="rect">
            <a:avLst/>
          </a:prstGeom>
        </p:spPr>
      </p:pic>
      <p:pic>
        <p:nvPicPr>
          <p:cNvPr id="39" name="Picture 38">
            <a:extLst>
              <a:ext uri="{FF2B5EF4-FFF2-40B4-BE49-F238E27FC236}">
                <a16:creationId xmlns:a16="http://schemas.microsoft.com/office/drawing/2014/main" id="{AA6DA46B-99FE-4487-BF96-50316611F9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448916" y="6400800"/>
            <a:ext cx="385680" cy="385680"/>
          </a:xfrm>
          <a:prstGeom prst="rect">
            <a:avLst/>
          </a:prstGeom>
        </p:spPr>
      </p:pic>
    </p:spTree>
    <p:extLst>
      <p:ext uri="{BB962C8B-B14F-4D97-AF65-F5344CB8AC3E}">
        <p14:creationId xmlns:p14="http://schemas.microsoft.com/office/powerpoint/2010/main" val="42300104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3C98E391-67C7-470F-85C1-9D5DF0FF2E56}"/>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sp>
        <p:nvSpPr>
          <p:cNvPr id="25" name="TextBox 24">
            <a:extLst>
              <a:ext uri="{FF2B5EF4-FFF2-40B4-BE49-F238E27FC236}">
                <a16:creationId xmlns:a16="http://schemas.microsoft.com/office/drawing/2014/main" id="{7B7E6C52-3C51-4860-B198-46800728EFB4}"/>
              </a:ext>
            </a:extLst>
          </p:cNvPr>
          <p:cNvSpPr txBox="1"/>
          <p:nvPr/>
        </p:nvSpPr>
        <p:spPr>
          <a:xfrm>
            <a:off x="339452" y="1329909"/>
            <a:ext cx="11773577" cy="4585871"/>
          </a:xfrm>
          <a:prstGeom prst="rect">
            <a:avLst/>
          </a:prstGeom>
          <a:noFill/>
        </p:spPr>
        <p:txBody>
          <a:bodyPr wrap="square">
            <a:spAutoFit/>
          </a:bodyPr>
          <a:lstStyle/>
          <a:p>
            <a:r>
              <a:rPr lang="en-US" sz="2000" b="1" dirty="0">
                <a:latin typeface="Montserrat Medium" pitchFamily="50" charset="0"/>
              </a:rPr>
              <a:t>Limitations</a:t>
            </a:r>
          </a:p>
          <a:p>
            <a:endParaRPr lang="en-US" sz="2000" dirty="0">
              <a:latin typeface="Montserrat" pitchFamily="2" charset="0"/>
            </a:endParaRPr>
          </a:p>
          <a:p>
            <a:pPr marL="285750" indent="-285750" algn="just">
              <a:buFont typeface="Wingdings" panose="05000000000000000000" pitchFamily="2" charset="2"/>
              <a:buChar char="§"/>
            </a:pPr>
            <a:r>
              <a:rPr lang="en-US" b="1" dirty="0">
                <a:latin typeface="Montserrat Medium" pitchFamily="50" charset="0"/>
              </a:rPr>
              <a:t>High computation: </a:t>
            </a:r>
            <a:r>
              <a:rPr lang="en-US" dirty="0">
                <a:latin typeface="Montserrat Medium" pitchFamily="50" charset="0"/>
              </a:rPr>
              <a:t>Shapley estimation is costly for long histories.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Clean input bias: </a:t>
            </a:r>
            <a:r>
              <a:rPr lang="en-US" dirty="0">
                <a:latin typeface="Montserrat Medium" pitchFamily="50" charset="0"/>
              </a:rPr>
              <a:t>Implicit positives are less noisy than real production signals.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No drift testing: </a:t>
            </a:r>
            <a:r>
              <a:rPr lang="en-US" dirty="0">
                <a:latin typeface="Montserrat Medium" pitchFamily="50" charset="0"/>
              </a:rPr>
              <a:t>Controlled preference changes were not evaluated.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No live validation: </a:t>
            </a:r>
            <a:r>
              <a:rPr lang="en-US" dirty="0">
                <a:latin typeface="Montserrat Medium" pitchFamily="50" charset="0"/>
              </a:rPr>
              <a:t>No A/B test or dedicated user study was conducted. </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Limited statistics: </a:t>
            </a:r>
            <a:r>
              <a:rPr lang="en-US" dirty="0">
                <a:latin typeface="Montserrat Medium" pitchFamily="50" charset="0"/>
              </a:rPr>
              <a:t>Multi-seed variance and paired significance tests are missing.</a:t>
            </a:r>
          </a:p>
          <a:p>
            <a:pPr algn="just"/>
            <a:r>
              <a:rPr lang="en-US" dirty="0">
                <a:latin typeface="Montserrat Medium" pitchFamily="50" charset="0"/>
              </a:rPr>
              <a:t> </a:t>
            </a:r>
          </a:p>
          <a:p>
            <a:pPr marL="285750" indent="-285750" algn="just">
              <a:buFont typeface="Wingdings" panose="05000000000000000000" pitchFamily="2" charset="2"/>
              <a:buChar char="§"/>
            </a:pPr>
            <a:r>
              <a:rPr lang="en-US" b="1" dirty="0">
                <a:latin typeface="Montserrat Medium" pitchFamily="50" charset="0"/>
              </a:rPr>
              <a:t>Limited model scope: </a:t>
            </a:r>
            <a:r>
              <a:rPr lang="en-US" dirty="0">
                <a:latin typeface="Montserrat Medium" pitchFamily="50" charset="0"/>
              </a:rPr>
              <a:t>Deep graph recommenders were not tested. </a:t>
            </a:r>
          </a:p>
          <a:p>
            <a:pPr algn="just"/>
            <a:endParaRPr lang="en-US" dirty="0">
              <a:latin typeface="Montserrat Medium" pitchFamily="50" charset="0"/>
            </a:endParaRPr>
          </a:p>
          <a:p>
            <a:pPr marL="285750" indent="-285750" algn="just">
              <a:buFont typeface="Wingdings" panose="05000000000000000000" pitchFamily="2" charset="2"/>
              <a:buChar char="§"/>
            </a:pPr>
            <a:r>
              <a:rPr lang="en-US" b="1" dirty="0">
                <a:latin typeface="Montserrat Medium" pitchFamily="50" charset="0"/>
              </a:rPr>
              <a:t>Sampled ranking bias</a:t>
            </a:r>
            <a:r>
              <a:rPr lang="en-US" dirty="0">
                <a:latin typeface="Montserrat Medium" pitchFamily="50" charset="0"/>
              </a:rPr>
              <a:t>: Results may overstate full-catalog performance. </a:t>
            </a:r>
          </a:p>
          <a:p>
            <a:pPr marL="285750" indent="-285750">
              <a:buFont typeface="Wingdings" panose="05000000000000000000" pitchFamily="2" charset="2"/>
              <a:buChar char="§"/>
            </a:pPr>
            <a:endParaRPr lang="en-US" b="0" dirty="0">
              <a:effectLst/>
              <a:latin typeface="Montserrat" pitchFamily="2" charset="0"/>
            </a:endParaRPr>
          </a:p>
        </p:txBody>
      </p:sp>
      <p:sp>
        <p:nvSpPr>
          <p:cNvPr id="63" name="Rectangle 62">
            <a:extLst>
              <a:ext uri="{FF2B5EF4-FFF2-40B4-BE49-F238E27FC236}">
                <a16:creationId xmlns:a16="http://schemas.microsoft.com/office/drawing/2014/main" id="{AE8A0A5D-5245-45D1-AA90-AA7943CF44D8}"/>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64" name="Rectangle 63">
            <a:extLst>
              <a:ext uri="{FF2B5EF4-FFF2-40B4-BE49-F238E27FC236}">
                <a16:creationId xmlns:a16="http://schemas.microsoft.com/office/drawing/2014/main" id="{405B15B7-0873-4D4A-80C5-EB607BC87128}"/>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65" name="Rectangle 64">
            <a:extLst>
              <a:ext uri="{FF2B5EF4-FFF2-40B4-BE49-F238E27FC236}">
                <a16:creationId xmlns:a16="http://schemas.microsoft.com/office/drawing/2014/main" id="{43098FD6-B691-43BF-9A28-2ED2F1ACBF31}"/>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66" name="Rectangle 65">
            <a:extLst>
              <a:ext uri="{FF2B5EF4-FFF2-40B4-BE49-F238E27FC236}">
                <a16:creationId xmlns:a16="http://schemas.microsoft.com/office/drawing/2014/main" id="{93C22F87-E1F6-4242-BE7D-42492FAD66E4}"/>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67" name="Rectangle 66">
            <a:extLst>
              <a:ext uri="{FF2B5EF4-FFF2-40B4-BE49-F238E27FC236}">
                <a16:creationId xmlns:a16="http://schemas.microsoft.com/office/drawing/2014/main" id="{091D736C-5FC1-4F17-AD6F-04F24C56CBEA}"/>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8" name="Picture 67">
            <a:extLst>
              <a:ext uri="{FF2B5EF4-FFF2-40B4-BE49-F238E27FC236}">
                <a16:creationId xmlns:a16="http://schemas.microsoft.com/office/drawing/2014/main" id="{99D130EC-A64B-45D8-816D-3FF7ECD6AE4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69" name="Picture 68">
            <a:extLst>
              <a:ext uri="{FF2B5EF4-FFF2-40B4-BE49-F238E27FC236}">
                <a16:creationId xmlns:a16="http://schemas.microsoft.com/office/drawing/2014/main" id="{7A55A292-D2D7-4950-88DB-D8BB5BAA4C0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70" name="Picture 69">
            <a:extLst>
              <a:ext uri="{FF2B5EF4-FFF2-40B4-BE49-F238E27FC236}">
                <a16:creationId xmlns:a16="http://schemas.microsoft.com/office/drawing/2014/main" id="{0561A45F-CAF2-4D5B-A552-264C5B8457D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71" name="Picture 70">
            <a:extLst>
              <a:ext uri="{FF2B5EF4-FFF2-40B4-BE49-F238E27FC236}">
                <a16:creationId xmlns:a16="http://schemas.microsoft.com/office/drawing/2014/main" id="{695FAB7F-3D99-498C-8779-0D1B5E2DB89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72" name="Picture 71">
            <a:extLst>
              <a:ext uri="{FF2B5EF4-FFF2-40B4-BE49-F238E27FC236}">
                <a16:creationId xmlns:a16="http://schemas.microsoft.com/office/drawing/2014/main" id="{017B9EDA-A890-450C-8D1E-E0CBD86D39C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73" name="Rectangle 72">
            <a:extLst>
              <a:ext uri="{FF2B5EF4-FFF2-40B4-BE49-F238E27FC236}">
                <a16:creationId xmlns:a16="http://schemas.microsoft.com/office/drawing/2014/main" id="{B1FEA9BA-1BCD-4C00-89CC-5418CAE2A4EB}"/>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74" name="Picture 73">
            <a:extLst>
              <a:ext uri="{FF2B5EF4-FFF2-40B4-BE49-F238E27FC236}">
                <a16:creationId xmlns:a16="http://schemas.microsoft.com/office/drawing/2014/main" id="{FC0B7E88-B3DE-4ECA-AA85-305AEBE08C3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75" name="Rectangle 74">
            <a:extLst>
              <a:ext uri="{FF2B5EF4-FFF2-40B4-BE49-F238E27FC236}">
                <a16:creationId xmlns:a16="http://schemas.microsoft.com/office/drawing/2014/main" id="{E8942FEC-782F-4C31-B2DE-1A6D7092951B}"/>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76" name="Picture 75">
            <a:extLst>
              <a:ext uri="{FF2B5EF4-FFF2-40B4-BE49-F238E27FC236}">
                <a16:creationId xmlns:a16="http://schemas.microsoft.com/office/drawing/2014/main" id="{71507719-73FD-471A-AE88-AD1098732EB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7" name="Picture 26">
            <a:extLst>
              <a:ext uri="{FF2B5EF4-FFF2-40B4-BE49-F238E27FC236}">
                <a16:creationId xmlns:a16="http://schemas.microsoft.com/office/drawing/2014/main" id="{1FC0DCA2-4E31-4B07-BB35-7B5AF4E8AA1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B4BC122D-DFFC-4BD5-AA9E-531D98A88C0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4010049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3C98E391-67C7-470F-85C1-9D5DF0FF2E56}"/>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Dynamic Recommender Systems with Real-time Shapley Value-based Contribution Adjustment </a:t>
            </a:r>
          </a:p>
        </p:txBody>
      </p:sp>
      <p:graphicFrame>
        <p:nvGraphicFramePr>
          <p:cNvPr id="25" name="Table 7">
            <a:extLst>
              <a:ext uri="{FF2B5EF4-FFF2-40B4-BE49-F238E27FC236}">
                <a16:creationId xmlns:a16="http://schemas.microsoft.com/office/drawing/2014/main" id="{BC654376-214D-471C-A2E2-FAED5004AA27}"/>
              </a:ext>
            </a:extLst>
          </p:cNvPr>
          <p:cNvGraphicFramePr>
            <a:graphicFrameLocks noGrp="1"/>
          </p:cNvGraphicFramePr>
          <p:nvPr>
            <p:extLst>
              <p:ext uri="{D42A27DB-BD31-4B8C-83A1-F6EECF244321}">
                <p14:modId xmlns:p14="http://schemas.microsoft.com/office/powerpoint/2010/main" val="3059883715"/>
              </p:ext>
            </p:extLst>
          </p:nvPr>
        </p:nvGraphicFramePr>
        <p:xfrm>
          <a:off x="206046" y="4238243"/>
          <a:ext cx="11906983" cy="1280160"/>
        </p:xfrm>
        <a:graphic>
          <a:graphicData uri="http://schemas.openxmlformats.org/drawingml/2006/table">
            <a:tbl>
              <a:tblPr firstRow="1" bandRow="1">
                <a:tableStyleId>{21E4AEA4-8DFA-4A89-87EB-49C32662AFE0}</a:tableStyleId>
              </a:tblPr>
              <a:tblGrid>
                <a:gridCol w="11906983">
                  <a:extLst>
                    <a:ext uri="{9D8B030D-6E8A-4147-A177-3AD203B41FA5}">
                      <a16:colId xmlns:a16="http://schemas.microsoft.com/office/drawing/2014/main" val="1386659453"/>
                    </a:ext>
                  </a:extLst>
                </a:gridCol>
              </a:tblGrid>
              <a:tr h="2569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ontserrat Medium" pitchFamily="50" charset="0"/>
                        </a:rPr>
                        <a:t>Takeaway – Contribution I</a:t>
                      </a:r>
                      <a:r>
                        <a:rPr lang="en-US" sz="1800" dirty="0">
                          <a:latin typeface="Montserrat Medium" pitchFamily="50" charset="0"/>
                        </a:rPr>
                        <a:t>I</a:t>
                      </a:r>
                    </a:p>
                  </a:txBody>
                  <a:tcPr/>
                </a:tc>
                <a:extLst>
                  <a:ext uri="{0D108BD9-81ED-4DB2-BD59-A6C34878D82A}">
                    <a16:rowId xmlns:a16="http://schemas.microsoft.com/office/drawing/2014/main" val="2958281240"/>
                  </a:ext>
                </a:extLst>
              </a:tr>
              <a:tr h="808879">
                <a:tc>
                  <a:txBody>
                    <a:bodyPr/>
                    <a:lstStyle/>
                    <a:p>
                      <a:pPr algn="just"/>
                      <a:r>
                        <a:rPr lang="en-US" b="0" dirty="0">
                          <a:latin typeface="Montserrat" pitchFamily="2" charset="0"/>
                        </a:rPr>
                        <a:t>We must address Euclidean distortion and flat explanations by modeling user–item–category hierarchies in non-Euclidean space, extending Shapley attribution, generating multi-level explanations, and evaluating their faithfulness and usefulness. </a:t>
                      </a:r>
                    </a:p>
                  </a:txBody>
                  <a:tcPr/>
                </a:tc>
                <a:extLst>
                  <a:ext uri="{0D108BD9-81ED-4DB2-BD59-A6C34878D82A}">
                    <a16:rowId xmlns:a16="http://schemas.microsoft.com/office/drawing/2014/main" val="2059531609"/>
                  </a:ext>
                </a:extLst>
              </a:tr>
            </a:tbl>
          </a:graphicData>
        </a:graphic>
      </p:graphicFrame>
      <p:sp>
        <p:nvSpPr>
          <p:cNvPr id="26" name="TextBox 25">
            <a:extLst>
              <a:ext uri="{FF2B5EF4-FFF2-40B4-BE49-F238E27FC236}">
                <a16:creationId xmlns:a16="http://schemas.microsoft.com/office/drawing/2014/main" id="{5C342D4F-59FE-4EA7-A29A-8B1A72268AF6}"/>
              </a:ext>
            </a:extLst>
          </p:cNvPr>
          <p:cNvSpPr txBox="1"/>
          <p:nvPr/>
        </p:nvSpPr>
        <p:spPr>
          <a:xfrm>
            <a:off x="349514" y="1415010"/>
            <a:ext cx="11773577" cy="2954655"/>
          </a:xfrm>
          <a:prstGeom prst="rect">
            <a:avLst/>
          </a:prstGeom>
          <a:noFill/>
        </p:spPr>
        <p:txBody>
          <a:bodyPr wrap="square">
            <a:spAutoFit/>
          </a:bodyPr>
          <a:lstStyle/>
          <a:p>
            <a:r>
              <a:rPr lang="en-US" sz="2000" b="1" dirty="0">
                <a:latin typeface="Montserrat Medium" pitchFamily="50" charset="0"/>
              </a:rPr>
              <a:t>Takeaways</a:t>
            </a:r>
          </a:p>
          <a:p>
            <a:endParaRPr lang="en-US" sz="2000" dirty="0">
              <a:latin typeface="Montserrat" pitchFamily="2" charset="0"/>
            </a:endParaRPr>
          </a:p>
          <a:p>
            <a:pPr marL="342900" indent="-342900" algn="just">
              <a:buFont typeface="Wingdings" panose="05000000000000000000" pitchFamily="2" charset="2"/>
              <a:buChar char="§"/>
            </a:pPr>
            <a:r>
              <a:rPr lang="en-US" b="1" dirty="0">
                <a:latin typeface="Montserrat Medium" pitchFamily="50" charset="0"/>
              </a:rPr>
              <a:t>Current limitation: </a:t>
            </a:r>
            <a:r>
              <a:rPr lang="en-US" dirty="0">
                <a:latin typeface="Montserrat Medium" pitchFamily="50" charset="0"/>
              </a:rPr>
              <a:t>The current contribution models flat user–item structures in Euclidean space.</a:t>
            </a:r>
          </a:p>
          <a:p>
            <a:pPr algn="just"/>
            <a:r>
              <a:rPr lang="en-US" dirty="0">
                <a:latin typeface="Montserrat Medium" pitchFamily="50" charset="0"/>
              </a:rPr>
              <a:t> </a:t>
            </a:r>
          </a:p>
          <a:p>
            <a:pPr marL="342900" indent="-342900" algn="just">
              <a:buFont typeface="Wingdings" panose="05000000000000000000" pitchFamily="2" charset="2"/>
              <a:buChar char="§"/>
            </a:pPr>
            <a:r>
              <a:rPr lang="en-US" b="1" dirty="0">
                <a:latin typeface="Montserrat Medium" pitchFamily="50" charset="0"/>
              </a:rPr>
              <a:t>Hierarchical domains: </a:t>
            </a:r>
            <a:r>
              <a:rPr lang="en-US" dirty="0">
                <a:latin typeface="Montserrat Medium" pitchFamily="50" charset="0"/>
              </a:rPr>
              <a:t>Movies map to genres, while products belong to nested categories. </a:t>
            </a:r>
          </a:p>
          <a:p>
            <a:pPr algn="just"/>
            <a:endParaRPr lang="en-US" dirty="0">
              <a:latin typeface="Montserrat Medium" pitchFamily="50" charset="0"/>
            </a:endParaRPr>
          </a:p>
          <a:p>
            <a:pPr marL="342900" indent="-342900" algn="just">
              <a:buFont typeface="Wingdings" panose="05000000000000000000" pitchFamily="2" charset="2"/>
              <a:buChar char="§"/>
            </a:pPr>
            <a:r>
              <a:rPr lang="en-US" b="1" dirty="0">
                <a:latin typeface="Montserrat Medium" pitchFamily="50" charset="0"/>
              </a:rPr>
              <a:t>Preference propagation: </a:t>
            </a:r>
            <a:r>
              <a:rPr lang="en-US" dirty="0">
                <a:latin typeface="Montserrat Medium" pitchFamily="50" charset="0"/>
              </a:rPr>
              <a:t>Item preferences may influence related categories and their ancestors. </a:t>
            </a:r>
          </a:p>
          <a:p>
            <a:endParaRPr lang="en-US" sz="2000" dirty="0">
              <a:latin typeface="Montserrat" pitchFamily="2" charset="0"/>
            </a:endParaRPr>
          </a:p>
        </p:txBody>
      </p:sp>
      <p:sp>
        <p:nvSpPr>
          <p:cNvPr id="33" name="Rectangle 32">
            <a:extLst>
              <a:ext uri="{FF2B5EF4-FFF2-40B4-BE49-F238E27FC236}">
                <a16:creationId xmlns:a16="http://schemas.microsoft.com/office/drawing/2014/main" id="{4233D0EE-7CE8-43BB-9A92-B6651A4B99B1}"/>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5B50E126-8210-4584-9D08-33951A9D356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B2B12479-BE85-48CE-8C47-047367502BC1}"/>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E9E889E-B1D3-4EED-B233-E936F30A467F}"/>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FA471899-C9E9-4CD2-BDE7-3932020E2E35}"/>
              </a:ext>
            </a:extLst>
          </p:cNvPr>
          <p:cNvSpPr/>
          <p:nvPr/>
        </p:nvSpPr>
        <p:spPr>
          <a:xfrm>
            <a:off x="2423450" y="82455"/>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71A7A47B-97B0-42EB-91E0-BB6312D3D22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6" name="Picture 55">
            <a:extLst>
              <a:ext uri="{FF2B5EF4-FFF2-40B4-BE49-F238E27FC236}">
                <a16:creationId xmlns:a16="http://schemas.microsoft.com/office/drawing/2014/main" id="{07AB73B9-EE74-40EF-A075-851E02A82E3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7" name="Picture 56">
            <a:extLst>
              <a:ext uri="{FF2B5EF4-FFF2-40B4-BE49-F238E27FC236}">
                <a16:creationId xmlns:a16="http://schemas.microsoft.com/office/drawing/2014/main" id="{2399D83F-331D-4FD6-B27D-9C2B4E66581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8" name="Picture 57">
            <a:extLst>
              <a:ext uri="{FF2B5EF4-FFF2-40B4-BE49-F238E27FC236}">
                <a16:creationId xmlns:a16="http://schemas.microsoft.com/office/drawing/2014/main" id="{80D8A8E7-D272-4256-8753-DF25F8EC753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9" name="Picture 58">
            <a:extLst>
              <a:ext uri="{FF2B5EF4-FFF2-40B4-BE49-F238E27FC236}">
                <a16:creationId xmlns:a16="http://schemas.microsoft.com/office/drawing/2014/main" id="{5F59EFD1-889B-4ECD-BDCD-EA5DB02034C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0" name="Rectangle 59">
            <a:extLst>
              <a:ext uri="{FF2B5EF4-FFF2-40B4-BE49-F238E27FC236}">
                <a16:creationId xmlns:a16="http://schemas.microsoft.com/office/drawing/2014/main" id="{A381ABD3-8122-4B10-8D04-47E9AB25B32B}"/>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63273B32-936B-45DF-881E-29165604A46E}"/>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2" name="Rectangle 61">
            <a:extLst>
              <a:ext uri="{FF2B5EF4-FFF2-40B4-BE49-F238E27FC236}">
                <a16:creationId xmlns:a16="http://schemas.microsoft.com/office/drawing/2014/main" id="{8D0B4AFD-92C9-442B-9B79-4F3FD249D76C}"/>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42AA0139-9907-483E-A97B-DB12AFF2004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28ECA5F2-4E3E-4F87-9A81-9136AD59458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12AF54F1-CE14-45C4-B791-256D4AB61AD5}"/>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37156049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Montserrat Medium" pitchFamily="50" charset="0"/>
              </a:rPr>
              <a:t>Contribution III</a:t>
            </a:r>
          </a:p>
          <a:p>
            <a:pPr algn="ctr"/>
            <a:r>
              <a:rPr lang="en-US" sz="2400" dirty="0">
                <a:solidFill>
                  <a:schemeClr val="tx1"/>
                </a:solidFill>
                <a:latin typeface="Montserrat" pitchFamily="2" charset="0"/>
              </a:rPr>
              <a:t>Graph Neural Networks with Shapley-Value Explanations for Hierarchical Recommendation Systems</a:t>
            </a:r>
            <a:endParaRPr lang="en-US" sz="2400" b="1" dirty="0">
              <a:solidFill>
                <a:schemeClr val="tx1"/>
              </a:solidFill>
              <a:latin typeface="Montserrat" pitchFamily="2" charset="0"/>
            </a:endParaRP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11" name="Picture 10">
            <a:extLst>
              <a:ext uri="{FF2B5EF4-FFF2-40B4-BE49-F238E27FC236}">
                <a16:creationId xmlns:a16="http://schemas.microsoft.com/office/drawing/2014/main" id="{F12F7A59-75A8-477D-AE84-2A7CD6038F5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13" name="Picture 12">
            <a:extLst>
              <a:ext uri="{FF2B5EF4-FFF2-40B4-BE49-F238E27FC236}">
                <a16:creationId xmlns:a16="http://schemas.microsoft.com/office/drawing/2014/main" id="{7DD3C25F-AC3C-4B62-929F-79324707176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42275656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3" name="TextBox 22">
            <a:extLst>
              <a:ext uri="{FF2B5EF4-FFF2-40B4-BE49-F238E27FC236}">
                <a16:creationId xmlns:a16="http://schemas.microsoft.com/office/drawing/2014/main" id="{535CC49E-5AE6-45DA-8A4D-AFD6CA0FBC4D}"/>
              </a:ext>
            </a:extLst>
          </p:cNvPr>
          <p:cNvSpPr txBox="1"/>
          <p:nvPr/>
        </p:nvSpPr>
        <p:spPr>
          <a:xfrm>
            <a:off x="129299" y="1295335"/>
            <a:ext cx="11232206" cy="2062103"/>
          </a:xfrm>
          <a:prstGeom prst="rect">
            <a:avLst/>
          </a:prstGeom>
          <a:noFill/>
        </p:spPr>
        <p:txBody>
          <a:bodyPr wrap="square">
            <a:spAutoFit/>
          </a:bodyPr>
          <a:lstStyle/>
          <a:p>
            <a:r>
              <a:rPr lang="en-US" sz="2000" b="1" dirty="0">
                <a:latin typeface="Montserrat Medium" pitchFamily="50" charset="0"/>
              </a:rPr>
              <a:t>Research Gap</a:t>
            </a:r>
          </a:p>
          <a:p>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Products are organized into categories and subcategories</a:t>
            </a:r>
          </a:p>
          <a:p>
            <a:pPr marL="285750" indent="-285750" algn="just">
              <a:buFont typeface="Wingdings" panose="05000000000000000000" pitchFamily="2" charset="2"/>
              <a:buChar char="§"/>
            </a:pPr>
            <a:r>
              <a:rPr lang="en-US" dirty="0">
                <a:latin typeface="Montserrat Medium" pitchFamily="50" charset="0"/>
              </a:rPr>
              <a:t>Movies belong to genres</a:t>
            </a:r>
          </a:p>
          <a:p>
            <a:pPr marL="285750" indent="-285750" algn="just">
              <a:buFont typeface="Wingdings" panose="05000000000000000000" pitchFamily="2" charset="2"/>
              <a:buChar char="§"/>
            </a:pPr>
            <a:r>
              <a:rPr lang="en-US" dirty="0">
                <a:latin typeface="Montserrat Medium" pitchFamily="50" charset="0"/>
              </a:rPr>
              <a:t>Preferences can exist at item, category, and higher abstraction levels</a:t>
            </a:r>
          </a:p>
          <a:p>
            <a:pPr marL="285750" indent="-285750" algn="just">
              <a:buFont typeface="Wingdings" panose="05000000000000000000" pitchFamily="2" charset="2"/>
              <a:buChar char="§"/>
            </a:pPr>
            <a:r>
              <a:rPr lang="en-US" dirty="0">
                <a:latin typeface="Montserrat Medium" pitchFamily="50" charset="0"/>
              </a:rPr>
              <a:t>Parent–child relations create long-range dependencies.</a:t>
            </a:r>
          </a:p>
          <a:p>
            <a:pPr marL="285750" indent="-285750">
              <a:buFont typeface="Wingdings" panose="05000000000000000000" pitchFamily="2" charset="2"/>
              <a:buChar char="§"/>
            </a:pPr>
            <a:endParaRPr lang="en-US" dirty="0">
              <a:latin typeface="Montserrat" pitchFamily="2" charset="0"/>
            </a:endParaRPr>
          </a:p>
        </p:txBody>
      </p:sp>
      <p:graphicFrame>
        <p:nvGraphicFramePr>
          <p:cNvPr id="25" name="Table 7">
            <a:extLst>
              <a:ext uri="{FF2B5EF4-FFF2-40B4-BE49-F238E27FC236}">
                <a16:creationId xmlns:a16="http://schemas.microsoft.com/office/drawing/2014/main" id="{5156C60D-A712-469E-8DBA-074565262237}"/>
              </a:ext>
            </a:extLst>
          </p:cNvPr>
          <p:cNvGraphicFramePr>
            <a:graphicFrameLocks noGrp="1"/>
          </p:cNvGraphicFramePr>
          <p:nvPr>
            <p:extLst>
              <p:ext uri="{D42A27DB-BD31-4B8C-83A1-F6EECF244321}">
                <p14:modId xmlns:p14="http://schemas.microsoft.com/office/powerpoint/2010/main" val="1208857989"/>
              </p:ext>
            </p:extLst>
          </p:nvPr>
        </p:nvGraphicFramePr>
        <p:xfrm>
          <a:off x="199397" y="3227406"/>
          <a:ext cx="11863304" cy="1676400"/>
        </p:xfrm>
        <a:graphic>
          <a:graphicData uri="http://schemas.openxmlformats.org/drawingml/2006/table">
            <a:tbl>
              <a:tblPr firstRow="1" bandRow="1">
                <a:tableStyleId>{21E4AEA4-8DFA-4A89-87EB-49C32662AFE0}</a:tableStyleId>
              </a:tblPr>
              <a:tblGrid>
                <a:gridCol w="11863304">
                  <a:extLst>
                    <a:ext uri="{9D8B030D-6E8A-4147-A177-3AD203B41FA5}">
                      <a16:colId xmlns:a16="http://schemas.microsoft.com/office/drawing/2014/main" val="138665945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ontserrat" pitchFamily="2" charset="0"/>
                        </a:rPr>
                        <a:t>Research Gap </a:t>
                      </a:r>
                    </a:p>
                  </a:txBody>
                  <a:tcPr/>
                </a:tc>
                <a:extLst>
                  <a:ext uri="{0D108BD9-81ED-4DB2-BD59-A6C34878D82A}">
                    <a16:rowId xmlns:a16="http://schemas.microsoft.com/office/drawing/2014/main" val="2958281240"/>
                  </a:ext>
                </a:extLst>
              </a:tr>
              <a:tr h="1151617">
                <a:tc>
                  <a:txBody>
                    <a:bodyPr/>
                    <a:lstStyle/>
                    <a:p>
                      <a:pPr algn="just"/>
                      <a:r>
                        <a:rPr lang="en-US" sz="2000" dirty="0">
                          <a:latin typeface="Montserrat Medium" pitchFamily="50" charset="0"/>
                        </a:rPr>
                        <a:t>Hyperbolic models are more expressive for hierarchical data but harder to interpret. Existing Shapley-based explainers are commonly designed around Euclidean scoring and do not automatically preserve consistency with hyperbolic distance.</a:t>
                      </a:r>
                    </a:p>
                    <a:p>
                      <a:endParaRPr lang="en-US" sz="2000" dirty="0">
                        <a:latin typeface="Montserrat" pitchFamily="2" charset="0"/>
                      </a:endParaRPr>
                    </a:p>
                  </a:txBody>
                  <a:tcPr/>
                </a:tc>
                <a:extLst>
                  <a:ext uri="{0D108BD9-81ED-4DB2-BD59-A6C34878D82A}">
                    <a16:rowId xmlns:a16="http://schemas.microsoft.com/office/drawing/2014/main" val="2059531609"/>
                  </a:ext>
                </a:extLst>
              </a:tr>
            </a:tbl>
          </a:graphicData>
        </a:graphic>
      </p:graphicFrame>
      <p:sp>
        <p:nvSpPr>
          <p:cNvPr id="48" name="Rectangle 47">
            <a:extLst>
              <a:ext uri="{FF2B5EF4-FFF2-40B4-BE49-F238E27FC236}">
                <a16:creationId xmlns:a16="http://schemas.microsoft.com/office/drawing/2014/main" id="{E910E010-A831-4F98-A087-149C8EE74493}"/>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A886A724-CDCB-45D0-8E22-04D581B81DE5}"/>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47084444-90F2-4515-B77C-271CE2BFF8CA}"/>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4FDFC0A8-19ED-4D34-BB2A-D1CAE1CE849B}"/>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4B22D922-0DF6-4318-9431-50A77E55312E}"/>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3" name="Picture 52">
            <a:extLst>
              <a:ext uri="{FF2B5EF4-FFF2-40B4-BE49-F238E27FC236}">
                <a16:creationId xmlns:a16="http://schemas.microsoft.com/office/drawing/2014/main" id="{AB1823CB-DC69-4C58-AB1D-633E1A6CD09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4" name="Picture 53">
            <a:extLst>
              <a:ext uri="{FF2B5EF4-FFF2-40B4-BE49-F238E27FC236}">
                <a16:creationId xmlns:a16="http://schemas.microsoft.com/office/drawing/2014/main" id="{AD5C0A75-3645-4DF3-80F3-CB1C91D94B6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5" name="Picture 54">
            <a:extLst>
              <a:ext uri="{FF2B5EF4-FFF2-40B4-BE49-F238E27FC236}">
                <a16:creationId xmlns:a16="http://schemas.microsoft.com/office/drawing/2014/main" id="{70255708-F578-4511-9DD2-CED13DBDA8A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6" name="Picture 55">
            <a:extLst>
              <a:ext uri="{FF2B5EF4-FFF2-40B4-BE49-F238E27FC236}">
                <a16:creationId xmlns:a16="http://schemas.microsoft.com/office/drawing/2014/main" id="{ADCF0715-8198-475B-BED3-29A3ED03A0B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7" name="Picture 56">
            <a:extLst>
              <a:ext uri="{FF2B5EF4-FFF2-40B4-BE49-F238E27FC236}">
                <a16:creationId xmlns:a16="http://schemas.microsoft.com/office/drawing/2014/main" id="{5942CCE4-DBD9-4DA2-A938-8DCEA5BA553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8" name="Rectangle 57">
            <a:extLst>
              <a:ext uri="{FF2B5EF4-FFF2-40B4-BE49-F238E27FC236}">
                <a16:creationId xmlns:a16="http://schemas.microsoft.com/office/drawing/2014/main" id="{F41E16CD-E010-481F-B1DA-F1F9EAB1680D}"/>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9" name="Picture 58">
            <a:extLst>
              <a:ext uri="{FF2B5EF4-FFF2-40B4-BE49-F238E27FC236}">
                <a16:creationId xmlns:a16="http://schemas.microsoft.com/office/drawing/2014/main" id="{8777F134-A684-4006-833A-86AF371DA8D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0" name="Rectangle 59">
            <a:extLst>
              <a:ext uri="{FF2B5EF4-FFF2-40B4-BE49-F238E27FC236}">
                <a16:creationId xmlns:a16="http://schemas.microsoft.com/office/drawing/2014/main" id="{E1BB8833-5E58-4A84-A8CF-F33565E2916A}"/>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B7D56664-51ED-4D18-B007-4A3D2ED4490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30" name="TextBox 29">
            <a:extLst>
              <a:ext uri="{FF2B5EF4-FFF2-40B4-BE49-F238E27FC236}">
                <a16:creationId xmlns:a16="http://schemas.microsoft.com/office/drawing/2014/main" id="{4F32E812-2F1D-4CE5-B319-3AB8AB210A28}"/>
              </a:ext>
            </a:extLst>
          </p:cNvPr>
          <p:cNvSpPr txBox="1"/>
          <p:nvPr/>
        </p:nvSpPr>
        <p:spPr>
          <a:xfrm>
            <a:off x="96284" y="5488121"/>
            <a:ext cx="11966417" cy="707886"/>
          </a:xfrm>
          <a:prstGeom prst="rect">
            <a:avLst/>
          </a:prstGeom>
          <a:noFill/>
        </p:spPr>
        <p:txBody>
          <a:bodyPr wrap="square">
            <a:spAutoFit/>
          </a:bodyPr>
          <a:lstStyle/>
          <a:p>
            <a:r>
              <a:rPr lang="en-US" sz="1000" dirty="0">
                <a:latin typeface="Agency FB" panose="020B0503020202020204" pitchFamily="34" charset="0"/>
              </a:rPr>
              <a:t>[29] T. </a:t>
            </a:r>
            <a:r>
              <a:rPr lang="en-US" sz="1000" dirty="0" err="1">
                <a:latin typeface="Agency FB" panose="020B0503020202020204" pitchFamily="34" charset="0"/>
              </a:rPr>
              <a:t>Markchom</a:t>
            </a:r>
            <a:r>
              <a:rPr lang="en-US" sz="1000" dirty="0">
                <a:latin typeface="Agency FB" panose="020B0503020202020204" pitchFamily="34" charset="0"/>
              </a:rPr>
              <a:t>, H. Liang, and J. Ferryman, "Review of Explainable Graph-Based Recommender Systems," arXiv:2408.00166, 2024. </a:t>
            </a:r>
          </a:p>
          <a:p>
            <a:r>
              <a:rPr lang="en-US" sz="1000" dirty="0">
                <a:latin typeface="Agency FB" panose="020B0503020202020204" pitchFamily="34" charset="0"/>
              </a:rPr>
              <a:t>[30] X. He, "Graph Neural Networks in Recommender Systems," Applied and Computational Engineering, vol. 79, pp. 184–191, 2024.</a:t>
            </a:r>
          </a:p>
          <a:p>
            <a:r>
              <a:rPr lang="en-US" sz="1000" dirty="0">
                <a:latin typeface="Agency FB" panose="020B0503020202020204" pitchFamily="34" charset="0"/>
              </a:rPr>
              <a:t>[31] X. Yang et al., "</a:t>
            </a:r>
            <a:r>
              <a:rPr lang="en-US" sz="1000" dirty="0" err="1">
                <a:latin typeface="Agency FB" panose="020B0503020202020204" pitchFamily="34" charset="0"/>
              </a:rPr>
              <a:t>HgFormer</a:t>
            </a:r>
            <a:r>
              <a:rPr lang="en-US" sz="1000" dirty="0">
                <a:latin typeface="Agency FB" panose="020B0503020202020204" pitchFamily="34" charset="0"/>
              </a:rPr>
              <a:t>: Hyperbolic Graph Transformer for Collaborative Filtering," Proceedings of the 42nd International Conference on Machine Learning (ICML), 2025. </a:t>
            </a:r>
          </a:p>
          <a:p>
            <a:r>
              <a:rPr lang="en-US" sz="1000" dirty="0">
                <a:latin typeface="Agency FB" panose="020B0503020202020204" pitchFamily="34" charset="0"/>
              </a:rPr>
              <a:t>[32] Y. Zhang et al., "Hyperbolic Graph Representation Learning: Methods, Applications and Challenges—A Survey," Neurocomputing, vol. 652, Art. no. 131044, 2025.</a:t>
            </a:r>
          </a:p>
        </p:txBody>
      </p:sp>
      <p:pic>
        <p:nvPicPr>
          <p:cNvPr id="33" name="Picture 32">
            <a:extLst>
              <a:ext uri="{FF2B5EF4-FFF2-40B4-BE49-F238E27FC236}">
                <a16:creationId xmlns:a16="http://schemas.microsoft.com/office/drawing/2014/main" id="{69297946-173D-4BC1-8D05-6B14700ED5C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5" name="Picture 34">
            <a:extLst>
              <a:ext uri="{FF2B5EF4-FFF2-40B4-BE49-F238E27FC236}">
                <a16:creationId xmlns:a16="http://schemas.microsoft.com/office/drawing/2014/main" id="{4B8552B7-C93B-4E3B-8FE1-645E08450578}"/>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0925841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6" name="TextBox 25">
            <a:extLst>
              <a:ext uri="{FF2B5EF4-FFF2-40B4-BE49-F238E27FC236}">
                <a16:creationId xmlns:a16="http://schemas.microsoft.com/office/drawing/2014/main" id="{16614889-D14C-43DC-BC73-128DD2A4D477}"/>
              </a:ext>
            </a:extLst>
          </p:cNvPr>
          <p:cNvSpPr txBox="1"/>
          <p:nvPr/>
        </p:nvSpPr>
        <p:spPr>
          <a:xfrm>
            <a:off x="233422" y="1381712"/>
            <a:ext cx="5656947" cy="400110"/>
          </a:xfrm>
          <a:prstGeom prst="rect">
            <a:avLst/>
          </a:prstGeom>
          <a:noFill/>
        </p:spPr>
        <p:txBody>
          <a:bodyPr wrap="square">
            <a:spAutoFit/>
          </a:bodyPr>
          <a:lstStyle/>
          <a:p>
            <a:r>
              <a:rPr lang="en-US" sz="2000" b="1" dirty="0">
                <a:latin typeface="Montserrat Medium" pitchFamily="50" charset="0"/>
              </a:rPr>
              <a:t>Research Questions → Objectives</a:t>
            </a:r>
          </a:p>
        </p:txBody>
      </p:sp>
      <p:graphicFrame>
        <p:nvGraphicFramePr>
          <p:cNvPr id="2" name="Table 1">
            <a:extLst>
              <a:ext uri="{FF2B5EF4-FFF2-40B4-BE49-F238E27FC236}">
                <a16:creationId xmlns:a16="http://schemas.microsoft.com/office/drawing/2014/main" id="{954A002B-D3D6-4D73-9326-F9D56150A722}"/>
              </a:ext>
            </a:extLst>
          </p:cNvPr>
          <p:cNvGraphicFramePr>
            <a:graphicFrameLocks noGrp="1"/>
          </p:cNvGraphicFramePr>
          <p:nvPr>
            <p:extLst>
              <p:ext uri="{D42A27DB-BD31-4B8C-83A1-F6EECF244321}">
                <p14:modId xmlns:p14="http://schemas.microsoft.com/office/powerpoint/2010/main" val="4196420822"/>
              </p:ext>
            </p:extLst>
          </p:nvPr>
        </p:nvGraphicFramePr>
        <p:xfrm>
          <a:off x="206046" y="2148840"/>
          <a:ext cx="11818315" cy="2560320"/>
        </p:xfrm>
        <a:graphic>
          <a:graphicData uri="http://schemas.openxmlformats.org/drawingml/2006/table">
            <a:tbl>
              <a:tblPr>
                <a:tableStyleId>{BC89EF96-8CEA-46FF-86C4-4CE0E7609802}</a:tableStyleId>
              </a:tblPr>
              <a:tblGrid>
                <a:gridCol w="991818">
                  <a:extLst>
                    <a:ext uri="{9D8B030D-6E8A-4147-A177-3AD203B41FA5}">
                      <a16:colId xmlns:a16="http://schemas.microsoft.com/office/drawing/2014/main" val="2888061056"/>
                    </a:ext>
                  </a:extLst>
                </a:gridCol>
                <a:gridCol w="5266944">
                  <a:extLst>
                    <a:ext uri="{9D8B030D-6E8A-4147-A177-3AD203B41FA5}">
                      <a16:colId xmlns:a16="http://schemas.microsoft.com/office/drawing/2014/main" val="2116271916"/>
                    </a:ext>
                  </a:extLst>
                </a:gridCol>
                <a:gridCol w="5559553">
                  <a:extLst>
                    <a:ext uri="{9D8B030D-6E8A-4147-A177-3AD203B41FA5}">
                      <a16:colId xmlns:a16="http://schemas.microsoft.com/office/drawing/2014/main" val="3609778173"/>
                    </a:ext>
                  </a:extLst>
                </a:gridCol>
              </a:tblGrid>
              <a:tr h="0">
                <a:tc>
                  <a:txBody>
                    <a:bodyPr/>
                    <a:lstStyle/>
                    <a:p>
                      <a:pPr algn="ctr"/>
                      <a:r>
                        <a:rPr lang="en-US" b="1">
                          <a:latin typeface="Montserrat Medium" pitchFamily="50" charset="0"/>
                        </a:rPr>
                        <a:t>ID</a:t>
                      </a:r>
                    </a:p>
                  </a:txBody>
                  <a:tcPr anchor="ctr"/>
                </a:tc>
                <a:tc>
                  <a:txBody>
                    <a:bodyPr/>
                    <a:lstStyle/>
                    <a:p>
                      <a:pPr algn="ctr"/>
                      <a:r>
                        <a:rPr lang="en-US" b="1">
                          <a:latin typeface="Montserrat Medium" pitchFamily="50" charset="0"/>
                        </a:rPr>
                        <a:t>Research Question</a:t>
                      </a:r>
                    </a:p>
                  </a:txBody>
                  <a:tcPr anchor="ctr"/>
                </a:tc>
                <a:tc>
                  <a:txBody>
                    <a:bodyPr/>
                    <a:lstStyle/>
                    <a:p>
                      <a:pPr algn="ctr"/>
                      <a:r>
                        <a:rPr lang="en-US" b="1" dirty="0">
                          <a:latin typeface="Montserrat Medium" pitchFamily="50" charset="0"/>
                        </a:rPr>
                        <a:t>Objective</a:t>
                      </a:r>
                    </a:p>
                  </a:txBody>
                  <a:tcPr anchor="ctr"/>
                </a:tc>
                <a:extLst>
                  <a:ext uri="{0D108BD9-81ED-4DB2-BD59-A6C34878D82A}">
                    <a16:rowId xmlns:a16="http://schemas.microsoft.com/office/drawing/2014/main" val="1817827950"/>
                  </a:ext>
                </a:extLst>
              </a:tr>
              <a:tr h="0">
                <a:tc>
                  <a:txBody>
                    <a:bodyPr/>
                    <a:lstStyle/>
                    <a:p>
                      <a:pPr algn="ctr"/>
                      <a:r>
                        <a:rPr lang="en-US" b="1" dirty="0">
                          <a:latin typeface="Montserrat Medium" pitchFamily="50" charset="0"/>
                        </a:rPr>
                        <a:t>RQ3.1</a:t>
                      </a:r>
                      <a:endParaRPr lang="en-US" dirty="0">
                        <a:latin typeface="Montserrat Medium" pitchFamily="50" charset="0"/>
                      </a:endParaRPr>
                    </a:p>
                  </a:txBody>
                  <a:tcPr anchor="ctr"/>
                </a:tc>
                <a:tc>
                  <a:txBody>
                    <a:bodyPr/>
                    <a:lstStyle/>
                    <a:p>
                      <a:pPr algn="just"/>
                      <a:r>
                        <a:rPr lang="en-US" dirty="0">
                          <a:latin typeface="Montserrat Medium" pitchFamily="50" charset="0"/>
                        </a:rPr>
                        <a:t>Does hyperbolic learning improve accuracy for hierarchical user–item relations?</a:t>
                      </a:r>
                    </a:p>
                  </a:txBody>
                  <a:tcPr anchor="ctr"/>
                </a:tc>
                <a:tc>
                  <a:txBody>
                    <a:bodyPr/>
                    <a:lstStyle/>
                    <a:p>
                      <a:pPr algn="just"/>
                      <a:r>
                        <a:rPr lang="en-US" dirty="0">
                          <a:latin typeface="Montserrat Medium" pitchFamily="50" charset="0"/>
                        </a:rPr>
                        <a:t>Compare the full model with Euclidean, flattened, </a:t>
                      </a:r>
                      <a:r>
                        <a:rPr lang="en-US" dirty="0" err="1">
                          <a:latin typeface="Montserrat Medium" pitchFamily="50" charset="0"/>
                        </a:rPr>
                        <a:t>LightGCN</a:t>
                      </a:r>
                      <a:r>
                        <a:rPr lang="en-US" dirty="0">
                          <a:latin typeface="Montserrat Medium" pitchFamily="50" charset="0"/>
                        </a:rPr>
                        <a:t>, and Hyperbolic GCN baselines.</a:t>
                      </a:r>
                    </a:p>
                  </a:txBody>
                  <a:tcPr anchor="ctr"/>
                </a:tc>
                <a:extLst>
                  <a:ext uri="{0D108BD9-81ED-4DB2-BD59-A6C34878D82A}">
                    <a16:rowId xmlns:a16="http://schemas.microsoft.com/office/drawing/2014/main" val="543052945"/>
                  </a:ext>
                </a:extLst>
              </a:tr>
              <a:tr h="0">
                <a:tc>
                  <a:txBody>
                    <a:bodyPr/>
                    <a:lstStyle/>
                    <a:p>
                      <a:pPr algn="ctr"/>
                      <a:r>
                        <a:rPr lang="en-US" b="1" dirty="0">
                          <a:latin typeface="Montserrat Medium" pitchFamily="50" charset="0"/>
                        </a:rPr>
                        <a:t>RQ3.2</a:t>
                      </a:r>
                      <a:endParaRPr lang="en-US" dirty="0">
                        <a:latin typeface="Montserrat Medium" pitchFamily="50" charset="0"/>
                      </a:endParaRPr>
                    </a:p>
                  </a:txBody>
                  <a:tcPr anchor="ctr"/>
                </a:tc>
                <a:tc>
                  <a:txBody>
                    <a:bodyPr/>
                    <a:lstStyle/>
                    <a:p>
                      <a:pPr algn="just"/>
                      <a:r>
                        <a:rPr lang="en-US">
                          <a:latin typeface="Montserrat Medium" pitchFamily="50" charset="0"/>
                        </a:rPr>
                        <a:t>Can Shapley explanations be added without reducing performance?</a:t>
                      </a:r>
                    </a:p>
                  </a:txBody>
                  <a:tcPr anchor="ctr"/>
                </a:tc>
                <a:tc>
                  <a:txBody>
                    <a:bodyPr/>
                    <a:lstStyle/>
                    <a:p>
                      <a:pPr algn="just"/>
                      <a:r>
                        <a:rPr lang="en-US">
                          <a:latin typeface="Montserrat Medium" pitchFamily="50" charset="0"/>
                        </a:rPr>
                        <a:t>Compute hyperbolic Shapley contributions and compare with a non-Shapley variant.</a:t>
                      </a:r>
                    </a:p>
                  </a:txBody>
                  <a:tcPr anchor="ctr"/>
                </a:tc>
                <a:extLst>
                  <a:ext uri="{0D108BD9-81ED-4DB2-BD59-A6C34878D82A}">
                    <a16:rowId xmlns:a16="http://schemas.microsoft.com/office/drawing/2014/main" val="1478974388"/>
                  </a:ext>
                </a:extLst>
              </a:tr>
              <a:tr h="0">
                <a:tc>
                  <a:txBody>
                    <a:bodyPr/>
                    <a:lstStyle/>
                    <a:p>
                      <a:pPr algn="ctr"/>
                      <a:r>
                        <a:rPr lang="en-US" b="1" dirty="0">
                          <a:latin typeface="Montserrat Medium" pitchFamily="50" charset="0"/>
                        </a:rPr>
                        <a:t>RQ3.3</a:t>
                      </a:r>
                      <a:endParaRPr lang="en-US" dirty="0">
                        <a:latin typeface="Montserrat Medium" pitchFamily="50" charset="0"/>
                      </a:endParaRPr>
                    </a:p>
                  </a:txBody>
                  <a:tcPr anchor="ctr"/>
                </a:tc>
                <a:tc>
                  <a:txBody>
                    <a:bodyPr/>
                    <a:lstStyle/>
                    <a:p>
                      <a:pPr algn="just"/>
                      <a:r>
                        <a:rPr lang="en-US" dirty="0">
                          <a:latin typeface="Montserrat Medium" pitchFamily="50" charset="0"/>
                        </a:rPr>
                        <a:t>Do explanations reflect hierarchy and user preferences?</a:t>
                      </a:r>
                    </a:p>
                  </a:txBody>
                  <a:tcPr anchor="ctr"/>
                </a:tc>
                <a:tc>
                  <a:txBody>
                    <a:bodyPr/>
                    <a:lstStyle/>
                    <a:p>
                      <a:pPr algn="just"/>
                      <a:r>
                        <a:rPr lang="en-US" dirty="0">
                          <a:latin typeface="Montserrat Medium" pitchFamily="50" charset="0"/>
                        </a:rPr>
                        <a:t>Test hierarchical relevance, faithfulness, user judgments, and preference alignment.</a:t>
                      </a:r>
                    </a:p>
                  </a:txBody>
                  <a:tcPr anchor="ctr"/>
                </a:tc>
                <a:extLst>
                  <a:ext uri="{0D108BD9-81ED-4DB2-BD59-A6C34878D82A}">
                    <a16:rowId xmlns:a16="http://schemas.microsoft.com/office/drawing/2014/main" val="1959934299"/>
                  </a:ext>
                </a:extLst>
              </a:tr>
            </a:tbl>
          </a:graphicData>
        </a:graphic>
      </p:graphicFrame>
      <p:sp>
        <p:nvSpPr>
          <p:cNvPr id="48" name="Rectangle 47">
            <a:extLst>
              <a:ext uri="{FF2B5EF4-FFF2-40B4-BE49-F238E27FC236}">
                <a16:creationId xmlns:a16="http://schemas.microsoft.com/office/drawing/2014/main" id="{43BDC0EF-E3EA-4C17-87C8-8069DE43D588}"/>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33FD4B2E-6D51-47DF-AA9B-1541DF78DB1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ED03C036-5D1C-46C0-A23D-A7EC080369E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7B2CC9E4-44CF-43B9-860F-C5146AFD06E1}"/>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173CE47B-7E1A-4AAF-B15C-BB21BBA90D2A}"/>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3" name="Picture 52">
            <a:extLst>
              <a:ext uri="{FF2B5EF4-FFF2-40B4-BE49-F238E27FC236}">
                <a16:creationId xmlns:a16="http://schemas.microsoft.com/office/drawing/2014/main" id="{A57DB061-CD40-441F-AC55-249981547CF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4" name="Picture 53">
            <a:extLst>
              <a:ext uri="{FF2B5EF4-FFF2-40B4-BE49-F238E27FC236}">
                <a16:creationId xmlns:a16="http://schemas.microsoft.com/office/drawing/2014/main" id="{29827D3C-84F3-440F-AB2B-E008C70B8D3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5" name="Picture 54">
            <a:extLst>
              <a:ext uri="{FF2B5EF4-FFF2-40B4-BE49-F238E27FC236}">
                <a16:creationId xmlns:a16="http://schemas.microsoft.com/office/drawing/2014/main" id="{7A28BCC9-BC52-4135-9B41-3B272BAA5DB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6" name="Picture 55">
            <a:extLst>
              <a:ext uri="{FF2B5EF4-FFF2-40B4-BE49-F238E27FC236}">
                <a16:creationId xmlns:a16="http://schemas.microsoft.com/office/drawing/2014/main" id="{7A649B51-2E67-4EDC-8F31-D86D0F42726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7" name="Picture 56">
            <a:extLst>
              <a:ext uri="{FF2B5EF4-FFF2-40B4-BE49-F238E27FC236}">
                <a16:creationId xmlns:a16="http://schemas.microsoft.com/office/drawing/2014/main" id="{482D5D1C-C85F-4404-90F1-369BDD59FAF6}"/>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8" name="Rectangle 57">
            <a:extLst>
              <a:ext uri="{FF2B5EF4-FFF2-40B4-BE49-F238E27FC236}">
                <a16:creationId xmlns:a16="http://schemas.microsoft.com/office/drawing/2014/main" id="{0567E08A-06C1-46D4-AE5D-9C30986F10F8}"/>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9" name="Picture 58">
            <a:extLst>
              <a:ext uri="{FF2B5EF4-FFF2-40B4-BE49-F238E27FC236}">
                <a16:creationId xmlns:a16="http://schemas.microsoft.com/office/drawing/2014/main" id="{E64F616B-3F78-4FF8-AC8B-796E51F64E5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0" name="Rectangle 59">
            <a:extLst>
              <a:ext uri="{FF2B5EF4-FFF2-40B4-BE49-F238E27FC236}">
                <a16:creationId xmlns:a16="http://schemas.microsoft.com/office/drawing/2014/main" id="{70DCF8C3-7D87-4ABA-9900-F51B199DA2EC}"/>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2EB6B7EE-4BA8-49FF-A546-039E85E53C8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45747910-F87C-47A1-B6BB-019C8AB4542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42B0BFB6-7D65-4344-B274-581B545308E0}"/>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29488444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5" name="TextBox 34">
            <a:extLst>
              <a:ext uri="{FF2B5EF4-FFF2-40B4-BE49-F238E27FC236}">
                <a16:creationId xmlns:a16="http://schemas.microsoft.com/office/drawing/2014/main" id="{8360A9E7-F9C3-48EA-9710-D15A0DA6F519}"/>
              </a:ext>
            </a:extLst>
          </p:cNvPr>
          <p:cNvSpPr txBox="1"/>
          <p:nvPr/>
        </p:nvSpPr>
        <p:spPr>
          <a:xfrm>
            <a:off x="251673" y="1396419"/>
            <a:ext cx="7073687" cy="3754874"/>
          </a:xfrm>
          <a:prstGeom prst="rect">
            <a:avLst/>
          </a:prstGeom>
          <a:noFill/>
        </p:spPr>
        <p:txBody>
          <a:bodyPr wrap="square">
            <a:spAutoFit/>
          </a:bodyPr>
          <a:lstStyle/>
          <a:p>
            <a:r>
              <a:rPr lang="en-US" sz="2000" b="1" dirty="0">
                <a:latin typeface="Montserrat Medium" pitchFamily="50" charset="0"/>
              </a:rPr>
              <a:t>Hyperbolic Space</a:t>
            </a:r>
          </a:p>
          <a:p>
            <a:endParaRPr lang="en-US" sz="2000" dirty="0">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A curved, negatively-curved space. Distances grow exponentially outward, matching how a tree or hierarchy grows.</a:t>
            </a:r>
            <a:endParaRPr lang="en-US" b="1" dirty="0">
              <a:solidFill>
                <a:srgbClr val="98ECB7"/>
              </a:solidFill>
              <a:latin typeface="Montserrat Medium" pitchFamily="50" charset="0"/>
            </a:endParaRPr>
          </a:p>
          <a:p>
            <a:pPr algn="just"/>
            <a:endParaRPr lang="en-US" b="1" dirty="0">
              <a:solidFill>
                <a:srgbClr val="98ECB7"/>
              </a:solidFill>
              <a:latin typeface="Montserrat Medium" pitchFamily="50" charset="0"/>
            </a:endParaRPr>
          </a:p>
          <a:p>
            <a:pPr marL="285750" indent="-285750" algn="just">
              <a:buFont typeface="Arial" panose="020B0604020202020204" pitchFamily="34" charset="0"/>
              <a:buChar char="•"/>
            </a:pPr>
            <a:r>
              <a:rPr lang="en-US" dirty="0">
                <a:latin typeface="Montserrat Medium" pitchFamily="50" charset="0"/>
              </a:rPr>
              <a:t>First linked to real networks used for representation learning of hierarchies and then extended to graph neural networks.</a:t>
            </a:r>
            <a:endParaRPr lang="en-US" b="1" dirty="0">
              <a:solidFill>
                <a:srgbClr val="98ECB7"/>
              </a:solidFill>
              <a:latin typeface="Montserrat Medium" pitchFamily="50" charset="0"/>
            </a:endParaRPr>
          </a:p>
          <a:p>
            <a:pPr marL="285750" indent="-285750" algn="just">
              <a:buFont typeface="Arial" panose="020B0604020202020204" pitchFamily="34" charset="0"/>
              <a:buChar char="•"/>
            </a:pPr>
            <a:endParaRPr lang="en-US" b="1" dirty="0">
              <a:solidFill>
                <a:srgbClr val="98ECB7"/>
              </a:solidFill>
              <a:latin typeface="Montserrat Medium" pitchFamily="50" charset="0"/>
            </a:endParaRPr>
          </a:p>
          <a:p>
            <a:pPr marL="285750" indent="-285750">
              <a:buFont typeface="Arial" panose="020B0604020202020204" pitchFamily="34" charset="0"/>
              <a:buChar char="•"/>
            </a:pPr>
            <a:r>
              <a:rPr lang="en-US" dirty="0">
                <a:latin typeface="Montserrat Medium" pitchFamily="50" charset="0"/>
              </a:rPr>
              <a:t>Movies belong to genres, products to categories, hyperbolic space represents this hierarchy naturally and efficiently. This motivates Contribution III.</a:t>
            </a:r>
          </a:p>
        </p:txBody>
      </p:sp>
      <p:pic>
        <p:nvPicPr>
          <p:cNvPr id="5" name="Graphic 4">
            <a:extLst>
              <a:ext uri="{FF2B5EF4-FFF2-40B4-BE49-F238E27FC236}">
                <a16:creationId xmlns:a16="http://schemas.microsoft.com/office/drawing/2014/main" id="{87B3DC24-005C-400D-A885-33DB2E0395F7}"/>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2031" t="10718" r="53445" b="5385"/>
          <a:stretch/>
        </p:blipFill>
        <p:spPr>
          <a:xfrm>
            <a:off x="7436509" y="1261092"/>
            <a:ext cx="4466367" cy="4862601"/>
          </a:xfrm>
          <a:prstGeom prst="rect">
            <a:avLst/>
          </a:prstGeom>
        </p:spPr>
      </p:pic>
      <p:sp>
        <p:nvSpPr>
          <p:cNvPr id="38" name="TextBox 37">
            <a:extLst>
              <a:ext uri="{FF2B5EF4-FFF2-40B4-BE49-F238E27FC236}">
                <a16:creationId xmlns:a16="http://schemas.microsoft.com/office/drawing/2014/main" id="{DFAA3EBD-F0AB-4AC6-8F89-C00C4E3383FF}"/>
              </a:ext>
            </a:extLst>
          </p:cNvPr>
          <p:cNvSpPr txBox="1"/>
          <p:nvPr/>
        </p:nvSpPr>
        <p:spPr>
          <a:xfrm>
            <a:off x="202935" y="6069389"/>
            <a:ext cx="11989065" cy="246221"/>
          </a:xfrm>
          <a:prstGeom prst="rect">
            <a:avLst/>
          </a:prstGeom>
          <a:noFill/>
        </p:spPr>
        <p:txBody>
          <a:bodyPr wrap="square">
            <a:spAutoFit/>
          </a:bodyPr>
          <a:lstStyle/>
          <a:p>
            <a:r>
              <a:rPr lang="en-US" sz="1000" dirty="0">
                <a:latin typeface="Agency FB" panose="020B0503020202020204" pitchFamily="34" charset="0"/>
              </a:rPr>
              <a:t>[33] D. </a:t>
            </a:r>
            <a:r>
              <a:rPr lang="en-US" sz="1000" dirty="0" err="1">
                <a:latin typeface="Agency FB" panose="020B0503020202020204" pitchFamily="34" charset="0"/>
              </a:rPr>
              <a:t>Krioukov</a:t>
            </a:r>
            <a:r>
              <a:rPr lang="en-US" sz="1000" dirty="0">
                <a:latin typeface="Agency FB" panose="020B0503020202020204" pitchFamily="34" charset="0"/>
              </a:rPr>
              <a:t>, F. Papadopoulos, M. </a:t>
            </a:r>
            <a:r>
              <a:rPr lang="en-US" sz="1000" dirty="0" err="1">
                <a:latin typeface="Agency FB" panose="020B0503020202020204" pitchFamily="34" charset="0"/>
              </a:rPr>
              <a:t>Kitsak</a:t>
            </a:r>
            <a:r>
              <a:rPr lang="en-US" sz="1000" dirty="0">
                <a:latin typeface="Agency FB" panose="020B0503020202020204" pitchFamily="34" charset="0"/>
              </a:rPr>
              <a:t>, A. Vahdat, and M. </a:t>
            </a:r>
            <a:r>
              <a:rPr lang="en-US" sz="1000" dirty="0" err="1">
                <a:latin typeface="Agency FB" panose="020B0503020202020204" pitchFamily="34" charset="0"/>
              </a:rPr>
              <a:t>Boguñá</a:t>
            </a:r>
            <a:r>
              <a:rPr lang="en-US" sz="1000" dirty="0">
                <a:latin typeface="Agency FB" panose="020B0503020202020204" pitchFamily="34" charset="0"/>
              </a:rPr>
              <a:t>, "Hyperbolic Geometry of Complex Networks," Phys. Rev. E, vol. 82, no. 3, p. 036106, 2010.</a:t>
            </a:r>
          </a:p>
        </p:txBody>
      </p:sp>
      <p:sp>
        <p:nvSpPr>
          <p:cNvPr id="36" name="Rectangle 35">
            <a:extLst>
              <a:ext uri="{FF2B5EF4-FFF2-40B4-BE49-F238E27FC236}">
                <a16:creationId xmlns:a16="http://schemas.microsoft.com/office/drawing/2014/main" id="{8EA10D56-698B-4F14-BA43-188A585377B2}"/>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40" name="Rectangle 39">
            <a:extLst>
              <a:ext uri="{FF2B5EF4-FFF2-40B4-BE49-F238E27FC236}">
                <a16:creationId xmlns:a16="http://schemas.microsoft.com/office/drawing/2014/main" id="{EF02E983-8A5C-4CED-926D-3A96A747FB8C}"/>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1" name="Rectangle 40">
            <a:extLst>
              <a:ext uri="{FF2B5EF4-FFF2-40B4-BE49-F238E27FC236}">
                <a16:creationId xmlns:a16="http://schemas.microsoft.com/office/drawing/2014/main" id="{9083FC7E-F975-461A-BEF7-748FF4F4FBE4}"/>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2" name="Rectangle 41">
            <a:extLst>
              <a:ext uri="{FF2B5EF4-FFF2-40B4-BE49-F238E27FC236}">
                <a16:creationId xmlns:a16="http://schemas.microsoft.com/office/drawing/2014/main" id="{32F48F1D-7B08-471C-B79C-202FA93EFD17}"/>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43" name="Rectangle 42">
            <a:extLst>
              <a:ext uri="{FF2B5EF4-FFF2-40B4-BE49-F238E27FC236}">
                <a16:creationId xmlns:a16="http://schemas.microsoft.com/office/drawing/2014/main" id="{15C8CEFC-D0E8-4A50-AE76-82F805736E23}"/>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44" name="Rectangle 43">
            <a:extLst>
              <a:ext uri="{FF2B5EF4-FFF2-40B4-BE49-F238E27FC236}">
                <a16:creationId xmlns:a16="http://schemas.microsoft.com/office/drawing/2014/main" id="{C8500995-92C0-4FB0-8015-2237E8FBFD83}"/>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4B0EE596-EC3A-4269-8358-F5A15AEB0894}"/>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E00E1105-A769-41C6-B021-082C22A750FF}"/>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29D8196C-7938-4748-8935-EE58399D6752}"/>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61268B9A-1E35-4ED9-B563-A7912AD0CBD6}"/>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2" name="Picture 51">
            <a:extLst>
              <a:ext uri="{FF2B5EF4-FFF2-40B4-BE49-F238E27FC236}">
                <a16:creationId xmlns:a16="http://schemas.microsoft.com/office/drawing/2014/main" id="{8B6D497A-A066-4BBB-8F72-9E10D285A7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4" name="Picture 53">
            <a:extLst>
              <a:ext uri="{FF2B5EF4-FFF2-40B4-BE49-F238E27FC236}">
                <a16:creationId xmlns:a16="http://schemas.microsoft.com/office/drawing/2014/main" id="{9E162623-91C8-4E9F-B31F-619F5C8AFBB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61" name="Picture 60">
            <a:extLst>
              <a:ext uri="{FF2B5EF4-FFF2-40B4-BE49-F238E27FC236}">
                <a16:creationId xmlns:a16="http://schemas.microsoft.com/office/drawing/2014/main" id="{42AA5D57-36E0-4F15-8E54-CB7F5D19994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62" name="Picture 61">
            <a:extLst>
              <a:ext uri="{FF2B5EF4-FFF2-40B4-BE49-F238E27FC236}">
                <a16:creationId xmlns:a16="http://schemas.microsoft.com/office/drawing/2014/main" id="{3BCD2698-927E-4361-AE88-4342DBFA0726}"/>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63" name="Picture 62">
            <a:extLst>
              <a:ext uri="{FF2B5EF4-FFF2-40B4-BE49-F238E27FC236}">
                <a16:creationId xmlns:a16="http://schemas.microsoft.com/office/drawing/2014/main" id="{F7713769-323A-4C84-A3FE-370F6F75D73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4" name="Rectangle 63">
            <a:extLst>
              <a:ext uri="{FF2B5EF4-FFF2-40B4-BE49-F238E27FC236}">
                <a16:creationId xmlns:a16="http://schemas.microsoft.com/office/drawing/2014/main" id="{A9637954-4EED-46C8-B6D7-529FDBA5F543}"/>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5" name="Picture 64">
            <a:extLst>
              <a:ext uri="{FF2B5EF4-FFF2-40B4-BE49-F238E27FC236}">
                <a16:creationId xmlns:a16="http://schemas.microsoft.com/office/drawing/2014/main" id="{9BD593E5-D213-497C-9F1A-CE2A22627E8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6" name="Rectangle 65">
            <a:extLst>
              <a:ext uri="{FF2B5EF4-FFF2-40B4-BE49-F238E27FC236}">
                <a16:creationId xmlns:a16="http://schemas.microsoft.com/office/drawing/2014/main" id="{3CB2303A-2883-403D-A870-75E77883B0DD}"/>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7" name="Picture 66">
            <a:extLst>
              <a:ext uri="{FF2B5EF4-FFF2-40B4-BE49-F238E27FC236}">
                <a16:creationId xmlns:a16="http://schemas.microsoft.com/office/drawing/2014/main" id="{429D758A-8978-458F-9B99-4CFCD617784F}"/>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69" name="Picture 68">
            <a:extLst>
              <a:ext uri="{FF2B5EF4-FFF2-40B4-BE49-F238E27FC236}">
                <a16:creationId xmlns:a16="http://schemas.microsoft.com/office/drawing/2014/main" id="{581E7E6B-5A39-4364-A82A-423FC64DD6D0}"/>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70" name="Picture 69">
            <a:extLst>
              <a:ext uri="{FF2B5EF4-FFF2-40B4-BE49-F238E27FC236}">
                <a16:creationId xmlns:a16="http://schemas.microsoft.com/office/drawing/2014/main" id="{E7AD2733-E138-4999-A75C-456FBC03B4D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4238348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pic>
        <p:nvPicPr>
          <p:cNvPr id="5" name="Graphic 4">
            <a:extLst>
              <a:ext uri="{FF2B5EF4-FFF2-40B4-BE49-F238E27FC236}">
                <a16:creationId xmlns:a16="http://schemas.microsoft.com/office/drawing/2014/main" id="{87B3DC24-005C-400D-A885-33DB2E0395F7}"/>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2032" t="10718" r="1720" b="5385"/>
          <a:stretch/>
        </p:blipFill>
        <p:spPr>
          <a:xfrm>
            <a:off x="1200828" y="1198522"/>
            <a:ext cx="9997567" cy="5035148"/>
          </a:xfrm>
          <a:prstGeom prst="rect">
            <a:avLst/>
          </a:prstGeom>
        </p:spPr>
      </p:pic>
      <p:sp>
        <p:nvSpPr>
          <p:cNvPr id="35" name="Rectangle 34">
            <a:extLst>
              <a:ext uri="{FF2B5EF4-FFF2-40B4-BE49-F238E27FC236}">
                <a16:creationId xmlns:a16="http://schemas.microsoft.com/office/drawing/2014/main" id="{8DBCF6EA-15D7-4964-9E19-0A16D3D71646}"/>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9" name="Rectangle 38">
            <a:extLst>
              <a:ext uri="{FF2B5EF4-FFF2-40B4-BE49-F238E27FC236}">
                <a16:creationId xmlns:a16="http://schemas.microsoft.com/office/drawing/2014/main" id="{88691D22-5D76-485C-B939-C8C428DC3391}"/>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0" name="Rectangle 39">
            <a:extLst>
              <a:ext uri="{FF2B5EF4-FFF2-40B4-BE49-F238E27FC236}">
                <a16:creationId xmlns:a16="http://schemas.microsoft.com/office/drawing/2014/main" id="{8EFC9555-1B48-4DCD-BA10-74AFE82AB328}"/>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1" name="Rectangle 40">
            <a:extLst>
              <a:ext uri="{FF2B5EF4-FFF2-40B4-BE49-F238E27FC236}">
                <a16:creationId xmlns:a16="http://schemas.microsoft.com/office/drawing/2014/main" id="{35877FDC-9990-490E-A19D-0F740FF584D0}"/>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42" name="Rectangle 41">
            <a:extLst>
              <a:ext uri="{FF2B5EF4-FFF2-40B4-BE49-F238E27FC236}">
                <a16:creationId xmlns:a16="http://schemas.microsoft.com/office/drawing/2014/main" id="{FA8C2B0F-B20B-4624-A060-3E2ED823F970}"/>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43" name="Rectangle 42">
            <a:extLst>
              <a:ext uri="{FF2B5EF4-FFF2-40B4-BE49-F238E27FC236}">
                <a16:creationId xmlns:a16="http://schemas.microsoft.com/office/drawing/2014/main" id="{5729EFF4-6891-41BE-9DC0-D065B2B49B47}"/>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CDAA0036-AC64-420E-8829-D16696A0E43F}"/>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0628A87A-00EA-48AD-949D-A66791F105D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F8BE0E5B-0F0B-47BC-93EA-8E1EBA3DF5BA}"/>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EF37EFD0-D268-41A2-B3DC-5E29DC05E236}"/>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0" name="Picture 49">
            <a:extLst>
              <a:ext uri="{FF2B5EF4-FFF2-40B4-BE49-F238E27FC236}">
                <a16:creationId xmlns:a16="http://schemas.microsoft.com/office/drawing/2014/main" id="{7E8DB66D-60AB-4AAC-84B4-6F30B97D1AA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2" name="Picture 51">
            <a:extLst>
              <a:ext uri="{FF2B5EF4-FFF2-40B4-BE49-F238E27FC236}">
                <a16:creationId xmlns:a16="http://schemas.microsoft.com/office/drawing/2014/main" id="{CE8B5E2F-014F-4244-AE4B-25DF16BF385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4" name="Picture 53">
            <a:extLst>
              <a:ext uri="{FF2B5EF4-FFF2-40B4-BE49-F238E27FC236}">
                <a16:creationId xmlns:a16="http://schemas.microsoft.com/office/drawing/2014/main" id="{B8CE6F5F-A18F-4E79-9509-EB72E28C9F0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61" name="Picture 60">
            <a:extLst>
              <a:ext uri="{FF2B5EF4-FFF2-40B4-BE49-F238E27FC236}">
                <a16:creationId xmlns:a16="http://schemas.microsoft.com/office/drawing/2014/main" id="{D94D0357-D412-4B0A-B8B8-DFC77B76097E}"/>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62" name="Picture 61">
            <a:extLst>
              <a:ext uri="{FF2B5EF4-FFF2-40B4-BE49-F238E27FC236}">
                <a16:creationId xmlns:a16="http://schemas.microsoft.com/office/drawing/2014/main" id="{3940F852-AE5F-4943-B552-475A9BAB2D7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3" name="Rectangle 62">
            <a:extLst>
              <a:ext uri="{FF2B5EF4-FFF2-40B4-BE49-F238E27FC236}">
                <a16:creationId xmlns:a16="http://schemas.microsoft.com/office/drawing/2014/main" id="{3EEC2252-F19A-455D-9B06-E643B61C8A91}"/>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4" name="Picture 63">
            <a:extLst>
              <a:ext uri="{FF2B5EF4-FFF2-40B4-BE49-F238E27FC236}">
                <a16:creationId xmlns:a16="http://schemas.microsoft.com/office/drawing/2014/main" id="{5C7D0D33-212B-4A0B-AD06-1A07C608730C}"/>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5" name="Rectangle 64">
            <a:extLst>
              <a:ext uri="{FF2B5EF4-FFF2-40B4-BE49-F238E27FC236}">
                <a16:creationId xmlns:a16="http://schemas.microsoft.com/office/drawing/2014/main" id="{991F8C9C-4280-4A63-BCDD-10457D31B40F}"/>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6" name="Picture 65">
            <a:extLst>
              <a:ext uri="{FF2B5EF4-FFF2-40B4-BE49-F238E27FC236}">
                <a16:creationId xmlns:a16="http://schemas.microsoft.com/office/drawing/2014/main" id="{9CA5C21E-9BAB-4833-B49B-2D51A993017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67" name="Picture 66">
            <a:extLst>
              <a:ext uri="{FF2B5EF4-FFF2-40B4-BE49-F238E27FC236}">
                <a16:creationId xmlns:a16="http://schemas.microsoft.com/office/drawing/2014/main" id="{F4FE5717-D1FA-46A6-AE75-A2999E3A85F8}"/>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68" name="Picture 67">
            <a:extLst>
              <a:ext uri="{FF2B5EF4-FFF2-40B4-BE49-F238E27FC236}">
                <a16:creationId xmlns:a16="http://schemas.microsoft.com/office/drawing/2014/main" id="{771237BF-DB9E-4CF5-82EB-72DEC65D3862}"/>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29713596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5" name="TextBox 34">
            <a:extLst>
              <a:ext uri="{FF2B5EF4-FFF2-40B4-BE49-F238E27FC236}">
                <a16:creationId xmlns:a16="http://schemas.microsoft.com/office/drawing/2014/main" id="{8360A9E7-F9C3-48EA-9710-D15A0DA6F519}"/>
              </a:ext>
            </a:extLst>
          </p:cNvPr>
          <p:cNvSpPr txBox="1"/>
          <p:nvPr/>
        </p:nvSpPr>
        <p:spPr>
          <a:xfrm>
            <a:off x="251673" y="1396419"/>
            <a:ext cx="5656947" cy="4555093"/>
          </a:xfrm>
          <a:prstGeom prst="rect">
            <a:avLst/>
          </a:prstGeom>
          <a:noFill/>
        </p:spPr>
        <p:txBody>
          <a:bodyPr wrap="square">
            <a:spAutoFit/>
          </a:bodyPr>
          <a:lstStyle/>
          <a:p>
            <a:r>
              <a:rPr lang="en-US" sz="2000" b="1" dirty="0">
                <a:latin typeface="Montserrat Medium" pitchFamily="50" charset="0"/>
                <a:cs typeface="Times New Roman" panose="02020603050405020304" pitchFamily="18" charset="0"/>
              </a:rPr>
              <a:t>The Poincare Model</a:t>
            </a:r>
            <a:endParaRPr lang="en-US" sz="2000" b="1" dirty="0">
              <a:latin typeface="Montserrat Medium" pitchFamily="50" charset="0"/>
            </a:endParaRPr>
          </a:p>
          <a:p>
            <a:endParaRPr lang="en-US" sz="2000" dirty="0">
              <a:latin typeface="Montserrat Medium" pitchFamily="50" charset="0"/>
            </a:endParaRPr>
          </a:p>
          <a:p>
            <a:pPr marL="285750" indent="-285750" algn="just">
              <a:buFont typeface="Arial" panose="020B0604020202020204" pitchFamily="34" charset="0"/>
              <a:buChar char="•"/>
            </a:pPr>
            <a:r>
              <a:rPr lang="en-US" sz="1600" dirty="0">
                <a:latin typeface="Montserrat Medium" pitchFamily="50" charset="0"/>
              </a:rPr>
              <a:t>A practical model for computing in hyperbolic space. Points sit inside a ball; the edge represents infinity, and the </a:t>
            </a:r>
            <a:r>
              <a:rPr lang="en-US" sz="1600" dirty="0" err="1">
                <a:latin typeface="Montserrat Medium" pitchFamily="50" charset="0"/>
              </a:rPr>
              <a:t>maths</a:t>
            </a:r>
            <a:r>
              <a:rPr lang="en-US" sz="1600" dirty="0">
                <a:latin typeface="Montserrat Medium" pitchFamily="50" charset="0"/>
              </a:rPr>
              <a:t> stays compatible with gradient-based training.</a:t>
            </a:r>
            <a:endParaRPr lang="en-US" sz="1600" b="1" dirty="0">
              <a:solidFill>
                <a:srgbClr val="98ECB7"/>
              </a:solidFill>
              <a:latin typeface="Montserrat Medium" pitchFamily="50" charset="0"/>
            </a:endParaRPr>
          </a:p>
          <a:p>
            <a:pPr marL="285750" indent="-285750" algn="just">
              <a:buFont typeface="Arial" panose="020B0604020202020204" pitchFamily="34" charset="0"/>
              <a:buChar char="•"/>
            </a:pPr>
            <a:endParaRPr lang="en-US" sz="1600" b="1" dirty="0">
              <a:solidFill>
                <a:srgbClr val="98ECB7"/>
              </a:solidFill>
              <a:latin typeface="Montserrat Medium" pitchFamily="50" charset="0"/>
            </a:endParaRPr>
          </a:p>
          <a:p>
            <a:pPr marL="285750" indent="-285750" algn="just">
              <a:buFont typeface="Arial" panose="020B0604020202020204" pitchFamily="34" charset="0"/>
              <a:buChar char="•"/>
            </a:pPr>
            <a:endParaRPr lang="en-US" sz="1600" b="1" dirty="0">
              <a:solidFill>
                <a:srgbClr val="98ECB7"/>
              </a:solidFill>
              <a:latin typeface="Montserrat Medium" pitchFamily="50" charset="0"/>
            </a:endParaRPr>
          </a:p>
          <a:p>
            <a:pPr marL="285750" indent="-285750" algn="just">
              <a:buFont typeface="Arial" panose="020B0604020202020204" pitchFamily="34" charset="0"/>
              <a:buChar char="•"/>
            </a:pPr>
            <a:r>
              <a:rPr lang="en-US" sz="1600" dirty="0">
                <a:latin typeface="Montserrat Medium" pitchFamily="50" charset="0"/>
              </a:rPr>
              <a:t>It is used for word hierarchies like WordNet, hyperbolic GNNs; recent 2024–2025 work applies it directly to hierarchical recommendation.</a:t>
            </a:r>
            <a:endParaRPr lang="en-US" sz="1600" b="1" dirty="0">
              <a:solidFill>
                <a:srgbClr val="98ECB7"/>
              </a:solidFill>
              <a:latin typeface="Montserrat Medium" pitchFamily="50" charset="0"/>
            </a:endParaRPr>
          </a:p>
          <a:p>
            <a:pPr marL="285750" indent="-285750" algn="just">
              <a:buFont typeface="Arial" panose="020B0604020202020204" pitchFamily="34" charset="0"/>
              <a:buChar char="•"/>
            </a:pPr>
            <a:endParaRPr lang="en-US" sz="1600" b="1" dirty="0">
              <a:solidFill>
                <a:srgbClr val="98ECB7"/>
              </a:solidFill>
              <a:latin typeface="Montserrat Medium" pitchFamily="50" charset="0"/>
            </a:endParaRPr>
          </a:p>
          <a:p>
            <a:pPr marL="285750" indent="-285750" algn="just">
              <a:buFont typeface="Wingdings" panose="05000000000000000000" pitchFamily="2" charset="2"/>
              <a:buChar char="§"/>
            </a:pPr>
            <a:r>
              <a:rPr lang="en-US" sz="1600" dirty="0">
                <a:latin typeface="Montserrat Medium" pitchFamily="50" charset="0"/>
              </a:rPr>
              <a:t>It is the best-supported hyperbolic model for deep learning, integrates directly into GNN training, and has proven successful in prior hierarchical recommendation work.</a:t>
            </a:r>
          </a:p>
          <a:p>
            <a:pPr marL="285750" indent="-285750" algn="just">
              <a:buFont typeface="Wingdings" panose="05000000000000000000" pitchFamily="2" charset="2"/>
              <a:buChar char="§"/>
            </a:pPr>
            <a:endParaRPr lang="en-US" dirty="0">
              <a:latin typeface="Montserrat Medium" pitchFamily="50" charset="0"/>
            </a:endParaRPr>
          </a:p>
        </p:txBody>
      </p:sp>
      <p:pic>
        <p:nvPicPr>
          <p:cNvPr id="4" name="Picture 3">
            <a:extLst>
              <a:ext uri="{FF2B5EF4-FFF2-40B4-BE49-F238E27FC236}">
                <a16:creationId xmlns:a16="http://schemas.microsoft.com/office/drawing/2014/main" id="{5B6F752C-2B56-4449-83FD-DBDA0F47A055}"/>
              </a:ext>
            </a:extLst>
          </p:cNvPr>
          <p:cNvPicPr>
            <a:picLocks noChangeAspect="1"/>
          </p:cNvPicPr>
          <p:nvPr/>
        </p:nvPicPr>
        <p:blipFill rotWithShape="1">
          <a:blip r:embed="rId4"/>
          <a:srcRect t="5278" b="3447"/>
          <a:stretch/>
        </p:blipFill>
        <p:spPr>
          <a:xfrm>
            <a:off x="6476197" y="1167056"/>
            <a:ext cx="5464129" cy="4987330"/>
          </a:xfrm>
          <a:prstGeom prst="rect">
            <a:avLst/>
          </a:prstGeom>
        </p:spPr>
      </p:pic>
      <p:sp>
        <p:nvSpPr>
          <p:cNvPr id="36" name="TextBox 35">
            <a:extLst>
              <a:ext uri="{FF2B5EF4-FFF2-40B4-BE49-F238E27FC236}">
                <a16:creationId xmlns:a16="http://schemas.microsoft.com/office/drawing/2014/main" id="{F462F080-FC81-4108-BC57-866C1B045965}"/>
              </a:ext>
            </a:extLst>
          </p:cNvPr>
          <p:cNvSpPr txBox="1"/>
          <p:nvPr/>
        </p:nvSpPr>
        <p:spPr>
          <a:xfrm>
            <a:off x="294308" y="6048023"/>
            <a:ext cx="11801408" cy="246221"/>
          </a:xfrm>
          <a:prstGeom prst="rect">
            <a:avLst/>
          </a:prstGeom>
          <a:noFill/>
        </p:spPr>
        <p:txBody>
          <a:bodyPr wrap="square">
            <a:spAutoFit/>
          </a:bodyPr>
          <a:lstStyle/>
          <a:p>
            <a:r>
              <a:rPr lang="en-US" sz="1000" dirty="0">
                <a:latin typeface="Agency FB" panose="020B0503020202020204" pitchFamily="34" charset="0"/>
              </a:rPr>
              <a:t>[34] M. Nickel and D. </a:t>
            </a:r>
            <a:r>
              <a:rPr lang="en-US" sz="1000" dirty="0" err="1">
                <a:latin typeface="Agency FB" panose="020B0503020202020204" pitchFamily="34" charset="0"/>
              </a:rPr>
              <a:t>Kiela</a:t>
            </a:r>
            <a:r>
              <a:rPr lang="en-US" sz="1000" dirty="0">
                <a:latin typeface="Agency FB" panose="020B0503020202020204" pitchFamily="34" charset="0"/>
              </a:rPr>
              <a:t>, "</a:t>
            </a:r>
            <a:r>
              <a:rPr lang="en-US" sz="1000" dirty="0" err="1">
                <a:latin typeface="Agency FB" panose="020B0503020202020204" pitchFamily="34" charset="0"/>
              </a:rPr>
              <a:t>Poincaré</a:t>
            </a:r>
            <a:r>
              <a:rPr lang="en-US" sz="1000" dirty="0">
                <a:latin typeface="Agency FB" panose="020B0503020202020204" pitchFamily="34" charset="0"/>
              </a:rPr>
              <a:t> Embeddings for Learning Hierarchical Representations," in Proc. Adv. Neural Inf. Process. Syst. (</a:t>
            </a:r>
            <a:r>
              <a:rPr lang="en-US" sz="1000" dirty="0" err="1">
                <a:latin typeface="Agency FB" panose="020B0503020202020204" pitchFamily="34" charset="0"/>
              </a:rPr>
              <a:t>NeurIPS</a:t>
            </a:r>
            <a:r>
              <a:rPr lang="en-US" sz="1000" dirty="0">
                <a:latin typeface="Agency FB" panose="020B0503020202020204" pitchFamily="34" charset="0"/>
              </a:rPr>
              <a:t>), 2017, pp. 6338–6347.</a:t>
            </a:r>
          </a:p>
        </p:txBody>
      </p:sp>
      <p:sp>
        <p:nvSpPr>
          <p:cNvPr id="40" name="Rectangle 39">
            <a:extLst>
              <a:ext uri="{FF2B5EF4-FFF2-40B4-BE49-F238E27FC236}">
                <a16:creationId xmlns:a16="http://schemas.microsoft.com/office/drawing/2014/main" id="{350B964E-1C7E-462E-A4BD-E50AA17AC869}"/>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41" name="Rectangle 40">
            <a:extLst>
              <a:ext uri="{FF2B5EF4-FFF2-40B4-BE49-F238E27FC236}">
                <a16:creationId xmlns:a16="http://schemas.microsoft.com/office/drawing/2014/main" id="{FD9D62C7-C2F1-40E4-A9F2-E5277C9F1E0C}"/>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2" name="Rectangle 41">
            <a:extLst>
              <a:ext uri="{FF2B5EF4-FFF2-40B4-BE49-F238E27FC236}">
                <a16:creationId xmlns:a16="http://schemas.microsoft.com/office/drawing/2014/main" id="{A8E51C33-EF5F-41FD-A759-264C156AD1D2}"/>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3" name="Rectangle 42">
            <a:extLst>
              <a:ext uri="{FF2B5EF4-FFF2-40B4-BE49-F238E27FC236}">
                <a16:creationId xmlns:a16="http://schemas.microsoft.com/office/drawing/2014/main" id="{68F4F106-4869-4947-9EF2-54FEDF3FF3DD}"/>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44" name="Rectangle 43">
            <a:extLst>
              <a:ext uri="{FF2B5EF4-FFF2-40B4-BE49-F238E27FC236}">
                <a16:creationId xmlns:a16="http://schemas.microsoft.com/office/drawing/2014/main" id="{75B6E4A0-344A-464A-985F-849887101898}"/>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45" name="Rectangle 44">
            <a:extLst>
              <a:ext uri="{FF2B5EF4-FFF2-40B4-BE49-F238E27FC236}">
                <a16:creationId xmlns:a16="http://schemas.microsoft.com/office/drawing/2014/main" id="{0D777493-06F3-4379-8FB3-E77D22BB293B}"/>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8" name="Rectangle 47">
            <a:extLst>
              <a:ext uri="{FF2B5EF4-FFF2-40B4-BE49-F238E27FC236}">
                <a16:creationId xmlns:a16="http://schemas.microsoft.com/office/drawing/2014/main" id="{DC6AD6E4-EDBF-4F80-80F6-67AD953139F1}"/>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5466C3E9-C243-4103-864F-6606910959F9}"/>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C7A9505D-0626-4B94-9B46-A3BD460ACDD5}"/>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2D02F0A4-492B-45E8-8994-DD272069F6D7}"/>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5567494-0D3D-48F0-BBEA-E410C2538AF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61" name="Picture 60">
            <a:extLst>
              <a:ext uri="{FF2B5EF4-FFF2-40B4-BE49-F238E27FC236}">
                <a16:creationId xmlns:a16="http://schemas.microsoft.com/office/drawing/2014/main" id="{A074AEF0-79C8-4EC1-95CC-5D31198537E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62" name="Picture 61">
            <a:extLst>
              <a:ext uri="{FF2B5EF4-FFF2-40B4-BE49-F238E27FC236}">
                <a16:creationId xmlns:a16="http://schemas.microsoft.com/office/drawing/2014/main" id="{A9EB80A8-AFA6-4E6F-8408-6A4FF55D7AC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63" name="Picture 62">
            <a:extLst>
              <a:ext uri="{FF2B5EF4-FFF2-40B4-BE49-F238E27FC236}">
                <a16:creationId xmlns:a16="http://schemas.microsoft.com/office/drawing/2014/main" id="{188098D6-9E6B-4EB7-B668-362C395734C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64" name="Picture 63">
            <a:extLst>
              <a:ext uri="{FF2B5EF4-FFF2-40B4-BE49-F238E27FC236}">
                <a16:creationId xmlns:a16="http://schemas.microsoft.com/office/drawing/2014/main" id="{5145E4E1-F2CE-45BF-8265-BCFE86AAD2F8}"/>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5" name="Rectangle 64">
            <a:extLst>
              <a:ext uri="{FF2B5EF4-FFF2-40B4-BE49-F238E27FC236}">
                <a16:creationId xmlns:a16="http://schemas.microsoft.com/office/drawing/2014/main" id="{6425D6E9-0FB0-4452-AFF0-D44322B972D6}"/>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6" name="Picture 65">
            <a:extLst>
              <a:ext uri="{FF2B5EF4-FFF2-40B4-BE49-F238E27FC236}">
                <a16:creationId xmlns:a16="http://schemas.microsoft.com/office/drawing/2014/main" id="{44CAD1D4-7FDB-457F-9787-E05EFCC9FB2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7" name="Rectangle 66">
            <a:extLst>
              <a:ext uri="{FF2B5EF4-FFF2-40B4-BE49-F238E27FC236}">
                <a16:creationId xmlns:a16="http://schemas.microsoft.com/office/drawing/2014/main" id="{FDE3883C-2CA5-4687-ABD5-607F6F848B8F}"/>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8" name="Picture 67">
            <a:extLst>
              <a:ext uri="{FF2B5EF4-FFF2-40B4-BE49-F238E27FC236}">
                <a16:creationId xmlns:a16="http://schemas.microsoft.com/office/drawing/2014/main" id="{11305A64-38C5-44CC-BBA4-6349B21F66C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69" name="Picture 68">
            <a:extLst>
              <a:ext uri="{FF2B5EF4-FFF2-40B4-BE49-F238E27FC236}">
                <a16:creationId xmlns:a16="http://schemas.microsoft.com/office/drawing/2014/main" id="{20F26E34-9B25-4550-A249-C84229123C25}"/>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70" name="Picture 69">
            <a:extLst>
              <a:ext uri="{FF2B5EF4-FFF2-40B4-BE49-F238E27FC236}">
                <a16:creationId xmlns:a16="http://schemas.microsoft.com/office/drawing/2014/main" id="{7A3B4B00-DDC9-4532-A543-F8E9411A0E1E}"/>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14726148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61" name="Rectangle 60">
            <a:extLst>
              <a:ext uri="{FF2B5EF4-FFF2-40B4-BE49-F238E27FC236}">
                <a16:creationId xmlns:a16="http://schemas.microsoft.com/office/drawing/2014/main" id="{D0A8FFFC-11AE-4DA5-8120-4D5EF5602440}"/>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23" name="TextBox 22">
            <a:extLst>
              <a:ext uri="{FF2B5EF4-FFF2-40B4-BE49-F238E27FC236}">
                <a16:creationId xmlns:a16="http://schemas.microsoft.com/office/drawing/2014/main" id="{B7ED88C6-24C9-4EC9-81DE-10EE650383E4}"/>
              </a:ext>
            </a:extLst>
          </p:cNvPr>
          <p:cNvSpPr txBox="1"/>
          <p:nvPr/>
        </p:nvSpPr>
        <p:spPr>
          <a:xfrm>
            <a:off x="129299" y="1310378"/>
            <a:ext cx="6102416" cy="400110"/>
          </a:xfrm>
          <a:prstGeom prst="rect">
            <a:avLst/>
          </a:prstGeom>
          <a:noFill/>
        </p:spPr>
        <p:txBody>
          <a:bodyPr wrap="square">
            <a:spAutoFit/>
          </a:bodyPr>
          <a:lstStyle/>
          <a:p>
            <a:r>
              <a:rPr lang="en-US" sz="2000" b="1" dirty="0">
                <a:latin typeface="Montserrat Medium" pitchFamily="50" charset="0"/>
              </a:rPr>
              <a:t>Architecture Walkthrough</a:t>
            </a:r>
          </a:p>
        </p:txBody>
      </p:sp>
      <p:pic>
        <p:nvPicPr>
          <p:cNvPr id="4" name="Picture 3">
            <a:extLst>
              <a:ext uri="{FF2B5EF4-FFF2-40B4-BE49-F238E27FC236}">
                <a16:creationId xmlns:a16="http://schemas.microsoft.com/office/drawing/2014/main" id="{2F9EA6CA-A942-4EE1-A957-83A1B68023EC}"/>
              </a:ext>
            </a:extLst>
          </p:cNvPr>
          <p:cNvPicPr>
            <a:picLocks noChangeAspect="1"/>
          </p:cNvPicPr>
          <p:nvPr/>
        </p:nvPicPr>
        <p:blipFill rotWithShape="1">
          <a:blip r:embed="rId4"/>
          <a:srcRect t="1883"/>
          <a:stretch/>
        </p:blipFill>
        <p:spPr>
          <a:xfrm>
            <a:off x="2360845" y="1751798"/>
            <a:ext cx="7470309" cy="4257602"/>
          </a:xfrm>
          <a:prstGeom prst="rect">
            <a:avLst/>
          </a:prstGeom>
        </p:spPr>
      </p:pic>
      <p:sp>
        <p:nvSpPr>
          <p:cNvPr id="29" name="Rectangle 28">
            <a:extLst>
              <a:ext uri="{FF2B5EF4-FFF2-40B4-BE49-F238E27FC236}">
                <a16:creationId xmlns:a16="http://schemas.microsoft.com/office/drawing/2014/main" id="{2A00A29C-B31F-4A5C-A79A-1D752752EE4A}"/>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0" name="Rectangle 29">
            <a:extLst>
              <a:ext uri="{FF2B5EF4-FFF2-40B4-BE49-F238E27FC236}">
                <a16:creationId xmlns:a16="http://schemas.microsoft.com/office/drawing/2014/main" id="{8E98D9CB-6475-4671-BB34-F8D58D91CECA}"/>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1" name="Rectangle 30">
            <a:extLst>
              <a:ext uri="{FF2B5EF4-FFF2-40B4-BE49-F238E27FC236}">
                <a16:creationId xmlns:a16="http://schemas.microsoft.com/office/drawing/2014/main" id="{5935E0CF-729E-4A76-A68D-64A2E4FDE71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2" name="Rectangle 31">
            <a:extLst>
              <a:ext uri="{FF2B5EF4-FFF2-40B4-BE49-F238E27FC236}">
                <a16:creationId xmlns:a16="http://schemas.microsoft.com/office/drawing/2014/main" id="{CD60310A-CD7E-4DF2-A071-57DA87239DD8}"/>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C6D0B917-0585-47AE-9E20-7B25A7470CAB}"/>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5" name="Picture 34">
            <a:extLst>
              <a:ext uri="{FF2B5EF4-FFF2-40B4-BE49-F238E27FC236}">
                <a16:creationId xmlns:a16="http://schemas.microsoft.com/office/drawing/2014/main" id="{344583E3-BBD7-446A-8D86-988B1E3123B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36" name="Picture 35">
            <a:extLst>
              <a:ext uri="{FF2B5EF4-FFF2-40B4-BE49-F238E27FC236}">
                <a16:creationId xmlns:a16="http://schemas.microsoft.com/office/drawing/2014/main" id="{16D5A6EE-7F81-4B8A-AE38-A30D91C0B4F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38" name="Picture 37">
            <a:extLst>
              <a:ext uri="{FF2B5EF4-FFF2-40B4-BE49-F238E27FC236}">
                <a16:creationId xmlns:a16="http://schemas.microsoft.com/office/drawing/2014/main" id="{71EA51F9-03AB-487C-8081-78EAD0B206B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39" name="Picture 38">
            <a:extLst>
              <a:ext uri="{FF2B5EF4-FFF2-40B4-BE49-F238E27FC236}">
                <a16:creationId xmlns:a16="http://schemas.microsoft.com/office/drawing/2014/main" id="{5E0C523B-7657-4C96-AE1A-AE3E76BBA27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40" name="Picture 39">
            <a:extLst>
              <a:ext uri="{FF2B5EF4-FFF2-40B4-BE49-F238E27FC236}">
                <a16:creationId xmlns:a16="http://schemas.microsoft.com/office/drawing/2014/main" id="{C28FFB6D-FD94-4665-B5A4-4A6D4DB3652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41" name="Rectangle 40">
            <a:extLst>
              <a:ext uri="{FF2B5EF4-FFF2-40B4-BE49-F238E27FC236}">
                <a16:creationId xmlns:a16="http://schemas.microsoft.com/office/drawing/2014/main" id="{E1F1F0DF-527F-4204-81E6-D4D87461D6E3}"/>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42" name="Picture 41">
            <a:extLst>
              <a:ext uri="{FF2B5EF4-FFF2-40B4-BE49-F238E27FC236}">
                <a16:creationId xmlns:a16="http://schemas.microsoft.com/office/drawing/2014/main" id="{F8BC59D8-A73C-4721-946C-C442558E0A6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43" name="Rectangle 42">
            <a:extLst>
              <a:ext uri="{FF2B5EF4-FFF2-40B4-BE49-F238E27FC236}">
                <a16:creationId xmlns:a16="http://schemas.microsoft.com/office/drawing/2014/main" id="{D68200F0-4640-4E84-A0FA-9418715A5058}"/>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4" name="Picture 43">
            <a:extLst>
              <a:ext uri="{FF2B5EF4-FFF2-40B4-BE49-F238E27FC236}">
                <a16:creationId xmlns:a16="http://schemas.microsoft.com/office/drawing/2014/main" id="{74C6FDFA-AC7D-43A5-8744-E5AC9EE1D5C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8" name="Picture 27">
            <a:extLst>
              <a:ext uri="{FF2B5EF4-FFF2-40B4-BE49-F238E27FC236}">
                <a16:creationId xmlns:a16="http://schemas.microsoft.com/office/drawing/2014/main" id="{2DFF89CF-A40E-499A-A3C4-A448C86235C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48" name="Picture 47">
            <a:extLst>
              <a:ext uri="{FF2B5EF4-FFF2-40B4-BE49-F238E27FC236}">
                <a16:creationId xmlns:a16="http://schemas.microsoft.com/office/drawing/2014/main" id="{78EAECAC-229E-429A-9B57-47ECBB486508}"/>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14440461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0FABB310-341D-46E3-955C-B8E9AFAA7FD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23" name="TextBox 22">
            <a:extLst>
              <a:ext uri="{FF2B5EF4-FFF2-40B4-BE49-F238E27FC236}">
                <a16:creationId xmlns:a16="http://schemas.microsoft.com/office/drawing/2014/main" id="{8001F9A2-F35F-4D3B-92AA-28CB390C9738}"/>
              </a:ext>
            </a:extLst>
          </p:cNvPr>
          <p:cNvSpPr txBox="1"/>
          <p:nvPr/>
        </p:nvSpPr>
        <p:spPr>
          <a:xfrm>
            <a:off x="339452" y="1714052"/>
            <a:ext cx="11773577" cy="3508653"/>
          </a:xfrm>
          <a:prstGeom prst="rect">
            <a:avLst/>
          </a:prstGeom>
          <a:noFill/>
        </p:spPr>
        <p:txBody>
          <a:bodyPr wrap="square">
            <a:spAutoFit/>
          </a:bodyPr>
          <a:lstStyle/>
          <a:p>
            <a:r>
              <a:rPr lang="en-US" sz="2000" b="1" dirty="0">
                <a:effectLst/>
                <a:latin typeface="Montserrat Medium" pitchFamily="50" charset="0"/>
              </a:rPr>
              <a:t>Evaluation protocol</a:t>
            </a:r>
            <a:endParaRPr lang="en-US" sz="2000" dirty="0">
              <a:latin typeface="Montserrat Medium" pitchFamily="50" charset="0"/>
            </a:endParaRPr>
          </a:p>
          <a:p>
            <a:pPr algn="just"/>
            <a:endParaRPr lang="en-US" sz="2000" dirty="0">
              <a:solidFill>
                <a:srgbClr val="BBBEBF"/>
              </a:solidFill>
              <a:latin typeface="Consolas" panose="020B0609020204030204" pitchFamily="49" charset="0"/>
            </a:endParaRPr>
          </a:p>
          <a:p>
            <a:pPr marL="342900" indent="-342900" algn="just">
              <a:buFont typeface="Wingdings" panose="05000000000000000000" pitchFamily="2" charset="2"/>
              <a:buChar char="§"/>
            </a:pPr>
            <a:r>
              <a:rPr lang="en-US" b="1" dirty="0">
                <a:effectLst/>
                <a:latin typeface="Montserrat Medium" pitchFamily="50" charset="0"/>
              </a:rPr>
              <a:t>Datasets:</a:t>
            </a:r>
            <a:r>
              <a:rPr lang="en-US" b="0" dirty="0">
                <a:effectLst/>
                <a:latin typeface="Montserrat Medium" pitchFamily="50" charset="0"/>
              </a:rPr>
              <a:t> MovieLens-1M and Amazon Product Reviews.</a:t>
            </a:r>
          </a:p>
          <a:p>
            <a:pPr algn="just"/>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Task:</a:t>
            </a:r>
            <a:r>
              <a:rPr lang="en-US" b="0" dirty="0">
                <a:effectLst/>
                <a:latin typeface="Montserrat Medium" pitchFamily="50" charset="0"/>
              </a:rPr>
              <a:t> sampled-candidate top-k ranking.</a:t>
            </a:r>
          </a:p>
          <a:p>
            <a:pPr marL="342900" indent="-342900" algn="just">
              <a:buFont typeface="Wingdings" panose="05000000000000000000" pitchFamily="2" charset="2"/>
              <a:buChar char="§"/>
            </a:pPr>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Candidate set:</a:t>
            </a:r>
            <a:r>
              <a:rPr lang="en-US" b="0" dirty="0">
                <a:effectLst/>
                <a:latin typeface="Montserrat Medium" pitchFamily="50" charset="0"/>
              </a:rPr>
              <a:t> held-out positives plus 99 sampled unobserved items per user.</a:t>
            </a:r>
          </a:p>
          <a:p>
            <a:pPr marL="342900" indent="-342900" algn="just">
              <a:buFont typeface="Wingdings" panose="05000000000000000000" pitchFamily="2" charset="2"/>
              <a:buChar char="§"/>
            </a:pPr>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Metrics: </a:t>
            </a:r>
            <a:r>
              <a:rPr lang="en-US" b="0" dirty="0">
                <a:effectLst/>
                <a:latin typeface="Montserrat Medium" pitchFamily="50" charset="0"/>
              </a:rPr>
              <a:t>Precision@10, Recall@10, and F1@10.</a:t>
            </a:r>
          </a:p>
          <a:p>
            <a:pPr marL="342900" indent="-342900" algn="just">
              <a:buFont typeface="Wingdings" panose="05000000000000000000" pitchFamily="2" charset="2"/>
              <a:buChar char="§"/>
            </a:pPr>
            <a:endParaRPr lang="en-US" b="0" dirty="0">
              <a:effectLst/>
              <a:latin typeface="Montserrat Medium" pitchFamily="50" charset="0"/>
            </a:endParaRPr>
          </a:p>
          <a:p>
            <a:pPr marL="342900" indent="-342900" algn="just">
              <a:buFont typeface="Wingdings" panose="05000000000000000000" pitchFamily="2" charset="2"/>
              <a:buChar char="§"/>
            </a:pPr>
            <a:r>
              <a:rPr lang="en-US" b="1" dirty="0">
                <a:effectLst/>
                <a:latin typeface="Montserrat Medium" pitchFamily="50" charset="0"/>
              </a:rPr>
              <a:t>Evidence limitation:</a:t>
            </a:r>
            <a:r>
              <a:rPr lang="en-US" b="0" dirty="0">
                <a:effectLst/>
                <a:latin typeface="Montserrat Medium" pitchFamily="50" charset="0"/>
              </a:rPr>
              <a:t> Ablation, Runtime, Perturbation faithfulness, and user study</a:t>
            </a:r>
            <a:r>
              <a:rPr lang="en-US" b="0" dirty="0">
                <a:effectLst/>
                <a:latin typeface="Montserrat" pitchFamily="2" charset="0"/>
              </a:rPr>
              <a:t>.</a:t>
            </a:r>
          </a:p>
          <a:p>
            <a:pPr marL="285750" indent="-285750" algn="just">
              <a:buFont typeface="Wingdings" panose="05000000000000000000" pitchFamily="2" charset="2"/>
              <a:buChar char="§"/>
            </a:pPr>
            <a:endParaRPr lang="en-US" sz="2000" dirty="0">
              <a:latin typeface="Montserrat" pitchFamily="2" charset="0"/>
            </a:endParaRPr>
          </a:p>
        </p:txBody>
      </p:sp>
      <p:sp>
        <p:nvSpPr>
          <p:cNvPr id="29" name="Rectangle 28">
            <a:extLst>
              <a:ext uri="{FF2B5EF4-FFF2-40B4-BE49-F238E27FC236}">
                <a16:creationId xmlns:a16="http://schemas.microsoft.com/office/drawing/2014/main" id="{B8082C34-3755-43A5-AAD0-CF2F5F1851D9}"/>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0" name="Rectangle 29">
            <a:extLst>
              <a:ext uri="{FF2B5EF4-FFF2-40B4-BE49-F238E27FC236}">
                <a16:creationId xmlns:a16="http://schemas.microsoft.com/office/drawing/2014/main" id="{5F98278D-01B9-45E8-B57B-7365F8459D06}"/>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1" name="Rectangle 30">
            <a:extLst>
              <a:ext uri="{FF2B5EF4-FFF2-40B4-BE49-F238E27FC236}">
                <a16:creationId xmlns:a16="http://schemas.microsoft.com/office/drawing/2014/main" id="{DAA896B8-57C4-4693-B6D2-2AE99F74B0E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3AD2D616-5055-41C9-830F-8CA7EA5AA468}"/>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E17324A8-B976-4D9C-B62C-90121AF092B2}"/>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6" name="Picture 35">
            <a:extLst>
              <a:ext uri="{FF2B5EF4-FFF2-40B4-BE49-F238E27FC236}">
                <a16:creationId xmlns:a16="http://schemas.microsoft.com/office/drawing/2014/main" id="{2F7F83A2-C1FB-4E37-B7D3-FF58F2A5258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38" name="Picture 37">
            <a:extLst>
              <a:ext uri="{FF2B5EF4-FFF2-40B4-BE49-F238E27FC236}">
                <a16:creationId xmlns:a16="http://schemas.microsoft.com/office/drawing/2014/main" id="{F93BECFB-05AB-4CC2-84D8-F0DAF5EE331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4" name="Picture 53">
            <a:extLst>
              <a:ext uri="{FF2B5EF4-FFF2-40B4-BE49-F238E27FC236}">
                <a16:creationId xmlns:a16="http://schemas.microsoft.com/office/drawing/2014/main" id="{6CF8E133-9234-4EA3-9E8F-FACC9D1BA8C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5" name="Picture 54">
            <a:extLst>
              <a:ext uri="{FF2B5EF4-FFF2-40B4-BE49-F238E27FC236}">
                <a16:creationId xmlns:a16="http://schemas.microsoft.com/office/drawing/2014/main" id="{FD6BAF9E-125A-46F2-A43B-8B5D0EDDAF9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6" name="Picture 55">
            <a:extLst>
              <a:ext uri="{FF2B5EF4-FFF2-40B4-BE49-F238E27FC236}">
                <a16:creationId xmlns:a16="http://schemas.microsoft.com/office/drawing/2014/main" id="{97972058-DFCF-4946-862E-388FAD1B2228}"/>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7" name="Rectangle 56">
            <a:extLst>
              <a:ext uri="{FF2B5EF4-FFF2-40B4-BE49-F238E27FC236}">
                <a16:creationId xmlns:a16="http://schemas.microsoft.com/office/drawing/2014/main" id="{898F286F-C334-4D6B-89D7-B233774D1C51}"/>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8" name="Picture 57">
            <a:extLst>
              <a:ext uri="{FF2B5EF4-FFF2-40B4-BE49-F238E27FC236}">
                <a16:creationId xmlns:a16="http://schemas.microsoft.com/office/drawing/2014/main" id="{FDA5BDCD-E20F-4980-BD9B-0AA61789C224}"/>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59" name="Rectangle 58">
            <a:extLst>
              <a:ext uri="{FF2B5EF4-FFF2-40B4-BE49-F238E27FC236}">
                <a16:creationId xmlns:a16="http://schemas.microsoft.com/office/drawing/2014/main" id="{EFCD813A-9C90-43F8-A83C-E24086212106}"/>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DB15EA3D-12BA-43EE-9E8A-EBE9745190A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6" name="Picture 25">
            <a:extLst>
              <a:ext uri="{FF2B5EF4-FFF2-40B4-BE49-F238E27FC236}">
                <a16:creationId xmlns:a16="http://schemas.microsoft.com/office/drawing/2014/main" id="{0AD9C6F7-49F8-4B8B-897B-C8F311A82DB1}"/>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2" name="Picture 31">
            <a:extLst>
              <a:ext uri="{FF2B5EF4-FFF2-40B4-BE49-F238E27FC236}">
                <a16:creationId xmlns:a16="http://schemas.microsoft.com/office/drawing/2014/main" id="{505C2E9F-015C-4ED6-9C29-0DF1073E7DCD}"/>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24901022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0FABB310-341D-46E3-955C-B8E9AFAA7FD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24" name="TextBox 23">
            <a:extLst>
              <a:ext uri="{FF2B5EF4-FFF2-40B4-BE49-F238E27FC236}">
                <a16:creationId xmlns:a16="http://schemas.microsoft.com/office/drawing/2014/main" id="{0AEB03C6-570B-427E-A1C1-7CB71565AA13}"/>
              </a:ext>
            </a:extLst>
          </p:cNvPr>
          <p:cNvSpPr txBox="1"/>
          <p:nvPr/>
        </p:nvSpPr>
        <p:spPr>
          <a:xfrm>
            <a:off x="129299" y="1583544"/>
            <a:ext cx="5153901" cy="3754874"/>
          </a:xfrm>
          <a:prstGeom prst="rect">
            <a:avLst/>
          </a:prstGeom>
          <a:noFill/>
        </p:spPr>
        <p:txBody>
          <a:bodyPr wrap="square">
            <a:spAutoFit/>
          </a:bodyPr>
          <a:lstStyle/>
          <a:p>
            <a:r>
              <a:rPr lang="en-US" sz="2000" b="1" dirty="0">
                <a:latin typeface="Montserrat Medium" pitchFamily="50" charset="0"/>
              </a:rPr>
              <a:t>Key results findings - </a:t>
            </a:r>
            <a:r>
              <a:rPr lang="en-US" sz="2000" b="1" dirty="0" err="1">
                <a:latin typeface="Montserrat Medium" pitchFamily="50" charset="0"/>
              </a:rPr>
              <a:t>Movielens</a:t>
            </a:r>
            <a:r>
              <a:rPr lang="en-US" sz="2000" b="1" dirty="0">
                <a:latin typeface="Montserrat Medium" pitchFamily="50" charset="0"/>
              </a:rPr>
              <a:t> 1M</a:t>
            </a:r>
          </a:p>
          <a:p>
            <a:pPr marL="285750" indent="-285750" algn="just">
              <a:buFont typeface="Wingdings" panose="05000000000000000000" pitchFamily="2" charset="2"/>
              <a:buChar char="§"/>
            </a:pPr>
            <a:endParaRPr lang="en-US" dirty="0">
              <a:latin typeface="Montserrat" pitchFamily="2" charset="0"/>
            </a:endParaRPr>
          </a:p>
          <a:p>
            <a:pPr marL="342900" indent="-342900">
              <a:buFont typeface="Wingdings" panose="05000000000000000000" pitchFamily="2" charset="2"/>
              <a:buChar char="§"/>
            </a:pPr>
            <a:r>
              <a:rPr lang="en-US" dirty="0">
                <a:latin typeface="Montserrat Medium" pitchFamily="50" charset="0"/>
              </a:rPr>
              <a:t>Hyperbolic GNN + Shapley achieves the best results across all metrics.</a:t>
            </a:r>
          </a:p>
          <a:p>
            <a:pPr marL="342900" indent="-342900">
              <a:buFont typeface="Arial" panose="020B0604020202020204" pitchFamily="34" charset="0"/>
              <a:buChar char="•"/>
            </a:pPr>
            <a:endParaRPr lang="en-US" dirty="0">
              <a:latin typeface="Montserrat Medium" pitchFamily="50" charset="0"/>
            </a:endParaRPr>
          </a:p>
          <a:p>
            <a:pPr marL="342900" indent="-342900">
              <a:buFont typeface="Wingdings" panose="05000000000000000000" pitchFamily="2" charset="2"/>
              <a:buChar char="§"/>
            </a:pPr>
            <a:r>
              <a:rPr lang="en-US" dirty="0">
                <a:latin typeface="Montserrat Medium" pitchFamily="50" charset="0"/>
              </a:rPr>
              <a:t>Hyperbolic GCN outperforms </a:t>
            </a:r>
            <a:r>
              <a:rPr lang="en-US" dirty="0" err="1">
                <a:latin typeface="Montserrat Medium" pitchFamily="50" charset="0"/>
              </a:rPr>
              <a:t>LightGCN</a:t>
            </a:r>
            <a:r>
              <a:rPr lang="en-US" dirty="0">
                <a:latin typeface="Montserrat Medium" pitchFamily="50" charset="0"/>
              </a:rPr>
              <a:t>, showing the value of hierarchical geometry.</a:t>
            </a:r>
          </a:p>
          <a:p>
            <a:pPr marL="342900" indent="-342900">
              <a:buFont typeface="Arial" panose="020B0604020202020204" pitchFamily="34" charset="0"/>
              <a:buChar char="•"/>
            </a:pPr>
            <a:endParaRPr lang="en-US" dirty="0">
              <a:latin typeface="Montserrat Medium" pitchFamily="50" charset="0"/>
            </a:endParaRPr>
          </a:p>
          <a:p>
            <a:pPr marL="342900" indent="-342900">
              <a:buFont typeface="Wingdings" panose="05000000000000000000" pitchFamily="2" charset="2"/>
              <a:buChar char="§"/>
            </a:pPr>
            <a:r>
              <a:rPr lang="en-US" dirty="0">
                <a:latin typeface="Montserrat Medium" pitchFamily="50" charset="0"/>
              </a:rPr>
              <a:t>Recall@10 shows the largest improvement, indicating better retrieval of relevant items.</a:t>
            </a:r>
          </a:p>
          <a:p>
            <a:endParaRPr lang="en-US" sz="2000" dirty="0">
              <a:latin typeface="Montserrat Medium" pitchFamily="50" charset="0"/>
            </a:endParaRPr>
          </a:p>
        </p:txBody>
      </p:sp>
      <p:graphicFrame>
        <p:nvGraphicFramePr>
          <p:cNvPr id="2" name="Table 1">
            <a:extLst>
              <a:ext uri="{FF2B5EF4-FFF2-40B4-BE49-F238E27FC236}">
                <a16:creationId xmlns:a16="http://schemas.microsoft.com/office/drawing/2014/main" id="{2D7EBFD5-DF07-4C4D-A4EE-A48B02AA0C50}"/>
              </a:ext>
            </a:extLst>
          </p:cNvPr>
          <p:cNvGraphicFramePr>
            <a:graphicFrameLocks noGrp="1"/>
          </p:cNvGraphicFramePr>
          <p:nvPr>
            <p:extLst>
              <p:ext uri="{D42A27DB-BD31-4B8C-83A1-F6EECF244321}">
                <p14:modId xmlns:p14="http://schemas.microsoft.com/office/powerpoint/2010/main" val="38563131"/>
              </p:ext>
            </p:extLst>
          </p:nvPr>
        </p:nvGraphicFramePr>
        <p:xfrm>
          <a:off x="5404648" y="2200866"/>
          <a:ext cx="6708381" cy="2316480"/>
        </p:xfrm>
        <a:graphic>
          <a:graphicData uri="http://schemas.openxmlformats.org/drawingml/2006/table">
            <a:tbl>
              <a:tblPr>
                <a:tableStyleId>{BC89EF96-8CEA-46FF-86C4-4CE0E7609802}</a:tableStyleId>
              </a:tblPr>
              <a:tblGrid>
                <a:gridCol w="2207501">
                  <a:extLst>
                    <a:ext uri="{9D8B030D-6E8A-4147-A177-3AD203B41FA5}">
                      <a16:colId xmlns:a16="http://schemas.microsoft.com/office/drawing/2014/main" val="991410830"/>
                    </a:ext>
                  </a:extLst>
                </a:gridCol>
                <a:gridCol w="1574800">
                  <a:extLst>
                    <a:ext uri="{9D8B030D-6E8A-4147-A177-3AD203B41FA5}">
                      <a16:colId xmlns:a16="http://schemas.microsoft.com/office/drawing/2014/main" val="2821878969"/>
                    </a:ext>
                  </a:extLst>
                </a:gridCol>
                <a:gridCol w="1452880">
                  <a:extLst>
                    <a:ext uri="{9D8B030D-6E8A-4147-A177-3AD203B41FA5}">
                      <a16:colId xmlns:a16="http://schemas.microsoft.com/office/drawing/2014/main" val="501902870"/>
                    </a:ext>
                  </a:extLst>
                </a:gridCol>
                <a:gridCol w="1473200">
                  <a:extLst>
                    <a:ext uri="{9D8B030D-6E8A-4147-A177-3AD203B41FA5}">
                      <a16:colId xmlns:a16="http://schemas.microsoft.com/office/drawing/2014/main" val="225391813"/>
                    </a:ext>
                  </a:extLst>
                </a:gridCol>
              </a:tblGrid>
              <a:tr h="0">
                <a:tc>
                  <a:txBody>
                    <a:bodyPr/>
                    <a:lstStyle/>
                    <a:p>
                      <a:pPr algn="ctr"/>
                      <a:r>
                        <a:rPr lang="en-US" b="1" dirty="0">
                          <a:latin typeface="Montserrat Medium" pitchFamily="50" charset="0"/>
                        </a:rPr>
                        <a:t>Method</a:t>
                      </a:r>
                    </a:p>
                  </a:txBody>
                  <a:tcPr anchor="ctr"/>
                </a:tc>
                <a:tc>
                  <a:txBody>
                    <a:bodyPr/>
                    <a:lstStyle/>
                    <a:p>
                      <a:pPr algn="ctr"/>
                      <a:r>
                        <a:rPr lang="en-US" b="1" dirty="0">
                          <a:latin typeface="Montserrat Medium" pitchFamily="50" charset="0"/>
                        </a:rPr>
                        <a:t>Precision@10</a:t>
                      </a:r>
                    </a:p>
                  </a:txBody>
                  <a:tcPr anchor="ctr"/>
                </a:tc>
                <a:tc>
                  <a:txBody>
                    <a:bodyPr/>
                    <a:lstStyle/>
                    <a:p>
                      <a:pPr algn="ctr"/>
                      <a:r>
                        <a:rPr lang="en-US" b="1" dirty="0">
                          <a:latin typeface="Montserrat Medium" pitchFamily="50" charset="0"/>
                        </a:rPr>
                        <a:t>Recall@10</a:t>
                      </a:r>
                    </a:p>
                  </a:txBody>
                  <a:tcPr anchor="ctr"/>
                </a:tc>
                <a:tc>
                  <a:txBody>
                    <a:bodyPr/>
                    <a:lstStyle/>
                    <a:p>
                      <a:pPr algn="ctr"/>
                      <a:r>
                        <a:rPr lang="en-US" b="1" dirty="0">
                          <a:latin typeface="Montserrat Medium" pitchFamily="50" charset="0"/>
                        </a:rPr>
                        <a:t>F1@10</a:t>
                      </a:r>
                    </a:p>
                  </a:txBody>
                  <a:tcPr anchor="ctr"/>
                </a:tc>
                <a:extLst>
                  <a:ext uri="{0D108BD9-81ED-4DB2-BD59-A6C34878D82A}">
                    <a16:rowId xmlns:a16="http://schemas.microsoft.com/office/drawing/2014/main" val="4281553381"/>
                  </a:ext>
                </a:extLst>
              </a:tr>
              <a:tr h="0">
                <a:tc>
                  <a:txBody>
                    <a:bodyPr/>
                    <a:lstStyle/>
                    <a:p>
                      <a:pPr algn="just"/>
                      <a:r>
                        <a:rPr lang="en-US" sz="1600" dirty="0" err="1">
                          <a:latin typeface="Montserrat Medium" pitchFamily="50" charset="0"/>
                        </a:rPr>
                        <a:t>LightGCN</a:t>
                      </a:r>
                      <a:endParaRPr lang="en-US" sz="1600" dirty="0">
                        <a:latin typeface="Montserrat Medium" pitchFamily="50" charset="0"/>
                      </a:endParaRPr>
                    </a:p>
                  </a:txBody>
                  <a:tcPr anchor="ctr"/>
                </a:tc>
                <a:tc>
                  <a:txBody>
                    <a:bodyPr/>
                    <a:lstStyle/>
                    <a:p>
                      <a:pPr algn="just"/>
                      <a:r>
                        <a:rPr lang="en-US" sz="1600">
                          <a:latin typeface="Montserrat Medium" pitchFamily="50" charset="0"/>
                        </a:rPr>
                        <a:t>0.763</a:t>
                      </a:r>
                    </a:p>
                  </a:txBody>
                  <a:tcPr anchor="ctr"/>
                </a:tc>
                <a:tc>
                  <a:txBody>
                    <a:bodyPr/>
                    <a:lstStyle/>
                    <a:p>
                      <a:pPr algn="just"/>
                      <a:r>
                        <a:rPr lang="en-US" sz="1600">
                          <a:latin typeface="Montserrat Medium" pitchFamily="50" charset="0"/>
                        </a:rPr>
                        <a:t>0.703</a:t>
                      </a:r>
                    </a:p>
                  </a:txBody>
                  <a:tcPr anchor="ctr"/>
                </a:tc>
                <a:tc>
                  <a:txBody>
                    <a:bodyPr/>
                    <a:lstStyle/>
                    <a:p>
                      <a:pPr algn="just"/>
                      <a:r>
                        <a:rPr lang="en-US" sz="1600">
                          <a:latin typeface="Montserrat Medium" pitchFamily="50" charset="0"/>
                        </a:rPr>
                        <a:t>0.732</a:t>
                      </a:r>
                    </a:p>
                  </a:txBody>
                  <a:tcPr anchor="ctr"/>
                </a:tc>
                <a:extLst>
                  <a:ext uri="{0D108BD9-81ED-4DB2-BD59-A6C34878D82A}">
                    <a16:rowId xmlns:a16="http://schemas.microsoft.com/office/drawing/2014/main" val="1231770566"/>
                  </a:ext>
                </a:extLst>
              </a:tr>
              <a:tr h="0">
                <a:tc>
                  <a:txBody>
                    <a:bodyPr/>
                    <a:lstStyle/>
                    <a:p>
                      <a:pPr algn="just"/>
                      <a:r>
                        <a:rPr lang="en-US" sz="1600" dirty="0">
                          <a:latin typeface="Montserrat Medium" pitchFamily="50" charset="0"/>
                        </a:rPr>
                        <a:t>Hyperbolic GCN</a:t>
                      </a:r>
                    </a:p>
                  </a:txBody>
                  <a:tcPr anchor="ctr"/>
                </a:tc>
                <a:tc>
                  <a:txBody>
                    <a:bodyPr/>
                    <a:lstStyle/>
                    <a:p>
                      <a:pPr algn="just"/>
                      <a:r>
                        <a:rPr lang="en-US" sz="1600" dirty="0">
                          <a:latin typeface="Montserrat Medium" pitchFamily="50" charset="0"/>
                        </a:rPr>
                        <a:t>0.795</a:t>
                      </a:r>
                    </a:p>
                  </a:txBody>
                  <a:tcPr anchor="ctr"/>
                </a:tc>
                <a:tc>
                  <a:txBody>
                    <a:bodyPr/>
                    <a:lstStyle/>
                    <a:p>
                      <a:pPr algn="just"/>
                      <a:r>
                        <a:rPr lang="en-US" sz="1600">
                          <a:latin typeface="Montserrat Medium" pitchFamily="50" charset="0"/>
                        </a:rPr>
                        <a:t>0.742</a:t>
                      </a:r>
                    </a:p>
                  </a:txBody>
                  <a:tcPr anchor="ctr"/>
                </a:tc>
                <a:tc>
                  <a:txBody>
                    <a:bodyPr/>
                    <a:lstStyle/>
                    <a:p>
                      <a:pPr algn="just"/>
                      <a:r>
                        <a:rPr lang="en-US" sz="1600" dirty="0">
                          <a:latin typeface="Montserrat Medium" pitchFamily="50" charset="0"/>
                        </a:rPr>
                        <a:t>0.768</a:t>
                      </a:r>
                    </a:p>
                  </a:txBody>
                  <a:tcPr anchor="ctr"/>
                </a:tc>
                <a:extLst>
                  <a:ext uri="{0D108BD9-81ED-4DB2-BD59-A6C34878D82A}">
                    <a16:rowId xmlns:a16="http://schemas.microsoft.com/office/drawing/2014/main" val="651715352"/>
                  </a:ext>
                </a:extLst>
              </a:tr>
              <a:tr h="0">
                <a:tc>
                  <a:txBody>
                    <a:bodyPr/>
                    <a:lstStyle/>
                    <a:p>
                      <a:pPr algn="just"/>
                      <a:r>
                        <a:rPr lang="en-US" sz="1400" dirty="0" err="1">
                          <a:latin typeface="Montserrat Medium" pitchFamily="50" charset="0"/>
                        </a:rPr>
                        <a:t>LightGCN</a:t>
                      </a:r>
                      <a:r>
                        <a:rPr lang="en-US" sz="1400" dirty="0">
                          <a:latin typeface="Montserrat Medium" pitchFamily="50" charset="0"/>
                        </a:rPr>
                        <a:t> + </a:t>
                      </a:r>
                      <a:r>
                        <a:rPr lang="en-US" sz="1400" dirty="0" err="1">
                          <a:latin typeface="Montserrat Medium" pitchFamily="50" charset="0"/>
                        </a:rPr>
                        <a:t>GNNShap</a:t>
                      </a:r>
                      <a:endParaRPr lang="en-US" sz="1400" dirty="0">
                        <a:latin typeface="Montserrat Medium" pitchFamily="50" charset="0"/>
                      </a:endParaRPr>
                    </a:p>
                  </a:txBody>
                  <a:tcPr anchor="ctr"/>
                </a:tc>
                <a:tc>
                  <a:txBody>
                    <a:bodyPr/>
                    <a:lstStyle/>
                    <a:p>
                      <a:pPr algn="just"/>
                      <a:r>
                        <a:rPr lang="en-US" sz="1600" dirty="0">
                          <a:latin typeface="Montserrat Medium" pitchFamily="50" charset="0"/>
                        </a:rPr>
                        <a:t>0.774</a:t>
                      </a:r>
                    </a:p>
                  </a:txBody>
                  <a:tcPr anchor="ctr"/>
                </a:tc>
                <a:tc>
                  <a:txBody>
                    <a:bodyPr/>
                    <a:lstStyle/>
                    <a:p>
                      <a:pPr algn="just"/>
                      <a:r>
                        <a:rPr lang="en-US" sz="1600" dirty="0">
                          <a:latin typeface="Montserrat Medium" pitchFamily="50" charset="0"/>
                        </a:rPr>
                        <a:t>0.715</a:t>
                      </a:r>
                    </a:p>
                  </a:txBody>
                  <a:tcPr anchor="ctr"/>
                </a:tc>
                <a:tc>
                  <a:txBody>
                    <a:bodyPr/>
                    <a:lstStyle/>
                    <a:p>
                      <a:pPr algn="just"/>
                      <a:r>
                        <a:rPr lang="en-US" sz="1600">
                          <a:latin typeface="Montserrat Medium" pitchFamily="50" charset="0"/>
                        </a:rPr>
                        <a:t>0.743</a:t>
                      </a:r>
                    </a:p>
                  </a:txBody>
                  <a:tcPr anchor="ctr"/>
                </a:tc>
                <a:extLst>
                  <a:ext uri="{0D108BD9-81ED-4DB2-BD59-A6C34878D82A}">
                    <a16:rowId xmlns:a16="http://schemas.microsoft.com/office/drawing/2014/main" val="4060022790"/>
                  </a:ext>
                </a:extLst>
              </a:tr>
              <a:tr h="0">
                <a:tc>
                  <a:txBody>
                    <a:bodyPr/>
                    <a:lstStyle/>
                    <a:p>
                      <a:pPr algn="just"/>
                      <a:r>
                        <a:rPr lang="en-US" sz="1600" dirty="0" err="1">
                          <a:latin typeface="Montserrat Medium" pitchFamily="50" charset="0"/>
                        </a:rPr>
                        <a:t>LightGCN</a:t>
                      </a:r>
                      <a:r>
                        <a:rPr lang="en-US" sz="1600" dirty="0">
                          <a:latin typeface="Montserrat Medium" pitchFamily="50" charset="0"/>
                        </a:rPr>
                        <a:t> + MAGE</a:t>
                      </a:r>
                    </a:p>
                  </a:txBody>
                  <a:tcPr anchor="ctr"/>
                </a:tc>
                <a:tc>
                  <a:txBody>
                    <a:bodyPr/>
                    <a:lstStyle/>
                    <a:p>
                      <a:pPr algn="just"/>
                      <a:r>
                        <a:rPr lang="en-US" sz="1600">
                          <a:latin typeface="Montserrat Medium" pitchFamily="50" charset="0"/>
                        </a:rPr>
                        <a:t>0.783</a:t>
                      </a:r>
                    </a:p>
                  </a:txBody>
                  <a:tcPr anchor="ctr"/>
                </a:tc>
                <a:tc>
                  <a:txBody>
                    <a:bodyPr/>
                    <a:lstStyle/>
                    <a:p>
                      <a:pPr algn="just"/>
                      <a:r>
                        <a:rPr lang="en-US" sz="1600" dirty="0">
                          <a:latin typeface="Montserrat Medium" pitchFamily="50" charset="0"/>
                        </a:rPr>
                        <a:t>0.731</a:t>
                      </a:r>
                    </a:p>
                  </a:txBody>
                  <a:tcPr anchor="ctr"/>
                </a:tc>
                <a:tc>
                  <a:txBody>
                    <a:bodyPr/>
                    <a:lstStyle/>
                    <a:p>
                      <a:pPr algn="just"/>
                      <a:r>
                        <a:rPr lang="en-US" sz="1600" dirty="0">
                          <a:latin typeface="Montserrat Medium" pitchFamily="50" charset="0"/>
                        </a:rPr>
                        <a:t>0.756</a:t>
                      </a:r>
                    </a:p>
                  </a:txBody>
                  <a:tcPr anchor="ctr"/>
                </a:tc>
                <a:extLst>
                  <a:ext uri="{0D108BD9-81ED-4DB2-BD59-A6C34878D82A}">
                    <a16:rowId xmlns:a16="http://schemas.microsoft.com/office/drawing/2014/main" val="75368728"/>
                  </a:ext>
                </a:extLst>
              </a:tr>
              <a:tr h="0">
                <a:tc>
                  <a:txBody>
                    <a:bodyPr/>
                    <a:lstStyle/>
                    <a:p>
                      <a:pPr algn="just"/>
                      <a:r>
                        <a:rPr lang="en-US" sz="1600" b="1" dirty="0">
                          <a:latin typeface="Montserrat Medium" pitchFamily="50" charset="0"/>
                        </a:rPr>
                        <a:t>HGNN-SV</a:t>
                      </a:r>
                      <a:endParaRPr lang="en-US" sz="1600" dirty="0">
                        <a:latin typeface="Montserrat Medium" pitchFamily="50" charset="0"/>
                      </a:endParaRPr>
                    </a:p>
                  </a:txBody>
                  <a:tcPr anchor="ctr"/>
                </a:tc>
                <a:tc>
                  <a:txBody>
                    <a:bodyPr/>
                    <a:lstStyle/>
                    <a:p>
                      <a:pPr algn="just"/>
                      <a:r>
                        <a:rPr lang="en-US" sz="1600" b="1">
                          <a:latin typeface="Montserrat Medium" pitchFamily="50" charset="0"/>
                        </a:rPr>
                        <a:t>0.822</a:t>
                      </a:r>
                      <a:endParaRPr lang="en-US" sz="1600">
                        <a:latin typeface="Montserrat Medium" pitchFamily="50" charset="0"/>
                      </a:endParaRPr>
                    </a:p>
                  </a:txBody>
                  <a:tcPr anchor="ctr"/>
                </a:tc>
                <a:tc>
                  <a:txBody>
                    <a:bodyPr/>
                    <a:lstStyle/>
                    <a:p>
                      <a:pPr algn="just"/>
                      <a:r>
                        <a:rPr lang="en-US" sz="1600" b="1">
                          <a:latin typeface="Montserrat Medium" pitchFamily="50" charset="0"/>
                        </a:rPr>
                        <a:t>0.785</a:t>
                      </a:r>
                      <a:endParaRPr lang="en-US" sz="1600">
                        <a:latin typeface="Montserrat Medium" pitchFamily="50" charset="0"/>
                      </a:endParaRPr>
                    </a:p>
                  </a:txBody>
                  <a:tcPr anchor="ctr"/>
                </a:tc>
                <a:tc>
                  <a:txBody>
                    <a:bodyPr/>
                    <a:lstStyle/>
                    <a:p>
                      <a:pPr algn="just"/>
                      <a:r>
                        <a:rPr lang="en-US" sz="1600" b="1" dirty="0">
                          <a:latin typeface="Montserrat Medium" pitchFamily="50" charset="0"/>
                        </a:rPr>
                        <a:t>0.803</a:t>
                      </a:r>
                      <a:endParaRPr lang="en-US" sz="1600" dirty="0">
                        <a:latin typeface="Montserrat Medium" pitchFamily="50" charset="0"/>
                      </a:endParaRPr>
                    </a:p>
                  </a:txBody>
                  <a:tcPr anchor="ctr"/>
                </a:tc>
                <a:extLst>
                  <a:ext uri="{0D108BD9-81ED-4DB2-BD59-A6C34878D82A}">
                    <a16:rowId xmlns:a16="http://schemas.microsoft.com/office/drawing/2014/main" val="2085481866"/>
                  </a:ext>
                </a:extLst>
              </a:tr>
            </a:tbl>
          </a:graphicData>
        </a:graphic>
      </p:graphicFrame>
      <p:pic>
        <p:nvPicPr>
          <p:cNvPr id="29" name="Picture 28">
            <a:extLst>
              <a:ext uri="{FF2B5EF4-FFF2-40B4-BE49-F238E27FC236}">
                <a16:creationId xmlns:a16="http://schemas.microsoft.com/office/drawing/2014/main" id="{6ADF0872-65E4-40A2-9FE1-5427CDF8F73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30" name="Rectangle 29">
            <a:extLst>
              <a:ext uri="{FF2B5EF4-FFF2-40B4-BE49-F238E27FC236}">
                <a16:creationId xmlns:a16="http://schemas.microsoft.com/office/drawing/2014/main" id="{CCCC6A4F-41BE-4BE0-BDCA-DFBF3EEA3D6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1" name="Rectangle 30">
            <a:extLst>
              <a:ext uri="{FF2B5EF4-FFF2-40B4-BE49-F238E27FC236}">
                <a16:creationId xmlns:a16="http://schemas.microsoft.com/office/drawing/2014/main" id="{25C6FA26-2AC9-42D0-8B53-AE03787E475A}"/>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6A881C6-5E0B-4E8C-A744-7D2AC68A4D4F}"/>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C5A66137-BDCF-49ED-A3CE-153BD3B34343}"/>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F2F76683-F03B-4B0A-9CBA-74E0BC9C5C90}"/>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8" name="Picture 37">
            <a:extLst>
              <a:ext uri="{FF2B5EF4-FFF2-40B4-BE49-F238E27FC236}">
                <a16:creationId xmlns:a16="http://schemas.microsoft.com/office/drawing/2014/main" id="{69AA286B-61C5-403A-8867-FA58F783CD5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4" name="Picture 53">
            <a:extLst>
              <a:ext uri="{FF2B5EF4-FFF2-40B4-BE49-F238E27FC236}">
                <a16:creationId xmlns:a16="http://schemas.microsoft.com/office/drawing/2014/main" id="{FC5C24F3-2BD6-4A5B-A94D-A21DFAA6D42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5" name="Picture 54">
            <a:extLst>
              <a:ext uri="{FF2B5EF4-FFF2-40B4-BE49-F238E27FC236}">
                <a16:creationId xmlns:a16="http://schemas.microsoft.com/office/drawing/2014/main" id="{06882960-F6F0-4FE4-B3D2-7FBADB8FD7B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6" name="Picture 55">
            <a:extLst>
              <a:ext uri="{FF2B5EF4-FFF2-40B4-BE49-F238E27FC236}">
                <a16:creationId xmlns:a16="http://schemas.microsoft.com/office/drawing/2014/main" id="{315A3806-DE52-4F44-BC5F-35B343DBCBB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7" name="Picture 56">
            <a:extLst>
              <a:ext uri="{FF2B5EF4-FFF2-40B4-BE49-F238E27FC236}">
                <a16:creationId xmlns:a16="http://schemas.microsoft.com/office/drawing/2014/main" id="{42C2F68E-7141-451E-ABA4-B82FC995AEB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8" name="Rectangle 57">
            <a:extLst>
              <a:ext uri="{FF2B5EF4-FFF2-40B4-BE49-F238E27FC236}">
                <a16:creationId xmlns:a16="http://schemas.microsoft.com/office/drawing/2014/main" id="{772A5D33-4AB8-439C-A0D8-08279CB7B55A}"/>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9" name="Picture 58">
            <a:extLst>
              <a:ext uri="{FF2B5EF4-FFF2-40B4-BE49-F238E27FC236}">
                <a16:creationId xmlns:a16="http://schemas.microsoft.com/office/drawing/2014/main" id="{48BDC4FF-BE7C-4711-91E4-17257A60D09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0" name="Rectangle 59">
            <a:extLst>
              <a:ext uri="{FF2B5EF4-FFF2-40B4-BE49-F238E27FC236}">
                <a16:creationId xmlns:a16="http://schemas.microsoft.com/office/drawing/2014/main" id="{1AA8746D-AB06-4673-835B-CD953AF56F53}"/>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12B44E62-72C8-4FC3-969E-1780BFF8DD4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7" name="Picture 26">
            <a:extLst>
              <a:ext uri="{FF2B5EF4-FFF2-40B4-BE49-F238E27FC236}">
                <a16:creationId xmlns:a16="http://schemas.microsoft.com/office/drawing/2014/main" id="{D1D2BD8E-4845-410C-90D5-AA6A9575FBB5}"/>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22575749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0FABB310-341D-46E3-955C-B8E9AFAA7FD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graphicFrame>
        <p:nvGraphicFramePr>
          <p:cNvPr id="7" name="Table 6">
            <a:extLst>
              <a:ext uri="{FF2B5EF4-FFF2-40B4-BE49-F238E27FC236}">
                <a16:creationId xmlns:a16="http://schemas.microsoft.com/office/drawing/2014/main" id="{3B0DB30B-C2CD-43BD-AF25-30E17AF5161E}"/>
              </a:ext>
            </a:extLst>
          </p:cNvPr>
          <p:cNvGraphicFramePr>
            <a:graphicFrameLocks noGrp="1"/>
          </p:cNvGraphicFramePr>
          <p:nvPr>
            <p:extLst>
              <p:ext uri="{D42A27DB-BD31-4B8C-83A1-F6EECF244321}">
                <p14:modId xmlns:p14="http://schemas.microsoft.com/office/powerpoint/2010/main" val="645261412"/>
              </p:ext>
            </p:extLst>
          </p:nvPr>
        </p:nvGraphicFramePr>
        <p:xfrm>
          <a:off x="511621" y="2342271"/>
          <a:ext cx="11168757" cy="1828800"/>
        </p:xfrm>
        <a:graphic>
          <a:graphicData uri="http://schemas.openxmlformats.org/drawingml/2006/table">
            <a:tbl>
              <a:tblPr>
                <a:tableStyleId>{BC89EF96-8CEA-46FF-86C4-4CE0E7609802}</a:tableStyleId>
              </a:tblPr>
              <a:tblGrid>
                <a:gridCol w="2983357">
                  <a:extLst>
                    <a:ext uri="{9D8B030D-6E8A-4147-A177-3AD203B41FA5}">
                      <a16:colId xmlns:a16="http://schemas.microsoft.com/office/drawing/2014/main" val="2323506961"/>
                    </a:ext>
                  </a:extLst>
                </a:gridCol>
                <a:gridCol w="1986730">
                  <a:extLst>
                    <a:ext uri="{9D8B030D-6E8A-4147-A177-3AD203B41FA5}">
                      <a16:colId xmlns:a16="http://schemas.microsoft.com/office/drawing/2014/main" val="3721558292"/>
                    </a:ext>
                  </a:extLst>
                </a:gridCol>
                <a:gridCol w="2030931">
                  <a:extLst>
                    <a:ext uri="{9D8B030D-6E8A-4147-A177-3AD203B41FA5}">
                      <a16:colId xmlns:a16="http://schemas.microsoft.com/office/drawing/2014/main" val="3771487028"/>
                    </a:ext>
                  </a:extLst>
                </a:gridCol>
                <a:gridCol w="2184934">
                  <a:extLst>
                    <a:ext uri="{9D8B030D-6E8A-4147-A177-3AD203B41FA5}">
                      <a16:colId xmlns:a16="http://schemas.microsoft.com/office/drawing/2014/main" val="528414807"/>
                    </a:ext>
                  </a:extLst>
                </a:gridCol>
                <a:gridCol w="1982805">
                  <a:extLst>
                    <a:ext uri="{9D8B030D-6E8A-4147-A177-3AD203B41FA5}">
                      <a16:colId xmlns:a16="http://schemas.microsoft.com/office/drawing/2014/main" val="2266290101"/>
                    </a:ext>
                  </a:extLst>
                </a:gridCol>
              </a:tblGrid>
              <a:tr h="0">
                <a:tc>
                  <a:txBody>
                    <a:bodyPr/>
                    <a:lstStyle/>
                    <a:p>
                      <a:pPr algn="ctr"/>
                      <a:r>
                        <a:rPr lang="en-US" sz="1800" b="1">
                          <a:latin typeface="Montserrat Medium" pitchFamily="50" charset="0"/>
                        </a:rPr>
                        <a:t>Variant</a:t>
                      </a:r>
                    </a:p>
                  </a:txBody>
                  <a:tcPr anchor="ctr"/>
                </a:tc>
                <a:tc>
                  <a:txBody>
                    <a:bodyPr/>
                    <a:lstStyle/>
                    <a:p>
                      <a:pPr algn="ctr"/>
                      <a:r>
                        <a:rPr lang="en-US" sz="1800" b="1">
                          <a:latin typeface="Montserrat Medium" pitchFamily="50" charset="0"/>
                        </a:rPr>
                        <a:t>Precision@10</a:t>
                      </a:r>
                    </a:p>
                  </a:txBody>
                  <a:tcPr anchor="ctr"/>
                </a:tc>
                <a:tc>
                  <a:txBody>
                    <a:bodyPr/>
                    <a:lstStyle/>
                    <a:p>
                      <a:pPr algn="ctr"/>
                      <a:r>
                        <a:rPr lang="en-US" sz="1800" b="1">
                          <a:latin typeface="Montserrat Medium" pitchFamily="50" charset="0"/>
                        </a:rPr>
                        <a:t>Recall@10</a:t>
                      </a:r>
                    </a:p>
                  </a:txBody>
                  <a:tcPr anchor="ctr"/>
                </a:tc>
                <a:tc>
                  <a:txBody>
                    <a:bodyPr/>
                    <a:lstStyle/>
                    <a:p>
                      <a:pPr algn="ctr"/>
                      <a:r>
                        <a:rPr lang="en-US" sz="1800" b="1">
                          <a:latin typeface="Montserrat Medium" pitchFamily="50" charset="0"/>
                        </a:rPr>
                        <a:t>F1@10</a:t>
                      </a:r>
                    </a:p>
                  </a:txBody>
                  <a:tcPr anchor="ctr"/>
                </a:tc>
                <a:tc>
                  <a:txBody>
                    <a:bodyPr/>
                    <a:lstStyle/>
                    <a:p>
                      <a:pPr algn="ctr"/>
                      <a:r>
                        <a:rPr lang="en-US" sz="1800" b="1" dirty="0">
                          <a:latin typeface="Montserrat Medium" pitchFamily="50" charset="0"/>
                        </a:rPr>
                        <a:t>F1 drop</a:t>
                      </a:r>
                    </a:p>
                  </a:txBody>
                  <a:tcPr anchor="ctr"/>
                </a:tc>
                <a:extLst>
                  <a:ext uri="{0D108BD9-81ED-4DB2-BD59-A6C34878D82A}">
                    <a16:rowId xmlns:a16="http://schemas.microsoft.com/office/drawing/2014/main" val="2360172565"/>
                  </a:ext>
                </a:extLst>
              </a:tr>
              <a:tr h="0">
                <a:tc>
                  <a:txBody>
                    <a:bodyPr/>
                    <a:lstStyle/>
                    <a:p>
                      <a:pPr algn="just"/>
                      <a:r>
                        <a:rPr lang="en-US" sz="1400" b="1" dirty="0">
                          <a:latin typeface="Montserrat Medium" pitchFamily="50" charset="0"/>
                        </a:rPr>
                        <a:t>Full model</a:t>
                      </a:r>
                    </a:p>
                  </a:txBody>
                  <a:tcPr anchor="ctr"/>
                </a:tc>
                <a:tc>
                  <a:txBody>
                    <a:bodyPr/>
                    <a:lstStyle/>
                    <a:p>
                      <a:pPr algn="just"/>
                      <a:r>
                        <a:rPr lang="en-US" sz="1800" b="1" dirty="0">
                          <a:latin typeface="Montserrat Medium" pitchFamily="50" charset="0"/>
                        </a:rPr>
                        <a:t>0.822</a:t>
                      </a:r>
                      <a:endParaRPr lang="en-US" sz="1800" dirty="0">
                        <a:latin typeface="Montserrat Medium" pitchFamily="50" charset="0"/>
                      </a:endParaRPr>
                    </a:p>
                  </a:txBody>
                  <a:tcPr anchor="ctr"/>
                </a:tc>
                <a:tc>
                  <a:txBody>
                    <a:bodyPr/>
                    <a:lstStyle/>
                    <a:p>
                      <a:pPr algn="just"/>
                      <a:r>
                        <a:rPr lang="en-US" sz="1800" b="1">
                          <a:latin typeface="Montserrat Medium" pitchFamily="50" charset="0"/>
                        </a:rPr>
                        <a:t>0.785</a:t>
                      </a:r>
                      <a:endParaRPr lang="en-US" sz="1800">
                        <a:latin typeface="Montserrat Medium" pitchFamily="50" charset="0"/>
                      </a:endParaRPr>
                    </a:p>
                  </a:txBody>
                  <a:tcPr anchor="ctr"/>
                </a:tc>
                <a:tc>
                  <a:txBody>
                    <a:bodyPr/>
                    <a:lstStyle/>
                    <a:p>
                      <a:pPr algn="just"/>
                      <a:r>
                        <a:rPr lang="en-US" sz="1800" b="1">
                          <a:latin typeface="Montserrat Medium" pitchFamily="50" charset="0"/>
                        </a:rPr>
                        <a:t>0.803</a:t>
                      </a:r>
                      <a:endParaRPr lang="en-US" sz="1800">
                        <a:latin typeface="Montserrat Medium" pitchFamily="50" charset="0"/>
                      </a:endParaRPr>
                    </a:p>
                  </a:txBody>
                  <a:tcPr anchor="ctr"/>
                </a:tc>
                <a:tc>
                  <a:txBody>
                    <a:bodyPr/>
                    <a:lstStyle/>
                    <a:p>
                      <a:pPr algn="just"/>
                      <a:r>
                        <a:rPr lang="en-US" sz="1800">
                          <a:latin typeface="Montserrat Medium" pitchFamily="50" charset="0"/>
                        </a:rPr>
                        <a:t>—</a:t>
                      </a:r>
                    </a:p>
                  </a:txBody>
                  <a:tcPr anchor="ctr"/>
                </a:tc>
                <a:extLst>
                  <a:ext uri="{0D108BD9-81ED-4DB2-BD59-A6C34878D82A}">
                    <a16:rowId xmlns:a16="http://schemas.microsoft.com/office/drawing/2014/main" val="215127921"/>
                  </a:ext>
                </a:extLst>
              </a:tr>
              <a:tr h="0">
                <a:tc>
                  <a:txBody>
                    <a:bodyPr/>
                    <a:lstStyle/>
                    <a:p>
                      <a:pPr algn="just"/>
                      <a:r>
                        <a:rPr lang="en-US" sz="1400" dirty="0">
                          <a:latin typeface="Montserrat Medium" pitchFamily="50" charset="0"/>
                        </a:rPr>
                        <a:t>Without Shapley</a:t>
                      </a:r>
                    </a:p>
                  </a:txBody>
                  <a:tcPr anchor="ctr"/>
                </a:tc>
                <a:tc>
                  <a:txBody>
                    <a:bodyPr/>
                    <a:lstStyle/>
                    <a:p>
                      <a:pPr algn="just"/>
                      <a:r>
                        <a:rPr lang="en-US" sz="1800" dirty="0">
                          <a:latin typeface="Montserrat Medium" pitchFamily="50" charset="0"/>
                        </a:rPr>
                        <a:t>0.816</a:t>
                      </a:r>
                    </a:p>
                  </a:txBody>
                  <a:tcPr anchor="ctr"/>
                </a:tc>
                <a:tc>
                  <a:txBody>
                    <a:bodyPr/>
                    <a:lstStyle/>
                    <a:p>
                      <a:pPr algn="just"/>
                      <a:r>
                        <a:rPr lang="en-US" sz="1800" dirty="0">
                          <a:latin typeface="Montserrat Medium" pitchFamily="50" charset="0"/>
                        </a:rPr>
                        <a:t>0.774</a:t>
                      </a:r>
                    </a:p>
                  </a:txBody>
                  <a:tcPr anchor="ctr"/>
                </a:tc>
                <a:tc>
                  <a:txBody>
                    <a:bodyPr/>
                    <a:lstStyle/>
                    <a:p>
                      <a:pPr algn="just"/>
                      <a:r>
                        <a:rPr lang="en-US" sz="1800" dirty="0">
                          <a:latin typeface="Montserrat Medium" pitchFamily="50" charset="0"/>
                        </a:rPr>
                        <a:t>0.794</a:t>
                      </a:r>
                    </a:p>
                  </a:txBody>
                  <a:tcPr anchor="ctr"/>
                </a:tc>
                <a:tc>
                  <a:txBody>
                    <a:bodyPr/>
                    <a:lstStyle/>
                    <a:p>
                      <a:pPr algn="just"/>
                      <a:r>
                        <a:rPr lang="en-US" sz="1800" dirty="0">
                          <a:latin typeface="Montserrat Medium" pitchFamily="50" charset="0"/>
                        </a:rPr>
                        <a:t>-0.009</a:t>
                      </a:r>
                    </a:p>
                  </a:txBody>
                  <a:tcPr anchor="ctr"/>
                </a:tc>
                <a:extLst>
                  <a:ext uri="{0D108BD9-81ED-4DB2-BD59-A6C34878D82A}">
                    <a16:rowId xmlns:a16="http://schemas.microsoft.com/office/drawing/2014/main" val="2923906197"/>
                  </a:ext>
                </a:extLst>
              </a:tr>
              <a:tr h="0">
                <a:tc>
                  <a:txBody>
                    <a:bodyPr/>
                    <a:lstStyle/>
                    <a:p>
                      <a:pPr algn="just"/>
                      <a:r>
                        <a:rPr lang="en-US" sz="1400" dirty="0">
                          <a:latin typeface="Montserrat Medium" pitchFamily="50" charset="0"/>
                        </a:rPr>
                        <a:t>Without hyperbolic geometry</a:t>
                      </a:r>
                    </a:p>
                  </a:txBody>
                  <a:tcPr anchor="ctr"/>
                </a:tc>
                <a:tc>
                  <a:txBody>
                    <a:bodyPr/>
                    <a:lstStyle/>
                    <a:p>
                      <a:pPr algn="just"/>
                      <a:r>
                        <a:rPr lang="en-US" sz="1800" dirty="0">
                          <a:latin typeface="Montserrat Medium" pitchFamily="50" charset="0"/>
                        </a:rPr>
                        <a:t>0.792</a:t>
                      </a:r>
                    </a:p>
                  </a:txBody>
                  <a:tcPr anchor="ctr"/>
                </a:tc>
                <a:tc>
                  <a:txBody>
                    <a:bodyPr/>
                    <a:lstStyle/>
                    <a:p>
                      <a:pPr algn="just"/>
                      <a:r>
                        <a:rPr lang="en-US" sz="1800">
                          <a:latin typeface="Montserrat Medium" pitchFamily="50" charset="0"/>
                        </a:rPr>
                        <a:t>0.749</a:t>
                      </a:r>
                    </a:p>
                  </a:txBody>
                  <a:tcPr anchor="ctr"/>
                </a:tc>
                <a:tc>
                  <a:txBody>
                    <a:bodyPr/>
                    <a:lstStyle/>
                    <a:p>
                      <a:pPr algn="just"/>
                      <a:r>
                        <a:rPr lang="en-US" sz="1800">
                          <a:latin typeface="Montserrat Medium" pitchFamily="50" charset="0"/>
                        </a:rPr>
                        <a:t>0.770</a:t>
                      </a:r>
                    </a:p>
                  </a:txBody>
                  <a:tcPr anchor="ctr"/>
                </a:tc>
                <a:tc>
                  <a:txBody>
                    <a:bodyPr/>
                    <a:lstStyle/>
                    <a:p>
                      <a:pPr algn="just"/>
                      <a:r>
                        <a:rPr lang="en-US" sz="1800" dirty="0">
                          <a:latin typeface="Montserrat Medium" pitchFamily="50" charset="0"/>
                        </a:rPr>
                        <a:t>-0.033</a:t>
                      </a:r>
                    </a:p>
                  </a:txBody>
                  <a:tcPr anchor="ctr"/>
                </a:tc>
                <a:extLst>
                  <a:ext uri="{0D108BD9-81ED-4DB2-BD59-A6C34878D82A}">
                    <a16:rowId xmlns:a16="http://schemas.microsoft.com/office/drawing/2014/main" val="2330979998"/>
                  </a:ext>
                </a:extLst>
              </a:tr>
              <a:tr h="0">
                <a:tc>
                  <a:txBody>
                    <a:bodyPr/>
                    <a:lstStyle/>
                    <a:p>
                      <a:pPr algn="just"/>
                      <a:r>
                        <a:rPr lang="en-US" sz="1400" dirty="0">
                          <a:latin typeface="Montserrat Medium" pitchFamily="50" charset="0"/>
                        </a:rPr>
                        <a:t>Without hierarchy</a:t>
                      </a:r>
                    </a:p>
                  </a:txBody>
                  <a:tcPr anchor="ctr"/>
                </a:tc>
                <a:tc>
                  <a:txBody>
                    <a:bodyPr/>
                    <a:lstStyle/>
                    <a:p>
                      <a:pPr algn="just"/>
                      <a:r>
                        <a:rPr lang="en-US" sz="1800">
                          <a:latin typeface="Montserrat Medium" pitchFamily="50" charset="0"/>
                        </a:rPr>
                        <a:t>0.758</a:t>
                      </a:r>
                    </a:p>
                  </a:txBody>
                  <a:tcPr anchor="ctr"/>
                </a:tc>
                <a:tc>
                  <a:txBody>
                    <a:bodyPr/>
                    <a:lstStyle/>
                    <a:p>
                      <a:pPr algn="just"/>
                      <a:r>
                        <a:rPr lang="en-US" sz="1800" dirty="0">
                          <a:latin typeface="Montserrat Medium" pitchFamily="50" charset="0"/>
                        </a:rPr>
                        <a:t>0.723</a:t>
                      </a:r>
                    </a:p>
                  </a:txBody>
                  <a:tcPr anchor="ctr"/>
                </a:tc>
                <a:tc>
                  <a:txBody>
                    <a:bodyPr/>
                    <a:lstStyle/>
                    <a:p>
                      <a:pPr algn="just"/>
                      <a:r>
                        <a:rPr lang="en-US" sz="1800" dirty="0">
                          <a:latin typeface="Montserrat Medium" pitchFamily="50" charset="0"/>
                        </a:rPr>
                        <a:t>0.740</a:t>
                      </a:r>
                    </a:p>
                  </a:txBody>
                  <a:tcPr anchor="ctr"/>
                </a:tc>
                <a:tc>
                  <a:txBody>
                    <a:bodyPr/>
                    <a:lstStyle/>
                    <a:p>
                      <a:pPr algn="just"/>
                      <a:r>
                        <a:rPr lang="en-US" sz="1800" b="1" dirty="0">
                          <a:latin typeface="Montserrat Medium" pitchFamily="50" charset="0"/>
                        </a:rPr>
                        <a:t>-0.063</a:t>
                      </a:r>
                      <a:endParaRPr lang="en-US" sz="1800" dirty="0">
                        <a:latin typeface="Montserrat Medium" pitchFamily="50" charset="0"/>
                      </a:endParaRPr>
                    </a:p>
                  </a:txBody>
                  <a:tcPr anchor="ctr"/>
                </a:tc>
                <a:extLst>
                  <a:ext uri="{0D108BD9-81ED-4DB2-BD59-A6C34878D82A}">
                    <a16:rowId xmlns:a16="http://schemas.microsoft.com/office/drawing/2014/main" val="1877505626"/>
                  </a:ext>
                </a:extLst>
              </a:tr>
            </a:tbl>
          </a:graphicData>
        </a:graphic>
      </p:graphicFrame>
      <p:sp>
        <p:nvSpPr>
          <p:cNvPr id="29" name="TextBox 28">
            <a:extLst>
              <a:ext uri="{FF2B5EF4-FFF2-40B4-BE49-F238E27FC236}">
                <a16:creationId xmlns:a16="http://schemas.microsoft.com/office/drawing/2014/main" id="{D67E7D5C-87C8-4B28-9737-B1A702EFF971}"/>
              </a:ext>
            </a:extLst>
          </p:cNvPr>
          <p:cNvSpPr txBox="1"/>
          <p:nvPr/>
        </p:nvSpPr>
        <p:spPr>
          <a:xfrm>
            <a:off x="129299" y="1583544"/>
            <a:ext cx="5153901" cy="400110"/>
          </a:xfrm>
          <a:prstGeom prst="rect">
            <a:avLst/>
          </a:prstGeom>
          <a:noFill/>
        </p:spPr>
        <p:txBody>
          <a:bodyPr wrap="square">
            <a:spAutoFit/>
          </a:bodyPr>
          <a:lstStyle/>
          <a:p>
            <a:r>
              <a:rPr lang="en-US" sz="2000" b="1" dirty="0">
                <a:latin typeface="Montserrat Medium" pitchFamily="50" charset="0"/>
              </a:rPr>
              <a:t>Ablation study - </a:t>
            </a:r>
            <a:r>
              <a:rPr lang="en-US" sz="2000" b="1" dirty="0" err="1">
                <a:latin typeface="Montserrat Medium" pitchFamily="50" charset="0"/>
              </a:rPr>
              <a:t>Movielens</a:t>
            </a:r>
            <a:r>
              <a:rPr lang="en-US" sz="2000" b="1" dirty="0">
                <a:latin typeface="Montserrat Medium" pitchFamily="50" charset="0"/>
              </a:rPr>
              <a:t> 1M</a:t>
            </a:r>
          </a:p>
        </p:txBody>
      </p:sp>
      <p:pic>
        <p:nvPicPr>
          <p:cNvPr id="31" name="Picture 30">
            <a:extLst>
              <a:ext uri="{FF2B5EF4-FFF2-40B4-BE49-F238E27FC236}">
                <a16:creationId xmlns:a16="http://schemas.microsoft.com/office/drawing/2014/main" id="{984D6CDF-0564-4368-BA12-664BA37C548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33" name="Rectangle 32">
            <a:extLst>
              <a:ext uri="{FF2B5EF4-FFF2-40B4-BE49-F238E27FC236}">
                <a16:creationId xmlns:a16="http://schemas.microsoft.com/office/drawing/2014/main" id="{FED94AA1-E23B-4ADD-A13E-2546F6766F09}"/>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5769CED4-7508-404E-A963-951EDC1F917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DA771352-7D66-41A4-AD90-5EAAB0BC34D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C4DEBF9D-E50C-48C8-BDA5-53C523ED534A}"/>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4902549B-8B42-43CC-AA57-89F2A25FCAFD}"/>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F421629F-446F-4D42-93A5-88DC4F95A57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6" name="Picture 55">
            <a:extLst>
              <a:ext uri="{FF2B5EF4-FFF2-40B4-BE49-F238E27FC236}">
                <a16:creationId xmlns:a16="http://schemas.microsoft.com/office/drawing/2014/main" id="{F8103F5D-5B18-4575-9496-9E132F438BB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7" name="Picture 56">
            <a:extLst>
              <a:ext uri="{FF2B5EF4-FFF2-40B4-BE49-F238E27FC236}">
                <a16:creationId xmlns:a16="http://schemas.microsoft.com/office/drawing/2014/main" id="{90302BBC-834A-4E7B-B502-6EA6BCC6520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8" name="Picture 57">
            <a:extLst>
              <a:ext uri="{FF2B5EF4-FFF2-40B4-BE49-F238E27FC236}">
                <a16:creationId xmlns:a16="http://schemas.microsoft.com/office/drawing/2014/main" id="{2782AD40-7A37-4C07-A57F-E6690F161DA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9" name="Picture 58">
            <a:extLst>
              <a:ext uri="{FF2B5EF4-FFF2-40B4-BE49-F238E27FC236}">
                <a16:creationId xmlns:a16="http://schemas.microsoft.com/office/drawing/2014/main" id="{FAAB88E7-4C5B-42AF-8528-805379BC794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0" name="Rectangle 59">
            <a:extLst>
              <a:ext uri="{FF2B5EF4-FFF2-40B4-BE49-F238E27FC236}">
                <a16:creationId xmlns:a16="http://schemas.microsoft.com/office/drawing/2014/main" id="{01307DC8-1A92-48D5-9FC6-CE670CBA4D5F}"/>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607C74DF-BB18-4C98-AA40-43C98CA825B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2" name="Rectangle 61">
            <a:extLst>
              <a:ext uri="{FF2B5EF4-FFF2-40B4-BE49-F238E27FC236}">
                <a16:creationId xmlns:a16="http://schemas.microsoft.com/office/drawing/2014/main" id="{AA36BC2D-E0B5-4569-8542-EB7940F678D5}"/>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EB21D8BB-C4BE-4BF4-B41B-921D57E29F2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30" name="Picture 29">
            <a:extLst>
              <a:ext uri="{FF2B5EF4-FFF2-40B4-BE49-F238E27FC236}">
                <a16:creationId xmlns:a16="http://schemas.microsoft.com/office/drawing/2014/main" id="{D9B6A232-018F-494E-83AE-545D284A1F0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18514423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53" name="Rectangle 52">
            <a:extLst>
              <a:ext uri="{FF2B5EF4-FFF2-40B4-BE49-F238E27FC236}">
                <a16:creationId xmlns:a16="http://schemas.microsoft.com/office/drawing/2014/main" id="{0FABB310-341D-46E3-955C-B8E9AFAA7FD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29" name="TextBox 28">
            <a:extLst>
              <a:ext uri="{FF2B5EF4-FFF2-40B4-BE49-F238E27FC236}">
                <a16:creationId xmlns:a16="http://schemas.microsoft.com/office/drawing/2014/main" id="{D67E7D5C-87C8-4B28-9737-B1A702EFF971}"/>
              </a:ext>
            </a:extLst>
          </p:cNvPr>
          <p:cNvSpPr txBox="1"/>
          <p:nvPr/>
        </p:nvSpPr>
        <p:spPr>
          <a:xfrm>
            <a:off x="129299" y="1583544"/>
            <a:ext cx="5153901" cy="400110"/>
          </a:xfrm>
          <a:prstGeom prst="rect">
            <a:avLst/>
          </a:prstGeom>
          <a:noFill/>
        </p:spPr>
        <p:txBody>
          <a:bodyPr wrap="square">
            <a:spAutoFit/>
          </a:bodyPr>
          <a:lstStyle/>
          <a:p>
            <a:r>
              <a:rPr lang="en-US" sz="2000" b="1" dirty="0">
                <a:latin typeface="Montserrat Medium" pitchFamily="50" charset="0"/>
              </a:rPr>
              <a:t>Ablation study – Amazon Products</a:t>
            </a:r>
          </a:p>
        </p:txBody>
      </p:sp>
      <p:graphicFrame>
        <p:nvGraphicFramePr>
          <p:cNvPr id="26" name="Table 25">
            <a:extLst>
              <a:ext uri="{FF2B5EF4-FFF2-40B4-BE49-F238E27FC236}">
                <a16:creationId xmlns:a16="http://schemas.microsoft.com/office/drawing/2014/main" id="{AF28A1DE-ADAA-42C4-A341-F9B797399198}"/>
              </a:ext>
            </a:extLst>
          </p:cNvPr>
          <p:cNvGraphicFramePr>
            <a:graphicFrameLocks noGrp="1"/>
          </p:cNvGraphicFramePr>
          <p:nvPr>
            <p:extLst>
              <p:ext uri="{D42A27DB-BD31-4B8C-83A1-F6EECF244321}">
                <p14:modId xmlns:p14="http://schemas.microsoft.com/office/powerpoint/2010/main" val="4266855532"/>
              </p:ext>
            </p:extLst>
          </p:nvPr>
        </p:nvGraphicFramePr>
        <p:xfrm>
          <a:off x="505800" y="2310269"/>
          <a:ext cx="11180400" cy="1844718"/>
        </p:xfrm>
        <a:graphic>
          <a:graphicData uri="http://schemas.openxmlformats.org/drawingml/2006/table">
            <a:tbl>
              <a:tblPr>
                <a:tableStyleId>{BC89EF96-8CEA-46FF-86C4-4CE0E7609802}</a:tableStyleId>
              </a:tblPr>
              <a:tblGrid>
                <a:gridCol w="2993993">
                  <a:extLst>
                    <a:ext uri="{9D8B030D-6E8A-4147-A177-3AD203B41FA5}">
                      <a16:colId xmlns:a16="http://schemas.microsoft.com/office/drawing/2014/main" val="1622945173"/>
                    </a:ext>
                  </a:extLst>
                </a:gridCol>
                <a:gridCol w="1992429">
                  <a:extLst>
                    <a:ext uri="{9D8B030D-6E8A-4147-A177-3AD203B41FA5}">
                      <a16:colId xmlns:a16="http://schemas.microsoft.com/office/drawing/2014/main" val="633533241"/>
                    </a:ext>
                  </a:extLst>
                </a:gridCol>
                <a:gridCol w="2011680">
                  <a:extLst>
                    <a:ext uri="{9D8B030D-6E8A-4147-A177-3AD203B41FA5}">
                      <a16:colId xmlns:a16="http://schemas.microsoft.com/office/drawing/2014/main" val="3969218674"/>
                    </a:ext>
                  </a:extLst>
                </a:gridCol>
                <a:gridCol w="2204185">
                  <a:extLst>
                    <a:ext uri="{9D8B030D-6E8A-4147-A177-3AD203B41FA5}">
                      <a16:colId xmlns:a16="http://schemas.microsoft.com/office/drawing/2014/main" val="419594396"/>
                    </a:ext>
                  </a:extLst>
                </a:gridCol>
                <a:gridCol w="1978113">
                  <a:extLst>
                    <a:ext uri="{9D8B030D-6E8A-4147-A177-3AD203B41FA5}">
                      <a16:colId xmlns:a16="http://schemas.microsoft.com/office/drawing/2014/main" val="1874670717"/>
                    </a:ext>
                  </a:extLst>
                </a:gridCol>
              </a:tblGrid>
              <a:tr h="381678">
                <a:tc>
                  <a:txBody>
                    <a:bodyPr/>
                    <a:lstStyle/>
                    <a:p>
                      <a:pPr algn="ctr"/>
                      <a:r>
                        <a:rPr lang="en-US" b="1" dirty="0">
                          <a:latin typeface="Montserrat Medium" pitchFamily="50" charset="0"/>
                        </a:rPr>
                        <a:t>Variant</a:t>
                      </a:r>
                    </a:p>
                  </a:txBody>
                  <a:tcPr anchor="ctr"/>
                </a:tc>
                <a:tc>
                  <a:txBody>
                    <a:bodyPr/>
                    <a:lstStyle/>
                    <a:p>
                      <a:pPr algn="ctr"/>
                      <a:r>
                        <a:rPr lang="en-US" b="1">
                          <a:latin typeface="Montserrat Medium" pitchFamily="50" charset="0"/>
                        </a:rPr>
                        <a:t>Precision@10</a:t>
                      </a:r>
                    </a:p>
                  </a:txBody>
                  <a:tcPr anchor="ctr"/>
                </a:tc>
                <a:tc>
                  <a:txBody>
                    <a:bodyPr/>
                    <a:lstStyle/>
                    <a:p>
                      <a:pPr algn="ctr"/>
                      <a:r>
                        <a:rPr lang="en-US" b="1">
                          <a:latin typeface="Montserrat Medium" pitchFamily="50" charset="0"/>
                        </a:rPr>
                        <a:t>Recall@10</a:t>
                      </a:r>
                    </a:p>
                  </a:txBody>
                  <a:tcPr anchor="ctr"/>
                </a:tc>
                <a:tc>
                  <a:txBody>
                    <a:bodyPr/>
                    <a:lstStyle/>
                    <a:p>
                      <a:pPr algn="ctr"/>
                      <a:r>
                        <a:rPr lang="en-US" b="1">
                          <a:latin typeface="Montserrat Medium" pitchFamily="50" charset="0"/>
                        </a:rPr>
                        <a:t>F1@10</a:t>
                      </a:r>
                    </a:p>
                  </a:txBody>
                  <a:tcPr anchor="ctr"/>
                </a:tc>
                <a:tc>
                  <a:txBody>
                    <a:bodyPr/>
                    <a:lstStyle/>
                    <a:p>
                      <a:pPr algn="ctr"/>
                      <a:r>
                        <a:rPr lang="en-US" b="1" dirty="0">
                          <a:latin typeface="Montserrat Medium" pitchFamily="50" charset="0"/>
                        </a:rPr>
                        <a:t>F1 drop</a:t>
                      </a:r>
                    </a:p>
                  </a:txBody>
                  <a:tcPr anchor="ctr"/>
                </a:tc>
                <a:extLst>
                  <a:ext uri="{0D108BD9-81ED-4DB2-BD59-A6C34878D82A}">
                    <a16:rowId xmlns:a16="http://schemas.microsoft.com/office/drawing/2014/main" val="2838991376"/>
                  </a:ext>
                </a:extLst>
              </a:tr>
              <a:tr h="362586">
                <a:tc>
                  <a:txBody>
                    <a:bodyPr/>
                    <a:lstStyle/>
                    <a:p>
                      <a:pPr algn="just"/>
                      <a:r>
                        <a:rPr lang="en-US" sz="1400" b="1" dirty="0">
                          <a:latin typeface="Montserrat Medium" pitchFamily="50" charset="0"/>
                        </a:rPr>
                        <a:t>Full model</a:t>
                      </a:r>
                      <a:endParaRPr lang="en-US" sz="1400" dirty="0">
                        <a:latin typeface="Montserrat Medium" pitchFamily="50" charset="0"/>
                      </a:endParaRPr>
                    </a:p>
                  </a:txBody>
                  <a:tcPr anchor="ctr"/>
                </a:tc>
                <a:tc>
                  <a:txBody>
                    <a:bodyPr/>
                    <a:lstStyle/>
                    <a:p>
                      <a:pPr algn="just"/>
                      <a:r>
                        <a:rPr lang="en-US" b="1" dirty="0">
                          <a:latin typeface="Montserrat Medium" pitchFamily="50" charset="0"/>
                        </a:rPr>
                        <a:t>0.785</a:t>
                      </a:r>
                      <a:endParaRPr lang="en-US" dirty="0">
                        <a:latin typeface="Montserrat Medium" pitchFamily="50" charset="0"/>
                      </a:endParaRPr>
                    </a:p>
                  </a:txBody>
                  <a:tcPr anchor="ctr"/>
                </a:tc>
                <a:tc>
                  <a:txBody>
                    <a:bodyPr/>
                    <a:lstStyle/>
                    <a:p>
                      <a:pPr algn="just"/>
                      <a:r>
                        <a:rPr lang="en-US" b="1" dirty="0">
                          <a:latin typeface="Montserrat Medium" pitchFamily="50" charset="0"/>
                        </a:rPr>
                        <a:t>0.730</a:t>
                      </a:r>
                      <a:endParaRPr lang="en-US" dirty="0">
                        <a:latin typeface="Montserrat Medium" pitchFamily="50" charset="0"/>
                      </a:endParaRPr>
                    </a:p>
                  </a:txBody>
                  <a:tcPr anchor="ctr"/>
                </a:tc>
                <a:tc>
                  <a:txBody>
                    <a:bodyPr/>
                    <a:lstStyle/>
                    <a:p>
                      <a:pPr algn="just"/>
                      <a:r>
                        <a:rPr lang="en-US" b="1">
                          <a:latin typeface="Montserrat Medium" pitchFamily="50" charset="0"/>
                        </a:rPr>
                        <a:t>0.756</a:t>
                      </a:r>
                      <a:endParaRPr lang="en-US">
                        <a:latin typeface="Montserrat Medium" pitchFamily="50" charset="0"/>
                      </a:endParaRPr>
                    </a:p>
                  </a:txBody>
                  <a:tcPr anchor="ctr"/>
                </a:tc>
                <a:tc>
                  <a:txBody>
                    <a:bodyPr/>
                    <a:lstStyle/>
                    <a:p>
                      <a:pPr algn="just"/>
                      <a:r>
                        <a:rPr lang="en-US">
                          <a:latin typeface="Montserrat Medium" pitchFamily="50" charset="0"/>
                        </a:rPr>
                        <a:t>—</a:t>
                      </a:r>
                    </a:p>
                  </a:txBody>
                  <a:tcPr anchor="ctr"/>
                </a:tc>
                <a:extLst>
                  <a:ext uri="{0D108BD9-81ED-4DB2-BD59-A6C34878D82A}">
                    <a16:rowId xmlns:a16="http://schemas.microsoft.com/office/drawing/2014/main" val="790140809"/>
                  </a:ext>
                </a:extLst>
              </a:tr>
              <a:tr h="362586">
                <a:tc>
                  <a:txBody>
                    <a:bodyPr/>
                    <a:lstStyle/>
                    <a:p>
                      <a:pPr algn="just"/>
                      <a:r>
                        <a:rPr lang="en-US" sz="1400" dirty="0">
                          <a:latin typeface="Montserrat Medium" pitchFamily="50" charset="0"/>
                        </a:rPr>
                        <a:t>Without Shapley</a:t>
                      </a:r>
                    </a:p>
                  </a:txBody>
                  <a:tcPr anchor="ctr"/>
                </a:tc>
                <a:tc>
                  <a:txBody>
                    <a:bodyPr/>
                    <a:lstStyle/>
                    <a:p>
                      <a:pPr algn="just"/>
                      <a:r>
                        <a:rPr lang="en-US" dirty="0">
                          <a:latin typeface="Montserrat Medium" pitchFamily="50" charset="0"/>
                        </a:rPr>
                        <a:t>0.777</a:t>
                      </a:r>
                    </a:p>
                  </a:txBody>
                  <a:tcPr anchor="ctr"/>
                </a:tc>
                <a:tc>
                  <a:txBody>
                    <a:bodyPr/>
                    <a:lstStyle/>
                    <a:p>
                      <a:pPr algn="just"/>
                      <a:r>
                        <a:rPr lang="en-US" dirty="0">
                          <a:latin typeface="Montserrat Medium" pitchFamily="50" charset="0"/>
                        </a:rPr>
                        <a:t>0.716</a:t>
                      </a:r>
                    </a:p>
                  </a:txBody>
                  <a:tcPr anchor="ctr"/>
                </a:tc>
                <a:tc>
                  <a:txBody>
                    <a:bodyPr/>
                    <a:lstStyle/>
                    <a:p>
                      <a:pPr algn="just"/>
                      <a:r>
                        <a:rPr lang="en-US" dirty="0">
                          <a:latin typeface="Montserrat Medium" pitchFamily="50" charset="0"/>
                        </a:rPr>
                        <a:t>0.745</a:t>
                      </a:r>
                    </a:p>
                  </a:txBody>
                  <a:tcPr anchor="ctr"/>
                </a:tc>
                <a:tc>
                  <a:txBody>
                    <a:bodyPr/>
                    <a:lstStyle/>
                    <a:p>
                      <a:pPr algn="just"/>
                      <a:r>
                        <a:rPr lang="en-US">
                          <a:latin typeface="Montserrat Medium" pitchFamily="50" charset="0"/>
                        </a:rPr>
                        <a:t>-0.011</a:t>
                      </a:r>
                    </a:p>
                  </a:txBody>
                  <a:tcPr anchor="ctr"/>
                </a:tc>
                <a:extLst>
                  <a:ext uri="{0D108BD9-81ED-4DB2-BD59-A6C34878D82A}">
                    <a16:rowId xmlns:a16="http://schemas.microsoft.com/office/drawing/2014/main" val="3872966729"/>
                  </a:ext>
                </a:extLst>
              </a:tr>
              <a:tr h="327259">
                <a:tc>
                  <a:txBody>
                    <a:bodyPr/>
                    <a:lstStyle/>
                    <a:p>
                      <a:pPr algn="just"/>
                      <a:r>
                        <a:rPr lang="en-US" sz="1400">
                          <a:latin typeface="Montserrat Medium" pitchFamily="50" charset="0"/>
                        </a:rPr>
                        <a:t>Without hyperbolic geometry</a:t>
                      </a:r>
                    </a:p>
                  </a:txBody>
                  <a:tcPr anchor="ctr"/>
                </a:tc>
                <a:tc>
                  <a:txBody>
                    <a:bodyPr/>
                    <a:lstStyle/>
                    <a:p>
                      <a:pPr algn="just"/>
                      <a:r>
                        <a:rPr lang="en-US">
                          <a:latin typeface="Montserrat Medium" pitchFamily="50" charset="0"/>
                        </a:rPr>
                        <a:t>0.753</a:t>
                      </a:r>
                    </a:p>
                  </a:txBody>
                  <a:tcPr anchor="ctr"/>
                </a:tc>
                <a:tc>
                  <a:txBody>
                    <a:bodyPr/>
                    <a:lstStyle/>
                    <a:p>
                      <a:pPr algn="just"/>
                      <a:r>
                        <a:rPr lang="en-US">
                          <a:latin typeface="Montserrat Medium" pitchFamily="50" charset="0"/>
                        </a:rPr>
                        <a:t>0.692</a:t>
                      </a:r>
                    </a:p>
                  </a:txBody>
                  <a:tcPr anchor="ctr"/>
                </a:tc>
                <a:tc>
                  <a:txBody>
                    <a:bodyPr/>
                    <a:lstStyle/>
                    <a:p>
                      <a:pPr algn="just"/>
                      <a:r>
                        <a:rPr lang="en-US" dirty="0">
                          <a:latin typeface="Montserrat Medium" pitchFamily="50" charset="0"/>
                        </a:rPr>
                        <a:t>0.721</a:t>
                      </a:r>
                    </a:p>
                  </a:txBody>
                  <a:tcPr anchor="ctr"/>
                </a:tc>
                <a:tc>
                  <a:txBody>
                    <a:bodyPr/>
                    <a:lstStyle/>
                    <a:p>
                      <a:pPr algn="just"/>
                      <a:r>
                        <a:rPr lang="en-US" dirty="0">
                          <a:latin typeface="Montserrat Medium" pitchFamily="50" charset="0"/>
                        </a:rPr>
                        <a:t>-0.035</a:t>
                      </a:r>
                    </a:p>
                  </a:txBody>
                  <a:tcPr anchor="ctr"/>
                </a:tc>
                <a:extLst>
                  <a:ext uri="{0D108BD9-81ED-4DB2-BD59-A6C34878D82A}">
                    <a16:rowId xmlns:a16="http://schemas.microsoft.com/office/drawing/2014/main" val="3137356473"/>
                  </a:ext>
                </a:extLst>
              </a:tr>
              <a:tr h="362586">
                <a:tc>
                  <a:txBody>
                    <a:bodyPr/>
                    <a:lstStyle/>
                    <a:p>
                      <a:pPr algn="just"/>
                      <a:r>
                        <a:rPr lang="en-US" sz="1400" dirty="0">
                          <a:latin typeface="Montserrat Medium" pitchFamily="50" charset="0"/>
                        </a:rPr>
                        <a:t>Without hierarchy</a:t>
                      </a:r>
                    </a:p>
                  </a:txBody>
                  <a:tcPr anchor="ctr"/>
                </a:tc>
                <a:tc>
                  <a:txBody>
                    <a:bodyPr/>
                    <a:lstStyle/>
                    <a:p>
                      <a:pPr algn="just"/>
                      <a:r>
                        <a:rPr lang="en-US">
                          <a:latin typeface="Montserrat Medium" pitchFamily="50" charset="0"/>
                        </a:rPr>
                        <a:t>0.719</a:t>
                      </a:r>
                    </a:p>
                  </a:txBody>
                  <a:tcPr anchor="ctr"/>
                </a:tc>
                <a:tc>
                  <a:txBody>
                    <a:bodyPr/>
                    <a:lstStyle/>
                    <a:p>
                      <a:pPr algn="just"/>
                      <a:r>
                        <a:rPr lang="en-US">
                          <a:latin typeface="Montserrat Medium" pitchFamily="50" charset="0"/>
                        </a:rPr>
                        <a:t>0.663</a:t>
                      </a:r>
                    </a:p>
                  </a:txBody>
                  <a:tcPr anchor="ctr"/>
                </a:tc>
                <a:tc>
                  <a:txBody>
                    <a:bodyPr/>
                    <a:lstStyle/>
                    <a:p>
                      <a:pPr algn="just"/>
                      <a:r>
                        <a:rPr lang="en-US" dirty="0">
                          <a:latin typeface="Montserrat Medium" pitchFamily="50" charset="0"/>
                        </a:rPr>
                        <a:t>0.690</a:t>
                      </a:r>
                    </a:p>
                  </a:txBody>
                  <a:tcPr anchor="ctr"/>
                </a:tc>
                <a:tc>
                  <a:txBody>
                    <a:bodyPr/>
                    <a:lstStyle/>
                    <a:p>
                      <a:pPr algn="just"/>
                      <a:r>
                        <a:rPr lang="en-US" b="1" dirty="0">
                          <a:latin typeface="Montserrat Medium" pitchFamily="50" charset="0"/>
                        </a:rPr>
                        <a:t>-0.066</a:t>
                      </a:r>
                      <a:endParaRPr lang="en-US" dirty="0">
                        <a:latin typeface="Montserrat Medium" pitchFamily="50" charset="0"/>
                      </a:endParaRPr>
                    </a:p>
                  </a:txBody>
                  <a:tcPr anchor="ctr"/>
                </a:tc>
                <a:extLst>
                  <a:ext uri="{0D108BD9-81ED-4DB2-BD59-A6C34878D82A}">
                    <a16:rowId xmlns:a16="http://schemas.microsoft.com/office/drawing/2014/main" val="852695544"/>
                  </a:ext>
                </a:extLst>
              </a:tr>
            </a:tbl>
          </a:graphicData>
        </a:graphic>
      </p:graphicFrame>
      <p:sp>
        <p:nvSpPr>
          <p:cNvPr id="33" name="Rectangle 32">
            <a:extLst>
              <a:ext uri="{FF2B5EF4-FFF2-40B4-BE49-F238E27FC236}">
                <a16:creationId xmlns:a16="http://schemas.microsoft.com/office/drawing/2014/main" id="{B8A4327B-30D3-473F-ABAD-3A2A6C699D98}"/>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A79936F0-16F2-408C-902C-23995320627F}"/>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C7C5DE11-86C8-4563-843C-6EF69560791B}"/>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035243C7-20E5-4D0F-866F-177C57DD1F59}"/>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4" name="Rectangle 53">
            <a:extLst>
              <a:ext uri="{FF2B5EF4-FFF2-40B4-BE49-F238E27FC236}">
                <a16:creationId xmlns:a16="http://schemas.microsoft.com/office/drawing/2014/main" id="{3354E3DB-5AC7-4737-BA01-2244F179D3B3}"/>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5" name="Picture 54">
            <a:extLst>
              <a:ext uri="{FF2B5EF4-FFF2-40B4-BE49-F238E27FC236}">
                <a16:creationId xmlns:a16="http://schemas.microsoft.com/office/drawing/2014/main" id="{0A7A41D0-2CD2-4674-810D-4DFA905291B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6" name="Picture 55">
            <a:extLst>
              <a:ext uri="{FF2B5EF4-FFF2-40B4-BE49-F238E27FC236}">
                <a16:creationId xmlns:a16="http://schemas.microsoft.com/office/drawing/2014/main" id="{CF9D69E8-C1E8-4496-A41D-FAF4082CFCC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7" name="Picture 56">
            <a:extLst>
              <a:ext uri="{FF2B5EF4-FFF2-40B4-BE49-F238E27FC236}">
                <a16:creationId xmlns:a16="http://schemas.microsoft.com/office/drawing/2014/main" id="{FB2BBDB9-A6B4-497C-B19D-45C34DB1805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8" name="Picture 57">
            <a:extLst>
              <a:ext uri="{FF2B5EF4-FFF2-40B4-BE49-F238E27FC236}">
                <a16:creationId xmlns:a16="http://schemas.microsoft.com/office/drawing/2014/main" id="{D14EE67B-5012-47FC-B43A-47682882A8C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9" name="Picture 58">
            <a:extLst>
              <a:ext uri="{FF2B5EF4-FFF2-40B4-BE49-F238E27FC236}">
                <a16:creationId xmlns:a16="http://schemas.microsoft.com/office/drawing/2014/main" id="{A0182B8E-733C-4319-A95B-7E123D2A904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60" name="Rectangle 59">
            <a:extLst>
              <a:ext uri="{FF2B5EF4-FFF2-40B4-BE49-F238E27FC236}">
                <a16:creationId xmlns:a16="http://schemas.microsoft.com/office/drawing/2014/main" id="{3CA50455-A9F5-4268-BFF1-E53D15D4DC68}"/>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8194B10C-718D-4C44-9558-A33F9947C4A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2" name="Rectangle 61">
            <a:extLst>
              <a:ext uri="{FF2B5EF4-FFF2-40B4-BE49-F238E27FC236}">
                <a16:creationId xmlns:a16="http://schemas.microsoft.com/office/drawing/2014/main" id="{24A13869-62A5-4B0F-8ADE-619AB5A4345A}"/>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E50FBDF3-4D4F-45E3-B114-0D6D98D57F0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8" name="Picture 27">
            <a:extLst>
              <a:ext uri="{FF2B5EF4-FFF2-40B4-BE49-F238E27FC236}">
                <a16:creationId xmlns:a16="http://schemas.microsoft.com/office/drawing/2014/main" id="{6D837424-782E-4083-8E0C-33293CBEE89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1" name="Picture 30">
            <a:extLst>
              <a:ext uri="{FF2B5EF4-FFF2-40B4-BE49-F238E27FC236}">
                <a16:creationId xmlns:a16="http://schemas.microsoft.com/office/drawing/2014/main" id="{47D969C4-1581-4013-BE79-E609BD5942B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703023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6" name="TextBox 25">
            <a:extLst>
              <a:ext uri="{FF2B5EF4-FFF2-40B4-BE49-F238E27FC236}">
                <a16:creationId xmlns:a16="http://schemas.microsoft.com/office/drawing/2014/main" id="{2EA2F809-F36E-4607-93F0-B45BC57BE30D}"/>
              </a:ext>
            </a:extLst>
          </p:cNvPr>
          <p:cNvSpPr txBox="1"/>
          <p:nvPr/>
        </p:nvSpPr>
        <p:spPr>
          <a:xfrm>
            <a:off x="78971" y="1600444"/>
            <a:ext cx="5656947" cy="3785652"/>
          </a:xfrm>
          <a:prstGeom prst="rect">
            <a:avLst/>
          </a:prstGeom>
          <a:noFill/>
        </p:spPr>
        <p:txBody>
          <a:bodyPr wrap="square">
            <a:spAutoFit/>
          </a:bodyPr>
          <a:lstStyle/>
          <a:p>
            <a:r>
              <a:rPr lang="en-US" sz="2000" b="1" dirty="0">
                <a:effectLst/>
                <a:latin typeface="Montserrat Medium" pitchFamily="50" charset="0"/>
              </a:rPr>
              <a:t>Computational overhead</a:t>
            </a:r>
          </a:p>
          <a:p>
            <a:endParaRPr lang="en-US" sz="2000"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Training is 33–38% slower than Hyperbolic GCN.</a:t>
            </a:r>
          </a:p>
          <a:p>
            <a:r>
              <a:rPr lang="en-US" dirty="0">
                <a:latin typeface="Montserrat Medium" pitchFamily="50" charset="0"/>
              </a:rPr>
              <a:t> </a:t>
            </a:r>
          </a:p>
          <a:p>
            <a:pPr marL="285750" indent="-285750">
              <a:buFont typeface="Wingdings" panose="05000000000000000000" pitchFamily="2" charset="2"/>
              <a:buChar char="§"/>
            </a:pPr>
            <a:r>
              <a:rPr lang="en-US" dirty="0">
                <a:latin typeface="Montserrat Medium" pitchFamily="50" charset="0"/>
              </a:rPr>
              <a:t>Inference is 41–50% slower across the two datasets. </a:t>
            </a:r>
          </a:p>
          <a:p>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The overhead is manageable experimentally, but production readiness is not yet established.</a:t>
            </a:r>
          </a:p>
          <a:p>
            <a:pPr marL="285750" indent="-285750">
              <a:buFont typeface="Wingdings" panose="05000000000000000000" pitchFamily="2" charset="2"/>
              <a:buChar char="§"/>
            </a:pPr>
            <a:endParaRPr lang="en-US" dirty="0">
              <a:latin typeface="Montserrat" pitchFamily="2" charset="0"/>
            </a:endParaRPr>
          </a:p>
          <a:p>
            <a:endParaRPr lang="en-US" sz="2000" dirty="0">
              <a:effectLst/>
              <a:latin typeface="Montserrat Medium" pitchFamily="50" charset="0"/>
            </a:endParaRPr>
          </a:p>
        </p:txBody>
      </p:sp>
      <p:graphicFrame>
        <p:nvGraphicFramePr>
          <p:cNvPr id="4" name="Table 3">
            <a:extLst>
              <a:ext uri="{FF2B5EF4-FFF2-40B4-BE49-F238E27FC236}">
                <a16:creationId xmlns:a16="http://schemas.microsoft.com/office/drawing/2014/main" id="{7B3D447E-0843-43A6-B4BE-4C0791679AA9}"/>
              </a:ext>
            </a:extLst>
          </p:cNvPr>
          <p:cNvGraphicFramePr>
            <a:graphicFrameLocks noGrp="1"/>
          </p:cNvGraphicFramePr>
          <p:nvPr>
            <p:extLst>
              <p:ext uri="{D42A27DB-BD31-4B8C-83A1-F6EECF244321}">
                <p14:modId xmlns:p14="http://schemas.microsoft.com/office/powerpoint/2010/main" val="2076792854"/>
              </p:ext>
            </p:extLst>
          </p:nvPr>
        </p:nvGraphicFramePr>
        <p:xfrm>
          <a:off x="5735918" y="2180068"/>
          <a:ext cx="6377111" cy="2590800"/>
        </p:xfrm>
        <a:graphic>
          <a:graphicData uri="http://schemas.openxmlformats.org/drawingml/2006/table">
            <a:tbl>
              <a:tblPr>
                <a:tableStyleId>{BC89EF96-8CEA-46FF-86C4-4CE0E7609802}</a:tableStyleId>
              </a:tblPr>
              <a:tblGrid>
                <a:gridCol w="1803349">
                  <a:extLst>
                    <a:ext uri="{9D8B030D-6E8A-4147-A177-3AD203B41FA5}">
                      <a16:colId xmlns:a16="http://schemas.microsoft.com/office/drawing/2014/main" val="3759778919"/>
                    </a:ext>
                  </a:extLst>
                </a:gridCol>
                <a:gridCol w="2319933">
                  <a:extLst>
                    <a:ext uri="{9D8B030D-6E8A-4147-A177-3AD203B41FA5}">
                      <a16:colId xmlns:a16="http://schemas.microsoft.com/office/drawing/2014/main" val="3499755967"/>
                    </a:ext>
                  </a:extLst>
                </a:gridCol>
                <a:gridCol w="2253829">
                  <a:extLst>
                    <a:ext uri="{9D8B030D-6E8A-4147-A177-3AD203B41FA5}">
                      <a16:colId xmlns:a16="http://schemas.microsoft.com/office/drawing/2014/main" val="799206922"/>
                    </a:ext>
                  </a:extLst>
                </a:gridCol>
              </a:tblGrid>
              <a:tr h="0">
                <a:tc>
                  <a:txBody>
                    <a:bodyPr/>
                    <a:lstStyle/>
                    <a:p>
                      <a:pPr algn="ctr"/>
                      <a:r>
                        <a:rPr lang="en-US" dirty="0">
                          <a:latin typeface="Montserrat Medium" pitchFamily="50" charset="0"/>
                        </a:rPr>
                        <a:t>Method</a:t>
                      </a:r>
                    </a:p>
                  </a:txBody>
                  <a:tcPr anchor="ctr"/>
                </a:tc>
                <a:tc>
                  <a:txBody>
                    <a:bodyPr/>
                    <a:lstStyle/>
                    <a:p>
                      <a:pPr algn="ctr"/>
                      <a:r>
                        <a:rPr lang="en-US" sz="1600" dirty="0" err="1">
                          <a:latin typeface="Montserrat Medium" pitchFamily="50" charset="0"/>
                        </a:rPr>
                        <a:t>MovieLens</a:t>
                      </a:r>
                      <a:r>
                        <a:rPr lang="en-US" sz="1600" dirty="0">
                          <a:latin typeface="Montserrat Medium" pitchFamily="50" charset="0"/>
                        </a:rPr>
                        <a:t> train / infer (s)</a:t>
                      </a:r>
                    </a:p>
                  </a:txBody>
                  <a:tcPr anchor="ctr"/>
                </a:tc>
                <a:tc>
                  <a:txBody>
                    <a:bodyPr/>
                    <a:lstStyle/>
                    <a:p>
                      <a:pPr algn="ctr"/>
                      <a:r>
                        <a:rPr lang="en-US" sz="1600" dirty="0">
                          <a:latin typeface="Montserrat Medium" pitchFamily="50" charset="0"/>
                        </a:rPr>
                        <a:t>Amazon train / infer (s)</a:t>
                      </a:r>
                    </a:p>
                  </a:txBody>
                  <a:tcPr anchor="ctr"/>
                </a:tc>
                <a:extLst>
                  <a:ext uri="{0D108BD9-81ED-4DB2-BD59-A6C34878D82A}">
                    <a16:rowId xmlns:a16="http://schemas.microsoft.com/office/drawing/2014/main" val="53585864"/>
                  </a:ext>
                </a:extLst>
              </a:tr>
              <a:tr h="0">
                <a:tc>
                  <a:txBody>
                    <a:bodyPr/>
                    <a:lstStyle/>
                    <a:p>
                      <a:pPr algn="just"/>
                      <a:r>
                        <a:rPr lang="en-US" dirty="0" err="1">
                          <a:latin typeface="Montserrat Medium" pitchFamily="50" charset="0"/>
                        </a:rPr>
                        <a:t>LightGCN</a:t>
                      </a:r>
                      <a:endParaRPr lang="en-US" dirty="0">
                        <a:latin typeface="Montserrat Medium" pitchFamily="50" charset="0"/>
                      </a:endParaRPr>
                    </a:p>
                  </a:txBody>
                  <a:tcPr anchor="ctr"/>
                </a:tc>
                <a:tc>
                  <a:txBody>
                    <a:bodyPr/>
                    <a:lstStyle/>
                    <a:p>
                      <a:pPr algn="just"/>
                      <a:r>
                        <a:rPr lang="en-US" dirty="0">
                          <a:latin typeface="Montserrat Medium" pitchFamily="50" charset="0"/>
                        </a:rPr>
                        <a:t>8.5 / 1.2</a:t>
                      </a:r>
                    </a:p>
                  </a:txBody>
                  <a:tcPr anchor="ctr"/>
                </a:tc>
                <a:tc>
                  <a:txBody>
                    <a:bodyPr/>
                    <a:lstStyle/>
                    <a:p>
                      <a:pPr algn="just"/>
                      <a:r>
                        <a:rPr lang="en-US">
                          <a:latin typeface="Montserrat Medium" pitchFamily="50" charset="0"/>
                        </a:rPr>
                        <a:t>22.3 / 3.1</a:t>
                      </a:r>
                    </a:p>
                  </a:txBody>
                  <a:tcPr anchor="ctr"/>
                </a:tc>
                <a:extLst>
                  <a:ext uri="{0D108BD9-81ED-4DB2-BD59-A6C34878D82A}">
                    <a16:rowId xmlns:a16="http://schemas.microsoft.com/office/drawing/2014/main" val="572662037"/>
                  </a:ext>
                </a:extLst>
              </a:tr>
              <a:tr h="0">
                <a:tc>
                  <a:txBody>
                    <a:bodyPr/>
                    <a:lstStyle/>
                    <a:p>
                      <a:pPr algn="just"/>
                      <a:r>
                        <a:rPr lang="en-US">
                          <a:latin typeface="Montserrat Medium" pitchFamily="50" charset="0"/>
                        </a:rPr>
                        <a:t>Hyperbolic GCN</a:t>
                      </a:r>
                    </a:p>
                  </a:txBody>
                  <a:tcPr anchor="ctr"/>
                </a:tc>
                <a:tc>
                  <a:txBody>
                    <a:bodyPr/>
                    <a:lstStyle/>
                    <a:p>
                      <a:pPr algn="just"/>
                      <a:r>
                        <a:rPr lang="en-US" dirty="0">
                          <a:latin typeface="Montserrat Medium" pitchFamily="50" charset="0"/>
                        </a:rPr>
                        <a:t>11.7 / 1.6</a:t>
                      </a:r>
                    </a:p>
                  </a:txBody>
                  <a:tcPr anchor="ctr"/>
                </a:tc>
                <a:tc>
                  <a:txBody>
                    <a:bodyPr/>
                    <a:lstStyle/>
                    <a:p>
                      <a:pPr algn="just"/>
                      <a:r>
                        <a:rPr lang="en-US">
                          <a:latin typeface="Montserrat Medium" pitchFamily="50" charset="0"/>
                        </a:rPr>
                        <a:t>27.9 / 4.4</a:t>
                      </a:r>
                    </a:p>
                  </a:txBody>
                  <a:tcPr anchor="ctr"/>
                </a:tc>
                <a:extLst>
                  <a:ext uri="{0D108BD9-81ED-4DB2-BD59-A6C34878D82A}">
                    <a16:rowId xmlns:a16="http://schemas.microsoft.com/office/drawing/2014/main" val="496802090"/>
                  </a:ext>
                </a:extLst>
              </a:tr>
              <a:tr h="0">
                <a:tc>
                  <a:txBody>
                    <a:bodyPr/>
                    <a:lstStyle/>
                    <a:p>
                      <a:pPr algn="just"/>
                      <a:r>
                        <a:rPr lang="en-US" dirty="0" err="1">
                          <a:latin typeface="Montserrat Medium" pitchFamily="50" charset="0"/>
                        </a:rPr>
                        <a:t>LightGCN</a:t>
                      </a:r>
                      <a:r>
                        <a:rPr lang="en-US" dirty="0">
                          <a:latin typeface="Montserrat Medium" pitchFamily="50" charset="0"/>
                        </a:rPr>
                        <a:t> + </a:t>
                      </a:r>
                      <a:r>
                        <a:rPr lang="en-US" dirty="0" err="1">
                          <a:latin typeface="Montserrat Medium" pitchFamily="50" charset="0"/>
                        </a:rPr>
                        <a:t>GNNShap</a:t>
                      </a:r>
                      <a:endParaRPr lang="en-US" dirty="0">
                        <a:latin typeface="Montserrat Medium" pitchFamily="50" charset="0"/>
                      </a:endParaRPr>
                    </a:p>
                  </a:txBody>
                  <a:tcPr anchor="ctr"/>
                </a:tc>
                <a:tc>
                  <a:txBody>
                    <a:bodyPr/>
                    <a:lstStyle/>
                    <a:p>
                      <a:pPr algn="just"/>
                      <a:r>
                        <a:rPr lang="en-US" dirty="0">
                          <a:latin typeface="Montserrat Medium" pitchFamily="50" charset="0"/>
                        </a:rPr>
                        <a:t>14.2 / 2.3</a:t>
                      </a:r>
                    </a:p>
                  </a:txBody>
                  <a:tcPr anchor="ctr"/>
                </a:tc>
                <a:tc>
                  <a:txBody>
                    <a:bodyPr/>
                    <a:lstStyle/>
                    <a:p>
                      <a:pPr algn="just"/>
                      <a:r>
                        <a:rPr lang="en-US" dirty="0">
                          <a:latin typeface="Montserrat Medium" pitchFamily="50" charset="0"/>
                        </a:rPr>
                        <a:t>35.1 / 5.8</a:t>
                      </a:r>
                    </a:p>
                  </a:txBody>
                  <a:tcPr anchor="ctr"/>
                </a:tc>
                <a:extLst>
                  <a:ext uri="{0D108BD9-81ED-4DB2-BD59-A6C34878D82A}">
                    <a16:rowId xmlns:a16="http://schemas.microsoft.com/office/drawing/2014/main" val="1963717466"/>
                  </a:ext>
                </a:extLst>
              </a:tr>
              <a:tr h="0">
                <a:tc>
                  <a:txBody>
                    <a:bodyPr/>
                    <a:lstStyle/>
                    <a:p>
                      <a:pPr algn="just"/>
                      <a:r>
                        <a:rPr lang="en-US" b="1" dirty="0">
                          <a:latin typeface="Montserrat Medium" pitchFamily="50" charset="0"/>
                        </a:rPr>
                        <a:t>Full model</a:t>
                      </a:r>
                      <a:endParaRPr lang="en-US" dirty="0">
                        <a:latin typeface="Montserrat Medium" pitchFamily="50" charset="0"/>
                      </a:endParaRPr>
                    </a:p>
                  </a:txBody>
                  <a:tcPr anchor="ctr"/>
                </a:tc>
                <a:tc>
                  <a:txBody>
                    <a:bodyPr/>
                    <a:lstStyle/>
                    <a:p>
                      <a:pPr algn="just"/>
                      <a:r>
                        <a:rPr lang="en-US" b="1">
                          <a:latin typeface="Montserrat Medium" pitchFamily="50" charset="0"/>
                        </a:rPr>
                        <a:t>15.6 / 2.4</a:t>
                      </a:r>
                      <a:endParaRPr lang="en-US">
                        <a:latin typeface="Montserrat Medium" pitchFamily="50" charset="0"/>
                      </a:endParaRPr>
                    </a:p>
                  </a:txBody>
                  <a:tcPr anchor="ctr"/>
                </a:tc>
                <a:tc>
                  <a:txBody>
                    <a:bodyPr/>
                    <a:lstStyle/>
                    <a:p>
                      <a:pPr algn="just"/>
                      <a:r>
                        <a:rPr lang="en-US" b="1" dirty="0">
                          <a:latin typeface="Montserrat Medium" pitchFamily="50" charset="0"/>
                        </a:rPr>
                        <a:t>38.5 / 6.2</a:t>
                      </a:r>
                      <a:endParaRPr lang="en-US" dirty="0">
                        <a:latin typeface="Montserrat Medium" pitchFamily="50" charset="0"/>
                      </a:endParaRPr>
                    </a:p>
                  </a:txBody>
                  <a:tcPr anchor="ctr"/>
                </a:tc>
                <a:extLst>
                  <a:ext uri="{0D108BD9-81ED-4DB2-BD59-A6C34878D82A}">
                    <a16:rowId xmlns:a16="http://schemas.microsoft.com/office/drawing/2014/main" val="954326812"/>
                  </a:ext>
                </a:extLst>
              </a:tr>
            </a:tbl>
          </a:graphicData>
        </a:graphic>
      </p:graphicFrame>
      <p:sp>
        <p:nvSpPr>
          <p:cNvPr id="62" name="Rectangle 61">
            <a:extLst>
              <a:ext uri="{FF2B5EF4-FFF2-40B4-BE49-F238E27FC236}">
                <a16:creationId xmlns:a16="http://schemas.microsoft.com/office/drawing/2014/main" id="{8BCAAA67-1883-4AA7-931D-8AC3F75A1EAD}"/>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41" name="Rectangle 40">
            <a:extLst>
              <a:ext uri="{FF2B5EF4-FFF2-40B4-BE49-F238E27FC236}">
                <a16:creationId xmlns:a16="http://schemas.microsoft.com/office/drawing/2014/main" id="{14844423-1C20-4229-82AB-74117371BE74}"/>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2" name="Rectangle 41">
            <a:extLst>
              <a:ext uri="{FF2B5EF4-FFF2-40B4-BE49-F238E27FC236}">
                <a16:creationId xmlns:a16="http://schemas.microsoft.com/office/drawing/2014/main" id="{ED265E19-B065-4B65-B700-CD33069D7757}"/>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3" name="Rectangle 42">
            <a:extLst>
              <a:ext uri="{FF2B5EF4-FFF2-40B4-BE49-F238E27FC236}">
                <a16:creationId xmlns:a16="http://schemas.microsoft.com/office/drawing/2014/main" id="{4D99B06B-F12B-4226-849B-3BE527415F5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73719764-AC8A-42E0-A728-05AC21EE75A3}"/>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0C09C126-5A93-4CD4-975F-8645944B25AA}"/>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8" name="Picture 47">
            <a:extLst>
              <a:ext uri="{FF2B5EF4-FFF2-40B4-BE49-F238E27FC236}">
                <a16:creationId xmlns:a16="http://schemas.microsoft.com/office/drawing/2014/main" id="{498065B6-223E-4D7B-AA37-2869711F0AB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49" name="Picture 48">
            <a:extLst>
              <a:ext uri="{FF2B5EF4-FFF2-40B4-BE49-F238E27FC236}">
                <a16:creationId xmlns:a16="http://schemas.microsoft.com/office/drawing/2014/main" id="{3D49EA66-5EAC-4361-BB0E-92115B74B6F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0" name="Picture 49">
            <a:extLst>
              <a:ext uri="{FF2B5EF4-FFF2-40B4-BE49-F238E27FC236}">
                <a16:creationId xmlns:a16="http://schemas.microsoft.com/office/drawing/2014/main" id="{BF37DFDF-48A4-482A-90FB-E70FC5F0FAD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1" name="Picture 50">
            <a:extLst>
              <a:ext uri="{FF2B5EF4-FFF2-40B4-BE49-F238E27FC236}">
                <a16:creationId xmlns:a16="http://schemas.microsoft.com/office/drawing/2014/main" id="{D52B9F4F-BA8F-429C-ABC0-CC522886414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2" name="Picture 51">
            <a:extLst>
              <a:ext uri="{FF2B5EF4-FFF2-40B4-BE49-F238E27FC236}">
                <a16:creationId xmlns:a16="http://schemas.microsoft.com/office/drawing/2014/main" id="{491A41D3-0B6B-4BF7-AA96-251151B8EB1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3" name="Rectangle 52">
            <a:extLst>
              <a:ext uri="{FF2B5EF4-FFF2-40B4-BE49-F238E27FC236}">
                <a16:creationId xmlns:a16="http://schemas.microsoft.com/office/drawing/2014/main" id="{86F7FA01-01B6-44E9-9DF2-1B40B18A5DBE}"/>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86D58F34-6AFD-4491-805F-F262060D151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55" name="Rectangle 54">
            <a:extLst>
              <a:ext uri="{FF2B5EF4-FFF2-40B4-BE49-F238E27FC236}">
                <a16:creationId xmlns:a16="http://schemas.microsoft.com/office/drawing/2014/main" id="{E2212D28-ADB4-42F9-B588-3817B8CBFF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0EDA54E6-FE23-4EA7-BE40-0B2A1A635B8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8" name="Picture 27">
            <a:extLst>
              <a:ext uri="{FF2B5EF4-FFF2-40B4-BE49-F238E27FC236}">
                <a16:creationId xmlns:a16="http://schemas.microsoft.com/office/drawing/2014/main" id="{D7AC4286-76C9-4E99-ABF5-7E8D2631D55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0" name="Picture 29">
            <a:extLst>
              <a:ext uri="{FF2B5EF4-FFF2-40B4-BE49-F238E27FC236}">
                <a16:creationId xmlns:a16="http://schemas.microsoft.com/office/drawing/2014/main" id="{EDA6B851-FF1C-40EE-85D7-3F4898D6766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975173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27" name="TextBox 26">
            <a:extLst>
              <a:ext uri="{FF2B5EF4-FFF2-40B4-BE49-F238E27FC236}">
                <a16:creationId xmlns:a16="http://schemas.microsoft.com/office/drawing/2014/main" id="{7E634B93-F093-4449-B90E-65BC9C253746}"/>
              </a:ext>
            </a:extLst>
          </p:cNvPr>
          <p:cNvSpPr txBox="1"/>
          <p:nvPr/>
        </p:nvSpPr>
        <p:spPr>
          <a:xfrm>
            <a:off x="339452" y="1714052"/>
            <a:ext cx="11773577" cy="3785652"/>
          </a:xfrm>
          <a:prstGeom prst="rect">
            <a:avLst/>
          </a:prstGeom>
          <a:noFill/>
        </p:spPr>
        <p:txBody>
          <a:bodyPr wrap="square">
            <a:spAutoFit/>
          </a:bodyPr>
          <a:lstStyle/>
          <a:p>
            <a:r>
              <a:rPr lang="en-US" sz="2000" b="1" dirty="0">
                <a:latin typeface="Montserrat Medium" pitchFamily="50" charset="0"/>
              </a:rPr>
              <a:t>Answers to the questions and objectives</a:t>
            </a:r>
          </a:p>
          <a:p>
            <a:endParaRPr lang="en-US" dirty="0">
              <a:latin typeface="Montserrat" pitchFamily="2" charset="0"/>
            </a:endParaRPr>
          </a:p>
          <a:p>
            <a:pPr marL="285750" indent="-285750">
              <a:buFont typeface="Wingdings" panose="05000000000000000000" pitchFamily="2" charset="2"/>
              <a:buChar char="§"/>
            </a:pPr>
            <a:r>
              <a:rPr lang="en-US" b="1" dirty="0">
                <a:latin typeface="Montserrat Medium" pitchFamily="50" charset="0"/>
              </a:rPr>
              <a:t>Supported within protocol: </a:t>
            </a:r>
            <a:r>
              <a:rPr lang="en-US" dirty="0">
                <a:latin typeface="Montserrat Medium" pitchFamily="50" charset="0"/>
              </a:rPr>
              <a:t>GNN-CF achieved the highest precision and recall.</a:t>
            </a:r>
          </a:p>
          <a:p>
            <a:r>
              <a:rPr lang="en-US" dirty="0">
                <a:latin typeface="Montserrat Medium" pitchFamily="50" charset="0"/>
              </a:rPr>
              <a:t> </a:t>
            </a:r>
          </a:p>
          <a:p>
            <a:pPr marL="285750" indent="-285750">
              <a:buFont typeface="Wingdings" panose="05000000000000000000" pitchFamily="2" charset="2"/>
              <a:buChar char="§"/>
            </a:pPr>
            <a:r>
              <a:rPr lang="en-US" b="1" dirty="0">
                <a:latin typeface="Montserrat Medium" pitchFamily="50" charset="0"/>
              </a:rPr>
              <a:t>Partially supported: </a:t>
            </a:r>
            <a:r>
              <a:rPr lang="en-US" dirty="0">
                <a:latin typeface="Montserrat Medium" pitchFamily="50" charset="0"/>
              </a:rPr>
              <a:t>Recall gains suggest benefits from multi-hop collaborative signals, but propagation depth was not isolated. </a:t>
            </a:r>
          </a:p>
          <a:p>
            <a:endParaRPr lang="en-US" dirty="0">
              <a:latin typeface="Montserrat Medium" pitchFamily="50" charset="0"/>
            </a:endParaRPr>
          </a:p>
          <a:p>
            <a:pPr marL="285750" indent="-285750">
              <a:buFont typeface="Wingdings" panose="05000000000000000000" pitchFamily="2" charset="2"/>
              <a:buChar char="§"/>
            </a:pPr>
            <a:r>
              <a:rPr lang="en-US" b="1" dirty="0">
                <a:latin typeface="Montserrat Medium" pitchFamily="50" charset="0"/>
              </a:rPr>
              <a:t>Supported: </a:t>
            </a:r>
            <a:r>
              <a:rPr lang="en-US" dirty="0">
                <a:latin typeface="Montserrat Medium" pitchFamily="50" charset="0"/>
              </a:rPr>
              <a:t>A simple </a:t>
            </a:r>
            <a:r>
              <a:rPr lang="en-US" dirty="0" err="1">
                <a:latin typeface="Montserrat Medium" pitchFamily="50" charset="0"/>
              </a:rPr>
              <a:t>LightGCN</a:t>
            </a:r>
            <a:r>
              <a:rPr lang="en-US" dirty="0">
                <a:latin typeface="Montserrat Medium" pitchFamily="50" charset="0"/>
              </a:rPr>
              <a:t>-style model performed best without complex transformations. </a:t>
            </a:r>
          </a:p>
          <a:p>
            <a:endParaRPr lang="en-US" dirty="0">
              <a:latin typeface="Montserrat Medium" pitchFamily="50" charset="0"/>
            </a:endParaRPr>
          </a:p>
          <a:p>
            <a:pPr marL="285750" indent="-285750">
              <a:buFont typeface="Wingdings" panose="05000000000000000000" pitchFamily="2" charset="2"/>
              <a:buChar char="§"/>
            </a:pPr>
            <a:r>
              <a:rPr lang="en-US" b="1" dirty="0">
                <a:latin typeface="Montserrat Medium" pitchFamily="50" charset="0"/>
              </a:rPr>
              <a:t>Clearly established: </a:t>
            </a:r>
            <a:r>
              <a:rPr lang="en-US" dirty="0">
                <a:latin typeface="Montserrat Medium" pitchFamily="50" charset="0"/>
              </a:rPr>
              <a:t>The model uses uniform edge weights, cannot reweight interactions, and lacks local explanations. </a:t>
            </a:r>
          </a:p>
          <a:p>
            <a:br>
              <a:rPr lang="en-US" sz="2000" b="0" dirty="0">
                <a:solidFill>
                  <a:srgbClr val="BBBEBF"/>
                </a:solidFill>
                <a:effectLst/>
                <a:latin typeface="Consolas" panose="020B0609020204030204" pitchFamily="49" charset="0"/>
              </a:rPr>
            </a:br>
            <a:endParaRPr lang="en-US" sz="2000" b="0" dirty="0">
              <a:solidFill>
                <a:srgbClr val="BBBEBF"/>
              </a:solidFill>
              <a:effectLst/>
              <a:latin typeface="Consolas" panose="020B0609020204030204" pitchFamily="49" charset="0"/>
            </a:endParaRPr>
          </a:p>
        </p:txBody>
      </p:sp>
      <p:sp>
        <p:nvSpPr>
          <p:cNvPr id="62" name="Rectangle 61">
            <a:extLst>
              <a:ext uri="{FF2B5EF4-FFF2-40B4-BE49-F238E27FC236}">
                <a16:creationId xmlns:a16="http://schemas.microsoft.com/office/drawing/2014/main" id="{F7A4482F-BD4F-4F4D-8551-AB86D364E6EC}"/>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41" name="Rectangle 40">
            <a:extLst>
              <a:ext uri="{FF2B5EF4-FFF2-40B4-BE49-F238E27FC236}">
                <a16:creationId xmlns:a16="http://schemas.microsoft.com/office/drawing/2014/main" id="{0E358DA0-E61B-48C1-B742-F7E924DD9D54}"/>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2" name="Rectangle 41">
            <a:extLst>
              <a:ext uri="{FF2B5EF4-FFF2-40B4-BE49-F238E27FC236}">
                <a16:creationId xmlns:a16="http://schemas.microsoft.com/office/drawing/2014/main" id="{8EF5E07A-B1FD-4E69-8369-F6F55CB7E1D4}"/>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3" name="Rectangle 42">
            <a:extLst>
              <a:ext uri="{FF2B5EF4-FFF2-40B4-BE49-F238E27FC236}">
                <a16:creationId xmlns:a16="http://schemas.microsoft.com/office/drawing/2014/main" id="{2D83573F-7401-4287-8BA9-1C832886C829}"/>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2C9DB992-E445-479A-8BFA-064F566931F9}"/>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8AA52FD7-355F-434F-A250-A8B87FD9ACD5}"/>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8" name="Picture 47">
            <a:extLst>
              <a:ext uri="{FF2B5EF4-FFF2-40B4-BE49-F238E27FC236}">
                <a16:creationId xmlns:a16="http://schemas.microsoft.com/office/drawing/2014/main" id="{2234EC7C-D524-43A8-9BD7-4A72A5F6B94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49" name="Picture 48">
            <a:extLst>
              <a:ext uri="{FF2B5EF4-FFF2-40B4-BE49-F238E27FC236}">
                <a16:creationId xmlns:a16="http://schemas.microsoft.com/office/drawing/2014/main" id="{25B67573-4AB2-4BF2-9467-BBDBF98FD3E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0" name="Picture 49">
            <a:extLst>
              <a:ext uri="{FF2B5EF4-FFF2-40B4-BE49-F238E27FC236}">
                <a16:creationId xmlns:a16="http://schemas.microsoft.com/office/drawing/2014/main" id="{C3B904F0-1A6E-4434-BDD2-89455992941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1" name="Picture 50">
            <a:extLst>
              <a:ext uri="{FF2B5EF4-FFF2-40B4-BE49-F238E27FC236}">
                <a16:creationId xmlns:a16="http://schemas.microsoft.com/office/drawing/2014/main" id="{88B84A52-82B4-4516-B4D7-FE10A20F978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2" name="Picture 51">
            <a:extLst>
              <a:ext uri="{FF2B5EF4-FFF2-40B4-BE49-F238E27FC236}">
                <a16:creationId xmlns:a16="http://schemas.microsoft.com/office/drawing/2014/main" id="{6C53B0C4-0E92-4CB0-B4E2-EF72C950177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3" name="Rectangle 52">
            <a:extLst>
              <a:ext uri="{FF2B5EF4-FFF2-40B4-BE49-F238E27FC236}">
                <a16:creationId xmlns:a16="http://schemas.microsoft.com/office/drawing/2014/main" id="{72288486-1079-4AC7-ACF6-F35718AA0198}"/>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09652B25-AB61-4881-942E-765A815222F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55" name="Rectangle 54">
            <a:extLst>
              <a:ext uri="{FF2B5EF4-FFF2-40B4-BE49-F238E27FC236}">
                <a16:creationId xmlns:a16="http://schemas.microsoft.com/office/drawing/2014/main" id="{9B77A2AA-6380-413E-9783-9374CC2CAC81}"/>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531AA16A-B8E9-4F85-899B-E7D765BAA81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8" name="Picture 27">
            <a:extLst>
              <a:ext uri="{FF2B5EF4-FFF2-40B4-BE49-F238E27FC236}">
                <a16:creationId xmlns:a16="http://schemas.microsoft.com/office/drawing/2014/main" id="{D76BA3B7-567C-4432-9FCB-A7B472535C6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29" name="Picture 28">
            <a:extLst>
              <a:ext uri="{FF2B5EF4-FFF2-40B4-BE49-F238E27FC236}">
                <a16:creationId xmlns:a16="http://schemas.microsoft.com/office/drawing/2014/main" id="{D7AE7284-664A-4893-B751-40E1D8D020B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24775333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81" name="Rectangle 80">
            <a:extLst>
              <a:ext uri="{FF2B5EF4-FFF2-40B4-BE49-F238E27FC236}">
                <a16:creationId xmlns:a16="http://schemas.microsoft.com/office/drawing/2014/main" id="{FB35EB03-73AC-47BD-9CE9-31A6270E01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23" name="TextBox 22">
            <a:extLst>
              <a:ext uri="{FF2B5EF4-FFF2-40B4-BE49-F238E27FC236}">
                <a16:creationId xmlns:a16="http://schemas.microsoft.com/office/drawing/2014/main" id="{EE869E38-4FE4-4230-ADDA-57934959581B}"/>
              </a:ext>
            </a:extLst>
          </p:cNvPr>
          <p:cNvSpPr txBox="1"/>
          <p:nvPr/>
        </p:nvSpPr>
        <p:spPr>
          <a:xfrm>
            <a:off x="339452" y="1630855"/>
            <a:ext cx="11773577" cy="3662541"/>
          </a:xfrm>
          <a:prstGeom prst="rect">
            <a:avLst/>
          </a:prstGeom>
          <a:noFill/>
        </p:spPr>
        <p:txBody>
          <a:bodyPr wrap="square">
            <a:spAutoFit/>
          </a:bodyPr>
          <a:lstStyle/>
          <a:p>
            <a:r>
              <a:rPr lang="en-US" sz="2000" b="1" dirty="0">
                <a:latin typeface="Montserrat Medium" pitchFamily="50" charset="0"/>
              </a:rPr>
              <a:t>Key findings</a:t>
            </a:r>
          </a:p>
          <a:p>
            <a:endParaRPr lang="en-US" dirty="0">
              <a:latin typeface="Montserrat" pitchFamily="2" charset="0"/>
            </a:endParaRPr>
          </a:p>
          <a:p>
            <a:pPr marL="285750" indent="-285750">
              <a:buFont typeface="Wingdings" panose="05000000000000000000" pitchFamily="2" charset="2"/>
              <a:buChar char="§"/>
            </a:pPr>
            <a:r>
              <a:rPr lang="en-US" dirty="0">
                <a:latin typeface="Montserrat Medium" pitchFamily="50" charset="0"/>
              </a:rPr>
              <a:t>Graph structure improves edge-prediction beyond matrix methods.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Higher-order neighborhoods mainly improve recall.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Simple </a:t>
            </a:r>
            <a:r>
              <a:rPr lang="en-US" dirty="0" err="1">
                <a:latin typeface="Montserrat Medium" pitchFamily="50" charset="0"/>
              </a:rPr>
              <a:t>LightGCN</a:t>
            </a:r>
            <a:r>
              <a:rPr lang="en-US" dirty="0">
                <a:latin typeface="Montserrat Medium" pitchFamily="50" charset="0"/>
              </a:rPr>
              <a:t>-style architecture is sufficient as a strong baseline.</a:t>
            </a:r>
          </a:p>
          <a:p>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Predictive accuracy does not address static weighting or </a:t>
            </a:r>
            <a:r>
              <a:rPr lang="en-US" dirty="0" err="1">
                <a:latin typeface="Montserrat Medium" pitchFamily="50" charset="0"/>
              </a:rPr>
              <a:t>explainability</a:t>
            </a:r>
            <a:r>
              <a:rPr lang="en-US" dirty="0">
                <a:latin typeface="Montserrat Medium" pitchFamily="50" charset="0"/>
              </a:rPr>
              <a:t>.</a:t>
            </a:r>
          </a:p>
          <a:p>
            <a:r>
              <a:rPr lang="en-US" dirty="0">
                <a:latin typeface="Montserrat Medium" pitchFamily="50" charset="0"/>
              </a:rPr>
              <a:t> </a:t>
            </a:r>
          </a:p>
          <a:p>
            <a:pPr marL="285750" indent="-285750">
              <a:buFont typeface="Wingdings" panose="05000000000000000000" pitchFamily="2" charset="2"/>
              <a:buChar char="§"/>
            </a:pPr>
            <a:r>
              <a:rPr lang="en-US" dirty="0">
                <a:latin typeface="Montserrat Medium" pitchFamily="50" charset="0"/>
              </a:rPr>
              <a:t>Results should be framed as link prediction, not top-N ranking. </a:t>
            </a:r>
          </a:p>
          <a:p>
            <a:br>
              <a:rPr lang="en-US" sz="1600" dirty="0">
                <a:effectLst/>
                <a:latin typeface="Montserrat" pitchFamily="2" charset="0"/>
              </a:rPr>
            </a:br>
            <a:endParaRPr lang="en-US" sz="1600" dirty="0">
              <a:effectLst/>
              <a:latin typeface="Montserrat" pitchFamily="2" charset="0"/>
            </a:endParaRPr>
          </a:p>
        </p:txBody>
      </p:sp>
      <p:sp>
        <p:nvSpPr>
          <p:cNvPr id="28" name="Rectangle 27">
            <a:extLst>
              <a:ext uri="{FF2B5EF4-FFF2-40B4-BE49-F238E27FC236}">
                <a16:creationId xmlns:a16="http://schemas.microsoft.com/office/drawing/2014/main" id="{62499AD5-C4DB-4486-A0DB-6B4907A662A1}"/>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29" name="Rectangle 28">
            <a:extLst>
              <a:ext uri="{FF2B5EF4-FFF2-40B4-BE49-F238E27FC236}">
                <a16:creationId xmlns:a16="http://schemas.microsoft.com/office/drawing/2014/main" id="{67E03509-490E-40D4-B461-998C016FCFE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0" name="Rectangle 29">
            <a:extLst>
              <a:ext uri="{FF2B5EF4-FFF2-40B4-BE49-F238E27FC236}">
                <a16:creationId xmlns:a16="http://schemas.microsoft.com/office/drawing/2014/main" id="{ED86098B-D257-4FAB-A6D7-E4B08048384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1" name="Rectangle 30">
            <a:extLst>
              <a:ext uri="{FF2B5EF4-FFF2-40B4-BE49-F238E27FC236}">
                <a16:creationId xmlns:a16="http://schemas.microsoft.com/office/drawing/2014/main" id="{0F06466A-280D-4226-9CA6-8879D08F6B2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2" name="Rectangle 31">
            <a:extLst>
              <a:ext uri="{FF2B5EF4-FFF2-40B4-BE49-F238E27FC236}">
                <a16:creationId xmlns:a16="http://schemas.microsoft.com/office/drawing/2014/main" id="{1637E928-FAE5-4DBB-8CAC-65A99152FBD9}"/>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3" name="Picture 32">
            <a:extLst>
              <a:ext uri="{FF2B5EF4-FFF2-40B4-BE49-F238E27FC236}">
                <a16:creationId xmlns:a16="http://schemas.microsoft.com/office/drawing/2014/main" id="{0C4FFCC3-6194-477E-88C3-813F8FCF5C9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35" name="Picture 34">
            <a:extLst>
              <a:ext uri="{FF2B5EF4-FFF2-40B4-BE49-F238E27FC236}">
                <a16:creationId xmlns:a16="http://schemas.microsoft.com/office/drawing/2014/main" id="{7D4BEA7C-CB11-480D-AA22-ADBA2DA48A1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36" name="Picture 35">
            <a:extLst>
              <a:ext uri="{FF2B5EF4-FFF2-40B4-BE49-F238E27FC236}">
                <a16:creationId xmlns:a16="http://schemas.microsoft.com/office/drawing/2014/main" id="{65991206-49FF-42CE-9469-2E7959C33C5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38" name="Picture 37">
            <a:extLst>
              <a:ext uri="{FF2B5EF4-FFF2-40B4-BE49-F238E27FC236}">
                <a16:creationId xmlns:a16="http://schemas.microsoft.com/office/drawing/2014/main" id="{CADD3320-588A-40B5-8091-1527FACD6B1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9" name="Picture 38">
            <a:extLst>
              <a:ext uri="{FF2B5EF4-FFF2-40B4-BE49-F238E27FC236}">
                <a16:creationId xmlns:a16="http://schemas.microsoft.com/office/drawing/2014/main" id="{BE692948-B03E-4006-A1A6-64FF27CBBBCB}"/>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40" name="Rectangle 39">
            <a:extLst>
              <a:ext uri="{FF2B5EF4-FFF2-40B4-BE49-F238E27FC236}">
                <a16:creationId xmlns:a16="http://schemas.microsoft.com/office/drawing/2014/main" id="{6BB72A03-1C0B-47C0-AB5E-825E244D384A}"/>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41" name="Picture 40">
            <a:extLst>
              <a:ext uri="{FF2B5EF4-FFF2-40B4-BE49-F238E27FC236}">
                <a16:creationId xmlns:a16="http://schemas.microsoft.com/office/drawing/2014/main" id="{B6B03446-646B-48C5-A1F7-FCEB77C226E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42" name="Rectangle 41">
            <a:extLst>
              <a:ext uri="{FF2B5EF4-FFF2-40B4-BE49-F238E27FC236}">
                <a16:creationId xmlns:a16="http://schemas.microsoft.com/office/drawing/2014/main" id="{FE46B851-98E0-46E6-8D36-131CB25144A7}"/>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3" name="Picture 42">
            <a:extLst>
              <a:ext uri="{FF2B5EF4-FFF2-40B4-BE49-F238E27FC236}">
                <a16:creationId xmlns:a16="http://schemas.microsoft.com/office/drawing/2014/main" id="{4973D06A-B200-4DB7-AE7C-173BA0EE53C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45" name="Picture 44">
            <a:extLst>
              <a:ext uri="{FF2B5EF4-FFF2-40B4-BE49-F238E27FC236}">
                <a16:creationId xmlns:a16="http://schemas.microsoft.com/office/drawing/2014/main" id="{CBC85364-F733-4A65-AA8B-89B4180768C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26" name="Picture 25">
            <a:extLst>
              <a:ext uri="{FF2B5EF4-FFF2-40B4-BE49-F238E27FC236}">
                <a16:creationId xmlns:a16="http://schemas.microsoft.com/office/drawing/2014/main" id="{BE637138-1D1C-443E-BFBB-704E48CF8E7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1417296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sp>
        <p:nvSpPr>
          <p:cNvPr id="81" name="Rectangle 80">
            <a:extLst>
              <a:ext uri="{FF2B5EF4-FFF2-40B4-BE49-F238E27FC236}">
                <a16:creationId xmlns:a16="http://schemas.microsoft.com/office/drawing/2014/main" id="{FB35EB03-73AC-47BD-9CE9-31A6270E01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sp>
        <p:nvSpPr>
          <p:cNvPr id="24" name="TextBox 23">
            <a:extLst>
              <a:ext uri="{FF2B5EF4-FFF2-40B4-BE49-F238E27FC236}">
                <a16:creationId xmlns:a16="http://schemas.microsoft.com/office/drawing/2014/main" id="{560BB893-5FC8-4814-A521-BC9CFB1C5E3F}"/>
              </a:ext>
            </a:extLst>
          </p:cNvPr>
          <p:cNvSpPr txBox="1"/>
          <p:nvPr/>
        </p:nvSpPr>
        <p:spPr>
          <a:xfrm>
            <a:off x="339452" y="1329909"/>
            <a:ext cx="11773577" cy="4585871"/>
          </a:xfrm>
          <a:prstGeom prst="rect">
            <a:avLst/>
          </a:prstGeom>
          <a:noFill/>
        </p:spPr>
        <p:txBody>
          <a:bodyPr wrap="square">
            <a:spAutoFit/>
          </a:bodyPr>
          <a:lstStyle/>
          <a:p>
            <a:r>
              <a:rPr lang="en-US" sz="2000" b="1" dirty="0">
                <a:latin typeface="Montserrat Medium" pitchFamily="50" charset="0"/>
              </a:rPr>
              <a:t>Limitations</a:t>
            </a:r>
          </a:p>
          <a:p>
            <a:endParaRPr lang="en-US" sz="2000" dirty="0">
              <a:latin typeface="Montserrat" pitchFamily="2" charset="0"/>
            </a:endParaRPr>
          </a:p>
          <a:p>
            <a:pPr marL="285750" indent="-285750">
              <a:buFont typeface="Wingdings" panose="05000000000000000000" pitchFamily="2" charset="2"/>
              <a:buChar char="§"/>
            </a:pPr>
            <a:r>
              <a:rPr lang="en-US" dirty="0">
                <a:latin typeface="Montserrat Medium" pitchFamily="50" charset="0"/>
              </a:rPr>
              <a:t>The model closely resembles </a:t>
            </a:r>
            <a:r>
              <a:rPr lang="en-US" dirty="0" err="1">
                <a:latin typeface="Montserrat Medium" pitchFamily="50" charset="0"/>
              </a:rPr>
              <a:t>LightGCN</a:t>
            </a:r>
            <a:r>
              <a:rPr lang="en-US" dirty="0">
                <a:latin typeface="Montserrat Medium" pitchFamily="50" charset="0"/>
              </a:rPr>
              <a:t> and is not a fundamentally new GNN architecture.</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Evaluation is limited to MovieLens-1M and link prediction.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No ablation isolates propagation depth or layer aggregation.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All interactions are weighted uniformly.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The model provides no local explanations.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Preference adaptation is not validated. </a:t>
            </a:r>
          </a:p>
          <a:p>
            <a:pPr marL="285750" indent="-285750">
              <a:buFont typeface="Wingdings" panose="05000000000000000000" pitchFamily="2" charset="2"/>
              <a:buChar char="§"/>
            </a:pPr>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Claims should follow the link-prediction experiment and not imply top-N ranking. </a:t>
            </a:r>
          </a:p>
          <a:p>
            <a:pPr marL="285750" indent="-285750" algn="just">
              <a:buFont typeface="Wingdings" panose="05000000000000000000" pitchFamily="2" charset="2"/>
              <a:buChar char="§"/>
            </a:pPr>
            <a:endParaRPr lang="en-US" b="0" dirty="0">
              <a:effectLst/>
              <a:latin typeface="Montserrat" pitchFamily="2" charset="0"/>
            </a:endParaRPr>
          </a:p>
        </p:txBody>
      </p:sp>
      <p:sp>
        <p:nvSpPr>
          <p:cNvPr id="29" name="Rectangle 28">
            <a:extLst>
              <a:ext uri="{FF2B5EF4-FFF2-40B4-BE49-F238E27FC236}">
                <a16:creationId xmlns:a16="http://schemas.microsoft.com/office/drawing/2014/main" id="{2B51CB52-7F38-470C-907D-70302595D1C3}"/>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0" name="Rectangle 29">
            <a:extLst>
              <a:ext uri="{FF2B5EF4-FFF2-40B4-BE49-F238E27FC236}">
                <a16:creationId xmlns:a16="http://schemas.microsoft.com/office/drawing/2014/main" id="{6D22BFA0-0928-4B6E-ADFB-A988AA3EC5CB}"/>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1" name="Rectangle 30">
            <a:extLst>
              <a:ext uri="{FF2B5EF4-FFF2-40B4-BE49-F238E27FC236}">
                <a16:creationId xmlns:a16="http://schemas.microsoft.com/office/drawing/2014/main" id="{4839786A-DDC0-4F7E-BFF2-3B62C3BBA169}"/>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2" name="Rectangle 31">
            <a:extLst>
              <a:ext uri="{FF2B5EF4-FFF2-40B4-BE49-F238E27FC236}">
                <a16:creationId xmlns:a16="http://schemas.microsoft.com/office/drawing/2014/main" id="{1223A465-3C69-4E9B-B315-32D96BB9092D}"/>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F7448A10-B2A0-45B7-AE8E-52EC5AD382FC}"/>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5" name="Picture 34">
            <a:extLst>
              <a:ext uri="{FF2B5EF4-FFF2-40B4-BE49-F238E27FC236}">
                <a16:creationId xmlns:a16="http://schemas.microsoft.com/office/drawing/2014/main" id="{AD385EA0-7025-409C-9CDF-208CBC02705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36" name="Picture 35">
            <a:extLst>
              <a:ext uri="{FF2B5EF4-FFF2-40B4-BE49-F238E27FC236}">
                <a16:creationId xmlns:a16="http://schemas.microsoft.com/office/drawing/2014/main" id="{10975ECA-A947-4135-B553-9CB11879229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38" name="Picture 37">
            <a:extLst>
              <a:ext uri="{FF2B5EF4-FFF2-40B4-BE49-F238E27FC236}">
                <a16:creationId xmlns:a16="http://schemas.microsoft.com/office/drawing/2014/main" id="{ACB60B19-A47A-4221-BF2C-9E7EE344E8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39" name="Picture 38">
            <a:extLst>
              <a:ext uri="{FF2B5EF4-FFF2-40B4-BE49-F238E27FC236}">
                <a16:creationId xmlns:a16="http://schemas.microsoft.com/office/drawing/2014/main" id="{F44E6E79-AB09-4E3F-9FB8-58B63658397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40" name="Picture 39">
            <a:extLst>
              <a:ext uri="{FF2B5EF4-FFF2-40B4-BE49-F238E27FC236}">
                <a16:creationId xmlns:a16="http://schemas.microsoft.com/office/drawing/2014/main" id="{05D3D02D-0EE1-4D5A-A300-8EB2013673C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41" name="Rectangle 40">
            <a:extLst>
              <a:ext uri="{FF2B5EF4-FFF2-40B4-BE49-F238E27FC236}">
                <a16:creationId xmlns:a16="http://schemas.microsoft.com/office/drawing/2014/main" id="{C2B3C6EA-190E-46CA-8C31-47B62D98255D}"/>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42" name="Picture 41">
            <a:extLst>
              <a:ext uri="{FF2B5EF4-FFF2-40B4-BE49-F238E27FC236}">
                <a16:creationId xmlns:a16="http://schemas.microsoft.com/office/drawing/2014/main" id="{D8A8623F-5C11-422E-9C66-A11AEDD70B4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43" name="Rectangle 42">
            <a:extLst>
              <a:ext uri="{FF2B5EF4-FFF2-40B4-BE49-F238E27FC236}">
                <a16:creationId xmlns:a16="http://schemas.microsoft.com/office/drawing/2014/main" id="{E56B968D-9D3F-4143-83C7-16A6371890E1}"/>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4" name="Picture 43">
            <a:extLst>
              <a:ext uri="{FF2B5EF4-FFF2-40B4-BE49-F238E27FC236}">
                <a16:creationId xmlns:a16="http://schemas.microsoft.com/office/drawing/2014/main" id="{561EB4B1-F4D9-4884-8009-86CB0585222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45" name="Picture 44">
            <a:extLst>
              <a:ext uri="{FF2B5EF4-FFF2-40B4-BE49-F238E27FC236}">
                <a16:creationId xmlns:a16="http://schemas.microsoft.com/office/drawing/2014/main" id="{3830451F-8E76-4463-9EEA-50CD9EFB8AB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27" name="Picture 26">
            <a:extLst>
              <a:ext uri="{FF2B5EF4-FFF2-40B4-BE49-F238E27FC236}">
                <a16:creationId xmlns:a16="http://schemas.microsoft.com/office/drawing/2014/main" id="{1C053DBF-671E-42FB-B33E-E8ECCB46757F}"/>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4604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Objectives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Methodology</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Results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Findings</a:t>
            </a:r>
            <a:endParaRPr lang="en-US" sz="2000" dirty="0">
              <a:latin typeface="Montserrat" pitchFamily="2" charset="0"/>
            </a:endParaRPr>
          </a:p>
          <a:p>
            <a:pPr algn="ctr"/>
            <a:endParaRPr lang="en-US" sz="1200" dirty="0">
              <a:latin typeface="Montserrat" pitchFamily="2" charset="0"/>
            </a:endParaRPr>
          </a:p>
        </p:txBody>
      </p:sp>
      <p:graphicFrame>
        <p:nvGraphicFramePr>
          <p:cNvPr id="25" name="Table 7">
            <a:extLst>
              <a:ext uri="{FF2B5EF4-FFF2-40B4-BE49-F238E27FC236}">
                <a16:creationId xmlns:a16="http://schemas.microsoft.com/office/drawing/2014/main" id="{BC654376-214D-471C-A2E2-FAED5004AA27}"/>
              </a:ext>
            </a:extLst>
          </p:cNvPr>
          <p:cNvGraphicFramePr>
            <a:graphicFrameLocks noGrp="1"/>
          </p:cNvGraphicFramePr>
          <p:nvPr>
            <p:extLst>
              <p:ext uri="{D42A27DB-BD31-4B8C-83A1-F6EECF244321}">
                <p14:modId xmlns:p14="http://schemas.microsoft.com/office/powerpoint/2010/main" val="2516106182"/>
              </p:ext>
            </p:extLst>
          </p:nvPr>
        </p:nvGraphicFramePr>
        <p:xfrm>
          <a:off x="206046" y="4238243"/>
          <a:ext cx="11906983" cy="1174639"/>
        </p:xfrm>
        <a:graphic>
          <a:graphicData uri="http://schemas.openxmlformats.org/drawingml/2006/table">
            <a:tbl>
              <a:tblPr firstRow="1" bandRow="1">
                <a:tableStyleId>{21E4AEA4-8DFA-4A89-87EB-49C32662AFE0}</a:tableStyleId>
              </a:tblPr>
              <a:tblGrid>
                <a:gridCol w="11906983">
                  <a:extLst>
                    <a:ext uri="{9D8B030D-6E8A-4147-A177-3AD203B41FA5}">
                      <a16:colId xmlns:a16="http://schemas.microsoft.com/office/drawing/2014/main" val="1386659453"/>
                    </a:ext>
                  </a:extLst>
                </a:gridCol>
              </a:tblGrid>
              <a:tr h="2569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ontserrat Medium" pitchFamily="50" charset="0"/>
                        </a:rPr>
                        <a:t>Takeaway – Contribution I</a:t>
                      </a:r>
                      <a:r>
                        <a:rPr lang="en-US" sz="1800" dirty="0">
                          <a:latin typeface="Montserrat Medium" pitchFamily="50" charset="0"/>
                        </a:rPr>
                        <a:t>II</a:t>
                      </a:r>
                    </a:p>
                  </a:txBody>
                  <a:tcPr/>
                </a:tc>
                <a:extLst>
                  <a:ext uri="{0D108BD9-81ED-4DB2-BD59-A6C34878D82A}">
                    <a16:rowId xmlns:a16="http://schemas.microsoft.com/office/drawing/2014/main" val="2958281240"/>
                  </a:ext>
                </a:extLst>
              </a:tr>
              <a:tr h="808879">
                <a:tc>
                  <a:txBody>
                    <a:bodyPr/>
                    <a:lstStyle/>
                    <a:p>
                      <a:pPr algn="just"/>
                      <a:r>
                        <a:rPr lang="en-US" b="0" dirty="0">
                          <a:latin typeface="Montserrat Medium" pitchFamily="50" charset="0"/>
                        </a:rPr>
                        <a:t>The c</a:t>
                      </a:r>
                      <a:r>
                        <a:rPr lang="en-US" dirty="0">
                          <a:latin typeface="Montserrat Medium" pitchFamily="50" charset="0"/>
                        </a:rPr>
                        <a:t>ontribution moves beyond static graph propagation by measuring interaction importance. It uses these contributions both to improve recommendation generation and to explain the result.</a:t>
                      </a:r>
                      <a:endParaRPr lang="en-US" b="0" dirty="0">
                        <a:latin typeface="Montserrat Medium" pitchFamily="50" charset="0"/>
                      </a:endParaRPr>
                    </a:p>
                  </a:txBody>
                  <a:tcPr/>
                </a:tc>
                <a:extLst>
                  <a:ext uri="{0D108BD9-81ED-4DB2-BD59-A6C34878D82A}">
                    <a16:rowId xmlns:a16="http://schemas.microsoft.com/office/drawing/2014/main" val="2059531609"/>
                  </a:ext>
                </a:extLst>
              </a:tr>
            </a:tbl>
          </a:graphicData>
        </a:graphic>
      </p:graphicFrame>
      <p:sp>
        <p:nvSpPr>
          <p:cNvPr id="26" name="TextBox 25">
            <a:extLst>
              <a:ext uri="{FF2B5EF4-FFF2-40B4-BE49-F238E27FC236}">
                <a16:creationId xmlns:a16="http://schemas.microsoft.com/office/drawing/2014/main" id="{5C342D4F-59FE-4EA7-A29A-8B1A72268AF6}"/>
              </a:ext>
            </a:extLst>
          </p:cNvPr>
          <p:cNvSpPr txBox="1"/>
          <p:nvPr/>
        </p:nvSpPr>
        <p:spPr>
          <a:xfrm>
            <a:off x="349514" y="1415010"/>
            <a:ext cx="11773577" cy="2400657"/>
          </a:xfrm>
          <a:prstGeom prst="rect">
            <a:avLst/>
          </a:prstGeom>
          <a:noFill/>
        </p:spPr>
        <p:txBody>
          <a:bodyPr wrap="square">
            <a:spAutoFit/>
          </a:bodyPr>
          <a:lstStyle/>
          <a:p>
            <a:r>
              <a:rPr lang="en-US" sz="2000" b="1" dirty="0">
                <a:latin typeface="Montserrat Medium" pitchFamily="50" charset="0"/>
              </a:rPr>
              <a:t>Takeaways</a:t>
            </a:r>
          </a:p>
          <a:p>
            <a:endParaRPr lang="en-US" sz="2000" dirty="0">
              <a:latin typeface="Montserrat" pitchFamily="2" charset="0"/>
            </a:endParaRPr>
          </a:p>
          <a:p>
            <a:pPr marL="285750" indent="-285750" algn="just">
              <a:buFont typeface="Wingdings" panose="05000000000000000000" pitchFamily="2" charset="2"/>
              <a:buChar char="§"/>
            </a:pPr>
            <a:r>
              <a:rPr lang="en-US" dirty="0">
                <a:latin typeface="Montserrat Medium" pitchFamily="50" charset="0"/>
              </a:rPr>
              <a:t>Graph propagation is effective, but all historical interactions are treated uniformly.</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Shapley values identify which interactions drive each recommendation.</a:t>
            </a:r>
          </a:p>
          <a:p>
            <a:pPr marL="285750" indent="-285750" algn="just">
              <a:buFont typeface="Wingdings" panose="05000000000000000000" pitchFamily="2" charset="2"/>
              <a:buChar char="§"/>
            </a:pPr>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Contribution scores enable adaptive weighting and understandable explanations.</a:t>
            </a:r>
          </a:p>
          <a:p>
            <a:endParaRPr lang="en-US" sz="2000" dirty="0">
              <a:latin typeface="Montserrat" pitchFamily="2" charset="0"/>
            </a:endParaRPr>
          </a:p>
        </p:txBody>
      </p:sp>
      <p:sp>
        <p:nvSpPr>
          <p:cNvPr id="62" name="Rectangle 61">
            <a:extLst>
              <a:ext uri="{FF2B5EF4-FFF2-40B4-BE49-F238E27FC236}">
                <a16:creationId xmlns:a16="http://schemas.microsoft.com/office/drawing/2014/main" id="{80B34192-DFDE-4071-A63C-39E3E90B1011}"/>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Graph Neural Networks with Shapley-Value Explanations for Hierarchical Recommendation Systems</a:t>
            </a:r>
          </a:p>
        </p:txBody>
      </p:sp>
      <p:pic>
        <p:nvPicPr>
          <p:cNvPr id="40" name="Picture 39">
            <a:extLst>
              <a:ext uri="{FF2B5EF4-FFF2-40B4-BE49-F238E27FC236}">
                <a16:creationId xmlns:a16="http://schemas.microsoft.com/office/drawing/2014/main" id="{7AC120AC-9421-4FFD-BE8F-DEA97B9FEE8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41" name="Rectangle 40">
            <a:extLst>
              <a:ext uri="{FF2B5EF4-FFF2-40B4-BE49-F238E27FC236}">
                <a16:creationId xmlns:a16="http://schemas.microsoft.com/office/drawing/2014/main" id="{A4C6ADD4-A72C-47E0-91E8-B038037EF70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2" name="Rectangle 41">
            <a:extLst>
              <a:ext uri="{FF2B5EF4-FFF2-40B4-BE49-F238E27FC236}">
                <a16:creationId xmlns:a16="http://schemas.microsoft.com/office/drawing/2014/main" id="{647438AD-9A01-4D15-95DA-5E80B6EAC65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3" name="Rectangle 42">
            <a:extLst>
              <a:ext uri="{FF2B5EF4-FFF2-40B4-BE49-F238E27FC236}">
                <a16:creationId xmlns:a16="http://schemas.microsoft.com/office/drawing/2014/main" id="{2A7D3A99-7AB3-4133-825D-2AC929AFCB2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4" name="Rectangle 43">
            <a:extLst>
              <a:ext uri="{FF2B5EF4-FFF2-40B4-BE49-F238E27FC236}">
                <a16:creationId xmlns:a16="http://schemas.microsoft.com/office/drawing/2014/main" id="{6C450A08-82E2-4408-927F-12945D5D8F72}"/>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5" name="Rectangle 44">
            <a:extLst>
              <a:ext uri="{FF2B5EF4-FFF2-40B4-BE49-F238E27FC236}">
                <a16:creationId xmlns:a16="http://schemas.microsoft.com/office/drawing/2014/main" id="{99F5705D-F737-4554-972D-FA57D182CED6}"/>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8" name="Picture 47">
            <a:extLst>
              <a:ext uri="{FF2B5EF4-FFF2-40B4-BE49-F238E27FC236}">
                <a16:creationId xmlns:a16="http://schemas.microsoft.com/office/drawing/2014/main" id="{7BEEED73-CC57-435A-993E-D4E52F663A8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49" name="Picture 48">
            <a:extLst>
              <a:ext uri="{FF2B5EF4-FFF2-40B4-BE49-F238E27FC236}">
                <a16:creationId xmlns:a16="http://schemas.microsoft.com/office/drawing/2014/main" id="{8591EF63-4B0B-44B6-A778-1E1D558D2BE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0" name="Picture 49">
            <a:extLst>
              <a:ext uri="{FF2B5EF4-FFF2-40B4-BE49-F238E27FC236}">
                <a16:creationId xmlns:a16="http://schemas.microsoft.com/office/drawing/2014/main" id="{15EBACF2-4FD4-46EB-8B27-8422CEB7D22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1" name="Picture 50">
            <a:extLst>
              <a:ext uri="{FF2B5EF4-FFF2-40B4-BE49-F238E27FC236}">
                <a16:creationId xmlns:a16="http://schemas.microsoft.com/office/drawing/2014/main" id="{1B2C1CB2-40E6-4F1F-8DD7-40225BA6917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2" name="Picture 51">
            <a:extLst>
              <a:ext uri="{FF2B5EF4-FFF2-40B4-BE49-F238E27FC236}">
                <a16:creationId xmlns:a16="http://schemas.microsoft.com/office/drawing/2014/main" id="{E2E16157-43C6-4A10-805E-C53CC0948E5D}"/>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3" name="Rectangle 52">
            <a:extLst>
              <a:ext uri="{FF2B5EF4-FFF2-40B4-BE49-F238E27FC236}">
                <a16:creationId xmlns:a16="http://schemas.microsoft.com/office/drawing/2014/main" id="{B227F8CC-D730-48D9-AE32-645DB75BAC02}"/>
              </a:ext>
            </a:extLst>
          </p:cNvPr>
          <p:cNvSpPr/>
          <p:nvPr/>
        </p:nvSpPr>
        <p:spPr>
          <a:xfrm>
            <a:off x="3010690" y="912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0C492E44-43EB-4D6D-B177-D327AD8D0A8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55" name="Rectangle 54">
            <a:extLst>
              <a:ext uri="{FF2B5EF4-FFF2-40B4-BE49-F238E27FC236}">
                <a16:creationId xmlns:a16="http://schemas.microsoft.com/office/drawing/2014/main" id="{3F2793D9-DB65-4553-A868-9DA8FE6B2580}"/>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3" name="Picture 62">
            <a:extLst>
              <a:ext uri="{FF2B5EF4-FFF2-40B4-BE49-F238E27FC236}">
                <a16:creationId xmlns:a16="http://schemas.microsoft.com/office/drawing/2014/main" id="{C1147A1B-8823-48BA-87F4-2400D4C9A1E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4C8B0BA1-2D04-46A3-9B50-84EDEBD51484}"/>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8743828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Montserrat Medium" pitchFamily="50" charset="0"/>
              </a:rPr>
              <a:t>Conclusion &amp; Perspectives</a:t>
            </a:r>
          </a:p>
          <a:p>
            <a:pPr algn="ctr"/>
            <a:br>
              <a:rPr lang="en-US" sz="1600" dirty="0"/>
            </a:br>
            <a:endParaRPr lang="en-US" sz="1600" b="1" dirty="0">
              <a:solidFill>
                <a:srgbClr val="98ECB7"/>
              </a:solidFill>
              <a:latin typeface="Montserrat" pitchFamily="2" charset="0"/>
            </a:endParaRP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8" name="Picture 7">
            <a:extLst>
              <a:ext uri="{FF2B5EF4-FFF2-40B4-BE49-F238E27FC236}">
                <a16:creationId xmlns:a16="http://schemas.microsoft.com/office/drawing/2014/main" id="{11208CBF-FC83-4DC8-AD64-BBC9341AA3E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10" name="Picture 9">
            <a:extLst>
              <a:ext uri="{FF2B5EF4-FFF2-40B4-BE49-F238E27FC236}">
                <a16:creationId xmlns:a16="http://schemas.microsoft.com/office/drawing/2014/main" id="{5B519DED-C338-448D-AF8C-DA9C0E0EE31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880327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Synthesis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Limitations</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Perspectives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Conclusion</a:t>
            </a:r>
            <a:endParaRPr lang="en-US" sz="2000" dirty="0">
              <a:latin typeface="Montserrat" pitchFamily="2" charset="0"/>
            </a:endParaRPr>
          </a:p>
          <a:p>
            <a:pPr algn="ctr"/>
            <a:endParaRPr lang="en-US" sz="1200" dirty="0">
              <a:latin typeface="Montserrat" pitchFamily="2" charset="0"/>
            </a:endParaRPr>
          </a:p>
        </p:txBody>
      </p:sp>
      <p:graphicFrame>
        <p:nvGraphicFramePr>
          <p:cNvPr id="2" name="Table 1">
            <a:extLst>
              <a:ext uri="{FF2B5EF4-FFF2-40B4-BE49-F238E27FC236}">
                <a16:creationId xmlns:a16="http://schemas.microsoft.com/office/drawing/2014/main" id="{8F0F621F-9DCA-4125-9B98-E1A834F5FCC5}"/>
              </a:ext>
            </a:extLst>
          </p:cNvPr>
          <p:cNvGraphicFramePr>
            <a:graphicFrameLocks noGrp="1"/>
          </p:cNvGraphicFramePr>
          <p:nvPr>
            <p:extLst>
              <p:ext uri="{D42A27DB-BD31-4B8C-83A1-F6EECF244321}">
                <p14:modId xmlns:p14="http://schemas.microsoft.com/office/powerpoint/2010/main" val="435195126"/>
              </p:ext>
            </p:extLst>
          </p:nvPr>
        </p:nvGraphicFramePr>
        <p:xfrm>
          <a:off x="308009" y="1497983"/>
          <a:ext cx="11754692" cy="3256897"/>
        </p:xfrm>
        <a:graphic>
          <a:graphicData uri="http://schemas.openxmlformats.org/drawingml/2006/table">
            <a:tbl>
              <a:tblPr>
                <a:tableStyleId>{BC89EF96-8CEA-46FF-86C4-4CE0E7609802}</a:tableStyleId>
              </a:tblPr>
              <a:tblGrid>
                <a:gridCol w="1540042">
                  <a:extLst>
                    <a:ext uri="{9D8B030D-6E8A-4147-A177-3AD203B41FA5}">
                      <a16:colId xmlns:a16="http://schemas.microsoft.com/office/drawing/2014/main" val="701538050"/>
                    </a:ext>
                  </a:extLst>
                </a:gridCol>
                <a:gridCol w="2685450">
                  <a:extLst>
                    <a:ext uri="{9D8B030D-6E8A-4147-A177-3AD203B41FA5}">
                      <a16:colId xmlns:a16="http://schemas.microsoft.com/office/drawing/2014/main" val="560141144"/>
                    </a:ext>
                  </a:extLst>
                </a:gridCol>
                <a:gridCol w="4225490">
                  <a:extLst>
                    <a:ext uri="{9D8B030D-6E8A-4147-A177-3AD203B41FA5}">
                      <a16:colId xmlns:a16="http://schemas.microsoft.com/office/drawing/2014/main" val="2692156818"/>
                    </a:ext>
                  </a:extLst>
                </a:gridCol>
                <a:gridCol w="3303710">
                  <a:extLst>
                    <a:ext uri="{9D8B030D-6E8A-4147-A177-3AD203B41FA5}">
                      <a16:colId xmlns:a16="http://schemas.microsoft.com/office/drawing/2014/main" val="2189835750"/>
                    </a:ext>
                  </a:extLst>
                </a:gridCol>
              </a:tblGrid>
              <a:tr h="542189">
                <a:tc>
                  <a:txBody>
                    <a:bodyPr/>
                    <a:lstStyle/>
                    <a:p>
                      <a:pPr algn="ctr"/>
                      <a:r>
                        <a:rPr lang="en-US" sz="1600" b="1" dirty="0">
                          <a:latin typeface="Montserrat Medium" pitchFamily="50" charset="0"/>
                        </a:rPr>
                        <a:t>Contribution</a:t>
                      </a:r>
                    </a:p>
                  </a:txBody>
                  <a:tcPr marL="71333" marR="71333" marT="35667" marB="35667" anchor="ctr"/>
                </a:tc>
                <a:tc>
                  <a:txBody>
                    <a:bodyPr/>
                    <a:lstStyle/>
                    <a:p>
                      <a:pPr algn="ctr"/>
                      <a:r>
                        <a:rPr lang="en-US" sz="1600" b="1" dirty="0">
                          <a:latin typeface="Montserrat Medium" pitchFamily="50" charset="0"/>
                        </a:rPr>
                        <a:t>Main Idea</a:t>
                      </a:r>
                    </a:p>
                  </a:txBody>
                  <a:tcPr marL="71333" marR="71333" marT="35667" marB="35667" anchor="ctr"/>
                </a:tc>
                <a:tc>
                  <a:txBody>
                    <a:bodyPr/>
                    <a:lstStyle/>
                    <a:p>
                      <a:pPr algn="ctr"/>
                      <a:r>
                        <a:rPr lang="en-US" sz="1600" b="1" dirty="0">
                          <a:latin typeface="Montserrat Medium" pitchFamily="50" charset="0"/>
                        </a:rPr>
                        <a:t>Main Achievement</a:t>
                      </a:r>
                    </a:p>
                  </a:txBody>
                  <a:tcPr marL="71333" marR="71333" marT="35667" marB="35667" anchor="ctr"/>
                </a:tc>
                <a:tc>
                  <a:txBody>
                    <a:bodyPr/>
                    <a:lstStyle/>
                    <a:p>
                      <a:pPr algn="ctr"/>
                      <a:r>
                        <a:rPr lang="en-US" sz="1600" b="1" dirty="0">
                          <a:latin typeface="Montserrat Medium" pitchFamily="50" charset="0"/>
                        </a:rPr>
                        <a:t>Key Finding</a:t>
                      </a:r>
                    </a:p>
                  </a:txBody>
                  <a:tcPr marL="71333" marR="71333" marT="35667" marB="35667" anchor="ctr"/>
                </a:tc>
                <a:extLst>
                  <a:ext uri="{0D108BD9-81ED-4DB2-BD59-A6C34878D82A}">
                    <a16:rowId xmlns:a16="http://schemas.microsoft.com/office/drawing/2014/main" val="3409245545"/>
                  </a:ext>
                </a:extLst>
              </a:tr>
              <a:tr h="952901">
                <a:tc>
                  <a:txBody>
                    <a:bodyPr/>
                    <a:lstStyle/>
                    <a:p>
                      <a:pPr algn="ctr"/>
                      <a:r>
                        <a:rPr lang="en-US" sz="1600" b="1" dirty="0">
                          <a:latin typeface="Montserrat Medium" pitchFamily="50" charset="0"/>
                        </a:rPr>
                        <a:t>C1</a:t>
                      </a:r>
                    </a:p>
                  </a:txBody>
                  <a:tcPr marL="71333" marR="71333" marT="35667" marB="35667" anchor="ctr"/>
                </a:tc>
                <a:tc>
                  <a:txBody>
                    <a:bodyPr/>
                    <a:lstStyle/>
                    <a:p>
                      <a:pPr algn="just"/>
                      <a:r>
                        <a:rPr lang="en-US" sz="1400" b="1" dirty="0">
                          <a:latin typeface="Montserrat Medium" pitchFamily="50" charset="0"/>
                        </a:rPr>
                        <a:t>Explainable graph-based recommendation using Shapley values</a:t>
                      </a:r>
                      <a:endParaRPr lang="en-US" sz="1400" dirty="0">
                        <a:latin typeface="Montserrat Medium" pitchFamily="50" charset="0"/>
                      </a:endParaRPr>
                    </a:p>
                  </a:txBody>
                  <a:tcPr marL="71333" marR="71333" marT="35667" marB="35667" anchor="ctr"/>
                </a:tc>
                <a:tc>
                  <a:txBody>
                    <a:bodyPr/>
                    <a:lstStyle/>
                    <a:p>
                      <a:pPr algn="just"/>
                      <a:r>
                        <a:rPr lang="en-US" sz="1400" dirty="0">
                          <a:latin typeface="Montserrat Medium" pitchFamily="50" charset="0"/>
                        </a:rPr>
                        <a:t>Introduced faithful explanations for GNN-based recommender systems by quantifying the contribution of historical user–item interactions.</a:t>
                      </a:r>
                    </a:p>
                  </a:txBody>
                  <a:tcPr marL="71333" marR="71333" marT="35667" marB="35667" anchor="ctr"/>
                </a:tc>
                <a:tc>
                  <a:txBody>
                    <a:bodyPr/>
                    <a:lstStyle/>
                    <a:p>
                      <a:pPr algn="just"/>
                      <a:r>
                        <a:rPr lang="en-US" sz="1400" b="1">
                          <a:latin typeface="Montserrat Medium" pitchFamily="50" charset="0"/>
                        </a:rPr>
                        <a:t>Explainability improves transparency while preserving recommendation performance.</a:t>
                      </a:r>
                      <a:endParaRPr lang="en-US" sz="1400">
                        <a:latin typeface="Montserrat Medium" pitchFamily="50" charset="0"/>
                      </a:endParaRPr>
                    </a:p>
                  </a:txBody>
                  <a:tcPr marL="71333" marR="71333" marT="35667" marB="35667" anchor="ctr"/>
                </a:tc>
                <a:extLst>
                  <a:ext uri="{0D108BD9-81ED-4DB2-BD59-A6C34878D82A}">
                    <a16:rowId xmlns:a16="http://schemas.microsoft.com/office/drawing/2014/main" val="2157358220"/>
                  </a:ext>
                </a:extLst>
              </a:tr>
              <a:tr h="856648">
                <a:tc>
                  <a:txBody>
                    <a:bodyPr/>
                    <a:lstStyle/>
                    <a:p>
                      <a:pPr algn="ctr"/>
                      <a:r>
                        <a:rPr lang="en-US" sz="1600" b="1">
                          <a:latin typeface="Montserrat Medium" pitchFamily="50" charset="0"/>
                        </a:rPr>
                        <a:t>C2</a:t>
                      </a:r>
                    </a:p>
                  </a:txBody>
                  <a:tcPr marL="71333" marR="71333" marT="35667" marB="35667" anchor="ctr"/>
                </a:tc>
                <a:tc>
                  <a:txBody>
                    <a:bodyPr/>
                    <a:lstStyle/>
                    <a:p>
                      <a:pPr algn="just"/>
                      <a:r>
                        <a:rPr lang="en-US" sz="1400" b="1">
                          <a:latin typeface="Montserrat Medium" pitchFamily="50" charset="0"/>
                        </a:rPr>
                        <a:t>Adaptive recommendation through contribution-aware inference</a:t>
                      </a:r>
                      <a:endParaRPr lang="en-US" sz="1400">
                        <a:latin typeface="Montserrat Medium" pitchFamily="50" charset="0"/>
                      </a:endParaRPr>
                    </a:p>
                  </a:txBody>
                  <a:tcPr marL="71333" marR="71333" marT="35667" marB="35667" anchor="ctr"/>
                </a:tc>
                <a:tc>
                  <a:txBody>
                    <a:bodyPr/>
                    <a:lstStyle/>
                    <a:p>
                      <a:pPr algn="just"/>
                      <a:r>
                        <a:rPr lang="en-US" sz="1400" dirty="0">
                          <a:latin typeface="Montserrat Medium" pitchFamily="50" charset="0"/>
                        </a:rPr>
                        <a:t>Leveraged Shapley contributions to dynamically reweight historical interactions during inference.</a:t>
                      </a:r>
                    </a:p>
                  </a:txBody>
                  <a:tcPr marL="71333" marR="71333" marT="35667" marB="35667" anchor="ctr"/>
                </a:tc>
                <a:tc>
                  <a:txBody>
                    <a:bodyPr/>
                    <a:lstStyle/>
                    <a:p>
                      <a:pPr algn="just"/>
                      <a:r>
                        <a:rPr lang="en-US" sz="1400" b="1">
                          <a:latin typeface="Montserrat Medium" pitchFamily="50" charset="0"/>
                        </a:rPr>
                        <a:t>Adaptive weighting improves recommendation robustness and personalization.</a:t>
                      </a:r>
                      <a:endParaRPr lang="en-US" sz="1400">
                        <a:latin typeface="Montserrat Medium" pitchFamily="50" charset="0"/>
                      </a:endParaRPr>
                    </a:p>
                  </a:txBody>
                  <a:tcPr marL="71333" marR="71333" marT="35667" marB="35667" anchor="ctr"/>
                </a:tc>
                <a:extLst>
                  <a:ext uri="{0D108BD9-81ED-4DB2-BD59-A6C34878D82A}">
                    <a16:rowId xmlns:a16="http://schemas.microsoft.com/office/drawing/2014/main" val="740632316"/>
                  </a:ext>
                </a:extLst>
              </a:tr>
              <a:tr h="905159">
                <a:tc>
                  <a:txBody>
                    <a:bodyPr/>
                    <a:lstStyle/>
                    <a:p>
                      <a:pPr algn="ctr"/>
                      <a:r>
                        <a:rPr lang="en-US" sz="1600" b="1" dirty="0">
                          <a:latin typeface="Montserrat Medium" pitchFamily="50" charset="0"/>
                        </a:rPr>
                        <a:t>C3</a:t>
                      </a:r>
                    </a:p>
                  </a:txBody>
                  <a:tcPr marL="71333" marR="71333" marT="35667" marB="35667" anchor="ctr"/>
                </a:tc>
                <a:tc>
                  <a:txBody>
                    <a:bodyPr/>
                    <a:lstStyle/>
                    <a:p>
                      <a:pPr algn="just"/>
                      <a:r>
                        <a:rPr lang="en-US" sz="1400" b="1" dirty="0">
                          <a:latin typeface="Montserrat Medium" pitchFamily="50" charset="0"/>
                        </a:rPr>
                        <a:t>Hyperbolic graph neural networks for recommendation</a:t>
                      </a:r>
                      <a:endParaRPr lang="en-US" sz="1400" dirty="0">
                        <a:latin typeface="Montserrat Medium" pitchFamily="50" charset="0"/>
                      </a:endParaRPr>
                    </a:p>
                  </a:txBody>
                  <a:tcPr marL="71333" marR="71333" marT="35667" marB="35667" anchor="ctr"/>
                </a:tc>
                <a:tc>
                  <a:txBody>
                    <a:bodyPr/>
                    <a:lstStyle/>
                    <a:p>
                      <a:pPr algn="just"/>
                      <a:r>
                        <a:rPr lang="en-US" sz="1400" dirty="0">
                          <a:latin typeface="Montserrat Medium" pitchFamily="50" charset="0"/>
                        </a:rPr>
                        <a:t>Modeled hierarchical user–item relationships in hyperbolic space to better capture latent structures.</a:t>
                      </a:r>
                    </a:p>
                  </a:txBody>
                  <a:tcPr marL="71333" marR="71333" marT="35667" marB="35667" anchor="ctr"/>
                </a:tc>
                <a:tc>
                  <a:txBody>
                    <a:bodyPr/>
                    <a:lstStyle/>
                    <a:p>
                      <a:pPr algn="just"/>
                      <a:r>
                        <a:rPr lang="en-US" sz="1400" b="1" dirty="0">
                          <a:latin typeface="Montserrat Medium" pitchFamily="50" charset="0"/>
                        </a:rPr>
                        <a:t>Hyperbolic representations outperform Euclidean embeddings for hierarchical recommendation.</a:t>
                      </a:r>
                      <a:endParaRPr lang="en-US" sz="1400" dirty="0">
                        <a:latin typeface="Montserrat Medium" pitchFamily="50" charset="0"/>
                      </a:endParaRPr>
                    </a:p>
                  </a:txBody>
                  <a:tcPr marL="71333" marR="71333" marT="35667" marB="35667" anchor="ctr"/>
                </a:tc>
                <a:extLst>
                  <a:ext uri="{0D108BD9-81ED-4DB2-BD59-A6C34878D82A}">
                    <a16:rowId xmlns:a16="http://schemas.microsoft.com/office/drawing/2014/main" val="1256403469"/>
                  </a:ext>
                </a:extLst>
              </a:tr>
            </a:tbl>
          </a:graphicData>
        </a:graphic>
      </p:graphicFrame>
      <p:graphicFrame>
        <p:nvGraphicFramePr>
          <p:cNvPr id="45" name="Table 7">
            <a:extLst>
              <a:ext uri="{FF2B5EF4-FFF2-40B4-BE49-F238E27FC236}">
                <a16:creationId xmlns:a16="http://schemas.microsoft.com/office/drawing/2014/main" id="{DD34B008-558E-4A24-81C1-62B89BACF29D}"/>
              </a:ext>
            </a:extLst>
          </p:cNvPr>
          <p:cNvGraphicFramePr>
            <a:graphicFrameLocks noGrp="1"/>
          </p:cNvGraphicFramePr>
          <p:nvPr>
            <p:extLst>
              <p:ext uri="{D42A27DB-BD31-4B8C-83A1-F6EECF244321}">
                <p14:modId xmlns:p14="http://schemas.microsoft.com/office/powerpoint/2010/main" val="2425137201"/>
              </p:ext>
            </p:extLst>
          </p:nvPr>
        </p:nvGraphicFramePr>
        <p:xfrm>
          <a:off x="308009" y="4979103"/>
          <a:ext cx="11792308" cy="1280160"/>
        </p:xfrm>
        <a:graphic>
          <a:graphicData uri="http://schemas.openxmlformats.org/drawingml/2006/table">
            <a:tbl>
              <a:tblPr firstRow="1" bandRow="1">
                <a:tableStyleId>{21E4AEA4-8DFA-4A89-87EB-49C32662AFE0}</a:tableStyleId>
              </a:tblPr>
              <a:tblGrid>
                <a:gridCol w="11792308">
                  <a:extLst>
                    <a:ext uri="{9D8B030D-6E8A-4147-A177-3AD203B41FA5}">
                      <a16:colId xmlns:a16="http://schemas.microsoft.com/office/drawing/2014/main" val="1386659453"/>
                    </a:ext>
                  </a:extLst>
                </a:gridCol>
              </a:tblGrid>
              <a:tr h="2569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ontserrat Medium" pitchFamily="50" charset="0"/>
                        </a:rPr>
                        <a:t>Takeaway – Thesis</a:t>
                      </a:r>
                      <a:endParaRPr lang="en-US" sz="1800" dirty="0">
                        <a:latin typeface="Montserrat Medium" pitchFamily="50" charset="0"/>
                      </a:endParaRPr>
                    </a:p>
                  </a:txBody>
                  <a:tcPr/>
                </a:tc>
                <a:extLst>
                  <a:ext uri="{0D108BD9-81ED-4DB2-BD59-A6C34878D82A}">
                    <a16:rowId xmlns:a16="http://schemas.microsoft.com/office/drawing/2014/main" val="2958281240"/>
                  </a:ext>
                </a:extLst>
              </a:tr>
              <a:tr h="808879">
                <a:tc>
                  <a:txBody>
                    <a:bodyPr/>
                    <a:lstStyle/>
                    <a:p>
                      <a:pPr algn="just"/>
                      <a:r>
                        <a:rPr lang="en-US" dirty="0">
                          <a:latin typeface="Montserrat Medium" pitchFamily="50" charset="0"/>
                        </a:rPr>
                        <a:t>Overall, this thesis progressively integrates </a:t>
                      </a:r>
                      <a:r>
                        <a:rPr lang="en-US" dirty="0" err="1">
                          <a:latin typeface="Montserrat Medium" pitchFamily="50" charset="0"/>
                        </a:rPr>
                        <a:t>explainability</a:t>
                      </a:r>
                      <a:r>
                        <a:rPr lang="en-US" dirty="0">
                          <a:latin typeface="Montserrat Medium" pitchFamily="50" charset="0"/>
                        </a:rPr>
                        <a:t>, adaptivity, and hyperbolic representation learning into a unified framework for accurate, transparent, and robust graph-based recommender systems.</a:t>
                      </a:r>
                    </a:p>
                  </a:txBody>
                  <a:tcPr/>
                </a:tc>
                <a:extLst>
                  <a:ext uri="{0D108BD9-81ED-4DB2-BD59-A6C34878D82A}">
                    <a16:rowId xmlns:a16="http://schemas.microsoft.com/office/drawing/2014/main" val="2059531609"/>
                  </a:ext>
                </a:extLst>
              </a:tr>
            </a:tbl>
          </a:graphicData>
        </a:graphic>
      </p:graphicFrame>
      <p:pic>
        <p:nvPicPr>
          <p:cNvPr id="48" name="Picture 47">
            <a:extLst>
              <a:ext uri="{FF2B5EF4-FFF2-40B4-BE49-F238E27FC236}">
                <a16:creationId xmlns:a16="http://schemas.microsoft.com/office/drawing/2014/main" id="{619095DF-6078-482E-AE09-21067454F90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49" name="Rectangle 48">
            <a:extLst>
              <a:ext uri="{FF2B5EF4-FFF2-40B4-BE49-F238E27FC236}">
                <a16:creationId xmlns:a16="http://schemas.microsoft.com/office/drawing/2014/main" id="{A9B88927-E6DF-422A-AABB-006F4AD8DD5F}"/>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965783C7-FA98-4275-AB2F-2EF8E0C0007F}"/>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F18234E0-6F8E-47BD-A40A-40246265D30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BBC82F22-BF0E-4C6D-A2E5-B6C28BE73AB5}"/>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3" name="Rectangle 52">
            <a:extLst>
              <a:ext uri="{FF2B5EF4-FFF2-40B4-BE49-F238E27FC236}">
                <a16:creationId xmlns:a16="http://schemas.microsoft.com/office/drawing/2014/main" id="{7B7176FE-4E32-4A72-B573-D5B90B3632DC}"/>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73FEC8E9-D3A0-4A55-85D5-D02D7272633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5" name="Picture 54">
            <a:extLst>
              <a:ext uri="{FF2B5EF4-FFF2-40B4-BE49-F238E27FC236}">
                <a16:creationId xmlns:a16="http://schemas.microsoft.com/office/drawing/2014/main" id="{63A120B4-7183-4672-94DC-0EE0108808E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6" name="Picture 55">
            <a:extLst>
              <a:ext uri="{FF2B5EF4-FFF2-40B4-BE49-F238E27FC236}">
                <a16:creationId xmlns:a16="http://schemas.microsoft.com/office/drawing/2014/main" id="{1ABCB60E-25BF-4482-A0DE-C614B54F90F4}"/>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7" name="Picture 56">
            <a:extLst>
              <a:ext uri="{FF2B5EF4-FFF2-40B4-BE49-F238E27FC236}">
                <a16:creationId xmlns:a16="http://schemas.microsoft.com/office/drawing/2014/main" id="{B290E3B3-2456-4731-B5A7-872C12C42482}"/>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8" name="Picture 57">
            <a:extLst>
              <a:ext uri="{FF2B5EF4-FFF2-40B4-BE49-F238E27FC236}">
                <a16:creationId xmlns:a16="http://schemas.microsoft.com/office/drawing/2014/main" id="{D43958FD-98E1-48CE-9432-F3F8EB1FD02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9" name="Rectangle 58">
            <a:extLst>
              <a:ext uri="{FF2B5EF4-FFF2-40B4-BE49-F238E27FC236}">
                <a16:creationId xmlns:a16="http://schemas.microsoft.com/office/drawing/2014/main" id="{7337081C-55F6-4CC1-9A3B-8117B4988F06}"/>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CF2CF6B3-691A-406D-B14E-B06EF8C7798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1" name="Rectangle 60">
            <a:extLst>
              <a:ext uri="{FF2B5EF4-FFF2-40B4-BE49-F238E27FC236}">
                <a16:creationId xmlns:a16="http://schemas.microsoft.com/office/drawing/2014/main" id="{8AC264FA-0511-46A9-B8B8-DC1EEF3450F5}"/>
              </a:ext>
            </a:extLst>
          </p:cNvPr>
          <p:cNvSpPr/>
          <p:nvPr/>
        </p:nvSpPr>
        <p:spPr>
          <a:xfrm>
            <a:off x="3597593" y="96241"/>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E2287AF6-1E92-487B-B382-D9F6D0337B3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8" name="Picture 27">
            <a:extLst>
              <a:ext uri="{FF2B5EF4-FFF2-40B4-BE49-F238E27FC236}">
                <a16:creationId xmlns:a16="http://schemas.microsoft.com/office/drawing/2014/main" id="{B44AC142-1B3E-4898-988C-8285F34B1F7B}"/>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22918056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Synthesis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Limitations</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Perspectives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Conclusion</a:t>
            </a:r>
            <a:endParaRPr lang="en-US" sz="2000" dirty="0">
              <a:latin typeface="Montserrat" pitchFamily="2" charset="0"/>
            </a:endParaRPr>
          </a:p>
          <a:p>
            <a:pPr algn="ctr"/>
            <a:endParaRPr lang="en-US" sz="1200" dirty="0">
              <a:latin typeface="Montserrat" pitchFamily="2" charset="0"/>
            </a:endParaRPr>
          </a:p>
        </p:txBody>
      </p:sp>
      <p:graphicFrame>
        <p:nvGraphicFramePr>
          <p:cNvPr id="4" name="Table 3">
            <a:extLst>
              <a:ext uri="{FF2B5EF4-FFF2-40B4-BE49-F238E27FC236}">
                <a16:creationId xmlns:a16="http://schemas.microsoft.com/office/drawing/2014/main" id="{2DB2B3C8-4AAD-4C02-BA3A-9392FCB31322}"/>
              </a:ext>
            </a:extLst>
          </p:cNvPr>
          <p:cNvGraphicFramePr>
            <a:graphicFrameLocks noGrp="1"/>
          </p:cNvGraphicFramePr>
          <p:nvPr>
            <p:extLst>
              <p:ext uri="{D42A27DB-BD31-4B8C-83A1-F6EECF244321}">
                <p14:modId xmlns:p14="http://schemas.microsoft.com/office/powerpoint/2010/main" val="1571684635"/>
              </p:ext>
            </p:extLst>
          </p:nvPr>
        </p:nvGraphicFramePr>
        <p:xfrm>
          <a:off x="233425" y="2055905"/>
          <a:ext cx="11829276" cy="3112531"/>
        </p:xfrm>
        <a:graphic>
          <a:graphicData uri="http://schemas.openxmlformats.org/drawingml/2006/table">
            <a:tbl>
              <a:tblPr>
                <a:tableStyleId>{BC89EF96-8CEA-46FF-86C4-4CE0E7609802}</a:tableStyleId>
              </a:tblPr>
              <a:tblGrid>
                <a:gridCol w="603976">
                  <a:extLst>
                    <a:ext uri="{9D8B030D-6E8A-4147-A177-3AD203B41FA5}">
                      <a16:colId xmlns:a16="http://schemas.microsoft.com/office/drawing/2014/main" val="3936858160"/>
                    </a:ext>
                  </a:extLst>
                </a:gridCol>
                <a:gridCol w="5611528">
                  <a:extLst>
                    <a:ext uri="{9D8B030D-6E8A-4147-A177-3AD203B41FA5}">
                      <a16:colId xmlns:a16="http://schemas.microsoft.com/office/drawing/2014/main" val="2097851421"/>
                    </a:ext>
                  </a:extLst>
                </a:gridCol>
                <a:gridCol w="3859731">
                  <a:extLst>
                    <a:ext uri="{9D8B030D-6E8A-4147-A177-3AD203B41FA5}">
                      <a16:colId xmlns:a16="http://schemas.microsoft.com/office/drawing/2014/main" val="3754089387"/>
                    </a:ext>
                  </a:extLst>
                </a:gridCol>
                <a:gridCol w="1754041">
                  <a:extLst>
                    <a:ext uri="{9D8B030D-6E8A-4147-A177-3AD203B41FA5}">
                      <a16:colId xmlns:a16="http://schemas.microsoft.com/office/drawing/2014/main" val="3947136021"/>
                    </a:ext>
                  </a:extLst>
                </a:gridCol>
              </a:tblGrid>
              <a:tr h="280731">
                <a:tc>
                  <a:txBody>
                    <a:bodyPr/>
                    <a:lstStyle/>
                    <a:p>
                      <a:pPr algn="ctr"/>
                      <a:r>
                        <a:rPr lang="en-US" sz="1800">
                          <a:latin typeface="Montserrat Medium" pitchFamily="50" charset="0"/>
                        </a:rPr>
                        <a:t>No.</a:t>
                      </a:r>
                    </a:p>
                  </a:txBody>
                  <a:tcPr marL="70183" marR="70183" marT="35091" marB="35091" anchor="ctr"/>
                </a:tc>
                <a:tc>
                  <a:txBody>
                    <a:bodyPr/>
                    <a:lstStyle/>
                    <a:p>
                      <a:pPr algn="ctr"/>
                      <a:r>
                        <a:rPr lang="en-US" sz="1800" dirty="0">
                          <a:latin typeface="Montserrat Medium" pitchFamily="50" charset="0"/>
                        </a:rPr>
                        <a:t>Title</a:t>
                      </a:r>
                    </a:p>
                  </a:txBody>
                  <a:tcPr marL="70183" marR="70183" marT="35091" marB="35091" anchor="ctr"/>
                </a:tc>
                <a:tc>
                  <a:txBody>
                    <a:bodyPr/>
                    <a:lstStyle/>
                    <a:p>
                      <a:pPr algn="ctr"/>
                      <a:r>
                        <a:rPr lang="en-US" sz="1800">
                          <a:latin typeface="Montserrat Medium" pitchFamily="50" charset="0"/>
                        </a:rPr>
                        <a:t>Journal</a:t>
                      </a:r>
                    </a:p>
                  </a:txBody>
                  <a:tcPr marL="70183" marR="70183" marT="35091" marB="35091" anchor="ctr"/>
                </a:tc>
                <a:tc>
                  <a:txBody>
                    <a:bodyPr/>
                    <a:lstStyle/>
                    <a:p>
                      <a:pPr algn="ctr"/>
                      <a:r>
                        <a:rPr lang="en-US" sz="1800" dirty="0">
                          <a:latin typeface="Montserrat Medium" pitchFamily="50" charset="0"/>
                        </a:rPr>
                        <a:t>Status</a:t>
                      </a:r>
                    </a:p>
                  </a:txBody>
                  <a:tcPr marL="70183" marR="70183" marT="35091" marB="35091" anchor="ctr"/>
                </a:tc>
                <a:extLst>
                  <a:ext uri="{0D108BD9-81ED-4DB2-BD59-A6C34878D82A}">
                    <a16:rowId xmlns:a16="http://schemas.microsoft.com/office/drawing/2014/main" val="691084005"/>
                  </a:ext>
                </a:extLst>
              </a:tr>
              <a:tr h="648869">
                <a:tc>
                  <a:txBody>
                    <a:bodyPr/>
                    <a:lstStyle/>
                    <a:p>
                      <a:pPr algn="ctr"/>
                      <a:r>
                        <a:rPr lang="en-US" sz="1800" b="1" dirty="0">
                          <a:latin typeface="Montserrat Medium" pitchFamily="50" charset="0"/>
                        </a:rPr>
                        <a:t>I</a:t>
                      </a:r>
                      <a:endParaRPr lang="en-US" sz="1800" dirty="0">
                        <a:latin typeface="Montserrat Medium" pitchFamily="50" charset="0"/>
                      </a:endParaRPr>
                    </a:p>
                  </a:txBody>
                  <a:tcPr marL="70183" marR="70183" marT="35091" marB="35091" anchor="ctr"/>
                </a:tc>
                <a:tc>
                  <a:txBody>
                    <a:bodyPr/>
                    <a:lstStyle/>
                    <a:p>
                      <a:pPr algn="just"/>
                      <a:r>
                        <a:rPr lang="en-US" sz="1450" dirty="0">
                          <a:latin typeface="Montserrat Medium" pitchFamily="50" charset="0"/>
                        </a:rPr>
                        <a:t>Dynamic Recommender Systems with Real-time Shapley Value-based Contribution Adjustment</a:t>
                      </a:r>
                    </a:p>
                  </a:txBody>
                  <a:tcPr marL="70183" marR="70183" marT="35091" marB="35091" anchor="ctr"/>
                </a:tc>
                <a:tc>
                  <a:txBody>
                    <a:bodyPr/>
                    <a:lstStyle/>
                    <a:p>
                      <a:pPr algn="just"/>
                      <a:r>
                        <a:rPr lang="en-US" sz="1450" b="0" i="0" kern="1200" dirty="0">
                          <a:solidFill>
                            <a:schemeClr val="tx1"/>
                          </a:solidFill>
                          <a:effectLst/>
                          <a:latin typeface="Montserrat Medium" pitchFamily="50" charset="0"/>
                          <a:ea typeface="+mn-ea"/>
                          <a:cs typeface="+mn-cs"/>
                        </a:rPr>
                        <a:t>International Journal of Intelligent Engineering and Systems </a:t>
                      </a:r>
                      <a:endParaRPr lang="en-US" sz="1450" dirty="0">
                        <a:latin typeface="Montserrat Medium" pitchFamily="50" charset="0"/>
                      </a:endParaRPr>
                    </a:p>
                  </a:txBody>
                  <a:tcPr marL="70183" marR="70183" marT="35091" marB="35091" anchor="ctr"/>
                </a:tc>
                <a:tc>
                  <a:txBody>
                    <a:bodyPr/>
                    <a:lstStyle/>
                    <a:p>
                      <a:pPr algn="just"/>
                      <a:r>
                        <a:rPr lang="en-US" sz="1450">
                          <a:latin typeface="Montserrat Medium" pitchFamily="50" charset="0"/>
                        </a:rPr>
                        <a:t>Published, 2025</a:t>
                      </a:r>
                    </a:p>
                  </a:txBody>
                  <a:tcPr marL="70183" marR="70183" marT="35091" marB="35091" anchor="ctr"/>
                </a:tc>
                <a:extLst>
                  <a:ext uri="{0D108BD9-81ED-4DB2-BD59-A6C34878D82A}">
                    <a16:rowId xmlns:a16="http://schemas.microsoft.com/office/drawing/2014/main" val="1737754543"/>
                  </a:ext>
                </a:extLst>
              </a:tr>
              <a:tr h="693019">
                <a:tc>
                  <a:txBody>
                    <a:bodyPr/>
                    <a:lstStyle/>
                    <a:p>
                      <a:pPr algn="ctr"/>
                      <a:r>
                        <a:rPr lang="en-US" sz="1800" b="1">
                          <a:latin typeface="Montserrat Medium" pitchFamily="50" charset="0"/>
                        </a:rPr>
                        <a:t>II</a:t>
                      </a:r>
                      <a:endParaRPr lang="en-US" sz="1800">
                        <a:latin typeface="Montserrat Medium" pitchFamily="50" charset="0"/>
                      </a:endParaRPr>
                    </a:p>
                  </a:txBody>
                  <a:tcPr marL="70183" marR="70183" marT="35091" marB="35091" anchor="ctr"/>
                </a:tc>
                <a:tc>
                  <a:txBody>
                    <a:bodyPr/>
                    <a:lstStyle/>
                    <a:p>
                      <a:pPr algn="just"/>
                      <a:r>
                        <a:rPr lang="en-US" sz="1450" dirty="0">
                          <a:latin typeface="Montserrat Medium" pitchFamily="50" charset="0"/>
                        </a:rPr>
                        <a:t>Graph Neural Networks with Shapley-Value Explanations for Hierarchical Recommendation Systems</a:t>
                      </a:r>
                    </a:p>
                  </a:txBody>
                  <a:tcPr marL="70183" marR="70183" marT="35091" marB="35091" anchor="ctr"/>
                </a:tc>
                <a:tc>
                  <a:txBody>
                    <a:bodyPr/>
                    <a:lstStyle/>
                    <a:p>
                      <a:pPr algn="just"/>
                      <a:r>
                        <a:rPr lang="en-US" sz="1450" dirty="0">
                          <a:latin typeface="Montserrat Medium" pitchFamily="50" charset="0"/>
                        </a:rPr>
                        <a:t>International Journal of Advanced Computer Science and Applications</a:t>
                      </a:r>
                    </a:p>
                  </a:txBody>
                  <a:tcPr marL="70183" marR="70183" marT="35091" marB="35091" anchor="ctr"/>
                </a:tc>
                <a:tc>
                  <a:txBody>
                    <a:bodyPr/>
                    <a:lstStyle/>
                    <a:p>
                      <a:pPr algn="just"/>
                      <a:r>
                        <a:rPr lang="en-US" sz="1450">
                          <a:latin typeface="Montserrat Medium" pitchFamily="50" charset="0"/>
                        </a:rPr>
                        <a:t>Published, 2025</a:t>
                      </a:r>
                    </a:p>
                  </a:txBody>
                  <a:tcPr marL="70183" marR="70183" marT="35091" marB="35091" anchor="ctr"/>
                </a:tc>
                <a:extLst>
                  <a:ext uri="{0D108BD9-81ED-4DB2-BD59-A6C34878D82A}">
                    <a16:rowId xmlns:a16="http://schemas.microsoft.com/office/drawing/2014/main" val="2739196785"/>
                  </a:ext>
                </a:extLst>
              </a:tr>
              <a:tr h="664144">
                <a:tc>
                  <a:txBody>
                    <a:bodyPr/>
                    <a:lstStyle/>
                    <a:p>
                      <a:pPr algn="ctr"/>
                      <a:r>
                        <a:rPr lang="en-US" sz="1800" b="1">
                          <a:latin typeface="Montserrat Medium" pitchFamily="50" charset="0"/>
                        </a:rPr>
                        <a:t>III</a:t>
                      </a:r>
                      <a:endParaRPr lang="en-US" sz="1800">
                        <a:latin typeface="Montserrat Medium" pitchFamily="50" charset="0"/>
                      </a:endParaRPr>
                    </a:p>
                  </a:txBody>
                  <a:tcPr marL="70183" marR="70183" marT="35091" marB="35091" anchor="ctr"/>
                </a:tc>
                <a:tc>
                  <a:txBody>
                    <a:bodyPr/>
                    <a:lstStyle/>
                    <a:p>
                      <a:pPr algn="just"/>
                      <a:r>
                        <a:rPr lang="en-US" sz="1450" dirty="0">
                          <a:latin typeface="Montserrat Medium" pitchFamily="50" charset="0"/>
                        </a:rPr>
                        <a:t>Shapley Values for Explaining Adaptive Recommendations in Temporal Hyperbolic Graph Neural Networks</a:t>
                      </a:r>
                    </a:p>
                  </a:txBody>
                  <a:tcPr marL="70183" marR="70183" marT="35091" marB="35091" anchor="ctr"/>
                </a:tc>
                <a:tc>
                  <a:txBody>
                    <a:bodyPr/>
                    <a:lstStyle/>
                    <a:p>
                      <a:pPr algn="just"/>
                      <a:r>
                        <a:rPr lang="en-US" sz="1450">
                          <a:latin typeface="Montserrat Medium" pitchFamily="50" charset="0"/>
                        </a:rPr>
                        <a:t>Discover Artificial Intelligence</a:t>
                      </a:r>
                    </a:p>
                  </a:txBody>
                  <a:tcPr marL="70183" marR="70183" marT="35091" marB="35091" anchor="ctr"/>
                </a:tc>
                <a:tc>
                  <a:txBody>
                    <a:bodyPr/>
                    <a:lstStyle/>
                    <a:p>
                      <a:pPr algn="just"/>
                      <a:r>
                        <a:rPr lang="en-US" sz="1450" dirty="0">
                          <a:latin typeface="Montserrat Medium" pitchFamily="50" charset="0"/>
                        </a:rPr>
                        <a:t>Under review</a:t>
                      </a:r>
                    </a:p>
                  </a:txBody>
                  <a:tcPr marL="70183" marR="70183" marT="35091" marB="35091" anchor="ctr"/>
                </a:tc>
                <a:extLst>
                  <a:ext uri="{0D108BD9-81ED-4DB2-BD59-A6C34878D82A}">
                    <a16:rowId xmlns:a16="http://schemas.microsoft.com/office/drawing/2014/main" val="3760826293"/>
                  </a:ext>
                </a:extLst>
              </a:tr>
              <a:tr h="693019">
                <a:tc>
                  <a:txBody>
                    <a:bodyPr/>
                    <a:lstStyle/>
                    <a:p>
                      <a:pPr algn="ctr"/>
                      <a:r>
                        <a:rPr lang="en-US" sz="1800" b="1" dirty="0">
                          <a:latin typeface="Montserrat Medium" pitchFamily="50" charset="0"/>
                        </a:rPr>
                        <a:t>IV</a:t>
                      </a:r>
                      <a:endParaRPr lang="en-US" sz="1800" dirty="0">
                        <a:latin typeface="Montserrat Medium" pitchFamily="50" charset="0"/>
                      </a:endParaRPr>
                    </a:p>
                  </a:txBody>
                  <a:tcPr marL="70183" marR="70183" marT="35091" marB="35091" anchor="ctr"/>
                </a:tc>
                <a:tc>
                  <a:txBody>
                    <a:bodyPr/>
                    <a:lstStyle/>
                    <a:p>
                      <a:pPr algn="just"/>
                      <a:r>
                        <a:rPr lang="en-US" sz="1450">
                          <a:latin typeface="Montserrat Medium" pitchFamily="50" charset="0"/>
                        </a:rPr>
                        <a:t>Toward Temporal Stability in Explainable AI: A Framework for Measuring Explanation Drift</a:t>
                      </a:r>
                    </a:p>
                  </a:txBody>
                  <a:tcPr marL="70183" marR="70183" marT="35091" marB="35091" anchor="ctr"/>
                </a:tc>
                <a:tc>
                  <a:txBody>
                    <a:bodyPr/>
                    <a:lstStyle/>
                    <a:p>
                      <a:pPr algn="just"/>
                      <a:r>
                        <a:rPr lang="en-US" sz="1450" dirty="0">
                          <a:latin typeface="Montserrat Medium" pitchFamily="50" charset="0"/>
                        </a:rPr>
                        <a:t>Results in Engineering</a:t>
                      </a:r>
                    </a:p>
                  </a:txBody>
                  <a:tcPr marL="70183" marR="70183" marT="35091" marB="35091" anchor="ctr"/>
                </a:tc>
                <a:tc>
                  <a:txBody>
                    <a:bodyPr/>
                    <a:lstStyle/>
                    <a:p>
                      <a:pPr algn="just"/>
                      <a:r>
                        <a:rPr lang="en-US" sz="1450" dirty="0">
                          <a:latin typeface="Montserrat Medium" pitchFamily="50" charset="0"/>
                        </a:rPr>
                        <a:t>Under review</a:t>
                      </a:r>
                    </a:p>
                  </a:txBody>
                  <a:tcPr marL="70183" marR="70183" marT="35091" marB="35091" anchor="ctr"/>
                </a:tc>
                <a:extLst>
                  <a:ext uri="{0D108BD9-81ED-4DB2-BD59-A6C34878D82A}">
                    <a16:rowId xmlns:a16="http://schemas.microsoft.com/office/drawing/2014/main" val="3253348443"/>
                  </a:ext>
                </a:extLst>
              </a:tr>
            </a:tbl>
          </a:graphicData>
        </a:graphic>
      </p:graphicFrame>
      <p:sp>
        <p:nvSpPr>
          <p:cNvPr id="50" name="TextBox 49">
            <a:extLst>
              <a:ext uri="{FF2B5EF4-FFF2-40B4-BE49-F238E27FC236}">
                <a16:creationId xmlns:a16="http://schemas.microsoft.com/office/drawing/2014/main" id="{92A81134-A7D2-4FBF-83A7-F56A119B3072}"/>
              </a:ext>
            </a:extLst>
          </p:cNvPr>
          <p:cNvSpPr txBox="1"/>
          <p:nvPr/>
        </p:nvSpPr>
        <p:spPr>
          <a:xfrm>
            <a:off x="233422" y="1476844"/>
            <a:ext cx="11773577" cy="400110"/>
          </a:xfrm>
          <a:prstGeom prst="rect">
            <a:avLst/>
          </a:prstGeom>
          <a:noFill/>
        </p:spPr>
        <p:txBody>
          <a:bodyPr wrap="square">
            <a:spAutoFit/>
          </a:bodyPr>
          <a:lstStyle/>
          <a:p>
            <a:r>
              <a:rPr lang="en-US" sz="2000" b="1" dirty="0">
                <a:latin typeface="Montserrat Medium" pitchFamily="50" charset="0"/>
              </a:rPr>
              <a:t>Published Research Papers</a:t>
            </a:r>
          </a:p>
        </p:txBody>
      </p:sp>
      <p:pic>
        <p:nvPicPr>
          <p:cNvPr id="45" name="Picture 44">
            <a:extLst>
              <a:ext uri="{FF2B5EF4-FFF2-40B4-BE49-F238E27FC236}">
                <a16:creationId xmlns:a16="http://schemas.microsoft.com/office/drawing/2014/main" id="{4E6A48F7-990C-43B7-AA9C-64F2800BA8E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48" name="Rectangle 47">
            <a:extLst>
              <a:ext uri="{FF2B5EF4-FFF2-40B4-BE49-F238E27FC236}">
                <a16:creationId xmlns:a16="http://schemas.microsoft.com/office/drawing/2014/main" id="{71127513-68EC-4723-B5EC-78604BA13E18}"/>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3E098890-A9E5-4D50-AEA7-055555405F8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4B4F3F79-53B2-428C-BE34-818DB09506A5}"/>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E785C2D5-95DA-4963-9DB5-92B923AB3E6B}"/>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3" name="Rectangle 52">
            <a:extLst>
              <a:ext uri="{FF2B5EF4-FFF2-40B4-BE49-F238E27FC236}">
                <a16:creationId xmlns:a16="http://schemas.microsoft.com/office/drawing/2014/main" id="{CAF369A5-C753-4CEB-B1AC-EB62E0E51631}"/>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9D97074D-44C0-4D5B-99AF-44D0780106A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5" name="Picture 54">
            <a:extLst>
              <a:ext uri="{FF2B5EF4-FFF2-40B4-BE49-F238E27FC236}">
                <a16:creationId xmlns:a16="http://schemas.microsoft.com/office/drawing/2014/main" id="{A3DFAB6F-B998-4B21-A30F-DCE0D2A4BDE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6" name="Picture 55">
            <a:extLst>
              <a:ext uri="{FF2B5EF4-FFF2-40B4-BE49-F238E27FC236}">
                <a16:creationId xmlns:a16="http://schemas.microsoft.com/office/drawing/2014/main" id="{4E7C8E01-9905-4AE7-B178-2B99161358D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7" name="Picture 56">
            <a:extLst>
              <a:ext uri="{FF2B5EF4-FFF2-40B4-BE49-F238E27FC236}">
                <a16:creationId xmlns:a16="http://schemas.microsoft.com/office/drawing/2014/main" id="{0F57BBFF-934F-4D87-BF45-98478F4C869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8" name="Picture 57">
            <a:extLst>
              <a:ext uri="{FF2B5EF4-FFF2-40B4-BE49-F238E27FC236}">
                <a16:creationId xmlns:a16="http://schemas.microsoft.com/office/drawing/2014/main" id="{9E91DCF2-1682-4224-A9EB-75D32D2D80C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9" name="Rectangle 58">
            <a:extLst>
              <a:ext uri="{FF2B5EF4-FFF2-40B4-BE49-F238E27FC236}">
                <a16:creationId xmlns:a16="http://schemas.microsoft.com/office/drawing/2014/main" id="{7F9EC50F-42DC-4C7C-8E78-CC2C1EC48FFA}"/>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520AC41E-6E30-4446-BED0-46D37E4BBDE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1" name="Rectangle 60">
            <a:extLst>
              <a:ext uri="{FF2B5EF4-FFF2-40B4-BE49-F238E27FC236}">
                <a16:creationId xmlns:a16="http://schemas.microsoft.com/office/drawing/2014/main" id="{2D08190F-9C85-4AA8-A6C8-867EF1C52452}"/>
              </a:ext>
            </a:extLst>
          </p:cNvPr>
          <p:cNvSpPr/>
          <p:nvPr/>
        </p:nvSpPr>
        <p:spPr>
          <a:xfrm>
            <a:off x="3597593" y="96241"/>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C03094B0-88D9-4A7E-86F5-71CD5C17B6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06457EB8-36CB-466C-9A82-6D64F0B3A860}"/>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9435675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Synthesis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Limitations</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Perspectives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Conclusion</a:t>
            </a:r>
            <a:endParaRPr lang="en-US" sz="2000" dirty="0">
              <a:latin typeface="Montserrat" pitchFamily="2" charset="0"/>
            </a:endParaRPr>
          </a:p>
          <a:p>
            <a:pPr algn="ctr"/>
            <a:endParaRPr lang="en-US" sz="1200" dirty="0">
              <a:latin typeface="Montserrat" pitchFamily="2" charset="0"/>
            </a:endParaRPr>
          </a:p>
        </p:txBody>
      </p:sp>
      <p:sp>
        <p:nvSpPr>
          <p:cNvPr id="50" name="TextBox 49">
            <a:extLst>
              <a:ext uri="{FF2B5EF4-FFF2-40B4-BE49-F238E27FC236}">
                <a16:creationId xmlns:a16="http://schemas.microsoft.com/office/drawing/2014/main" id="{92A81134-A7D2-4FBF-83A7-F56A119B3072}"/>
              </a:ext>
            </a:extLst>
          </p:cNvPr>
          <p:cNvSpPr txBox="1"/>
          <p:nvPr/>
        </p:nvSpPr>
        <p:spPr>
          <a:xfrm>
            <a:off x="129299" y="1333186"/>
            <a:ext cx="11773577" cy="400110"/>
          </a:xfrm>
          <a:prstGeom prst="rect">
            <a:avLst/>
          </a:prstGeom>
          <a:noFill/>
        </p:spPr>
        <p:txBody>
          <a:bodyPr wrap="square">
            <a:spAutoFit/>
          </a:bodyPr>
          <a:lstStyle/>
          <a:p>
            <a:r>
              <a:rPr lang="en-US" sz="2000" b="1" dirty="0">
                <a:latin typeface="Montserrat Medium" pitchFamily="50" charset="0"/>
              </a:rPr>
              <a:t>Published Research Papers</a:t>
            </a:r>
          </a:p>
        </p:txBody>
      </p:sp>
      <p:graphicFrame>
        <p:nvGraphicFramePr>
          <p:cNvPr id="2" name="Table 1">
            <a:extLst>
              <a:ext uri="{FF2B5EF4-FFF2-40B4-BE49-F238E27FC236}">
                <a16:creationId xmlns:a16="http://schemas.microsoft.com/office/drawing/2014/main" id="{3FC20720-1439-4C8D-8E24-C10099567D04}"/>
              </a:ext>
            </a:extLst>
          </p:cNvPr>
          <p:cNvGraphicFramePr>
            <a:graphicFrameLocks noGrp="1"/>
          </p:cNvGraphicFramePr>
          <p:nvPr>
            <p:extLst>
              <p:ext uri="{D42A27DB-BD31-4B8C-83A1-F6EECF244321}">
                <p14:modId xmlns:p14="http://schemas.microsoft.com/office/powerpoint/2010/main" val="3070671013"/>
              </p:ext>
            </p:extLst>
          </p:nvPr>
        </p:nvGraphicFramePr>
        <p:xfrm>
          <a:off x="206045" y="1990832"/>
          <a:ext cx="11856656" cy="1645920"/>
        </p:xfrm>
        <a:graphic>
          <a:graphicData uri="http://schemas.openxmlformats.org/drawingml/2006/table">
            <a:tbl>
              <a:tblPr>
                <a:tableStyleId>{BC89EF96-8CEA-46FF-86C4-4CE0E7609802}</a:tableStyleId>
              </a:tblPr>
              <a:tblGrid>
                <a:gridCol w="621728">
                  <a:extLst>
                    <a:ext uri="{9D8B030D-6E8A-4147-A177-3AD203B41FA5}">
                      <a16:colId xmlns:a16="http://schemas.microsoft.com/office/drawing/2014/main" val="266630454"/>
                    </a:ext>
                  </a:extLst>
                </a:gridCol>
                <a:gridCol w="6314172">
                  <a:extLst>
                    <a:ext uri="{9D8B030D-6E8A-4147-A177-3AD203B41FA5}">
                      <a16:colId xmlns:a16="http://schemas.microsoft.com/office/drawing/2014/main" val="768430678"/>
                    </a:ext>
                  </a:extLst>
                </a:gridCol>
                <a:gridCol w="2521819">
                  <a:extLst>
                    <a:ext uri="{9D8B030D-6E8A-4147-A177-3AD203B41FA5}">
                      <a16:colId xmlns:a16="http://schemas.microsoft.com/office/drawing/2014/main" val="734972599"/>
                    </a:ext>
                  </a:extLst>
                </a:gridCol>
                <a:gridCol w="2398937">
                  <a:extLst>
                    <a:ext uri="{9D8B030D-6E8A-4147-A177-3AD203B41FA5}">
                      <a16:colId xmlns:a16="http://schemas.microsoft.com/office/drawing/2014/main" val="2637685324"/>
                    </a:ext>
                  </a:extLst>
                </a:gridCol>
              </a:tblGrid>
              <a:tr h="0">
                <a:tc>
                  <a:txBody>
                    <a:bodyPr/>
                    <a:lstStyle/>
                    <a:p>
                      <a:pPr algn="ctr"/>
                      <a:r>
                        <a:rPr lang="en-US">
                          <a:latin typeface="Montserrat Medium" pitchFamily="50" charset="0"/>
                        </a:rPr>
                        <a:t>No.</a:t>
                      </a:r>
                      <a:endParaRPr lang="en-US" i="0">
                        <a:latin typeface="Montserrat Medium" pitchFamily="50" charset="0"/>
                      </a:endParaRPr>
                    </a:p>
                  </a:txBody>
                  <a:tcPr anchor="ctr"/>
                </a:tc>
                <a:tc>
                  <a:txBody>
                    <a:bodyPr/>
                    <a:lstStyle/>
                    <a:p>
                      <a:pPr algn="ctr"/>
                      <a:r>
                        <a:rPr lang="en-US" dirty="0">
                          <a:latin typeface="Montserrat Medium" pitchFamily="50" charset="0"/>
                        </a:rPr>
                        <a:t>Title</a:t>
                      </a:r>
                      <a:endParaRPr lang="en-US" i="0" dirty="0">
                        <a:latin typeface="Montserrat Medium" pitchFamily="50" charset="0"/>
                      </a:endParaRPr>
                    </a:p>
                  </a:txBody>
                  <a:tcPr anchor="ctr"/>
                </a:tc>
                <a:tc>
                  <a:txBody>
                    <a:bodyPr/>
                    <a:lstStyle/>
                    <a:p>
                      <a:pPr algn="ctr"/>
                      <a:r>
                        <a:rPr lang="en-US" dirty="0">
                          <a:latin typeface="Montserrat Medium" pitchFamily="50" charset="0"/>
                        </a:rPr>
                        <a:t>Conference</a:t>
                      </a:r>
                      <a:endParaRPr lang="en-US" i="0" dirty="0">
                        <a:latin typeface="Montserrat Medium" pitchFamily="50" charset="0"/>
                      </a:endParaRPr>
                    </a:p>
                  </a:txBody>
                  <a:tcPr anchor="ctr"/>
                </a:tc>
                <a:tc>
                  <a:txBody>
                    <a:bodyPr/>
                    <a:lstStyle/>
                    <a:p>
                      <a:pPr algn="ctr"/>
                      <a:r>
                        <a:rPr lang="en-US" dirty="0">
                          <a:latin typeface="Montserrat Medium" pitchFamily="50" charset="0"/>
                        </a:rPr>
                        <a:t>Status</a:t>
                      </a:r>
                      <a:endParaRPr lang="en-US" i="0" dirty="0">
                        <a:latin typeface="Montserrat Medium" pitchFamily="50" charset="0"/>
                      </a:endParaRPr>
                    </a:p>
                  </a:txBody>
                  <a:tcPr anchor="ctr"/>
                </a:tc>
                <a:extLst>
                  <a:ext uri="{0D108BD9-81ED-4DB2-BD59-A6C34878D82A}">
                    <a16:rowId xmlns:a16="http://schemas.microsoft.com/office/drawing/2014/main" val="261454309"/>
                  </a:ext>
                </a:extLst>
              </a:tr>
              <a:tr h="0">
                <a:tc>
                  <a:txBody>
                    <a:bodyPr/>
                    <a:lstStyle/>
                    <a:p>
                      <a:pPr algn="ctr"/>
                      <a:r>
                        <a:rPr lang="en-US" b="1">
                          <a:latin typeface="Montserrat Medium" pitchFamily="50" charset="0"/>
                        </a:rPr>
                        <a:t>V</a:t>
                      </a:r>
                      <a:endParaRPr lang="en-US" i="0">
                        <a:latin typeface="Montserrat Medium" pitchFamily="50" charset="0"/>
                      </a:endParaRPr>
                    </a:p>
                  </a:txBody>
                  <a:tcPr anchor="ctr"/>
                </a:tc>
                <a:tc>
                  <a:txBody>
                    <a:bodyPr/>
                    <a:lstStyle/>
                    <a:p>
                      <a:r>
                        <a:rPr lang="en-US" dirty="0">
                          <a:latin typeface="Montserrat Medium" pitchFamily="50" charset="0"/>
                        </a:rPr>
                        <a:t>A Collaborative Filtering Movies Recommendation System based on Graph Neural Network</a:t>
                      </a:r>
                      <a:endParaRPr lang="en-US" i="0" dirty="0">
                        <a:latin typeface="Montserrat Medium" pitchFamily="50" charset="0"/>
                      </a:endParaRPr>
                    </a:p>
                  </a:txBody>
                  <a:tcPr anchor="ctr"/>
                </a:tc>
                <a:tc>
                  <a:txBody>
                    <a:bodyPr/>
                    <a:lstStyle/>
                    <a:p>
                      <a:r>
                        <a:rPr lang="en-US" dirty="0">
                          <a:latin typeface="Montserrat Medium" pitchFamily="50" charset="0"/>
                        </a:rPr>
                        <a:t>ANT / EDI40</a:t>
                      </a:r>
                      <a:endParaRPr lang="en-US" i="0" dirty="0">
                        <a:latin typeface="Montserrat Medium" pitchFamily="50" charset="0"/>
                      </a:endParaRPr>
                    </a:p>
                  </a:txBody>
                  <a:tcPr anchor="ctr"/>
                </a:tc>
                <a:tc>
                  <a:txBody>
                    <a:bodyPr/>
                    <a:lstStyle/>
                    <a:p>
                      <a:r>
                        <a:rPr lang="en-US">
                          <a:latin typeface="Montserrat Medium" pitchFamily="50" charset="0"/>
                        </a:rPr>
                        <a:t>Published, 2023</a:t>
                      </a:r>
                      <a:endParaRPr lang="en-US" i="0">
                        <a:latin typeface="Montserrat Medium" pitchFamily="50" charset="0"/>
                      </a:endParaRPr>
                    </a:p>
                  </a:txBody>
                  <a:tcPr anchor="ctr"/>
                </a:tc>
                <a:extLst>
                  <a:ext uri="{0D108BD9-81ED-4DB2-BD59-A6C34878D82A}">
                    <a16:rowId xmlns:a16="http://schemas.microsoft.com/office/drawing/2014/main" val="3961608413"/>
                  </a:ext>
                </a:extLst>
              </a:tr>
              <a:tr h="0">
                <a:tc>
                  <a:txBody>
                    <a:bodyPr/>
                    <a:lstStyle/>
                    <a:p>
                      <a:pPr algn="ctr"/>
                      <a:r>
                        <a:rPr lang="en-US" b="1" dirty="0">
                          <a:latin typeface="Montserrat Medium" pitchFamily="50" charset="0"/>
                        </a:rPr>
                        <a:t>VI</a:t>
                      </a:r>
                      <a:endParaRPr lang="en-US" i="0" dirty="0">
                        <a:latin typeface="Montserrat Medium" pitchFamily="50" charset="0"/>
                      </a:endParaRPr>
                    </a:p>
                  </a:txBody>
                  <a:tcPr anchor="ctr"/>
                </a:tc>
                <a:tc>
                  <a:txBody>
                    <a:bodyPr/>
                    <a:lstStyle/>
                    <a:p>
                      <a:r>
                        <a:rPr lang="en-US" dirty="0">
                          <a:latin typeface="Montserrat Medium" pitchFamily="50" charset="0"/>
                        </a:rPr>
                        <a:t>A Hybrid Machine Learning Method for Movies Recommendation</a:t>
                      </a:r>
                      <a:endParaRPr lang="en-US" i="0" dirty="0">
                        <a:latin typeface="Montserrat Medium" pitchFamily="50" charset="0"/>
                      </a:endParaRPr>
                    </a:p>
                  </a:txBody>
                  <a:tcPr anchor="ctr"/>
                </a:tc>
                <a:tc>
                  <a:txBody>
                    <a:bodyPr/>
                    <a:lstStyle/>
                    <a:p>
                      <a:r>
                        <a:rPr lang="en-US">
                          <a:latin typeface="Montserrat Medium" pitchFamily="50" charset="0"/>
                        </a:rPr>
                        <a:t>BDIoT</a:t>
                      </a:r>
                      <a:endParaRPr lang="en-US" i="0">
                        <a:latin typeface="Montserrat Medium" pitchFamily="50" charset="0"/>
                      </a:endParaRPr>
                    </a:p>
                  </a:txBody>
                  <a:tcPr anchor="ctr"/>
                </a:tc>
                <a:tc>
                  <a:txBody>
                    <a:bodyPr/>
                    <a:lstStyle/>
                    <a:p>
                      <a:r>
                        <a:rPr lang="en-US" dirty="0">
                          <a:latin typeface="Montserrat Medium" pitchFamily="50" charset="0"/>
                        </a:rPr>
                        <a:t>Published, 2022</a:t>
                      </a:r>
                      <a:endParaRPr lang="en-US" i="0" dirty="0">
                        <a:latin typeface="Montserrat Medium" pitchFamily="50" charset="0"/>
                      </a:endParaRPr>
                    </a:p>
                  </a:txBody>
                  <a:tcPr anchor="ctr"/>
                </a:tc>
                <a:extLst>
                  <a:ext uri="{0D108BD9-81ED-4DB2-BD59-A6C34878D82A}">
                    <a16:rowId xmlns:a16="http://schemas.microsoft.com/office/drawing/2014/main" val="3042424041"/>
                  </a:ext>
                </a:extLst>
              </a:tr>
            </a:tbl>
          </a:graphicData>
        </a:graphic>
      </p:graphicFrame>
      <p:pic>
        <p:nvPicPr>
          <p:cNvPr id="45" name="Picture 44">
            <a:extLst>
              <a:ext uri="{FF2B5EF4-FFF2-40B4-BE49-F238E27FC236}">
                <a16:creationId xmlns:a16="http://schemas.microsoft.com/office/drawing/2014/main" id="{BB5A5D52-86ED-4917-B78D-5968222B3AD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48" name="Rectangle 47">
            <a:extLst>
              <a:ext uri="{FF2B5EF4-FFF2-40B4-BE49-F238E27FC236}">
                <a16:creationId xmlns:a16="http://schemas.microsoft.com/office/drawing/2014/main" id="{658A0D92-3780-43DF-B4F4-22460FA4035D}"/>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3EE62D88-D461-4357-89F5-4CE5B974715A}"/>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7AF2CA9C-F719-41FF-8DF4-E6CE1874EB9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36CE1752-FCDB-4057-95AB-745B3A69B5D5}"/>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3" name="Rectangle 52">
            <a:extLst>
              <a:ext uri="{FF2B5EF4-FFF2-40B4-BE49-F238E27FC236}">
                <a16:creationId xmlns:a16="http://schemas.microsoft.com/office/drawing/2014/main" id="{736F8455-9E52-45A2-B7BF-05A529B8286D}"/>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57B76927-99EF-4918-9541-41E7C90D015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5" name="Picture 54">
            <a:extLst>
              <a:ext uri="{FF2B5EF4-FFF2-40B4-BE49-F238E27FC236}">
                <a16:creationId xmlns:a16="http://schemas.microsoft.com/office/drawing/2014/main" id="{5D209524-3B4C-4F38-8052-866C6F945B9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6" name="Picture 55">
            <a:extLst>
              <a:ext uri="{FF2B5EF4-FFF2-40B4-BE49-F238E27FC236}">
                <a16:creationId xmlns:a16="http://schemas.microsoft.com/office/drawing/2014/main" id="{62014F8E-6A13-4AAF-A163-250AA7C6FF7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7" name="Picture 56">
            <a:extLst>
              <a:ext uri="{FF2B5EF4-FFF2-40B4-BE49-F238E27FC236}">
                <a16:creationId xmlns:a16="http://schemas.microsoft.com/office/drawing/2014/main" id="{1541B0A7-D227-4483-AB4A-53450AE479B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8" name="Picture 57">
            <a:extLst>
              <a:ext uri="{FF2B5EF4-FFF2-40B4-BE49-F238E27FC236}">
                <a16:creationId xmlns:a16="http://schemas.microsoft.com/office/drawing/2014/main" id="{37250CA5-FEDD-435A-ABAF-E4598CB229D4}"/>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9" name="Rectangle 58">
            <a:extLst>
              <a:ext uri="{FF2B5EF4-FFF2-40B4-BE49-F238E27FC236}">
                <a16:creationId xmlns:a16="http://schemas.microsoft.com/office/drawing/2014/main" id="{71533522-DDD2-4D03-BB54-1A1756E93B42}"/>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0C21C27E-A6A4-4CEF-9176-98BF85A5390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1" name="Rectangle 60">
            <a:extLst>
              <a:ext uri="{FF2B5EF4-FFF2-40B4-BE49-F238E27FC236}">
                <a16:creationId xmlns:a16="http://schemas.microsoft.com/office/drawing/2014/main" id="{2E8D57FC-D562-4923-A6FF-E6F091375F3C}"/>
              </a:ext>
            </a:extLst>
          </p:cNvPr>
          <p:cNvSpPr/>
          <p:nvPr/>
        </p:nvSpPr>
        <p:spPr>
          <a:xfrm>
            <a:off x="3597593" y="96241"/>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31601B9C-14F8-4A81-A68C-0C2C9F5855A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7" name="Picture 26">
            <a:extLst>
              <a:ext uri="{FF2B5EF4-FFF2-40B4-BE49-F238E27FC236}">
                <a16:creationId xmlns:a16="http://schemas.microsoft.com/office/drawing/2014/main" id="{EB0DF604-0E2D-47DF-9BC8-BE4FB66D39F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19802530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Synthesis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Limitations</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Perspectives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Conclusion</a:t>
            </a:r>
            <a:endParaRPr lang="en-US" sz="2000" dirty="0">
              <a:latin typeface="Montserrat" pitchFamily="2" charset="0"/>
            </a:endParaRPr>
          </a:p>
          <a:p>
            <a:pPr algn="ctr"/>
            <a:endParaRPr lang="en-US" sz="1200" dirty="0">
              <a:latin typeface="Montserrat" pitchFamily="2" charset="0"/>
            </a:endParaRPr>
          </a:p>
        </p:txBody>
      </p:sp>
      <p:sp>
        <p:nvSpPr>
          <p:cNvPr id="27" name="TextBox 26">
            <a:extLst>
              <a:ext uri="{FF2B5EF4-FFF2-40B4-BE49-F238E27FC236}">
                <a16:creationId xmlns:a16="http://schemas.microsoft.com/office/drawing/2014/main" id="{30548FC1-F984-4EA3-B5A2-602067374691}"/>
              </a:ext>
            </a:extLst>
          </p:cNvPr>
          <p:cNvSpPr txBox="1"/>
          <p:nvPr/>
        </p:nvSpPr>
        <p:spPr>
          <a:xfrm>
            <a:off x="233422" y="1345726"/>
            <a:ext cx="11985953" cy="4801314"/>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Medium" pitchFamily="50" charset="0"/>
              </a:rPr>
              <a:t>Limited domain evaluation: Experiments were conducted on benchmark datasets (</a:t>
            </a:r>
            <a:r>
              <a:rPr lang="en-US" dirty="0" err="1">
                <a:latin typeface="Montserrat Medium" pitchFamily="50" charset="0"/>
              </a:rPr>
              <a:t>MovieLens</a:t>
            </a:r>
            <a:r>
              <a:rPr lang="en-US" dirty="0">
                <a:latin typeface="Montserrat Medium" pitchFamily="50" charset="0"/>
              </a:rPr>
              <a:t> and Amazon) validation on additional real-world domains remains necessary.</a:t>
            </a:r>
          </a:p>
          <a:p>
            <a:endParaRPr lang="en-US" dirty="0">
              <a:latin typeface="Montserrat Medium" pitchFamily="50" charset="0"/>
            </a:endParaRPr>
          </a:p>
          <a:p>
            <a:pPr marL="285750" indent="-285750">
              <a:buFont typeface="Arial" panose="020B0604020202020204" pitchFamily="34" charset="0"/>
              <a:buChar char="•"/>
            </a:pPr>
            <a:r>
              <a:rPr lang="en-US" dirty="0">
                <a:latin typeface="Montserrat Medium" pitchFamily="50" charset="0"/>
              </a:rPr>
              <a:t>Scalability of Shapley-based explanations: Although optimized, computing Shapley values remains computationally expensive for very large-scale recommender systems.</a:t>
            </a:r>
          </a:p>
          <a:p>
            <a:pPr marL="285750" indent="-285750">
              <a:buFont typeface="Arial" panose="020B0604020202020204" pitchFamily="34" charset="0"/>
              <a:buChar char="•"/>
            </a:pPr>
            <a:endParaRPr lang="en-US" dirty="0">
              <a:latin typeface="Montserrat Medium" pitchFamily="50" charset="0"/>
            </a:endParaRPr>
          </a:p>
          <a:p>
            <a:pPr marL="285750" indent="-285750">
              <a:buFont typeface="Arial" panose="020B0604020202020204" pitchFamily="34" charset="0"/>
              <a:buChar char="•"/>
            </a:pPr>
            <a:r>
              <a:rPr lang="en-US" dirty="0">
                <a:latin typeface="Montserrat Medium" pitchFamily="50" charset="0"/>
              </a:rPr>
              <a:t>Static graph assumption: The proposed models operate on static interaction graphs and do not explicitly model continuously evolving user–item relationships.</a:t>
            </a:r>
          </a:p>
          <a:p>
            <a:pPr marL="285750" indent="-285750">
              <a:buFont typeface="Arial" panose="020B0604020202020204" pitchFamily="34" charset="0"/>
              <a:buChar char="•"/>
            </a:pPr>
            <a:endParaRPr lang="en-US" dirty="0">
              <a:latin typeface="Montserrat Medium" pitchFamily="50" charset="0"/>
            </a:endParaRPr>
          </a:p>
          <a:p>
            <a:pPr marL="285750" indent="-285750">
              <a:buFont typeface="Arial" panose="020B0604020202020204" pitchFamily="34" charset="0"/>
              <a:buChar char="•"/>
            </a:pPr>
            <a:r>
              <a:rPr lang="en-US" dirty="0">
                <a:latin typeface="Montserrat Medium" pitchFamily="50" charset="0"/>
              </a:rPr>
              <a:t>Limited multimodal information: The framework primarily exploits user–item interaction data, without integrating textual, visual, or knowledge graph information.</a:t>
            </a:r>
          </a:p>
          <a:p>
            <a:pPr marL="285750" indent="-285750">
              <a:buFont typeface="Arial" panose="020B0604020202020204" pitchFamily="34" charset="0"/>
              <a:buChar char="•"/>
            </a:pPr>
            <a:endParaRPr lang="en-US" dirty="0">
              <a:latin typeface="Montserrat Medium" pitchFamily="50" charset="0"/>
            </a:endParaRPr>
          </a:p>
          <a:p>
            <a:pPr marL="285750" indent="-285750">
              <a:buFont typeface="Arial" panose="020B0604020202020204" pitchFamily="34" charset="0"/>
              <a:buChar char="•"/>
            </a:pPr>
            <a:r>
              <a:rPr lang="en-US" dirty="0">
                <a:latin typeface="Montserrat Medium" pitchFamily="50" charset="0"/>
              </a:rPr>
              <a:t>Hyperbolic architecture scope: The hyperbolic approach was evaluated on a specific HGNN architecture; its generalization to other graph neural network models remains to be investigated.</a:t>
            </a:r>
          </a:p>
          <a:p>
            <a:pPr marL="285750" indent="-285750">
              <a:buFont typeface="Arial" panose="020B0604020202020204" pitchFamily="34" charset="0"/>
              <a:buChar char="•"/>
            </a:pPr>
            <a:endParaRPr lang="en-US" dirty="0">
              <a:latin typeface="Montserrat Medium" pitchFamily="50" charset="0"/>
            </a:endParaRPr>
          </a:p>
          <a:p>
            <a:pPr marL="285750" indent="-285750">
              <a:buFont typeface="Arial" panose="020B0604020202020204" pitchFamily="34" charset="0"/>
              <a:buChar char="•"/>
            </a:pPr>
            <a:r>
              <a:rPr lang="en-US" dirty="0">
                <a:latin typeface="Montserrat Medium" pitchFamily="50" charset="0"/>
              </a:rPr>
              <a:t>Offline evaluation: Performance was assessed through offline experiments and user studies, without validation in an online production environment (e.g., A/B testing).</a:t>
            </a:r>
          </a:p>
        </p:txBody>
      </p:sp>
      <p:sp>
        <p:nvSpPr>
          <p:cNvPr id="48" name="Rectangle 47">
            <a:extLst>
              <a:ext uri="{FF2B5EF4-FFF2-40B4-BE49-F238E27FC236}">
                <a16:creationId xmlns:a16="http://schemas.microsoft.com/office/drawing/2014/main" id="{F4AAA5C8-E232-436C-A7F7-8B0CA5597219}"/>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27095425-6586-4694-BF90-BEFB15184C8D}"/>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3C7D74B9-C91C-41D6-8B0D-584925D103D6}"/>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C38335C2-E383-4621-A5A9-52DA87CAC957}"/>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4CCB6A50-89F2-472F-AE26-F3A83FD50F67}"/>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3" name="Picture 52">
            <a:extLst>
              <a:ext uri="{FF2B5EF4-FFF2-40B4-BE49-F238E27FC236}">
                <a16:creationId xmlns:a16="http://schemas.microsoft.com/office/drawing/2014/main" id="{05960E0A-5D85-432E-AA86-BD4E047065D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4" name="Picture 53">
            <a:extLst>
              <a:ext uri="{FF2B5EF4-FFF2-40B4-BE49-F238E27FC236}">
                <a16:creationId xmlns:a16="http://schemas.microsoft.com/office/drawing/2014/main" id="{51BBD2BF-DDAB-4E77-8FC2-CA83CA214EE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5" name="Picture 54">
            <a:extLst>
              <a:ext uri="{FF2B5EF4-FFF2-40B4-BE49-F238E27FC236}">
                <a16:creationId xmlns:a16="http://schemas.microsoft.com/office/drawing/2014/main" id="{428DD992-3365-41AD-87C4-9BAAA52B8ED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6" name="Picture 55">
            <a:extLst>
              <a:ext uri="{FF2B5EF4-FFF2-40B4-BE49-F238E27FC236}">
                <a16:creationId xmlns:a16="http://schemas.microsoft.com/office/drawing/2014/main" id="{8AF5B9A6-98CB-4222-B9F7-0A1ADC0DE7C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7" name="Picture 56">
            <a:extLst>
              <a:ext uri="{FF2B5EF4-FFF2-40B4-BE49-F238E27FC236}">
                <a16:creationId xmlns:a16="http://schemas.microsoft.com/office/drawing/2014/main" id="{48A5EF72-AF97-4284-918B-0D8DB7C63DE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8" name="Rectangle 57">
            <a:extLst>
              <a:ext uri="{FF2B5EF4-FFF2-40B4-BE49-F238E27FC236}">
                <a16:creationId xmlns:a16="http://schemas.microsoft.com/office/drawing/2014/main" id="{F4E70BD7-0AE7-46D1-9BBF-35E3DE91B59F}"/>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9" name="Picture 58">
            <a:extLst>
              <a:ext uri="{FF2B5EF4-FFF2-40B4-BE49-F238E27FC236}">
                <a16:creationId xmlns:a16="http://schemas.microsoft.com/office/drawing/2014/main" id="{AD56AF66-BBDE-4040-B43B-7A659C41C42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0" name="Rectangle 59">
            <a:extLst>
              <a:ext uri="{FF2B5EF4-FFF2-40B4-BE49-F238E27FC236}">
                <a16:creationId xmlns:a16="http://schemas.microsoft.com/office/drawing/2014/main" id="{72ECD897-BBEC-4462-A7DB-E53D6AB16010}"/>
              </a:ext>
            </a:extLst>
          </p:cNvPr>
          <p:cNvSpPr/>
          <p:nvPr/>
        </p:nvSpPr>
        <p:spPr>
          <a:xfrm>
            <a:off x="3597593" y="96241"/>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4FB97DE1-4B70-4508-B890-24E5942DFB4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29" name="Picture 28">
            <a:extLst>
              <a:ext uri="{FF2B5EF4-FFF2-40B4-BE49-F238E27FC236}">
                <a16:creationId xmlns:a16="http://schemas.microsoft.com/office/drawing/2014/main" id="{769C635B-BBB2-4342-A623-CA38870340C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2" name="Picture 31">
            <a:extLst>
              <a:ext uri="{FF2B5EF4-FFF2-40B4-BE49-F238E27FC236}">
                <a16:creationId xmlns:a16="http://schemas.microsoft.com/office/drawing/2014/main" id="{7C3D212C-D629-46A2-9F35-EFAAAA72E30D}"/>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spTree>
    <p:extLst>
      <p:ext uri="{BB962C8B-B14F-4D97-AF65-F5344CB8AC3E}">
        <p14:creationId xmlns:p14="http://schemas.microsoft.com/office/powerpoint/2010/main" val="2512237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Synthesis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Limitations</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Perspectives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Conclusion</a:t>
            </a:r>
            <a:endParaRPr lang="en-US" sz="2000" dirty="0">
              <a:latin typeface="Montserrat" pitchFamily="2" charset="0"/>
            </a:endParaRPr>
          </a:p>
          <a:p>
            <a:pPr algn="ctr"/>
            <a:endParaRPr lang="en-US" sz="1200" dirty="0">
              <a:latin typeface="Montserrat" pitchFamily="2" charset="0"/>
            </a:endParaRPr>
          </a:p>
        </p:txBody>
      </p:sp>
      <p:sp>
        <p:nvSpPr>
          <p:cNvPr id="26" name="TextBox 25">
            <a:extLst>
              <a:ext uri="{FF2B5EF4-FFF2-40B4-BE49-F238E27FC236}">
                <a16:creationId xmlns:a16="http://schemas.microsoft.com/office/drawing/2014/main" id="{A2C520BD-8035-4626-82DE-5097D81BC166}"/>
              </a:ext>
            </a:extLst>
          </p:cNvPr>
          <p:cNvSpPr txBox="1"/>
          <p:nvPr/>
        </p:nvSpPr>
        <p:spPr>
          <a:xfrm>
            <a:off x="156196" y="1484225"/>
            <a:ext cx="11879607" cy="4524315"/>
          </a:xfrm>
          <a:prstGeom prst="rect">
            <a:avLst/>
          </a:prstGeom>
          <a:noFill/>
        </p:spPr>
        <p:txBody>
          <a:bodyPr wrap="square">
            <a:spAutoFit/>
          </a:bodyPr>
          <a:lstStyle/>
          <a:p>
            <a:pPr marL="285750" indent="-285750" algn="just">
              <a:buFont typeface="Wingdings" panose="05000000000000000000" pitchFamily="2" charset="2"/>
              <a:buChar char="§"/>
            </a:pPr>
            <a:r>
              <a:rPr lang="en-US" dirty="0">
                <a:latin typeface="Montserrat Medium" pitchFamily="50" charset="0"/>
              </a:rPr>
              <a:t>Dynamic Graph Recommender Systems: Extend the proposed framework to temporal and continuously evolving user–item interaction graphs.</a:t>
            </a:r>
          </a:p>
          <a:p>
            <a:pPr algn="just"/>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Scalable Explainable Recommendation: Develop efficient approximations of Shapley values to support real-time explanations in large-scale recommender systems.</a:t>
            </a:r>
          </a:p>
          <a:p>
            <a:pPr algn="just"/>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Multimodal Recommendation: Integrate textual, visual, and knowledge graph information to improve both recommendation accuracy and explanation quality.</a:t>
            </a:r>
          </a:p>
          <a:p>
            <a:pPr algn="just"/>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Advanced Hyperbolic Graph Learning: Investigate more expressive hyperbolic architectures (e.g., Hyperbolic Graph Transformers) and mixed-curvature embedding spaces for complex hierarchical data.</a:t>
            </a:r>
          </a:p>
          <a:p>
            <a:pPr algn="just"/>
            <a:endParaRPr lang="en-US" dirty="0">
              <a:latin typeface="Montserrat Medium" pitchFamily="50" charset="0"/>
            </a:endParaRPr>
          </a:p>
          <a:p>
            <a:pPr marL="285750" indent="-285750" algn="just">
              <a:buFont typeface="Wingdings" panose="05000000000000000000" pitchFamily="2" charset="2"/>
              <a:buChar char="§"/>
            </a:pPr>
            <a:r>
              <a:rPr lang="en-US" dirty="0">
                <a:latin typeface="Montserrat Medium" pitchFamily="50" charset="0"/>
              </a:rPr>
              <a:t>Online and Real-World Deployment: Validate the proposed methods through online A/B testing and deployment in industrial recommender systems to assess long-term user satisfaction, trust, and business impact.</a:t>
            </a:r>
          </a:p>
        </p:txBody>
      </p:sp>
      <p:sp>
        <p:nvSpPr>
          <p:cNvPr id="48" name="Rectangle 47">
            <a:extLst>
              <a:ext uri="{FF2B5EF4-FFF2-40B4-BE49-F238E27FC236}">
                <a16:creationId xmlns:a16="http://schemas.microsoft.com/office/drawing/2014/main" id="{D97E1D80-9BE8-42F4-9D62-2E2998513964}"/>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9" name="Rectangle 48">
            <a:extLst>
              <a:ext uri="{FF2B5EF4-FFF2-40B4-BE49-F238E27FC236}">
                <a16:creationId xmlns:a16="http://schemas.microsoft.com/office/drawing/2014/main" id="{AC8C897B-FE06-42CF-A95C-3A394F491691}"/>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116764AE-A0A4-4C55-AF4C-5280EE257BF0}"/>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DF22BA75-36DB-49A2-8576-B90F8009EF9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7AA6872B-CEDE-4D69-8E24-AB73E9F5CE2F}"/>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3" name="Picture 52">
            <a:extLst>
              <a:ext uri="{FF2B5EF4-FFF2-40B4-BE49-F238E27FC236}">
                <a16:creationId xmlns:a16="http://schemas.microsoft.com/office/drawing/2014/main" id="{9849BCC5-D263-4929-B6F6-64D0427C5CE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4" name="Picture 53">
            <a:extLst>
              <a:ext uri="{FF2B5EF4-FFF2-40B4-BE49-F238E27FC236}">
                <a16:creationId xmlns:a16="http://schemas.microsoft.com/office/drawing/2014/main" id="{A5E59D88-F8BB-457A-A6F1-7D4B6E6682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5" name="Picture 54">
            <a:extLst>
              <a:ext uri="{FF2B5EF4-FFF2-40B4-BE49-F238E27FC236}">
                <a16:creationId xmlns:a16="http://schemas.microsoft.com/office/drawing/2014/main" id="{BEAD090A-C299-45FD-B377-BD2B12CE564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6" name="Picture 55">
            <a:extLst>
              <a:ext uri="{FF2B5EF4-FFF2-40B4-BE49-F238E27FC236}">
                <a16:creationId xmlns:a16="http://schemas.microsoft.com/office/drawing/2014/main" id="{4C7FF143-1B3F-4A1F-B306-2EADCB78B0D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7" name="Picture 56">
            <a:extLst>
              <a:ext uri="{FF2B5EF4-FFF2-40B4-BE49-F238E27FC236}">
                <a16:creationId xmlns:a16="http://schemas.microsoft.com/office/drawing/2014/main" id="{8ED421C7-4197-4E40-A685-BB3520B1FE2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8" name="Rectangle 57">
            <a:extLst>
              <a:ext uri="{FF2B5EF4-FFF2-40B4-BE49-F238E27FC236}">
                <a16:creationId xmlns:a16="http://schemas.microsoft.com/office/drawing/2014/main" id="{44A00083-2237-487C-9141-30828CE014F4}"/>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9" name="Picture 58">
            <a:extLst>
              <a:ext uri="{FF2B5EF4-FFF2-40B4-BE49-F238E27FC236}">
                <a16:creationId xmlns:a16="http://schemas.microsoft.com/office/drawing/2014/main" id="{F50B1978-8E5F-4B0A-8167-B4ECBB0A6EE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0" name="Rectangle 59">
            <a:extLst>
              <a:ext uri="{FF2B5EF4-FFF2-40B4-BE49-F238E27FC236}">
                <a16:creationId xmlns:a16="http://schemas.microsoft.com/office/drawing/2014/main" id="{95C98314-11B1-43DE-A084-9F010FB1D209}"/>
              </a:ext>
            </a:extLst>
          </p:cNvPr>
          <p:cNvSpPr/>
          <p:nvPr/>
        </p:nvSpPr>
        <p:spPr>
          <a:xfrm>
            <a:off x="3597593" y="96241"/>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1" name="Picture 60">
            <a:extLst>
              <a:ext uri="{FF2B5EF4-FFF2-40B4-BE49-F238E27FC236}">
                <a16:creationId xmlns:a16="http://schemas.microsoft.com/office/drawing/2014/main" id="{59224E7F-412D-448D-A53C-3E4EAB8DF53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30" name="Picture 29">
            <a:extLst>
              <a:ext uri="{FF2B5EF4-FFF2-40B4-BE49-F238E27FC236}">
                <a16:creationId xmlns:a16="http://schemas.microsoft.com/office/drawing/2014/main" id="{4C2E4369-AA9B-4DDA-BB28-5C77D634A59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32" name="Picture 31">
            <a:extLst>
              <a:ext uri="{FF2B5EF4-FFF2-40B4-BE49-F238E27FC236}">
                <a16:creationId xmlns:a16="http://schemas.microsoft.com/office/drawing/2014/main" id="{E16E2B4D-DA44-463E-93CA-F7D051E2448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Tree>
    <p:extLst>
      <p:ext uri="{BB962C8B-B14F-4D97-AF65-F5344CB8AC3E}">
        <p14:creationId xmlns:p14="http://schemas.microsoft.com/office/powerpoint/2010/main" val="32391701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Synthesis</a:t>
            </a:r>
            <a:endParaRPr lang="en-US" sz="2000" dirty="0">
              <a:latin typeface="Montserrat" pitchFamily="2" charset="0"/>
            </a:endParaRPr>
          </a:p>
          <a:p>
            <a:pPr algn="ctr"/>
            <a:endParaRPr lang="en-US" sz="1200" dirty="0">
              <a:latin typeface="Montserrat" pitchFamily="2" charset="0"/>
            </a:endParaRP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Limitations</a:t>
            </a:r>
            <a:endParaRPr lang="en-US" sz="2000" dirty="0">
              <a:latin typeface="Montserrat" pitchFamily="2" charset="0"/>
            </a:endParaRPr>
          </a:p>
          <a:p>
            <a:pPr algn="ctr"/>
            <a:endParaRPr lang="en-US" sz="1200" dirty="0">
              <a:latin typeface="Montserrat" pitchFamily="2" charset="0"/>
            </a:endParaRP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Perspectives</a:t>
            </a:r>
            <a:endParaRPr lang="en-US" sz="2000" dirty="0">
              <a:latin typeface="Montserrat" pitchFamily="2" charset="0"/>
            </a:endParaRPr>
          </a:p>
          <a:p>
            <a:pPr algn="ctr"/>
            <a:endParaRPr lang="en-US" sz="1200" dirty="0">
              <a:latin typeface="Montserrat" pitchFamily="2" charset="0"/>
            </a:endParaRP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sz="2000" dirty="0">
                <a:latin typeface="Montserrat" pitchFamily="2" charset="0"/>
                <a:cs typeface="Times New Roman" panose="02020603050405020304" pitchFamily="18" charset="0"/>
              </a:rPr>
              <a:t>Conclusion</a:t>
            </a:r>
            <a:endParaRPr lang="en-US" sz="2000" dirty="0">
              <a:latin typeface="Montserrat" pitchFamily="2" charset="0"/>
            </a:endParaRPr>
          </a:p>
          <a:p>
            <a:pPr algn="ctr"/>
            <a:endParaRPr lang="en-US" sz="1200" dirty="0">
              <a:latin typeface="Montserrat" pitchFamily="2" charset="0"/>
            </a:endParaRPr>
          </a:p>
        </p:txBody>
      </p:sp>
      <p:graphicFrame>
        <p:nvGraphicFramePr>
          <p:cNvPr id="26" name="Table 7">
            <a:extLst>
              <a:ext uri="{FF2B5EF4-FFF2-40B4-BE49-F238E27FC236}">
                <a16:creationId xmlns:a16="http://schemas.microsoft.com/office/drawing/2014/main" id="{399B0544-6A98-4C2F-969C-ACDFDE8CE136}"/>
              </a:ext>
            </a:extLst>
          </p:cNvPr>
          <p:cNvGraphicFramePr>
            <a:graphicFrameLocks noGrp="1"/>
          </p:cNvGraphicFramePr>
          <p:nvPr>
            <p:extLst>
              <p:ext uri="{D42A27DB-BD31-4B8C-83A1-F6EECF244321}">
                <p14:modId xmlns:p14="http://schemas.microsoft.com/office/powerpoint/2010/main" val="3706722091"/>
              </p:ext>
            </p:extLst>
          </p:nvPr>
        </p:nvGraphicFramePr>
        <p:xfrm>
          <a:off x="206046" y="1457135"/>
          <a:ext cx="11906983" cy="1280160"/>
        </p:xfrm>
        <a:graphic>
          <a:graphicData uri="http://schemas.openxmlformats.org/drawingml/2006/table">
            <a:tbl>
              <a:tblPr firstRow="1" bandRow="1">
                <a:tableStyleId>{21E4AEA4-8DFA-4A89-87EB-49C32662AFE0}</a:tableStyleId>
              </a:tblPr>
              <a:tblGrid>
                <a:gridCol w="11906983">
                  <a:extLst>
                    <a:ext uri="{9D8B030D-6E8A-4147-A177-3AD203B41FA5}">
                      <a16:colId xmlns:a16="http://schemas.microsoft.com/office/drawing/2014/main" val="1386659453"/>
                    </a:ext>
                  </a:extLst>
                </a:gridCol>
              </a:tblGrid>
              <a:tr h="2569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ontserrat Medium" pitchFamily="50" charset="0"/>
                        </a:rPr>
                        <a:t>Thesis Answer</a:t>
                      </a:r>
                      <a:endParaRPr lang="en-US" sz="1800" dirty="0">
                        <a:latin typeface="Montserrat Medium" pitchFamily="50" charset="0"/>
                      </a:endParaRPr>
                    </a:p>
                  </a:txBody>
                  <a:tcPr>
                    <a:solidFill>
                      <a:schemeClr val="accent6">
                        <a:lumMod val="75000"/>
                      </a:schemeClr>
                    </a:solidFill>
                  </a:tcPr>
                </a:tc>
                <a:extLst>
                  <a:ext uri="{0D108BD9-81ED-4DB2-BD59-A6C34878D82A}">
                    <a16:rowId xmlns:a16="http://schemas.microsoft.com/office/drawing/2014/main" val="2958281240"/>
                  </a:ext>
                </a:extLst>
              </a:tr>
              <a:tr h="567896">
                <a:tc>
                  <a:txBody>
                    <a:bodyPr/>
                    <a:lstStyle/>
                    <a:p>
                      <a:pPr algn="just"/>
                      <a:r>
                        <a:rPr lang="en-US" dirty="0">
                          <a:latin typeface="Montserrat Medium" pitchFamily="50" charset="0"/>
                        </a:rPr>
                        <a:t>This thesis demonstrates that </a:t>
                      </a:r>
                      <a:r>
                        <a:rPr lang="en-US" dirty="0" err="1">
                          <a:latin typeface="Montserrat Medium" pitchFamily="50" charset="0"/>
                        </a:rPr>
                        <a:t>explainability</a:t>
                      </a:r>
                      <a:r>
                        <a:rPr lang="en-US" dirty="0">
                          <a:latin typeface="Montserrat Medium" pitchFamily="50" charset="0"/>
                        </a:rPr>
                        <a:t> should not be considered only as a post-hoc interpretation tool, but as a fundamental component for building accurate, adaptive, and trustworthy graph-based recommender systems.</a:t>
                      </a:r>
                    </a:p>
                  </a:txBody>
                  <a:tcPr>
                    <a:solidFill>
                      <a:schemeClr val="accent6">
                        <a:lumMod val="40000"/>
                        <a:lumOff val="60000"/>
                      </a:schemeClr>
                    </a:solidFill>
                  </a:tcPr>
                </a:tc>
                <a:extLst>
                  <a:ext uri="{0D108BD9-81ED-4DB2-BD59-A6C34878D82A}">
                    <a16:rowId xmlns:a16="http://schemas.microsoft.com/office/drawing/2014/main" val="2059531609"/>
                  </a:ext>
                </a:extLst>
              </a:tr>
            </a:tbl>
          </a:graphicData>
        </a:graphic>
      </p:graphicFrame>
      <p:sp>
        <p:nvSpPr>
          <p:cNvPr id="27" name="TextBox 26">
            <a:extLst>
              <a:ext uri="{FF2B5EF4-FFF2-40B4-BE49-F238E27FC236}">
                <a16:creationId xmlns:a16="http://schemas.microsoft.com/office/drawing/2014/main" id="{87434CBB-8601-4DF3-B42A-E575A177F336}"/>
              </a:ext>
            </a:extLst>
          </p:cNvPr>
          <p:cNvSpPr txBox="1"/>
          <p:nvPr/>
        </p:nvSpPr>
        <p:spPr>
          <a:xfrm>
            <a:off x="129299" y="3054480"/>
            <a:ext cx="11773577" cy="2954655"/>
          </a:xfrm>
          <a:prstGeom prst="rect">
            <a:avLst/>
          </a:prstGeom>
          <a:noFill/>
        </p:spPr>
        <p:txBody>
          <a:bodyPr wrap="square">
            <a:spAutoFit/>
          </a:bodyPr>
          <a:lstStyle/>
          <a:p>
            <a:r>
              <a:rPr lang="en-US" sz="2000" b="1" dirty="0">
                <a:latin typeface="Montserrat Medium" pitchFamily="50" charset="0"/>
              </a:rPr>
              <a:t>Key Outcomes</a:t>
            </a:r>
          </a:p>
          <a:p>
            <a:endParaRPr lang="en-US" dirty="0">
              <a:latin typeface="Montserrat Medium" pitchFamily="50" charset="0"/>
            </a:endParaRPr>
          </a:p>
          <a:p>
            <a:pPr marL="285750" indent="-285750">
              <a:buFont typeface="Wingdings" panose="05000000000000000000" pitchFamily="2" charset="2"/>
              <a:buChar char="§"/>
            </a:pPr>
            <a:r>
              <a:rPr lang="en-US" dirty="0">
                <a:latin typeface="Montserrat Medium" pitchFamily="50" charset="0"/>
              </a:rPr>
              <a:t>Unified framework combining GNNs, Shapley values, adaptive inference, and hyperbolic geometry.</a:t>
            </a:r>
          </a:p>
          <a:p>
            <a:pPr marL="285750" indent="-285750">
              <a:buFont typeface="Wingdings" panose="05000000000000000000" pitchFamily="2" charset="2"/>
              <a:buChar char="§"/>
            </a:pPr>
            <a:r>
              <a:rPr lang="en-US" dirty="0">
                <a:latin typeface="Montserrat Medium" pitchFamily="50" charset="0"/>
              </a:rPr>
              <a:t>Interpretable recommendations based on interaction-level contribution analysis.</a:t>
            </a:r>
          </a:p>
          <a:p>
            <a:pPr marL="285750" indent="-285750">
              <a:buFont typeface="Wingdings" panose="05000000000000000000" pitchFamily="2" charset="2"/>
              <a:buChar char="§"/>
            </a:pPr>
            <a:r>
              <a:rPr lang="en-US" dirty="0">
                <a:latin typeface="Montserrat Medium" pitchFamily="50" charset="0"/>
              </a:rPr>
              <a:t>Adaptive personalization through contribution-aware reweighting.</a:t>
            </a:r>
          </a:p>
          <a:p>
            <a:pPr marL="285750" indent="-285750">
              <a:buFont typeface="Wingdings" panose="05000000000000000000" pitchFamily="2" charset="2"/>
              <a:buChar char="§"/>
            </a:pPr>
            <a:r>
              <a:rPr lang="en-US" dirty="0">
                <a:latin typeface="Montserrat Medium" pitchFamily="50" charset="0"/>
              </a:rPr>
              <a:t>Improved hierarchical modeling with hyperbolic graph neural networks.</a:t>
            </a:r>
          </a:p>
          <a:p>
            <a:pPr marL="285750" indent="-285750">
              <a:buFont typeface="Wingdings" panose="05000000000000000000" pitchFamily="2" charset="2"/>
              <a:buChar char="§"/>
            </a:pPr>
            <a:r>
              <a:rPr lang="en-US" dirty="0">
                <a:latin typeface="Montserrat Medium" pitchFamily="50" charset="0"/>
              </a:rPr>
              <a:t>Validated performance on </a:t>
            </a:r>
            <a:r>
              <a:rPr lang="en-US" dirty="0" err="1">
                <a:latin typeface="Montserrat Medium" pitchFamily="50" charset="0"/>
              </a:rPr>
              <a:t>MovieLens</a:t>
            </a:r>
            <a:r>
              <a:rPr lang="en-US" dirty="0">
                <a:latin typeface="Montserrat Medium" pitchFamily="50" charset="0"/>
              </a:rPr>
              <a:t> and Amazon datasets.</a:t>
            </a:r>
          </a:p>
          <a:p>
            <a:pPr algn="just"/>
            <a:br>
              <a:rPr lang="en-US" sz="2000" b="0" dirty="0">
                <a:solidFill>
                  <a:srgbClr val="BBBEBF"/>
                </a:solidFill>
                <a:effectLst/>
                <a:latin typeface="Consolas" panose="020B0609020204030204" pitchFamily="49" charset="0"/>
              </a:rPr>
            </a:br>
            <a:endParaRPr lang="en-US" sz="2000" b="0" dirty="0">
              <a:solidFill>
                <a:srgbClr val="BBBEBF"/>
              </a:solidFill>
              <a:effectLst/>
              <a:latin typeface="Consolas" panose="020B0609020204030204" pitchFamily="49" charset="0"/>
            </a:endParaRPr>
          </a:p>
        </p:txBody>
      </p:sp>
      <p:sp>
        <p:nvSpPr>
          <p:cNvPr id="49" name="Rectangle 48">
            <a:extLst>
              <a:ext uri="{FF2B5EF4-FFF2-40B4-BE49-F238E27FC236}">
                <a16:creationId xmlns:a16="http://schemas.microsoft.com/office/drawing/2014/main" id="{B96C9B99-FE96-4B26-88EA-C94BF06EA119}"/>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0" name="Rectangle 49">
            <a:extLst>
              <a:ext uri="{FF2B5EF4-FFF2-40B4-BE49-F238E27FC236}">
                <a16:creationId xmlns:a16="http://schemas.microsoft.com/office/drawing/2014/main" id="{03D3594F-213F-4F8E-99C6-50C8BF19A0DD}"/>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F6989778-4882-4FCC-8C6A-E71FC8138BFD}"/>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2" name="Rectangle 51">
            <a:extLst>
              <a:ext uri="{FF2B5EF4-FFF2-40B4-BE49-F238E27FC236}">
                <a16:creationId xmlns:a16="http://schemas.microsoft.com/office/drawing/2014/main" id="{BA7F342D-3823-445A-88A0-120F92172118}"/>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3" name="Rectangle 52">
            <a:extLst>
              <a:ext uri="{FF2B5EF4-FFF2-40B4-BE49-F238E27FC236}">
                <a16:creationId xmlns:a16="http://schemas.microsoft.com/office/drawing/2014/main" id="{AA858281-12F3-473B-96D7-A6E87F5D4327}"/>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F1376F3C-AE85-4ECD-9A9C-63F3866C58C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55" name="Picture 54">
            <a:extLst>
              <a:ext uri="{FF2B5EF4-FFF2-40B4-BE49-F238E27FC236}">
                <a16:creationId xmlns:a16="http://schemas.microsoft.com/office/drawing/2014/main" id="{A292EDF3-4B85-4629-B435-38E9DF5ACD8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56" name="Picture 55">
            <a:extLst>
              <a:ext uri="{FF2B5EF4-FFF2-40B4-BE49-F238E27FC236}">
                <a16:creationId xmlns:a16="http://schemas.microsoft.com/office/drawing/2014/main" id="{BB56AD17-4EA6-41D3-AA9B-558ADE111C3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57" name="Picture 56">
            <a:extLst>
              <a:ext uri="{FF2B5EF4-FFF2-40B4-BE49-F238E27FC236}">
                <a16:creationId xmlns:a16="http://schemas.microsoft.com/office/drawing/2014/main" id="{06D7DE49-FCA1-48E0-9807-DB76A13A624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58" name="Picture 57">
            <a:extLst>
              <a:ext uri="{FF2B5EF4-FFF2-40B4-BE49-F238E27FC236}">
                <a16:creationId xmlns:a16="http://schemas.microsoft.com/office/drawing/2014/main" id="{E25C9889-CD48-4181-B830-C286A71272B2}"/>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59" name="Rectangle 58">
            <a:extLst>
              <a:ext uri="{FF2B5EF4-FFF2-40B4-BE49-F238E27FC236}">
                <a16:creationId xmlns:a16="http://schemas.microsoft.com/office/drawing/2014/main" id="{9513AE01-0AA5-4EB4-858F-B2A824C9DE8C}"/>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D2AA3555-2CCC-496D-BD97-DA359316BF3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61" name="Rectangle 60">
            <a:extLst>
              <a:ext uri="{FF2B5EF4-FFF2-40B4-BE49-F238E27FC236}">
                <a16:creationId xmlns:a16="http://schemas.microsoft.com/office/drawing/2014/main" id="{238ECF0B-705B-4055-B299-5430225B4876}"/>
              </a:ext>
            </a:extLst>
          </p:cNvPr>
          <p:cNvSpPr/>
          <p:nvPr/>
        </p:nvSpPr>
        <p:spPr>
          <a:xfrm>
            <a:off x="3597593" y="96241"/>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ECD13319-7146-4F7C-8438-57559231D5E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pic>
        <p:nvPicPr>
          <p:cNvPr id="30" name="Picture 29">
            <a:extLst>
              <a:ext uri="{FF2B5EF4-FFF2-40B4-BE49-F238E27FC236}">
                <a16:creationId xmlns:a16="http://schemas.microsoft.com/office/drawing/2014/main" id="{C955B75F-4216-41BD-9D8C-668EF7E0599F}"/>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32" name="Picture 31">
            <a:extLst>
              <a:ext uri="{FF2B5EF4-FFF2-40B4-BE49-F238E27FC236}">
                <a16:creationId xmlns:a16="http://schemas.microsoft.com/office/drawing/2014/main" id="{6A8CD38D-0A95-4F96-A405-0D3FC346961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20369080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74264" y="2044758"/>
            <a:ext cx="10406543" cy="29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Montserrat Medium" pitchFamily="50" charset="0"/>
              </a:rPr>
              <a:t>Questions &amp; Discussion</a:t>
            </a:r>
          </a:p>
          <a:p>
            <a:pPr algn="ctr"/>
            <a:r>
              <a:rPr lang="en-US" sz="2400" dirty="0">
                <a:solidFill>
                  <a:schemeClr val="tx1"/>
                </a:solidFill>
                <a:latin typeface="Montserrat" pitchFamily="2" charset="0"/>
              </a:rPr>
              <a:t>Thank you for your attention.</a:t>
            </a:r>
          </a:p>
          <a:p>
            <a:pPr algn="ctr"/>
            <a:r>
              <a:rPr lang="en-US" sz="2400" b="1" dirty="0">
                <a:solidFill>
                  <a:schemeClr val="tx1"/>
                </a:solidFill>
                <a:latin typeface="Montserrat" pitchFamily="2" charset="0"/>
              </a:rPr>
              <a:t>I welcome your questions and comments.</a:t>
            </a:r>
            <a:br>
              <a:rPr lang="en-US" sz="2400" dirty="0">
                <a:solidFill>
                  <a:schemeClr val="tx1"/>
                </a:solidFill>
              </a:rPr>
            </a:br>
            <a:endParaRPr lang="en-US" sz="2400" b="1" dirty="0">
              <a:solidFill>
                <a:schemeClr val="tx1"/>
              </a:solidFill>
              <a:latin typeface="Montserrat" pitchFamily="2" charset="0"/>
            </a:endParaRPr>
          </a:p>
        </p:txBody>
      </p:sp>
      <p:pic>
        <p:nvPicPr>
          <p:cNvPr id="8" name="Picture 7">
            <a:extLst>
              <a:ext uri="{FF2B5EF4-FFF2-40B4-BE49-F238E27FC236}">
                <a16:creationId xmlns:a16="http://schemas.microsoft.com/office/drawing/2014/main" id="{3D25FC97-7379-45D2-A597-B2FAA38BD4F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pic>
        <p:nvPicPr>
          <p:cNvPr id="9" name="Picture 8">
            <a:extLst>
              <a:ext uri="{FF2B5EF4-FFF2-40B4-BE49-F238E27FC236}">
                <a16:creationId xmlns:a16="http://schemas.microsoft.com/office/drawing/2014/main" id="{F9AFBC54-57AC-4DF1-8823-B82884C6490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Tree>
    <p:extLst>
      <p:ext uri="{BB962C8B-B14F-4D97-AF65-F5344CB8AC3E}">
        <p14:creationId xmlns:p14="http://schemas.microsoft.com/office/powerpoint/2010/main" val="34242724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13E993-8D38-4110-BC7A-5BBC472507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083" y="44412"/>
            <a:ext cx="2016529" cy="1468694"/>
          </a:xfrm>
          <a:prstGeom prst="rect">
            <a:avLst/>
          </a:prstGeom>
        </p:spPr>
      </p:pic>
      <p:pic>
        <p:nvPicPr>
          <p:cNvPr id="6" name="Picture 5">
            <a:extLst>
              <a:ext uri="{FF2B5EF4-FFF2-40B4-BE49-F238E27FC236}">
                <a16:creationId xmlns:a16="http://schemas.microsoft.com/office/drawing/2014/main" id="{C53FD27D-107F-4E09-9CE1-C26009B6647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72657" y="27665"/>
            <a:ext cx="2123783" cy="1502187"/>
          </a:xfrm>
          <a:prstGeom prst="rect">
            <a:avLst/>
          </a:prstGeom>
        </p:spPr>
      </p:pic>
      <p:sp>
        <p:nvSpPr>
          <p:cNvPr id="8" name="TextBox 7">
            <a:extLst>
              <a:ext uri="{FF2B5EF4-FFF2-40B4-BE49-F238E27FC236}">
                <a16:creationId xmlns:a16="http://schemas.microsoft.com/office/drawing/2014/main" id="{2A8097A5-6BA2-4865-A08A-1D6CB6951142}"/>
              </a:ext>
            </a:extLst>
          </p:cNvPr>
          <p:cNvSpPr txBox="1"/>
          <p:nvPr/>
        </p:nvSpPr>
        <p:spPr>
          <a:xfrm>
            <a:off x="1655448" y="1105690"/>
            <a:ext cx="9179101" cy="276999"/>
          </a:xfrm>
          <a:prstGeom prst="rect">
            <a:avLst/>
          </a:prstGeom>
          <a:noFill/>
        </p:spPr>
        <p:txBody>
          <a:bodyPr wrap="square">
            <a:spAutoFit/>
          </a:bodyPr>
          <a:lstStyle/>
          <a:p>
            <a:pPr algn="ctr"/>
            <a:r>
              <a:rPr lang="en-US" sz="1200" dirty="0">
                <a:latin typeface="Montserrat" pitchFamily="2" charset="0"/>
                <a:cs typeface="Times New Roman" panose="02020603050405020304" pitchFamily="18" charset="0"/>
              </a:rPr>
              <a:t>Doctoral Studies Center in Information and Engineering  Sciences and Technologies (ST2I)</a:t>
            </a:r>
          </a:p>
        </p:txBody>
      </p:sp>
      <p:sp>
        <p:nvSpPr>
          <p:cNvPr id="9" name="Rectangle 8">
            <a:extLst>
              <a:ext uri="{FF2B5EF4-FFF2-40B4-BE49-F238E27FC236}">
                <a16:creationId xmlns:a16="http://schemas.microsoft.com/office/drawing/2014/main" id="{27C77998-1883-4EA1-B241-A5C292CFB970}"/>
              </a:ext>
            </a:extLst>
          </p:cNvPr>
          <p:cNvSpPr/>
          <p:nvPr/>
        </p:nvSpPr>
        <p:spPr>
          <a:xfrm>
            <a:off x="675083" y="1584372"/>
            <a:ext cx="11255142" cy="778759"/>
          </a:xfrm>
          <a:prstGeom prst="rect">
            <a:avLst/>
          </a:prstGeom>
          <a:ln>
            <a:solidFill>
              <a:srgbClr val="0D1B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Medium" pitchFamily="50" charset="0"/>
              </a:rPr>
              <a:t>Explainable Artificial Intelligence (XAI) for Decision-Making </a:t>
            </a:r>
          </a:p>
          <a:p>
            <a:pPr algn="ctr"/>
            <a:r>
              <a:rPr lang="en-US" dirty="0">
                <a:latin typeface="Montserrat Medium" pitchFamily="50" charset="0"/>
              </a:rPr>
              <a:t>in Graph-Based Recommendation Systems</a:t>
            </a:r>
          </a:p>
        </p:txBody>
      </p:sp>
      <p:sp>
        <p:nvSpPr>
          <p:cNvPr id="7" name="TextBox 6">
            <a:extLst>
              <a:ext uri="{FF2B5EF4-FFF2-40B4-BE49-F238E27FC236}">
                <a16:creationId xmlns:a16="http://schemas.microsoft.com/office/drawing/2014/main" id="{1E4B0EB6-9489-4A65-9E21-C4A3871D04F8}"/>
              </a:ext>
            </a:extLst>
          </p:cNvPr>
          <p:cNvSpPr txBox="1"/>
          <p:nvPr/>
        </p:nvSpPr>
        <p:spPr>
          <a:xfrm>
            <a:off x="1506449" y="2515239"/>
            <a:ext cx="9179101" cy="338554"/>
          </a:xfrm>
          <a:prstGeom prst="rect">
            <a:avLst/>
          </a:prstGeom>
          <a:noFill/>
        </p:spPr>
        <p:txBody>
          <a:bodyPr wrap="square">
            <a:spAutoFit/>
          </a:bodyPr>
          <a:lstStyle/>
          <a:p>
            <a:pPr algn="ctr"/>
            <a:r>
              <a:rPr lang="en-US" sz="1600" b="1" dirty="0">
                <a:latin typeface="Montserrat Medium" pitchFamily="50" charset="0"/>
                <a:cs typeface="Times New Roman" panose="02020603050405020304" pitchFamily="18" charset="0"/>
              </a:rPr>
              <a:t>PhD Viva Presented by: </a:t>
            </a:r>
            <a:r>
              <a:rPr lang="en-US" sz="1600" dirty="0">
                <a:latin typeface="Montserrat Medium" pitchFamily="50" charset="0"/>
                <a:cs typeface="Times New Roman" panose="02020603050405020304" pitchFamily="18" charset="0"/>
              </a:rPr>
              <a:t>Redwane NESMAOUI</a:t>
            </a:r>
          </a:p>
        </p:txBody>
      </p:sp>
      <p:graphicFrame>
        <p:nvGraphicFramePr>
          <p:cNvPr id="2" name="Table 2">
            <a:extLst>
              <a:ext uri="{FF2B5EF4-FFF2-40B4-BE49-F238E27FC236}">
                <a16:creationId xmlns:a16="http://schemas.microsoft.com/office/drawing/2014/main" id="{885F3AD6-276A-48D1-AA87-249946C77A35}"/>
              </a:ext>
            </a:extLst>
          </p:cNvPr>
          <p:cNvGraphicFramePr>
            <a:graphicFrameLocks noGrp="1"/>
          </p:cNvGraphicFramePr>
          <p:nvPr/>
        </p:nvGraphicFramePr>
        <p:xfrm>
          <a:off x="675083" y="3454954"/>
          <a:ext cx="11139832" cy="3272148"/>
        </p:xfrm>
        <a:graphic>
          <a:graphicData uri="http://schemas.openxmlformats.org/drawingml/2006/table">
            <a:tbl>
              <a:tblPr firstRow="1" bandRow="1">
                <a:tableStyleId>{2D5ABB26-0587-4C30-8999-92F81FD0307C}</a:tableStyleId>
              </a:tblPr>
              <a:tblGrid>
                <a:gridCol w="1259595">
                  <a:extLst>
                    <a:ext uri="{9D8B030D-6E8A-4147-A177-3AD203B41FA5}">
                      <a16:colId xmlns:a16="http://schemas.microsoft.com/office/drawing/2014/main" val="3342160351"/>
                    </a:ext>
                  </a:extLst>
                </a:gridCol>
                <a:gridCol w="3157086">
                  <a:extLst>
                    <a:ext uri="{9D8B030D-6E8A-4147-A177-3AD203B41FA5}">
                      <a16:colId xmlns:a16="http://schemas.microsoft.com/office/drawing/2014/main" val="1043481491"/>
                    </a:ext>
                  </a:extLst>
                </a:gridCol>
                <a:gridCol w="981777">
                  <a:extLst>
                    <a:ext uri="{9D8B030D-6E8A-4147-A177-3AD203B41FA5}">
                      <a16:colId xmlns:a16="http://schemas.microsoft.com/office/drawing/2014/main" val="1751524045"/>
                    </a:ext>
                  </a:extLst>
                </a:gridCol>
                <a:gridCol w="5741374">
                  <a:extLst>
                    <a:ext uri="{9D8B030D-6E8A-4147-A177-3AD203B41FA5}">
                      <a16:colId xmlns:a16="http://schemas.microsoft.com/office/drawing/2014/main" val="798941376"/>
                    </a:ext>
                  </a:extLst>
                </a:gridCol>
              </a:tblGrid>
              <a:tr h="363572">
                <a:tc>
                  <a:txBody>
                    <a:bodyPr/>
                    <a:lstStyle/>
                    <a:p>
                      <a:r>
                        <a:rPr lang="en-US" sz="1400" b="1" dirty="0">
                          <a:latin typeface="Montserrat" pitchFamily="2" charset="0"/>
                        </a:rPr>
                        <a:t>President</a:t>
                      </a:r>
                    </a:p>
                  </a:txBody>
                  <a:tcPr/>
                </a:tc>
                <a:tc>
                  <a:txBody>
                    <a:bodyPr/>
                    <a:lstStyle/>
                    <a:p>
                      <a:r>
                        <a:rPr lang="en-US" sz="1400" dirty="0">
                          <a:latin typeface="Montserrat" pitchFamily="2" charset="0"/>
                        </a:rPr>
                        <a:t>Pr. </a:t>
                      </a:r>
                      <a:r>
                        <a:rPr lang="en-US" sz="1400" dirty="0" err="1">
                          <a:latin typeface="Montserrat" pitchFamily="2" charset="0"/>
                        </a:rPr>
                        <a:t>Abdellatif</a:t>
                      </a:r>
                      <a:r>
                        <a:rPr lang="en-US" sz="1400" dirty="0">
                          <a:latin typeface="Montserrat" pitchFamily="2" charset="0"/>
                        </a:rPr>
                        <a:t> EL AFIA</a:t>
                      </a:r>
                    </a:p>
                  </a:txBody>
                  <a:tcPr/>
                </a:tc>
                <a:tc>
                  <a:txBody>
                    <a:bodyPr/>
                    <a:lstStyle/>
                    <a:p>
                      <a:r>
                        <a:rPr lang="en-US" sz="1400" dirty="0">
                          <a:latin typeface="Montserrat" pitchFamily="2" charset="0"/>
                        </a:rPr>
                        <a:t>PES</a:t>
                      </a:r>
                    </a:p>
                  </a:txBody>
                  <a:tcPr/>
                </a:tc>
                <a:tc>
                  <a:txBody>
                    <a:bodyPr/>
                    <a:lstStyle/>
                    <a:p>
                      <a:r>
                        <a:rPr lang="en-US" sz="1400" dirty="0">
                          <a:latin typeface="Montserrat" pitchFamily="2" charset="0"/>
                        </a:rPr>
                        <a:t>ENSIAS, Mohammed V University, Rabat </a:t>
                      </a:r>
                    </a:p>
                  </a:txBody>
                  <a:tcPr/>
                </a:tc>
                <a:extLst>
                  <a:ext uri="{0D108BD9-81ED-4DB2-BD59-A6C34878D82A}">
                    <a16:rowId xmlns:a16="http://schemas.microsoft.com/office/drawing/2014/main" val="431681501"/>
                  </a:ext>
                </a:extLst>
              </a:tr>
              <a:tr h="363572">
                <a:tc>
                  <a:txBody>
                    <a:bodyPr/>
                    <a:lstStyle/>
                    <a:p>
                      <a:r>
                        <a:rPr lang="en-US" sz="1400" b="1" dirty="0">
                          <a:latin typeface="Montserrat" pitchFamily="2" charset="0"/>
                        </a:rPr>
                        <a:t>Supervisor</a:t>
                      </a:r>
                    </a:p>
                  </a:txBody>
                  <a:tcPr/>
                </a:tc>
                <a:tc>
                  <a:txBody>
                    <a:bodyPr/>
                    <a:lstStyle/>
                    <a:p>
                      <a:r>
                        <a:rPr lang="en-US" sz="1400" dirty="0">
                          <a:latin typeface="Montserrat" pitchFamily="2" charset="0"/>
                        </a:rPr>
                        <a:t>Pr. Mohamed LAZAAR</a:t>
                      </a:r>
                    </a:p>
                  </a:txBody>
                  <a:tcPr/>
                </a:tc>
                <a:tc>
                  <a:txBody>
                    <a:bodyPr/>
                    <a:lstStyle/>
                    <a:p>
                      <a:r>
                        <a:rPr lang="en-US" sz="1400" dirty="0">
                          <a:latin typeface="Montserrat" pitchFamily="2" charset="0"/>
                        </a:rPr>
                        <a:t>PES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pitchFamily="2" charset="0"/>
                        </a:rPr>
                        <a:t>ENSIAS, Mohammed V University, Rabat </a:t>
                      </a:r>
                    </a:p>
                  </a:txBody>
                  <a:tcPr/>
                </a:tc>
                <a:extLst>
                  <a:ext uri="{0D108BD9-81ED-4DB2-BD59-A6C34878D82A}">
                    <a16:rowId xmlns:a16="http://schemas.microsoft.com/office/drawing/2014/main" val="3293723479"/>
                  </a:ext>
                </a:extLst>
              </a:tr>
              <a:tr h="363572">
                <a:tc>
                  <a:txBody>
                    <a:bodyPr/>
                    <a:lstStyle/>
                    <a:p>
                      <a:r>
                        <a:rPr lang="en-US" sz="1400" b="1" dirty="0">
                          <a:latin typeface="Montserrat" pitchFamily="2" charset="0"/>
                        </a:rPr>
                        <a:t>Reviewer</a:t>
                      </a:r>
                    </a:p>
                  </a:txBody>
                  <a:tcPr/>
                </a:tc>
                <a:tc>
                  <a:txBody>
                    <a:bodyPr/>
                    <a:lstStyle/>
                    <a:p>
                      <a:r>
                        <a:rPr lang="en-US" sz="1400" dirty="0">
                          <a:latin typeface="Montserrat" pitchFamily="2" charset="0"/>
                        </a:rPr>
                        <a:t>Pr. </a:t>
                      </a:r>
                      <a:r>
                        <a:rPr lang="en-US" sz="1400" dirty="0" err="1">
                          <a:latin typeface="Montserrat" pitchFamily="2" charset="0"/>
                        </a:rPr>
                        <a:t>M’hamed</a:t>
                      </a:r>
                      <a:r>
                        <a:rPr lang="en-US" sz="1400" dirty="0">
                          <a:latin typeface="Montserrat" pitchFamily="2" charset="0"/>
                        </a:rPr>
                        <a:t> AIT KBIR</a:t>
                      </a:r>
                    </a:p>
                  </a:txBody>
                  <a:tcPr/>
                </a:tc>
                <a:tc>
                  <a:txBody>
                    <a:bodyPr/>
                    <a:lstStyle/>
                    <a:p>
                      <a:r>
                        <a:rPr lang="en-US" sz="1400" dirty="0">
                          <a:latin typeface="Montserrat" pitchFamily="2" charset="0"/>
                        </a:rPr>
                        <a:t>PES</a:t>
                      </a:r>
                    </a:p>
                  </a:txBody>
                  <a:tcPr/>
                </a:tc>
                <a:tc>
                  <a:txBody>
                    <a:bodyPr/>
                    <a:lstStyle/>
                    <a:p>
                      <a:r>
                        <a:rPr lang="en-US" sz="1400" dirty="0">
                          <a:latin typeface="Montserrat" pitchFamily="2" charset="0"/>
                        </a:rPr>
                        <a:t>FST, </a:t>
                      </a:r>
                      <a:r>
                        <a:rPr lang="en-US" sz="1400" dirty="0" err="1">
                          <a:latin typeface="Montserrat" pitchFamily="2" charset="0"/>
                        </a:rPr>
                        <a:t>Abdelmalek</a:t>
                      </a:r>
                      <a:r>
                        <a:rPr lang="en-US" sz="1400" dirty="0">
                          <a:latin typeface="Montserrat" pitchFamily="2" charset="0"/>
                        </a:rPr>
                        <a:t> </a:t>
                      </a:r>
                      <a:r>
                        <a:rPr lang="en-US" sz="1400" dirty="0" err="1">
                          <a:latin typeface="Montserrat" pitchFamily="2" charset="0"/>
                        </a:rPr>
                        <a:t>Essaâdi</a:t>
                      </a:r>
                      <a:r>
                        <a:rPr lang="en-US" sz="1400" dirty="0">
                          <a:latin typeface="Montserrat" pitchFamily="2" charset="0"/>
                        </a:rPr>
                        <a:t> University, Tangier</a:t>
                      </a:r>
                    </a:p>
                  </a:txBody>
                  <a:tcPr/>
                </a:tc>
                <a:extLst>
                  <a:ext uri="{0D108BD9-81ED-4DB2-BD59-A6C34878D82A}">
                    <a16:rowId xmlns:a16="http://schemas.microsoft.com/office/drawing/2014/main" val="1003985861"/>
                  </a:ext>
                </a:extLst>
              </a:tr>
              <a:tr h="363572">
                <a:tc>
                  <a:txBody>
                    <a:bodyPr/>
                    <a:lstStyle/>
                    <a:p>
                      <a:r>
                        <a:rPr lang="en-US" sz="1400" b="1" dirty="0">
                          <a:latin typeface="Montserrat" pitchFamily="2" charset="0"/>
                        </a:rPr>
                        <a:t>Reviewer</a:t>
                      </a:r>
                    </a:p>
                  </a:txBody>
                  <a:tcPr/>
                </a:tc>
                <a:tc>
                  <a:txBody>
                    <a:bodyPr/>
                    <a:lstStyle/>
                    <a:p>
                      <a:r>
                        <a:rPr lang="en-US" sz="1400" dirty="0">
                          <a:latin typeface="Montserrat" pitchFamily="2" charset="0"/>
                        </a:rPr>
                        <a:t>Pr. Oussama MAHBOUB</a:t>
                      </a:r>
                    </a:p>
                  </a:txBody>
                  <a:tcPr/>
                </a:tc>
                <a:tc>
                  <a:txBody>
                    <a:bodyPr/>
                    <a:lstStyle/>
                    <a:p>
                      <a:r>
                        <a:rPr lang="en-US" sz="1400" dirty="0">
                          <a:latin typeface="Montserrat" pitchFamily="2" charset="0"/>
                        </a:rPr>
                        <a:t>PES</a:t>
                      </a:r>
                    </a:p>
                  </a:txBody>
                  <a:tcPr/>
                </a:tc>
                <a:tc>
                  <a:txBody>
                    <a:bodyPr/>
                    <a:lstStyle/>
                    <a:p>
                      <a:r>
                        <a:rPr lang="en-US" sz="1400" dirty="0">
                          <a:latin typeface="Montserrat" pitchFamily="2" charset="0"/>
                        </a:rPr>
                        <a:t>ENSA, </a:t>
                      </a:r>
                      <a:r>
                        <a:rPr lang="en-US" sz="1400" dirty="0" err="1">
                          <a:latin typeface="Montserrat" pitchFamily="2" charset="0"/>
                        </a:rPr>
                        <a:t>Abdelmalek</a:t>
                      </a:r>
                      <a:r>
                        <a:rPr lang="en-US" sz="1400" dirty="0">
                          <a:latin typeface="Montserrat" pitchFamily="2" charset="0"/>
                        </a:rPr>
                        <a:t> </a:t>
                      </a:r>
                      <a:r>
                        <a:rPr lang="en-US" sz="1400" dirty="0" err="1">
                          <a:latin typeface="Montserrat" pitchFamily="2" charset="0"/>
                        </a:rPr>
                        <a:t>Essaâdi</a:t>
                      </a:r>
                      <a:r>
                        <a:rPr lang="en-US" sz="1400" dirty="0">
                          <a:latin typeface="Montserrat" pitchFamily="2" charset="0"/>
                        </a:rPr>
                        <a:t> University, </a:t>
                      </a:r>
                      <a:r>
                        <a:rPr lang="en-US" sz="1400" dirty="0" err="1">
                          <a:latin typeface="Montserrat" pitchFamily="2" charset="0"/>
                        </a:rPr>
                        <a:t>Tetouan</a:t>
                      </a:r>
                      <a:endParaRPr lang="en-US" sz="1400" dirty="0">
                        <a:latin typeface="Montserrat" pitchFamily="2" charset="0"/>
                      </a:endParaRPr>
                    </a:p>
                  </a:txBody>
                  <a:tcPr/>
                </a:tc>
                <a:extLst>
                  <a:ext uri="{0D108BD9-81ED-4DB2-BD59-A6C34878D82A}">
                    <a16:rowId xmlns:a16="http://schemas.microsoft.com/office/drawing/2014/main" val="3682204677"/>
                  </a:ext>
                </a:extLst>
              </a:tr>
              <a:tr h="363572">
                <a:tc>
                  <a:txBody>
                    <a:bodyPr/>
                    <a:lstStyle/>
                    <a:p>
                      <a:r>
                        <a:rPr lang="en-US" sz="1400" b="1" dirty="0">
                          <a:latin typeface="Montserrat" pitchFamily="2" charset="0"/>
                        </a:rPr>
                        <a:t>Reviewer</a:t>
                      </a:r>
                    </a:p>
                  </a:txBody>
                  <a:tcPr/>
                </a:tc>
                <a:tc>
                  <a:txBody>
                    <a:bodyPr/>
                    <a:lstStyle/>
                    <a:p>
                      <a:r>
                        <a:rPr lang="en-US" sz="1400" dirty="0">
                          <a:latin typeface="Montserrat" pitchFamily="2" charset="0"/>
                        </a:rPr>
                        <a:t>Pr. Noureddine KERZAZI</a:t>
                      </a:r>
                    </a:p>
                  </a:txBody>
                  <a:tcPr/>
                </a:tc>
                <a:tc>
                  <a:txBody>
                    <a:bodyPr/>
                    <a:lstStyle/>
                    <a:p>
                      <a:r>
                        <a:rPr lang="en-US" sz="1400" dirty="0">
                          <a:latin typeface="Montserrat" pitchFamily="2" charset="0"/>
                        </a:rPr>
                        <a:t>MCH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pitchFamily="2" charset="0"/>
                        </a:rPr>
                        <a:t>ENSIAS, Mohammed V University, Rabat </a:t>
                      </a:r>
                    </a:p>
                  </a:txBody>
                  <a:tcPr/>
                </a:tc>
                <a:extLst>
                  <a:ext uri="{0D108BD9-81ED-4DB2-BD59-A6C34878D82A}">
                    <a16:rowId xmlns:a16="http://schemas.microsoft.com/office/drawing/2014/main" val="2317935091"/>
                  </a:ext>
                </a:extLst>
              </a:tr>
              <a:tr h="363572">
                <a:tc>
                  <a:txBody>
                    <a:bodyPr/>
                    <a:lstStyle/>
                    <a:p>
                      <a:r>
                        <a:rPr lang="en-US" sz="1400" b="1" dirty="0">
                          <a:latin typeface="Montserrat" pitchFamily="2" charset="0"/>
                        </a:rPr>
                        <a:t>Examiner</a:t>
                      </a:r>
                    </a:p>
                  </a:txBody>
                  <a:tcPr/>
                </a:tc>
                <a:tc>
                  <a:txBody>
                    <a:bodyPr/>
                    <a:lstStyle/>
                    <a:p>
                      <a:r>
                        <a:rPr lang="en-US" sz="1400" dirty="0">
                          <a:latin typeface="Montserrat" pitchFamily="2" charset="0"/>
                        </a:rPr>
                        <a:t>Pr. Hicham OMARA</a:t>
                      </a:r>
                    </a:p>
                  </a:txBody>
                  <a:tcPr/>
                </a:tc>
                <a:tc>
                  <a:txBody>
                    <a:bodyPr/>
                    <a:lstStyle/>
                    <a:p>
                      <a:r>
                        <a:rPr lang="en-US" sz="1400" dirty="0">
                          <a:latin typeface="Montserrat" pitchFamily="2" charset="0"/>
                        </a:rPr>
                        <a:t>MCH</a:t>
                      </a:r>
                    </a:p>
                  </a:txBody>
                  <a:tcPr/>
                </a:tc>
                <a:tc>
                  <a:txBody>
                    <a:bodyPr/>
                    <a:lstStyle/>
                    <a:p>
                      <a:r>
                        <a:rPr lang="en-US" sz="1400" dirty="0">
                          <a:latin typeface="Montserrat" pitchFamily="2" charset="0"/>
                        </a:rPr>
                        <a:t>FP </a:t>
                      </a:r>
                      <a:r>
                        <a:rPr lang="en-US" sz="1400" dirty="0" err="1">
                          <a:latin typeface="Montserrat" pitchFamily="2" charset="0"/>
                        </a:rPr>
                        <a:t>Taza</a:t>
                      </a:r>
                      <a:r>
                        <a:rPr lang="en-US" sz="1400" dirty="0">
                          <a:latin typeface="Montserrat" pitchFamily="2" charset="0"/>
                        </a:rPr>
                        <a:t>, Sidi Mohamed Ben </a:t>
                      </a:r>
                      <a:r>
                        <a:rPr lang="en-US" sz="1400" dirty="0" err="1">
                          <a:latin typeface="Montserrat" pitchFamily="2" charset="0"/>
                        </a:rPr>
                        <a:t>Abdellah</a:t>
                      </a:r>
                      <a:r>
                        <a:rPr lang="en-US" sz="1400" dirty="0">
                          <a:latin typeface="Montserrat" pitchFamily="2" charset="0"/>
                        </a:rPr>
                        <a:t> University, Fez</a:t>
                      </a:r>
                    </a:p>
                  </a:txBody>
                  <a:tcPr/>
                </a:tc>
                <a:extLst>
                  <a:ext uri="{0D108BD9-81ED-4DB2-BD59-A6C34878D82A}">
                    <a16:rowId xmlns:a16="http://schemas.microsoft.com/office/drawing/2014/main" val="1039505071"/>
                  </a:ext>
                </a:extLst>
              </a:tr>
              <a:tr h="363572">
                <a:tc>
                  <a:txBody>
                    <a:bodyPr/>
                    <a:lstStyle/>
                    <a:p>
                      <a:r>
                        <a:rPr lang="en-US" sz="1400" b="1" dirty="0">
                          <a:latin typeface="Montserrat" pitchFamily="2" charset="0"/>
                        </a:rPr>
                        <a:t>Examiner</a:t>
                      </a:r>
                    </a:p>
                  </a:txBody>
                  <a:tcPr/>
                </a:tc>
                <a:tc>
                  <a:txBody>
                    <a:bodyPr/>
                    <a:lstStyle/>
                    <a:p>
                      <a:r>
                        <a:rPr lang="en-US" sz="1400" dirty="0">
                          <a:latin typeface="Montserrat" pitchFamily="2" charset="0"/>
                        </a:rPr>
                        <a:t>Pr. Fatima OUZAYD</a:t>
                      </a:r>
                    </a:p>
                  </a:txBody>
                  <a:tcPr/>
                </a:tc>
                <a:tc>
                  <a:txBody>
                    <a:bodyPr/>
                    <a:lstStyle/>
                    <a:p>
                      <a:r>
                        <a:rPr lang="en-US" sz="1400" dirty="0">
                          <a:latin typeface="Montserrat" pitchFamily="2" charset="0"/>
                        </a:rPr>
                        <a:t>PES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pitchFamily="2" charset="0"/>
                        </a:rPr>
                        <a:t>ENSIAS, Mohammed V University, Rabat </a:t>
                      </a:r>
                    </a:p>
                  </a:txBody>
                  <a:tcPr/>
                </a:tc>
                <a:extLst>
                  <a:ext uri="{0D108BD9-81ED-4DB2-BD59-A6C34878D82A}">
                    <a16:rowId xmlns:a16="http://schemas.microsoft.com/office/drawing/2014/main" val="1451702001"/>
                  </a:ext>
                </a:extLst>
              </a:tr>
              <a:tr h="363572">
                <a:tc>
                  <a:txBody>
                    <a:bodyPr/>
                    <a:lstStyle/>
                    <a:p>
                      <a:r>
                        <a:rPr lang="en-US" sz="1400" b="1" dirty="0">
                          <a:latin typeface="Montserrat" pitchFamily="2" charset="0"/>
                        </a:rPr>
                        <a:t>Examiner</a:t>
                      </a:r>
                    </a:p>
                  </a:txBody>
                  <a:tcPr/>
                </a:tc>
                <a:tc>
                  <a:txBody>
                    <a:bodyPr/>
                    <a:lstStyle/>
                    <a:p>
                      <a:r>
                        <a:rPr lang="es-ES" sz="1400" dirty="0">
                          <a:latin typeface="Montserrat" pitchFamily="2" charset="0"/>
                        </a:rPr>
                        <a:t>Pr. Yasser EL MADANI EL ALAMI</a:t>
                      </a:r>
                      <a:endParaRPr lang="en-US" sz="1400" dirty="0">
                        <a:latin typeface="Montserrat" pitchFamily="2" charset="0"/>
                      </a:endParaRPr>
                    </a:p>
                  </a:txBody>
                  <a:tcPr/>
                </a:tc>
                <a:tc>
                  <a:txBody>
                    <a:bodyPr/>
                    <a:lstStyle/>
                    <a:p>
                      <a:r>
                        <a:rPr lang="en-US" sz="1400" dirty="0">
                          <a:latin typeface="Montserrat" pitchFamily="2" charset="0"/>
                        </a:rPr>
                        <a:t>MCH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ontserrat" pitchFamily="2" charset="0"/>
                        </a:rPr>
                        <a:t>ENSIAS, Mohammed V University, Rabat </a:t>
                      </a:r>
                    </a:p>
                  </a:txBody>
                  <a:tcPr/>
                </a:tc>
                <a:extLst>
                  <a:ext uri="{0D108BD9-81ED-4DB2-BD59-A6C34878D82A}">
                    <a16:rowId xmlns:a16="http://schemas.microsoft.com/office/drawing/2014/main" val="4222725522"/>
                  </a:ext>
                </a:extLst>
              </a:tr>
              <a:tr h="363572">
                <a:tc>
                  <a:txBody>
                    <a:bodyPr/>
                    <a:lstStyle/>
                    <a:p>
                      <a:r>
                        <a:rPr lang="en-US" sz="1400" b="1" dirty="0">
                          <a:latin typeface="Montserrat" pitchFamily="2" charset="0"/>
                        </a:rPr>
                        <a:t>Guest</a:t>
                      </a:r>
                    </a:p>
                  </a:txBody>
                  <a:tcPr/>
                </a:tc>
                <a:tc>
                  <a:txBody>
                    <a:bodyPr/>
                    <a:lstStyle/>
                    <a:p>
                      <a:r>
                        <a:rPr lang="en-US" sz="1400" dirty="0">
                          <a:latin typeface="Montserrat" pitchFamily="2" charset="0"/>
                        </a:rPr>
                        <a:t>Pr. Yassine AFOUDI</a:t>
                      </a:r>
                    </a:p>
                  </a:txBody>
                  <a:tcPr/>
                </a:tc>
                <a:tc>
                  <a:txBody>
                    <a:bodyPr/>
                    <a:lstStyle/>
                    <a:p>
                      <a:r>
                        <a:rPr lang="en-US" sz="1400" dirty="0">
                          <a:latin typeface="Montserrat" pitchFamily="2" charset="0"/>
                        </a:rPr>
                        <a:t>MC</a:t>
                      </a:r>
                    </a:p>
                  </a:txBody>
                  <a:tcPr/>
                </a:tc>
                <a:tc>
                  <a:txBody>
                    <a:bodyPr/>
                    <a:lstStyle/>
                    <a:p>
                      <a:r>
                        <a:rPr lang="en-US" sz="1400" dirty="0">
                          <a:latin typeface="Montserrat" pitchFamily="2" charset="0"/>
                        </a:rPr>
                        <a:t>Faculty of Sciences, Cadi </a:t>
                      </a:r>
                      <a:r>
                        <a:rPr lang="en-US" sz="1400" dirty="0" err="1">
                          <a:latin typeface="Montserrat" pitchFamily="2" charset="0"/>
                        </a:rPr>
                        <a:t>Ayyad</a:t>
                      </a:r>
                      <a:r>
                        <a:rPr lang="en-US" sz="1400" dirty="0">
                          <a:latin typeface="Montserrat" pitchFamily="2" charset="0"/>
                        </a:rPr>
                        <a:t> University, Marrakech</a:t>
                      </a:r>
                    </a:p>
                  </a:txBody>
                  <a:tcPr/>
                </a:tc>
                <a:extLst>
                  <a:ext uri="{0D108BD9-81ED-4DB2-BD59-A6C34878D82A}">
                    <a16:rowId xmlns:a16="http://schemas.microsoft.com/office/drawing/2014/main" val="2724678733"/>
                  </a:ext>
                </a:extLst>
              </a:tr>
            </a:tbl>
          </a:graphicData>
        </a:graphic>
      </p:graphicFrame>
      <p:sp>
        <p:nvSpPr>
          <p:cNvPr id="12" name="TextBox 11">
            <a:extLst>
              <a:ext uri="{FF2B5EF4-FFF2-40B4-BE49-F238E27FC236}">
                <a16:creationId xmlns:a16="http://schemas.microsoft.com/office/drawing/2014/main" id="{AF385954-4759-43DE-9FF5-AD2C46EBAFB3}"/>
              </a:ext>
            </a:extLst>
          </p:cNvPr>
          <p:cNvSpPr txBox="1"/>
          <p:nvPr/>
        </p:nvSpPr>
        <p:spPr>
          <a:xfrm>
            <a:off x="675083" y="3035784"/>
            <a:ext cx="6097604" cy="338554"/>
          </a:xfrm>
          <a:prstGeom prst="rect">
            <a:avLst/>
          </a:prstGeom>
          <a:noFill/>
        </p:spPr>
        <p:txBody>
          <a:bodyPr wrap="square">
            <a:spAutoFit/>
          </a:bodyPr>
          <a:lstStyle/>
          <a:p>
            <a:r>
              <a:rPr lang="en-US" sz="1600" b="1" dirty="0">
                <a:latin typeface="Montserrat Medium" pitchFamily="50" charset="0"/>
                <a:cs typeface="Times New Roman" panose="02020603050405020304" pitchFamily="18" charset="0"/>
              </a:rPr>
              <a:t>Jury members:</a:t>
            </a:r>
            <a:endParaRPr lang="en-US" sz="1600" dirty="0"/>
          </a:p>
        </p:txBody>
      </p:sp>
      <p:pic>
        <p:nvPicPr>
          <p:cNvPr id="4" name="Picture 3">
            <a:extLst>
              <a:ext uri="{FF2B5EF4-FFF2-40B4-BE49-F238E27FC236}">
                <a16:creationId xmlns:a16="http://schemas.microsoft.com/office/drawing/2014/main" id="{F226BDBB-006F-45EB-87D2-F2B9A5576A6F}"/>
              </a:ext>
            </a:extLst>
          </p:cNvPr>
          <p:cNvPicPr>
            <a:picLocks noChangeAspect="1"/>
          </p:cNvPicPr>
          <p:nvPr/>
        </p:nvPicPr>
        <p:blipFill rotWithShape="1">
          <a:blip r:embed="rId4">
            <a:extLst>
              <a:ext uri="{28A0092B-C50C-407E-A947-70E740481C1C}">
                <a14:useLocalDpi xmlns:a14="http://schemas.microsoft.com/office/drawing/2010/main" val="0"/>
              </a:ext>
            </a:extLst>
          </a:blip>
          <a:srcRect t="29775" b="28782"/>
          <a:stretch/>
        </p:blipFill>
        <p:spPr>
          <a:xfrm>
            <a:off x="3497928" y="-44111"/>
            <a:ext cx="5196141" cy="1135736"/>
          </a:xfrm>
          <a:prstGeom prst="rect">
            <a:avLst/>
          </a:prstGeom>
        </p:spPr>
      </p:pic>
    </p:spTree>
    <p:extLst>
      <p:ext uri="{BB962C8B-B14F-4D97-AF65-F5344CB8AC3E}">
        <p14:creationId xmlns:p14="http://schemas.microsoft.com/office/powerpoint/2010/main" val="3497507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1" name="TextBox 30">
            <a:extLst>
              <a:ext uri="{FF2B5EF4-FFF2-40B4-BE49-F238E27FC236}">
                <a16:creationId xmlns:a16="http://schemas.microsoft.com/office/drawing/2014/main" id="{0C5C9FAE-D7DC-46FC-BF6F-4E7469D433B2}"/>
              </a:ext>
            </a:extLst>
          </p:cNvPr>
          <p:cNvSpPr txBox="1"/>
          <p:nvPr/>
        </p:nvSpPr>
        <p:spPr>
          <a:xfrm>
            <a:off x="236258" y="1298443"/>
            <a:ext cx="11232206" cy="677108"/>
          </a:xfrm>
          <a:prstGeom prst="rect">
            <a:avLst/>
          </a:prstGeom>
          <a:noFill/>
        </p:spPr>
        <p:txBody>
          <a:bodyPr wrap="square">
            <a:spAutoFit/>
          </a:bodyPr>
          <a:lstStyle/>
          <a:p>
            <a:r>
              <a:rPr lang="en-US" sz="2000" b="1" dirty="0">
                <a:latin typeface="Montserrat Medium" pitchFamily="50" charset="0"/>
              </a:rPr>
              <a:t>General Specifications</a:t>
            </a:r>
          </a:p>
          <a:p>
            <a:pPr algn="just"/>
            <a:endParaRPr lang="en-US" dirty="0">
              <a:latin typeface="Montserrat Medium" pitchFamily="50" charset="0"/>
            </a:endParaRPr>
          </a:p>
        </p:txBody>
      </p:sp>
      <p:graphicFrame>
        <p:nvGraphicFramePr>
          <p:cNvPr id="4" name="Table 3">
            <a:extLst>
              <a:ext uri="{FF2B5EF4-FFF2-40B4-BE49-F238E27FC236}">
                <a16:creationId xmlns:a16="http://schemas.microsoft.com/office/drawing/2014/main" id="{AC32BBD0-657B-43F1-8ECF-C810971E72F2}"/>
              </a:ext>
            </a:extLst>
          </p:cNvPr>
          <p:cNvGraphicFramePr>
            <a:graphicFrameLocks noGrp="1"/>
          </p:cNvGraphicFramePr>
          <p:nvPr/>
        </p:nvGraphicFramePr>
        <p:xfrm>
          <a:off x="269485" y="1899564"/>
          <a:ext cx="11793216" cy="4048849"/>
        </p:xfrm>
        <a:graphic>
          <a:graphicData uri="http://schemas.openxmlformats.org/drawingml/2006/table">
            <a:tbl>
              <a:tblPr>
                <a:tableStyleId>{BC89EF96-8CEA-46FF-86C4-4CE0E7609802}</a:tableStyleId>
              </a:tblPr>
              <a:tblGrid>
                <a:gridCol w="1992452">
                  <a:extLst>
                    <a:ext uri="{9D8B030D-6E8A-4147-A177-3AD203B41FA5}">
                      <a16:colId xmlns:a16="http://schemas.microsoft.com/office/drawing/2014/main" val="306850040"/>
                    </a:ext>
                  </a:extLst>
                </a:gridCol>
                <a:gridCol w="3128210">
                  <a:extLst>
                    <a:ext uri="{9D8B030D-6E8A-4147-A177-3AD203B41FA5}">
                      <a16:colId xmlns:a16="http://schemas.microsoft.com/office/drawing/2014/main" val="564233657"/>
                    </a:ext>
                  </a:extLst>
                </a:gridCol>
                <a:gridCol w="3176337">
                  <a:extLst>
                    <a:ext uri="{9D8B030D-6E8A-4147-A177-3AD203B41FA5}">
                      <a16:colId xmlns:a16="http://schemas.microsoft.com/office/drawing/2014/main" val="4179256516"/>
                    </a:ext>
                  </a:extLst>
                </a:gridCol>
                <a:gridCol w="3496217">
                  <a:extLst>
                    <a:ext uri="{9D8B030D-6E8A-4147-A177-3AD203B41FA5}">
                      <a16:colId xmlns:a16="http://schemas.microsoft.com/office/drawing/2014/main" val="418075266"/>
                    </a:ext>
                  </a:extLst>
                </a:gridCol>
              </a:tblGrid>
              <a:tr h="612630">
                <a:tc>
                  <a:txBody>
                    <a:bodyPr/>
                    <a:lstStyle/>
                    <a:p>
                      <a:pPr algn="ctr"/>
                      <a:r>
                        <a:rPr lang="en-US" b="1" dirty="0">
                          <a:latin typeface="Montserrat Medium" pitchFamily="50" charset="0"/>
                        </a:rPr>
                        <a:t>Specification</a:t>
                      </a:r>
                    </a:p>
                  </a:txBody>
                  <a:tcPr anchor="ctr"/>
                </a:tc>
                <a:tc>
                  <a:txBody>
                    <a:bodyPr/>
                    <a:lstStyle/>
                    <a:p>
                      <a:pPr algn="ctr"/>
                      <a:r>
                        <a:rPr lang="en-US" b="1" dirty="0" err="1">
                          <a:latin typeface="Montserrat Medium" pitchFamily="50" charset="0"/>
                        </a:rPr>
                        <a:t>MovieLens</a:t>
                      </a:r>
                      <a:r>
                        <a:rPr lang="en-US" b="1" dirty="0">
                          <a:latin typeface="Montserrat Medium" pitchFamily="50" charset="0"/>
                        </a:rPr>
                        <a:t> 1M</a:t>
                      </a:r>
                    </a:p>
                  </a:txBody>
                  <a:tcPr anchor="ctr"/>
                </a:tc>
                <a:tc>
                  <a:txBody>
                    <a:bodyPr/>
                    <a:lstStyle/>
                    <a:p>
                      <a:pPr algn="ctr"/>
                      <a:r>
                        <a:rPr lang="en-US" b="1" dirty="0" err="1">
                          <a:latin typeface="Montserrat Medium" pitchFamily="50" charset="0"/>
                        </a:rPr>
                        <a:t>MovieLens</a:t>
                      </a:r>
                      <a:r>
                        <a:rPr lang="en-US" b="1" dirty="0">
                          <a:latin typeface="Montserrat Medium" pitchFamily="50" charset="0"/>
                        </a:rPr>
                        <a:t> 100K</a:t>
                      </a:r>
                    </a:p>
                  </a:txBody>
                  <a:tcPr anchor="ctr"/>
                </a:tc>
                <a:tc>
                  <a:txBody>
                    <a:bodyPr/>
                    <a:lstStyle/>
                    <a:p>
                      <a:pPr algn="ctr"/>
                      <a:r>
                        <a:rPr lang="en-US" b="1" dirty="0">
                          <a:latin typeface="Montserrat Medium" pitchFamily="50" charset="0"/>
                        </a:rPr>
                        <a:t>Amazon Products</a:t>
                      </a:r>
                    </a:p>
                  </a:txBody>
                  <a:tcPr anchor="ctr"/>
                </a:tc>
                <a:extLst>
                  <a:ext uri="{0D108BD9-81ED-4DB2-BD59-A6C34878D82A}">
                    <a16:rowId xmlns:a16="http://schemas.microsoft.com/office/drawing/2014/main" val="3103430356"/>
                  </a:ext>
                </a:extLst>
              </a:tr>
              <a:tr h="0">
                <a:tc>
                  <a:txBody>
                    <a:bodyPr/>
                    <a:lstStyle/>
                    <a:p>
                      <a:pPr algn="ctr"/>
                      <a:r>
                        <a:rPr lang="en-US" b="1" dirty="0">
                          <a:latin typeface="Montserrat Medium" pitchFamily="50" charset="0"/>
                        </a:rPr>
                        <a:t>Domain</a:t>
                      </a:r>
                      <a:endParaRPr lang="en-US" dirty="0">
                        <a:latin typeface="Montserrat Medium" pitchFamily="50" charset="0"/>
                      </a:endParaRPr>
                    </a:p>
                  </a:txBody>
                  <a:tcPr anchor="ctr"/>
                </a:tc>
                <a:tc>
                  <a:txBody>
                    <a:bodyPr/>
                    <a:lstStyle/>
                    <a:p>
                      <a:pPr algn="just">
                        <a:lnSpc>
                          <a:spcPct val="100000"/>
                        </a:lnSpc>
                      </a:pPr>
                      <a:r>
                        <a:rPr lang="en-US" sz="1600" dirty="0">
                          <a:latin typeface="Montserrat" pitchFamily="2" charset="0"/>
                        </a:rPr>
                        <a:t>Movie recommendation</a:t>
                      </a:r>
                    </a:p>
                  </a:txBody>
                  <a:tcPr anchor="ctr"/>
                </a:tc>
                <a:tc>
                  <a:txBody>
                    <a:bodyPr/>
                    <a:lstStyle/>
                    <a:p>
                      <a:pPr algn="just">
                        <a:lnSpc>
                          <a:spcPct val="100000"/>
                        </a:lnSpc>
                      </a:pPr>
                      <a:r>
                        <a:rPr lang="en-US" sz="1600" dirty="0">
                          <a:latin typeface="Montserrat" pitchFamily="2" charset="0"/>
                        </a:rPr>
                        <a:t>Movie recommendation</a:t>
                      </a:r>
                    </a:p>
                  </a:txBody>
                  <a:tcPr anchor="ctr"/>
                </a:tc>
                <a:tc>
                  <a:txBody>
                    <a:bodyPr/>
                    <a:lstStyle/>
                    <a:p>
                      <a:pPr algn="just">
                        <a:lnSpc>
                          <a:spcPct val="100000"/>
                        </a:lnSpc>
                      </a:pPr>
                      <a:r>
                        <a:rPr lang="en-US" sz="1600">
                          <a:latin typeface="Montserrat" pitchFamily="2" charset="0"/>
                        </a:rPr>
                        <a:t>E-commerce product recommendation</a:t>
                      </a:r>
                    </a:p>
                  </a:txBody>
                  <a:tcPr anchor="ctr"/>
                </a:tc>
                <a:extLst>
                  <a:ext uri="{0D108BD9-81ED-4DB2-BD59-A6C34878D82A}">
                    <a16:rowId xmlns:a16="http://schemas.microsoft.com/office/drawing/2014/main" val="2351874285"/>
                  </a:ext>
                </a:extLst>
              </a:tr>
              <a:tr h="556661">
                <a:tc>
                  <a:txBody>
                    <a:bodyPr/>
                    <a:lstStyle/>
                    <a:p>
                      <a:pPr algn="ctr"/>
                      <a:r>
                        <a:rPr lang="en-US" b="1" dirty="0">
                          <a:latin typeface="Montserrat Medium" pitchFamily="50" charset="0"/>
                        </a:rPr>
                        <a:t>Source</a:t>
                      </a:r>
                      <a:endParaRPr lang="en-US" dirty="0">
                        <a:latin typeface="Montserrat Medium" pitchFamily="50" charset="0"/>
                      </a:endParaRPr>
                    </a:p>
                  </a:txBody>
                  <a:tcPr anchor="ctr"/>
                </a:tc>
                <a:tc>
                  <a:txBody>
                    <a:bodyPr/>
                    <a:lstStyle/>
                    <a:p>
                      <a:pPr algn="just">
                        <a:lnSpc>
                          <a:spcPct val="100000"/>
                        </a:lnSpc>
                      </a:pPr>
                      <a:r>
                        <a:rPr lang="en-US" sz="1600" dirty="0" err="1">
                          <a:latin typeface="Montserrat" pitchFamily="2" charset="0"/>
                        </a:rPr>
                        <a:t>GroupLens</a:t>
                      </a:r>
                      <a:r>
                        <a:rPr lang="en-US" sz="1600" dirty="0">
                          <a:latin typeface="Montserrat" pitchFamily="2" charset="0"/>
                        </a:rPr>
                        <a:t> Research</a:t>
                      </a:r>
                    </a:p>
                  </a:txBody>
                  <a:tcPr anchor="ctr"/>
                </a:tc>
                <a:tc>
                  <a:txBody>
                    <a:bodyPr/>
                    <a:lstStyle/>
                    <a:p>
                      <a:pPr algn="just">
                        <a:lnSpc>
                          <a:spcPct val="100000"/>
                        </a:lnSpc>
                      </a:pPr>
                      <a:r>
                        <a:rPr lang="en-US" sz="1600" dirty="0" err="1">
                          <a:latin typeface="Montserrat" pitchFamily="2" charset="0"/>
                        </a:rPr>
                        <a:t>GroupLens</a:t>
                      </a:r>
                      <a:r>
                        <a:rPr lang="en-US" sz="1600" dirty="0">
                          <a:latin typeface="Montserrat" pitchFamily="2" charset="0"/>
                        </a:rPr>
                        <a:t> Research</a:t>
                      </a:r>
                    </a:p>
                  </a:txBody>
                  <a:tcPr anchor="ctr"/>
                </a:tc>
                <a:tc>
                  <a:txBody>
                    <a:bodyPr/>
                    <a:lstStyle/>
                    <a:p>
                      <a:pPr algn="just">
                        <a:lnSpc>
                          <a:spcPct val="100000"/>
                        </a:lnSpc>
                      </a:pPr>
                      <a:r>
                        <a:rPr lang="es-ES" sz="1600">
                          <a:latin typeface="Montserrat" pitchFamily="2" charset="0"/>
                        </a:rPr>
                        <a:t>McAuley Lab, UC San Diego</a:t>
                      </a:r>
                    </a:p>
                  </a:txBody>
                  <a:tcPr anchor="ctr"/>
                </a:tc>
                <a:extLst>
                  <a:ext uri="{0D108BD9-81ED-4DB2-BD59-A6C34878D82A}">
                    <a16:rowId xmlns:a16="http://schemas.microsoft.com/office/drawing/2014/main" val="223910012"/>
                  </a:ext>
                </a:extLst>
              </a:tr>
              <a:tr h="654518">
                <a:tc>
                  <a:txBody>
                    <a:bodyPr/>
                    <a:lstStyle/>
                    <a:p>
                      <a:pPr algn="ctr"/>
                      <a:r>
                        <a:rPr lang="en-US" b="1" dirty="0">
                          <a:latin typeface="Montserrat Medium" pitchFamily="50" charset="0"/>
                        </a:rPr>
                        <a:t>Release year</a:t>
                      </a:r>
                      <a:endParaRPr lang="en-US" dirty="0">
                        <a:latin typeface="Montserrat Medium" pitchFamily="50" charset="0"/>
                      </a:endParaRPr>
                    </a:p>
                  </a:txBody>
                  <a:tcPr anchor="ctr"/>
                </a:tc>
                <a:tc>
                  <a:txBody>
                    <a:bodyPr/>
                    <a:lstStyle/>
                    <a:p>
                      <a:pPr algn="just">
                        <a:lnSpc>
                          <a:spcPct val="100000"/>
                        </a:lnSpc>
                      </a:pPr>
                      <a:r>
                        <a:rPr lang="en-US" sz="1600" dirty="0">
                          <a:latin typeface="Montserrat" pitchFamily="2" charset="0"/>
                        </a:rPr>
                        <a:t>1998</a:t>
                      </a:r>
                    </a:p>
                  </a:txBody>
                  <a:tcPr anchor="ctr"/>
                </a:tc>
                <a:tc>
                  <a:txBody>
                    <a:bodyPr/>
                    <a:lstStyle/>
                    <a:p>
                      <a:pPr algn="just">
                        <a:lnSpc>
                          <a:spcPct val="100000"/>
                        </a:lnSpc>
                      </a:pPr>
                      <a:r>
                        <a:rPr lang="en-US" sz="1600" dirty="0">
                          <a:latin typeface="Montserrat" pitchFamily="2" charset="0"/>
                        </a:rPr>
                        <a:t>2003</a:t>
                      </a:r>
                    </a:p>
                  </a:txBody>
                  <a:tcPr anchor="ctr"/>
                </a:tc>
                <a:tc>
                  <a:txBody>
                    <a:bodyPr/>
                    <a:lstStyle/>
                    <a:p>
                      <a:pPr algn="just">
                        <a:lnSpc>
                          <a:spcPct val="100000"/>
                        </a:lnSpc>
                      </a:pPr>
                      <a:r>
                        <a:rPr lang="en-US" sz="1600">
                          <a:latin typeface="Montserrat" pitchFamily="2" charset="0"/>
                        </a:rPr>
                        <a:t>2018</a:t>
                      </a:r>
                    </a:p>
                  </a:txBody>
                  <a:tcPr anchor="ctr"/>
                </a:tc>
                <a:extLst>
                  <a:ext uri="{0D108BD9-81ED-4DB2-BD59-A6C34878D82A}">
                    <a16:rowId xmlns:a16="http://schemas.microsoft.com/office/drawing/2014/main" val="1501708992"/>
                  </a:ext>
                </a:extLst>
              </a:tr>
              <a:tr h="0">
                <a:tc>
                  <a:txBody>
                    <a:bodyPr/>
                    <a:lstStyle/>
                    <a:p>
                      <a:pPr algn="ctr"/>
                      <a:r>
                        <a:rPr lang="en-US" b="1" dirty="0">
                          <a:latin typeface="Montserrat Medium" pitchFamily="50" charset="0"/>
                        </a:rPr>
                        <a:t>Time coverage</a:t>
                      </a:r>
                      <a:endParaRPr lang="en-US" dirty="0">
                        <a:latin typeface="Montserrat Medium" pitchFamily="50" charset="0"/>
                      </a:endParaRPr>
                    </a:p>
                  </a:txBody>
                  <a:tcPr anchor="ctr"/>
                </a:tc>
                <a:tc>
                  <a:txBody>
                    <a:bodyPr/>
                    <a:lstStyle/>
                    <a:p>
                      <a:pPr algn="just">
                        <a:lnSpc>
                          <a:spcPct val="100000"/>
                        </a:lnSpc>
                      </a:pPr>
                      <a:r>
                        <a:rPr lang="en-US" sz="1600" dirty="0">
                          <a:latin typeface="Montserrat" pitchFamily="2" charset="0"/>
                        </a:rPr>
                        <a:t>Seven-month period ending in 1998 </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latin typeface="Montserrat" pitchFamily="2" charset="0"/>
                        </a:rPr>
                        <a:t>Ratings collected from </a:t>
                      </a:r>
                      <a:r>
                        <a:rPr lang="en-US" sz="1600" dirty="0" err="1">
                          <a:latin typeface="Montserrat" pitchFamily="2" charset="0"/>
                        </a:rPr>
                        <a:t>MovieLens</a:t>
                      </a:r>
                      <a:r>
                        <a:rPr lang="en-US" sz="1600" dirty="0">
                          <a:latin typeface="Montserrat" pitchFamily="2" charset="0"/>
                        </a:rPr>
                        <a:t> users in 2000</a:t>
                      </a:r>
                    </a:p>
                    <a:p>
                      <a:pPr algn="just">
                        <a:lnSpc>
                          <a:spcPct val="100000"/>
                        </a:lnSpc>
                      </a:pPr>
                      <a:endParaRPr lang="en-US" sz="1600" dirty="0">
                        <a:latin typeface="Montserrat" pitchFamily="2" charset="0"/>
                      </a:endParaRPr>
                    </a:p>
                  </a:txBody>
                  <a:tcPr anchor="ctr"/>
                </a:tc>
                <a:tc>
                  <a:txBody>
                    <a:bodyPr/>
                    <a:lstStyle/>
                    <a:p>
                      <a:pPr algn="just">
                        <a:lnSpc>
                          <a:spcPct val="100000"/>
                        </a:lnSpc>
                      </a:pPr>
                      <a:r>
                        <a:rPr lang="en-US" sz="1600">
                          <a:latin typeface="Montserrat" pitchFamily="2" charset="0"/>
                        </a:rPr>
                        <a:t>May 1996–October 2018</a:t>
                      </a:r>
                    </a:p>
                  </a:txBody>
                  <a:tcPr anchor="ctr"/>
                </a:tc>
                <a:extLst>
                  <a:ext uri="{0D108BD9-81ED-4DB2-BD59-A6C34878D82A}">
                    <a16:rowId xmlns:a16="http://schemas.microsoft.com/office/drawing/2014/main" val="3891356257"/>
                  </a:ext>
                </a:extLst>
              </a:tr>
              <a:tr h="0">
                <a:tc>
                  <a:txBody>
                    <a:bodyPr/>
                    <a:lstStyle/>
                    <a:p>
                      <a:pPr algn="ctr"/>
                      <a:r>
                        <a:rPr lang="en-US" b="1" dirty="0">
                          <a:latin typeface="Montserrat Medium" pitchFamily="50" charset="0"/>
                        </a:rPr>
                        <a:t>Typical use</a:t>
                      </a:r>
                      <a:endParaRPr lang="en-US" dirty="0">
                        <a:latin typeface="Montserrat Medium" pitchFamily="50"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latin typeface="Montserrat" pitchFamily="2" charset="0"/>
                        </a:rPr>
                        <a:t>Collaborative filtering and benchmarking</a:t>
                      </a:r>
                    </a:p>
                  </a:txBody>
                  <a:tcPr anchor="ctr"/>
                </a:tc>
                <a:tc>
                  <a:txBody>
                    <a:bodyPr/>
                    <a:lstStyle/>
                    <a:p>
                      <a:pPr algn="just">
                        <a:lnSpc>
                          <a:spcPct val="100000"/>
                        </a:lnSpc>
                      </a:pPr>
                      <a:r>
                        <a:rPr lang="en-US" sz="1600" dirty="0">
                          <a:latin typeface="Montserrat" pitchFamily="2" charset="0"/>
                        </a:rPr>
                        <a:t>Collaborative filtering and rating prediction </a:t>
                      </a:r>
                    </a:p>
                  </a:txBody>
                  <a:tcPr anchor="ctr"/>
                </a:tc>
                <a:tc>
                  <a:txBody>
                    <a:bodyPr/>
                    <a:lstStyle/>
                    <a:p>
                      <a:pPr algn="just">
                        <a:lnSpc>
                          <a:spcPct val="100000"/>
                        </a:lnSpc>
                      </a:pPr>
                      <a:r>
                        <a:rPr lang="en-US" sz="1600" dirty="0">
                          <a:latin typeface="Montserrat" pitchFamily="2" charset="0"/>
                        </a:rPr>
                        <a:t>Product recommendation, review analysis, and sequential recommendation</a:t>
                      </a:r>
                    </a:p>
                  </a:txBody>
                  <a:tcPr anchor="ctr"/>
                </a:tc>
                <a:extLst>
                  <a:ext uri="{0D108BD9-81ED-4DB2-BD59-A6C34878D82A}">
                    <a16:rowId xmlns:a16="http://schemas.microsoft.com/office/drawing/2014/main" val="2427413571"/>
                  </a:ext>
                </a:extLst>
              </a:tr>
            </a:tbl>
          </a:graphicData>
        </a:graphic>
      </p:graphicFrame>
      <p:sp>
        <p:nvSpPr>
          <p:cNvPr id="55" name="Rectangle 54">
            <a:extLst>
              <a:ext uri="{FF2B5EF4-FFF2-40B4-BE49-F238E27FC236}">
                <a16:creationId xmlns:a16="http://schemas.microsoft.com/office/drawing/2014/main" id="{87823130-E40D-4A5B-A0AB-818F2B57C1AB}"/>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pitchFamily="2" charset="0"/>
                <a:cs typeface="Times New Roman" panose="02020603050405020304" pitchFamily="18" charset="0"/>
              </a:rPr>
              <a:t>Datasets</a:t>
            </a:r>
            <a:endParaRPr lang="en-US" dirty="0">
              <a:latin typeface="Montserrat" pitchFamily="2" charset="0"/>
            </a:endParaRPr>
          </a:p>
          <a:p>
            <a:pPr algn="ctr"/>
            <a:endParaRPr lang="en-US" sz="1400" dirty="0">
              <a:latin typeface="Montserrat" pitchFamily="2" charset="0"/>
            </a:endParaRPr>
          </a:p>
        </p:txBody>
      </p:sp>
      <p:sp>
        <p:nvSpPr>
          <p:cNvPr id="56" name="Rectangle 55">
            <a:extLst>
              <a:ext uri="{FF2B5EF4-FFF2-40B4-BE49-F238E27FC236}">
                <a16:creationId xmlns:a16="http://schemas.microsoft.com/office/drawing/2014/main" id="{4100C514-B865-4E01-9D9E-BC7E2658583A}"/>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57" name="Rectangle 56">
            <a:extLst>
              <a:ext uri="{FF2B5EF4-FFF2-40B4-BE49-F238E27FC236}">
                <a16:creationId xmlns:a16="http://schemas.microsoft.com/office/drawing/2014/main" id="{0C3E23A1-E796-413A-9926-FA610AF8EAC6}"/>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26" name="Picture 25">
            <a:extLst>
              <a:ext uri="{FF2B5EF4-FFF2-40B4-BE49-F238E27FC236}">
                <a16:creationId xmlns:a16="http://schemas.microsoft.com/office/drawing/2014/main" id="{5B3929C4-CF81-4017-B95B-7AB743BFF57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pic>
        <p:nvPicPr>
          <p:cNvPr id="27" name="Picture 26">
            <a:extLst>
              <a:ext uri="{FF2B5EF4-FFF2-40B4-BE49-F238E27FC236}">
                <a16:creationId xmlns:a16="http://schemas.microsoft.com/office/drawing/2014/main" id="{D9F890B0-1390-4FE0-88C9-4D8C60A2858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10036" y="6400800"/>
            <a:ext cx="385680" cy="385680"/>
          </a:xfrm>
          <a:prstGeom prst="rect">
            <a:avLst/>
          </a:prstGeom>
        </p:spPr>
      </p:pic>
      <p:sp>
        <p:nvSpPr>
          <p:cNvPr id="29" name="TextBox 28">
            <a:extLst>
              <a:ext uri="{FF2B5EF4-FFF2-40B4-BE49-F238E27FC236}">
                <a16:creationId xmlns:a16="http://schemas.microsoft.com/office/drawing/2014/main" id="{141FC859-E9DD-462C-BB6C-0517CDC874D8}"/>
              </a:ext>
            </a:extLst>
          </p:cNvPr>
          <p:cNvSpPr txBox="1"/>
          <p:nvPr/>
        </p:nvSpPr>
        <p:spPr>
          <a:xfrm>
            <a:off x="269485" y="6022892"/>
            <a:ext cx="11879607" cy="246221"/>
          </a:xfrm>
          <a:prstGeom prst="rect">
            <a:avLst/>
          </a:prstGeom>
          <a:noFill/>
        </p:spPr>
        <p:txBody>
          <a:bodyPr wrap="square">
            <a:spAutoFit/>
          </a:bodyPr>
          <a:lstStyle/>
          <a:p>
            <a:r>
              <a:rPr lang="en-US" sz="1000" dirty="0">
                <a:latin typeface="Agency FB" panose="020B0503020202020204" pitchFamily="34" charset="0"/>
              </a:rPr>
              <a:t>[13] </a:t>
            </a:r>
            <a:r>
              <a:rPr lang="en-US" sz="1000" dirty="0" err="1">
                <a:latin typeface="Agency FB" panose="020B0503020202020204" pitchFamily="34" charset="0"/>
              </a:rPr>
              <a:t>GroupLens</a:t>
            </a:r>
            <a:r>
              <a:rPr lang="en-US" sz="1000" dirty="0">
                <a:latin typeface="Agency FB" panose="020B0503020202020204" pitchFamily="34" charset="0"/>
              </a:rPr>
              <a:t> Research, “</a:t>
            </a:r>
            <a:r>
              <a:rPr lang="en-US" sz="1000" dirty="0" err="1">
                <a:latin typeface="Agency FB" panose="020B0503020202020204" pitchFamily="34" charset="0"/>
              </a:rPr>
              <a:t>MovieLens</a:t>
            </a:r>
            <a:r>
              <a:rPr lang="en-US" sz="1000" dirty="0">
                <a:latin typeface="Agency FB" panose="020B0503020202020204" pitchFamily="34" charset="0"/>
              </a:rPr>
              <a:t> 100K Dataset,” University of Minnesota. [Online]. Available: https://grouplens.org/datasets/movielens/100k/</a:t>
            </a:r>
          </a:p>
        </p:txBody>
      </p:sp>
    </p:spTree>
    <p:extLst>
      <p:ext uri="{BB962C8B-B14F-4D97-AF65-F5344CB8AC3E}">
        <p14:creationId xmlns:p14="http://schemas.microsoft.com/office/powerpoint/2010/main" val="27725172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1" name="TextBox 30">
            <a:extLst>
              <a:ext uri="{FF2B5EF4-FFF2-40B4-BE49-F238E27FC236}">
                <a16:creationId xmlns:a16="http://schemas.microsoft.com/office/drawing/2014/main" id="{0C5C9FAE-D7DC-46FC-BF6F-4E7469D433B2}"/>
              </a:ext>
            </a:extLst>
          </p:cNvPr>
          <p:cNvSpPr txBox="1"/>
          <p:nvPr/>
        </p:nvSpPr>
        <p:spPr>
          <a:xfrm>
            <a:off x="236258" y="1298443"/>
            <a:ext cx="11232206" cy="369332"/>
          </a:xfrm>
          <a:prstGeom prst="rect">
            <a:avLst/>
          </a:prstGeom>
          <a:noFill/>
        </p:spPr>
        <p:txBody>
          <a:bodyPr wrap="square">
            <a:spAutoFit/>
          </a:bodyPr>
          <a:lstStyle/>
          <a:p>
            <a:r>
              <a:rPr lang="en-US" b="1" dirty="0">
                <a:latin typeface="Montserrat Medium" pitchFamily="50" charset="0"/>
              </a:rPr>
              <a:t>Dataset Size and Interaction Statistics</a:t>
            </a:r>
          </a:p>
        </p:txBody>
      </p:sp>
      <p:graphicFrame>
        <p:nvGraphicFramePr>
          <p:cNvPr id="2" name="Table 1">
            <a:extLst>
              <a:ext uri="{FF2B5EF4-FFF2-40B4-BE49-F238E27FC236}">
                <a16:creationId xmlns:a16="http://schemas.microsoft.com/office/drawing/2014/main" id="{A6817AE2-C8E5-4A84-9794-7A4D10D2D6B3}"/>
              </a:ext>
            </a:extLst>
          </p:cNvPr>
          <p:cNvGraphicFramePr>
            <a:graphicFrameLocks noGrp="1"/>
          </p:cNvGraphicFramePr>
          <p:nvPr/>
        </p:nvGraphicFramePr>
        <p:xfrm>
          <a:off x="269481" y="1742254"/>
          <a:ext cx="11793220" cy="4332630"/>
        </p:xfrm>
        <a:graphic>
          <a:graphicData uri="http://schemas.openxmlformats.org/drawingml/2006/table">
            <a:tbl>
              <a:tblPr>
                <a:tableStyleId>{BC89EF96-8CEA-46FF-86C4-4CE0E7609802}</a:tableStyleId>
              </a:tblPr>
              <a:tblGrid>
                <a:gridCol w="3253365">
                  <a:extLst>
                    <a:ext uri="{9D8B030D-6E8A-4147-A177-3AD203B41FA5}">
                      <a16:colId xmlns:a16="http://schemas.microsoft.com/office/drawing/2014/main" val="2472236025"/>
                    </a:ext>
                  </a:extLst>
                </a:gridCol>
                <a:gridCol w="2695074">
                  <a:extLst>
                    <a:ext uri="{9D8B030D-6E8A-4147-A177-3AD203B41FA5}">
                      <a16:colId xmlns:a16="http://schemas.microsoft.com/office/drawing/2014/main" val="3925008310"/>
                    </a:ext>
                  </a:extLst>
                </a:gridCol>
                <a:gridCol w="2896476">
                  <a:extLst>
                    <a:ext uri="{9D8B030D-6E8A-4147-A177-3AD203B41FA5}">
                      <a16:colId xmlns:a16="http://schemas.microsoft.com/office/drawing/2014/main" val="1961402577"/>
                    </a:ext>
                  </a:extLst>
                </a:gridCol>
                <a:gridCol w="2948305">
                  <a:extLst>
                    <a:ext uri="{9D8B030D-6E8A-4147-A177-3AD203B41FA5}">
                      <a16:colId xmlns:a16="http://schemas.microsoft.com/office/drawing/2014/main" val="3602462446"/>
                    </a:ext>
                  </a:extLst>
                </a:gridCol>
              </a:tblGrid>
              <a:tr h="494926">
                <a:tc>
                  <a:txBody>
                    <a:bodyPr/>
                    <a:lstStyle/>
                    <a:p>
                      <a:pPr marL="0" algn="ctr" defTabSz="914400" rtl="0" eaLnBrk="1" latinLnBrk="0" hangingPunct="1"/>
                      <a:r>
                        <a:rPr lang="en-US" sz="1800" b="1" kern="1200" dirty="0">
                          <a:solidFill>
                            <a:schemeClr val="tx1"/>
                          </a:solidFill>
                          <a:latin typeface="Montserrat Medium" pitchFamily="50" charset="0"/>
                          <a:ea typeface="+mn-ea"/>
                          <a:cs typeface="+mn-cs"/>
                        </a:rPr>
                        <a:t>Specification</a:t>
                      </a:r>
                    </a:p>
                  </a:txBody>
                  <a:tcPr anchor="ctr"/>
                </a:tc>
                <a:tc>
                  <a:txBody>
                    <a:bodyPr/>
                    <a:lstStyle/>
                    <a:p>
                      <a:pPr marL="0" algn="ctr" defTabSz="914400" rtl="0" eaLnBrk="1" latinLnBrk="0" hangingPunct="1"/>
                      <a:r>
                        <a:rPr lang="en-US" sz="1800" b="1" kern="1200" dirty="0" err="1">
                          <a:solidFill>
                            <a:schemeClr val="tx1"/>
                          </a:solidFill>
                          <a:latin typeface="Montserrat Medium" pitchFamily="50" charset="0"/>
                          <a:ea typeface="+mn-ea"/>
                          <a:cs typeface="+mn-cs"/>
                        </a:rPr>
                        <a:t>MovieLens</a:t>
                      </a:r>
                      <a:r>
                        <a:rPr lang="en-US" sz="1800" b="1" kern="1200" dirty="0">
                          <a:solidFill>
                            <a:schemeClr val="tx1"/>
                          </a:solidFill>
                          <a:latin typeface="Montserrat Medium" pitchFamily="50" charset="0"/>
                          <a:ea typeface="+mn-ea"/>
                          <a:cs typeface="+mn-cs"/>
                        </a:rPr>
                        <a:t> 100K</a:t>
                      </a:r>
                    </a:p>
                  </a:txBody>
                  <a:tcPr anchor="ctr"/>
                </a:tc>
                <a:tc>
                  <a:txBody>
                    <a:bodyPr/>
                    <a:lstStyle/>
                    <a:p>
                      <a:pPr marL="0" algn="ctr" defTabSz="914400" rtl="0" eaLnBrk="1" latinLnBrk="0" hangingPunct="1"/>
                      <a:r>
                        <a:rPr lang="en-US" sz="1800" b="1" kern="1200" dirty="0" err="1">
                          <a:solidFill>
                            <a:schemeClr val="tx1"/>
                          </a:solidFill>
                          <a:latin typeface="Montserrat Medium" pitchFamily="50" charset="0"/>
                          <a:ea typeface="+mn-ea"/>
                          <a:cs typeface="+mn-cs"/>
                        </a:rPr>
                        <a:t>MovieLens</a:t>
                      </a:r>
                      <a:r>
                        <a:rPr lang="en-US" sz="1800" b="1" kern="1200" dirty="0">
                          <a:solidFill>
                            <a:schemeClr val="tx1"/>
                          </a:solidFill>
                          <a:latin typeface="Montserrat Medium" pitchFamily="50" charset="0"/>
                          <a:ea typeface="+mn-ea"/>
                          <a:cs typeface="+mn-cs"/>
                        </a:rPr>
                        <a:t> 1M</a:t>
                      </a:r>
                    </a:p>
                  </a:txBody>
                  <a:tcPr anchor="ctr"/>
                </a:tc>
                <a:tc>
                  <a:txBody>
                    <a:bodyPr/>
                    <a:lstStyle/>
                    <a:p>
                      <a:pPr marL="0" algn="ctr" defTabSz="914400" rtl="0" eaLnBrk="1" latinLnBrk="0" hangingPunct="1"/>
                      <a:r>
                        <a:rPr lang="en-US" sz="1800" b="1" kern="1200" dirty="0">
                          <a:solidFill>
                            <a:schemeClr val="tx1"/>
                          </a:solidFill>
                          <a:latin typeface="Montserrat Medium" pitchFamily="50" charset="0"/>
                          <a:ea typeface="+mn-ea"/>
                          <a:cs typeface="+mn-cs"/>
                        </a:rPr>
                        <a:t>Amazon Products</a:t>
                      </a:r>
                    </a:p>
                  </a:txBody>
                  <a:tcPr anchor="ctr"/>
                </a:tc>
                <a:extLst>
                  <a:ext uri="{0D108BD9-81ED-4DB2-BD59-A6C34878D82A}">
                    <a16:rowId xmlns:a16="http://schemas.microsoft.com/office/drawing/2014/main" val="790761993"/>
                  </a:ext>
                </a:extLst>
              </a:tr>
              <a:tr h="515157">
                <a:tc>
                  <a:txBody>
                    <a:bodyPr/>
                    <a:lstStyle/>
                    <a:p>
                      <a:pPr algn="ctr"/>
                      <a:r>
                        <a:rPr lang="en-US" b="1">
                          <a:latin typeface="Montserrat Medium" pitchFamily="50" charset="0"/>
                        </a:rPr>
                        <a:t>Number of users</a:t>
                      </a:r>
                    </a:p>
                  </a:txBody>
                  <a:tcPr anchor="ctr"/>
                </a:tc>
                <a:tc>
                  <a:txBody>
                    <a:bodyPr/>
                    <a:lstStyle/>
                    <a:p>
                      <a:pPr algn="just"/>
                      <a:r>
                        <a:rPr lang="en-US" sz="1600" b="0" dirty="0">
                          <a:latin typeface="Montserrat" pitchFamily="2" charset="0"/>
                        </a:rPr>
                        <a:t>943</a:t>
                      </a:r>
                    </a:p>
                  </a:txBody>
                  <a:tcPr anchor="ctr"/>
                </a:tc>
                <a:tc>
                  <a:txBody>
                    <a:bodyPr/>
                    <a:lstStyle/>
                    <a:p>
                      <a:pPr algn="just"/>
                      <a:r>
                        <a:rPr lang="en-US" sz="1600" b="0" dirty="0">
                          <a:latin typeface="Montserrat" pitchFamily="2" charset="0"/>
                        </a:rPr>
                        <a:t>6,040</a:t>
                      </a:r>
                    </a:p>
                  </a:txBody>
                  <a:tcPr anchor="ctr"/>
                </a:tc>
                <a:tc>
                  <a:txBody>
                    <a:bodyPr/>
                    <a:lstStyle/>
                    <a:p>
                      <a:pPr algn="just"/>
                      <a:r>
                        <a:rPr lang="en-US" sz="1600" b="0" dirty="0">
                          <a:latin typeface="Montserrat" pitchFamily="2" charset="0"/>
                        </a:rPr>
                        <a:t>≈15.5 million</a:t>
                      </a:r>
                    </a:p>
                  </a:txBody>
                  <a:tcPr anchor="ctr"/>
                </a:tc>
                <a:extLst>
                  <a:ext uri="{0D108BD9-81ED-4DB2-BD59-A6C34878D82A}">
                    <a16:rowId xmlns:a16="http://schemas.microsoft.com/office/drawing/2014/main" val="3582323909"/>
                  </a:ext>
                </a:extLst>
              </a:tr>
              <a:tr h="558754">
                <a:tc>
                  <a:txBody>
                    <a:bodyPr/>
                    <a:lstStyle/>
                    <a:p>
                      <a:pPr algn="ctr"/>
                      <a:r>
                        <a:rPr lang="en-US" b="1">
                          <a:latin typeface="Montserrat Medium" pitchFamily="50" charset="0"/>
                        </a:rPr>
                        <a:t>Number of items</a:t>
                      </a:r>
                    </a:p>
                  </a:txBody>
                  <a:tcPr anchor="ctr"/>
                </a:tc>
                <a:tc>
                  <a:txBody>
                    <a:bodyPr/>
                    <a:lstStyle/>
                    <a:p>
                      <a:pPr algn="just"/>
                      <a:r>
                        <a:rPr lang="en-US" sz="1600" b="0" dirty="0">
                          <a:latin typeface="Montserrat" pitchFamily="2" charset="0"/>
                        </a:rPr>
                        <a:t>1,682 movies</a:t>
                      </a:r>
                    </a:p>
                  </a:txBody>
                  <a:tcPr anchor="ctr"/>
                </a:tc>
                <a:tc>
                  <a:txBody>
                    <a:bodyPr/>
                    <a:lstStyle/>
                    <a:p>
                      <a:pPr algn="just"/>
                      <a:r>
                        <a:rPr lang="en-US" sz="1600" b="0" dirty="0">
                          <a:latin typeface="Montserrat" pitchFamily="2" charset="0"/>
                        </a:rPr>
                        <a:t>3,952 movie</a:t>
                      </a:r>
                    </a:p>
                  </a:txBody>
                  <a:tcPr anchor="ctr"/>
                </a:tc>
                <a:tc>
                  <a:txBody>
                    <a:bodyPr/>
                    <a:lstStyle/>
                    <a:p>
                      <a:pPr algn="just"/>
                      <a:r>
                        <a:rPr lang="en-US" sz="1600" b="0" dirty="0">
                          <a:latin typeface="Montserrat" pitchFamily="2" charset="0"/>
                        </a:rPr>
                        <a:t>≈9.4 million products</a:t>
                      </a:r>
                    </a:p>
                  </a:txBody>
                  <a:tcPr anchor="ctr"/>
                </a:tc>
                <a:extLst>
                  <a:ext uri="{0D108BD9-81ED-4DB2-BD59-A6C34878D82A}">
                    <a16:rowId xmlns:a16="http://schemas.microsoft.com/office/drawing/2014/main" val="1599902246"/>
                  </a:ext>
                </a:extLst>
              </a:tr>
              <a:tr h="548640">
                <a:tc>
                  <a:txBody>
                    <a:bodyPr/>
                    <a:lstStyle/>
                    <a:p>
                      <a:pPr algn="ctr"/>
                      <a:r>
                        <a:rPr lang="en-US" b="1">
                          <a:latin typeface="Montserrat Medium" pitchFamily="50" charset="0"/>
                        </a:rPr>
                        <a:t>Number of interactions</a:t>
                      </a:r>
                    </a:p>
                  </a:txBody>
                  <a:tcPr anchor="ctr"/>
                </a:tc>
                <a:tc>
                  <a:txBody>
                    <a:bodyPr/>
                    <a:lstStyle/>
                    <a:p>
                      <a:pPr algn="just"/>
                      <a:r>
                        <a:rPr lang="en-US" sz="1600" b="0" dirty="0">
                          <a:latin typeface="Montserrat" pitchFamily="2" charset="0"/>
                        </a:rPr>
                        <a:t>100,000 ratings</a:t>
                      </a:r>
                    </a:p>
                  </a:txBody>
                  <a:tcPr anchor="ctr"/>
                </a:tc>
                <a:tc>
                  <a:txBody>
                    <a:bodyPr/>
                    <a:lstStyle/>
                    <a:p>
                      <a:pPr algn="just"/>
                      <a:r>
                        <a:rPr lang="en-US" sz="1600" b="0" dirty="0">
                          <a:latin typeface="Montserrat" pitchFamily="2" charset="0"/>
                        </a:rPr>
                        <a:t>1,000,209 ratings</a:t>
                      </a:r>
                    </a:p>
                  </a:txBody>
                  <a:tcPr anchor="ctr"/>
                </a:tc>
                <a:tc>
                  <a:txBody>
                    <a:bodyPr/>
                    <a:lstStyle/>
                    <a:p>
                      <a:pPr algn="just"/>
                      <a:r>
                        <a:rPr lang="en-US" sz="1600" b="0" dirty="0">
                          <a:latin typeface="Montserrat" pitchFamily="2" charset="0"/>
                        </a:rPr>
                        <a:t>≈233.1 million reviews</a:t>
                      </a:r>
                    </a:p>
                  </a:txBody>
                  <a:tcPr anchor="ctr"/>
                </a:tc>
                <a:extLst>
                  <a:ext uri="{0D108BD9-81ED-4DB2-BD59-A6C34878D82A}">
                    <a16:rowId xmlns:a16="http://schemas.microsoft.com/office/drawing/2014/main" val="687782574"/>
                  </a:ext>
                </a:extLst>
              </a:tr>
              <a:tr h="530244">
                <a:tc>
                  <a:txBody>
                    <a:bodyPr/>
                    <a:lstStyle/>
                    <a:p>
                      <a:pPr algn="ctr"/>
                      <a:r>
                        <a:rPr lang="en-US" b="1">
                          <a:latin typeface="Montserrat Medium" pitchFamily="50" charset="0"/>
                        </a:rPr>
                        <a:t>Rating scale</a:t>
                      </a:r>
                    </a:p>
                  </a:txBody>
                  <a:tcPr anchor="ctr"/>
                </a:tc>
                <a:tc>
                  <a:txBody>
                    <a:bodyPr/>
                    <a:lstStyle/>
                    <a:p>
                      <a:pPr algn="just"/>
                      <a:r>
                        <a:rPr lang="en-US" sz="1600" b="0" dirty="0">
                          <a:latin typeface="Montserrat" pitchFamily="2" charset="0"/>
                        </a:rPr>
                        <a:t>1–5 stars</a:t>
                      </a:r>
                    </a:p>
                  </a:txBody>
                  <a:tcPr anchor="ctr"/>
                </a:tc>
                <a:tc>
                  <a:txBody>
                    <a:bodyPr/>
                    <a:lstStyle/>
                    <a:p>
                      <a:pPr algn="just"/>
                      <a:r>
                        <a:rPr lang="en-US" sz="1600" b="0" dirty="0">
                          <a:latin typeface="Montserrat" pitchFamily="2" charset="0"/>
                        </a:rPr>
                        <a:t>1–5 stars</a:t>
                      </a:r>
                    </a:p>
                  </a:txBody>
                  <a:tcPr anchor="ctr"/>
                </a:tc>
                <a:tc>
                  <a:txBody>
                    <a:bodyPr/>
                    <a:lstStyle/>
                    <a:p>
                      <a:pPr algn="just"/>
                      <a:r>
                        <a:rPr lang="en-US" sz="1600" b="0">
                          <a:latin typeface="Montserrat" pitchFamily="2" charset="0"/>
                        </a:rPr>
                        <a:t>1–5 stars</a:t>
                      </a:r>
                    </a:p>
                  </a:txBody>
                  <a:tcPr anchor="ctr"/>
                </a:tc>
                <a:extLst>
                  <a:ext uri="{0D108BD9-81ED-4DB2-BD59-A6C34878D82A}">
                    <a16:rowId xmlns:a16="http://schemas.microsoft.com/office/drawing/2014/main" val="3691089554"/>
                  </a:ext>
                </a:extLst>
              </a:tr>
              <a:tr h="913180">
                <a:tc>
                  <a:txBody>
                    <a:bodyPr/>
                    <a:lstStyle/>
                    <a:p>
                      <a:pPr algn="ctr"/>
                      <a:r>
                        <a:rPr lang="en-US" b="1" dirty="0">
                          <a:latin typeface="Montserrat Medium" pitchFamily="50" charset="0"/>
                        </a:rPr>
                        <a:t>Minimum interactions per user</a:t>
                      </a:r>
                    </a:p>
                  </a:txBody>
                  <a:tcPr anchor="ctr"/>
                </a:tc>
                <a:tc>
                  <a:txBody>
                    <a:bodyPr/>
                    <a:lstStyle/>
                    <a:p>
                      <a:pPr algn="just"/>
                      <a:r>
                        <a:rPr lang="en-US" sz="1600" b="0" dirty="0">
                          <a:latin typeface="Montserrat" pitchFamily="2" charset="0"/>
                        </a:rPr>
                        <a:t>20 ratings</a:t>
                      </a:r>
                    </a:p>
                  </a:txBody>
                  <a:tcPr anchor="ctr"/>
                </a:tc>
                <a:tc>
                  <a:txBody>
                    <a:bodyPr/>
                    <a:lstStyle/>
                    <a:p>
                      <a:pPr algn="just"/>
                      <a:r>
                        <a:rPr lang="en-US" sz="1600" b="0" dirty="0">
                          <a:latin typeface="Montserrat" pitchFamily="2" charset="0"/>
                        </a:rPr>
                        <a:t>20 ratings</a:t>
                      </a:r>
                    </a:p>
                  </a:txBody>
                  <a:tcPr anchor="ctr"/>
                </a:tc>
                <a:tc>
                  <a:txBody>
                    <a:bodyPr/>
                    <a:lstStyle/>
                    <a:p>
                      <a:pPr algn="just"/>
                      <a:r>
                        <a:rPr lang="en-US" sz="1600" b="0" dirty="0">
                          <a:latin typeface="Montserrat" pitchFamily="2" charset="0"/>
                        </a:rPr>
                        <a:t>No fixed minimum in the complete dataset</a:t>
                      </a:r>
                    </a:p>
                  </a:txBody>
                  <a:tcPr anchor="ctr"/>
                </a:tc>
                <a:extLst>
                  <a:ext uri="{0D108BD9-81ED-4DB2-BD59-A6C34878D82A}">
                    <a16:rowId xmlns:a16="http://schemas.microsoft.com/office/drawing/2014/main" val="2416601290"/>
                  </a:ext>
                </a:extLst>
              </a:tr>
              <a:tr h="771729">
                <a:tc>
                  <a:txBody>
                    <a:bodyPr/>
                    <a:lstStyle/>
                    <a:p>
                      <a:pPr algn="ctr"/>
                      <a:r>
                        <a:rPr lang="en-US" b="1" dirty="0">
                          <a:latin typeface="Montserrat Medium" pitchFamily="50" charset="0"/>
                        </a:rPr>
                        <a:t>Approximate sparsity</a:t>
                      </a:r>
                    </a:p>
                  </a:txBody>
                  <a:tcPr anchor="ctr"/>
                </a:tc>
                <a:tc>
                  <a:txBody>
                    <a:bodyPr/>
                    <a:lstStyle/>
                    <a:p>
                      <a:pPr algn="just"/>
                      <a:r>
                        <a:rPr lang="en-US" sz="1600" b="0" dirty="0">
                          <a:latin typeface="Montserrat" pitchFamily="2" charset="0"/>
                        </a:rPr>
                        <a:t>93.7%</a:t>
                      </a:r>
                    </a:p>
                  </a:txBody>
                  <a:tcPr anchor="ctr"/>
                </a:tc>
                <a:tc>
                  <a:txBody>
                    <a:bodyPr/>
                    <a:lstStyle/>
                    <a:p>
                      <a:pPr algn="just"/>
                      <a:r>
                        <a:rPr lang="en-US" sz="1600" b="0" dirty="0">
                          <a:latin typeface="Montserrat" pitchFamily="2" charset="0"/>
                        </a:rPr>
                        <a:t>95.8%</a:t>
                      </a:r>
                    </a:p>
                  </a:txBody>
                  <a:tcPr anchor="ctr"/>
                </a:tc>
                <a:tc>
                  <a:txBody>
                    <a:bodyPr/>
                    <a:lstStyle/>
                    <a:p>
                      <a:pPr algn="just"/>
                      <a:r>
                        <a:rPr lang="en-US" sz="1500" b="0" dirty="0">
                          <a:latin typeface="Montserrat" pitchFamily="2" charset="0"/>
                        </a:rPr>
                        <a:t>Extremely sparse; varies by category and preprocessing</a:t>
                      </a:r>
                    </a:p>
                  </a:txBody>
                  <a:tcPr anchor="ctr"/>
                </a:tc>
                <a:extLst>
                  <a:ext uri="{0D108BD9-81ED-4DB2-BD59-A6C34878D82A}">
                    <a16:rowId xmlns:a16="http://schemas.microsoft.com/office/drawing/2014/main" val="1726242043"/>
                  </a:ext>
                </a:extLst>
              </a:tr>
            </a:tbl>
          </a:graphicData>
        </a:graphic>
      </p:graphicFrame>
      <p:sp>
        <p:nvSpPr>
          <p:cNvPr id="48" name="Rectangle 47">
            <a:extLst>
              <a:ext uri="{FF2B5EF4-FFF2-40B4-BE49-F238E27FC236}">
                <a16:creationId xmlns:a16="http://schemas.microsoft.com/office/drawing/2014/main" id="{2502095F-D875-4860-B595-C510727C1478}"/>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pitchFamily="2" charset="0"/>
                <a:cs typeface="Times New Roman" panose="02020603050405020304" pitchFamily="18" charset="0"/>
              </a:rPr>
              <a:t>Datasets</a:t>
            </a:r>
            <a:endParaRPr lang="en-US" dirty="0">
              <a:latin typeface="Montserrat" pitchFamily="2" charset="0"/>
            </a:endParaRPr>
          </a:p>
          <a:p>
            <a:pPr algn="ctr"/>
            <a:endParaRPr lang="en-US" sz="1400" dirty="0">
              <a:latin typeface="Montserrat" pitchFamily="2" charset="0"/>
            </a:endParaRPr>
          </a:p>
        </p:txBody>
      </p:sp>
      <p:sp>
        <p:nvSpPr>
          <p:cNvPr id="49" name="Rectangle 48">
            <a:extLst>
              <a:ext uri="{FF2B5EF4-FFF2-40B4-BE49-F238E27FC236}">
                <a16:creationId xmlns:a16="http://schemas.microsoft.com/office/drawing/2014/main" id="{C5E83223-CA1A-473F-88BF-1E05502F78C9}"/>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50" name="Rectangle 49">
            <a:extLst>
              <a:ext uri="{FF2B5EF4-FFF2-40B4-BE49-F238E27FC236}">
                <a16:creationId xmlns:a16="http://schemas.microsoft.com/office/drawing/2014/main" id="{C93AED05-103A-4BAC-8FC0-4F33A9EBB868}"/>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26" name="Picture 25">
            <a:extLst>
              <a:ext uri="{FF2B5EF4-FFF2-40B4-BE49-F238E27FC236}">
                <a16:creationId xmlns:a16="http://schemas.microsoft.com/office/drawing/2014/main" id="{A90F111F-039B-4FE0-8F74-83806B70EF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27" name="Picture 26">
            <a:extLst>
              <a:ext uri="{FF2B5EF4-FFF2-40B4-BE49-F238E27FC236}">
                <a16:creationId xmlns:a16="http://schemas.microsoft.com/office/drawing/2014/main" id="{0F551A99-D1C3-423D-BF10-3A4F8709AD0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34" name="Rectangle 33">
            <a:extLst>
              <a:ext uri="{FF2B5EF4-FFF2-40B4-BE49-F238E27FC236}">
                <a16:creationId xmlns:a16="http://schemas.microsoft.com/office/drawing/2014/main" id="{9C87CC33-D7F7-41BE-B3F2-BFBE34565B8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7" name="Rectangle 36">
            <a:extLst>
              <a:ext uri="{FF2B5EF4-FFF2-40B4-BE49-F238E27FC236}">
                <a16:creationId xmlns:a16="http://schemas.microsoft.com/office/drawing/2014/main" id="{3A99FA76-7F44-44C2-BAD8-9EEB6B2E4BC7}"/>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6" name="Rectangle 45">
            <a:extLst>
              <a:ext uri="{FF2B5EF4-FFF2-40B4-BE49-F238E27FC236}">
                <a16:creationId xmlns:a16="http://schemas.microsoft.com/office/drawing/2014/main" id="{8EC2B4BA-19CD-4E9B-819D-2EF1E5DEEE13}"/>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47" name="Rectangle 46">
            <a:extLst>
              <a:ext uri="{FF2B5EF4-FFF2-40B4-BE49-F238E27FC236}">
                <a16:creationId xmlns:a16="http://schemas.microsoft.com/office/drawing/2014/main" id="{FFFE3BF9-9571-4465-A69A-6024746A4B35}"/>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64387CB7-8E34-420C-AEEF-F0A80A75271E}"/>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3" name="Picture 52">
            <a:extLst>
              <a:ext uri="{FF2B5EF4-FFF2-40B4-BE49-F238E27FC236}">
                <a16:creationId xmlns:a16="http://schemas.microsoft.com/office/drawing/2014/main" id="{12CB31FF-9969-420D-952E-BE795EB493B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55" name="Picture 54">
            <a:extLst>
              <a:ext uri="{FF2B5EF4-FFF2-40B4-BE49-F238E27FC236}">
                <a16:creationId xmlns:a16="http://schemas.microsoft.com/office/drawing/2014/main" id="{0BC9BB9F-346D-47DE-85DE-FE0E502313D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6" name="Picture 55">
            <a:extLst>
              <a:ext uri="{FF2B5EF4-FFF2-40B4-BE49-F238E27FC236}">
                <a16:creationId xmlns:a16="http://schemas.microsoft.com/office/drawing/2014/main" id="{972AC9F0-292E-4E5A-A923-819E5AD32A9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57" name="Picture 56">
            <a:extLst>
              <a:ext uri="{FF2B5EF4-FFF2-40B4-BE49-F238E27FC236}">
                <a16:creationId xmlns:a16="http://schemas.microsoft.com/office/drawing/2014/main" id="{9FBEC31A-4FA6-4C94-A556-208AFA913B5D}"/>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8" name="Picture 57">
            <a:extLst>
              <a:ext uri="{FF2B5EF4-FFF2-40B4-BE49-F238E27FC236}">
                <a16:creationId xmlns:a16="http://schemas.microsoft.com/office/drawing/2014/main" id="{9127BEA8-629C-4265-9C24-1E6B20E3D7D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9" name="Rectangle 58">
            <a:extLst>
              <a:ext uri="{FF2B5EF4-FFF2-40B4-BE49-F238E27FC236}">
                <a16:creationId xmlns:a16="http://schemas.microsoft.com/office/drawing/2014/main" id="{5A3639F0-7937-4014-A177-D93D67EE0A78}"/>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848CB0FE-2CD9-4D7F-BF4E-E71790FFF1AF}"/>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1" name="Rectangle 60">
            <a:extLst>
              <a:ext uri="{FF2B5EF4-FFF2-40B4-BE49-F238E27FC236}">
                <a16:creationId xmlns:a16="http://schemas.microsoft.com/office/drawing/2014/main" id="{0F7CEEDA-A6B2-43B2-AE08-3627605E60A8}"/>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F58AC551-A4AC-4D2F-9DF3-BD991C618AF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29" name="TextBox 28">
            <a:extLst>
              <a:ext uri="{FF2B5EF4-FFF2-40B4-BE49-F238E27FC236}">
                <a16:creationId xmlns:a16="http://schemas.microsoft.com/office/drawing/2014/main" id="{DC857752-D985-428E-96DB-38CFF25A4C32}"/>
              </a:ext>
            </a:extLst>
          </p:cNvPr>
          <p:cNvSpPr txBox="1"/>
          <p:nvPr/>
        </p:nvSpPr>
        <p:spPr>
          <a:xfrm>
            <a:off x="286898" y="6081854"/>
            <a:ext cx="11879607" cy="246221"/>
          </a:xfrm>
          <a:prstGeom prst="rect">
            <a:avLst/>
          </a:prstGeom>
          <a:noFill/>
        </p:spPr>
        <p:txBody>
          <a:bodyPr wrap="square">
            <a:spAutoFit/>
          </a:bodyPr>
          <a:lstStyle/>
          <a:p>
            <a:pPr marL="0" algn="l" rtl="0" eaLnBrk="1" latinLnBrk="0" hangingPunct="1">
              <a:spcBef>
                <a:spcPts val="0"/>
              </a:spcBef>
              <a:spcAft>
                <a:spcPts val="0"/>
              </a:spcAft>
            </a:pPr>
            <a:r>
              <a:rPr lang="en-US" sz="1000" kern="1200" dirty="0">
                <a:solidFill>
                  <a:srgbClr val="000000"/>
                </a:solidFill>
                <a:effectLst/>
                <a:latin typeface="Agency FB" panose="020B0503020202020204" pitchFamily="34" charset="0"/>
                <a:ea typeface="+mn-ea"/>
                <a:cs typeface="+mn-cs"/>
              </a:rPr>
              <a:t>[14] </a:t>
            </a:r>
            <a:r>
              <a:rPr lang="en-US" sz="1000" kern="1200" dirty="0" err="1">
                <a:solidFill>
                  <a:srgbClr val="000000"/>
                </a:solidFill>
                <a:effectLst/>
                <a:latin typeface="Agency FB" panose="020B0503020202020204" pitchFamily="34" charset="0"/>
                <a:ea typeface="+mn-ea"/>
                <a:cs typeface="+mn-cs"/>
              </a:rPr>
              <a:t>GroupLens</a:t>
            </a:r>
            <a:r>
              <a:rPr lang="en-US" sz="1000" kern="1200" dirty="0">
                <a:solidFill>
                  <a:srgbClr val="000000"/>
                </a:solidFill>
                <a:effectLst/>
                <a:latin typeface="Agency FB" panose="020B0503020202020204" pitchFamily="34" charset="0"/>
                <a:ea typeface="+mn-ea"/>
                <a:cs typeface="+mn-cs"/>
              </a:rPr>
              <a:t> Research, “</a:t>
            </a:r>
            <a:r>
              <a:rPr lang="en-US" sz="1000" kern="1200" dirty="0" err="1">
                <a:solidFill>
                  <a:srgbClr val="000000"/>
                </a:solidFill>
                <a:effectLst/>
                <a:latin typeface="Agency FB" panose="020B0503020202020204" pitchFamily="34" charset="0"/>
                <a:ea typeface="+mn-ea"/>
                <a:cs typeface="+mn-cs"/>
              </a:rPr>
              <a:t>MovieLens</a:t>
            </a:r>
            <a:r>
              <a:rPr lang="en-US" sz="1000" kern="1200" dirty="0">
                <a:solidFill>
                  <a:srgbClr val="000000"/>
                </a:solidFill>
                <a:effectLst/>
                <a:latin typeface="Agency FB" panose="020B0503020202020204" pitchFamily="34" charset="0"/>
                <a:ea typeface="+mn-ea"/>
                <a:cs typeface="+mn-cs"/>
              </a:rPr>
              <a:t> 1M Dataset,” University of Minnesota. [Online]. Available: </a:t>
            </a:r>
            <a:r>
              <a:rPr lang="en-US" sz="1000" kern="1200" dirty="0">
                <a:solidFill>
                  <a:srgbClr val="000000"/>
                </a:solidFill>
                <a:effectLst/>
                <a:latin typeface="Agency FB" panose="020B0503020202020204" pitchFamily="34" charset="0"/>
                <a:ea typeface="+mn-ea"/>
                <a:cs typeface="+mn-cs"/>
                <a:hlinkClick r:id="rId13"/>
              </a:rPr>
              <a:t>https://grouplens.org/datasets/movielens/1m/</a:t>
            </a:r>
            <a:endParaRPr lang="en-US" sz="1000" dirty="0">
              <a:effectLst/>
            </a:endParaRPr>
          </a:p>
        </p:txBody>
      </p:sp>
    </p:spTree>
    <p:extLst>
      <p:ext uri="{BB962C8B-B14F-4D97-AF65-F5344CB8AC3E}">
        <p14:creationId xmlns:p14="http://schemas.microsoft.com/office/powerpoint/2010/main" val="5022532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200" dirty="0">
                <a:latin typeface="Montserrat" pitchFamily="2" charset="0"/>
                <a:cs typeface="Times New Roman" panose="02020603050405020304" pitchFamily="18" charset="0"/>
              </a:rPr>
              <a:t>PhD Viva – Redwane NESMAOUI – XAI </a:t>
            </a:r>
            <a:r>
              <a:rPr lang="en-US" sz="1200" dirty="0">
                <a:latin typeface="Montserrat" pitchFamily="2" charset="0"/>
              </a:rPr>
              <a:t> for Decision-Making in Graph-Based Recommendation Systems</a:t>
            </a:r>
          </a:p>
          <a:p>
            <a:pPr algn="ctr"/>
            <a:endParaRPr lang="en-US" sz="1200" dirty="0">
              <a:latin typeface="Montserrat" pitchFamily="2" charset="0"/>
            </a:endParaRP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ontserrat" pitchFamily="2" charset="0"/>
              </a:rPr>
              <a:t>Experiment Setup</a:t>
            </a:r>
          </a:p>
        </p:txBody>
      </p:sp>
      <p:sp>
        <p:nvSpPr>
          <p:cNvPr id="31" name="TextBox 30">
            <a:extLst>
              <a:ext uri="{FF2B5EF4-FFF2-40B4-BE49-F238E27FC236}">
                <a16:creationId xmlns:a16="http://schemas.microsoft.com/office/drawing/2014/main" id="{0C5C9FAE-D7DC-46FC-BF6F-4E7469D433B2}"/>
              </a:ext>
            </a:extLst>
          </p:cNvPr>
          <p:cNvSpPr txBox="1"/>
          <p:nvPr/>
        </p:nvSpPr>
        <p:spPr>
          <a:xfrm>
            <a:off x="236258" y="1298443"/>
            <a:ext cx="11232206" cy="369332"/>
          </a:xfrm>
          <a:prstGeom prst="rect">
            <a:avLst/>
          </a:prstGeom>
          <a:noFill/>
        </p:spPr>
        <p:txBody>
          <a:bodyPr wrap="square">
            <a:spAutoFit/>
          </a:bodyPr>
          <a:lstStyle/>
          <a:p>
            <a:r>
              <a:rPr lang="en-US" b="1" dirty="0">
                <a:latin typeface="Montserrat Medium" pitchFamily="50" charset="0"/>
              </a:rPr>
              <a:t>Dataset Size and Interaction Statistics</a:t>
            </a:r>
          </a:p>
        </p:txBody>
      </p:sp>
      <p:graphicFrame>
        <p:nvGraphicFramePr>
          <p:cNvPr id="4" name="Table 3">
            <a:extLst>
              <a:ext uri="{FF2B5EF4-FFF2-40B4-BE49-F238E27FC236}">
                <a16:creationId xmlns:a16="http://schemas.microsoft.com/office/drawing/2014/main" id="{4CFB1BC1-69BB-4974-B034-48616543E952}"/>
              </a:ext>
            </a:extLst>
          </p:cNvPr>
          <p:cNvGraphicFramePr>
            <a:graphicFrameLocks noGrp="1"/>
          </p:cNvGraphicFramePr>
          <p:nvPr/>
        </p:nvGraphicFramePr>
        <p:xfrm>
          <a:off x="236257" y="1732662"/>
          <a:ext cx="11826444" cy="4130109"/>
        </p:xfrm>
        <a:graphic>
          <a:graphicData uri="http://schemas.openxmlformats.org/drawingml/2006/table">
            <a:tbl>
              <a:tblPr>
                <a:tableStyleId>{BC89EF96-8CEA-46FF-86C4-4CE0E7609802}</a:tableStyleId>
              </a:tblPr>
              <a:tblGrid>
                <a:gridCol w="2707359">
                  <a:extLst>
                    <a:ext uri="{9D8B030D-6E8A-4147-A177-3AD203B41FA5}">
                      <a16:colId xmlns:a16="http://schemas.microsoft.com/office/drawing/2014/main" val="3731246476"/>
                    </a:ext>
                  </a:extLst>
                </a:gridCol>
                <a:gridCol w="2642992">
                  <a:extLst>
                    <a:ext uri="{9D8B030D-6E8A-4147-A177-3AD203B41FA5}">
                      <a16:colId xmlns:a16="http://schemas.microsoft.com/office/drawing/2014/main" val="1378841920"/>
                    </a:ext>
                  </a:extLst>
                </a:gridCol>
                <a:gridCol w="2755726">
                  <a:extLst>
                    <a:ext uri="{9D8B030D-6E8A-4147-A177-3AD203B41FA5}">
                      <a16:colId xmlns:a16="http://schemas.microsoft.com/office/drawing/2014/main" val="3587799758"/>
                    </a:ext>
                  </a:extLst>
                </a:gridCol>
                <a:gridCol w="3720367">
                  <a:extLst>
                    <a:ext uri="{9D8B030D-6E8A-4147-A177-3AD203B41FA5}">
                      <a16:colId xmlns:a16="http://schemas.microsoft.com/office/drawing/2014/main" val="985154234"/>
                    </a:ext>
                  </a:extLst>
                </a:gridCol>
              </a:tblGrid>
              <a:tr h="510024">
                <a:tc>
                  <a:txBody>
                    <a:bodyPr/>
                    <a:lstStyle/>
                    <a:p>
                      <a:pPr algn="ctr"/>
                      <a:r>
                        <a:rPr lang="en-US" sz="1800" b="1" dirty="0">
                          <a:latin typeface="Montserrat Medium" pitchFamily="50" charset="0"/>
                        </a:rPr>
                        <a:t>Specification</a:t>
                      </a:r>
                    </a:p>
                  </a:txBody>
                  <a:tcPr marL="85320" marR="85320" marT="42660" marB="42660" anchor="ctr"/>
                </a:tc>
                <a:tc>
                  <a:txBody>
                    <a:bodyPr/>
                    <a:lstStyle/>
                    <a:p>
                      <a:pPr algn="ctr"/>
                      <a:r>
                        <a:rPr lang="en-US" sz="1800" b="1" dirty="0" err="1">
                          <a:latin typeface="Montserrat Medium" pitchFamily="50" charset="0"/>
                        </a:rPr>
                        <a:t>MovieLens</a:t>
                      </a:r>
                      <a:r>
                        <a:rPr lang="en-US" sz="1800" b="1" dirty="0">
                          <a:latin typeface="Montserrat Medium" pitchFamily="50" charset="0"/>
                        </a:rPr>
                        <a:t> 1M</a:t>
                      </a:r>
                    </a:p>
                  </a:txBody>
                  <a:tcPr marL="85320" marR="85320" marT="42660" marB="42660" anchor="ctr"/>
                </a:tc>
                <a:tc>
                  <a:txBody>
                    <a:bodyPr/>
                    <a:lstStyle/>
                    <a:p>
                      <a:pPr algn="ctr"/>
                      <a:r>
                        <a:rPr lang="en-US" sz="1800" b="1" dirty="0" err="1">
                          <a:latin typeface="Montserrat Medium" pitchFamily="50" charset="0"/>
                        </a:rPr>
                        <a:t>MovieLens</a:t>
                      </a:r>
                      <a:r>
                        <a:rPr lang="en-US" sz="1800" b="1" dirty="0">
                          <a:latin typeface="Montserrat Medium" pitchFamily="50" charset="0"/>
                        </a:rPr>
                        <a:t> 100K</a:t>
                      </a:r>
                    </a:p>
                  </a:txBody>
                  <a:tcPr marL="85320" marR="85320" marT="42660" marB="42660" anchor="ctr"/>
                </a:tc>
                <a:tc>
                  <a:txBody>
                    <a:bodyPr/>
                    <a:lstStyle/>
                    <a:p>
                      <a:pPr algn="ctr"/>
                      <a:r>
                        <a:rPr lang="en-US" sz="1800" b="1" dirty="0">
                          <a:latin typeface="Montserrat Medium" pitchFamily="50" charset="0"/>
                        </a:rPr>
                        <a:t>Amazon Products</a:t>
                      </a:r>
                    </a:p>
                  </a:txBody>
                  <a:tcPr marL="85320" marR="85320" marT="42660" marB="42660" anchor="ctr"/>
                </a:tc>
                <a:extLst>
                  <a:ext uri="{0D108BD9-81ED-4DB2-BD59-A6C34878D82A}">
                    <a16:rowId xmlns:a16="http://schemas.microsoft.com/office/drawing/2014/main" val="438639041"/>
                  </a:ext>
                </a:extLst>
              </a:tr>
              <a:tr h="539015">
                <a:tc>
                  <a:txBody>
                    <a:bodyPr/>
                    <a:lstStyle/>
                    <a:p>
                      <a:pPr algn="ctr"/>
                      <a:r>
                        <a:rPr lang="en-US" sz="1800" b="1">
                          <a:latin typeface="Montserrat Medium" pitchFamily="50" charset="0"/>
                        </a:rPr>
                        <a:t>Feedback type</a:t>
                      </a:r>
                    </a:p>
                  </a:txBody>
                  <a:tcPr marL="85320" marR="85320" marT="42660" marB="42660" anchor="ctr"/>
                </a:tc>
                <a:tc>
                  <a:txBody>
                    <a:bodyPr/>
                    <a:lstStyle/>
                    <a:p>
                      <a:pPr algn="just"/>
                      <a:r>
                        <a:rPr lang="en-US" sz="1600" b="0" dirty="0">
                          <a:latin typeface="Montserrat" pitchFamily="2" charset="0"/>
                        </a:rPr>
                        <a:t>Explicit ratings</a:t>
                      </a:r>
                    </a:p>
                  </a:txBody>
                  <a:tcPr marL="85320" marR="85320" marT="42660" marB="42660" anchor="ctr"/>
                </a:tc>
                <a:tc>
                  <a:txBody>
                    <a:bodyPr/>
                    <a:lstStyle/>
                    <a:p>
                      <a:pPr algn="just"/>
                      <a:r>
                        <a:rPr lang="en-US" sz="1600" b="0" dirty="0">
                          <a:latin typeface="Montserrat" pitchFamily="2" charset="0"/>
                        </a:rPr>
                        <a:t>Explicit ratings</a:t>
                      </a:r>
                    </a:p>
                  </a:txBody>
                  <a:tcPr marL="85320" marR="85320" marT="42660" marB="42660" anchor="ctr"/>
                </a:tc>
                <a:tc>
                  <a:txBody>
                    <a:bodyPr/>
                    <a:lstStyle/>
                    <a:p>
                      <a:pPr algn="just"/>
                      <a:r>
                        <a:rPr lang="en-US" sz="1600" b="0" dirty="0">
                          <a:latin typeface="Montserrat" pitchFamily="2" charset="0"/>
                        </a:rPr>
                        <a:t>Explicit ratings and textual reviews</a:t>
                      </a:r>
                    </a:p>
                  </a:txBody>
                  <a:tcPr marL="85320" marR="85320" marT="42660" marB="42660" anchor="ctr"/>
                </a:tc>
                <a:extLst>
                  <a:ext uri="{0D108BD9-81ED-4DB2-BD59-A6C34878D82A}">
                    <a16:rowId xmlns:a16="http://schemas.microsoft.com/office/drawing/2014/main" val="1781800908"/>
                  </a:ext>
                </a:extLst>
              </a:tr>
              <a:tr h="745661">
                <a:tc>
                  <a:txBody>
                    <a:bodyPr/>
                    <a:lstStyle/>
                    <a:p>
                      <a:pPr algn="ctr"/>
                      <a:r>
                        <a:rPr lang="en-US" sz="1800" b="1">
                          <a:latin typeface="Montserrat Medium" pitchFamily="50" charset="0"/>
                        </a:rPr>
                        <a:t>User information</a:t>
                      </a:r>
                    </a:p>
                  </a:txBody>
                  <a:tcPr marL="85320" marR="85320" marT="42660" marB="42660" anchor="ctr"/>
                </a:tc>
                <a:tc>
                  <a:txBody>
                    <a:bodyPr/>
                    <a:lstStyle/>
                    <a:p>
                      <a:pPr algn="just"/>
                      <a:r>
                        <a:rPr lang="en-US" sz="1600" b="0" dirty="0">
                          <a:latin typeface="Montserrat" pitchFamily="2" charset="0"/>
                        </a:rPr>
                        <a:t>Gender, age group, occupation, ZIP code</a:t>
                      </a:r>
                    </a:p>
                  </a:txBody>
                  <a:tcPr marL="85320" marR="85320" marT="42660" marB="42660" anchor="ctr"/>
                </a:tc>
                <a:tc>
                  <a:txBody>
                    <a:bodyPr/>
                    <a:lstStyle/>
                    <a:p>
                      <a:pPr algn="just"/>
                      <a:r>
                        <a:rPr lang="en-US" sz="1600" b="0" dirty="0">
                          <a:latin typeface="Montserrat" pitchFamily="2" charset="0"/>
                        </a:rPr>
                        <a:t>Age, gender, occupation, ZIP code</a:t>
                      </a:r>
                    </a:p>
                  </a:txBody>
                  <a:tcPr marL="85320" marR="85320" marT="42660" marB="42660" anchor="ctr"/>
                </a:tc>
                <a:tc>
                  <a:txBody>
                    <a:bodyPr/>
                    <a:lstStyle/>
                    <a:p>
                      <a:pPr algn="just"/>
                      <a:r>
                        <a:rPr lang="en-US" sz="1600" b="0">
                          <a:latin typeface="Montserrat" pitchFamily="2" charset="0"/>
                        </a:rPr>
                        <a:t>Reviewer identifier; limited demographic information</a:t>
                      </a:r>
                    </a:p>
                  </a:txBody>
                  <a:tcPr marL="85320" marR="85320" marT="42660" marB="42660" anchor="ctr"/>
                </a:tc>
                <a:extLst>
                  <a:ext uri="{0D108BD9-81ED-4DB2-BD59-A6C34878D82A}">
                    <a16:rowId xmlns:a16="http://schemas.microsoft.com/office/drawing/2014/main" val="423571266"/>
                  </a:ext>
                </a:extLst>
              </a:tr>
              <a:tr h="969482">
                <a:tc>
                  <a:txBody>
                    <a:bodyPr/>
                    <a:lstStyle/>
                    <a:p>
                      <a:pPr algn="ctr"/>
                      <a:r>
                        <a:rPr lang="en-US" sz="1800" b="1">
                          <a:latin typeface="Montserrat Medium" pitchFamily="50" charset="0"/>
                        </a:rPr>
                        <a:t>Item information</a:t>
                      </a:r>
                    </a:p>
                  </a:txBody>
                  <a:tcPr marL="85320" marR="85320" marT="42660" marB="42660" anchor="ctr"/>
                </a:tc>
                <a:tc>
                  <a:txBody>
                    <a:bodyPr/>
                    <a:lstStyle/>
                    <a:p>
                      <a:pPr algn="just"/>
                      <a:r>
                        <a:rPr lang="en-US" sz="1600" b="0" dirty="0">
                          <a:latin typeface="Montserrat" pitchFamily="2" charset="0"/>
                        </a:rPr>
                        <a:t>Movie title and genres</a:t>
                      </a:r>
                    </a:p>
                  </a:txBody>
                  <a:tcPr marL="85320" marR="85320" marT="42660" marB="42660" anchor="ctr"/>
                </a:tc>
                <a:tc>
                  <a:txBody>
                    <a:bodyPr/>
                    <a:lstStyle/>
                    <a:p>
                      <a:pPr algn="just"/>
                      <a:r>
                        <a:rPr lang="en-US" sz="1600" b="0" dirty="0">
                          <a:latin typeface="Montserrat" pitchFamily="2" charset="0"/>
                        </a:rPr>
                        <a:t>Movie title, release date, genres, IMDb URL</a:t>
                      </a:r>
                    </a:p>
                  </a:txBody>
                  <a:tcPr marL="85320" marR="85320" marT="42660" marB="42660" anchor="ctr"/>
                </a:tc>
                <a:tc>
                  <a:txBody>
                    <a:bodyPr/>
                    <a:lstStyle/>
                    <a:p>
                      <a:pPr algn="just"/>
                      <a:r>
                        <a:rPr lang="en-US" sz="1600" b="0" dirty="0">
                          <a:latin typeface="Montserrat" pitchFamily="2" charset="0"/>
                        </a:rPr>
                        <a:t>Product title, category, brand, price, description, and images where available</a:t>
                      </a:r>
                    </a:p>
                  </a:txBody>
                  <a:tcPr marL="85320" marR="85320" marT="42660" marB="42660" anchor="ctr"/>
                </a:tc>
                <a:extLst>
                  <a:ext uri="{0D108BD9-81ED-4DB2-BD59-A6C34878D82A}">
                    <a16:rowId xmlns:a16="http://schemas.microsoft.com/office/drawing/2014/main" val="2736699939"/>
                  </a:ext>
                </a:extLst>
              </a:tr>
              <a:tr h="688931">
                <a:tc>
                  <a:txBody>
                    <a:bodyPr/>
                    <a:lstStyle/>
                    <a:p>
                      <a:pPr algn="ctr"/>
                      <a:r>
                        <a:rPr lang="en-US" sz="1800" b="1">
                          <a:latin typeface="Montserrat Medium" pitchFamily="50" charset="0"/>
                        </a:rPr>
                        <a:t>Review information</a:t>
                      </a:r>
                    </a:p>
                  </a:txBody>
                  <a:tcPr marL="85320" marR="85320" marT="42660" marB="42660" anchor="ctr"/>
                </a:tc>
                <a:tc>
                  <a:txBody>
                    <a:bodyPr/>
                    <a:lstStyle/>
                    <a:p>
                      <a:pPr algn="just"/>
                      <a:r>
                        <a:rPr lang="en-US" sz="1600" b="0" dirty="0">
                          <a:latin typeface="Montserrat" pitchFamily="2" charset="0"/>
                        </a:rPr>
                        <a:t>Rating and timestamp</a:t>
                      </a:r>
                    </a:p>
                  </a:txBody>
                  <a:tcPr marL="85320" marR="85320" marT="42660" marB="42660" anchor="ctr"/>
                </a:tc>
                <a:tc>
                  <a:txBody>
                    <a:bodyPr/>
                    <a:lstStyle/>
                    <a:p>
                      <a:pPr algn="just"/>
                      <a:r>
                        <a:rPr lang="en-US" sz="1600" b="0">
                          <a:latin typeface="Montserrat" pitchFamily="2" charset="0"/>
                        </a:rPr>
                        <a:t>Rating and timestamp</a:t>
                      </a:r>
                    </a:p>
                  </a:txBody>
                  <a:tcPr marL="85320" marR="85320" marT="42660" marB="42660" anchor="ctr"/>
                </a:tc>
                <a:tc>
                  <a:txBody>
                    <a:bodyPr/>
                    <a:lstStyle/>
                    <a:p>
                      <a:pPr algn="just"/>
                      <a:r>
                        <a:rPr lang="en-US" sz="1600" b="0" dirty="0">
                          <a:latin typeface="Montserrat" pitchFamily="2" charset="0"/>
                        </a:rPr>
                        <a:t>Rating, review text, summary, helpfulness votes, and timestamp</a:t>
                      </a:r>
                    </a:p>
                  </a:txBody>
                  <a:tcPr marL="85320" marR="85320" marT="42660" marB="42660" anchor="ctr"/>
                </a:tc>
                <a:extLst>
                  <a:ext uri="{0D108BD9-81ED-4DB2-BD59-A6C34878D82A}">
                    <a16:rowId xmlns:a16="http://schemas.microsoft.com/office/drawing/2014/main" val="3849191498"/>
                  </a:ext>
                </a:extLst>
              </a:tr>
              <a:tr h="676996">
                <a:tc>
                  <a:txBody>
                    <a:bodyPr/>
                    <a:lstStyle/>
                    <a:p>
                      <a:pPr algn="ctr"/>
                      <a:r>
                        <a:rPr lang="en-US" sz="1800" b="1" dirty="0">
                          <a:latin typeface="Montserrat Medium" pitchFamily="50" charset="0"/>
                        </a:rPr>
                        <a:t>Timestamp available</a:t>
                      </a:r>
                    </a:p>
                  </a:txBody>
                  <a:tcPr marL="85320" marR="85320" marT="42660" marB="42660" anchor="ctr"/>
                </a:tc>
                <a:tc>
                  <a:txBody>
                    <a:bodyPr/>
                    <a:lstStyle/>
                    <a:p>
                      <a:pPr algn="just"/>
                      <a:r>
                        <a:rPr lang="en-US" sz="1600" b="0" dirty="0">
                          <a:latin typeface="Montserrat" pitchFamily="2" charset="0"/>
                        </a:rPr>
                        <a:t>Yes</a:t>
                      </a:r>
                    </a:p>
                  </a:txBody>
                  <a:tcPr marL="85320" marR="85320" marT="42660" marB="42660" anchor="ctr"/>
                </a:tc>
                <a:tc>
                  <a:txBody>
                    <a:bodyPr/>
                    <a:lstStyle/>
                    <a:p>
                      <a:pPr algn="just"/>
                      <a:r>
                        <a:rPr lang="en-US" sz="1600" b="0">
                          <a:latin typeface="Montserrat" pitchFamily="2" charset="0"/>
                        </a:rPr>
                        <a:t>Yes</a:t>
                      </a:r>
                    </a:p>
                  </a:txBody>
                  <a:tcPr marL="85320" marR="85320" marT="42660" marB="42660" anchor="ctr"/>
                </a:tc>
                <a:tc>
                  <a:txBody>
                    <a:bodyPr/>
                    <a:lstStyle/>
                    <a:p>
                      <a:pPr algn="just"/>
                      <a:r>
                        <a:rPr lang="en-US" sz="1600" b="0" dirty="0">
                          <a:latin typeface="Montserrat" pitchFamily="2" charset="0"/>
                        </a:rPr>
                        <a:t>Yes</a:t>
                      </a:r>
                    </a:p>
                  </a:txBody>
                  <a:tcPr marL="85320" marR="85320" marT="42660" marB="42660" anchor="ctr"/>
                </a:tc>
                <a:extLst>
                  <a:ext uri="{0D108BD9-81ED-4DB2-BD59-A6C34878D82A}">
                    <a16:rowId xmlns:a16="http://schemas.microsoft.com/office/drawing/2014/main" val="505917701"/>
                  </a:ext>
                </a:extLst>
              </a:tr>
            </a:tbl>
          </a:graphicData>
        </a:graphic>
      </p:graphicFrame>
      <p:sp>
        <p:nvSpPr>
          <p:cNvPr id="48" name="Rectangle 47">
            <a:extLst>
              <a:ext uri="{FF2B5EF4-FFF2-40B4-BE49-F238E27FC236}">
                <a16:creationId xmlns:a16="http://schemas.microsoft.com/office/drawing/2014/main" id="{8F7B8F09-9CD1-401E-9407-36DDD921AFC1}"/>
              </a:ext>
            </a:extLst>
          </p:cNvPr>
          <p:cNvSpPr/>
          <p:nvPr/>
        </p:nvSpPr>
        <p:spPr>
          <a:xfrm>
            <a:off x="206046" y="702230"/>
            <a:ext cx="3489689" cy="3813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en-US" dirty="0">
                <a:latin typeface="Montserrat" pitchFamily="2" charset="0"/>
                <a:cs typeface="Times New Roman" panose="02020603050405020304" pitchFamily="18" charset="0"/>
              </a:rPr>
              <a:t>Datasets</a:t>
            </a:r>
            <a:endParaRPr lang="en-US" dirty="0">
              <a:latin typeface="Montserrat" pitchFamily="2" charset="0"/>
            </a:endParaRPr>
          </a:p>
          <a:p>
            <a:pPr algn="ctr"/>
            <a:endParaRPr lang="en-US" sz="1400" dirty="0">
              <a:latin typeface="Montserrat" pitchFamily="2" charset="0"/>
            </a:endParaRPr>
          </a:p>
        </p:txBody>
      </p:sp>
      <p:sp>
        <p:nvSpPr>
          <p:cNvPr id="49" name="Rectangle 48">
            <a:extLst>
              <a:ext uri="{FF2B5EF4-FFF2-40B4-BE49-F238E27FC236}">
                <a16:creationId xmlns:a16="http://schemas.microsoft.com/office/drawing/2014/main" id="{0BA66DCD-B79B-440C-951F-FB078FF50604}"/>
              </a:ext>
            </a:extLst>
          </p:cNvPr>
          <p:cNvSpPr/>
          <p:nvPr/>
        </p:nvSpPr>
        <p:spPr>
          <a:xfrm>
            <a:off x="4289486" y="728582"/>
            <a:ext cx="3614896"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Metrics</a:t>
            </a:r>
            <a:endParaRPr lang="en-US" sz="2000" dirty="0">
              <a:latin typeface="Montserrat" pitchFamily="2" charset="0"/>
            </a:endParaRPr>
          </a:p>
          <a:p>
            <a:pPr algn="ctr"/>
            <a:endParaRPr lang="en-US" sz="1200" dirty="0">
              <a:latin typeface="Montserrat" pitchFamily="2" charset="0"/>
            </a:endParaRPr>
          </a:p>
        </p:txBody>
      </p:sp>
      <p:sp>
        <p:nvSpPr>
          <p:cNvPr id="50" name="Rectangle 49">
            <a:extLst>
              <a:ext uri="{FF2B5EF4-FFF2-40B4-BE49-F238E27FC236}">
                <a16:creationId xmlns:a16="http://schemas.microsoft.com/office/drawing/2014/main" id="{817B9D00-C673-40B1-AB4B-D961DEABE0F9}"/>
              </a:ext>
            </a:extLst>
          </p:cNvPr>
          <p:cNvSpPr/>
          <p:nvPr/>
        </p:nvSpPr>
        <p:spPr>
          <a:xfrm>
            <a:off x="8498134" y="715328"/>
            <a:ext cx="3614895" cy="3813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250000"/>
              </a:lnSpc>
            </a:pPr>
            <a:r>
              <a:rPr lang="en-US" sz="2000" dirty="0">
                <a:latin typeface="Montserrat" pitchFamily="2" charset="0"/>
                <a:cs typeface="Times New Roman" panose="02020603050405020304" pitchFamily="18" charset="0"/>
              </a:rPr>
              <a:t>Hardware</a:t>
            </a:r>
            <a:endParaRPr lang="en-US" sz="2000" dirty="0">
              <a:latin typeface="Montserrat" pitchFamily="2" charset="0"/>
            </a:endParaRPr>
          </a:p>
          <a:p>
            <a:pPr algn="ctr"/>
            <a:endParaRPr lang="en-US" sz="1200" dirty="0">
              <a:latin typeface="Montserrat" pitchFamily="2" charset="0"/>
            </a:endParaRPr>
          </a:p>
        </p:txBody>
      </p:sp>
      <p:pic>
        <p:nvPicPr>
          <p:cNvPr id="26" name="Picture 25">
            <a:extLst>
              <a:ext uri="{FF2B5EF4-FFF2-40B4-BE49-F238E27FC236}">
                <a16:creationId xmlns:a16="http://schemas.microsoft.com/office/drawing/2014/main" id="{16034554-8BB9-4D74-8FF5-C2007BD6EE6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677021" y="6400800"/>
            <a:ext cx="385680" cy="385680"/>
          </a:xfrm>
          <a:prstGeom prst="rect">
            <a:avLst/>
          </a:prstGeom>
        </p:spPr>
      </p:pic>
      <p:pic>
        <p:nvPicPr>
          <p:cNvPr id="27" name="Picture 26">
            <a:extLst>
              <a:ext uri="{FF2B5EF4-FFF2-40B4-BE49-F238E27FC236}">
                <a16:creationId xmlns:a16="http://schemas.microsoft.com/office/drawing/2014/main" id="{4C432DB0-4A54-4F37-B714-B4FEB026EE4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431603" y="6400800"/>
            <a:ext cx="385680" cy="385680"/>
          </a:xfrm>
          <a:prstGeom prst="rect">
            <a:avLst/>
          </a:prstGeom>
        </p:spPr>
      </p:pic>
      <p:sp>
        <p:nvSpPr>
          <p:cNvPr id="34" name="Rectangle 33">
            <a:extLst>
              <a:ext uri="{FF2B5EF4-FFF2-40B4-BE49-F238E27FC236}">
                <a16:creationId xmlns:a16="http://schemas.microsoft.com/office/drawing/2014/main" id="{988F9671-332C-4D67-B0C6-AB0E88D5C23C}"/>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37" name="Rectangle 36">
            <a:extLst>
              <a:ext uri="{FF2B5EF4-FFF2-40B4-BE49-F238E27FC236}">
                <a16:creationId xmlns:a16="http://schemas.microsoft.com/office/drawing/2014/main" id="{957780D0-C0D3-43EA-A21E-C5DF0A22BEFB}"/>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46" name="Rectangle 45">
            <a:extLst>
              <a:ext uri="{FF2B5EF4-FFF2-40B4-BE49-F238E27FC236}">
                <a16:creationId xmlns:a16="http://schemas.microsoft.com/office/drawing/2014/main" id="{5A3F6EEA-DD37-4450-8B85-65B62D98E224}"/>
              </a:ext>
            </a:extLst>
          </p:cNvPr>
          <p:cNvSpPr/>
          <p:nvPr/>
        </p:nvSpPr>
        <p:spPr>
          <a:xfrm>
            <a:off x="1314748" y="82457"/>
            <a:ext cx="440431" cy="485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rgbClr val="98ECB7"/>
              </a:solidFill>
              <a:latin typeface="Montserrat" pitchFamily="2" charset="0"/>
            </a:endParaRPr>
          </a:p>
        </p:txBody>
      </p:sp>
      <p:sp>
        <p:nvSpPr>
          <p:cNvPr id="47" name="Rectangle 46">
            <a:extLst>
              <a:ext uri="{FF2B5EF4-FFF2-40B4-BE49-F238E27FC236}">
                <a16:creationId xmlns:a16="http://schemas.microsoft.com/office/drawing/2014/main" id="{969E959D-1973-4F25-A29C-434A25A105A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sp>
        <p:nvSpPr>
          <p:cNvPr id="51" name="Rectangle 50">
            <a:extLst>
              <a:ext uri="{FF2B5EF4-FFF2-40B4-BE49-F238E27FC236}">
                <a16:creationId xmlns:a16="http://schemas.microsoft.com/office/drawing/2014/main" id="{EDC36A20-809D-4FDD-88EE-0101915C1F19}"/>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53" name="Picture 52">
            <a:extLst>
              <a:ext uri="{FF2B5EF4-FFF2-40B4-BE49-F238E27FC236}">
                <a16:creationId xmlns:a16="http://schemas.microsoft.com/office/drawing/2014/main" id="{469E4863-2DE5-41EA-9F4E-BCF99605FCE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55" name="Picture 54">
            <a:extLst>
              <a:ext uri="{FF2B5EF4-FFF2-40B4-BE49-F238E27FC236}">
                <a16:creationId xmlns:a16="http://schemas.microsoft.com/office/drawing/2014/main" id="{173F913F-3E5C-42EC-B8A0-416B442957C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6" name="Picture 55">
            <a:extLst>
              <a:ext uri="{FF2B5EF4-FFF2-40B4-BE49-F238E27FC236}">
                <a16:creationId xmlns:a16="http://schemas.microsoft.com/office/drawing/2014/main" id="{C60A0776-D22E-4A45-995C-4BE8C785122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57" name="Picture 56">
            <a:extLst>
              <a:ext uri="{FF2B5EF4-FFF2-40B4-BE49-F238E27FC236}">
                <a16:creationId xmlns:a16="http://schemas.microsoft.com/office/drawing/2014/main" id="{F28197BB-6611-480F-A8EA-90FA84507CD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58" name="Picture 57">
            <a:extLst>
              <a:ext uri="{FF2B5EF4-FFF2-40B4-BE49-F238E27FC236}">
                <a16:creationId xmlns:a16="http://schemas.microsoft.com/office/drawing/2014/main" id="{DD86DF2F-9458-4B54-B72B-1D70D64DEDA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59" name="Rectangle 58">
            <a:extLst>
              <a:ext uri="{FF2B5EF4-FFF2-40B4-BE49-F238E27FC236}">
                <a16:creationId xmlns:a16="http://schemas.microsoft.com/office/drawing/2014/main" id="{F70C284F-F49C-4C3F-BED8-2A3C7D856390}"/>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0" name="Picture 59">
            <a:extLst>
              <a:ext uri="{FF2B5EF4-FFF2-40B4-BE49-F238E27FC236}">
                <a16:creationId xmlns:a16="http://schemas.microsoft.com/office/drawing/2014/main" id="{5BD23901-2B28-41B7-847B-EBBE46A790B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1" name="Rectangle 60">
            <a:extLst>
              <a:ext uri="{FF2B5EF4-FFF2-40B4-BE49-F238E27FC236}">
                <a16:creationId xmlns:a16="http://schemas.microsoft.com/office/drawing/2014/main" id="{7B4F021A-C8A0-45CE-A7B0-805AF9717131}"/>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98ECB7"/>
              </a:solidFill>
              <a:latin typeface="Montserrat" pitchFamily="2" charset="0"/>
            </a:endParaRPr>
          </a:p>
        </p:txBody>
      </p:sp>
      <p:pic>
        <p:nvPicPr>
          <p:cNvPr id="62" name="Picture 61">
            <a:extLst>
              <a:ext uri="{FF2B5EF4-FFF2-40B4-BE49-F238E27FC236}">
                <a16:creationId xmlns:a16="http://schemas.microsoft.com/office/drawing/2014/main" id="{A6C3CECF-8C82-49EA-8452-D18E11BEA26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29" name="TextBox 28">
            <a:extLst>
              <a:ext uri="{FF2B5EF4-FFF2-40B4-BE49-F238E27FC236}">
                <a16:creationId xmlns:a16="http://schemas.microsoft.com/office/drawing/2014/main" id="{C06034CC-4393-4C3F-8A66-079714501186}"/>
              </a:ext>
            </a:extLst>
          </p:cNvPr>
          <p:cNvSpPr txBox="1"/>
          <p:nvPr/>
        </p:nvSpPr>
        <p:spPr>
          <a:xfrm>
            <a:off x="236257" y="6066111"/>
            <a:ext cx="11879607" cy="246221"/>
          </a:xfrm>
          <a:prstGeom prst="rect">
            <a:avLst/>
          </a:prstGeom>
          <a:noFill/>
        </p:spPr>
        <p:txBody>
          <a:bodyPr wrap="square">
            <a:spAutoFit/>
          </a:bodyPr>
          <a:lstStyle/>
          <a:p>
            <a:r>
              <a:rPr lang="en-US" sz="1000" dirty="0">
                <a:latin typeface="Agency FB" panose="020B0503020202020204" pitchFamily="34" charset="0"/>
              </a:rPr>
              <a:t>[15] J. McAuley Lab, “Amazon Review Data (2018),” University of California San Diego. [Online]. Available: https://cseweb.ucsd.edu/~jmcauley/datasets/amazon_v2/</a:t>
            </a:r>
          </a:p>
        </p:txBody>
      </p:sp>
    </p:spTree>
    <p:extLst>
      <p:ext uri="{BB962C8B-B14F-4D97-AF65-F5344CB8AC3E}">
        <p14:creationId xmlns:p14="http://schemas.microsoft.com/office/powerpoint/2010/main" val="2671513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4373</TotalTime>
  <Words>11871</Words>
  <Application>Microsoft Office PowerPoint</Application>
  <PresentationFormat>Widescreen</PresentationFormat>
  <Paragraphs>1718</Paragraphs>
  <Slides>80</Slides>
  <Notes>79</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80</vt:i4>
      </vt:variant>
    </vt:vector>
  </HeadingPairs>
  <TitlesOfParts>
    <vt:vector size="90" baseType="lpstr">
      <vt:lpstr>Agency FB</vt:lpstr>
      <vt:lpstr>Arial</vt:lpstr>
      <vt:lpstr>Calibri</vt:lpstr>
      <vt:lpstr>Calibri Light</vt:lpstr>
      <vt:lpstr>Cambria Math</vt:lpstr>
      <vt:lpstr>Consolas</vt:lpstr>
      <vt:lpstr>Montserrat</vt:lpstr>
      <vt:lpstr>Montserrat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Redwane Nesmaoui</dc:creator>
  <cp:lastModifiedBy>hp</cp:lastModifiedBy>
  <cp:revision>138</cp:revision>
  <dcterms:created xsi:type="dcterms:W3CDTF">2026-07-12T13:29:11Z</dcterms:created>
  <dcterms:modified xsi:type="dcterms:W3CDTF">2026-07-24T19:05:45Z</dcterms:modified>
</cp:coreProperties>
</file>