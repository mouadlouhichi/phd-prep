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352" r:id="rId88"/>
    <p:sldId id="353" r:id="rId89"/>
    <p:sldId id="354" r:id="rId90"/>
    <p:sldId id="355" r:id="rId91"/>
    <p:sldId id="356" r:id="rId92"/>
    <p:sldId id="357" r:id="rId93"/>
    <p:sldId id="358" r:id="rId94"/>
    <p:sldId id="359" r:id="rId95"/>
    <p:sldId id="360" r:id="rId96"/>
    <p:sldId id="361" r:id="rId97"/>
    <p:sldId id="362" r:id="rId98"/>
    <p:sldId id="363" r:id="rId99"/>
    <p:sldId id="364" r:id="rId100"/>
    <p:sldId id="365" r:id="rId101"/>
    <p:sldId id="366" r:id="rId102"/>
    <p:sldId id="367" r:id="rId103"/>
    <p:sldId id="368" r:id="rId104"/>
    <p:sldId id="369" r:id="rId105"/>
    <p:sldId id="370" r:id="rId106"/>
    <p:sldId id="371" r:id="rId107"/>
    <p:sldId id="372" r:id="rId108"/>
    <p:sldId id="373" r:id="rId109"/>
    <p:sldId id="374" r:id="rId110"/>
    <p:sldId id="375" r:id="rId111"/>
    <p:sldId id="376" r:id="rId112"/>
    <p:sldId id="377" r:id="rId113"/>
    <p:sldId id="378" r:id="rId114"/>
    <p:sldId id="379" r:id="rId115"/>
    <p:sldId id="380" r:id="rId116"/>
    <p:sldId id="381" r:id="rId117"/>
    <p:sldId id="382" r:id="rId118"/>
    <p:sldId id="383" r:id="rId119"/>
    <p:sldId id="384" r:id="rId120"/>
    <p:sldId id="385" r:id="rId121"/>
    <p:sldId id="386" r:id="rId122"/>
    <p:sldId id="387" r:id="rId123"/>
    <p:sldId id="388" r:id="rId124"/>
    <p:sldId id="389" r:id="rId125"/>
    <p:sldId id="390" r:id="rId126"/>
    <p:sldId id="391" r:id="rId127"/>
    <p:sldId id="392" r:id="rId128"/>
    <p:sldId id="393" r:id="rId129"/>
    <p:sldId id="394" r:id="rId130"/>
    <p:sldId id="395" r:id="rId131"/>
    <p:sldId id="396" r:id="rId132"/>
    <p:sldId id="397" r:id="rId133"/>
    <p:sldId id="398" r:id="rId134"/>
    <p:sldId id="399" r:id="rId135"/>
    <p:sldId id="400" r:id="rId136"/>
    <p:sldId id="401" r:id="rId137"/>
    <p:sldId id="402" r:id="rId138"/>
    <p:sldId id="403" r:id="rId139"/>
    <p:sldId id="404" r:id="rId140"/>
    <p:sldId id="405" r:id="rId141"/>
    <p:sldId id="406" r:id="rId142"/>
    <p:sldId id="407" r:id="rId143"/>
    <p:sldId id="408" r:id="rId144"/>
    <p:sldId id="409" r:id="rId145"/>
    <p:sldId id="410" r:id="rId146"/>
    <p:sldId id="411" r:id="rId147"/>
    <p:sldId id="412" r:id="rId148"/>
    <p:sldId id="413" r:id="rId149"/>
    <p:sldId id="414" r:id="rId150"/>
    <p:sldId id="415" r:id="rId151"/>
    <p:sldId id="416" r:id="rId152"/>
    <p:sldId id="417" r:id="rId153"/>
    <p:sldId id="418" r:id="rId154"/>
    <p:sldId id="419" r:id="rId155"/>
    <p:sldId id="420" r:id="rId156"/>
    <p:sldId id="421" r:id="rId157"/>
    <p:sldId id="422" r:id="rId158"/>
    <p:sldId id="423" r:id="rId159"/>
    <p:sldId id="424" r:id="rId160"/>
    <p:sldId id="425" r:id="rId161"/>
    <p:sldId id="426" r:id="rId1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DD5604A-35BD-46CC-ADF2-0122FC8C099C}">
          <p14:sldIdLst>
            <p14:sldId id="283"/>
            <p14:sldId id="257"/>
            <p14:sldId id="293"/>
            <p14:sldId id="259"/>
            <p14:sldId id="314"/>
            <p14:sldId id="341"/>
            <p14:sldId id="343"/>
            <p14:sldId id="292"/>
            <p14:sldId id="316"/>
            <p14:sldId id="336"/>
            <p14:sldId id="337"/>
            <p14:sldId id="338"/>
            <p14:sldId id="340"/>
            <p14:sldId id="339"/>
            <p14:sldId id="317"/>
            <p14:sldId id="318"/>
            <p14:sldId id="291"/>
            <p14:sldId id="281"/>
            <p14:sldId id="344"/>
            <p14:sldId id="328"/>
            <p14:sldId id="347"/>
            <p14:sldId id="346"/>
            <p14:sldId id="329"/>
            <p14:sldId id="348"/>
            <p14:sldId id="349"/>
            <p14:sldId id="321"/>
            <p14:sldId id="330"/>
            <p14:sldId id="290"/>
            <p14:sldId id="260"/>
            <p14:sldId id="277"/>
            <p14:sldId id="278"/>
            <p14:sldId id="333"/>
            <p14:sldId id="350"/>
            <p14:sldId id="261"/>
            <p14:sldId id="262"/>
            <p14:sldId id="284"/>
            <p14:sldId id="263"/>
            <p14:sldId id="286"/>
            <p14:sldId id="285"/>
            <p14:sldId id="287"/>
            <p14:sldId id="264"/>
            <p14:sldId id="294"/>
            <p14:sldId id="266"/>
            <p14:sldId id="351"/>
            <p14:sldId id="267"/>
            <p14:sldId id="295"/>
            <p14:sldId id="296"/>
            <p14:sldId id="297"/>
            <p14:sldId id="298"/>
            <p14:sldId id="268"/>
            <p14:sldId id="299"/>
            <p14:sldId id="300"/>
            <p14:sldId id="288"/>
            <p14:sldId id="265"/>
            <p14:sldId id="301"/>
            <p14:sldId id="331"/>
            <p14:sldId id="334"/>
            <p14:sldId id="332"/>
            <p14:sldId id="269"/>
            <p14:sldId id="270"/>
            <p14:sldId id="302"/>
            <p14:sldId id="303"/>
            <p14:sldId id="305"/>
            <p14:sldId id="306"/>
            <p14:sldId id="307"/>
            <p14:sldId id="308"/>
            <p14:sldId id="309"/>
            <p14:sldId id="311"/>
            <p14:sldId id="289"/>
            <p14:sldId id="272"/>
            <p14:sldId id="323"/>
            <p14:sldId id="324"/>
            <p14:sldId id="273"/>
            <p14:sldId id="274"/>
            <p14:sldId id="275"/>
            <p14:sldId id="276"/>
            <p14:sldId id="313"/>
          </p14:sldIdLst>
        </p14:section>
        <p14:section name="Hidden" id="{9D07A6B9-F95A-4E5B-A630-A38672DB993B}">
          <p14:sldIdLst>
            <p14:sldId id="326"/>
            <p14:sldId id="319"/>
            <p14:sldId id="320"/>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dwane Nesmaoui" initials="RN" lastIdx="1" clrIdx="0">
    <p:extLst>
      <p:ext uri="{19B8F6BF-5375-455C-9EA6-DF929625EA0E}">
        <p15:presenceInfo xmlns:p15="http://schemas.microsoft.com/office/powerpoint/2012/main" userId="8a7fab1de5a3671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8ECB7"/>
    <a:srgbClr val="4C9E65"/>
    <a:srgbClr val="0D1B2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823" autoAdjust="0"/>
    <p:restoredTop sz="93690" autoAdjust="0"/>
  </p:normalViewPr>
  <p:slideViewPr>
    <p:cSldViewPr snapToGrid="0">
      <p:cViewPr varScale="1">
        <p:scale>
          <a:sx n="60" d="100"/>
          <a:sy n="60" d="100"/>
        </p:scale>
        <p:origin x="76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2" Type="http://schemas.openxmlformats.org/officeDocument/2006/relationships/notesMaster" Target="notesMasters/notesMaster1.xml"/><Relationship Id="rId83" Type="http://schemas.openxmlformats.org/officeDocument/2006/relationships/commentAuthors" Target="commentAuthors.xml"/><Relationship Id="rId84" Type="http://schemas.openxmlformats.org/officeDocument/2006/relationships/presProps" Target="presProps.xml"/><Relationship Id="rId85" Type="http://schemas.openxmlformats.org/officeDocument/2006/relationships/viewProps" Target="viewProps.xml"/><Relationship Id="rId86" Type="http://schemas.openxmlformats.org/officeDocument/2006/relationships/theme" Target="theme/theme1.xml"/><Relationship Id="rId87" Type="http://schemas.openxmlformats.org/officeDocument/2006/relationships/tableStyles" Target="tableStyles.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389AAB-E7FE-44C1-AA5E-5543FE15A072}" type="datetimeFigureOut">
              <a:rPr lang="en-US" smtClean="0"/>
              <a:t>7/24/2026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4B1C6E-8DC2-4E7B-B3D1-0F5C75DF7500}" type="slidenum">
              <a:rPr lang="en-US" smtClean="0"/>
              <a:t>‹#›</a:t>
            </a:fld>
            <a:endParaRPr lang="en-US"/>
          </a:p>
        </p:txBody>
      </p:sp>
    </p:spTree>
    <p:extLst>
      <p:ext uri="{BB962C8B-B14F-4D97-AF65-F5344CB8AC3E}">
        <p14:creationId xmlns:p14="http://schemas.microsoft.com/office/powerpoint/2010/main" val="134191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Thank you, President and Professors, for the time you are giving me to present and discuss my thesis. My name is Mouad Louhichi. My thesis is titled Cooperative Game Theory for Explainable AI in Recommendation Systems: A Shapley Framework for Actionable Insight, supervised by Professor Mohamed Lazaar. It advances one idea: that Shapley-value attribution is not just a post-hoc explanation, but a single formal mechanism that can explain black-box clustering, stay coherent under hierarchical scale, and finally act as an in-training signal inside a recommender.</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walk you through five parts: introduction, context and problematic, the shared experimental protocol, then my three contributions, and finally the conclusion and perspectives. Each contribution follows the same structure: objectives, methodology, results, and findings. So you always know where we are.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begin with the introduction. I will spend a few minutes establishing why explainability is not a nice-to-have but a first-class requirement for recommender systems, and I will define carefully what I mean by an actionable insight.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frame the whole work. First, ubiquity: opaque systems mediate what billions of people see, buy and watch every day — not only on streaming platforms but in e-commerce, news feeds and search. Second, the black box: even strong recommenders and clustering pipelines are hard to interrogate — we observe their outputs without understanding why a particular item was chosen. Third, trust: transparency should be built into the modelling logic, not bolted on after the fact. The core tension of the thesis is that as models gain expressive power, they lose the transparency needed for trustworthy deployment. Throughout this work I hold accuracy and interpretability as objectives to be reconciled, not traded against one another.</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frame the whole thesis around actionable insight. An explanation is actionable when it identifies at least one modifiable factor whose change is associated with a specifiable change in model output, and when that factor is expressible in the semantic vocabulary of the task domain — a physicochemical variable for wine, a pollution indicator for air quality, a preference signal for recommendation. The crucial constraint is that it must not be an opaque latent code. This distinction separates explanations that let a designer intervene and act from those that merely describe what happened. By this definition, a credible explanation is evaluated by whether it supports a downstream decision, not by whether it looks plausible.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context is the progression from simple to hypergraph recommenders. Matrix factorisation showed that latent factors could capture preferences, but those factors were immediately uninterpretable. Graph and graph-neural-network models improved ranking by exploiting connectivity, yet replaced an opaque latent code with an opaque message-passing mechanism. Finally, hypergraph models added higher-order user-item-context relations, but typically assume that every message contributes uniformly. Each step raised expressiveness while lowering transparency. The deficit matters for trust, debugging and regulation — the EU AI Act, the OECD principles and the GDPR all put a premium on meaningful explanation. That is why a principled attribution mechanism is needed, and why I will argue it should be part of the modelling logic rather than an afterthought.</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Recommendation is not a niche technique; it is infrastructure for everyday decisions. Streaming platforms decide what you watch next, music services what you hear, e-commerce what you buy, and social feeds what you read. Each system is remarkably accurate, yet its reasoning is hidden from the user. That ubiquity-plus-opacity is precisely what makes explainability a first-class requirement — and what motivates the three contributions that follow.</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us look more precisely at the problem this thesis addresses. I will quickly survey the paradigm landscape, then identify the structuring limitations and the five research questions, and finally map the three contributions to those questions.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orientation across the paradigms we build on. Collaborative filtering recommends on the principle that similar users will value similar items, computed from the user side or the item side. Content-based filtering recommends items sharing attributes with a profile, while hybrid methods combine both. Matrix factorisation factorises the interaction matrix into latent factors — compact and effective, but immediately opaque. Graph-based methods, including LightGCN and hypergraph extensions, propagate information over an interaction structure and capture multi-hop or higher-order relations. Each strengthens the modelling, but each complicates interpretation in a specific way: matrix factorisation made latent dimensions opaque; graph models kept importance implicit; hypergraph models added higher-order relations but assumed uniform message importance. That uniformity assumption is one of the things I will challenge.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classical limitations. Data sparsity and scalability are the most cited: the user-item matrix is overwhelmingly empty, so learning is starved of signal. Cold-start is the structural consequence, because a new user or item has no history to learn from. Popularity bias and the resulting lack of diversity create a filter-bubble loop, where exposure begets interaction. And the most fundamental limitation, and the one this thesis targets, is the absence of interpretability. For clustering specifically the situation is even harder: methods privilege a local explanation or a global one but not both, they struggle to scale, and their explanations rarely remain coherent across resolutions. That combination — no faithful local and global explanation, poor scaling, and incoherence across levels — is precisely the gap I work on.</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structuring problems. First, lack of explainability: complex models remain hard to interpret faithfully and actionably. Second, difficulty of scaling: local explanations do not transfer naturally to hierarchical structures or large datasets, so a method that works on a toy partition may collapse on hundreds of thousands of records with nested structure. Third, weak integration into learning: most explanations are post-hoc and do not shape model dynamics, nor do they participate in the accuracy-diversity-context trade-off the model is trying to satisfy. The thesis gap follows directly: the literature still lacks a single cooperative-attribution framework that explains clustering faithfully, stays coherent under hierarchy, and then operates as an in-training signal in recommendation. My claim is that Shapley-value attribution can be that single framework.</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overall aim is to develop, justify and evaluate a cooperative-game-theoretic perspective for explainable AI in clustering and recommendation, using Shapley attribution as both an explanatory mechanism and an in-training signal. Five research questions form the spine. RQ1 asks how Shapley values can explain black-box clustering faithfully at instance and cluster level. RQ2 asks how that extends to large-scale hierarchical clustering without losing tractability or consistency. RQ3 asks whether cooperative attribution can move beyond post-hoc analysis into the learning dynamics of graph recommenders. RQ4 asks whether a recommender can jointly optimise ranking accuracy, context and diversity when importance is estimated by a cooperative-game utility. RQ5 is the thesis-level question: what emerges when clustering explanation and recommendation learning are read as two stages of one shared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contributions, one thread. C1 establishes Shapley-based explanation for black-box clustering through a PCA-K-Means-LightGBM-TreeSHAP pipeline, and validates it on the wine quality dataset. C2 scales it to hierarchy and large data via multi-level clustering with cross-level SHAP aggregation, validated on the Beijing air-quality dataset. C3 is the strongest claim: DyHuCoG replaces post-hoc attribution with an in-training signal inside a hypergraph recommender, validated on MovieLens-1M and Amazon-Book. Each contribution answers a distinct research question, but they are deliberately designed to be read together as a cumulative argument. The thesis claim is that cooperative game theory functions as a shared attribution perspective for explanation, optimisation and intervention — not that these are three unrelated papers.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thesis is a single claim: that Shapley-value attribution can function as one shared, explainable perspective spanning clustering and recommendation. The three contributions are not separate fixes but one cumulative argument — each applies the same cooperative-game logic to a different stage, from faithful clustering explanation to an in-training signal inside a recommender. That is what makes explanation part of the modelling logic itself, not a by-product attached after prediction.</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contributions, let me briefly cover the shared experimental setup. The purpose of this section is to establish that my comparisons are fair: the datasets, the splitting and preprocessing, the baselines, the evaluation metrics, and the hardware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clustering datasets and two recommendation datasets. For clustering I deliberately picked datasets with semantically interpretable features, because the whole point of the method is to return attribution to the original variables. Wine Quality is a small, dense, chemically correlated dataset of almost five thousand samples with eleven features. Beijing Multi-Site Air Quality is a large, noisy, temporally and meteorologically variable dataset of over three hundred and eighty thousand hourly records. For recommendation I used benchmark-standard datasets with established baselines: MovieLens-1M, with roughly a million interactions and a density of 0.0447, and Amazon-Book, which is far sparser at 0.0006. The sparsity contrast is deliberate, because it stress-tests whether a Shapley-guided model helps most precisely when interaction data are weak.</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scale, each dataset was chosen so that attribution lands in a vocabulary a domain expert can act on. Wine and Beijing give semantically interpretable features (chemistry, pollution); the two recommenders give a density contrast that isolates whether cooperative attribution helps most when interaction data are scarce. That is why the same explanatory logic can be validated across tabular clustering and recommendation without changing the mechanism.</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Splitting is designed against leakage, because recommendation metrics are especially sensitive to how you split. For clustering I use five-fold cross-validation to test the stability of the surrogate and the attribution. For recommendation I use a user-level, temporal holdout: interactions sorted by time per user, split seventy percent train, ten percent validation, twenty percent test. Evaluation uses leave-one-out, where the latest test positive per user is the target, ranked against sampled negatives. Because MovieLens-1M contains explicit ratings, I convert ratings greater than three into positive implicit feedback. Negatives are drawn from a popularity-aware distribution to produce harder contrasts. Results are reported across five seeds, with early stopping on validation NDCG at twenty.</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Baselines span classical, neural, graph and hypergraph methods, precisely so that I can isolate the contribution of cooperative attribution rather than a favourable model choice. For recommendation I compare against matrix factorisation, NCF, LightGCN, RecDCL, HCCF and HPCF, treating HPCF as the strongest reference. For clustering interpretability I compare against a LIME-based surrogate pipeline. Ranking is measured with Precision at K, Recall at K and NDCG at twenty as the principal measure. On the diversity side I measure system-level catalogue coverage, and list-level intra-list diversity, defined as the average pairwise dissimilarity inside a ranked list. I want to emphasise that ILD is not decorative: it is deliberately built into the DyHuCoG coalition utility. Clustering quality is measured with Silhouette and Davies-Bouldin.</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matters mainly because it explains some runtime figures I will quote later. All clustering, preprocessing and data loading run on an Intel Core i9-14900K with twenty-four cores. DyHuCoG training and inference run on an NVIDIA RTX 4090 with twenty-four gigabytes, alongside forty-eight gigabytes of RAM and a two-terabyte SSD. The software stack is Python 3.8, with scikit-learn for PCA and K-Means, LightGBM for the surrogate, SHAP for TreeSHAP, and PyTorch 2.0.1 for the recommendation model. I use Altair for interactive SHAP visualisation and report metrics at K equal to five, ten and twenty. Everything stays within ordinary academic compute; nothing here needs industrial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move to the first contribution: explaining black-box clustering with Shapley values. This contribution answers RQ1, and I will present it in four steps: objectives, methodology, results, findings.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start with clustering? Here the model creates its own structure, so cluster meaning must be inferred after the fact — which makes clustering the hardest and most natural test bed for attribution. The gap is that explainable clustering is fragmented: methods favour a local or a global explanation, rarely both; they often fail to scale; and they rarely preserve coherence across clusters. And because Shapley explanation is well established in supervised problems, its near absence from unsupervised clustering is striking. Our objectives are threefold: build a pipeline yielding a cluster-level explanation while preserving feature-level attribution; preserve the semantics of the original feature space rather than a transformed latent space; and justify why Shapley is the right concept rather than an ad-hoc surrogate such as LIME.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RQ1 asks how Shapley values can explain black-box clustering faithfully at both instance and cluster level, and it decomposes into three objectives. O1 is a pipeline that produces a cluster-level explanation while preserving feature-level attribution, so the explanation is coherent rather than a single summary number. O2 requires that attribution stays in the original feature space — density, pH, acidity, sulfur dioxide, alcohol — because that is what makes it actionable for a domain expert. O3 is a justificatory objective: we must show why Shapley is the right allocation rule rather than an ad-hoc surrogate such as LIME. The next methodology slide shows how these three objectives are met.</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frame clustering as a cooperative game where features are the players. The value function measures how well the data cluster when we use only the features in a given coalition: concretely, the value of coalition S is the Silhouette of K-Means run on the feature subset X_S, with a fixed k. I choose Silhouette because it is bounded, normalised and semantically intuitive; Davies-Bouldin or Calinski-Harabasz would also be defensible. A feature then receives a high Shapley value when its presence consistently improves separation across all coalitions, in expectation. The problem is that evaluating Silhouette for every subset is combinatorial and infeasible even for a modest number of features, which is exactly why we need a bridge between the unsupervised partition and a tractable attribution method.</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bridge is the heart of the method. TreeSHAP explains tree models; it cannot explain K-Means centroids. And explaining the PCA representation would move attribution away from the interpretable variables we care about. So we convert an unsupervised partition into a supervised task: once K-Means produces cluster labels, we train a LightGBM multiclass classifier to predict them from the original features, then apply TreeSHAP to that surrogate. This keeps attribution in the original semantic feature space, which is what makes the explanation actionable. The key validity condition is surrogate fidelity: if the surrogate does not reproduce the partition well, the attribution is not faithful. We require a macro-F1 of around 0.82 as the floor.</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has five stages. Stage one is feature standardisation. Stage two is PCA, which I want to stress is used only as a computational and visual diagnostic; it is deliberately not the explanatory space, because explaining principal components would defeat the purpose of actionable attribution. Stage three is K-Means-plus-plus with multi-criteria k selection, drawing on the elbow method, Silhouette and Davies-Bouldin. Stage four is the LightGBM surrogate trained on the original features to predict cluster labels. Stage five is TreeSHAP attribution in the original feature space, aggregated into global importance, cluster-specific profiles, and local force plots. Complexity is dominated by PCA and repeated K-Means; TreeSHAP scales with tree count and depth rather than exponentially in features, which is what makes the approach tractable.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honest and important point. We evaluate k from two to ten, and deliberately select k equal to three even though it is not geometrically optimal. With k equal to two we get a stronger Silhouette of 0.214 and a Davies-Bouldin of 1.775; with k equal to three the Silhouette drops to 0.144 and the Davies-Bouldin rises to 2.097. On raw geometry, two is the better partition. We choose three nonetheless, because three clusters support three distinct, chemically meaningful oenological narratives, far more actionable than a dichotomous split. I select the partition a domain expert would find useful, not the one that maximises a separation index. And to avoid a common confusion: the 0.63 Silhouette belongs to the Beijing dataset in Contribution II, not this one.</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SHAP ranking is dominated by density, followed by pH, fixed acidity, sulfur-dioxide-related variables and alcohol. These are precisely the variables that an oenologist would point to as governing structure, preservation and sensory balance. The important point is that this is not an arbitrary classifier artefact. Because the surrogate was trained to reproduce the partition from the original variables, and because TreeSHAP attributes in that original space, the recovered hierarchy corresponds to a chemically interpretable structure. This is the strongest evidence that the pipeline is faithful: it recovers domain knowledge without being told to. It also illustrates the value of keeping attribution in the semantic feature space rather than in a reduced or latent space.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cluster-specific profiles show that the solution is not only globally interpretable but internally differentiated. Each cluster exhibits a distinct signature. Cluster zero is driven primarily by density and sulfur-dioxide-related variables; cluster one by acidity and pH effects; cluster two by a different balance across acidity, alcohol and related chemical attributes. Crucially, the same small set of variables recurs across all three clusters, but with different relative weights within each. This is the actionable insight: a cluster is not just a label, it is a distinct, domain-meaningful combination of drivers. It also shows the method supports both a global reading, which variable matters most overall, and a local, per-cluster reading, where the practical value lies.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summarises why we prefer Shapley over LIME. SHAP grounds attribution in a cooperative-game allocation rule and satisfies four axioms: efficiency, so explanatory mass is fully allocated; symmetry, so equal marginal contributors get equal credit; the null-player property, so zero marginal contributors get zero; and additivity, so explanations compose. LIME fits a local surrogate and has no equivalent guarantee; it is sensitive to perturbation design. SHAP supports both local and global explanation, whereas LIME is primarily local, and SHAP is much stronger for comparing clusters, which is central here. One caveat: in this surrogate pipeline, efficiency holds with respect to the LightGBM output, not directly to the Silhouette-based game. That is exactly why surrogate fidelity matters.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answer RQ1 directly: yes. Shapley values explain a black-box partition faithfully, provided the surrogate is high-fidelity, and coherently at cluster level. Each objective is met. O1 is met because the pipeline yields both a global reading — density, pH, acidity, sulfur dioxide, alcohol — and a per-cluster reading where the same drivers re-weigh differently. O2 is met because attribution is returned to the original chemical variables, which is what makes it actionable. O3 is met because Shapley satisfies efficiency, symmetry, the null-player property and additivity, whereas LIME has no equivalent guarantee. The honest caveat is that efficiency holds with respect to the surrogate output, not directly to the Silhouette-based game — which is why surrogate fidelity is the critical validity condition.</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C1 answers RQ1 in the affirmative. The key findings are fourfold. Shapley values explain the black-box partition at both cluster level and instance level, anchoring each cluster's meaning to individual feature contributions. They return attribution to the original chemical variables — density, pH, fixed acidity, sulfur dioxide, alcohol — rather than to a reduced or latent space, which is what makes the explanation actionable. Because the surrogate reproduces the partition from the original variables, the recovered ranking is chemically interpretable and faithful. And the approach is theoretically grounded: SHAP satisfies efficiency, symmetry, the null-player property and additivity, which LIME does not.</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be clear about the scope. First, the explanation depends on the fidelity of the LightGBM surrogate; it is not a direct mechanism of the K-Means geometry. Second, the approach is confined to tabular data. Third, and most importantly for what follows, it is single-level: it cannot yet address hierarchical coherence, meaning it cannot explain how feature importance reconfigures between a partition and its sub-partitions. And the surrogate plus representative-instance reporting compresses some observation-level variation. These limits define the point of departure for Contribution II.</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that Shapley attribution works as a single, principled lens for explaining an unsupervised partition, and that keeping attribution in the original feature space is what makes it actionable. But real data are rarely single-level: broad regimes contain nested sub-groups, and a variable can be globally important yet locally uninformative. That flat limitation directly motivates Contribution II: can the explanation logic be scaled to multi-level, large-scale clustering without losing coherence?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us to the second contribution: scaling the explanation logic to multi-level, large-scale clustering. It answers RQ2, and the central concern is not merely scale but multi-granularity.</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C2 asks whether the C1 logic survives scale and hierarchy. Large real-world data contain structure at more than one granularity: broad regimes at the top, nested sub-groups within them. A variable can be globally important yet locally uninformative, or the reverse, so a flat explanation is true but incomplete — it cannot show how importance reconfigures as you zoom in. The chapter adds three things. First, a genuine multi-level workflow, not a rerun of the single-level pipeline. Second, a formal cross-level consistency argument, Proposition 6.1, so that differences across levels can be interpreted rather than dismissed as inconsistency. Third, validation on a structurally different large-scale dataset, Beijing air quality, testing whether the method generalises beyond the small, correlated wine dataset.</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RQ2 asks whether the C1 logic survives scale and hierarchy without losing tractability or consistency, and it decomposes into three objectives. O1 is a genuinely multi-level workflow: coarse clustering at the top and nested sub-groups within, so that attribution stays interpretable inside a cluster, across sub-clusters, and across the hierarchy. O2 is a formal cross-level consistency argument, Proposition 6.1, so that differences across levels can be interpreted rather than dismissed as inconsistency. O3 is an empirical check on generality: validation on a structurally different large-scale dataset, Beijing air quality, rather than the small, chemically correlated wine dataset.</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multi-level architecture proceeds recursively: we learn a coarse clustering on the full dataset, then subdivide each cluster where appropriate, producing a nested structure. For each level we train a level-specific surrogate and compute SHAP values in the same original feature space. The cross-level aggregation is deliberately not a naive average: it respects cluster size and nesting structure. A parent-level attribution is an expectation over the explanatory structure of its descendants, so a coarse-level importance reflects the size-weighted contributions of the clusters it contains. One methodological point: the hierarchy here is a pragmatic analytical device. I am not claiming the data have a true, ontological hierarchy of levels; the nested structure is a computational and interpretive tool, and Proposition 6.1 is stated with that in mind.</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6.1 is the mathematical heart of the contribution. Let Phi at level l in cluster c for feature j be the expected absolute SHAP importance over examples in that cluster, and let w sub c-prime be the relative size of a child cluster within its parent. For a strict nested hierarchy on a consistent feature space, the parent's expected absolute importance equals the sum over its children of the child's relative size times the child's expected absolute importance, plus a residual epsilon that comes from surrogate mismatch and vanishes under perfect fidelity. The derivation uses the law of total expectation and the fact that children partition the parent. Crucially, it does not claim explanations are identical across levels; it says differences can be interpreted rather than dismissed as inconsistency. That makes a hierarchical explanation self-consistent and auditable.</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Beijing, the multi-criteria evaluation converges much more strongly than on wine, and this is worth emphasising. The full dataset clusters cleanly into k equal to three, with a Silhouette of about 0.63 and a Davies-Bouldin of about 0.55. Recall that this is where the 0.63 figure comes from — it belongs to Beijing, not to the wine partition, whose Silhouette is 0.144. The low Davies-Bouldin indicates little between-cluster ambiguity. The PCA projection, using two components, is used only for visual inspection. I also tested sensitivity: the conclusions are robust to modest variation in k, in the number of projection dimensions, and in the surrogate depth; only low-ranked variables shift. So the finding is not an artefact of a particular parameter choice.</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ranking is analytically rich. The dominant features are temperature, dew point and pressure, followed by carbon monoxide, nitrogen dioxide, PM10 and PM2.5. It is striking that it is not simply the pollutant concentrations that dominate. Meteorological variables play a structurally central role, because temperature, dew point and pressure condition dispersion, trapping and photochemical behaviour. In other words, they determine the atmospheric conditions under which pollution accumulates. This is exactly the kind of insight that flat, descriptive summaries often fail to make explicit: a naive ranking of pollutant concentrations would overlook the fact that the weather is what sets the regime. It is a good illustration of why attribution in the original variable space is valuable.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force plots reveal three representative regimes, and this is where the interpretation becomes concrete. Regime A is a warm, photochemical regime, where ozone, temperature and dew point are prominent — this is characteristic of summer photochemical smog. Regime B is a wintertime smog regime, dominated by carbon monoxide, sulfur dioxide and particulate matter, with low wind speed suppressing dispersion. Regime C is a comparatively clean-air regime, associated with favourable meteorology and weak pollutant pushes. The interpretative value is not merely showing that these regimes exist — it is showing which combinations of variables define each one. That is the actionable insight: an air-quality analyst can see the specific drivers of a given pollution episode and act on them.</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conceptual payoff of the chapter, and the reason a flat explanation is insufficient. At the coarse level, temperature and dew point dominate, because they differentiate broad atmospheric regimes. Within individual clusters, the discriminative variables shift to carbon monoxide, sulfur dioxide, PM10, wind speed, pressure or ozone. This change is not a contradiction — it is exactly what a multi-level explanation should reveal. The parent-level story is regime selection; the cluster-level story is variation within a regime. A variable can be globally important yet locally uninformative within a sub-cluster. Proposition 6.1 lets us interpret these shifts as meaningful structure rather than noise; a flat, single-level explanation would present them as conflicting, whereas our framework makes them coherent.</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logic works on both a small, dense, chemically correlated dataset and a large, noisy, environmentally variable one, which supports the generality of the approach. It is not tied to a domain-specific peculiarity of wine chemistry. I also compared against the SHAP-based clustering literature: our Beijing partition achieves a Silhouette of about 0.63, whereas Gramegna and Giudici, working on credit-risk data, report around 0.37. On the LIME comparator, we observe weaker structural coherence and less stable local narratives for hierarchical reasoning. I want to be careful here: these are comparative observations rather than a comprehensive benchmark, but they support the claim that a cooperative-attribution approach produces more structured, more coherent explanations for hierarchical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answer RQ2 directly: yes, with bounds. Shapley-based clustering explanation can scale to hierarchical, large-scale settings without losing interpretive coherence, provided the hierarchy is modelled explicitly and the approximation is transparent. O1 is met: we obtain a multi-granular explanation that does not collapse into a single flat summary. O2 is met: Proposition 6.1 gives a formal cross-level consistency argument, so regime-level and cluster-level stories are not at odds. O3 is met: the approach validates on Beijing air quality, a large, noisy, temporally variable dataset, which supports generality. The honest bound is that the model is still an explanation of a pre-computed partition; it does not yet influence learning itself. That is the bridge to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C2 answers RQ2 in the affirmative. The key findings are fourfold. The explanation scales to a multi-granular structure without collapsing into a single flat summary, because the hierarchy is modelled explicitly rather than flattened. Proposition 6.1 provides a formal cross-level consistency argument, so that differences across levels can be interpreted as meaningful structure rather than dismissed as noise. The approach generalises to a structurally different large-scale dataset, Beijing air quality, which is far noisier and more temporally variable than the small correlated wine data. And the method produces parent-level regime-selection stories alongside cluster-level within-regime variation.</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are equally clear. The clustering remains static even though the Beijing data are temporal, so the dynamics are not exploited. The surrogate-based SHAP plus representative-instance reporting compresses observation-level variation, so some richness is lost. The whole approach is confined to tabular data. And, most importantly for what follows, the model is still an explanation of a pre-computed partition: it does not yet influence learning itself. This is the bridge to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that Shapley attribution stays coherent across granularity, provided the hierarchy is made explicit. Explanations become interpretable against scale, not just against a single flat partition, which is precisely where the literature was weakest. But the attribution is still post-hoc: it explains a partition that was already computed, and it never influences how the model learns. That is the limit that motivates Contribution III — can cooperative attribution move beyond explanation and enter the learning dynamics of a recommender?</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and principal contribution introduces DyHuCoG, a Dynamic Hypergraph Cooperative Game, where Shapley attribution becomes an in-training signal inside a hypergraph recommender rather than a post-hoc explanation. It answers RQ3 and RQ4.</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C3 is the flagship contribution and the conceptual shift of the whole thesis. The gap is that graph and hypergraph recommenders treat message importance as either uniform or attention-weighted, without a principled account of marginal contribution. Diversity is typically a secondary objective or a re-ranking heuristic, not part of the core learning problem; and interpretability is added after prediction rather than integrated into the objective. Our objectives are threefold: formulate recommendation as a cooperative game in which users, items and contexts are players; embed preference-aware Monte Carlo Shapley estimates into hypergraph message passing so that attribution directly shapes how information flows; and improve ranking accuracy, coverage and intra-list diversity jointly. The strongest claim is not that we explain a recommender; it is that attribution becomes an in-training signal.</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C3 answers RQ3 and RQ4 together, and it is the conceptual shift of the thesis. RQ3 asks whether cooperative attribution can move beyond post-hoc explanation and enter the learning dynamics of a graph recommender. RQ4 asks whether a recommender can jointly optimise ranking accuracy, context and diversity when importance is estimated by a cooperative-game utility. Both map to three objectives. O1 is to formulate recommendation as a cooperative game in which users, items and contexts are players. O2 is to embed preference-aware Monte Carlo Shapley estimates into hypergraph message passing, so attribution directly shapes how information flows. O3 is to improve ranking, coverage and intra-list diversity jointly — not at the expense of one another.</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model recommendation as a cooperative game whose players are users, items and contexts. The hypergraph has vertices drawn from this same set, and hyperedges encode user-item-context interactions, with dynamic edge weights derived from Shapley estimates. A coalition represents the entities participating in a recommendation episode, and the coalition value measures the quality of the recommendation outcome achievable by that coalition. The task is top-N recommendation: we produce a ranked list for a user that balances relevance, diversity and contextual fit. This parallels the clustering formulation, but with a value function that is recommendation-oriented. That parallelism is deliberate and is one of the thesis-level contributions: the same cooperative-game logic applies to both tasks.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coalition utility combines ranking quality, diversity and context: a weighted sum of NDCG at twenty, a diversity term and a context score, with weights summing to one. The key point is that this is the same trade-off the recommender must satisfy and also the trade-off from which attribution is computed, so the explanatory game and the predictive objective are aligned by design. We add a preference-consistency bonus proportional to the sum of user-item similarities in the coalition. Alpha, beta, gamma were grid-searched to 0.60, 0.25, 0.15, with the preference coefficient at 0.20 and NDCG varying by under one and a half percent. One honest boundary: coalition evaluation is scoped to the interaction episode, a few dozen players, not the full catalogue.</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Shapley computation is combinatorial and infeasible for a realistic recommender, so we use a Monte Carlo estimator that averages, over M sampled coalitions, the difference between the value including a player and the value excluding it; the preference-aware variant applies the same estimator to the preference-weighted utility. It is unbiased, with variance decaying as sigma squared over M, so mean squared error goes as one over M and absolute error as one over root M. We chose M equal to fifty: mean squared error about one point four times ten to the minus five, and roughly ninety-nine percent accuracy. Because preferences evolve, estimates are refreshed every ten batches, about forty-nine updates per epoch, and smoothed with an exponential moving average, so attribution is adaptive without making training hypersensitive to a single estimate.</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the decisive move. The base propagation is standard hypergraph message passing; the Shapley-weighted version weights each message by a normalised Shapley coefficient, dividing by the sum of coefficients over the neighbourhood. I clip and exponentially smooth the estimates before normalising, which stabilises the sparse regime. Layer fusion combines embeddings across layers with learned coefficients. On top of that, an interaction-level attention gate interpolates between the Shapley-weighted score and the standard inner-product score, acting as a stabiliser; a context-aware score then adds a context term. The essential point is that the model is told not only who is connected to whom, but how much each coalition is worth, and that worth directly governs how information propagates. That is what distinguishes it from a post-hoc explainer.</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composite loss combines four terms. The recommendation loss is Bayesian Personalised Ranking, which is a pairwise objective appropriate for implicit feedback. The diversity loss is an intra-list diversity regulariser that penalises redundant ranked lists. The context loss aligns the context embedding with the context-node representation. And the regularisation term is weight decay. Negatives are drawn from a popularity-aware distribution, with periodic hard-negative refresh, and optimisation uses Adam. The conceptual point I want to drive home is alignment: the model is trained to optimise the same accuracy-diversity-context balance that later determines cooperative attribution. So the explanation is not a separate diagnostic; it is a direct read-out of the objective the model is already optimising. This is what gives the explanation its structural faithfulness.</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headline result, and I would ask you to read it carefully because it shows ranking and diversity improving together. On MovieLens-1M, the strongest baseline HPCF achieves NDCG at twenty of 0.2528 and recall of 0.2098; DyHuCoG improves these to 0.2775 and 0.2362, plus nine point seven seven percent in NDCG and plus twelve point five eight percent in recall. At the same time, coverage rises from 0.342 to 0.397 and intra-list diversity from 0.461 to 0.516. On Amazon-Book, which is much sparser, the relative gains are larger: plus thirteen point three three percent NDCG and plus sixteen point one six percent recall, with coverage up by nearly thirty percent. The sparser the data, the larger the gain — precisely the pattern you would expect if Shapley-driven weighting is most valuable when signal is weak.</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summarises the relative gains over the strongest baseline, and the key message is that DyHuCoG improves ranking accuracy, coverage and diversity simultaneously — it does not sacrifice one for the others. The largest relative gains appear on the sparser Amazon-Book dataset, consistent with the hypothesis that Shapley-guided weighting helps most precisely when interaction data are weak. Together these results are evidence that the accuracy-diversity trade-off, often treated as structurally fixed, is in fact negotiable if attribution is handled as a first-class part of the learning objective. NDCG up, recall up, coverage up, diversity up: that combination is the core empirical claim of the third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levels of diversity improve. On MovieLens-1M, catalogue coverage rises from 0.342 to 0.397, a sixteen percent improvement, and intra-list diversity from 0.461 to 0.516, an eleven point nine percent improvement. On Amazon-Book, coverage rises from 0.259 to 0.336, nearly thirty percent, and intra-list diversity from 0.535 to 0.602. The practical consequence is a reduced filter-bubble effect and greater discovery opportunity for the user. The point I want to stress: both diversity metrics improve while NDCG and recall also improve — so we are not trading accuracy for diversity. The model surfaces more of the catalogue, recommends less redundant lists, and ranks better at the same time. That is the strongest evidence that diversity is a genuine objective here, not a post-hoc re-ranking heuristic.</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ablation isolates each component, and every component contributes. The full model achieves 0.2775 NDCG at twenty on MovieLens-1M. Removing the Shapley value drops it to 0.2647, a four point six percent loss. Removing the hypergraph structure drops it to 0.2586, a six point eight percent loss. Removing the attention gate costs three point five percent. Removing context causes the largest single loss at eight point two percent, consistent with context providing the representational substrate on which Shapley weighting operates. Removing diversity costs five point eight percent. The same pattern holds on Amazon-Book, with context removal again largest. The four to six percent drop when Shapley is removed supports the argument that marginal-contribution estimation is load-bearing rather than decorative.</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attribution cost is proportionate, and I report it transparently because it bears on deployability. On MovieLens-1M, DyHuCoG takes about two thousand seconds to train versus roughly eleven hundred for HPCF, about one point seven eight times. Inference is one point eight four milliseconds per query on MovieLens and eight point five two on Amazon, comfortably within real-time requirements. Memory is modestly higher, four point four gigabytes versus four point one. The per-epoch cost scales with the number of layers, the embedding dimension and the Monte Carlo budget. On Shapley convergence, M equal to fifty gives ninety-nine percent accuracy, while M equal to one hundred gives ninety-nine point five with diminishing returns. So fifty is the right operating point, balancing accuracy against cost.</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also validated that the improvements are statistically significant and substantively meaningful. I ran paired t-tests on per-user NDCG at twenty across six thousand and forty users, comparing DyHuCoG against every baseline, with Holm-Bonferroni correction. Against HPCF, the t-statistic is 46.38, Cohen's d is 1.33, and the p-value is on the order of ten to the minus two hundred and seventy. The Wilcoxon signed-rank test is also significant at p less than 0.001. The effect sizes are large, and that matters: with six thousand users, even a trivially small difference can appear significant, so reporting effect size shows the improvement is not merely a large-sample artefact. I should be scrupulous about scope: these tabulated paired tests apply only to MovieLens-1M; the Amazon-Book results remain descriptive.</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DyHuCoG also improves the regimes where recommenders are at their most brittle: cold-start. For users with five or fewer interactions, NDCG at twenty is about 0.061, roughly ten percent over HPCF; for cold-start items about 0.057, a gain of roughly nine point six percent. Across datasets the improvement holds at plus nine point nine percent on MovieLens, plus fourteen point eight on Amazon, and plus eleven point eight on Yelp2018, which I use only as an auxiliary robustness benchmark. On interpretability, the model produces a SHAP waterfall that decomposes a recommendation into the same ranking, diversity, context and preference components used during training, so the explanation is structurally faithful rather than an external approximation. And Shapley measures marginal utility rather than raw frequency, so weak but informative interactions retain influence, mitigating popularity bias.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answer RQ3 and RQ4 directly: yes. RQ3 is answered in the affirmative because attribution is no longer a post-hoc diagnostic but an in-training signal that directly shapes message passing. RQ4 is answered in the affirmative because ranking, coverage and diversity improve together rather than trading against one another. Each objective is met. O1: recommendation is formulated as a cooperative game with users, items and contexts as players. O2: preference-aware Monte Carlo Shapley is embedded into hypergraph message passing. O3: we gain about nine point nine percent on MovieLens and fourteen point eight percent on Amazon, with higher coverage and diversity. The strongest claim is that the explanation is structurally faithful, because it reads out the same components the model already optimises. Within the stated edges — computational overhead, dependence on context, and the early-2026 baseline set — the claim stands.</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C3 answers RQ3 and RQ4, and makes the strongest claim of the thesis. Cooperative attribution can move beyond post-hoc analysis and enter the learning dynamics of a recommender, letting it balance accuracy, diversity and context more effectively. The key findings are that ranking, coverage and diversity improve together — NDCG, recall, coverage and intra-list diversity all rise on both datasets — so the accuracy-diversity trade-off is not structurally fixed. The largest gains appear on the sparsest data, Amazon-Book, precisely the regime where Shapley-driven weighting is most valuable, and the improvement is statistically large against the strongest baseline.</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must be stated honestly. There is a measurable computational overhead, roughly one point seven eight times the training time of the strongest baseline, HPCF. The method depends on the availability of meaningful context. The Monte Carlo Shapley estimator could be improved by variance reduction. The ablation is component-wise, so it does not test factorial interactions. And the baselines were finalised in early 2026, so I claim superiority only against the tested baselines. Within those bounds, the claim stands.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the conceptual shift of the thesis. Attribution is a first-class part of the learning objective, not a post-hoc diagnostic, and the explanation is a direct read-out of the objective the model already optimises. That is what makes it structurally faithful rather than an external approximation. And because Shapley values rest on an axiomatic, normative basis, the perspective is well aligned with the transparency and accountability requirements of emerging AI regulation. This is the central claim worth defending: explanation should be part of the modelling logic itself.</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now bring everything together. I will present a synthesis of the three contributions, the published papers, the honest limitations, the future directions, and finally a clear statement of the thesis answer.</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contributions, one thread. The synthesis table shows how each contribution builds on the previous one. C1 makes hidden structure intelligible: it introduces a Shapley-based pipeline that explains black-box clustering faithfully, with faithful and chemistry-consistent cluster attribution on wine. C2 keeps that explanation coherent under scale and hierarchy: it introduces cross-level SHAP aggregation and Proposition 6.1, and shows that hierarchical differences can be interpreted rather than dismissed as inconsistency. C3 carries the same attribution logic inside the learning dynamics of a recommender, using preference-aware Shapley as an in-training signal, so that accuracy, coverage and diversity improve together. The common thread is that cooperative attribution is a single mechanism used for explanation, for interpretation and for optimisation — not three unrelated tools.</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synthesises three peer-reviewed publications, and it is worth mapping them to the chapters. Paper I, on Shapley values for explaining the black-box nature of machine-learning model clustering, is published in Procedia Computer Science in 2023 and corresponds to Chapter five. Paper II, on game theory meeting explainable AI for understanding black-box models, is published in IJACSA in 2025 and corresponds to Chapter six. Paper III, DyHuCoG, is published in IJIES in 2026 and corresponds to Chapter seven. What the thesis adds on top of the three papers is the multi-level formalisation, the cross-chapter comparisons, and the explicit mapping to the five research questions. In other words, the thesis is a cumulative argument, not merely a bound collection of three papers.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state the limitations honestly. Computationally, exact Shapley is intractable, so every contribution relies on approximation, surrogates, or restricted reporting. Methodologically, the clustering chapters depend on surrogate fidelity, and the recommendation results depend on stable approximate contributions and meaningful context. Empirically, the clustering work is confined to tabular data and the recommendation work is offline: no multimodal, sequential or online deployment, and no dedicated human-subject study of actionability. And on the claim itself, I want to be precise. I am not claiming one fully unified framework that eliminates all tension between accuracy and interpretability; I am claiming a shared perspective, a common attribution language, coherent and productive across the three tasks. That is the honest boundary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work turns the limitations into a concrete agenda. First, scalable cooperative attribution: lower-variance Shapley estimators, learned proposal distributions, and adaptive refresh policies, to close the computational gap. Second, online and streaming recommendation: truly incremental settings with continuously evolving graphs and delayed feedback, which would also address the static-graph limitation. Third, richer human-centred evaluation: I would like to test whether these explanations measurably improve analyst judgement, user trust, intervention quality, or perceived fairness — which is the natural test of the "actionable" part of my definition. Fourth, broader trustworthy-AI and fairness evaluation: exposure fairness, transparency requirements, and governance-oriented auditing, which connects the work to the EU AI Act, the OECD principles and the GDPR.</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the thesis answer is that cooperative game theory can function as a shared methodological perspective for actionable explanation across clustering and recommendation. The key outcomes are fourfold. Shapley attribution provides a common formal language for allocating importance to features, interactions and contexts. It yields faithful clustering explanation, hierarchical explanatory coherence, and contribution-aware recommendation learning. And crucially, it moves explanation from commentary to method: from post-hoc description to in-training guidance. Because Shapley values rest on an axiomatic, normative basis, this perspective is well aligned with the transparency and accountability requirements of emerging AI regulation. I believe this is the central claim worth defending: that explanation should be part of the modelling logic itself, not a by-product attached after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references underpinning the thesis: my three peer-reviewed papers (R1–R3), the SHAP and Shapley foundations (R4–R6), the closest clustering-explanation and hypergraph-learning literature (R7–R8), and the regulation that motivates actionable explanation (R9). I kept the list short and solid rather than exhaustive, so each entry is one I can defend in discussion.</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 I am now happy to take your questions and comments; I will do my best to answer them directly, and I am happy to go deeper into any of the methodology, the mathematics, or the experimental details.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F54D3-D74B-41A7-ABDF-C08F20987F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F9099C5-5240-441D-B3F5-6B223B6711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75E3817-673E-422A-A40E-2250324CE99D}"/>
              </a:ext>
            </a:extLst>
          </p:cNvPr>
          <p:cNvSpPr>
            <a:spLocks noGrp="1"/>
          </p:cNvSpPr>
          <p:nvPr>
            <p:ph type="dt" sz="half" idx="10"/>
          </p:nvPr>
        </p:nvSpPr>
        <p:spPr/>
        <p:txBody>
          <a:bodyPr/>
          <a:lstStyle/>
          <a:p>
            <a:fld id="{6D32CB5E-1F55-41AA-B559-BABD2516D54E}" type="datetimeFigureOut">
              <a:rPr lang="en-US" smtClean="0"/>
              <a:t>7/24/2026</a:t>
            </a:fld>
            <a:endParaRPr lang="en-US"/>
          </a:p>
        </p:txBody>
      </p:sp>
      <p:sp>
        <p:nvSpPr>
          <p:cNvPr id="5" name="Footer Placeholder 4">
            <a:extLst>
              <a:ext uri="{FF2B5EF4-FFF2-40B4-BE49-F238E27FC236}">
                <a16:creationId xmlns:a16="http://schemas.microsoft.com/office/drawing/2014/main" id="{2FED8D45-DD8C-4D07-996E-E2C7F38A3B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E54A3F-E35E-4C53-A8B2-56DE79E128E4}"/>
              </a:ext>
            </a:extLst>
          </p:cNvPr>
          <p:cNvSpPr>
            <a:spLocks noGrp="1"/>
          </p:cNvSpPr>
          <p:nvPr>
            <p:ph type="sldNum" sz="quarter" idx="12"/>
          </p:nvPr>
        </p:nvSpPr>
        <p:spPr/>
        <p:txBody>
          <a:bodyPr/>
          <a:lstStyle/>
          <a:p>
            <a:fld id="{AED5577D-44C0-413A-B2CF-621F1242761D}" type="slidenum">
              <a:rPr lang="en-US" smtClean="0"/>
              <a:t>‹#›</a:t>
            </a:fld>
            <a:endParaRPr lang="en-US"/>
          </a:p>
        </p:txBody>
      </p:sp>
    </p:spTree>
    <p:extLst>
      <p:ext uri="{BB962C8B-B14F-4D97-AF65-F5344CB8AC3E}">
        <p14:creationId xmlns:p14="http://schemas.microsoft.com/office/powerpoint/2010/main" val="398141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61A0D-F9AA-452F-8333-3F080A7BD4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4FF36F-E619-4DDD-B358-2791FF6A65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DB7048-12D5-4645-9221-23A77DBF1311}"/>
              </a:ext>
            </a:extLst>
          </p:cNvPr>
          <p:cNvSpPr>
            <a:spLocks noGrp="1"/>
          </p:cNvSpPr>
          <p:nvPr>
            <p:ph type="dt" sz="half" idx="10"/>
          </p:nvPr>
        </p:nvSpPr>
        <p:spPr/>
        <p:txBody>
          <a:bodyPr/>
          <a:lstStyle/>
          <a:p>
            <a:fld id="{6D32CB5E-1F55-41AA-B559-BABD2516D54E}" type="datetimeFigureOut">
              <a:rPr lang="en-US" smtClean="0"/>
              <a:t>7/24/2026</a:t>
            </a:fld>
            <a:endParaRPr lang="en-US"/>
          </a:p>
        </p:txBody>
      </p:sp>
      <p:sp>
        <p:nvSpPr>
          <p:cNvPr id="5" name="Footer Placeholder 4">
            <a:extLst>
              <a:ext uri="{FF2B5EF4-FFF2-40B4-BE49-F238E27FC236}">
                <a16:creationId xmlns:a16="http://schemas.microsoft.com/office/drawing/2014/main" id="{00504A02-C54F-4C1A-AC03-C427298AFE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9AA430-054D-4AF5-938E-602651D84FF3}"/>
              </a:ext>
            </a:extLst>
          </p:cNvPr>
          <p:cNvSpPr>
            <a:spLocks noGrp="1"/>
          </p:cNvSpPr>
          <p:nvPr>
            <p:ph type="sldNum" sz="quarter" idx="12"/>
          </p:nvPr>
        </p:nvSpPr>
        <p:spPr/>
        <p:txBody>
          <a:bodyPr/>
          <a:lstStyle/>
          <a:p>
            <a:fld id="{AED5577D-44C0-413A-B2CF-621F1242761D}" type="slidenum">
              <a:rPr lang="en-US" smtClean="0"/>
              <a:t>‹#›</a:t>
            </a:fld>
            <a:endParaRPr lang="en-US"/>
          </a:p>
        </p:txBody>
      </p:sp>
    </p:spTree>
    <p:extLst>
      <p:ext uri="{BB962C8B-B14F-4D97-AF65-F5344CB8AC3E}">
        <p14:creationId xmlns:p14="http://schemas.microsoft.com/office/powerpoint/2010/main" val="1346425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DD3CC-3662-4644-93C0-5AA5300C61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CBC00E-09C4-42EC-ACF3-E4F85A1B20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7AD24E-DD96-4632-A0A9-41F2506995DC}"/>
              </a:ext>
            </a:extLst>
          </p:cNvPr>
          <p:cNvSpPr>
            <a:spLocks noGrp="1"/>
          </p:cNvSpPr>
          <p:nvPr>
            <p:ph type="dt" sz="half" idx="10"/>
          </p:nvPr>
        </p:nvSpPr>
        <p:spPr/>
        <p:txBody>
          <a:bodyPr/>
          <a:lstStyle/>
          <a:p>
            <a:fld id="{6D32CB5E-1F55-41AA-B559-BABD2516D54E}" type="datetimeFigureOut">
              <a:rPr lang="en-US" smtClean="0"/>
              <a:t>7/24/2026</a:t>
            </a:fld>
            <a:endParaRPr lang="en-US"/>
          </a:p>
        </p:txBody>
      </p:sp>
      <p:sp>
        <p:nvSpPr>
          <p:cNvPr id="5" name="Footer Placeholder 4">
            <a:extLst>
              <a:ext uri="{FF2B5EF4-FFF2-40B4-BE49-F238E27FC236}">
                <a16:creationId xmlns:a16="http://schemas.microsoft.com/office/drawing/2014/main" id="{06F99E68-1033-48FB-A4B3-1C8A17D570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28341D-CB73-4CD2-914C-44CEE7DC3028}"/>
              </a:ext>
            </a:extLst>
          </p:cNvPr>
          <p:cNvSpPr>
            <a:spLocks noGrp="1"/>
          </p:cNvSpPr>
          <p:nvPr>
            <p:ph type="sldNum" sz="quarter" idx="12"/>
          </p:nvPr>
        </p:nvSpPr>
        <p:spPr/>
        <p:txBody>
          <a:bodyPr/>
          <a:lstStyle/>
          <a:p>
            <a:fld id="{AED5577D-44C0-413A-B2CF-621F1242761D}" type="slidenum">
              <a:rPr lang="en-US" smtClean="0"/>
              <a:t>‹#›</a:t>
            </a:fld>
            <a:endParaRPr lang="en-US"/>
          </a:p>
        </p:txBody>
      </p:sp>
    </p:spTree>
    <p:extLst>
      <p:ext uri="{BB962C8B-B14F-4D97-AF65-F5344CB8AC3E}">
        <p14:creationId xmlns:p14="http://schemas.microsoft.com/office/powerpoint/2010/main" val="1226951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F9DDF-F57A-47DD-B5C4-818A09C270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0DB151-4F3B-4CFE-B0FC-9AC33248A3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170526-8909-435A-92F8-2999DEDEBF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644E21-7A45-4291-A8CE-885F0EA4B55C}"/>
              </a:ext>
            </a:extLst>
          </p:cNvPr>
          <p:cNvSpPr>
            <a:spLocks noGrp="1"/>
          </p:cNvSpPr>
          <p:nvPr>
            <p:ph type="dt" sz="half" idx="10"/>
          </p:nvPr>
        </p:nvSpPr>
        <p:spPr/>
        <p:txBody>
          <a:bodyPr/>
          <a:lstStyle/>
          <a:p>
            <a:fld id="{6D32CB5E-1F55-41AA-B559-BABD2516D54E}" type="datetimeFigureOut">
              <a:rPr lang="en-US" smtClean="0"/>
              <a:t>7/24/2026</a:t>
            </a:fld>
            <a:endParaRPr lang="en-US"/>
          </a:p>
        </p:txBody>
      </p:sp>
      <p:sp>
        <p:nvSpPr>
          <p:cNvPr id="6" name="Footer Placeholder 5">
            <a:extLst>
              <a:ext uri="{FF2B5EF4-FFF2-40B4-BE49-F238E27FC236}">
                <a16:creationId xmlns:a16="http://schemas.microsoft.com/office/drawing/2014/main" id="{1B605F95-4A7D-4DCE-A59C-89D3F100EA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312B54-4DAC-4B72-9A97-71336855B6A2}"/>
              </a:ext>
            </a:extLst>
          </p:cNvPr>
          <p:cNvSpPr>
            <a:spLocks noGrp="1"/>
          </p:cNvSpPr>
          <p:nvPr>
            <p:ph type="sldNum" sz="quarter" idx="12"/>
          </p:nvPr>
        </p:nvSpPr>
        <p:spPr/>
        <p:txBody>
          <a:bodyPr/>
          <a:lstStyle/>
          <a:p>
            <a:fld id="{AED5577D-44C0-413A-B2CF-621F1242761D}" type="slidenum">
              <a:rPr lang="en-US" smtClean="0"/>
              <a:t>‹#›</a:t>
            </a:fld>
            <a:endParaRPr lang="en-US"/>
          </a:p>
        </p:txBody>
      </p:sp>
    </p:spTree>
    <p:extLst>
      <p:ext uri="{BB962C8B-B14F-4D97-AF65-F5344CB8AC3E}">
        <p14:creationId xmlns:p14="http://schemas.microsoft.com/office/powerpoint/2010/main" val="1043510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94608-CD25-4F65-8423-9960E8F331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E8FED5-8D4E-4C32-9859-0B8E047A2D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CF85C9-B578-4965-B538-DEDD983E34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625415-D73D-4EEA-A153-1DAE47D07D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91545F-DA67-4337-899D-CBB10D6CE3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A638C9-461F-4186-87FA-E5EB44D41249}"/>
              </a:ext>
            </a:extLst>
          </p:cNvPr>
          <p:cNvSpPr>
            <a:spLocks noGrp="1"/>
          </p:cNvSpPr>
          <p:nvPr>
            <p:ph type="dt" sz="half" idx="10"/>
          </p:nvPr>
        </p:nvSpPr>
        <p:spPr/>
        <p:txBody>
          <a:bodyPr/>
          <a:lstStyle/>
          <a:p>
            <a:fld id="{6D32CB5E-1F55-41AA-B559-BABD2516D54E}" type="datetimeFigureOut">
              <a:rPr lang="en-US" smtClean="0"/>
              <a:t>7/24/2026</a:t>
            </a:fld>
            <a:endParaRPr lang="en-US"/>
          </a:p>
        </p:txBody>
      </p:sp>
      <p:sp>
        <p:nvSpPr>
          <p:cNvPr id="8" name="Footer Placeholder 7">
            <a:extLst>
              <a:ext uri="{FF2B5EF4-FFF2-40B4-BE49-F238E27FC236}">
                <a16:creationId xmlns:a16="http://schemas.microsoft.com/office/drawing/2014/main" id="{DCF95E9E-90BD-40D2-BCFB-428042D477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61BAA64-7926-4C73-A132-3F311A176CBF}"/>
              </a:ext>
            </a:extLst>
          </p:cNvPr>
          <p:cNvSpPr>
            <a:spLocks noGrp="1"/>
          </p:cNvSpPr>
          <p:nvPr>
            <p:ph type="sldNum" sz="quarter" idx="12"/>
          </p:nvPr>
        </p:nvSpPr>
        <p:spPr/>
        <p:txBody>
          <a:bodyPr/>
          <a:lstStyle/>
          <a:p>
            <a:fld id="{AED5577D-44C0-413A-B2CF-621F1242761D}" type="slidenum">
              <a:rPr lang="en-US" smtClean="0"/>
              <a:t>‹#›</a:t>
            </a:fld>
            <a:endParaRPr lang="en-US"/>
          </a:p>
        </p:txBody>
      </p:sp>
    </p:spTree>
    <p:extLst>
      <p:ext uri="{BB962C8B-B14F-4D97-AF65-F5344CB8AC3E}">
        <p14:creationId xmlns:p14="http://schemas.microsoft.com/office/powerpoint/2010/main" val="715906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AE4D4-FD19-4391-BB5D-127CC57470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F01BCB8-DEDB-4431-80B1-95DE7837F70C}"/>
              </a:ext>
            </a:extLst>
          </p:cNvPr>
          <p:cNvSpPr>
            <a:spLocks noGrp="1"/>
          </p:cNvSpPr>
          <p:nvPr>
            <p:ph type="dt" sz="half" idx="10"/>
          </p:nvPr>
        </p:nvSpPr>
        <p:spPr/>
        <p:txBody>
          <a:bodyPr/>
          <a:lstStyle/>
          <a:p>
            <a:fld id="{6D32CB5E-1F55-41AA-B559-BABD2516D54E}" type="datetimeFigureOut">
              <a:rPr lang="en-US" smtClean="0"/>
              <a:t>7/24/2026</a:t>
            </a:fld>
            <a:endParaRPr lang="en-US"/>
          </a:p>
        </p:txBody>
      </p:sp>
      <p:sp>
        <p:nvSpPr>
          <p:cNvPr id="4" name="Footer Placeholder 3">
            <a:extLst>
              <a:ext uri="{FF2B5EF4-FFF2-40B4-BE49-F238E27FC236}">
                <a16:creationId xmlns:a16="http://schemas.microsoft.com/office/drawing/2014/main" id="{24818EC0-FE97-4A33-841D-EA4D12F641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6F1B7D-FCDB-4AC6-8A43-877EBE067021}"/>
              </a:ext>
            </a:extLst>
          </p:cNvPr>
          <p:cNvSpPr>
            <a:spLocks noGrp="1"/>
          </p:cNvSpPr>
          <p:nvPr>
            <p:ph type="sldNum" sz="quarter" idx="12"/>
          </p:nvPr>
        </p:nvSpPr>
        <p:spPr/>
        <p:txBody>
          <a:bodyPr/>
          <a:lstStyle/>
          <a:p>
            <a:fld id="{AED5577D-44C0-413A-B2CF-621F1242761D}" type="slidenum">
              <a:rPr lang="en-US" smtClean="0"/>
              <a:t>‹#›</a:t>
            </a:fld>
            <a:endParaRPr lang="en-US"/>
          </a:p>
        </p:txBody>
      </p:sp>
    </p:spTree>
    <p:extLst>
      <p:ext uri="{BB962C8B-B14F-4D97-AF65-F5344CB8AC3E}">
        <p14:creationId xmlns:p14="http://schemas.microsoft.com/office/powerpoint/2010/main" val="2230327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F818BA-F27C-458C-8781-E8791C0A5E1A}"/>
              </a:ext>
            </a:extLst>
          </p:cNvPr>
          <p:cNvSpPr>
            <a:spLocks noGrp="1"/>
          </p:cNvSpPr>
          <p:nvPr>
            <p:ph type="dt" sz="half" idx="10"/>
          </p:nvPr>
        </p:nvSpPr>
        <p:spPr/>
        <p:txBody>
          <a:bodyPr/>
          <a:lstStyle/>
          <a:p>
            <a:fld id="{6D32CB5E-1F55-41AA-B559-BABD2516D54E}" type="datetimeFigureOut">
              <a:rPr lang="en-US" smtClean="0"/>
              <a:t>7/24/2026</a:t>
            </a:fld>
            <a:endParaRPr lang="en-US"/>
          </a:p>
        </p:txBody>
      </p:sp>
      <p:sp>
        <p:nvSpPr>
          <p:cNvPr id="3" name="Footer Placeholder 2">
            <a:extLst>
              <a:ext uri="{FF2B5EF4-FFF2-40B4-BE49-F238E27FC236}">
                <a16:creationId xmlns:a16="http://schemas.microsoft.com/office/drawing/2014/main" id="{8B7B28D6-0863-4C78-A71D-25195797F9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F016BA-AA77-4EEF-820E-2FBA734350B4}"/>
              </a:ext>
            </a:extLst>
          </p:cNvPr>
          <p:cNvSpPr>
            <a:spLocks noGrp="1"/>
          </p:cNvSpPr>
          <p:nvPr>
            <p:ph type="sldNum" sz="quarter" idx="12"/>
          </p:nvPr>
        </p:nvSpPr>
        <p:spPr/>
        <p:txBody>
          <a:bodyPr/>
          <a:lstStyle/>
          <a:p>
            <a:fld id="{AED5577D-44C0-413A-B2CF-621F1242761D}" type="slidenum">
              <a:rPr lang="en-US" smtClean="0"/>
              <a:t>‹#›</a:t>
            </a:fld>
            <a:endParaRPr lang="en-US"/>
          </a:p>
        </p:txBody>
      </p:sp>
    </p:spTree>
    <p:extLst>
      <p:ext uri="{BB962C8B-B14F-4D97-AF65-F5344CB8AC3E}">
        <p14:creationId xmlns:p14="http://schemas.microsoft.com/office/powerpoint/2010/main" val="2542469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5E0C3-F4FD-4E0D-9A33-42635C44AE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A0C5FF9-28DF-4E3A-85C0-E86EC6EB23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1D59E7D-72CE-4632-9D0D-8BD85C2503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4B5F33-9B3A-4E69-A5B1-742A67D71608}"/>
              </a:ext>
            </a:extLst>
          </p:cNvPr>
          <p:cNvSpPr>
            <a:spLocks noGrp="1"/>
          </p:cNvSpPr>
          <p:nvPr>
            <p:ph type="dt" sz="half" idx="10"/>
          </p:nvPr>
        </p:nvSpPr>
        <p:spPr/>
        <p:txBody>
          <a:bodyPr/>
          <a:lstStyle/>
          <a:p>
            <a:fld id="{6D32CB5E-1F55-41AA-B559-BABD2516D54E}" type="datetimeFigureOut">
              <a:rPr lang="en-US" smtClean="0"/>
              <a:t>7/24/2026</a:t>
            </a:fld>
            <a:endParaRPr lang="en-US"/>
          </a:p>
        </p:txBody>
      </p:sp>
      <p:sp>
        <p:nvSpPr>
          <p:cNvPr id="6" name="Footer Placeholder 5">
            <a:extLst>
              <a:ext uri="{FF2B5EF4-FFF2-40B4-BE49-F238E27FC236}">
                <a16:creationId xmlns:a16="http://schemas.microsoft.com/office/drawing/2014/main" id="{5CFB37CA-5076-4F4F-9F55-D52FD221DD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1A411D-0E2B-40D3-A25C-5192AB7F585C}"/>
              </a:ext>
            </a:extLst>
          </p:cNvPr>
          <p:cNvSpPr>
            <a:spLocks noGrp="1"/>
          </p:cNvSpPr>
          <p:nvPr>
            <p:ph type="sldNum" sz="quarter" idx="12"/>
          </p:nvPr>
        </p:nvSpPr>
        <p:spPr/>
        <p:txBody>
          <a:bodyPr/>
          <a:lstStyle/>
          <a:p>
            <a:fld id="{AED5577D-44C0-413A-B2CF-621F1242761D}" type="slidenum">
              <a:rPr lang="en-US" smtClean="0"/>
              <a:t>‹#›</a:t>
            </a:fld>
            <a:endParaRPr lang="en-US"/>
          </a:p>
        </p:txBody>
      </p:sp>
    </p:spTree>
    <p:extLst>
      <p:ext uri="{BB962C8B-B14F-4D97-AF65-F5344CB8AC3E}">
        <p14:creationId xmlns:p14="http://schemas.microsoft.com/office/powerpoint/2010/main" val="2832466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A5D45-140A-4F36-8E4B-B0A7D07EAF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4B60B04-672F-48C4-BE23-CBE85C3AC7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EFD2E4-9C17-4BD2-AE4A-DA13A045BB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6EB220-FE37-4D3D-863A-3EFF2CC61FF3}"/>
              </a:ext>
            </a:extLst>
          </p:cNvPr>
          <p:cNvSpPr>
            <a:spLocks noGrp="1"/>
          </p:cNvSpPr>
          <p:nvPr>
            <p:ph type="dt" sz="half" idx="10"/>
          </p:nvPr>
        </p:nvSpPr>
        <p:spPr/>
        <p:txBody>
          <a:bodyPr/>
          <a:lstStyle/>
          <a:p>
            <a:fld id="{6D32CB5E-1F55-41AA-B559-BABD2516D54E}" type="datetimeFigureOut">
              <a:rPr lang="en-US" smtClean="0"/>
              <a:t>7/24/2026</a:t>
            </a:fld>
            <a:endParaRPr lang="en-US"/>
          </a:p>
        </p:txBody>
      </p:sp>
      <p:sp>
        <p:nvSpPr>
          <p:cNvPr id="6" name="Footer Placeholder 5">
            <a:extLst>
              <a:ext uri="{FF2B5EF4-FFF2-40B4-BE49-F238E27FC236}">
                <a16:creationId xmlns:a16="http://schemas.microsoft.com/office/drawing/2014/main" id="{30BACE23-1854-4E77-9F1D-D16F735C0F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1702A8-F40A-471F-A264-F67B4F9D1FBF}"/>
              </a:ext>
            </a:extLst>
          </p:cNvPr>
          <p:cNvSpPr>
            <a:spLocks noGrp="1"/>
          </p:cNvSpPr>
          <p:nvPr>
            <p:ph type="sldNum" sz="quarter" idx="12"/>
          </p:nvPr>
        </p:nvSpPr>
        <p:spPr/>
        <p:txBody>
          <a:bodyPr/>
          <a:lstStyle/>
          <a:p>
            <a:fld id="{AED5577D-44C0-413A-B2CF-621F1242761D}" type="slidenum">
              <a:rPr lang="en-US" smtClean="0"/>
              <a:t>‹#›</a:t>
            </a:fld>
            <a:endParaRPr lang="en-US"/>
          </a:p>
        </p:txBody>
      </p:sp>
    </p:spTree>
    <p:extLst>
      <p:ext uri="{BB962C8B-B14F-4D97-AF65-F5344CB8AC3E}">
        <p14:creationId xmlns:p14="http://schemas.microsoft.com/office/powerpoint/2010/main" val="1748440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2E954-CDA0-4BE0-AED7-2B4E734CC9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2EBB78-2493-4ED3-BDCF-2D6681754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66FB8F-3B97-4F76-A975-43864F1433E2}"/>
              </a:ext>
            </a:extLst>
          </p:cNvPr>
          <p:cNvSpPr>
            <a:spLocks noGrp="1"/>
          </p:cNvSpPr>
          <p:nvPr>
            <p:ph type="dt" sz="half" idx="10"/>
          </p:nvPr>
        </p:nvSpPr>
        <p:spPr/>
        <p:txBody>
          <a:bodyPr/>
          <a:lstStyle/>
          <a:p>
            <a:fld id="{6D32CB5E-1F55-41AA-B559-BABD2516D54E}" type="datetimeFigureOut">
              <a:rPr lang="en-US" smtClean="0"/>
              <a:t>7/24/2026</a:t>
            </a:fld>
            <a:endParaRPr lang="en-US"/>
          </a:p>
        </p:txBody>
      </p:sp>
      <p:sp>
        <p:nvSpPr>
          <p:cNvPr id="5" name="Footer Placeholder 4">
            <a:extLst>
              <a:ext uri="{FF2B5EF4-FFF2-40B4-BE49-F238E27FC236}">
                <a16:creationId xmlns:a16="http://schemas.microsoft.com/office/drawing/2014/main" id="{B25C82C0-D09D-458D-85EA-1B88909343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D9FB3F-603C-4DD6-AC08-C12F05FF8E7D}"/>
              </a:ext>
            </a:extLst>
          </p:cNvPr>
          <p:cNvSpPr>
            <a:spLocks noGrp="1"/>
          </p:cNvSpPr>
          <p:nvPr>
            <p:ph type="sldNum" sz="quarter" idx="12"/>
          </p:nvPr>
        </p:nvSpPr>
        <p:spPr/>
        <p:txBody>
          <a:bodyPr/>
          <a:lstStyle/>
          <a:p>
            <a:fld id="{AED5577D-44C0-413A-B2CF-621F1242761D}" type="slidenum">
              <a:rPr lang="en-US" smtClean="0"/>
              <a:t>‹#›</a:t>
            </a:fld>
            <a:endParaRPr lang="en-US"/>
          </a:p>
        </p:txBody>
      </p:sp>
    </p:spTree>
    <p:extLst>
      <p:ext uri="{BB962C8B-B14F-4D97-AF65-F5344CB8AC3E}">
        <p14:creationId xmlns:p14="http://schemas.microsoft.com/office/powerpoint/2010/main" val="279083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6550DE-A91D-4B1D-A889-06640E7E78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06DC8EC-D9CE-42CE-A4E7-5D92C14EF5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7D2307-916B-435F-A995-88EEA07E5B15}"/>
              </a:ext>
            </a:extLst>
          </p:cNvPr>
          <p:cNvSpPr>
            <a:spLocks noGrp="1"/>
          </p:cNvSpPr>
          <p:nvPr>
            <p:ph type="dt" sz="half" idx="10"/>
          </p:nvPr>
        </p:nvSpPr>
        <p:spPr/>
        <p:txBody>
          <a:bodyPr/>
          <a:lstStyle/>
          <a:p>
            <a:fld id="{6D32CB5E-1F55-41AA-B559-BABD2516D54E}" type="datetimeFigureOut">
              <a:rPr lang="en-US" smtClean="0"/>
              <a:t>7/24/2026</a:t>
            </a:fld>
            <a:endParaRPr lang="en-US"/>
          </a:p>
        </p:txBody>
      </p:sp>
      <p:sp>
        <p:nvSpPr>
          <p:cNvPr id="5" name="Footer Placeholder 4">
            <a:extLst>
              <a:ext uri="{FF2B5EF4-FFF2-40B4-BE49-F238E27FC236}">
                <a16:creationId xmlns:a16="http://schemas.microsoft.com/office/drawing/2014/main" id="{478E6B27-9ED6-43DB-847B-AE99475CC6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916577-1559-4546-8104-D545920D87AD}"/>
              </a:ext>
            </a:extLst>
          </p:cNvPr>
          <p:cNvSpPr>
            <a:spLocks noGrp="1"/>
          </p:cNvSpPr>
          <p:nvPr>
            <p:ph type="sldNum" sz="quarter" idx="12"/>
          </p:nvPr>
        </p:nvSpPr>
        <p:spPr/>
        <p:txBody>
          <a:bodyPr/>
          <a:lstStyle/>
          <a:p>
            <a:fld id="{AED5577D-44C0-413A-B2CF-621F1242761D}" type="slidenum">
              <a:rPr lang="en-US" smtClean="0"/>
              <a:t>‹#›</a:t>
            </a:fld>
            <a:endParaRPr lang="en-US"/>
          </a:p>
        </p:txBody>
      </p:sp>
    </p:spTree>
    <p:extLst>
      <p:ext uri="{BB962C8B-B14F-4D97-AF65-F5344CB8AC3E}">
        <p14:creationId xmlns:p14="http://schemas.microsoft.com/office/powerpoint/2010/main" val="6730526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8D138A-52D3-4DFE-986A-D143E7BE20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3A14CE3-8C1D-43E6-822C-C6FEF12AD3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A432F1-93B7-45DF-BD08-1467C4DC9F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32CB5E-1F55-41AA-B559-BABD2516D54E}" type="datetimeFigureOut">
              <a:rPr lang="en-US" smtClean="0"/>
              <a:t>7/24/2026</a:t>
            </a:fld>
            <a:endParaRPr lang="en-US"/>
          </a:p>
        </p:txBody>
      </p:sp>
      <p:sp>
        <p:nvSpPr>
          <p:cNvPr id="5" name="Footer Placeholder 4">
            <a:extLst>
              <a:ext uri="{FF2B5EF4-FFF2-40B4-BE49-F238E27FC236}">
                <a16:creationId xmlns:a16="http://schemas.microsoft.com/office/drawing/2014/main" id="{1E1435F8-F9A3-4BE2-88B0-2F6C177505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0ACEF00-7745-402B-B267-B9F3A8DE71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D5577D-44C0-413A-B2CF-621F1242761D}" type="slidenum">
              <a:rPr lang="en-US" smtClean="0"/>
              <a:t>‹#›</a:t>
            </a:fld>
            <a:endParaRPr lang="en-US"/>
          </a:p>
        </p:txBody>
      </p:sp>
    </p:spTree>
    <p:extLst>
      <p:ext uri="{BB962C8B-B14F-4D97-AF65-F5344CB8AC3E}">
        <p14:creationId xmlns:p14="http://schemas.microsoft.com/office/powerpoint/2010/main" val="15871292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gif"/><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notesSlide" Target="../notesSlides/notesSlide8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notesSlide" Target="../notesSlides/notesSlide8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notesSlide" Target="../notesSlides/notesSlide8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notesSlide" Target="../notesSlides/notesSlide83.xml"/><Relationship Id="rId12" Type="http://schemas.openxmlformats.org/officeDocument/2006/relationships/image" Target="../media/image5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5.png"/><Relationship Id="rId12" Type="http://schemas.openxmlformats.org/officeDocument/2006/relationships/image" Target="../media/image54.png"/><Relationship Id="rId13" Type="http://schemas.openxmlformats.org/officeDocument/2006/relationships/image" Target="../media/image12.png"/><Relationship Id="rId14" Type="http://schemas.openxmlformats.org/officeDocument/2006/relationships/notesSlide" Target="../notesSlides/notesSlide84.xml"/><Relationship Id="rId15" Type="http://schemas.openxmlformats.org/officeDocument/2006/relationships/image" Target="../media/image9.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5.png"/><Relationship Id="rId12" Type="http://schemas.openxmlformats.org/officeDocument/2006/relationships/image" Target="../media/image55.png"/><Relationship Id="rId13" Type="http://schemas.openxmlformats.org/officeDocument/2006/relationships/image" Target="../media/image12.png"/><Relationship Id="rId14" Type="http://schemas.openxmlformats.org/officeDocument/2006/relationships/notesSlide" Target="../notesSlides/notesSlide85.xml"/><Relationship Id="rId15" Type="http://schemas.openxmlformats.org/officeDocument/2006/relationships/image" Target="../media/image2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5.png"/><Relationship Id="rId12" Type="http://schemas.openxmlformats.org/officeDocument/2006/relationships/image" Target="../media/image56.png"/><Relationship Id="rId13" Type="http://schemas.openxmlformats.org/officeDocument/2006/relationships/image" Target="../media/image12.png"/><Relationship Id="rId14" Type="http://schemas.openxmlformats.org/officeDocument/2006/relationships/notesSlide" Target="../notesSlides/notesSlide86.xml"/><Relationship Id="rId15" Type="http://schemas.openxmlformats.org/officeDocument/2006/relationships/image" Target="../media/image2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25.png"/><Relationship Id="rId5" Type="http://schemas.openxmlformats.org/officeDocument/2006/relationships/notesSlide" Target="../notesSlides/notesSlide8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5.png"/><Relationship Id="rId12" Type="http://schemas.openxmlformats.org/officeDocument/2006/relationships/image" Target="../media/image57.png"/><Relationship Id="rId13" Type="http://schemas.openxmlformats.org/officeDocument/2006/relationships/image" Target="../media/image12.png"/><Relationship Id="rId14" Type="http://schemas.openxmlformats.org/officeDocument/2006/relationships/notesSlide" Target="../notesSlides/notesSlide88.xml"/><Relationship Id="rId15" Type="http://schemas.openxmlformats.org/officeDocument/2006/relationships/image" Target="../media/image3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5.png"/><Relationship Id="rId12" Type="http://schemas.openxmlformats.org/officeDocument/2006/relationships/image" Target="../media/image12.png"/><Relationship Id="rId13" Type="http://schemas.openxmlformats.org/officeDocument/2006/relationships/notesSlide" Target="../notesSlides/notesSlide89.xml"/><Relationship Id="rId14" Type="http://schemas.openxmlformats.org/officeDocument/2006/relationships/image" Target="../media/image6.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5.png"/><Relationship Id="rId12" Type="http://schemas.openxmlformats.org/officeDocument/2006/relationships/image" Target="../media/image12.png"/><Relationship Id="rId13" Type="http://schemas.openxmlformats.org/officeDocument/2006/relationships/notesSlide" Target="../notesSlides/notesSlide9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5.png"/><Relationship Id="rId12" Type="http://schemas.openxmlformats.org/officeDocument/2006/relationships/image" Target="../media/image12.png"/><Relationship Id="rId13" Type="http://schemas.openxmlformats.org/officeDocument/2006/relationships/notesSlide" Target="../notesSlides/notesSlide9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5.png"/><Relationship Id="rId12" Type="http://schemas.openxmlformats.org/officeDocument/2006/relationships/image" Target="../media/image12.png"/><Relationship Id="rId13" Type="http://schemas.openxmlformats.org/officeDocument/2006/relationships/notesSlide" Target="../notesSlides/notesSlide9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5.png"/><Relationship Id="rId12" Type="http://schemas.openxmlformats.org/officeDocument/2006/relationships/image" Target="../media/image58.png"/><Relationship Id="rId13" Type="http://schemas.openxmlformats.org/officeDocument/2006/relationships/image" Target="../media/image12.png"/><Relationship Id="rId14" Type="http://schemas.openxmlformats.org/officeDocument/2006/relationships/notesSlide" Target="../notesSlides/notesSlide93.xml"/><Relationship Id="rId15" Type="http://schemas.openxmlformats.org/officeDocument/2006/relationships/image" Target="../media/image8.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24.png"/><Relationship Id="rId6" Type="http://schemas.openxmlformats.org/officeDocument/2006/relationships/notesSlide" Target="../notesSlides/notesSlide94.xml"/><Relationship Id="rId7" Type="http://schemas.openxmlformats.org/officeDocument/2006/relationships/image" Target="../media/image9.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5.png"/><Relationship Id="rId12" Type="http://schemas.openxmlformats.org/officeDocument/2006/relationships/notesSlide" Target="../notesSlides/notesSlide95.xml"/><Relationship Id="rId13" Type="http://schemas.openxmlformats.org/officeDocument/2006/relationships/image" Target="../media/image2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5.png"/><Relationship Id="rId12" Type="http://schemas.openxmlformats.org/officeDocument/2006/relationships/notesSlide" Target="../notesSlides/notesSlide96.xml"/><Relationship Id="rId13" Type="http://schemas.openxmlformats.org/officeDocument/2006/relationships/image" Target="../media/image24.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5.png"/><Relationship Id="rId12" Type="http://schemas.openxmlformats.org/officeDocument/2006/relationships/notesSlide" Target="../notesSlides/notesSlide97.xml"/><Relationship Id="rId13" Type="http://schemas.openxmlformats.org/officeDocument/2006/relationships/image" Target="../media/image25.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5.png"/><Relationship Id="rId12" Type="http://schemas.openxmlformats.org/officeDocument/2006/relationships/image" Target="../media/image59.png"/><Relationship Id="rId13" Type="http://schemas.openxmlformats.org/officeDocument/2006/relationships/notesSlide" Target="../notesSlides/notesSlide98.xml"/><Relationship Id="rId14" Type="http://schemas.openxmlformats.org/officeDocument/2006/relationships/image" Target="../media/image3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5.png"/><Relationship Id="rId12" Type="http://schemas.openxmlformats.org/officeDocument/2006/relationships/notesSlide" Target="../notesSlides/notesSlide99.xml"/><Relationship Id="rId13" Type="http://schemas.openxmlformats.org/officeDocument/2006/relationships/image" Target="../media/image6.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25.png"/><Relationship Id="rId6" Type="http://schemas.openxmlformats.org/officeDocument/2006/relationships/notesSlide" Target="../notesSlides/notesSlide100.xml"/><Relationship Id="rId7" Type="http://schemas.openxmlformats.org/officeDocument/2006/relationships/image" Target="../media/image10.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notesSlide" Target="../notesSlides/notesSlide101.xml"/><Relationship Id="rId14" Type="http://schemas.openxmlformats.org/officeDocument/2006/relationships/image" Target="../media/image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notesSlide" Target="../notesSlides/notesSlide102.xml"/><Relationship Id="rId14" Type="http://schemas.openxmlformats.org/officeDocument/2006/relationships/image" Target="../media/image5.png"/><Relationship Id="rId15" Type="http://schemas.openxmlformats.org/officeDocument/2006/relationships/image" Target="../media/image7.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notesSlide" Target="../notesSlides/notesSlide103.xml"/><Relationship Id="rId14" Type="http://schemas.openxmlformats.org/officeDocument/2006/relationships/image" Target="../media/image5.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notesSlide" Target="../notesSlides/notesSlide104.xml"/><Relationship Id="rId14" Type="http://schemas.openxmlformats.org/officeDocument/2006/relationships/image" Target="../media/image5.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60.png"/><Relationship Id="rId13" Type="http://schemas.openxmlformats.org/officeDocument/2006/relationships/image" Target="../media/image14.png"/><Relationship Id="rId14" Type="http://schemas.openxmlformats.org/officeDocument/2006/relationships/notesSlide" Target="../notesSlides/notesSlide105.xml"/><Relationship Id="rId15" Type="http://schemas.openxmlformats.org/officeDocument/2006/relationships/image" Target="../media/image5.png"/><Relationship Id="rId16" Type="http://schemas.openxmlformats.org/officeDocument/2006/relationships/image" Target="../media/image2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notesSlide" Target="../notesSlides/notesSlide106.xml"/><Relationship Id="rId14" Type="http://schemas.openxmlformats.org/officeDocument/2006/relationships/image" Target="../media/image5.png"/><Relationship Id="rId15" Type="http://schemas.openxmlformats.org/officeDocument/2006/relationships/image" Target="../media/image24.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notesSlide" Target="../notesSlides/notesSlide107.xml"/><Relationship Id="rId14" Type="http://schemas.openxmlformats.org/officeDocument/2006/relationships/image" Target="../media/image5.png"/><Relationship Id="rId15" Type="http://schemas.openxmlformats.org/officeDocument/2006/relationships/image" Target="../media/image25.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notesSlide" Target="../notesSlides/notesSlide108.xml"/><Relationship Id="rId14" Type="http://schemas.openxmlformats.org/officeDocument/2006/relationships/image" Target="../media/image5.png"/><Relationship Id="rId15" Type="http://schemas.openxmlformats.org/officeDocument/2006/relationships/image" Target="../media/image3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notesSlide" Target="../notesSlides/notesSlide109.xml"/><Relationship Id="rId14" Type="http://schemas.openxmlformats.org/officeDocument/2006/relationships/image" Target="../media/image7.png"/><Relationship Id="rId15" Type="http://schemas.openxmlformats.org/officeDocument/2006/relationships/image" Target="../media/image6.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notesSlide" Target="../notesSlides/notesSlide110.xml"/><Relationship Id="rId14" Type="http://schemas.openxmlformats.org/officeDocument/2006/relationships/image" Target="../media/image7.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notesSlide" Target="../notesSlides/notesSlide111.xml"/><Relationship Id="rId14" Type="http://schemas.openxmlformats.org/officeDocument/2006/relationships/image" Target="../media/image7.png"/><Relationship Id="rId15" Type="http://schemas.openxmlformats.org/officeDocument/2006/relationships/image" Target="../media/image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notesSlide" Target="../notesSlides/notesSlide112.xml"/><Relationship Id="rId14" Type="http://schemas.openxmlformats.org/officeDocument/2006/relationships/image" Target="../media/image7.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notesSlide" Target="../notesSlides/notesSlide113.xml"/><Relationship Id="rId14" Type="http://schemas.openxmlformats.org/officeDocument/2006/relationships/image" Target="../media/image7.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notesSlide" Target="../notesSlides/notesSlide114.xml"/><Relationship Id="rId7" Type="http://schemas.openxmlformats.org/officeDocument/2006/relationships/image" Target="../media/image7.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notesSlide" Target="../notesSlides/notesSlide115.xml"/><Relationship Id="rId13" Type="http://schemas.openxmlformats.org/officeDocument/2006/relationships/image" Target="../media/image7.png"/><Relationship Id="rId14" Type="http://schemas.openxmlformats.org/officeDocument/2006/relationships/image" Target="../media/image2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notesSlide" Target="../notesSlides/notesSlide116.xml"/><Relationship Id="rId13" Type="http://schemas.openxmlformats.org/officeDocument/2006/relationships/image" Target="../media/image7.png"/><Relationship Id="rId14" Type="http://schemas.openxmlformats.org/officeDocument/2006/relationships/image" Target="../media/image24.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61.png"/><Relationship Id="rId13" Type="http://schemas.openxmlformats.org/officeDocument/2006/relationships/notesSlide" Target="../notesSlides/notesSlide117.xml"/><Relationship Id="rId14" Type="http://schemas.openxmlformats.org/officeDocument/2006/relationships/image" Target="../media/image7.png"/><Relationship Id="rId15" Type="http://schemas.openxmlformats.org/officeDocument/2006/relationships/image" Target="../media/image25.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notesSlide" Target="../notesSlides/notesSlide118.xml"/><Relationship Id="rId13" Type="http://schemas.openxmlformats.org/officeDocument/2006/relationships/image" Target="../media/image7.png"/><Relationship Id="rId14" Type="http://schemas.openxmlformats.org/officeDocument/2006/relationships/image" Target="../media/image3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notesSlide" Target="../notesSlides/notesSlide119.xml"/><Relationship Id="rId13" Type="http://schemas.openxmlformats.org/officeDocument/2006/relationships/image" Target="../media/image6.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notesSlide" Target="../notesSlides/notesSlide120.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notesSlide" Target="../notesSlides/notesSlide121.xml"/><Relationship Id="rId13" Type="http://schemas.openxmlformats.org/officeDocument/2006/relationships/image" Target="../media/image5.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notesSlide" Target="../notesSlides/notesSlide122.xml"/><Relationship Id="rId13" Type="http://schemas.openxmlformats.org/officeDocument/2006/relationships/image" Target="../media/image7.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notesSlide" Target="../notesSlides/notesSlide12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notesSlide" Target="../notesSlides/notesSlide12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notesSlide" Target="../notesSlides/notesSlide125.xml"/><Relationship Id="rId13" Type="http://schemas.openxmlformats.org/officeDocument/2006/relationships/image" Target="../media/image2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notesSlide" Target="../notesSlides/notesSlide126.xml"/><Relationship Id="rId13" Type="http://schemas.openxmlformats.org/officeDocument/2006/relationships/image" Target="../media/image24.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notesSlide" Target="../notesSlides/notesSlide127.xml"/><Relationship Id="rId13" Type="http://schemas.openxmlformats.org/officeDocument/2006/relationships/image" Target="../media/image25.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2.png"/><Relationship Id="rId4"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notesSlide" Target="../notesSlides/notesSlide128.xml"/><Relationship Id="rId7" Type="http://schemas.openxmlformats.org/officeDocument/2006/relationships/image" Target="../media/image8.png"/><Relationship Id="rId8" Type="http://schemas.openxmlformats.org/officeDocument/2006/relationships/image" Target="../media/image3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image" Target="../media/image22.png"/><Relationship Id="rId14" Type="http://schemas.openxmlformats.org/officeDocument/2006/relationships/notesSlide" Target="../notesSlides/notesSlide129.xml"/><Relationship Id="rId15" Type="http://schemas.openxmlformats.org/officeDocument/2006/relationships/image" Target="../media/image6.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image" Target="../media/image22.png"/><Relationship Id="rId14" Type="http://schemas.openxmlformats.org/officeDocument/2006/relationships/notesSlide" Target="../notesSlides/notesSlide130.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image" Target="../media/image22.png"/><Relationship Id="rId14" Type="http://schemas.openxmlformats.org/officeDocument/2006/relationships/notesSlide" Target="../notesSlides/notesSlide131.xml"/><Relationship Id="rId15" Type="http://schemas.openxmlformats.org/officeDocument/2006/relationships/image" Target="../media/image5.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image" Target="../media/image22.png"/><Relationship Id="rId14" Type="http://schemas.openxmlformats.org/officeDocument/2006/relationships/notesSlide" Target="../notesSlides/notesSlide132.xml"/><Relationship Id="rId15" Type="http://schemas.openxmlformats.org/officeDocument/2006/relationships/image" Target="../media/image7.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image" Target="../media/image22.png"/><Relationship Id="rId14" Type="http://schemas.openxmlformats.org/officeDocument/2006/relationships/notesSlide" Target="../notesSlides/notesSlide13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62.png"/><Relationship Id="rId13" Type="http://schemas.openxmlformats.org/officeDocument/2006/relationships/image" Target="../media/image14.png"/><Relationship Id="rId14" Type="http://schemas.openxmlformats.org/officeDocument/2006/relationships/image" Target="../media/image22.png"/><Relationship Id="rId15" Type="http://schemas.openxmlformats.org/officeDocument/2006/relationships/notesSlide" Target="../notesSlides/notesSlide134.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image" Target="../media/image22.png"/><Relationship Id="rId14" Type="http://schemas.openxmlformats.org/officeDocument/2006/relationships/notesSlide" Target="../notesSlides/notesSlide13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image" Target="../media/image22.png"/><Relationship Id="rId14" Type="http://schemas.openxmlformats.org/officeDocument/2006/relationships/notesSlide" Target="../notesSlides/notesSlide136.xml"/><Relationship Id="rId15" Type="http://schemas.openxmlformats.org/officeDocument/2006/relationships/image" Target="../media/image24.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image" Target="../media/image22.png"/><Relationship Id="rId14" Type="http://schemas.openxmlformats.org/officeDocument/2006/relationships/notesSlide" Target="../notesSlides/notesSlide137.xml"/><Relationship Id="rId15" Type="http://schemas.openxmlformats.org/officeDocument/2006/relationships/image" Target="../media/image25.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image" Target="../media/image22.png"/><Relationship Id="rId14" Type="http://schemas.openxmlformats.org/officeDocument/2006/relationships/notesSlide" Target="../notesSlides/notesSlide138.xml"/><Relationship Id="rId15" Type="http://schemas.openxmlformats.org/officeDocument/2006/relationships/image" Target="../media/image3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image" Target="../media/image22.png"/><Relationship Id="rId14" Type="http://schemas.openxmlformats.org/officeDocument/2006/relationships/notesSlide" Target="../notesSlides/notesSlide139.xml"/><Relationship Id="rId15" Type="http://schemas.openxmlformats.org/officeDocument/2006/relationships/image" Target="../media/image6.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image" Target="../media/image22.png"/><Relationship Id="rId14" Type="http://schemas.openxmlformats.org/officeDocument/2006/relationships/notesSlide" Target="../notesSlides/notesSlide140.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image" Target="../media/image22.png"/><Relationship Id="rId14" Type="http://schemas.openxmlformats.org/officeDocument/2006/relationships/notesSlide" Target="../notesSlides/notesSlide141.xml"/><Relationship Id="rId15" Type="http://schemas.openxmlformats.org/officeDocument/2006/relationships/image" Target="../media/image5.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image" Target="../media/image22.png"/><Relationship Id="rId14" Type="http://schemas.openxmlformats.org/officeDocument/2006/relationships/notesSlide" Target="../notesSlides/notesSlide142.xml"/><Relationship Id="rId15" Type="http://schemas.openxmlformats.org/officeDocument/2006/relationships/image" Target="../media/image7.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image" Target="../media/image22.png"/><Relationship Id="rId14" Type="http://schemas.openxmlformats.org/officeDocument/2006/relationships/notesSlide" Target="../notesSlides/notesSlide14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image" Target="../media/image22.png"/><Relationship Id="rId14" Type="http://schemas.openxmlformats.org/officeDocument/2006/relationships/notesSlide" Target="../notesSlides/notesSlide144.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image" Target="../media/image22.png"/><Relationship Id="rId14" Type="http://schemas.openxmlformats.org/officeDocument/2006/relationships/notesSlide" Target="../notesSlides/notesSlide145.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image" Target="../media/image22.png"/><Relationship Id="rId14" Type="http://schemas.openxmlformats.org/officeDocument/2006/relationships/notesSlide" Target="../notesSlides/notesSlide146.xml"/><Relationship Id="rId15" Type="http://schemas.openxmlformats.org/officeDocument/2006/relationships/image" Target="../media/image24.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4.png"/><Relationship Id="rId4" Type="http://schemas.openxmlformats.org/officeDocument/2006/relationships/image" Target="../media/image22.png"/><Relationship Id="rId5" Type="http://schemas.openxmlformats.org/officeDocument/2006/relationships/image" Target="../media/image31.png"/><Relationship Id="rId6" Type="http://schemas.openxmlformats.org/officeDocument/2006/relationships/notesSlide" Target="../notesSlides/notesSlide147.xml"/><Relationship Id="rId7" Type="http://schemas.openxmlformats.org/officeDocument/2006/relationships/image" Target="../media/image25.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image" Target="../media/image24.png"/><Relationship Id="rId14" Type="http://schemas.openxmlformats.org/officeDocument/2006/relationships/notesSlide" Target="../notesSlides/notesSlide148.xml"/><Relationship Id="rId15" Type="http://schemas.openxmlformats.org/officeDocument/2006/relationships/image" Target="../media/image22.png"/><Relationship Id="rId16" Type="http://schemas.openxmlformats.org/officeDocument/2006/relationships/image" Target="../media/image3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image" Target="../media/image24.png"/><Relationship Id="rId14" Type="http://schemas.openxmlformats.org/officeDocument/2006/relationships/notesSlide" Target="../notesSlides/notesSlide149.xml"/><Relationship Id="rId15" Type="http://schemas.openxmlformats.org/officeDocument/2006/relationships/image" Target="../media/image6.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image" Target="../media/image24.png"/><Relationship Id="rId14" Type="http://schemas.openxmlformats.org/officeDocument/2006/relationships/notesSlide" Target="../notesSlides/notesSlide150.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image" Target="../media/image24.png"/><Relationship Id="rId14" Type="http://schemas.openxmlformats.org/officeDocument/2006/relationships/notesSlide" Target="../notesSlides/notesSlide151.xml"/><Relationship Id="rId15" Type="http://schemas.openxmlformats.org/officeDocument/2006/relationships/image" Target="../media/image5.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8.png"/><Relationship Id="rId12" Type="http://schemas.openxmlformats.org/officeDocument/2006/relationships/image" Target="../media/image14.png"/><Relationship Id="rId13" Type="http://schemas.openxmlformats.org/officeDocument/2006/relationships/image" Target="../media/image24.png"/><Relationship Id="rId14" Type="http://schemas.openxmlformats.org/officeDocument/2006/relationships/notesSlide" Target="../notesSlides/notesSlide152.xml"/><Relationship Id="rId15" Type="http://schemas.openxmlformats.org/officeDocument/2006/relationships/image" Target="../media/image7.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0.png"/><Relationship Id="rId11" Type="http://schemas.openxmlformats.org/officeDocument/2006/relationships/image" Target="../media/image5.png"/><Relationship Id="rId12" Type="http://schemas.openxmlformats.org/officeDocument/2006/relationships/image" Target="../media/image12.png"/><Relationship Id="rId13" Type="http://schemas.openxmlformats.org/officeDocument/2006/relationships/image" Target="../media/image24.png"/><Relationship Id="rId14" Type="http://schemas.openxmlformats.org/officeDocument/2006/relationships/notesSlide" Target="../notesSlides/notesSlide153.xml"/><Relationship Id="rId15" Type="http://schemas.openxmlformats.org/officeDocument/2006/relationships/image" Target="../media/image8.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notesSlide" Target="../notesSlides/notesSlide154.xml"/><Relationship Id="rId6" Type="http://schemas.openxmlformats.org/officeDocument/2006/relationships/image" Target="../media/image9.png"/></Relationships>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a:extLst>
              <a:ext uri="{FF2B5EF4-FFF2-40B4-BE49-F238E27FC236}">
                <a16:creationId xmlns:a16="http://schemas.microsoft.com/office/drawing/2014/main" id="{CC13E993-8D38-4110-BC7A-5BBC472507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083" y="44412"/>
            <a:ext cx="2016529" cy="1468694"/>
          </a:xfrm>
          <a:prstGeom prst="rect">
            <a:avLst/>
          </a:prstGeom>
        </p:spPr>
      </p:pic>
      <p:pic>
        <p:nvPicPr>
          <p:cNvPr id="6" name="Picture 5">
            <a:extLst>
              <a:ext uri="{FF2B5EF4-FFF2-40B4-BE49-F238E27FC236}">
                <a16:creationId xmlns:a16="http://schemas.microsoft.com/office/drawing/2014/main" id="{C53FD27D-107F-4E09-9CE1-C26009B6647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772657" y="27665"/>
            <a:ext cx="2123783" cy="1502187"/>
          </a:xfrm>
          <a:prstGeom prst="rect">
            <a:avLst/>
          </a:prstGeom>
        </p:spPr>
      </p:pic>
      <p:sp>
        <p:nvSpPr>
          <p:cNvPr id="8" name="TextBox 7">
            <a:extLst>
              <a:ext uri="{FF2B5EF4-FFF2-40B4-BE49-F238E27FC236}">
                <a16:creationId xmlns:a16="http://schemas.microsoft.com/office/drawing/2014/main" id="{2A8097A5-6BA2-4865-A08A-1D6CB6951142}"/>
              </a:ext>
            </a:extLst>
          </p:cNvPr>
          <p:cNvSpPr txBox="1"/>
          <p:nvPr/>
        </p:nvSpPr>
        <p:spPr>
          <a:xfrm>
            <a:off x="1655448" y="1105690"/>
            <a:ext cx="9179101" cy="276999"/>
          </a:xfrm>
          <a:prstGeom prst="rect">
            <a:avLst/>
          </a:prstGeom>
          <a:noFill/>
        </p:spPr>
        <p:txBody>
          <a:bodyPr wrap="square">
            <a:spAutoFit/>
          </a:bodyPr>
          <a:lstStyle/>
          <a:p>
            <a:pPr algn="ctr"/>
            <a:r>
              <a:rPr lang="en-US" sz="1200" dirty="0">
                <a:latin typeface="Montserrat" pitchFamily="2" charset="0"/>
                <a:cs typeface="Times New Roman" panose="02020603050405020304" pitchFamily="18" charset="0"/>
              </a:rPr>
              <a:t>Doctoral Studies Center in Information and Engineering  Sciences and Technologies (ST2I)</a:t>
            </a:r>
          </a:p>
        </p:txBody>
      </p:sp>
      <p:sp>
        <p:nvSpPr>
          <p:cNvPr id="9" name="Rectangle 8">
            <a:extLst>
              <a:ext uri="{FF2B5EF4-FFF2-40B4-BE49-F238E27FC236}">
                <a16:creationId xmlns:a16="http://schemas.microsoft.com/office/drawing/2014/main" id="{27C77998-1883-4EA1-B241-A5C292CFB970}"/>
              </a:ext>
            </a:extLst>
          </p:cNvPr>
          <p:cNvSpPr/>
          <p:nvPr/>
        </p:nvSpPr>
        <p:spPr>
          <a:xfrm>
            <a:off x="675083" y="1584372"/>
            <a:ext cx="11255142" cy="778759"/>
          </a:xfrm>
          <a:prstGeom prst="rect">
            <a:avLst/>
          </a:prstGeom>
          <a:ln>
            <a:solidFill>
              <a:srgbClr val="0D1B2A"/>
            </a:solidFill>
          </a:ln>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dirty="0">
                <a:latin typeface="Montserrat Medium" pitchFamily="50" charset="0"/>
              </a:rPr>
              <a:t>Cooperative Game Theory for Explainable AI in Recommendation Systems:</a:t>
            </a:r>
          </a:p>
          <a:p>
            <a:pPr algn="l"/>
            <a:r>
              <a:rPr lang="en-US" dirty="0">
                <a:latin typeface="Montserrat Medium" pitchFamily="50" charset="0"/>
              </a:rPr>
              <a:t>A Shapley Framework for Actionable Insight</a:t>
            </a:r>
          </a:p>
        </p:txBody>
      </p:sp>
      <p:sp>
        <p:nvSpPr>
          <p:cNvPr id="7" name="TextBox 6">
            <a:extLst>
              <a:ext uri="{FF2B5EF4-FFF2-40B4-BE49-F238E27FC236}">
                <a16:creationId xmlns:a16="http://schemas.microsoft.com/office/drawing/2014/main" id="{1E4B0EB6-9489-4A65-9E21-C4A3871D04F8}"/>
              </a:ext>
            </a:extLst>
          </p:cNvPr>
          <p:cNvSpPr txBox="1"/>
          <p:nvPr/>
        </p:nvSpPr>
        <p:spPr>
          <a:xfrm>
            <a:off x="1506449" y="2515239"/>
            <a:ext cx="9179101" cy="338554"/>
          </a:xfrm>
          <a:prstGeom prst="rect">
            <a:avLst/>
          </a:prstGeom>
          <a:noFill/>
        </p:spPr>
        <p:txBody>
          <a:bodyPr wrap="square"/>
          <a:lstStyle/>
          <a:p>
            <a:r>
              <a:rPr lang="en-US" sz="1600" b="1" dirty="0">
                <a:latin typeface="Montserrat Medium" pitchFamily="50" charset="0"/>
                <a:cs typeface="Times New Roman" panose="02020603050405020304" pitchFamily="18" charset="0"/>
              </a:rPr>
              <a:t>PhD Viva Presented by: Mouad LOUHICHI</a:t>
            </a:r>
          </a:p>
        </p:txBody>
      </p:sp>
      <p:graphicFrame>
        <p:nvGraphicFramePr>
          <p:cNvPr id="2" name="Table 2">
            <a:extLst>
              <a:ext uri="{FF2B5EF4-FFF2-40B4-BE49-F238E27FC236}">
                <a16:creationId xmlns:a16="http://schemas.microsoft.com/office/drawing/2014/main" id="{885F3AD6-276A-48D1-AA87-249946C77A35}"/>
              </a:ext>
            </a:extLst>
          </p:cNvPr>
          <p:cNvGraphicFramePr>
            <a:graphicFrameLocks noGrp="1"/>
          </p:cNvGraphicFramePr>
          <p:nvPr>
            <p:extLst>
              <p:ext uri="{D42A27DB-BD31-4B8C-83A1-F6EECF244321}">
                <p14:modId xmlns:p14="http://schemas.microsoft.com/office/powerpoint/2010/main" val="3170707495"/>
              </p:ext>
            </p:extLst>
          </p:nvPr>
        </p:nvGraphicFramePr>
        <p:xfrm>
          <a:off x="675083" y="3454954"/>
          <a:ext cx="11139832" cy="3272148"/>
        </p:xfrm>
        <a:graphic>
          <a:graphicData uri="http://schemas.openxmlformats.org/drawingml/2006/table">
            <a:tbl>
              <a:tblPr firstRow="1" bandRow="1">
                <a:tableStyleId>{2D5ABB26-0587-4C30-8999-92F81FD0307C}</a:tableStyleId>
              </a:tblPr>
              <a:tblGrid>
                <a:gridCol w="1259595">
                  <a:extLst>
                    <a:ext uri="{9D8B030D-6E8A-4147-A177-3AD203B41FA5}">
                      <a16:colId xmlns:a16="http://schemas.microsoft.com/office/drawing/2014/main" val="3342160351"/>
                    </a:ext>
                  </a:extLst>
                </a:gridCol>
                <a:gridCol w="3157086">
                  <a:extLst>
                    <a:ext uri="{9D8B030D-6E8A-4147-A177-3AD203B41FA5}">
                      <a16:colId xmlns:a16="http://schemas.microsoft.com/office/drawing/2014/main" val="1043481491"/>
                    </a:ext>
                  </a:extLst>
                </a:gridCol>
                <a:gridCol w="981777">
                  <a:extLst>
                    <a:ext uri="{9D8B030D-6E8A-4147-A177-3AD203B41FA5}">
                      <a16:colId xmlns:a16="http://schemas.microsoft.com/office/drawing/2014/main" val="1751524045"/>
                    </a:ext>
                  </a:extLst>
                </a:gridCol>
                <a:gridCol w="5741374">
                  <a:extLst>
                    <a:ext uri="{9D8B030D-6E8A-4147-A177-3AD203B41FA5}">
                      <a16:colId xmlns:a16="http://schemas.microsoft.com/office/drawing/2014/main" val="798941376"/>
                    </a:ext>
                  </a:extLst>
                </a:gridCol>
              </a:tblGrid>
              <a:tr h="363572">
                <a:tc>
                  <a:txBody>
                    <a:bodyPr/>
                    <a:lstStyle/>
                    <a:p>
                      <a:pPr algn="l"/>
                      <a:r>
                        <a:rPr sz="1000" b="1">
                          <a:solidFill>
                            <a:srgbClr val="2F3B49"/>
                          </a:solidFill>
                          <a:latin typeface="Montserrat"/>
                        </a:rPr>
                        <a:t>President</a:t>
                      </a:r>
                    </a:p>
                  </a:txBody>
                  <a:tcPr/>
                </a:tc>
                <a:tc>
                  <a:txBody>
                    <a:bodyPr/>
                    <a:lstStyle/>
                    <a:p>
                      <a:pPr algn="l"/>
                      <a:r>
                        <a:rPr sz="1000" b="0">
                          <a:solidFill>
                            <a:srgbClr val="2F3B49"/>
                          </a:solidFill>
                          <a:latin typeface="Montserrat"/>
                        </a:rPr>
                        <a:t>[President to complete]</a:t>
                      </a:r>
                    </a:p>
                  </a:txBody>
                  <a:tcPr/>
                </a:tc>
                <a:tc>
                  <a:txBody>
                    <a:bodyPr/>
                    <a:lstStyle/>
                    <a:p>
                      <a:pPr algn="ctr"/>
                    </a:p>
                  </a:txBody>
                  <a:tcPr/>
                </a:tc>
                <a:tc>
                  <a:txBody>
                    <a:bodyPr/>
                    <a:lstStyle/>
                    <a:p>
                      <a:pPr algn="ctr"/>
                      <a:r>
                        <a:rPr sz="1000" b="0">
                          <a:solidFill>
                            <a:srgbClr val="2F3B49"/>
                          </a:solidFill>
                          <a:latin typeface="Montserrat"/>
                        </a:rPr>
                        <a:t>[Institution]</a:t>
                      </a:r>
                    </a:p>
                  </a:txBody>
                  <a:tcPr/>
                </a:tc>
                <a:extLst>
                  <a:ext uri="{0D108BD9-81ED-4DB2-BD59-A6C34878D82A}">
                    <a16:rowId xmlns:a16="http://schemas.microsoft.com/office/drawing/2014/main" val="431681501"/>
                  </a:ext>
                </a:extLst>
              </a:tr>
              <a:tr h="363572">
                <a:tc>
                  <a:txBody>
                    <a:bodyPr/>
                    <a:lstStyle/>
                    <a:p>
                      <a:pPr algn="l"/>
                      <a:r>
                        <a:rPr sz="1000" b="1">
                          <a:solidFill>
                            <a:srgbClr val="22303C"/>
                          </a:solidFill>
                          <a:latin typeface="Montserrat"/>
                        </a:rPr>
                        <a:t>Supervisor</a:t>
                      </a:r>
                    </a:p>
                  </a:txBody>
                  <a:tcPr/>
                </a:tc>
                <a:tc>
                  <a:txBody>
                    <a:bodyPr/>
                    <a:lstStyle/>
                    <a:p>
                      <a:pPr algn="l"/>
                      <a:r>
                        <a:rPr sz="1000" b="0">
                          <a:solidFill>
                            <a:srgbClr val="22303C"/>
                          </a:solidFill>
                          <a:latin typeface="Montserrat"/>
                        </a:rPr>
                        <a:t>Pr. Mohamed LAZAAR</a:t>
                      </a:r>
                    </a:p>
                  </a:txBody>
                  <a:tcPr/>
                </a:tc>
                <a:tc>
                  <a:txBody>
                    <a:bodyPr/>
                    <a:lstStyle/>
                    <a:p>
                      <a:pPr algn="ctr"/>
                      <a:r>
                        <a:rPr sz="1000" b="0">
                          <a:solidFill>
                            <a:srgbClr val="22303C"/>
                          </a:solidFill>
                          <a:latin typeface="Montserrat"/>
                        </a:rPr>
                        <a:t>PES</a:t>
                      </a:r>
                    </a:p>
                  </a:txBody>
                  <a:tcPr/>
                </a:tc>
                <a:tc>
                  <a:txBody>
                    <a:bodyPr/>
                    <a:lstStyle/>
                    <a:p>
                      <a:pPr algn="ctr"/>
                      <a:r>
                        <a:rPr sz="1000" b="0">
                          <a:solidFill>
                            <a:srgbClr val="22303C"/>
                          </a:solidFill>
                          <a:latin typeface="Montserrat"/>
                        </a:rPr>
                        <a:t>ENSIAS, Mohammed V University, Rabat</a:t>
                      </a:r>
                    </a:p>
                  </a:txBody>
                  <a:tcPr/>
                </a:tc>
                <a:extLst>
                  <a:ext uri="{0D108BD9-81ED-4DB2-BD59-A6C34878D82A}">
                    <a16:rowId xmlns:a16="http://schemas.microsoft.com/office/drawing/2014/main" val="3293723479"/>
                  </a:ext>
                </a:extLst>
              </a:tr>
              <a:tr h="363572">
                <a:tc>
                  <a:txBody>
                    <a:bodyPr/>
                    <a:lstStyle/>
                    <a:p>
                      <a:pPr algn="l"/>
                      <a:r>
                        <a:rPr sz="1000" b="1">
                          <a:solidFill>
                            <a:srgbClr val="2F3B49"/>
                          </a:solidFill>
                          <a:latin typeface="Montserrat"/>
                        </a:rPr>
                        <a:t>Reviewer</a:t>
                      </a:r>
                    </a:p>
                  </a:txBody>
                  <a:tcPr/>
                </a:tc>
                <a:tc>
                  <a:txBody>
                    <a:bodyPr/>
                    <a:lstStyle/>
                    <a:p>
                      <a:pPr algn="l"/>
                      <a:r>
                        <a:rPr sz="1000" b="0">
                          <a:solidFill>
                            <a:srgbClr val="2F3B49"/>
                          </a:solidFill>
                          <a:latin typeface="Montserrat"/>
                        </a:rPr>
                        <a:t>[Reviewer to complete]</a:t>
                      </a:r>
                    </a:p>
                  </a:txBody>
                  <a:tcPr/>
                </a:tc>
                <a:tc>
                  <a:txBody>
                    <a:bodyPr/>
                    <a:lstStyle/>
                    <a:p>
                      <a:pPr algn="ctr"/>
                    </a:p>
                  </a:txBody>
                  <a:tcPr/>
                </a:tc>
                <a:tc>
                  <a:txBody>
                    <a:bodyPr/>
                    <a:lstStyle/>
                    <a:p>
                      <a:pPr algn="ctr"/>
                      <a:r>
                        <a:rPr sz="1000" b="0">
                          <a:solidFill>
                            <a:srgbClr val="2F3B49"/>
                          </a:solidFill>
                          <a:latin typeface="Montserrat"/>
                        </a:rPr>
                        <a:t>[Institution]</a:t>
                      </a:r>
                    </a:p>
                  </a:txBody>
                  <a:tcPr/>
                </a:tc>
                <a:extLst>
                  <a:ext uri="{0D108BD9-81ED-4DB2-BD59-A6C34878D82A}">
                    <a16:rowId xmlns:a16="http://schemas.microsoft.com/office/drawing/2014/main" val="1003985861"/>
                  </a:ext>
                </a:extLst>
              </a:tr>
              <a:tr h="363572">
                <a:tc>
                  <a:txBody>
                    <a:bodyPr/>
                    <a:lstStyle/>
                    <a:p>
                      <a:pPr algn="l"/>
                      <a:r>
                        <a:rPr sz="1000" b="1">
                          <a:solidFill>
                            <a:srgbClr val="2F3B49"/>
                          </a:solidFill>
                          <a:latin typeface="Montserrat"/>
                        </a:rPr>
                        <a:t>Reviewer</a:t>
                      </a:r>
                    </a:p>
                  </a:txBody>
                  <a:tcPr/>
                </a:tc>
                <a:tc>
                  <a:txBody>
                    <a:bodyPr/>
                    <a:lstStyle/>
                    <a:p>
                      <a:pPr algn="l"/>
                      <a:r>
                        <a:rPr sz="1000" b="0">
                          <a:solidFill>
                            <a:srgbClr val="2F3B49"/>
                          </a:solidFill>
                          <a:latin typeface="Montserrat"/>
                        </a:rPr>
                        <a:t>[Reviewer to complete]</a:t>
                      </a:r>
                    </a:p>
                  </a:txBody>
                  <a:tcPr/>
                </a:tc>
                <a:tc>
                  <a:txBody>
                    <a:bodyPr/>
                    <a:lstStyle/>
                    <a:p>
                      <a:pPr algn="ctr"/>
                    </a:p>
                  </a:txBody>
                  <a:tcPr/>
                </a:tc>
                <a:tc>
                  <a:txBody>
                    <a:bodyPr/>
                    <a:lstStyle/>
                    <a:p>
                      <a:pPr algn="ctr"/>
                      <a:r>
                        <a:rPr sz="1000" b="0">
                          <a:solidFill>
                            <a:srgbClr val="2F3B49"/>
                          </a:solidFill>
                          <a:latin typeface="Montserrat"/>
                        </a:rPr>
                        <a:t>[Institution]</a:t>
                      </a:r>
                    </a:p>
                  </a:txBody>
                  <a:tcPr/>
                </a:tc>
                <a:extLst>
                  <a:ext uri="{0D108BD9-81ED-4DB2-BD59-A6C34878D82A}">
                    <a16:rowId xmlns:a16="http://schemas.microsoft.com/office/drawing/2014/main" val="3682204677"/>
                  </a:ext>
                </a:extLst>
              </a:tr>
              <a:tr h="363572">
                <a:tc>
                  <a:txBody>
                    <a:bodyPr/>
                    <a:lstStyle/>
                    <a:p>
                      <a:pPr algn="l"/>
                      <a:r>
                        <a:rPr sz="1000" b="1">
                          <a:solidFill>
                            <a:srgbClr val="2F3B49"/>
                          </a:solidFill>
                          <a:latin typeface="Montserrat"/>
                        </a:rPr>
                        <a:t>Reviewer</a:t>
                      </a:r>
                    </a:p>
                  </a:txBody>
                  <a:tcPr/>
                </a:tc>
                <a:tc>
                  <a:txBody>
                    <a:bodyPr/>
                    <a:lstStyle/>
                    <a:p>
                      <a:pPr algn="l"/>
                      <a:r>
                        <a:rPr sz="1000" b="0">
                          <a:solidFill>
                            <a:srgbClr val="2F3B49"/>
                          </a:solidFill>
                          <a:latin typeface="Montserrat"/>
                        </a:rPr>
                        <a:t>[Reviewer to complete]</a:t>
                      </a:r>
                    </a:p>
                  </a:txBody>
                  <a:tcPr/>
                </a:tc>
                <a:tc>
                  <a:txBody>
                    <a:bodyPr/>
                    <a:lstStyle/>
                    <a:p>
                      <a:pPr algn="ctr"/>
                    </a:p>
                  </a:txBody>
                  <a:tcPr/>
                </a:tc>
                <a:tc>
                  <a:txBody>
                    <a:bodyPr/>
                    <a:lstStyle/>
                    <a:p>
                      <a:pPr algn="ctr"/>
                      <a:r>
                        <a:rPr sz="1000" b="0">
                          <a:solidFill>
                            <a:srgbClr val="2F3B49"/>
                          </a:solidFill>
                          <a:latin typeface="Montserrat"/>
                        </a:rPr>
                        <a:t>[Institution]</a:t>
                      </a:r>
                    </a:p>
                  </a:txBody>
                  <a:tcPr/>
                </a:tc>
                <a:extLst>
                  <a:ext uri="{0D108BD9-81ED-4DB2-BD59-A6C34878D82A}">
                    <a16:rowId xmlns:a16="http://schemas.microsoft.com/office/drawing/2014/main" val="2317935091"/>
                  </a:ext>
                </a:extLst>
              </a:tr>
              <a:tr h="363572">
                <a:tc>
                  <a:txBody>
                    <a:bodyPr/>
                    <a:lstStyle/>
                    <a:p>
                      <a:pPr algn="l"/>
                      <a:r>
                        <a:rPr sz="1000" b="1">
                          <a:solidFill>
                            <a:srgbClr val="2F3B49"/>
                          </a:solidFill>
                          <a:latin typeface="Montserrat"/>
                        </a:rPr>
                        <a:t>Examiner</a:t>
                      </a:r>
                    </a:p>
                  </a:txBody>
                  <a:tcPr/>
                </a:tc>
                <a:tc>
                  <a:txBody>
                    <a:bodyPr/>
                    <a:lstStyle/>
                    <a:p>
                      <a:pPr algn="l"/>
                      <a:r>
                        <a:rPr sz="1000" b="0">
                          <a:solidFill>
                            <a:srgbClr val="2F3B49"/>
                          </a:solidFill>
                          <a:latin typeface="Montserrat"/>
                        </a:rPr>
                        <a:t>[Examiner to complete]</a:t>
                      </a:r>
                    </a:p>
                  </a:txBody>
                  <a:tcPr/>
                </a:tc>
                <a:tc>
                  <a:txBody>
                    <a:bodyPr/>
                    <a:lstStyle/>
                    <a:p>
                      <a:pPr algn="ctr"/>
                    </a:p>
                  </a:txBody>
                  <a:tcPr/>
                </a:tc>
                <a:tc>
                  <a:txBody>
                    <a:bodyPr/>
                    <a:lstStyle/>
                    <a:p>
                      <a:pPr algn="ctr"/>
                      <a:r>
                        <a:rPr sz="1000" b="0">
                          <a:solidFill>
                            <a:srgbClr val="2F3B49"/>
                          </a:solidFill>
                          <a:latin typeface="Montserrat"/>
                        </a:rPr>
                        <a:t>[Institution]</a:t>
                      </a:r>
                    </a:p>
                  </a:txBody>
                  <a:tcPr/>
                </a:tc>
                <a:extLst>
                  <a:ext uri="{0D108BD9-81ED-4DB2-BD59-A6C34878D82A}">
                    <a16:rowId xmlns:a16="http://schemas.microsoft.com/office/drawing/2014/main" val="1039505071"/>
                  </a:ext>
                </a:extLst>
              </a:tr>
              <a:tr h="363572">
                <a:tc>
                  <a:txBody>
                    <a:bodyPr/>
                    <a:lstStyle/>
                    <a:p>
                      <a:pPr algn="l"/>
                      <a:r>
                        <a:rPr sz="1000" b="1">
                          <a:solidFill>
                            <a:srgbClr val="2F3B49"/>
                          </a:solidFill>
                          <a:latin typeface="Montserrat"/>
                        </a:rPr>
                        <a:t>Examiner</a:t>
                      </a:r>
                    </a:p>
                  </a:txBody>
                  <a:tcPr/>
                </a:tc>
                <a:tc>
                  <a:txBody>
                    <a:bodyPr/>
                    <a:lstStyle/>
                    <a:p>
                      <a:pPr algn="l"/>
                      <a:r>
                        <a:rPr sz="1000" b="0">
                          <a:solidFill>
                            <a:srgbClr val="2F3B49"/>
                          </a:solidFill>
                          <a:latin typeface="Montserrat"/>
                        </a:rPr>
                        <a:t>[Examiner to complete]</a:t>
                      </a:r>
                    </a:p>
                  </a:txBody>
                  <a:tcPr/>
                </a:tc>
                <a:tc>
                  <a:txBody>
                    <a:bodyPr/>
                    <a:lstStyle/>
                    <a:p>
                      <a:pPr algn="ctr"/>
                    </a:p>
                  </a:txBody>
                  <a:tcPr/>
                </a:tc>
                <a:tc>
                  <a:txBody>
                    <a:bodyPr/>
                    <a:lstStyle/>
                    <a:p>
                      <a:pPr algn="ctr"/>
                      <a:r>
                        <a:rPr sz="1000" b="0">
                          <a:solidFill>
                            <a:srgbClr val="2F3B49"/>
                          </a:solidFill>
                          <a:latin typeface="Montserrat"/>
                        </a:rPr>
                        <a:t>[Institution]</a:t>
                      </a:r>
                    </a:p>
                  </a:txBody>
                  <a:tcPr/>
                </a:tc>
                <a:extLst>
                  <a:ext uri="{0D108BD9-81ED-4DB2-BD59-A6C34878D82A}">
                    <a16:rowId xmlns:a16="http://schemas.microsoft.com/office/drawing/2014/main" val="1451702001"/>
                  </a:ext>
                </a:extLst>
              </a:tr>
              <a:tr h="363572">
                <a:tc>
                  <a:txBody>
                    <a:bodyPr/>
                    <a:lstStyle/>
                    <a:p>
                      <a:pPr algn="l"/>
                      <a:r>
                        <a:rPr sz="1000" b="1">
                          <a:solidFill>
                            <a:srgbClr val="2F3B49"/>
                          </a:solidFill>
                          <a:latin typeface="Montserrat"/>
                        </a:rPr>
                        <a:t>Examiner</a:t>
                      </a:r>
                    </a:p>
                  </a:txBody>
                  <a:tcPr/>
                </a:tc>
                <a:tc>
                  <a:txBody>
                    <a:bodyPr/>
                    <a:lstStyle/>
                    <a:p>
                      <a:pPr algn="l"/>
                      <a:r>
                        <a:rPr sz="1000" b="0">
                          <a:solidFill>
                            <a:srgbClr val="2F3B49"/>
                          </a:solidFill>
                          <a:latin typeface="Montserrat"/>
                        </a:rPr>
                        <a:t>[Examiner to complete]</a:t>
                      </a:r>
                    </a:p>
                  </a:txBody>
                  <a:tcPr/>
                </a:tc>
                <a:tc>
                  <a:txBody>
                    <a:bodyPr/>
                    <a:lstStyle/>
                    <a:p>
                      <a:pPr algn="ctr"/>
                    </a:p>
                  </a:txBody>
                  <a:tcPr/>
                </a:tc>
                <a:tc>
                  <a:txBody>
                    <a:bodyPr/>
                    <a:lstStyle/>
                    <a:p>
                      <a:pPr algn="ctr"/>
                      <a:r>
                        <a:rPr sz="1000" b="0">
                          <a:solidFill>
                            <a:srgbClr val="2F3B49"/>
                          </a:solidFill>
                          <a:latin typeface="Montserrat"/>
                        </a:rPr>
                        <a:t>[Institution]</a:t>
                      </a:r>
                    </a:p>
                  </a:txBody>
                  <a:tcPr/>
                </a:tc>
                <a:extLst>
                  <a:ext uri="{0D108BD9-81ED-4DB2-BD59-A6C34878D82A}">
                    <a16:rowId xmlns:a16="http://schemas.microsoft.com/office/drawing/2014/main" val="4222725522"/>
                  </a:ext>
                </a:extLst>
              </a:tr>
              <a:tr h="363572">
                <a:tc>
                  <a:txBody>
                    <a:bodyPr/>
                    <a:lstStyle/>
                    <a:p>
                      <a:pPr algn="l"/>
                      <a:r>
                        <a:rPr sz="1000" b="1">
                          <a:solidFill>
                            <a:srgbClr val="2F3B49"/>
                          </a:solidFill>
                          <a:latin typeface="Montserrat"/>
                        </a:rPr>
                        <a:t>Guest</a:t>
                      </a:r>
                    </a:p>
                  </a:txBody>
                  <a:tcPr/>
                </a:tc>
                <a:tc>
                  <a:txBody>
                    <a:bodyPr/>
                    <a:lstStyle/>
                    <a:p>
                      <a:pPr algn="l"/>
                      <a:r>
                        <a:rPr sz="1000" b="0">
                          <a:solidFill>
                            <a:srgbClr val="2F3B49"/>
                          </a:solidFill>
                          <a:latin typeface="Montserrat"/>
                        </a:rPr>
                        <a:t>[Guest to complete]</a:t>
                      </a:r>
                    </a:p>
                  </a:txBody>
                  <a:tcPr/>
                </a:tc>
                <a:tc>
                  <a:txBody>
                    <a:bodyPr/>
                    <a:lstStyle/>
                    <a:p>
                      <a:pPr algn="ctr"/>
                    </a:p>
                  </a:txBody>
                  <a:tcPr/>
                </a:tc>
                <a:tc>
                  <a:txBody>
                    <a:bodyPr/>
                    <a:lstStyle/>
                    <a:p>
                      <a:pPr algn="ctr"/>
                      <a:r>
                        <a:rPr sz="1000" b="0">
                          <a:solidFill>
                            <a:srgbClr val="2F3B49"/>
                          </a:solidFill>
                          <a:latin typeface="Montserrat"/>
                        </a:rPr>
                        <a:t>[Institution]</a:t>
                      </a:r>
                    </a:p>
                  </a:txBody>
                  <a:tcPr/>
                </a:tc>
                <a:extLst>
                  <a:ext uri="{0D108BD9-81ED-4DB2-BD59-A6C34878D82A}">
                    <a16:rowId xmlns:a16="http://schemas.microsoft.com/office/drawing/2014/main" val="2724678733"/>
                  </a:ext>
                </a:extLst>
              </a:tr>
            </a:tbl>
          </a:graphicData>
        </a:graphic>
      </p:graphicFrame>
      <p:sp>
        <p:nvSpPr>
          <p:cNvPr id="12" name="TextBox 11">
            <a:extLst>
              <a:ext uri="{FF2B5EF4-FFF2-40B4-BE49-F238E27FC236}">
                <a16:creationId xmlns:a16="http://schemas.microsoft.com/office/drawing/2014/main" id="{AF385954-4759-43DE-9FF5-AD2C46EBAFB3}"/>
              </a:ext>
            </a:extLst>
          </p:cNvPr>
          <p:cNvSpPr txBox="1"/>
          <p:nvPr/>
        </p:nvSpPr>
        <p:spPr>
          <a:xfrm>
            <a:off x="675083" y="3035784"/>
            <a:ext cx="6097604" cy="338554"/>
          </a:xfrm>
          <a:prstGeom prst="rect">
            <a:avLst/>
          </a:prstGeom>
          <a:noFill/>
        </p:spPr>
        <p:txBody>
          <a:bodyPr wrap="square">
            <a:spAutoFit/>
          </a:bodyPr>
          <a:lstStyle/>
          <a:p>
            <a:r>
              <a:rPr lang="en-US" sz="1600" b="1" dirty="0">
                <a:latin typeface="Montserrat Medium" pitchFamily="50" charset="0"/>
                <a:cs typeface="Times New Roman" panose="02020603050405020304" pitchFamily="18" charset="0"/>
              </a:rPr>
              <a:t>Jury members:</a:t>
            </a:r>
            <a:endParaRPr lang="en-US" sz="1600" dirty="0"/>
          </a:p>
        </p:txBody>
      </p:sp>
      <p:pic>
        <p:nvPicPr>
          <p:cNvPr id="4" name="Picture 3">
            <a:extLst>
              <a:ext uri="{FF2B5EF4-FFF2-40B4-BE49-F238E27FC236}">
                <a16:creationId xmlns:a16="http://schemas.microsoft.com/office/drawing/2014/main" id="{F226BDBB-006F-45EB-87D2-F2B9A5576A6F}"/>
              </a:ext>
            </a:extLst>
          </p:cNvPr>
          <p:cNvPicPr>
            <a:picLocks noChangeAspect="1"/>
          </p:cNvPicPr>
          <p:nvPr/>
        </p:nvPicPr>
        <p:blipFill rotWithShape="1">
          <a:blip r:embed="rId4">
            <a:extLst>
              <a:ext uri="{28A0092B-C50C-407E-A947-70E740481C1C}">
                <a14:useLocalDpi xmlns:a14="http://schemas.microsoft.com/office/drawing/2010/main" val="0"/>
              </a:ext>
            </a:extLst>
          </a:blip>
          <a:srcRect t="29775" b="28782"/>
          <a:stretch/>
        </p:blipFill>
        <p:spPr>
          <a:xfrm>
            <a:off x="3497928" y="-44111"/>
            <a:ext cx="5196141" cy="1135736"/>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 name="Rectangle 44">
            <a:extLst>
              <a:ext uri="{FF2B5EF4-FFF2-40B4-BE49-F238E27FC236}">
                <a16:creationId xmlns:a16="http://schemas.microsoft.com/office/drawing/2014/main" id="{2B0EA153-D1B1-47B8-8FC2-F6421B47EF6E}"/>
              </a:ext>
            </a:extLst>
          </p:cNvPr>
          <p:cNvSpPr/>
          <p:nvPr/>
        </p:nvSpPr>
        <p:spPr>
          <a:xfrm>
            <a:off x="9862990" y="2216314"/>
            <a:ext cx="1987286" cy="2768483"/>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900" b="1" dirty="0">
                <a:solidFill>
                  <a:schemeClr val="bg1"/>
                </a:solidFill>
                <a:latin typeface="Montserrat Medium" pitchFamily="50" charset="0"/>
              </a:rPr>
              <a:t>Conclusion &amp; Perspectives</a:t>
            </a:r>
          </a:p>
          <a:p>
            <a:pPr algn="l"/>
            <a:r>
              <a:rPr lang="en-US" sz="1900" b="1" dirty="0">
                <a:solidFill>
                  <a:schemeClr val="bg1"/>
                </a:solidFill>
                <a:latin typeface="Montserrat Medium" pitchFamily="50" charset="0"/>
              </a:rPr>
              <a:t>Summary</a:t>
            </a:r>
          </a:p>
          <a:p>
            <a:pPr algn="l"/>
            <a:r>
              <a:rPr lang="en-US" sz="1900" b="1" dirty="0">
                <a:solidFill>
                  <a:schemeClr val="bg1"/>
                </a:solidFill>
                <a:latin typeface="Montserrat Medium" pitchFamily="50" charset="0"/>
              </a:rPr>
              <a:t>Limitations</a:t>
            </a:r>
          </a:p>
          <a:p>
            <a:pPr algn="l"/>
            <a:r>
              <a:rPr lang="en-US" sz="1900" b="1" dirty="0">
                <a:solidFill>
                  <a:schemeClr val="bg1"/>
                </a:solidFill>
                <a:latin typeface="Montserrat Medium" pitchFamily="50" charset="0"/>
              </a:rPr>
              <a:t>Future work</a:t>
            </a:r>
          </a:p>
        </p:txBody>
      </p:sp>
      <p:sp>
        <p:nvSpPr>
          <p:cNvPr id="44" name="Rectangle 43">
            <a:extLst>
              <a:ext uri="{FF2B5EF4-FFF2-40B4-BE49-F238E27FC236}">
                <a16:creationId xmlns:a16="http://schemas.microsoft.com/office/drawing/2014/main" id="{F22E6A38-F910-4318-BD16-C7EA5E538A83}"/>
              </a:ext>
            </a:extLst>
          </p:cNvPr>
          <p:cNvSpPr/>
          <p:nvPr/>
        </p:nvSpPr>
        <p:spPr>
          <a:xfrm>
            <a:off x="7509948" y="2223006"/>
            <a:ext cx="1987286" cy="2768483"/>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900" b="1" dirty="0">
                <a:solidFill>
                  <a:schemeClr val="bg1"/>
                </a:solidFill>
                <a:latin typeface="Montserrat Medium" pitchFamily="50" charset="0"/>
              </a:rPr>
              <a:t>Contributions</a:t>
            </a:r>
          </a:p>
          <a:p>
            <a:pPr algn="l"/>
            <a:r>
              <a:rPr lang="en-US" sz="1900" b="1" dirty="0">
                <a:solidFill>
                  <a:schemeClr val="bg1"/>
                </a:solidFill>
                <a:latin typeface="Montserrat Medium" pitchFamily="50" charset="0"/>
              </a:rPr>
              <a:t>C1 Explainable clustering</a:t>
            </a:r>
          </a:p>
          <a:p>
            <a:pPr algn="l"/>
            <a:r>
              <a:rPr lang="en-US" sz="1900" b="1" dirty="0">
                <a:solidFill>
                  <a:schemeClr val="bg1"/>
                </a:solidFill>
                <a:latin typeface="Montserrat Medium" pitchFamily="50" charset="0"/>
              </a:rPr>
              <a:t>C2 Multi-level XAI</a:t>
            </a:r>
          </a:p>
          <a:p>
            <a:pPr algn="l"/>
            <a:r>
              <a:rPr lang="en-US" sz="1900" b="1" dirty="0">
                <a:solidFill>
                  <a:schemeClr val="bg1"/>
                </a:solidFill>
                <a:latin typeface="Montserrat Medium" pitchFamily="50" charset="0"/>
              </a:rPr>
              <a:t>C3 DyHuCoG</a:t>
            </a:r>
          </a:p>
        </p:txBody>
      </p:sp>
      <p:sp>
        <p:nvSpPr>
          <p:cNvPr id="43" name="Rectangle 42">
            <a:extLst>
              <a:ext uri="{FF2B5EF4-FFF2-40B4-BE49-F238E27FC236}">
                <a16:creationId xmlns:a16="http://schemas.microsoft.com/office/drawing/2014/main" id="{D891D8B2-71C1-40F0-BDD4-64D0E4FE1567}"/>
              </a:ext>
            </a:extLst>
          </p:cNvPr>
          <p:cNvSpPr/>
          <p:nvPr/>
        </p:nvSpPr>
        <p:spPr>
          <a:xfrm>
            <a:off x="5144820" y="2223006"/>
            <a:ext cx="1987286" cy="2768483"/>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900" b="1" dirty="0">
                <a:solidFill>
                  <a:schemeClr val="bg1"/>
                </a:solidFill>
                <a:latin typeface="Montserrat Medium" pitchFamily="50" charset="0"/>
              </a:rPr>
              <a:t>Protocols</a:t>
            </a:r>
          </a:p>
          <a:p>
            <a:pPr algn="l"/>
            <a:r>
              <a:rPr lang="en-US" sz="1900" b="1" dirty="0">
                <a:solidFill>
                  <a:schemeClr val="bg1"/>
                </a:solidFill>
                <a:latin typeface="Montserrat Medium" pitchFamily="50" charset="0"/>
              </a:rPr>
              <a:t>Datasets</a:t>
            </a:r>
          </a:p>
          <a:p>
            <a:pPr algn="l"/>
            <a:r>
              <a:rPr lang="en-US" sz="1900" b="1" dirty="0">
                <a:solidFill>
                  <a:schemeClr val="bg1"/>
                </a:solidFill>
                <a:latin typeface="Montserrat Medium" pitchFamily="50" charset="0"/>
              </a:rPr>
              <a:t>Baselines</a:t>
            </a:r>
          </a:p>
          <a:p>
            <a:pPr algn="l"/>
            <a:r>
              <a:rPr lang="en-US" sz="1900" b="1" dirty="0">
                <a:solidFill>
                  <a:schemeClr val="bg1"/>
                </a:solidFill>
                <a:latin typeface="Montserrat Medium" pitchFamily="50" charset="0"/>
              </a:rPr>
              <a:t>Metrics</a:t>
            </a:r>
          </a:p>
          <a:p>
            <a:pPr algn="l"/>
            <a:r>
              <a:rPr lang="en-US" sz="1900" b="1" dirty="0">
                <a:solidFill>
                  <a:schemeClr val="bg1"/>
                </a:solidFill>
                <a:latin typeface="Montserrat Medium" pitchFamily="50" charset="0"/>
              </a:rPr>
              <a:t>Hardware</a:t>
            </a:r>
          </a:p>
        </p:txBody>
      </p:sp>
      <p:sp>
        <p:nvSpPr>
          <p:cNvPr id="42" name="Rectangle 41">
            <a:extLst>
              <a:ext uri="{FF2B5EF4-FFF2-40B4-BE49-F238E27FC236}">
                <a16:creationId xmlns:a16="http://schemas.microsoft.com/office/drawing/2014/main" id="{8D503499-45DA-4224-9A1B-B2763946ACAD}"/>
              </a:ext>
            </a:extLst>
          </p:cNvPr>
          <p:cNvSpPr/>
          <p:nvPr/>
        </p:nvSpPr>
        <p:spPr>
          <a:xfrm>
            <a:off x="2768882" y="2239193"/>
            <a:ext cx="1987286" cy="2768483"/>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900" b="1" dirty="0">
                <a:solidFill>
                  <a:schemeClr val="bg1"/>
                </a:solidFill>
                <a:latin typeface="Montserrat Medium" pitchFamily="50" charset="0"/>
              </a:rPr>
              <a:t>Context &amp; Problematic</a:t>
            </a:r>
          </a:p>
          <a:p>
            <a:pPr algn="l"/>
            <a:r>
              <a:rPr lang="en-US" sz="1900" b="1" dirty="0">
                <a:solidFill>
                  <a:schemeClr val="bg1"/>
                </a:solidFill>
                <a:latin typeface="Montserrat Medium" pitchFamily="50" charset="0"/>
              </a:rPr>
              <a:t>Limitations</a:t>
            </a:r>
          </a:p>
          <a:p>
            <a:pPr algn="l"/>
            <a:r>
              <a:rPr lang="en-US" sz="1900" b="1" dirty="0">
                <a:solidFill>
                  <a:schemeClr val="bg1"/>
                </a:solidFill>
                <a:latin typeface="Montserrat Medium" pitchFamily="50" charset="0"/>
              </a:rPr>
              <a:t>Research gap</a:t>
            </a:r>
          </a:p>
        </p:txBody>
      </p:sp>
      <p:sp>
        <p:nvSpPr>
          <p:cNvPr id="4" name="Rectangle 3">
            <a:extLst>
              <a:ext uri="{FF2B5EF4-FFF2-40B4-BE49-F238E27FC236}">
                <a16:creationId xmlns:a16="http://schemas.microsoft.com/office/drawing/2014/main" id="{77F4FAD8-6AB3-49EF-B65B-446911D5EF29}"/>
              </a:ext>
            </a:extLst>
          </p:cNvPr>
          <p:cNvSpPr/>
          <p:nvPr/>
        </p:nvSpPr>
        <p:spPr>
          <a:xfrm>
            <a:off x="0" y="0"/>
            <a:ext cx="12192000" cy="97215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a:lstStyle/>
          <a:p>
            <a:pPr algn="ctr"/>
            <a:r>
              <a:rPr lang="en-US" sz="2400" dirty="0">
                <a:latin typeface="Montserrat Medium" pitchFamily="50" charset="0"/>
              </a:rPr>
              <a:t>VIVA Outline</a:t>
            </a:r>
          </a:p>
        </p:txBody>
      </p:sp>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Medium" pitchFamily="50"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pic>
        <p:nvPicPr>
          <p:cNvPr id="17" name="Picture 16">
            <a:extLst>
              <a:ext uri="{FF2B5EF4-FFF2-40B4-BE49-F238E27FC236}">
                <a16:creationId xmlns:a16="http://schemas.microsoft.com/office/drawing/2014/main" id="{B98EC507-9AAF-49BB-B011-715B670C2F1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041276" y="2470737"/>
            <a:ext cx="385680" cy="385680"/>
          </a:xfrm>
          <a:prstGeom prst="rect">
            <a:avLst/>
          </a:prstGeom>
        </p:spPr>
      </p:pic>
      <p:pic>
        <p:nvPicPr>
          <p:cNvPr id="18" name="Picture 17">
            <a:extLst>
              <a:ext uri="{FF2B5EF4-FFF2-40B4-BE49-F238E27FC236}">
                <a16:creationId xmlns:a16="http://schemas.microsoft.com/office/drawing/2014/main" id="{7D167106-10EB-4AF0-B9FA-BE9A96FAA3F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770631" y="2470737"/>
            <a:ext cx="385680" cy="385680"/>
          </a:xfrm>
          <a:prstGeom prst="rect">
            <a:avLst/>
          </a:prstGeom>
        </p:spPr>
      </p:pic>
      <p:sp>
        <p:nvSpPr>
          <p:cNvPr id="28" name="Rectangle 27">
            <a:extLst>
              <a:ext uri="{FF2B5EF4-FFF2-40B4-BE49-F238E27FC236}">
                <a16:creationId xmlns:a16="http://schemas.microsoft.com/office/drawing/2014/main" id="{9ED3DE66-EA75-4A44-95A7-C4F7001685B8}"/>
              </a:ext>
            </a:extLst>
          </p:cNvPr>
          <p:cNvSpPr/>
          <p:nvPr/>
        </p:nvSpPr>
        <p:spPr>
          <a:xfrm>
            <a:off x="392944" y="2239197"/>
            <a:ext cx="1987286" cy="2768483"/>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900" b="1" dirty="0">
                <a:solidFill>
                  <a:schemeClr val="bg1"/>
                </a:solidFill>
                <a:latin typeface="Montserrat Medium" pitchFamily="50" charset="0"/>
              </a:rPr>
              <a:t>Introduction</a:t>
            </a:r>
          </a:p>
          <a:p>
            <a:pPr algn="l"/>
            <a:r>
              <a:rPr lang="en-US" sz="1900" b="1" dirty="0">
                <a:solidFill>
                  <a:schemeClr val="bg1"/>
                </a:solidFill>
                <a:latin typeface="Montserrat Medium" pitchFamily="50" charset="0"/>
              </a:rPr>
              <a:t>Motivation</a:t>
            </a:r>
          </a:p>
          <a:p>
            <a:pPr algn="l"/>
            <a:r>
              <a:rPr lang="en-US" sz="1900" b="1" dirty="0">
                <a:solidFill>
                  <a:schemeClr val="bg1"/>
                </a:solidFill>
                <a:latin typeface="Montserrat Medium" pitchFamily="50" charset="0"/>
              </a:rPr>
              <a:t>Actionable insight</a:t>
            </a:r>
          </a:p>
          <a:p>
            <a:pPr algn="l"/>
            <a:r>
              <a:rPr lang="en-US" sz="1900" b="1" dirty="0">
                <a:solidFill>
                  <a:schemeClr val="bg1"/>
                </a:solidFill>
                <a:latin typeface="Montserrat Medium" pitchFamily="50" charset="0"/>
              </a:rPr>
              <a:t>Why XAI</a:t>
            </a:r>
          </a:p>
        </p:txBody>
      </p:sp>
      <p:pic>
        <p:nvPicPr>
          <p:cNvPr id="32" name="Picture 31">
            <a:extLst>
              <a:ext uri="{FF2B5EF4-FFF2-40B4-BE49-F238E27FC236}">
                <a16:creationId xmlns:a16="http://schemas.microsoft.com/office/drawing/2014/main" id="{7F23EE3A-2F89-47D4-97AF-E7E3C53EB0A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427244" y="2454551"/>
            <a:ext cx="385680" cy="385680"/>
          </a:xfrm>
          <a:prstGeom prst="rect">
            <a:avLst/>
          </a:prstGeom>
        </p:spPr>
      </p:pic>
      <p:pic>
        <p:nvPicPr>
          <p:cNvPr id="33" name="Picture 32">
            <a:extLst>
              <a:ext uri="{FF2B5EF4-FFF2-40B4-BE49-F238E27FC236}">
                <a16:creationId xmlns:a16="http://schemas.microsoft.com/office/drawing/2014/main" id="{314D8C45-88D1-4D8D-83BB-14E62CCEEFE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56599" y="2454551"/>
            <a:ext cx="385680" cy="385680"/>
          </a:xfrm>
          <a:prstGeom prst="rect">
            <a:avLst/>
          </a:prstGeom>
        </p:spPr>
      </p:pic>
      <p:pic>
        <p:nvPicPr>
          <p:cNvPr id="35" name="Picture 34">
            <a:extLst>
              <a:ext uri="{FF2B5EF4-FFF2-40B4-BE49-F238E27FC236}">
                <a16:creationId xmlns:a16="http://schemas.microsoft.com/office/drawing/2014/main" id="{7B0B79F6-13C1-4C1B-8C1A-EA30CFF3BEB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773597" y="2454552"/>
            <a:ext cx="385680" cy="385680"/>
          </a:xfrm>
          <a:prstGeom prst="rect">
            <a:avLst/>
          </a:prstGeom>
        </p:spPr>
      </p:pic>
      <p:pic>
        <p:nvPicPr>
          <p:cNvPr id="36" name="Picture 35">
            <a:extLst>
              <a:ext uri="{FF2B5EF4-FFF2-40B4-BE49-F238E27FC236}">
                <a16:creationId xmlns:a16="http://schemas.microsoft.com/office/drawing/2014/main" id="{2A6749F2-4440-42F7-BAA0-C43D434CB14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502952" y="2454552"/>
            <a:ext cx="385680" cy="385680"/>
          </a:xfrm>
          <a:prstGeom prst="rect">
            <a:avLst/>
          </a:prstGeom>
        </p:spPr>
      </p:pic>
      <p:pic>
        <p:nvPicPr>
          <p:cNvPr id="38" name="Picture 37">
            <a:extLst>
              <a:ext uri="{FF2B5EF4-FFF2-40B4-BE49-F238E27FC236}">
                <a16:creationId xmlns:a16="http://schemas.microsoft.com/office/drawing/2014/main" id="{8FFCB7F3-3E7A-4660-969C-3F6DA253DAA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155719" y="2447861"/>
            <a:ext cx="385680" cy="385680"/>
          </a:xfrm>
          <a:prstGeom prst="rect">
            <a:avLst/>
          </a:prstGeom>
        </p:spPr>
      </p:pic>
      <p:pic>
        <p:nvPicPr>
          <p:cNvPr id="39" name="Picture 38">
            <a:extLst>
              <a:ext uri="{FF2B5EF4-FFF2-40B4-BE49-F238E27FC236}">
                <a16:creationId xmlns:a16="http://schemas.microsoft.com/office/drawing/2014/main" id="{7A5C0422-35FD-4F69-BADA-C75C70F5B7D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885074" y="2447861"/>
            <a:ext cx="385680" cy="385680"/>
          </a:xfrm>
          <a:prstGeom prst="rect">
            <a:avLst/>
          </a:prstGeom>
        </p:spPr>
      </p:pic>
      <p:pic>
        <p:nvPicPr>
          <p:cNvPr id="40" name="Picture 39">
            <a:extLst>
              <a:ext uri="{FF2B5EF4-FFF2-40B4-BE49-F238E27FC236}">
                <a16:creationId xmlns:a16="http://schemas.microsoft.com/office/drawing/2014/main" id="{EC0B00E0-D07A-4950-9556-8EC5FC01532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661840" y="2470740"/>
            <a:ext cx="385680" cy="385680"/>
          </a:xfrm>
          <a:prstGeom prst="rect">
            <a:avLst/>
          </a:prstGeom>
        </p:spPr>
      </p:pic>
      <p:pic>
        <p:nvPicPr>
          <p:cNvPr id="41" name="Picture 40">
            <a:extLst>
              <a:ext uri="{FF2B5EF4-FFF2-40B4-BE49-F238E27FC236}">
                <a16:creationId xmlns:a16="http://schemas.microsoft.com/office/drawing/2014/main" id="{F03CF7ED-4371-4E1E-AB5C-702F96E0FE2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91195" y="2470740"/>
            <a:ext cx="385680" cy="385680"/>
          </a:xfrm>
          <a:prstGeom prst="rect">
            <a:avLst/>
          </a:prstGeom>
        </p:spPr>
      </p:pic>
      <p:pic>
        <p:nvPicPr>
          <p:cNvPr id="46" name="Picture 45" descr="image.png"/>
          <p:cNvPicPr>
            <a:picLocks noChangeAspect="1"/>
          </p:cNvPicPr>
          <p:nvPr/>
        </p:nvPicPr>
        <p:blipFill>
          <a:blip r:embed="rId3"/>
          <a:stretch>
            <a:fillRect/>
          </a:stretch>
        </p:blipFill>
        <p:spPr>
          <a:xfrm>
            <a:off x="11709806" y="6400800"/>
            <a:ext cx="384048" cy="384048"/>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9ED3DE66-EA75-4A44-95A7-C4F7001685B8}"/>
              </a:ext>
            </a:extLst>
          </p:cNvPr>
          <p:cNvSpPr/>
          <p:nvPr/>
        </p:nvSpPr>
        <p:spPr>
          <a:xfrm>
            <a:off x="892728" y="1929560"/>
            <a:ext cx="10406543" cy="299888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3600" b="1" dirty="0">
                <a:solidFill>
                  <a:schemeClr val="bg1"/>
                </a:solidFill>
                <a:latin typeface="Montserrat Medium" pitchFamily="50" charset="0"/>
              </a:rPr>
              <a:t>Introduction</a:t>
            </a:r>
          </a:p>
        </p:txBody>
      </p:sp>
      <p:pic>
        <p:nvPicPr>
          <p:cNvPr id="7" name="Picture 6">
            <a:extLst>
              <a:ext uri="{FF2B5EF4-FFF2-40B4-BE49-F238E27FC236}">
                <a16:creationId xmlns:a16="http://schemas.microsoft.com/office/drawing/2014/main" id="{21A05AE4-2B9A-4D6C-8A67-0FDF35D10E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75523" y="2014740"/>
            <a:ext cx="786211" cy="786211"/>
          </a:xfrm>
          <a:prstGeom prst="rect">
            <a:avLst/>
          </a:prstGeom>
        </p:spPr>
      </p:pic>
      <p:pic>
        <p:nvPicPr>
          <p:cNvPr id="29" name="Picture 28" descr="image.png"/>
          <p:cNvPicPr>
            <a:picLocks noChangeAspect="1"/>
          </p:cNvPicPr>
          <p:nvPr/>
        </p:nvPicPr>
        <p:blipFill>
          <a:blip r:embed="rId4"/>
          <a:stretch>
            <a:fillRect/>
          </a:stretch>
        </p:blipFill>
        <p:spPr>
          <a:xfrm>
            <a:off x="11709806" y="6400800"/>
            <a:ext cx="384048" cy="384048"/>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48" name="Rectangle 47">
            <a:extLst>
              <a:ext uri="{FF2B5EF4-FFF2-40B4-BE49-F238E27FC236}">
                <a16:creationId xmlns:a16="http://schemas.microsoft.com/office/drawing/2014/main" id="{13D9C6AA-1783-4FA8-8CCA-F6E9A55F890C}"/>
              </a:ext>
            </a:extLst>
          </p:cNvPr>
          <p:cNvSpPr/>
          <p:nvPr/>
        </p:nvSpPr>
        <p:spPr>
          <a:xfrm>
            <a:off x="206045" y="1581483"/>
            <a:ext cx="3595933" cy="1720565"/>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2000" b="1" dirty="0">
                <a:solidFill>
                  <a:schemeClr val="bg1"/>
                </a:solidFill>
                <a:latin typeface="Montserrat Medium" pitchFamily="50" charset="0"/>
              </a:rPr>
              <a:t>Ubiquity</a:t>
            </a:r>
          </a:p>
          <a:p>
            <a:pPr algn="l"/>
            <a:r>
              <a:rPr lang="en-US" sz="2000" b="1" dirty="0">
                <a:solidFill>
                  <a:schemeClr val="bg1"/>
                </a:solidFill>
                <a:latin typeface="Montserrat Medium" pitchFamily="50" charset="0"/>
              </a:rPr>
              <a:t>How do opaque AI systems shape what billions of users see, buy and watch every day?</a:t>
            </a:r>
          </a:p>
        </p:txBody>
      </p:sp>
      <p:sp>
        <p:nvSpPr>
          <p:cNvPr id="49" name="Rectangle 48">
            <a:extLst>
              <a:ext uri="{FF2B5EF4-FFF2-40B4-BE49-F238E27FC236}">
                <a16:creationId xmlns:a16="http://schemas.microsoft.com/office/drawing/2014/main" id="{6D7E0722-A680-4DE4-B488-11CFE545BC63}"/>
              </a:ext>
            </a:extLst>
          </p:cNvPr>
          <p:cNvSpPr/>
          <p:nvPr/>
        </p:nvSpPr>
        <p:spPr>
          <a:xfrm>
            <a:off x="4241885" y="1552636"/>
            <a:ext cx="3595933" cy="1720565"/>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2000" b="1" dirty="0">
                <a:solidFill>
                  <a:schemeClr val="bg1"/>
                </a:solidFill>
                <a:latin typeface="Montserrat Medium" pitchFamily="50" charset="0"/>
              </a:rPr>
              <a:t>The Black Box</a:t>
            </a:r>
          </a:p>
          <a:p>
            <a:pPr algn="l"/>
            <a:r>
              <a:rPr lang="en-US" sz="2000" b="1" dirty="0">
                <a:solidFill>
                  <a:schemeClr val="bg1"/>
                </a:solidFill>
                <a:latin typeface="Montserrat Medium" pitchFamily="50" charset="0"/>
              </a:rPr>
              <a:t>Why do state-of-the-art recommenders and clustering pipelines remain opaque to users and designers?</a:t>
            </a:r>
          </a:p>
        </p:txBody>
      </p:sp>
      <p:sp>
        <p:nvSpPr>
          <p:cNvPr id="50" name="Rectangle 49">
            <a:extLst>
              <a:ext uri="{FF2B5EF4-FFF2-40B4-BE49-F238E27FC236}">
                <a16:creationId xmlns:a16="http://schemas.microsoft.com/office/drawing/2014/main" id="{0AE6385B-CDA7-498E-89D4-F0C85246326C}"/>
              </a:ext>
            </a:extLst>
          </p:cNvPr>
          <p:cNvSpPr/>
          <p:nvPr/>
        </p:nvSpPr>
        <p:spPr>
          <a:xfrm>
            <a:off x="8364296" y="1552636"/>
            <a:ext cx="3621659" cy="1720565"/>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2000" b="1" dirty="0">
                <a:solidFill>
                  <a:schemeClr val="bg1"/>
                </a:solidFill>
                <a:latin typeface="Montserrat Medium" pitchFamily="50" charset="0"/>
              </a:rPr>
              <a:t>Toward Trust</a:t>
            </a:r>
          </a:p>
          <a:p>
            <a:pPr algn="l"/>
            <a:r>
              <a:rPr lang="en-US" sz="2000" b="1" dirty="0">
                <a:solidFill>
                  <a:schemeClr val="bg1"/>
                </a:solidFill>
                <a:latin typeface="Montserrat Medium" pitchFamily="50" charset="0"/>
              </a:rPr>
              <a:t>How can transparency be built as part of the model, instead of being bolted on afterwards?</a:t>
            </a:r>
          </a:p>
        </p:txBody>
      </p:sp>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Medium" pitchFamily="50" charset="0"/>
              </a:rPr>
              <a:t>Motivation: Three Questions</a:t>
            </a:r>
          </a:p>
        </p:txBody>
      </p:sp>
      <p:sp>
        <p:nvSpPr>
          <p:cNvPr id="29" name="Rectangle 28">
            <a:extLst>
              <a:ext uri="{FF2B5EF4-FFF2-40B4-BE49-F238E27FC236}">
                <a16:creationId xmlns:a16="http://schemas.microsoft.com/office/drawing/2014/main" id="{DDC35470-259B-41E6-B55D-86604083CCC7}"/>
              </a:ext>
            </a:extLst>
          </p:cNvPr>
          <p:cNvSpPr/>
          <p:nvPr/>
        </p:nvSpPr>
        <p:spPr>
          <a:xfrm>
            <a:off x="6246796" y="727217"/>
            <a:ext cx="5866233" cy="369505"/>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1600" dirty="0">
                <a:latin typeface="Montserrat Medium" pitchFamily="50" charset="0"/>
                <a:cs typeface="Times New Roman" panose="02020603050405020304" pitchFamily="18" charset="0"/>
              </a:rPr>
              <a:t>Actionable Insight</a:t>
            </a:r>
          </a:p>
        </p:txBody>
      </p:sp>
      <p:sp>
        <p:nvSpPr>
          <p:cNvPr id="30" name="Rectangle 29">
            <a:extLst>
              <a:ext uri="{FF2B5EF4-FFF2-40B4-BE49-F238E27FC236}">
                <a16:creationId xmlns:a16="http://schemas.microsoft.com/office/drawing/2014/main" id="{13AED925-259D-49A1-9979-03DA54FBFB6B}"/>
              </a:ext>
            </a:extLst>
          </p:cNvPr>
          <p:cNvSpPr/>
          <p:nvPr/>
        </p:nvSpPr>
        <p:spPr>
          <a:xfrm>
            <a:off x="206046" y="726222"/>
            <a:ext cx="5866233" cy="369505"/>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Medium" pitchFamily="50" charset="0"/>
                <a:cs typeface="Times New Roman" panose="02020603050405020304" pitchFamily="18" charset="0"/>
              </a:rPr>
              <a:t>Motivation</a:t>
            </a:r>
          </a:p>
        </p:txBody>
      </p:sp>
      <p:sp>
        <p:nvSpPr>
          <p:cNvPr id="27" name="Rectangle 26">
            <a:extLst>
              <a:ext uri="{FF2B5EF4-FFF2-40B4-BE49-F238E27FC236}">
                <a16:creationId xmlns:a16="http://schemas.microsoft.com/office/drawing/2014/main" id="{2D70F3E7-DEC3-414D-9EF3-8ECD0E33BB70}"/>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1" name="Rectangle 30">
            <a:extLst>
              <a:ext uri="{FF2B5EF4-FFF2-40B4-BE49-F238E27FC236}">
                <a16:creationId xmlns:a16="http://schemas.microsoft.com/office/drawing/2014/main" id="{688A2916-85F8-44E4-A31A-8C984B036D8A}"/>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4" name="Rectangle 33">
            <a:extLst>
              <a:ext uri="{FF2B5EF4-FFF2-40B4-BE49-F238E27FC236}">
                <a16:creationId xmlns:a16="http://schemas.microsoft.com/office/drawing/2014/main" id="{C2554E23-DF83-4155-A45F-FD87FC73005D}"/>
              </a:ext>
            </a:extLst>
          </p:cNvPr>
          <p:cNvSpPr/>
          <p:nvPr/>
        </p:nvSpPr>
        <p:spPr>
          <a:xfrm>
            <a:off x="206046" y="82459"/>
            <a:ext cx="440431" cy="485431"/>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sp>
        <p:nvSpPr>
          <p:cNvPr id="37" name="Rectangle 36">
            <a:extLst>
              <a:ext uri="{FF2B5EF4-FFF2-40B4-BE49-F238E27FC236}">
                <a16:creationId xmlns:a16="http://schemas.microsoft.com/office/drawing/2014/main" id="{61CC7C89-1765-4E1E-89AC-241EC17CEE90}"/>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46" name="Rectangle 45">
            <a:extLst>
              <a:ext uri="{FF2B5EF4-FFF2-40B4-BE49-F238E27FC236}">
                <a16:creationId xmlns:a16="http://schemas.microsoft.com/office/drawing/2014/main" id="{E47218E2-05FA-45BA-9EA9-8D94422BE397}"/>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47" name="Rectangle 46">
            <a:extLst>
              <a:ext uri="{FF2B5EF4-FFF2-40B4-BE49-F238E27FC236}">
                <a16:creationId xmlns:a16="http://schemas.microsoft.com/office/drawing/2014/main" id="{1407607E-D0FA-4B65-9F39-AAB75D90D0A7}"/>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55" name="Rectangle 54">
            <a:extLst>
              <a:ext uri="{FF2B5EF4-FFF2-40B4-BE49-F238E27FC236}">
                <a16:creationId xmlns:a16="http://schemas.microsoft.com/office/drawing/2014/main" id="{3C99BB4A-5E08-4CDB-B8B1-F16A0884CD5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56" name="Picture 55">
            <a:extLst>
              <a:ext uri="{FF2B5EF4-FFF2-40B4-BE49-F238E27FC236}">
                <a16:creationId xmlns:a16="http://schemas.microsoft.com/office/drawing/2014/main" id="{A0759E87-8AA7-467F-9F89-0818D01E77E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3422" y="134166"/>
            <a:ext cx="385680" cy="385680"/>
          </a:xfrm>
          <a:prstGeom prst="rect">
            <a:avLst/>
          </a:prstGeom>
        </p:spPr>
      </p:pic>
      <p:pic>
        <p:nvPicPr>
          <p:cNvPr id="57" name="Picture 56">
            <a:extLst>
              <a:ext uri="{FF2B5EF4-FFF2-40B4-BE49-F238E27FC236}">
                <a16:creationId xmlns:a16="http://schemas.microsoft.com/office/drawing/2014/main" id="{CA194759-7E1E-4161-9154-B0811349128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58" name="Picture 57">
            <a:extLst>
              <a:ext uri="{FF2B5EF4-FFF2-40B4-BE49-F238E27FC236}">
                <a16:creationId xmlns:a16="http://schemas.microsoft.com/office/drawing/2014/main" id="{86353AEF-1B4D-478A-9B4D-19A2C995C9C4}"/>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60332" y="134166"/>
            <a:ext cx="385680" cy="385680"/>
          </a:xfrm>
          <a:prstGeom prst="rect">
            <a:avLst/>
          </a:prstGeom>
        </p:spPr>
      </p:pic>
      <p:pic>
        <p:nvPicPr>
          <p:cNvPr id="59" name="Picture 58">
            <a:extLst>
              <a:ext uri="{FF2B5EF4-FFF2-40B4-BE49-F238E27FC236}">
                <a16:creationId xmlns:a16="http://schemas.microsoft.com/office/drawing/2014/main" id="{7B1C1695-8516-4A7D-8030-A4B4B4CC0A86}"/>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60" name="Picture 59">
            <a:extLst>
              <a:ext uri="{FF2B5EF4-FFF2-40B4-BE49-F238E27FC236}">
                <a16:creationId xmlns:a16="http://schemas.microsoft.com/office/drawing/2014/main" id="{E4F1DEA8-F0AE-4010-A3AB-216C858844CF}"/>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61" name="Rectangle 60">
            <a:extLst>
              <a:ext uri="{FF2B5EF4-FFF2-40B4-BE49-F238E27FC236}">
                <a16:creationId xmlns:a16="http://schemas.microsoft.com/office/drawing/2014/main" id="{C7DEB2F6-A63E-4F8F-9C0A-71FFB0C63A60}"/>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62" name="Picture 61">
            <a:extLst>
              <a:ext uri="{FF2B5EF4-FFF2-40B4-BE49-F238E27FC236}">
                <a16:creationId xmlns:a16="http://schemas.microsoft.com/office/drawing/2014/main" id="{ACD4E037-6CF8-4C8F-89F7-19ACBF0A398B}"/>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63" name="Rectangle 62">
            <a:extLst>
              <a:ext uri="{FF2B5EF4-FFF2-40B4-BE49-F238E27FC236}">
                <a16:creationId xmlns:a16="http://schemas.microsoft.com/office/drawing/2014/main" id="{014784DB-F7A9-42CA-8C26-2573B348C146}"/>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64" name="Picture 63">
            <a:extLst>
              <a:ext uri="{FF2B5EF4-FFF2-40B4-BE49-F238E27FC236}">
                <a16:creationId xmlns:a16="http://schemas.microsoft.com/office/drawing/2014/main" id="{28D52A0A-4C25-4502-BE7D-8387AB88D941}"/>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pic>
        <p:nvPicPr>
          <p:cNvPr id="65" name="Picture 64" descr="motivation.png"/>
          <p:cNvPicPr>
            <a:picLocks noChangeAspect="1"/>
          </p:cNvPicPr>
          <p:nvPr/>
        </p:nvPicPr>
        <p:blipFill>
          <a:blip r:embed="rId12"/>
          <a:stretch>
            <a:fillRect/>
          </a:stretch>
        </p:blipFill>
        <p:spPr>
          <a:xfrm>
            <a:off x="274320" y="3291840"/>
            <a:ext cx="11612880" cy="2974683"/>
          </a:xfrm>
          <a:prstGeom prst="rect">
            <a:avLst/>
          </a:prstGeom>
        </p:spPr>
      </p:pic>
      <p:pic>
        <p:nvPicPr>
          <p:cNvPr id="66" name="Picture 65" descr="image.png"/>
          <p:cNvPicPr>
            <a:picLocks noChangeAspect="1"/>
          </p:cNvPicPr>
          <p:nvPr/>
        </p:nvPicPr>
        <p:blipFill>
          <a:blip r:embed="rId3"/>
          <a:stretch>
            <a:fillRect/>
          </a:stretch>
        </p:blipFill>
        <p:spPr>
          <a:xfrm>
            <a:off x="11709806" y="6400800"/>
            <a:ext cx="384048" cy="384048"/>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Actionable Insight — the Definition</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30" name="Rectangle 29">
            <a:extLst>
              <a:ext uri="{FF2B5EF4-FFF2-40B4-BE49-F238E27FC236}">
                <a16:creationId xmlns:a16="http://schemas.microsoft.com/office/drawing/2014/main" id="{A2CE8C4E-E822-446F-B95C-18DBA902C6F0}"/>
              </a:ext>
            </a:extLst>
          </p:cNvPr>
          <p:cNvSpPr/>
          <p:nvPr/>
        </p:nvSpPr>
        <p:spPr>
          <a:xfrm>
            <a:off x="187760" y="688960"/>
            <a:ext cx="3549662" cy="391619"/>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Motivation</a:t>
            </a:r>
          </a:p>
        </p:txBody>
      </p:sp>
      <p:sp>
        <p:nvSpPr>
          <p:cNvPr id="31" name="Rectangle 30">
            <a:extLst>
              <a:ext uri="{FF2B5EF4-FFF2-40B4-BE49-F238E27FC236}">
                <a16:creationId xmlns:a16="http://schemas.microsoft.com/office/drawing/2014/main" id="{9309D474-8F76-4EAC-998E-4A0D01DA33A3}"/>
              </a:ext>
            </a:extLst>
          </p:cNvPr>
          <p:cNvSpPr/>
          <p:nvPr/>
        </p:nvSpPr>
        <p:spPr>
          <a:xfrm>
            <a:off x="4434457" y="692327"/>
            <a:ext cx="3549662" cy="384884"/>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Actionable Insight</a:t>
            </a:r>
          </a:p>
        </p:txBody>
      </p:sp>
      <p:sp>
        <p:nvSpPr>
          <p:cNvPr id="34" name="Rectangle 33">
            <a:extLst>
              <a:ext uri="{FF2B5EF4-FFF2-40B4-BE49-F238E27FC236}">
                <a16:creationId xmlns:a16="http://schemas.microsoft.com/office/drawing/2014/main" id="{B9661C1F-3072-4037-80D3-89469FB49903}"/>
              </a:ext>
            </a:extLst>
          </p:cNvPr>
          <p:cNvSpPr/>
          <p:nvPr/>
        </p:nvSpPr>
        <p:spPr>
          <a:xfrm>
            <a:off x="8546053" y="692327"/>
            <a:ext cx="3549663"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Research Context</a:t>
            </a:r>
          </a:p>
        </p:txBody>
      </p:sp>
      <p:sp>
        <p:nvSpPr>
          <p:cNvPr id="55" name="TextBox 54"/>
          <p:cNvSpPr txBox="1"/>
          <p:nvPr/>
        </p:nvSpPr>
        <p:spPr>
          <a:xfrm>
            <a:off x="365760" y="1737360"/>
            <a:ext cx="576072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Definition 1.1 (Actionable insight)</a:t>
            </a:r>
          </a:p>
          <a:p>
            <a:pPr lvl="1">
              <a:lnSpc>
                <a:spcPct val="105000"/>
              </a:lnSpc>
              <a:spcAft>
                <a:spcPts val="600"/>
              </a:spcAft>
            </a:pPr>
            <a:r>
              <a:rPr sz="1600">
                <a:solidFill>
                  <a:srgbClr val="0E7C7B"/>
                </a:solidFill>
                <a:latin typeface="Montserrat"/>
              </a:rPr>
              <a:t>–  </a:t>
            </a:r>
            <a:r>
              <a:rPr sz="1600" b="0">
                <a:solidFill>
                  <a:srgbClr val="2F3B49"/>
                </a:solidFill>
                <a:latin typeface="Montserrat"/>
              </a:rPr>
              <a:t>An explanation is actionable when it identifies at least one modifiable factor whose change is associated with a specifiable change in model output…</a:t>
            </a:r>
          </a:p>
          <a:p>
            <a:pPr lvl="1">
              <a:lnSpc>
                <a:spcPct val="105000"/>
              </a:lnSpc>
              <a:spcAft>
                <a:spcPts val="600"/>
              </a:spcAft>
            </a:pPr>
            <a:r>
              <a:rPr sz="1600">
                <a:solidFill>
                  <a:srgbClr val="0E7C7B"/>
                </a:solidFill>
                <a:latin typeface="Montserrat"/>
              </a:rPr>
              <a:t>–  </a:t>
            </a:r>
            <a:r>
              <a:rPr sz="1600" b="0">
                <a:solidFill>
                  <a:srgbClr val="2F3B49"/>
                </a:solidFill>
                <a:latin typeface="Montserrat"/>
              </a:rPr>
              <a:t>… and that factor is expressible in the semantic vocabulary of the task domain.</a:t>
            </a:r>
          </a:p>
          <a:p>
            <a:pPr>
              <a:lnSpc>
                <a:spcPct val="105000"/>
              </a:lnSpc>
              <a:spcAft>
                <a:spcPts val="900"/>
              </a:spcAft>
            </a:pPr>
            <a:r>
              <a:rPr sz="1700">
                <a:solidFill>
                  <a:srgbClr val="0E7C7B"/>
                </a:solidFill>
                <a:latin typeface="Wingdings"/>
              </a:rPr>
              <a:t>§  </a:t>
            </a:r>
            <a:r>
              <a:rPr sz="1700" b="0">
                <a:solidFill>
                  <a:srgbClr val="2F3B49"/>
                </a:solidFill>
                <a:latin typeface="Montserrat"/>
              </a:rPr>
              <a:t>Accessibility means the domain's own terms:</a:t>
            </a:r>
          </a:p>
          <a:p>
            <a:pPr lvl="1">
              <a:lnSpc>
                <a:spcPct val="105000"/>
              </a:lnSpc>
              <a:spcAft>
                <a:spcPts val="600"/>
              </a:spcAft>
            </a:pPr>
            <a:r>
              <a:rPr sz="1600">
                <a:solidFill>
                  <a:srgbClr val="0E7C7B"/>
                </a:solidFill>
                <a:latin typeface="Montserrat"/>
              </a:rPr>
              <a:t>–  </a:t>
            </a:r>
            <a:r>
              <a:rPr sz="1600" b="0">
                <a:solidFill>
                  <a:srgbClr val="2F3B49"/>
                </a:solidFill>
                <a:latin typeface="Montserrat"/>
              </a:rPr>
              <a:t>a physicochemical variable (wine), a pollution indicator (air quality), or a preference signal (recommendation).</a:t>
            </a:r>
          </a:p>
          <a:p>
            <a:pPr lvl="1">
              <a:lnSpc>
                <a:spcPct val="105000"/>
              </a:lnSpc>
              <a:spcAft>
                <a:spcPts val="600"/>
              </a:spcAft>
            </a:pPr>
            <a:r>
              <a:rPr sz="1600">
                <a:solidFill>
                  <a:srgbClr val="0E7C7B"/>
                </a:solidFill>
                <a:latin typeface="Montserrat"/>
              </a:rPr>
              <a:t>–  </a:t>
            </a:r>
            <a:r>
              <a:rPr sz="1600" b="0">
                <a:solidFill>
                  <a:srgbClr val="2F3B49"/>
                </a:solidFill>
                <a:latin typeface="Montserrat"/>
              </a:rPr>
              <a:t>not an opaque latent code.</a:t>
            </a:r>
          </a:p>
          <a:p>
            <a:pPr>
              <a:lnSpc>
                <a:spcPct val="105000"/>
              </a:lnSpc>
              <a:spcAft>
                <a:spcPts val="900"/>
              </a:spcAft>
            </a:pPr>
            <a:r>
              <a:rPr sz="1700">
                <a:solidFill>
                  <a:srgbClr val="0E7C7B"/>
                </a:solidFill>
                <a:latin typeface="Wingdings"/>
              </a:rPr>
              <a:t>§  </a:t>
            </a:r>
            <a:r>
              <a:rPr sz="1700" b="1">
                <a:solidFill>
                  <a:srgbClr val="2F3B49"/>
                </a:solidFill>
                <a:latin typeface="Montserrat Medium"/>
              </a:rPr>
              <a:t>Why: an explanation that identifies a modifiable driver supports intervention, not merely description.</a:t>
            </a:r>
          </a:p>
        </p:txBody>
      </p:sp>
      <p:pic>
        <p:nvPicPr>
          <p:cNvPr id="56" name="Picture 55" descr="actionable.png"/>
          <p:cNvPicPr>
            <a:picLocks noChangeAspect="1"/>
          </p:cNvPicPr>
          <p:nvPr/>
        </p:nvPicPr>
        <p:blipFill>
          <a:blip r:embed="rId12"/>
          <a:stretch>
            <a:fillRect/>
          </a:stretch>
        </p:blipFill>
        <p:spPr>
          <a:xfrm>
            <a:off x="6309360" y="2011680"/>
            <a:ext cx="5212080" cy="3411543"/>
          </a:xfrm>
          <a:prstGeom prst="rect">
            <a:avLst/>
          </a:prstGeom>
        </p:spPr>
      </p:pic>
      <p:pic>
        <p:nvPicPr>
          <p:cNvPr id="57" name="Picture 56"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Research Context</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30" name="Rectangle 29">
            <a:extLst>
              <a:ext uri="{FF2B5EF4-FFF2-40B4-BE49-F238E27FC236}">
                <a16:creationId xmlns:a16="http://schemas.microsoft.com/office/drawing/2014/main" id="{A2CE8C4E-E822-446F-B95C-18DBA902C6F0}"/>
              </a:ext>
            </a:extLst>
          </p:cNvPr>
          <p:cNvSpPr/>
          <p:nvPr/>
        </p:nvSpPr>
        <p:spPr>
          <a:xfrm>
            <a:off x="187760" y="688960"/>
            <a:ext cx="3549662" cy="391619"/>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Motivation</a:t>
            </a:r>
          </a:p>
        </p:txBody>
      </p:sp>
      <p:sp>
        <p:nvSpPr>
          <p:cNvPr id="31" name="Rectangle 30">
            <a:extLst>
              <a:ext uri="{FF2B5EF4-FFF2-40B4-BE49-F238E27FC236}">
                <a16:creationId xmlns:a16="http://schemas.microsoft.com/office/drawing/2014/main" id="{9309D474-8F76-4EAC-998E-4A0D01DA33A3}"/>
              </a:ext>
            </a:extLst>
          </p:cNvPr>
          <p:cNvSpPr/>
          <p:nvPr/>
        </p:nvSpPr>
        <p:spPr>
          <a:xfrm>
            <a:off x="4434457" y="692327"/>
            <a:ext cx="3549662"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Actionable Insight</a:t>
            </a:r>
          </a:p>
        </p:txBody>
      </p:sp>
      <p:sp>
        <p:nvSpPr>
          <p:cNvPr id="34" name="Rectangle 33">
            <a:extLst>
              <a:ext uri="{FF2B5EF4-FFF2-40B4-BE49-F238E27FC236}">
                <a16:creationId xmlns:a16="http://schemas.microsoft.com/office/drawing/2014/main" id="{B9661C1F-3072-4037-80D3-89469FB49903}"/>
              </a:ext>
            </a:extLst>
          </p:cNvPr>
          <p:cNvSpPr/>
          <p:nvPr/>
        </p:nvSpPr>
        <p:spPr>
          <a:xfrm>
            <a:off x="8546053" y="692327"/>
            <a:ext cx="3549663" cy="384884"/>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Research Context</a:t>
            </a:r>
          </a:p>
        </p:txBody>
      </p:sp>
      <p:sp>
        <p:nvSpPr>
          <p:cNvPr id="55" name="TextBox 54"/>
          <p:cNvSpPr txBox="1"/>
          <p:nvPr/>
        </p:nvSpPr>
        <p:spPr>
          <a:xfrm>
            <a:off x="365760" y="1737360"/>
            <a:ext cx="576072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0">
                <a:solidFill>
                  <a:srgbClr val="2F3B49"/>
                </a:solidFill>
                <a:latin typeface="Montserrat"/>
              </a:rPr>
              <a:t>Recommenders evolved from similarity filters to complex representation-learning systems on sparse, high-dimensional, dynamic data.</a:t>
            </a:r>
          </a:p>
          <a:p>
            <a:pPr lvl="1">
              <a:lnSpc>
                <a:spcPct val="105000"/>
              </a:lnSpc>
              <a:spcAft>
                <a:spcPts val="600"/>
              </a:spcAft>
            </a:pPr>
            <a:r>
              <a:rPr sz="1600">
                <a:solidFill>
                  <a:srgbClr val="0E7C7B"/>
                </a:solidFill>
                <a:latin typeface="Montserrat"/>
              </a:rPr>
              <a:t>–  </a:t>
            </a:r>
            <a:r>
              <a:rPr sz="1600" b="0">
                <a:solidFill>
                  <a:srgbClr val="2F3B49"/>
                </a:solidFill>
                <a:latin typeface="Montserrat"/>
              </a:rPr>
              <a:t>→ MF → neural CF → graph CNNs → hypergraph: each step improved ranking but intensified the interpretability deficit.</a:t>
            </a:r>
          </a:p>
          <a:p>
            <a:pPr>
              <a:lnSpc>
                <a:spcPct val="105000"/>
              </a:lnSpc>
              <a:spcAft>
                <a:spcPts val="900"/>
              </a:spcAft>
            </a:pPr>
            <a:r>
              <a:rPr sz="1700">
                <a:solidFill>
                  <a:srgbClr val="0E7C7B"/>
                </a:solidFill>
                <a:latin typeface="Wingdings"/>
              </a:rPr>
              <a:t>§  </a:t>
            </a:r>
            <a:r>
              <a:rPr sz="1700" b="0">
                <a:solidFill>
                  <a:srgbClr val="2F3B49"/>
                </a:solidFill>
                <a:latin typeface="Montserrat"/>
              </a:rPr>
              <a:t>Why the deficit matters:</a:t>
            </a:r>
          </a:p>
          <a:p>
            <a:pPr lvl="1">
              <a:lnSpc>
                <a:spcPct val="105000"/>
              </a:lnSpc>
              <a:spcAft>
                <a:spcPts val="600"/>
              </a:spcAft>
            </a:pPr>
            <a:r>
              <a:rPr sz="1600">
                <a:solidFill>
                  <a:srgbClr val="0E7C7B"/>
                </a:solidFill>
                <a:latin typeface="Montserrat"/>
              </a:rPr>
              <a:t>–  </a:t>
            </a:r>
            <a:r>
              <a:rPr sz="1600" b="0">
                <a:solidFill>
                  <a:srgbClr val="2F3B49"/>
                </a:solidFill>
                <a:latin typeface="Montserrat"/>
              </a:rPr>
              <a:t>Undermines user trust.</a:t>
            </a:r>
          </a:p>
          <a:p>
            <a:pPr lvl="1">
              <a:lnSpc>
                <a:spcPct val="105000"/>
              </a:lnSpc>
              <a:spcAft>
                <a:spcPts val="600"/>
              </a:spcAft>
            </a:pPr>
            <a:r>
              <a:rPr sz="1600">
                <a:solidFill>
                  <a:srgbClr val="0E7C7B"/>
                </a:solidFill>
                <a:latin typeface="Montserrat"/>
              </a:rPr>
              <a:t>–  </a:t>
            </a:r>
            <a:r>
              <a:rPr sz="1600" b="0">
                <a:solidFill>
                  <a:srgbClr val="2F3B49"/>
                </a:solidFill>
                <a:latin typeface="Montserrat"/>
              </a:rPr>
              <a:t>Constrains debugging and scientific learning.</a:t>
            </a:r>
          </a:p>
          <a:p>
            <a:pPr lvl="1">
              <a:lnSpc>
                <a:spcPct val="105000"/>
              </a:lnSpc>
              <a:spcAft>
                <a:spcPts val="600"/>
              </a:spcAft>
            </a:pPr>
            <a:r>
              <a:rPr sz="1600">
                <a:solidFill>
                  <a:srgbClr val="0E7C7B"/>
                </a:solidFill>
                <a:latin typeface="Montserrat"/>
              </a:rPr>
              <a:t>–  </a:t>
            </a:r>
            <a:r>
              <a:rPr sz="1600" b="0">
                <a:solidFill>
                  <a:srgbClr val="2F3B49"/>
                </a:solidFill>
                <a:latin typeface="Montserrat"/>
              </a:rPr>
              <a:t>Collides with regulatory expectations (EU AI Act, OECD principles, GDPR).</a:t>
            </a:r>
          </a:p>
          <a:p>
            <a:pPr lvl="1">
              <a:lnSpc>
                <a:spcPct val="105000"/>
              </a:lnSpc>
              <a:spcAft>
                <a:spcPts val="600"/>
              </a:spcAft>
            </a:pPr>
            <a:r>
              <a:rPr sz="1600">
                <a:solidFill>
                  <a:srgbClr val="0E7C7B"/>
                </a:solidFill>
                <a:latin typeface="Montserrat"/>
              </a:rPr>
              <a:t>–  </a:t>
            </a:r>
            <a:r>
              <a:rPr sz="1600" b="0">
                <a:solidFill>
                  <a:srgbClr val="2F3B49"/>
                </a:solidFill>
                <a:latin typeface="Montserrat"/>
              </a:rPr>
              <a:t>EU AI Act (Art. 13) requires high-risk systems to provide explanations in human-understandable terms.</a:t>
            </a:r>
          </a:p>
        </p:txBody>
      </p:sp>
      <p:pic>
        <p:nvPicPr>
          <p:cNvPr id="56" name="Picture 55" descr="evolution.png"/>
          <p:cNvPicPr>
            <a:picLocks noChangeAspect="1"/>
          </p:cNvPicPr>
          <p:nvPr/>
        </p:nvPicPr>
        <p:blipFill>
          <a:blip r:embed="rId12"/>
          <a:stretch>
            <a:fillRect/>
          </a:stretch>
        </p:blipFill>
        <p:spPr>
          <a:xfrm>
            <a:off x="6309360" y="2011680"/>
            <a:ext cx="5212080" cy="3411543"/>
          </a:xfrm>
          <a:prstGeom prst="rect">
            <a:avLst/>
          </a:prstGeom>
        </p:spPr>
      </p:pic>
      <p:pic>
        <p:nvPicPr>
          <p:cNvPr id="57" name="Picture 56"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AI-Powered Recommendation Systems Around Us</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30" name="Rectangle 29">
            <a:extLst>
              <a:ext uri="{FF2B5EF4-FFF2-40B4-BE49-F238E27FC236}">
                <a16:creationId xmlns:a16="http://schemas.microsoft.com/office/drawing/2014/main" id="{A2CE8C4E-E822-446F-B95C-18DBA902C6F0}"/>
              </a:ext>
            </a:extLst>
          </p:cNvPr>
          <p:cNvSpPr/>
          <p:nvPr/>
        </p:nvSpPr>
        <p:spPr>
          <a:xfrm>
            <a:off x="187760" y="688960"/>
            <a:ext cx="3549662" cy="391619"/>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Motivation</a:t>
            </a:r>
          </a:p>
        </p:txBody>
      </p:sp>
      <p:sp>
        <p:nvSpPr>
          <p:cNvPr id="31" name="Rectangle 30">
            <a:extLst>
              <a:ext uri="{FF2B5EF4-FFF2-40B4-BE49-F238E27FC236}">
                <a16:creationId xmlns:a16="http://schemas.microsoft.com/office/drawing/2014/main" id="{9309D474-8F76-4EAC-998E-4A0D01DA33A3}"/>
              </a:ext>
            </a:extLst>
          </p:cNvPr>
          <p:cNvSpPr/>
          <p:nvPr/>
        </p:nvSpPr>
        <p:spPr>
          <a:xfrm>
            <a:off x="4434457" y="692327"/>
            <a:ext cx="3549662"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Actionable Insight</a:t>
            </a:r>
          </a:p>
        </p:txBody>
      </p:sp>
      <p:sp>
        <p:nvSpPr>
          <p:cNvPr id="34" name="Rectangle 33">
            <a:extLst>
              <a:ext uri="{FF2B5EF4-FFF2-40B4-BE49-F238E27FC236}">
                <a16:creationId xmlns:a16="http://schemas.microsoft.com/office/drawing/2014/main" id="{B9661C1F-3072-4037-80D3-89469FB49903}"/>
              </a:ext>
            </a:extLst>
          </p:cNvPr>
          <p:cNvSpPr/>
          <p:nvPr/>
        </p:nvSpPr>
        <p:spPr>
          <a:xfrm>
            <a:off x="8546053" y="692327"/>
            <a:ext cx="3549663" cy="384884"/>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Research Context</a:t>
            </a:r>
          </a:p>
        </p:txBody>
      </p:sp>
      <p:sp>
        <p:nvSpPr>
          <p:cNvPr id="55" name="TextBox 54"/>
          <p:cNvSpPr txBox="1"/>
          <p:nvPr/>
        </p:nvSpPr>
        <p:spPr>
          <a:xfrm>
            <a:off x="365760" y="1737360"/>
            <a:ext cx="576072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AI recommendation mediates what billions see, buy and listen to every day:</a:t>
            </a:r>
          </a:p>
          <a:p>
            <a:pPr lvl="1">
              <a:lnSpc>
                <a:spcPct val="105000"/>
              </a:lnSpc>
              <a:spcAft>
                <a:spcPts val="600"/>
              </a:spcAft>
            </a:pPr>
            <a:r>
              <a:rPr sz="1600">
                <a:solidFill>
                  <a:srgbClr val="0E7C7B"/>
                </a:solidFill>
                <a:latin typeface="Montserrat"/>
              </a:rPr>
              <a:t>–  </a:t>
            </a:r>
            <a:r>
              <a:rPr sz="1600" b="0">
                <a:solidFill>
                  <a:srgbClr val="2F3B49"/>
                </a:solidFill>
                <a:latin typeface="Montserrat"/>
              </a:rPr>
              <a:t>Streaming &amp; video: Netflix, Prime Video, YouTube.</a:t>
            </a:r>
          </a:p>
          <a:p>
            <a:pPr lvl="1">
              <a:lnSpc>
                <a:spcPct val="105000"/>
              </a:lnSpc>
              <a:spcAft>
                <a:spcPts val="600"/>
              </a:spcAft>
            </a:pPr>
            <a:r>
              <a:rPr sz="1600">
                <a:solidFill>
                  <a:srgbClr val="0E7C7B"/>
                </a:solidFill>
                <a:latin typeface="Montserrat"/>
              </a:rPr>
              <a:t>–  </a:t>
            </a:r>
            <a:r>
              <a:rPr sz="1600" b="0">
                <a:solidFill>
                  <a:srgbClr val="2F3B49"/>
                </a:solidFill>
                <a:latin typeface="Montserrat"/>
              </a:rPr>
              <a:t>Music: Spotify, YouTube Music, Deezer.</a:t>
            </a:r>
          </a:p>
          <a:p>
            <a:pPr lvl="1">
              <a:lnSpc>
                <a:spcPct val="105000"/>
              </a:lnSpc>
              <a:spcAft>
                <a:spcPts val="600"/>
              </a:spcAft>
            </a:pPr>
            <a:r>
              <a:rPr sz="1600">
                <a:solidFill>
                  <a:srgbClr val="0E7C7B"/>
                </a:solidFill>
                <a:latin typeface="Montserrat"/>
              </a:rPr>
              <a:t>–  </a:t>
            </a:r>
            <a:r>
              <a:rPr sz="1600" b="0">
                <a:solidFill>
                  <a:srgbClr val="2F3B49"/>
                </a:solidFill>
                <a:latin typeface="Montserrat"/>
              </a:rPr>
              <a:t>Shopping &amp; e-commerce: Amazon, AliExpress, Noon.</a:t>
            </a:r>
          </a:p>
          <a:p>
            <a:pPr lvl="1">
              <a:lnSpc>
                <a:spcPct val="105000"/>
              </a:lnSpc>
              <a:spcAft>
                <a:spcPts val="600"/>
              </a:spcAft>
            </a:pPr>
            <a:r>
              <a:rPr sz="1600">
                <a:solidFill>
                  <a:srgbClr val="0E7C7B"/>
                </a:solidFill>
                <a:latin typeface="Montserrat"/>
              </a:rPr>
              <a:t>–  </a:t>
            </a:r>
            <a:r>
              <a:rPr sz="1600" b="0">
                <a:solidFill>
                  <a:srgbClr val="2F3B49"/>
                </a:solidFill>
                <a:latin typeface="Montserrat"/>
              </a:rPr>
              <a:t>Social &amp; feeds: TikTok, Instagram, LinkedIn.</a:t>
            </a:r>
          </a:p>
          <a:p>
            <a:pPr lvl="1">
              <a:lnSpc>
                <a:spcPct val="105000"/>
              </a:lnSpc>
              <a:spcAft>
                <a:spcPts val="600"/>
              </a:spcAft>
            </a:pPr>
            <a:r>
              <a:rPr sz="1600">
                <a:solidFill>
                  <a:srgbClr val="0E7C7B"/>
                </a:solidFill>
                <a:latin typeface="Montserrat"/>
              </a:rPr>
              <a:t>–  </a:t>
            </a:r>
            <a:r>
              <a:rPr sz="1600" b="0">
                <a:solidFill>
                  <a:srgbClr val="2F3B49"/>
                </a:solidFill>
                <a:latin typeface="Montserrat"/>
              </a:rPr>
              <a:t>Maps, ads, search: Google Maps, Uber, Google Ads, Bing.</a:t>
            </a:r>
          </a:p>
          <a:p>
            <a:pPr>
              <a:lnSpc>
                <a:spcPct val="105000"/>
              </a:lnSpc>
              <a:spcAft>
                <a:spcPts val="900"/>
              </a:spcAft>
            </a:pPr>
            <a:r>
              <a:rPr sz="1700">
                <a:solidFill>
                  <a:srgbClr val="0E7C7B"/>
                </a:solidFill>
                <a:latin typeface="Wingdings"/>
              </a:rPr>
              <a:t>§  </a:t>
            </a:r>
            <a:r>
              <a:rPr sz="1700" b="1">
                <a:solidFill>
                  <a:srgbClr val="2F3B49"/>
                </a:solidFill>
                <a:latin typeface="Montserrat Medium"/>
              </a:rPr>
              <a:t>Accurate yet opaque — the very gap our thesis targets.</a:t>
            </a:r>
          </a:p>
        </p:txBody>
      </p:sp>
      <p:pic>
        <p:nvPicPr>
          <p:cNvPr id="56" name="Picture 55" descr="recsys_examples.png"/>
          <p:cNvPicPr>
            <a:picLocks noChangeAspect="1"/>
          </p:cNvPicPr>
          <p:nvPr/>
        </p:nvPicPr>
        <p:blipFill>
          <a:blip r:embed="rId12"/>
          <a:stretch>
            <a:fillRect/>
          </a:stretch>
        </p:blipFill>
        <p:spPr>
          <a:xfrm>
            <a:off x="6309360" y="2011680"/>
            <a:ext cx="5212080" cy="3127248"/>
          </a:xfrm>
          <a:prstGeom prst="rect">
            <a:avLst/>
          </a:prstGeom>
        </p:spPr>
      </p:pic>
      <p:pic>
        <p:nvPicPr>
          <p:cNvPr id="57" name="Picture 56"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9ED3DE66-EA75-4A44-95A7-C4F7001685B8}"/>
              </a:ext>
            </a:extLst>
          </p:cNvPr>
          <p:cNvSpPr/>
          <p:nvPr/>
        </p:nvSpPr>
        <p:spPr>
          <a:xfrm>
            <a:off x="892728" y="1929560"/>
            <a:ext cx="10406543" cy="299888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3600" kern="1200" dirty="0">
                <a:solidFill>
                  <a:schemeClr val="bg1"/>
                </a:solidFill>
                <a:effectLst/>
                <a:latin typeface="Montserrat Medium" pitchFamily="50" charset="0"/>
              </a:rPr>
              <a:t>Context &amp; Problematic</a:t>
            </a:r>
          </a:p>
        </p:txBody>
      </p:sp>
      <p:pic>
        <p:nvPicPr>
          <p:cNvPr id="7" name="Picture 6">
            <a:extLst>
              <a:ext uri="{FF2B5EF4-FFF2-40B4-BE49-F238E27FC236}">
                <a16:creationId xmlns:a16="http://schemas.microsoft.com/office/drawing/2014/main" id="{21A05AE4-2B9A-4D6C-8A67-0FDF35D10E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75523" y="2014740"/>
            <a:ext cx="786211" cy="786211"/>
          </a:xfrm>
          <a:prstGeom prst="rect">
            <a:avLst/>
          </a:prstGeom>
        </p:spPr>
      </p:pic>
      <p:pic>
        <p:nvPicPr>
          <p:cNvPr id="29" name="Picture 28" descr="image.png"/>
          <p:cNvPicPr>
            <a:picLocks noChangeAspect="1"/>
          </p:cNvPicPr>
          <p:nvPr/>
        </p:nvPicPr>
        <p:blipFill>
          <a:blip r:embed="rId4"/>
          <a:stretch>
            <a:fillRect/>
          </a:stretch>
        </p:blipFill>
        <p:spPr>
          <a:xfrm>
            <a:off x="11709806" y="6400800"/>
            <a:ext cx="384048" cy="384048"/>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Recommendation &amp; Clustering Paradigms</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30" name="Rectangle 29">
            <a:extLst>
              <a:ext uri="{FF2B5EF4-FFF2-40B4-BE49-F238E27FC236}">
                <a16:creationId xmlns:a16="http://schemas.microsoft.com/office/drawing/2014/main" id="{A2CE8C4E-E822-446F-B95C-18DBA902C6F0}"/>
              </a:ext>
            </a:extLst>
          </p:cNvPr>
          <p:cNvSpPr/>
          <p:nvPr/>
        </p:nvSpPr>
        <p:spPr>
          <a:xfrm>
            <a:off x="187760" y="688960"/>
            <a:ext cx="3549662" cy="391619"/>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Paradigms</a:t>
            </a:r>
          </a:p>
        </p:txBody>
      </p:sp>
      <p:sp>
        <p:nvSpPr>
          <p:cNvPr id="31" name="Rectangle 30">
            <a:extLst>
              <a:ext uri="{FF2B5EF4-FFF2-40B4-BE49-F238E27FC236}">
                <a16:creationId xmlns:a16="http://schemas.microsoft.com/office/drawing/2014/main" id="{9309D474-8F76-4EAC-998E-4A0D01DA33A3}"/>
              </a:ext>
            </a:extLst>
          </p:cNvPr>
          <p:cNvSpPr/>
          <p:nvPr/>
        </p:nvSpPr>
        <p:spPr>
          <a:xfrm>
            <a:off x="4434457" y="692327"/>
            <a:ext cx="3549662"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Problematic</a:t>
            </a:r>
          </a:p>
        </p:txBody>
      </p:sp>
      <p:sp>
        <p:nvSpPr>
          <p:cNvPr id="34" name="Rectangle 33">
            <a:extLst>
              <a:ext uri="{FF2B5EF4-FFF2-40B4-BE49-F238E27FC236}">
                <a16:creationId xmlns:a16="http://schemas.microsoft.com/office/drawing/2014/main" id="{B9661C1F-3072-4037-80D3-89469FB49903}"/>
              </a:ext>
            </a:extLst>
          </p:cNvPr>
          <p:cNvSpPr/>
          <p:nvPr/>
        </p:nvSpPr>
        <p:spPr>
          <a:xfrm>
            <a:off x="8546053" y="692327"/>
            <a:ext cx="3549663"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Contributions</a:t>
            </a:r>
          </a:p>
        </p:txBody>
      </p:sp>
      <p:sp>
        <p:nvSpPr>
          <p:cNvPr id="55" name="TextBox 54"/>
          <p:cNvSpPr txBox="1"/>
          <p:nvPr/>
        </p:nvSpPr>
        <p:spPr>
          <a:xfrm>
            <a:off x="365760" y="1737360"/>
            <a:ext cx="576072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0">
                <a:solidFill>
                  <a:srgbClr val="2F3B49"/>
                </a:solidFill>
                <a:latin typeface="Montserrat"/>
              </a:rPr>
              <a:t>Collaborative filtering – users who behaved similarly will value similar items (user-/item-based).</a:t>
            </a:r>
          </a:p>
          <a:p>
            <a:pPr>
              <a:lnSpc>
                <a:spcPct val="105000"/>
              </a:lnSpc>
              <a:spcAft>
                <a:spcPts val="900"/>
              </a:spcAft>
            </a:pPr>
            <a:r>
              <a:rPr sz="1700">
                <a:solidFill>
                  <a:srgbClr val="0E7C7B"/>
                </a:solidFill>
                <a:latin typeface="Wingdings"/>
              </a:rPr>
              <a:t>§  </a:t>
            </a:r>
            <a:r>
              <a:rPr sz="1700" b="0">
                <a:solidFill>
                  <a:srgbClr val="2F3B49"/>
                </a:solidFill>
                <a:latin typeface="Montserrat"/>
              </a:rPr>
              <a:t>Content-based – recommends items sharing attributes with a user profile.</a:t>
            </a:r>
          </a:p>
          <a:p>
            <a:pPr>
              <a:lnSpc>
                <a:spcPct val="105000"/>
              </a:lnSpc>
              <a:spcAft>
                <a:spcPts val="900"/>
              </a:spcAft>
            </a:pPr>
            <a:r>
              <a:rPr sz="1700">
                <a:solidFill>
                  <a:srgbClr val="0E7C7B"/>
                </a:solidFill>
                <a:latin typeface="Wingdings"/>
              </a:rPr>
              <a:t>§  </a:t>
            </a:r>
            <a:r>
              <a:rPr sz="1700" b="0">
                <a:solidFill>
                  <a:srgbClr val="2F3B49"/>
                </a:solidFill>
                <a:latin typeface="Montserrat"/>
              </a:rPr>
              <a:t>Hybrid – combines collaborative and content signals.</a:t>
            </a:r>
          </a:p>
          <a:p>
            <a:pPr>
              <a:lnSpc>
                <a:spcPct val="105000"/>
              </a:lnSpc>
              <a:spcAft>
                <a:spcPts val="900"/>
              </a:spcAft>
            </a:pPr>
            <a:r>
              <a:rPr sz="1700">
                <a:solidFill>
                  <a:srgbClr val="0E7C7B"/>
                </a:solidFill>
                <a:latin typeface="Wingdings"/>
              </a:rPr>
              <a:t>§  </a:t>
            </a:r>
            <a:r>
              <a:rPr sz="1700" b="0">
                <a:solidFill>
                  <a:srgbClr val="2F3B49"/>
                </a:solidFill>
                <a:latin typeface="Montserrat"/>
              </a:rPr>
              <a:t>Matrix factorisation – R ≈ PQᵀ: compact but opaque latent factors.</a:t>
            </a:r>
          </a:p>
          <a:p>
            <a:pPr>
              <a:lnSpc>
                <a:spcPct val="105000"/>
              </a:lnSpc>
              <a:spcAft>
                <a:spcPts val="900"/>
              </a:spcAft>
            </a:pPr>
            <a:r>
              <a:rPr sz="1700">
                <a:solidFill>
                  <a:srgbClr val="0E7C7B"/>
                </a:solidFill>
                <a:latin typeface="Wingdings"/>
              </a:rPr>
              <a:t>§  </a:t>
            </a:r>
            <a:r>
              <a:rPr sz="1700" b="0">
                <a:solidFill>
                  <a:srgbClr val="2F3B49"/>
                </a:solidFill>
                <a:latin typeface="Montserrat"/>
              </a:rPr>
              <a:t>Graph-based – interaction graph with neighbourhood propagation (LightGCN, hypergraph).</a:t>
            </a:r>
          </a:p>
        </p:txBody>
      </p:sp>
      <p:pic>
        <p:nvPicPr>
          <p:cNvPr id="56" name="Picture 55" descr="content_based.png"/>
          <p:cNvPicPr>
            <a:picLocks noChangeAspect="1"/>
          </p:cNvPicPr>
          <p:nvPr/>
        </p:nvPicPr>
        <p:blipFill>
          <a:blip r:embed="rId12"/>
          <a:stretch>
            <a:fillRect/>
          </a:stretch>
        </p:blipFill>
        <p:spPr>
          <a:xfrm>
            <a:off x="6309360" y="2011680"/>
            <a:ext cx="5212080" cy="2937717"/>
          </a:xfrm>
          <a:prstGeom prst="rect">
            <a:avLst/>
          </a:prstGeom>
        </p:spPr>
      </p:pic>
      <p:pic>
        <p:nvPicPr>
          <p:cNvPr id="57" name="Picture 56"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Limitations of Classical Recommenders &amp; Unsupervised Models</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30" name="Rectangle 29">
            <a:extLst>
              <a:ext uri="{FF2B5EF4-FFF2-40B4-BE49-F238E27FC236}">
                <a16:creationId xmlns:a16="http://schemas.microsoft.com/office/drawing/2014/main" id="{A2CE8C4E-E822-446F-B95C-18DBA902C6F0}"/>
              </a:ext>
            </a:extLst>
          </p:cNvPr>
          <p:cNvSpPr/>
          <p:nvPr/>
        </p:nvSpPr>
        <p:spPr>
          <a:xfrm>
            <a:off x="187760" y="688960"/>
            <a:ext cx="3549662" cy="391619"/>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Paradigms</a:t>
            </a:r>
          </a:p>
        </p:txBody>
      </p:sp>
      <p:sp>
        <p:nvSpPr>
          <p:cNvPr id="31" name="Rectangle 30">
            <a:extLst>
              <a:ext uri="{FF2B5EF4-FFF2-40B4-BE49-F238E27FC236}">
                <a16:creationId xmlns:a16="http://schemas.microsoft.com/office/drawing/2014/main" id="{9309D474-8F76-4EAC-998E-4A0D01DA33A3}"/>
              </a:ext>
            </a:extLst>
          </p:cNvPr>
          <p:cNvSpPr/>
          <p:nvPr/>
        </p:nvSpPr>
        <p:spPr>
          <a:xfrm>
            <a:off x="4434457" y="692327"/>
            <a:ext cx="3549662" cy="384884"/>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Problematic</a:t>
            </a:r>
          </a:p>
        </p:txBody>
      </p:sp>
      <p:sp>
        <p:nvSpPr>
          <p:cNvPr id="34" name="Rectangle 33">
            <a:extLst>
              <a:ext uri="{FF2B5EF4-FFF2-40B4-BE49-F238E27FC236}">
                <a16:creationId xmlns:a16="http://schemas.microsoft.com/office/drawing/2014/main" id="{B9661C1F-3072-4037-80D3-89469FB49903}"/>
              </a:ext>
            </a:extLst>
          </p:cNvPr>
          <p:cNvSpPr/>
          <p:nvPr/>
        </p:nvSpPr>
        <p:spPr>
          <a:xfrm>
            <a:off x="8546053" y="692327"/>
            <a:ext cx="3549663"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Contributions</a:t>
            </a:r>
          </a:p>
        </p:txBody>
      </p:sp>
      <p:sp>
        <p:nvSpPr>
          <p:cNvPr id="55" name="TextBox 54"/>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0">
                <a:solidFill>
                  <a:srgbClr val="2F3B49"/>
                </a:solidFill>
                <a:latin typeface="Montserrat"/>
              </a:rPr>
              <a:t>Data sparsity &amp; scalability – the user–item matrix is overwhelmingly empty.</a:t>
            </a:r>
          </a:p>
          <a:p>
            <a:pPr>
              <a:lnSpc>
                <a:spcPct val="105000"/>
              </a:lnSpc>
              <a:spcAft>
                <a:spcPts val="900"/>
              </a:spcAft>
            </a:pPr>
            <a:r>
              <a:rPr sz="1700">
                <a:solidFill>
                  <a:srgbClr val="0E7C7B"/>
                </a:solidFill>
                <a:latin typeface="Wingdings"/>
              </a:rPr>
              <a:t>§  </a:t>
            </a:r>
            <a:r>
              <a:rPr sz="1700" b="0">
                <a:solidFill>
                  <a:srgbClr val="2F3B49"/>
                </a:solidFill>
                <a:latin typeface="Montserrat"/>
              </a:rPr>
              <a:t>Cold-start – new users and items are structurally disadvantaged.</a:t>
            </a:r>
          </a:p>
          <a:p>
            <a:pPr>
              <a:lnSpc>
                <a:spcPct val="105000"/>
              </a:lnSpc>
              <a:spcAft>
                <a:spcPts val="900"/>
              </a:spcAft>
            </a:pPr>
            <a:r>
              <a:rPr sz="1700">
                <a:solidFill>
                  <a:srgbClr val="0E7C7B"/>
                </a:solidFill>
                <a:latin typeface="Wingdings"/>
              </a:rPr>
              <a:t>§  </a:t>
            </a:r>
            <a:r>
              <a:rPr sz="1700" b="0">
                <a:solidFill>
                  <a:srgbClr val="2F3B49"/>
                </a:solidFill>
                <a:latin typeface="Montserrat"/>
              </a:rPr>
              <a:t>Popularity bias &amp; lack of diversity – exposure begets interaction, begets exposure.</a:t>
            </a:r>
          </a:p>
          <a:p>
            <a:pPr>
              <a:lnSpc>
                <a:spcPct val="105000"/>
              </a:lnSpc>
              <a:spcAft>
                <a:spcPts val="900"/>
              </a:spcAft>
            </a:pPr>
            <a:r>
              <a:rPr sz="1700">
                <a:solidFill>
                  <a:srgbClr val="0E7C7B"/>
                </a:solidFill>
                <a:latin typeface="Wingdings"/>
              </a:rPr>
              <a:t>§  </a:t>
            </a:r>
            <a:r>
              <a:rPr sz="1700" b="1">
                <a:solidFill>
                  <a:srgbClr val="2F3B49"/>
                </a:solidFill>
                <a:latin typeface="Montserrat Medium"/>
              </a:rPr>
              <a:t>Absence of interpretability – the most fundamental limit.</a:t>
            </a:r>
          </a:p>
          <a:p>
            <a:pPr lvl="1">
              <a:lnSpc>
                <a:spcPct val="105000"/>
              </a:lnSpc>
              <a:spcAft>
                <a:spcPts val="600"/>
              </a:spcAft>
            </a:pPr>
            <a:r>
              <a:rPr sz="1600">
                <a:solidFill>
                  <a:srgbClr val="0E7C7B"/>
                </a:solidFill>
                <a:latin typeface="Montserrat"/>
              </a:rPr>
              <a:t>–  </a:t>
            </a:r>
            <a:r>
              <a:rPr sz="1600" b="0">
                <a:solidFill>
                  <a:srgbClr val="2F3B49"/>
                </a:solidFill>
                <a:latin typeface="Montserrat"/>
              </a:rPr>
              <a:t>For clustering: methods favour local OR global explanation, not both.</a:t>
            </a:r>
          </a:p>
          <a:p>
            <a:pPr lvl="1">
              <a:lnSpc>
                <a:spcPct val="105000"/>
              </a:lnSpc>
              <a:spcAft>
                <a:spcPts val="600"/>
              </a:spcAft>
            </a:pPr>
            <a:r>
              <a:rPr sz="1600">
                <a:solidFill>
                  <a:srgbClr val="0E7C7B"/>
                </a:solidFill>
                <a:latin typeface="Montserrat"/>
              </a:rPr>
              <a:t>–  </a:t>
            </a:r>
            <a:r>
              <a:rPr sz="1600" b="0">
                <a:solidFill>
                  <a:srgbClr val="2F3B49"/>
                </a:solidFill>
                <a:latin typeface="Montserrat"/>
              </a:rPr>
              <a:t>They struggle to scale, and explanations rarely stay coherent across resolutions.</a:t>
            </a:r>
          </a:p>
        </p:txBody>
      </p:sp>
      <p:pic>
        <p:nvPicPr>
          <p:cNvPr id="56" name="Picture 55" descr="image.png"/>
          <p:cNvPicPr>
            <a:picLocks noChangeAspect="1"/>
          </p:cNvPicPr>
          <p:nvPr/>
        </p:nvPicPr>
        <p:blipFill>
          <a:blip r:embed="rId10"/>
          <a:stretch>
            <a:fillRect/>
          </a:stretch>
        </p:blipFill>
        <p:spPr>
          <a:xfrm>
            <a:off x="11431828" y="6400800"/>
            <a:ext cx="384048" cy="384048"/>
          </a:xfrm>
          <a:prstGeom prst="rect">
            <a:avLst/>
          </a:prstGeom>
        </p:spPr>
      </p:pic>
      <p:pic>
        <p:nvPicPr>
          <p:cNvPr id="57" name="Picture 56" descr="image.png"/>
          <p:cNvPicPr>
            <a:picLocks noChangeAspect="1"/>
          </p:cNvPicPr>
          <p:nvPr/>
        </p:nvPicPr>
        <p:blipFill>
          <a:blip r:embed="rId14"/>
          <a:stretch>
            <a:fillRect/>
          </a:stretch>
        </p:blipFill>
        <p:spPr>
          <a:xfrm>
            <a:off x="11709806" y="6400800"/>
            <a:ext cx="384048" cy="384048"/>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Three Structuring Limitations (Problem Statement)</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30" name="Rectangle 29">
            <a:extLst>
              <a:ext uri="{FF2B5EF4-FFF2-40B4-BE49-F238E27FC236}">
                <a16:creationId xmlns:a16="http://schemas.microsoft.com/office/drawing/2014/main" id="{A2CE8C4E-E822-446F-B95C-18DBA902C6F0}"/>
              </a:ext>
            </a:extLst>
          </p:cNvPr>
          <p:cNvSpPr/>
          <p:nvPr/>
        </p:nvSpPr>
        <p:spPr>
          <a:xfrm>
            <a:off x="187760" y="688960"/>
            <a:ext cx="3549662" cy="391619"/>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Paradigms</a:t>
            </a:r>
          </a:p>
        </p:txBody>
      </p:sp>
      <p:sp>
        <p:nvSpPr>
          <p:cNvPr id="31" name="Rectangle 30">
            <a:extLst>
              <a:ext uri="{FF2B5EF4-FFF2-40B4-BE49-F238E27FC236}">
                <a16:creationId xmlns:a16="http://schemas.microsoft.com/office/drawing/2014/main" id="{9309D474-8F76-4EAC-998E-4A0D01DA33A3}"/>
              </a:ext>
            </a:extLst>
          </p:cNvPr>
          <p:cNvSpPr/>
          <p:nvPr/>
        </p:nvSpPr>
        <p:spPr>
          <a:xfrm>
            <a:off x="4434457" y="692327"/>
            <a:ext cx="3549662" cy="384884"/>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Problematic</a:t>
            </a:r>
          </a:p>
        </p:txBody>
      </p:sp>
      <p:sp>
        <p:nvSpPr>
          <p:cNvPr id="34" name="Rectangle 33">
            <a:extLst>
              <a:ext uri="{FF2B5EF4-FFF2-40B4-BE49-F238E27FC236}">
                <a16:creationId xmlns:a16="http://schemas.microsoft.com/office/drawing/2014/main" id="{B9661C1F-3072-4037-80D3-89469FB49903}"/>
              </a:ext>
            </a:extLst>
          </p:cNvPr>
          <p:cNvSpPr/>
          <p:nvPr/>
        </p:nvSpPr>
        <p:spPr>
          <a:xfrm>
            <a:off x="8546053" y="692327"/>
            <a:ext cx="3549663"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Contributions</a:t>
            </a:r>
          </a:p>
        </p:txBody>
      </p:sp>
      <p:sp>
        <p:nvSpPr>
          <p:cNvPr id="55" name="TextBox 54"/>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1. Lack of explainability – complex models remain hard to interpret faithfully and actionably.</a:t>
            </a:r>
          </a:p>
          <a:p>
            <a:pPr>
              <a:lnSpc>
                <a:spcPct val="105000"/>
              </a:lnSpc>
              <a:spcAft>
                <a:spcPts val="900"/>
              </a:spcAft>
            </a:pPr>
            <a:r>
              <a:rPr sz="1700">
                <a:solidFill>
                  <a:srgbClr val="0E7C7B"/>
                </a:solidFill>
                <a:latin typeface="Wingdings"/>
              </a:rPr>
              <a:t>§  </a:t>
            </a:r>
            <a:r>
              <a:rPr sz="1700" b="1">
                <a:solidFill>
                  <a:srgbClr val="2F3B49"/>
                </a:solidFill>
                <a:latin typeface="Montserrat Medium"/>
              </a:rPr>
              <a:t>2. Difficulty of scaling – local explanations do not transfer naturally to hierarchical structures or large datasets.</a:t>
            </a:r>
          </a:p>
          <a:p>
            <a:pPr>
              <a:lnSpc>
                <a:spcPct val="105000"/>
              </a:lnSpc>
              <a:spcAft>
                <a:spcPts val="900"/>
              </a:spcAft>
            </a:pPr>
            <a:r>
              <a:rPr sz="1700">
                <a:solidFill>
                  <a:srgbClr val="0E7C7B"/>
                </a:solidFill>
                <a:latin typeface="Wingdings"/>
              </a:rPr>
              <a:t>§  </a:t>
            </a:r>
            <a:r>
              <a:rPr sz="1700" b="1">
                <a:solidFill>
                  <a:srgbClr val="2F3B49"/>
                </a:solidFill>
                <a:latin typeface="Montserrat Medium"/>
              </a:rPr>
              <a:t>3. Weak integration into learning – most explanations stay post-hoc and do not shape model dynamics or the accuracy-diversity-context trade-off.</a:t>
            </a:r>
          </a:p>
          <a:p>
            <a:pPr lvl="1">
              <a:lnSpc>
                <a:spcPct val="105000"/>
              </a:lnSpc>
              <a:spcAft>
                <a:spcPts val="600"/>
              </a:spcAft>
            </a:pPr>
            <a:r>
              <a:rPr sz="1600">
                <a:solidFill>
                  <a:srgbClr val="0E7C7B"/>
                </a:solidFill>
                <a:latin typeface="Montserrat"/>
              </a:rPr>
              <a:t>–  </a:t>
            </a:r>
            <a:r>
              <a:rPr sz="1600" b="1">
                <a:solidFill>
                  <a:srgbClr val="2F3B49"/>
                </a:solidFill>
                <a:latin typeface="Montserrat"/>
              </a:rPr>
              <a:t>Thesis gap: the literature still lacks a single cooperative-attribution framework that explains clustering faithfully, stays coherent under hierarchy, and then operates as an in-training signal in recommendation.</a:t>
            </a:r>
          </a:p>
        </p:txBody>
      </p:sp>
      <p:pic>
        <p:nvPicPr>
          <p:cNvPr id="56" name="Picture 55" descr="image.png"/>
          <p:cNvPicPr>
            <a:picLocks noChangeAspect="1"/>
          </p:cNvPicPr>
          <p:nvPr/>
        </p:nvPicPr>
        <p:blipFill>
          <a:blip r:embed="rId10"/>
          <a:stretch>
            <a:fillRect/>
          </a:stretch>
        </p:blipFill>
        <p:spPr>
          <a:xfrm>
            <a:off x="11431828" y="6400800"/>
            <a:ext cx="384048" cy="384048"/>
          </a:xfrm>
          <a:prstGeom prst="rect">
            <a:avLst/>
          </a:prstGeom>
        </p:spPr>
      </p:pic>
      <p:pic>
        <p:nvPicPr>
          <p:cNvPr id="57" name="Picture 56" descr="image.png"/>
          <p:cNvPicPr>
            <a:picLocks noChangeAspect="1"/>
          </p:cNvPicPr>
          <p:nvPr/>
        </p:nvPicPr>
        <p:blipFill>
          <a:blip r:embed="rId10"/>
          <a:stretch>
            <a:fillRect/>
          </a:stretch>
        </p:blipFill>
        <p:spPr>
          <a:xfrm>
            <a:off x="11709806" y="6400800"/>
            <a:ext cx="384048" cy="384048"/>
          </a:xfrm>
          <a:prstGeom prst="rect">
            <a:avLst/>
          </a:prstGeom>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Research Questions (RQ1–RQ5) and Overall Aim</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30" name="Rectangle 29">
            <a:extLst>
              <a:ext uri="{FF2B5EF4-FFF2-40B4-BE49-F238E27FC236}">
                <a16:creationId xmlns:a16="http://schemas.microsoft.com/office/drawing/2014/main" id="{A2CE8C4E-E822-446F-B95C-18DBA902C6F0}"/>
              </a:ext>
            </a:extLst>
          </p:cNvPr>
          <p:cNvSpPr/>
          <p:nvPr/>
        </p:nvSpPr>
        <p:spPr>
          <a:xfrm>
            <a:off x="187760" y="688960"/>
            <a:ext cx="3549662" cy="391619"/>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Paradigms</a:t>
            </a:r>
          </a:p>
        </p:txBody>
      </p:sp>
      <p:sp>
        <p:nvSpPr>
          <p:cNvPr id="31" name="Rectangle 30">
            <a:extLst>
              <a:ext uri="{FF2B5EF4-FFF2-40B4-BE49-F238E27FC236}">
                <a16:creationId xmlns:a16="http://schemas.microsoft.com/office/drawing/2014/main" id="{9309D474-8F76-4EAC-998E-4A0D01DA33A3}"/>
              </a:ext>
            </a:extLst>
          </p:cNvPr>
          <p:cNvSpPr/>
          <p:nvPr/>
        </p:nvSpPr>
        <p:spPr>
          <a:xfrm>
            <a:off x="4434457" y="692327"/>
            <a:ext cx="3549662" cy="384884"/>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Problematic</a:t>
            </a:r>
          </a:p>
        </p:txBody>
      </p:sp>
      <p:sp>
        <p:nvSpPr>
          <p:cNvPr id="34" name="Rectangle 33">
            <a:extLst>
              <a:ext uri="{FF2B5EF4-FFF2-40B4-BE49-F238E27FC236}">
                <a16:creationId xmlns:a16="http://schemas.microsoft.com/office/drawing/2014/main" id="{B9661C1F-3072-4037-80D3-89469FB49903}"/>
              </a:ext>
            </a:extLst>
          </p:cNvPr>
          <p:cNvSpPr/>
          <p:nvPr/>
        </p:nvSpPr>
        <p:spPr>
          <a:xfrm>
            <a:off x="8546053" y="692327"/>
            <a:ext cx="3549663"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Contributions</a:t>
            </a:r>
          </a:p>
        </p:txBody>
      </p:sp>
      <p:sp>
        <p:nvSpPr>
          <p:cNvPr id="55" name="TextBox 54"/>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Aim: develop, justify and evaluate a cooperative-game-theoretic perspective for XAI in clustering and recommendation.</a:t>
            </a:r>
          </a:p>
          <a:p>
            <a:pPr>
              <a:lnSpc>
                <a:spcPct val="105000"/>
              </a:lnSpc>
              <a:spcAft>
                <a:spcPts val="900"/>
              </a:spcAft>
            </a:pPr>
            <a:r>
              <a:rPr sz="1700">
                <a:solidFill>
                  <a:srgbClr val="0E7C7B"/>
                </a:solidFill>
                <a:latin typeface="Wingdings"/>
              </a:rPr>
              <a:t>§  </a:t>
            </a:r>
            <a:r>
              <a:rPr sz="1700" b="0">
                <a:solidFill>
                  <a:srgbClr val="2F3B49"/>
                </a:solidFill>
                <a:latin typeface="Montserrat"/>
              </a:rPr>
              <a:t>RQ1 · How can Shapley values explain black-box clustering faithfully at instance and cluster level?</a:t>
            </a:r>
          </a:p>
          <a:p>
            <a:pPr>
              <a:lnSpc>
                <a:spcPct val="105000"/>
              </a:lnSpc>
              <a:spcAft>
                <a:spcPts val="900"/>
              </a:spcAft>
            </a:pPr>
            <a:r>
              <a:rPr sz="1700">
                <a:solidFill>
                  <a:srgbClr val="0E7C7B"/>
                </a:solidFill>
                <a:latin typeface="Wingdings"/>
              </a:rPr>
              <a:t>§  </a:t>
            </a:r>
            <a:r>
              <a:rPr sz="1700" b="0">
                <a:solidFill>
                  <a:srgbClr val="2F3B49"/>
                </a:solidFill>
                <a:latin typeface="Montserrat"/>
              </a:rPr>
              <a:t>RQ2 · How can this extend to large-scale, hierarchical clustering without losing tractability or consistency?</a:t>
            </a:r>
          </a:p>
          <a:p>
            <a:pPr>
              <a:lnSpc>
                <a:spcPct val="105000"/>
              </a:lnSpc>
              <a:spcAft>
                <a:spcPts val="900"/>
              </a:spcAft>
            </a:pPr>
            <a:r>
              <a:rPr sz="1700">
                <a:solidFill>
                  <a:srgbClr val="0E7C7B"/>
                </a:solidFill>
                <a:latin typeface="Wingdings"/>
              </a:rPr>
              <a:t>§  </a:t>
            </a:r>
            <a:r>
              <a:rPr sz="1700" b="0">
                <a:solidFill>
                  <a:srgbClr val="2F3B49"/>
                </a:solidFill>
                <a:latin typeface="Montserrat"/>
              </a:rPr>
              <a:t>RQ3 · Can cooperative attribution move beyond post-hoc and enter the learning dynamics of graph recommenders?</a:t>
            </a:r>
          </a:p>
          <a:p>
            <a:pPr>
              <a:lnSpc>
                <a:spcPct val="105000"/>
              </a:lnSpc>
              <a:spcAft>
                <a:spcPts val="900"/>
              </a:spcAft>
            </a:pPr>
            <a:r>
              <a:rPr sz="1700">
                <a:solidFill>
                  <a:srgbClr val="0E7C7B"/>
                </a:solidFill>
                <a:latin typeface="Wingdings"/>
              </a:rPr>
              <a:t>§  </a:t>
            </a:r>
            <a:r>
              <a:rPr sz="1700" b="0">
                <a:solidFill>
                  <a:srgbClr val="2F3B49"/>
                </a:solidFill>
                <a:latin typeface="Montserrat"/>
              </a:rPr>
              <a:t>RQ4 · Can a recommender jointly optimise ranking accuracy, context and diversity when importance is estimated by a cooperative-game utility?</a:t>
            </a:r>
          </a:p>
          <a:p>
            <a:pPr>
              <a:lnSpc>
                <a:spcPct val="105000"/>
              </a:lnSpc>
              <a:spcAft>
                <a:spcPts val="900"/>
              </a:spcAft>
            </a:pPr>
            <a:r>
              <a:rPr sz="1700">
                <a:solidFill>
                  <a:srgbClr val="0E7C7B"/>
                </a:solidFill>
                <a:latin typeface="Wingdings"/>
              </a:rPr>
              <a:t>§  </a:t>
            </a:r>
            <a:r>
              <a:rPr sz="1700" b="0">
                <a:solidFill>
                  <a:srgbClr val="2F3B49"/>
                </a:solidFill>
                <a:latin typeface="Montserrat"/>
              </a:rPr>
              <a:t>RQ5 · What emerges when clustering explanation and recommendation learning are two stages of one cooperative-game perspective?</a:t>
            </a:r>
          </a:p>
        </p:txBody>
      </p:sp>
      <p:pic>
        <p:nvPicPr>
          <p:cNvPr id="56" name="Picture 55" descr="image.png"/>
          <p:cNvPicPr>
            <a:picLocks noChangeAspect="1"/>
          </p:cNvPicPr>
          <p:nvPr/>
        </p:nvPicPr>
        <p:blipFill>
          <a:blip r:embed="rId10"/>
          <a:stretch>
            <a:fillRect/>
          </a:stretch>
        </p:blipFill>
        <p:spPr>
          <a:xfrm>
            <a:off x="11431828" y="6400800"/>
            <a:ext cx="384048" cy="384048"/>
          </a:xfrm>
          <a:prstGeom prst="rect">
            <a:avLst/>
          </a:prstGeom>
        </p:spPr>
      </p:pic>
      <p:pic>
        <p:nvPicPr>
          <p:cNvPr id="57" name="Picture 56" descr="image.png"/>
          <p:cNvPicPr>
            <a:picLocks noChangeAspect="1"/>
          </p:cNvPicPr>
          <p:nvPr/>
        </p:nvPicPr>
        <p:blipFill>
          <a:blip r:embed="rId11"/>
          <a:stretch>
            <a:fillRect/>
          </a:stretch>
        </p:blipFill>
        <p:spPr>
          <a:xfrm>
            <a:off x="11709806" y="6400800"/>
            <a:ext cx="384048" cy="384048"/>
          </a:xfrm>
          <a:prstGeom prst="rect">
            <a:avLst/>
          </a:prstGeom>
        </p:spPr>
      </p:pic>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The Three Contributions</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30" name="Rectangle 29">
            <a:extLst>
              <a:ext uri="{FF2B5EF4-FFF2-40B4-BE49-F238E27FC236}">
                <a16:creationId xmlns:a16="http://schemas.microsoft.com/office/drawing/2014/main" id="{A2CE8C4E-E822-446F-B95C-18DBA902C6F0}"/>
              </a:ext>
            </a:extLst>
          </p:cNvPr>
          <p:cNvSpPr/>
          <p:nvPr/>
        </p:nvSpPr>
        <p:spPr>
          <a:xfrm>
            <a:off x="187760" y="688960"/>
            <a:ext cx="3549662" cy="391619"/>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Paradigms</a:t>
            </a:r>
          </a:p>
        </p:txBody>
      </p:sp>
      <p:sp>
        <p:nvSpPr>
          <p:cNvPr id="31" name="Rectangle 30">
            <a:extLst>
              <a:ext uri="{FF2B5EF4-FFF2-40B4-BE49-F238E27FC236}">
                <a16:creationId xmlns:a16="http://schemas.microsoft.com/office/drawing/2014/main" id="{9309D474-8F76-4EAC-998E-4A0D01DA33A3}"/>
              </a:ext>
            </a:extLst>
          </p:cNvPr>
          <p:cNvSpPr/>
          <p:nvPr/>
        </p:nvSpPr>
        <p:spPr>
          <a:xfrm>
            <a:off x="4434457" y="692327"/>
            <a:ext cx="3549662"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Problematic</a:t>
            </a:r>
          </a:p>
        </p:txBody>
      </p:sp>
      <p:sp>
        <p:nvSpPr>
          <p:cNvPr id="34" name="Rectangle 33">
            <a:extLst>
              <a:ext uri="{FF2B5EF4-FFF2-40B4-BE49-F238E27FC236}">
                <a16:creationId xmlns:a16="http://schemas.microsoft.com/office/drawing/2014/main" id="{B9661C1F-3072-4037-80D3-89469FB49903}"/>
              </a:ext>
            </a:extLst>
          </p:cNvPr>
          <p:cNvSpPr/>
          <p:nvPr/>
        </p:nvSpPr>
        <p:spPr>
          <a:xfrm>
            <a:off x="8546053" y="692327"/>
            <a:ext cx="3549663" cy="384884"/>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Contributions</a:t>
            </a:r>
          </a:p>
        </p:txBody>
      </p:sp>
      <p:sp>
        <p:nvSpPr>
          <p:cNvPr id="55" name="TextBox 54"/>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C1 – Explainable black-box clustering: PCA–K-Means–LightGBM–TreeSHAP pipeline.</a:t>
            </a:r>
          </a:p>
          <a:p>
            <a:pPr lvl="1">
              <a:lnSpc>
                <a:spcPct val="105000"/>
              </a:lnSpc>
              <a:spcAft>
                <a:spcPts val="600"/>
              </a:spcAft>
            </a:pPr>
            <a:r>
              <a:rPr sz="1600">
                <a:solidFill>
                  <a:srgbClr val="0E7C7B"/>
                </a:solidFill>
                <a:latin typeface="Montserrat"/>
              </a:rPr>
              <a:t>–  </a:t>
            </a:r>
            <a:r>
              <a:rPr sz="1600" b="0">
                <a:solidFill>
                  <a:srgbClr val="2F3B49"/>
                </a:solidFill>
                <a:latin typeface="Montserrat"/>
              </a:rPr>
              <a:t>→ Wine Quality: faithful instance- and cluster-level feature attribution.</a:t>
            </a:r>
          </a:p>
          <a:p>
            <a:pPr>
              <a:lnSpc>
                <a:spcPct val="105000"/>
              </a:lnSpc>
              <a:spcAft>
                <a:spcPts val="900"/>
              </a:spcAft>
            </a:pPr>
            <a:r>
              <a:rPr sz="1700">
                <a:solidFill>
                  <a:srgbClr val="0E7C7B"/>
                </a:solidFill>
                <a:latin typeface="Wingdings"/>
              </a:rPr>
              <a:t>§  </a:t>
            </a:r>
            <a:r>
              <a:rPr sz="1700" b="1">
                <a:solidFill>
                  <a:srgbClr val="2F3B49"/>
                </a:solidFill>
                <a:latin typeface="Montserrat Medium"/>
              </a:rPr>
              <a:t>C2 – Enhanced multi-level XAI for large-scale clustering with cross-level SHAP aggregation.</a:t>
            </a:r>
          </a:p>
          <a:p>
            <a:pPr lvl="1">
              <a:lnSpc>
                <a:spcPct val="105000"/>
              </a:lnSpc>
              <a:spcAft>
                <a:spcPts val="600"/>
              </a:spcAft>
            </a:pPr>
            <a:r>
              <a:rPr sz="1600">
                <a:solidFill>
                  <a:srgbClr val="0E7C7B"/>
                </a:solidFill>
                <a:latin typeface="Montserrat"/>
              </a:rPr>
              <a:t>–  </a:t>
            </a:r>
            <a:r>
              <a:rPr sz="1600" b="0">
                <a:solidFill>
                  <a:srgbClr val="2F3B49"/>
                </a:solidFill>
                <a:latin typeface="Montserrat"/>
              </a:rPr>
              <a:t>→ Beijing Air Quality: hierarchical attribution consistency under scale.</a:t>
            </a:r>
          </a:p>
          <a:p>
            <a:pPr>
              <a:lnSpc>
                <a:spcPct val="105000"/>
              </a:lnSpc>
              <a:spcAft>
                <a:spcPts val="900"/>
              </a:spcAft>
            </a:pPr>
            <a:r>
              <a:rPr sz="1700">
                <a:solidFill>
                  <a:srgbClr val="0E7C7B"/>
                </a:solidFill>
                <a:latin typeface="Wingdings"/>
              </a:rPr>
              <a:t>§  </a:t>
            </a:r>
            <a:r>
              <a:rPr sz="1700" b="1">
                <a:solidFill>
                  <a:srgbClr val="2F3B49"/>
                </a:solidFill>
                <a:latin typeface="Montserrat Medium"/>
              </a:rPr>
              <a:t>C3 – DyHuCoG: Dynamic Hypergraph Cooperative Game for preference-aware recommendation.</a:t>
            </a:r>
          </a:p>
          <a:p>
            <a:pPr lvl="1">
              <a:lnSpc>
                <a:spcPct val="105000"/>
              </a:lnSpc>
              <a:spcAft>
                <a:spcPts val="600"/>
              </a:spcAft>
            </a:pPr>
            <a:r>
              <a:rPr sz="1600">
                <a:solidFill>
                  <a:srgbClr val="0E7C7B"/>
                </a:solidFill>
                <a:latin typeface="Montserrat"/>
              </a:rPr>
              <a:t>–  </a:t>
            </a:r>
            <a:r>
              <a:rPr sz="1600" b="0">
                <a:solidFill>
                  <a:srgbClr val="2F3B49"/>
                </a:solidFill>
                <a:latin typeface="Montserrat"/>
              </a:rPr>
              <a:t>→ MovieLens-1M &amp; Amazon-Book: preference-aware Monte Carlo Shapley as an in-training signal.</a:t>
            </a:r>
          </a:p>
          <a:p>
            <a:pPr lvl="1">
              <a:lnSpc>
                <a:spcPct val="105000"/>
              </a:lnSpc>
              <a:spcAft>
                <a:spcPts val="600"/>
              </a:spcAft>
            </a:pPr>
            <a:r>
              <a:rPr sz="1600">
                <a:solidFill>
                  <a:srgbClr val="0E7C7B"/>
                </a:solidFill>
                <a:latin typeface="Montserrat"/>
              </a:rPr>
              <a:t>–  </a:t>
            </a:r>
            <a:r>
              <a:rPr sz="1600" b="1">
                <a:solidFill>
                  <a:srgbClr val="2F3B49"/>
                </a:solidFill>
                <a:latin typeface="Montserrat"/>
              </a:rPr>
              <a:t>Thesis claim: cooperative game theory functions as a shared attribution perspective for explanation, optimisation and intervention.</a:t>
            </a:r>
          </a:p>
        </p:txBody>
      </p:sp>
      <p:pic>
        <p:nvPicPr>
          <p:cNvPr id="56" name="Picture 55" descr="image.png"/>
          <p:cNvPicPr>
            <a:picLocks noChangeAspect="1"/>
          </p:cNvPicPr>
          <p:nvPr/>
        </p:nvPicPr>
        <p:blipFill>
          <a:blip r:embed="rId10"/>
          <a:stretch>
            <a:fillRect/>
          </a:stretch>
        </p:blipFill>
        <p:spPr>
          <a:xfrm>
            <a:off x="11431828" y="6400800"/>
            <a:ext cx="384048" cy="384048"/>
          </a:xfrm>
          <a:prstGeom prst="rect">
            <a:avLst/>
          </a:prstGeom>
        </p:spPr>
      </p:pic>
      <p:pic>
        <p:nvPicPr>
          <p:cNvPr id="57" name="Picture 56" descr="image.png"/>
          <p:cNvPicPr>
            <a:picLocks noChangeAspect="1"/>
          </p:cNvPicPr>
          <p:nvPr/>
        </p:nvPicPr>
        <p:blipFill>
          <a:blip r:embed="rId5"/>
          <a:stretch>
            <a:fillRect/>
          </a:stretch>
        </p:blipFill>
        <p:spPr>
          <a:xfrm>
            <a:off x="11709806" y="6400800"/>
            <a:ext cx="384048" cy="384048"/>
          </a:xfrm>
          <a:prstGeom prst="rect">
            <a:avLst/>
          </a:prstGeom>
        </p:spPr>
      </p:pic>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Our Thesis</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30" name="Rectangle 29">
            <a:extLst>
              <a:ext uri="{FF2B5EF4-FFF2-40B4-BE49-F238E27FC236}">
                <a16:creationId xmlns:a16="http://schemas.microsoft.com/office/drawing/2014/main" id="{A2CE8C4E-E822-446F-B95C-18DBA902C6F0}"/>
              </a:ext>
            </a:extLst>
          </p:cNvPr>
          <p:cNvSpPr/>
          <p:nvPr/>
        </p:nvSpPr>
        <p:spPr>
          <a:xfrm>
            <a:off x="187760" y="688960"/>
            <a:ext cx="3549662" cy="391619"/>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Paradigms</a:t>
            </a:r>
          </a:p>
        </p:txBody>
      </p:sp>
      <p:sp>
        <p:nvSpPr>
          <p:cNvPr id="31" name="Rectangle 30">
            <a:extLst>
              <a:ext uri="{FF2B5EF4-FFF2-40B4-BE49-F238E27FC236}">
                <a16:creationId xmlns:a16="http://schemas.microsoft.com/office/drawing/2014/main" id="{9309D474-8F76-4EAC-998E-4A0D01DA33A3}"/>
              </a:ext>
            </a:extLst>
          </p:cNvPr>
          <p:cNvSpPr/>
          <p:nvPr/>
        </p:nvSpPr>
        <p:spPr>
          <a:xfrm>
            <a:off x="4434457" y="692327"/>
            <a:ext cx="3549662"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Problematic</a:t>
            </a:r>
          </a:p>
        </p:txBody>
      </p:sp>
      <p:sp>
        <p:nvSpPr>
          <p:cNvPr id="34" name="Rectangle 33">
            <a:extLst>
              <a:ext uri="{FF2B5EF4-FFF2-40B4-BE49-F238E27FC236}">
                <a16:creationId xmlns:a16="http://schemas.microsoft.com/office/drawing/2014/main" id="{B9661C1F-3072-4037-80D3-89469FB49903}"/>
              </a:ext>
            </a:extLst>
          </p:cNvPr>
          <p:cNvSpPr/>
          <p:nvPr/>
        </p:nvSpPr>
        <p:spPr>
          <a:xfrm>
            <a:off x="8546053" y="692327"/>
            <a:ext cx="3549663" cy="384884"/>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Contributions</a:t>
            </a:r>
          </a:p>
        </p:txBody>
      </p:sp>
      <p:sp>
        <p:nvSpPr>
          <p:cNvPr id="55" name="TextBox 54"/>
          <p:cNvSpPr txBox="1"/>
          <p:nvPr/>
        </p:nvSpPr>
        <p:spPr>
          <a:xfrm>
            <a:off x="365760" y="1737360"/>
            <a:ext cx="576072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Thesis: cooperative game theory (Shapley) is one shared, explainable attribution perspective.</a:t>
            </a:r>
          </a:p>
          <a:p>
            <a:pPr>
              <a:lnSpc>
                <a:spcPct val="105000"/>
              </a:lnSpc>
              <a:spcAft>
                <a:spcPts val="900"/>
              </a:spcAft>
            </a:pPr>
            <a:r>
              <a:rPr sz="1700">
                <a:solidFill>
                  <a:srgbClr val="0E7C7B"/>
                </a:solidFill>
                <a:latin typeface="Wingdings"/>
              </a:rPr>
              <a:t>§  </a:t>
            </a:r>
            <a:r>
              <a:rPr sz="1700" b="0">
                <a:solidFill>
                  <a:srgbClr val="2F3B49"/>
                </a:solidFill>
                <a:latin typeface="Montserrat"/>
              </a:rPr>
              <a:t>The same logic spans clustering and recommendation:</a:t>
            </a:r>
          </a:p>
          <a:p>
            <a:pPr lvl="1">
              <a:lnSpc>
                <a:spcPct val="105000"/>
              </a:lnSpc>
              <a:spcAft>
                <a:spcPts val="600"/>
              </a:spcAft>
            </a:pPr>
            <a:r>
              <a:rPr sz="1600">
                <a:solidFill>
                  <a:srgbClr val="0E7C7B"/>
                </a:solidFill>
                <a:latin typeface="Montserrat"/>
              </a:rPr>
              <a:t>–  </a:t>
            </a:r>
            <a:r>
              <a:rPr sz="1600" b="0">
                <a:solidFill>
                  <a:srgbClr val="2F3B49"/>
                </a:solidFill>
                <a:latin typeface="Montserrat"/>
              </a:rPr>
              <a:t>C1 – explains black-box clustering faithfully (wine).</a:t>
            </a:r>
          </a:p>
          <a:p>
            <a:pPr lvl="1">
              <a:lnSpc>
                <a:spcPct val="105000"/>
              </a:lnSpc>
              <a:spcAft>
                <a:spcPts val="600"/>
              </a:spcAft>
            </a:pPr>
            <a:r>
              <a:rPr sz="1600">
                <a:solidFill>
                  <a:srgbClr val="0E7C7B"/>
                </a:solidFill>
                <a:latin typeface="Montserrat"/>
              </a:rPr>
              <a:t>–  </a:t>
            </a:r>
            <a:r>
              <a:rPr sz="1600" b="0">
                <a:solidFill>
                  <a:srgbClr val="2F3B49"/>
                </a:solidFill>
                <a:latin typeface="Montserrat"/>
              </a:rPr>
              <a:t>C2 – keeps explanation coherent under scale and hierarchy (Beijing).</a:t>
            </a:r>
          </a:p>
          <a:p>
            <a:pPr lvl="1">
              <a:lnSpc>
                <a:spcPct val="105000"/>
              </a:lnSpc>
              <a:spcAft>
                <a:spcPts val="600"/>
              </a:spcAft>
            </a:pPr>
            <a:r>
              <a:rPr sz="1600">
                <a:solidFill>
                  <a:srgbClr val="0E7C7B"/>
                </a:solidFill>
                <a:latin typeface="Montserrat"/>
              </a:rPr>
              <a:t>–  </a:t>
            </a:r>
            <a:r>
              <a:rPr sz="1600" b="0">
                <a:solidFill>
                  <a:srgbClr val="2F3B49"/>
                </a:solidFill>
                <a:latin typeface="Montserrat"/>
              </a:rPr>
              <a:t>C3 – DyHuCoG turns attribution into an in-training signal.</a:t>
            </a:r>
          </a:p>
          <a:p>
            <a:pPr>
              <a:lnSpc>
                <a:spcPct val="105000"/>
              </a:lnSpc>
              <a:spcAft>
                <a:spcPts val="900"/>
              </a:spcAft>
            </a:pPr>
            <a:r>
              <a:rPr sz="1700">
                <a:solidFill>
                  <a:srgbClr val="0E7C7B"/>
                </a:solidFill>
                <a:latin typeface="Wingdings"/>
              </a:rPr>
              <a:t>§  </a:t>
            </a:r>
            <a:r>
              <a:rPr sz="1700" b="1">
                <a:solidFill>
                  <a:srgbClr val="2F3B49"/>
                </a:solidFill>
                <a:latin typeface="Montserrat Medium"/>
              </a:rPr>
              <a:t>From post-hoc description to in-training guidance.</a:t>
            </a:r>
          </a:p>
        </p:txBody>
      </p:sp>
      <p:pic>
        <p:nvPicPr>
          <p:cNvPr id="56" name="Picture 55" descr="thesis_map.png"/>
          <p:cNvPicPr>
            <a:picLocks noChangeAspect="1"/>
          </p:cNvPicPr>
          <p:nvPr/>
        </p:nvPicPr>
        <p:blipFill>
          <a:blip r:embed="rId12"/>
          <a:stretch>
            <a:fillRect/>
          </a:stretch>
        </p:blipFill>
        <p:spPr>
          <a:xfrm>
            <a:off x="6309360" y="2011680"/>
            <a:ext cx="5212080" cy="2937717"/>
          </a:xfrm>
          <a:prstGeom prst="rect">
            <a:avLst/>
          </a:prstGeom>
        </p:spPr>
      </p:pic>
      <p:pic>
        <p:nvPicPr>
          <p:cNvPr id="57" name="Picture 56" descr="image.png"/>
          <p:cNvPicPr>
            <a:picLocks noChangeAspect="1"/>
          </p:cNvPicPr>
          <p:nvPr/>
        </p:nvPicPr>
        <p:blipFill>
          <a:blip r:embed="rId10"/>
          <a:stretch>
            <a:fillRect/>
          </a:stretch>
        </p:blipFill>
        <p:spPr>
          <a:xfrm>
            <a:off x="11431828" y="6400800"/>
            <a:ext cx="384048" cy="384048"/>
          </a:xfrm>
          <a:prstGeom prst="rect">
            <a:avLst/>
          </a:prstGeom>
        </p:spPr>
      </p:pic>
      <p:pic>
        <p:nvPicPr>
          <p:cNvPr id="58" name="Picture 57"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9ED3DE66-EA75-4A44-95A7-C4F7001685B8}"/>
              </a:ext>
            </a:extLst>
          </p:cNvPr>
          <p:cNvSpPr/>
          <p:nvPr/>
        </p:nvSpPr>
        <p:spPr>
          <a:xfrm>
            <a:off x="892728" y="1929560"/>
            <a:ext cx="10406543" cy="299888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3600" dirty="0">
                <a:solidFill>
                  <a:schemeClr val="bg1"/>
                </a:solidFill>
                <a:latin typeface="Montserrat Medium" pitchFamily="50" charset="0"/>
              </a:rPr>
              <a:t>Experimental Protocol</a:t>
            </a:r>
          </a:p>
        </p:txBody>
      </p:sp>
      <p:pic>
        <p:nvPicPr>
          <p:cNvPr id="7" name="Picture 6">
            <a:extLst>
              <a:ext uri="{FF2B5EF4-FFF2-40B4-BE49-F238E27FC236}">
                <a16:creationId xmlns:a16="http://schemas.microsoft.com/office/drawing/2014/main" id="{21A05AE4-2B9A-4D6C-8A67-0FDF35D10E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75523" y="2014740"/>
            <a:ext cx="786211" cy="786211"/>
          </a:xfrm>
          <a:prstGeom prst="rect">
            <a:avLst/>
          </a:prstGeom>
        </p:spPr>
      </p:pic>
      <p:pic>
        <p:nvPicPr>
          <p:cNvPr id="29" name="Picture 28" descr="image.png"/>
          <p:cNvPicPr>
            <a:picLocks noChangeAspect="1"/>
          </p:cNvPicPr>
          <p:nvPr/>
        </p:nvPicPr>
        <p:blipFill>
          <a:blip r:embed="rId4"/>
          <a:stretch>
            <a:fillRect/>
          </a:stretch>
        </p:blipFill>
        <p:spPr>
          <a:xfrm>
            <a:off x="11431828" y="6400800"/>
            <a:ext cx="384048" cy="384048"/>
          </a:xfrm>
          <a:prstGeom prst="rect">
            <a:avLst/>
          </a:prstGeom>
        </p:spPr>
      </p:pic>
      <p:pic>
        <p:nvPicPr>
          <p:cNvPr id="30" name="Picture 29" descr="image.png"/>
          <p:cNvPicPr>
            <a:picLocks noChangeAspect="1"/>
          </p:cNvPicPr>
          <p:nvPr/>
        </p:nvPicPr>
        <p:blipFill>
          <a:blip r:embed="rId7"/>
          <a:stretch>
            <a:fillRect/>
          </a:stretch>
        </p:blipFill>
        <p:spPr>
          <a:xfrm>
            <a:off x="11709806" y="6400800"/>
            <a:ext cx="384048" cy="384048"/>
          </a:xfrm>
          <a:prstGeom prst="rect">
            <a:avLst/>
          </a:prstGeom>
        </p:spPr>
      </p:pic>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Datasets Used Throughout the Thesis</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30" name="Rectangle 29">
            <a:extLst>
              <a:ext uri="{FF2B5EF4-FFF2-40B4-BE49-F238E27FC236}">
                <a16:creationId xmlns:a16="http://schemas.microsoft.com/office/drawing/2014/main" id="{A2CE8C4E-E822-446F-B95C-18DBA902C6F0}"/>
              </a:ext>
            </a:extLst>
          </p:cNvPr>
          <p:cNvSpPr/>
          <p:nvPr/>
        </p:nvSpPr>
        <p:spPr>
          <a:xfrm>
            <a:off x="187760" y="688960"/>
            <a:ext cx="3549662" cy="391619"/>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Datasets</a:t>
            </a:r>
          </a:p>
        </p:txBody>
      </p:sp>
      <p:sp>
        <p:nvSpPr>
          <p:cNvPr id="31" name="Rectangle 30">
            <a:extLst>
              <a:ext uri="{FF2B5EF4-FFF2-40B4-BE49-F238E27FC236}">
                <a16:creationId xmlns:a16="http://schemas.microsoft.com/office/drawing/2014/main" id="{9309D474-8F76-4EAC-998E-4A0D01DA33A3}"/>
              </a:ext>
            </a:extLst>
          </p:cNvPr>
          <p:cNvSpPr/>
          <p:nvPr/>
        </p:nvSpPr>
        <p:spPr>
          <a:xfrm>
            <a:off x="4434457" y="692327"/>
            <a:ext cx="3549662"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Metrics</a:t>
            </a:r>
          </a:p>
        </p:txBody>
      </p:sp>
      <p:sp>
        <p:nvSpPr>
          <p:cNvPr id="34" name="Rectangle 33">
            <a:extLst>
              <a:ext uri="{FF2B5EF4-FFF2-40B4-BE49-F238E27FC236}">
                <a16:creationId xmlns:a16="http://schemas.microsoft.com/office/drawing/2014/main" id="{B9661C1F-3072-4037-80D3-89469FB49903}"/>
              </a:ext>
            </a:extLst>
          </p:cNvPr>
          <p:cNvSpPr/>
          <p:nvPr/>
        </p:nvSpPr>
        <p:spPr>
          <a:xfrm>
            <a:off x="8546053" y="692327"/>
            <a:ext cx="3549663"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Hardware</a:t>
            </a:r>
          </a:p>
        </p:txBody>
      </p:sp>
      <p:graphicFrame>
        <p:nvGraphicFramePr>
          <p:cNvPr id="55" name="Table 54"/>
          <p:cNvGraphicFramePr>
            <a:graphicFrameLocks noGrp="1"/>
          </p:cNvGraphicFramePr>
          <p:nvPr/>
        </p:nvGraphicFramePr>
        <p:xfrm>
          <a:off x="365760" y="1737360"/>
          <a:ext cx="11521439" cy="3566160"/>
        </p:xfrm>
        <a:graphic>
          <a:graphicData uri="http://schemas.openxmlformats.org/drawingml/2006/table">
            <a:tbl>
              <a:tblPr>
                <a:tableStyleId>{5C22544A-7EE6-4342-B048-85BDC9FD1C3A}</a:tableStyleId>
              </a:tblPr>
              <a:tblGrid>
                <a:gridCol w="3600450"/>
                <a:gridCol w="2340292"/>
                <a:gridCol w="2520315"/>
                <a:gridCol w="3060382"/>
              </a:tblGrid>
              <a:tr h="713232">
                <a:tc>
                  <a:txBody>
                    <a:bodyPr/>
                    <a:lstStyle/>
                    <a:p>
                      <a:pPr algn="ctr"/>
                      <a:r>
                        <a:rPr sz="1400" b="1">
                          <a:solidFill>
                            <a:srgbClr val="FFFFFF"/>
                          </a:solidFill>
                          <a:latin typeface="Montserrat Medium"/>
                        </a:rPr>
                        <a:t>Dataset</a:t>
                      </a:r>
                    </a:p>
                  </a:txBody>
                  <a:tcPr anchor="ctr" marL="54864" marR="54864" marT="18288" marB="18288">
                    <a:solidFill>
                      <a:srgbClr val="0E7C7B"/>
                    </a:solidFill>
                  </a:tcPr>
                </a:tc>
                <a:tc>
                  <a:txBody>
                    <a:bodyPr/>
                    <a:lstStyle/>
                    <a:p>
                      <a:pPr algn="ctr"/>
                      <a:r>
                        <a:rPr sz="1400" b="1">
                          <a:solidFill>
                            <a:srgbClr val="FFFFFF"/>
                          </a:solidFill>
                          <a:latin typeface="Montserrat Medium"/>
                        </a:rPr>
                        <a:t>Scale</a:t>
                      </a:r>
                    </a:p>
                  </a:txBody>
                  <a:tcPr anchor="ctr" marL="54864" marR="54864" marT="18288" marB="18288">
                    <a:solidFill>
                      <a:srgbClr val="0E7C7B"/>
                    </a:solidFill>
                  </a:tcPr>
                </a:tc>
                <a:tc>
                  <a:txBody>
                    <a:bodyPr/>
                    <a:lstStyle/>
                    <a:p>
                      <a:pPr algn="ctr"/>
                      <a:r>
                        <a:rPr sz="1400" b="1">
                          <a:solidFill>
                            <a:srgbClr val="FFFFFF"/>
                          </a:solidFill>
                          <a:latin typeface="Montserrat Medium"/>
                        </a:rPr>
                        <a:t>Type</a:t>
                      </a:r>
                    </a:p>
                  </a:txBody>
                  <a:tcPr anchor="ctr" marL="54864" marR="54864" marT="18288" marB="18288">
                    <a:solidFill>
                      <a:srgbClr val="0E7C7B"/>
                    </a:solidFill>
                  </a:tcPr>
                </a:tc>
                <a:tc>
                  <a:txBody>
                    <a:bodyPr/>
                    <a:lstStyle/>
                    <a:p>
                      <a:pPr algn="ctr"/>
                      <a:r>
                        <a:rPr sz="1400" b="1">
                          <a:solidFill>
                            <a:srgbClr val="FFFFFF"/>
                          </a:solidFill>
                          <a:latin typeface="Montserrat Medium"/>
                        </a:rPr>
                        <a:t>Role</a:t>
                      </a:r>
                    </a:p>
                  </a:txBody>
                  <a:tcPr anchor="ctr" marL="54864" marR="54864" marT="18288" marB="18288">
                    <a:solidFill>
                      <a:srgbClr val="0E7C7B"/>
                    </a:solidFill>
                  </a:tcPr>
                </a:tc>
              </a:tr>
              <a:tr h="713232">
                <a:tc>
                  <a:txBody>
                    <a:bodyPr/>
                    <a:lstStyle/>
                    <a:p>
                      <a:pPr algn="l"/>
                      <a:r>
                        <a:rPr sz="1400" b="0">
                          <a:solidFill>
                            <a:srgbClr val="2F3B49"/>
                          </a:solidFill>
                          <a:latin typeface="Montserrat"/>
                        </a:rPr>
                        <a:t>Wine Quality (vinho verde)</a:t>
                      </a:r>
                    </a:p>
                  </a:txBody>
                  <a:tcPr anchor="ctr" marL="54864" marR="54864" marT="18288" marB="18288">
                    <a:solidFill>
                      <a:srgbClr val="FFFFFF"/>
                    </a:solidFill>
                  </a:tcPr>
                </a:tc>
                <a:tc>
                  <a:txBody>
                    <a:bodyPr/>
                    <a:lstStyle/>
                    <a:p>
                      <a:pPr algn="ctr"/>
                      <a:r>
                        <a:rPr sz="1400" b="0">
                          <a:solidFill>
                            <a:srgbClr val="2F3B49"/>
                          </a:solidFill>
                          <a:latin typeface="Montserrat"/>
                        </a:rPr>
                        <a:t>4,898 × 11</a:t>
                      </a:r>
                    </a:p>
                  </a:txBody>
                  <a:tcPr anchor="ctr" marL="54864" marR="54864" marT="18288" marB="18288">
                    <a:solidFill>
                      <a:srgbClr val="FFFFFF"/>
                    </a:solidFill>
                  </a:tcPr>
                </a:tc>
                <a:tc>
                  <a:txBody>
                    <a:bodyPr/>
                    <a:lstStyle/>
                    <a:p>
                      <a:pPr algn="ctr"/>
                      <a:r>
                        <a:rPr sz="1400" b="0">
                          <a:solidFill>
                            <a:srgbClr val="2F3B49"/>
                          </a:solidFill>
                          <a:latin typeface="Montserrat"/>
                        </a:rPr>
                        <a:t>Tabular, numeric</a:t>
                      </a:r>
                    </a:p>
                  </a:txBody>
                  <a:tcPr anchor="ctr" marL="54864" marR="54864" marT="18288" marB="18288">
                    <a:solidFill>
                      <a:srgbClr val="FFFFFF"/>
                    </a:solidFill>
                  </a:tcPr>
                </a:tc>
                <a:tc>
                  <a:txBody>
                    <a:bodyPr/>
                    <a:lstStyle/>
                    <a:p>
                      <a:pPr algn="ctr"/>
                      <a:r>
                        <a:rPr sz="1400" b="0">
                          <a:solidFill>
                            <a:srgbClr val="2F3B49"/>
                          </a:solidFill>
                          <a:latin typeface="Montserrat"/>
                        </a:rPr>
                        <a:t>C1 – single-level clustering</a:t>
                      </a:r>
                    </a:p>
                  </a:txBody>
                  <a:tcPr anchor="ctr" marL="54864" marR="54864" marT="18288" marB="18288">
                    <a:solidFill>
                      <a:srgbClr val="FFFFFF"/>
                    </a:solidFill>
                  </a:tcPr>
                </a:tc>
              </a:tr>
              <a:tr h="713232">
                <a:tc>
                  <a:txBody>
                    <a:bodyPr/>
                    <a:lstStyle/>
                    <a:p>
                      <a:pPr algn="l"/>
                      <a:r>
                        <a:rPr sz="1400" b="0">
                          <a:solidFill>
                            <a:srgbClr val="2F3B49"/>
                          </a:solidFill>
                          <a:latin typeface="Montserrat"/>
                        </a:rPr>
                        <a:t>Beijing Multi-Site Air Quality</a:t>
                      </a:r>
                    </a:p>
                  </a:txBody>
                  <a:tcPr anchor="ctr" marL="54864" marR="54864" marT="18288" marB="18288">
                    <a:solidFill>
                      <a:srgbClr val="F0F4FB"/>
                    </a:solidFill>
                  </a:tcPr>
                </a:tc>
                <a:tc>
                  <a:txBody>
                    <a:bodyPr/>
                    <a:lstStyle/>
                    <a:p>
                      <a:pPr algn="ctr"/>
                      <a:r>
                        <a:rPr sz="1400" b="0">
                          <a:solidFill>
                            <a:srgbClr val="2F3B49"/>
                          </a:solidFill>
                          <a:latin typeface="Montserrat"/>
                        </a:rPr>
                        <a:t>383,585 × 11</a:t>
                      </a:r>
                    </a:p>
                  </a:txBody>
                  <a:tcPr anchor="ctr" marL="54864" marR="54864" marT="18288" marB="18288">
                    <a:solidFill>
                      <a:srgbClr val="F0F4FB"/>
                    </a:solidFill>
                  </a:tcPr>
                </a:tc>
                <a:tc>
                  <a:txBody>
                    <a:bodyPr/>
                    <a:lstStyle/>
                    <a:p>
                      <a:pPr algn="ctr"/>
                      <a:r>
                        <a:rPr sz="1400" b="0">
                          <a:solidFill>
                            <a:srgbClr val="2F3B49"/>
                          </a:solidFill>
                          <a:latin typeface="Montserrat"/>
                        </a:rPr>
                        <a:t>Tabular, pollutant + meteorology</a:t>
                      </a:r>
                    </a:p>
                  </a:txBody>
                  <a:tcPr anchor="ctr" marL="54864" marR="54864" marT="18288" marB="18288">
                    <a:solidFill>
                      <a:srgbClr val="F0F4FB"/>
                    </a:solidFill>
                  </a:tcPr>
                </a:tc>
                <a:tc>
                  <a:txBody>
                    <a:bodyPr/>
                    <a:lstStyle/>
                    <a:p>
                      <a:pPr algn="ctr"/>
                      <a:r>
                        <a:rPr sz="1400" b="0">
                          <a:solidFill>
                            <a:srgbClr val="2F3B49"/>
                          </a:solidFill>
                          <a:latin typeface="Montserrat"/>
                        </a:rPr>
                        <a:t>C2 – multi-level clustering</a:t>
                      </a:r>
                    </a:p>
                  </a:txBody>
                  <a:tcPr anchor="ctr" marL="54864" marR="54864" marT="18288" marB="18288">
                    <a:solidFill>
                      <a:srgbClr val="F0F4FB"/>
                    </a:solidFill>
                  </a:tcPr>
                </a:tc>
              </a:tr>
              <a:tr h="713232">
                <a:tc>
                  <a:txBody>
                    <a:bodyPr/>
                    <a:lstStyle/>
                    <a:p>
                      <a:pPr algn="l"/>
                      <a:r>
                        <a:rPr sz="1400" b="0">
                          <a:solidFill>
                            <a:srgbClr val="2F3B49"/>
                          </a:solidFill>
                          <a:latin typeface="Montserrat"/>
                        </a:rPr>
                        <a:t>MovieLens-1M</a:t>
                      </a:r>
                    </a:p>
                  </a:txBody>
                  <a:tcPr anchor="ctr" marL="54864" marR="54864" marT="18288" marB="18288">
                    <a:solidFill>
                      <a:srgbClr val="FFFFFF"/>
                    </a:solidFill>
                  </a:tcPr>
                </a:tc>
                <a:tc>
                  <a:txBody>
                    <a:bodyPr/>
                    <a:lstStyle/>
                    <a:p>
                      <a:pPr algn="ctr"/>
                      <a:r>
                        <a:rPr sz="1400" b="0">
                          <a:solidFill>
                            <a:srgbClr val="2F3B49"/>
                          </a:solidFill>
                          <a:latin typeface="Montserrat"/>
                        </a:rPr>
                        <a:t>6,040 u / 3,706 i / 1.0M int</a:t>
                      </a:r>
                    </a:p>
                  </a:txBody>
                  <a:tcPr anchor="ctr" marL="54864" marR="54864" marT="18288" marB="18288">
                    <a:solidFill>
                      <a:srgbClr val="FFFFFF"/>
                    </a:solidFill>
                  </a:tcPr>
                </a:tc>
                <a:tc>
                  <a:txBody>
                    <a:bodyPr/>
                    <a:lstStyle/>
                    <a:p>
                      <a:pPr algn="ctr"/>
                      <a:r>
                        <a:rPr sz="1400" b="0">
                          <a:solidFill>
                            <a:srgbClr val="2F3B49"/>
                          </a:solidFill>
                          <a:latin typeface="Montserrat"/>
                        </a:rPr>
                        <a:t>Implicit feedback (0.0447)</a:t>
                      </a:r>
                    </a:p>
                  </a:txBody>
                  <a:tcPr anchor="ctr" marL="54864" marR="54864" marT="18288" marB="18288">
                    <a:solidFill>
                      <a:srgbClr val="FFFFFF"/>
                    </a:solidFill>
                  </a:tcPr>
                </a:tc>
                <a:tc>
                  <a:txBody>
                    <a:bodyPr/>
                    <a:lstStyle/>
                    <a:p>
                      <a:pPr algn="ctr"/>
                      <a:r>
                        <a:rPr sz="1400" b="0">
                          <a:solidFill>
                            <a:srgbClr val="2F3B49"/>
                          </a:solidFill>
                          <a:latin typeface="Montserrat"/>
                        </a:rPr>
                        <a:t>C3 – DyHuCoG</a:t>
                      </a:r>
                    </a:p>
                  </a:txBody>
                  <a:tcPr anchor="ctr" marL="54864" marR="54864" marT="18288" marB="18288">
                    <a:solidFill>
                      <a:srgbClr val="FFFFFF"/>
                    </a:solidFill>
                  </a:tcPr>
                </a:tc>
              </a:tr>
              <a:tr h="713232">
                <a:tc>
                  <a:txBody>
                    <a:bodyPr/>
                    <a:lstStyle/>
                    <a:p>
                      <a:pPr algn="l"/>
                      <a:r>
                        <a:rPr sz="1400" b="0">
                          <a:solidFill>
                            <a:srgbClr val="2F3B49"/>
                          </a:solidFill>
                          <a:latin typeface="Montserrat"/>
                        </a:rPr>
                        <a:t>Amazon-Book</a:t>
                      </a:r>
                    </a:p>
                  </a:txBody>
                  <a:tcPr anchor="ctr" marL="54864" marR="54864" marT="18288" marB="18288">
                    <a:solidFill>
                      <a:srgbClr val="F0F4FB"/>
                    </a:solidFill>
                  </a:tcPr>
                </a:tc>
                <a:tc>
                  <a:txBody>
                    <a:bodyPr/>
                    <a:lstStyle/>
                    <a:p>
                      <a:pPr algn="ctr"/>
                      <a:r>
                        <a:rPr sz="1400" b="0">
                          <a:solidFill>
                            <a:srgbClr val="2F3B49"/>
                          </a:solidFill>
                          <a:latin typeface="Montserrat"/>
                        </a:rPr>
                        <a:t>52,643 u / 91,599 i / 3.0M int</a:t>
                      </a:r>
                    </a:p>
                  </a:txBody>
                  <a:tcPr anchor="ctr" marL="54864" marR="54864" marT="18288" marB="18288">
                    <a:solidFill>
                      <a:srgbClr val="F0F4FB"/>
                    </a:solidFill>
                  </a:tcPr>
                </a:tc>
                <a:tc>
                  <a:txBody>
                    <a:bodyPr/>
                    <a:lstStyle/>
                    <a:p>
                      <a:pPr algn="ctr"/>
                      <a:r>
                        <a:rPr sz="1400" b="0">
                          <a:solidFill>
                            <a:srgbClr val="2F3B49"/>
                          </a:solidFill>
                          <a:latin typeface="Montserrat"/>
                        </a:rPr>
                        <a:t>Implicit feedback (0.0006)</a:t>
                      </a:r>
                    </a:p>
                  </a:txBody>
                  <a:tcPr anchor="ctr" marL="54864" marR="54864" marT="18288" marB="18288">
                    <a:solidFill>
                      <a:srgbClr val="F0F4FB"/>
                    </a:solidFill>
                  </a:tcPr>
                </a:tc>
                <a:tc>
                  <a:txBody>
                    <a:bodyPr/>
                    <a:lstStyle/>
                    <a:p>
                      <a:pPr algn="ctr"/>
                      <a:r>
                        <a:rPr sz="1400" b="0">
                          <a:solidFill>
                            <a:srgbClr val="2F3B49"/>
                          </a:solidFill>
                          <a:latin typeface="Montserrat"/>
                        </a:rPr>
                        <a:t>C3 – DyHuCoG</a:t>
                      </a:r>
                    </a:p>
                  </a:txBody>
                  <a:tcPr anchor="ctr" marL="54864" marR="54864" marT="18288" marB="18288">
                    <a:solidFill>
                      <a:srgbClr val="F0F4FB"/>
                    </a:solidFill>
                  </a:tcPr>
                </a:tc>
              </a:tr>
            </a:tbl>
          </a:graphicData>
        </a:graphic>
      </p:graphicFrame>
      <p:pic>
        <p:nvPicPr>
          <p:cNvPr id="56" name="Picture 55" descr="image.png"/>
          <p:cNvPicPr>
            <a:picLocks noChangeAspect="1"/>
          </p:cNvPicPr>
          <p:nvPr/>
        </p:nvPicPr>
        <p:blipFill>
          <a:blip r:embed="rId10"/>
          <a:stretch>
            <a:fillRect/>
          </a:stretch>
        </p:blipFill>
        <p:spPr>
          <a:xfrm>
            <a:off x="11431828" y="6400800"/>
            <a:ext cx="384048" cy="384048"/>
          </a:xfrm>
          <a:prstGeom prst="rect">
            <a:avLst/>
          </a:prstGeom>
        </p:spPr>
      </p:pic>
      <p:pic>
        <p:nvPicPr>
          <p:cNvPr id="57" name="Picture 56" descr="image.png"/>
          <p:cNvPicPr>
            <a:picLocks noChangeAspect="1"/>
          </p:cNvPicPr>
          <p:nvPr/>
        </p:nvPicPr>
        <p:blipFill>
          <a:blip r:embed="rId13"/>
          <a:stretch>
            <a:fillRect/>
          </a:stretch>
        </p:blipFill>
        <p:spPr>
          <a:xfrm>
            <a:off x="11709806" y="6400800"/>
            <a:ext cx="384048" cy="384048"/>
          </a:xfrm>
          <a:prstGeom prst="rect">
            <a:avLst/>
          </a:prstGeom>
        </p:spPr>
      </p:pic>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Dataset Characteristics &amp; Why Each Was Chosen</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30" name="Rectangle 29">
            <a:extLst>
              <a:ext uri="{FF2B5EF4-FFF2-40B4-BE49-F238E27FC236}">
                <a16:creationId xmlns:a16="http://schemas.microsoft.com/office/drawing/2014/main" id="{A2CE8C4E-E822-446F-B95C-18DBA902C6F0}"/>
              </a:ext>
            </a:extLst>
          </p:cNvPr>
          <p:cNvSpPr/>
          <p:nvPr/>
        </p:nvSpPr>
        <p:spPr>
          <a:xfrm>
            <a:off x="187760" y="688960"/>
            <a:ext cx="3549662" cy="391619"/>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Datasets</a:t>
            </a:r>
          </a:p>
        </p:txBody>
      </p:sp>
      <p:sp>
        <p:nvSpPr>
          <p:cNvPr id="31" name="Rectangle 30">
            <a:extLst>
              <a:ext uri="{FF2B5EF4-FFF2-40B4-BE49-F238E27FC236}">
                <a16:creationId xmlns:a16="http://schemas.microsoft.com/office/drawing/2014/main" id="{9309D474-8F76-4EAC-998E-4A0D01DA33A3}"/>
              </a:ext>
            </a:extLst>
          </p:cNvPr>
          <p:cNvSpPr/>
          <p:nvPr/>
        </p:nvSpPr>
        <p:spPr>
          <a:xfrm>
            <a:off x="4434457" y="692327"/>
            <a:ext cx="3549662"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Metrics</a:t>
            </a:r>
          </a:p>
        </p:txBody>
      </p:sp>
      <p:sp>
        <p:nvSpPr>
          <p:cNvPr id="34" name="Rectangle 33">
            <a:extLst>
              <a:ext uri="{FF2B5EF4-FFF2-40B4-BE49-F238E27FC236}">
                <a16:creationId xmlns:a16="http://schemas.microsoft.com/office/drawing/2014/main" id="{B9661C1F-3072-4037-80D3-89469FB49903}"/>
              </a:ext>
            </a:extLst>
          </p:cNvPr>
          <p:cNvSpPr/>
          <p:nvPr/>
        </p:nvSpPr>
        <p:spPr>
          <a:xfrm>
            <a:off x="8546053" y="692327"/>
            <a:ext cx="3549663"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Hardware</a:t>
            </a:r>
          </a:p>
        </p:txBody>
      </p:sp>
      <p:sp>
        <p:nvSpPr>
          <p:cNvPr id="55" name="TextBox 54"/>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0">
                <a:solidFill>
                  <a:srgbClr val="2F3B49"/>
                </a:solidFill>
                <a:latin typeface="Montserrat"/>
              </a:rPr>
              <a:t>Wine Quality – 11 interpretable physicochemical features; small, dense, chemically correlated → tests attribution in a trusted semantic space.</a:t>
            </a:r>
          </a:p>
          <a:p>
            <a:pPr>
              <a:lnSpc>
                <a:spcPct val="105000"/>
              </a:lnSpc>
              <a:spcAft>
                <a:spcPts val="900"/>
              </a:spcAft>
            </a:pPr>
            <a:r>
              <a:rPr sz="1700">
                <a:solidFill>
                  <a:srgbClr val="0E7C7B"/>
                </a:solidFill>
                <a:latin typeface="Wingdings"/>
              </a:rPr>
              <a:t>§  </a:t>
            </a:r>
            <a:r>
              <a:rPr sz="1700" b="0">
                <a:solidFill>
                  <a:srgbClr val="2F3B49"/>
                </a:solidFill>
                <a:latin typeface="Montserrat"/>
              </a:rPr>
              <a:t>Beijing Air Quality – 11 pollutant + meteorological variables, 383,585 hourly records → tests scale, noise and temporal/meteorological structure.</a:t>
            </a:r>
          </a:p>
          <a:p>
            <a:pPr>
              <a:lnSpc>
                <a:spcPct val="105000"/>
              </a:lnSpc>
              <a:spcAft>
                <a:spcPts val="900"/>
              </a:spcAft>
            </a:pPr>
            <a:r>
              <a:rPr sz="1700">
                <a:solidFill>
                  <a:srgbClr val="0E7C7B"/>
                </a:solidFill>
                <a:latin typeface="Wingdings"/>
              </a:rPr>
              <a:t>§  </a:t>
            </a:r>
            <a:r>
              <a:rPr sz="1700" b="0">
                <a:solidFill>
                  <a:srgbClr val="2F3B49"/>
                </a:solidFill>
                <a:latin typeface="Montserrat"/>
              </a:rPr>
              <a:t>MovieLens-1M – ~1.0M interactions, density 0.0447 → benchmark-standard recommendation with established baselines.</a:t>
            </a:r>
          </a:p>
          <a:p>
            <a:pPr>
              <a:lnSpc>
                <a:spcPct val="105000"/>
              </a:lnSpc>
              <a:spcAft>
                <a:spcPts val="900"/>
              </a:spcAft>
            </a:pPr>
            <a:r>
              <a:rPr sz="1700">
                <a:solidFill>
                  <a:srgbClr val="0E7C7B"/>
                </a:solidFill>
                <a:latin typeface="Wingdings"/>
              </a:rPr>
              <a:t>§  </a:t>
            </a:r>
            <a:r>
              <a:rPr sz="1700" b="0">
                <a:solidFill>
                  <a:srgbClr val="2F3B49"/>
                </a:solidFill>
                <a:latin typeface="Montserrat"/>
              </a:rPr>
              <a:t>Amazon-Book – ~3.0M interactions, density 0.0006 → deliberately sparse to stress-test Shapley weighting when signal is weak.</a:t>
            </a:r>
          </a:p>
          <a:p>
            <a:pPr>
              <a:lnSpc>
                <a:spcPct val="105000"/>
              </a:lnSpc>
              <a:spcAft>
                <a:spcPts val="900"/>
              </a:spcAft>
            </a:pPr>
            <a:r>
              <a:rPr sz="1700">
                <a:solidFill>
                  <a:srgbClr val="0E7C7B"/>
                </a:solidFill>
                <a:latin typeface="Wingdings"/>
              </a:rPr>
              <a:t>§  </a:t>
            </a:r>
            <a:r>
              <a:rPr sz="1700" b="1">
                <a:solidFill>
                  <a:srgbClr val="2F3B49"/>
                </a:solidFill>
                <a:latin typeface="Montserrat Medium"/>
              </a:rPr>
              <a:t>The 0.0447 vs 0.0006 density contrast is intentional: the claim is that gains are largest where data are weakest.</a:t>
            </a:r>
          </a:p>
        </p:txBody>
      </p:sp>
      <p:pic>
        <p:nvPicPr>
          <p:cNvPr id="56" name="Picture 55" descr="image.png"/>
          <p:cNvPicPr>
            <a:picLocks noChangeAspect="1"/>
          </p:cNvPicPr>
          <p:nvPr/>
        </p:nvPicPr>
        <p:blipFill>
          <a:blip r:embed="rId10"/>
          <a:stretch>
            <a:fillRect/>
          </a:stretch>
        </p:blipFill>
        <p:spPr>
          <a:xfrm>
            <a:off x="11431828" y="6400800"/>
            <a:ext cx="384048" cy="384048"/>
          </a:xfrm>
          <a:prstGeom prst="rect">
            <a:avLst/>
          </a:prstGeom>
        </p:spPr>
      </p:pic>
      <p:pic>
        <p:nvPicPr>
          <p:cNvPr id="57" name="Picture 56" descr="image.png"/>
          <p:cNvPicPr>
            <a:picLocks noChangeAspect="1"/>
          </p:cNvPicPr>
          <p:nvPr/>
        </p:nvPicPr>
        <p:blipFill>
          <a:blip r:embed="rId13"/>
          <a:stretch>
            <a:fillRect/>
          </a:stretch>
        </p:blipFill>
        <p:spPr>
          <a:xfrm>
            <a:off x="11709806" y="6400800"/>
            <a:ext cx="384048" cy="384048"/>
          </a:xfrm>
          <a:prstGeom prst="rect">
            <a:avLst/>
          </a:prstGeom>
        </p:spPr>
      </p:pic>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Data Splitting &amp; Preprocessing</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30" name="Rectangle 29">
            <a:extLst>
              <a:ext uri="{FF2B5EF4-FFF2-40B4-BE49-F238E27FC236}">
                <a16:creationId xmlns:a16="http://schemas.microsoft.com/office/drawing/2014/main" id="{A2CE8C4E-E822-446F-B95C-18DBA902C6F0}"/>
              </a:ext>
            </a:extLst>
          </p:cNvPr>
          <p:cNvSpPr/>
          <p:nvPr/>
        </p:nvSpPr>
        <p:spPr>
          <a:xfrm>
            <a:off x="187760" y="688960"/>
            <a:ext cx="3549662" cy="391619"/>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Datasets</a:t>
            </a:r>
          </a:p>
        </p:txBody>
      </p:sp>
      <p:sp>
        <p:nvSpPr>
          <p:cNvPr id="31" name="Rectangle 30">
            <a:extLst>
              <a:ext uri="{FF2B5EF4-FFF2-40B4-BE49-F238E27FC236}">
                <a16:creationId xmlns:a16="http://schemas.microsoft.com/office/drawing/2014/main" id="{9309D474-8F76-4EAC-998E-4A0D01DA33A3}"/>
              </a:ext>
            </a:extLst>
          </p:cNvPr>
          <p:cNvSpPr/>
          <p:nvPr/>
        </p:nvSpPr>
        <p:spPr>
          <a:xfrm>
            <a:off x="4434457" y="692327"/>
            <a:ext cx="3549662"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Metrics</a:t>
            </a:r>
          </a:p>
        </p:txBody>
      </p:sp>
      <p:sp>
        <p:nvSpPr>
          <p:cNvPr id="34" name="Rectangle 33">
            <a:extLst>
              <a:ext uri="{FF2B5EF4-FFF2-40B4-BE49-F238E27FC236}">
                <a16:creationId xmlns:a16="http://schemas.microsoft.com/office/drawing/2014/main" id="{B9661C1F-3072-4037-80D3-89469FB49903}"/>
              </a:ext>
            </a:extLst>
          </p:cNvPr>
          <p:cNvSpPr/>
          <p:nvPr/>
        </p:nvSpPr>
        <p:spPr>
          <a:xfrm>
            <a:off x="8546053" y="692327"/>
            <a:ext cx="3549663"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Hardware</a:t>
            </a:r>
          </a:p>
        </p:txBody>
      </p:sp>
      <p:sp>
        <p:nvSpPr>
          <p:cNvPr id="55" name="TextBox 54"/>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0">
                <a:solidFill>
                  <a:srgbClr val="2F3B49"/>
                </a:solidFill>
                <a:latin typeface="Montserrat"/>
              </a:rPr>
              <a:t>Clustering: five-fold cross-validation for surrogate/attribution stability.</a:t>
            </a:r>
          </a:p>
          <a:p>
            <a:pPr>
              <a:lnSpc>
                <a:spcPct val="105000"/>
              </a:lnSpc>
              <a:spcAft>
                <a:spcPts val="900"/>
              </a:spcAft>
            </a:pPr>
            <a:r>
              <a:rPr sz="1700">
                <a:solidFill>
                  <a:srgbClr val="0E7C7B"/>
                </a:solidFill>
                <a:latin typeface="Wingdings"/>
              </a:rPr>
              <a:t>§  </a:t>
            </a:r>
            <a:r>
              <a:rPr sz="1700" b="0">
                <a:solidFill>
                  <a:srgbClr val="2F3B49"/>
                </a:solidFill>
                <a:latin typeface="Montserrat"/>
              </a:rPr>
              <a:t>Recommendation: user-level, temporal split — 70% train / 10% val / 20% test.</a:t>
            </a:r>
          </a:p>
          <a:p>
            <a:pPr>
              <a:lnSpc>
                <a:spcPct val="105000"/>
              </a:lnSpc>
              <a:spcAft>
                <a:spcPts val="900"/>
              </a:spcAft>
            </a:pPr>
            <a:r>
              <a:rPr sz="1700">
                <a:solidFill>
                  <a:srgbClr val="0E7C7B"/>
                </a:solidFill>
                <a:latin typeface="Wingdings"/>
              </a:rPr>
              <a:t>§  </a:t>
            </a:r>
            <a:r>
              <a:rPr sz="1700" b="0">
                <a:solidFill>
                  <a:srgbClr val="2F3B49"/>
                </a:solidFill>
                <a:latin typeface="Montserrat"/>
              </a:rPr>
              <a:t>Leave-one-out: the latest test positive per user is the target, ranked against negatives.</a:t>
            </a:r>
          </a:p>
          <a:p>
            <a:pPr>
              <a:lnSpc>
                <a:spcPct val="105000"/>
              </a:lnSpc>
              <a:spcAft>
                <a:spcPts val="900"/>
              </a:spcAft>
            </a:pPr>
            <a:r>
              <a:rPr sz="1700">
                <a:solidFill>
                  <a:srgbClr val="0E7C7B"/>
                </a:solidFill>
                <a:latin typeface="Wingdings"/>
              </a:rPr>
              <a:t>§  </a:t>
            </a:r>
            <a:r>
              <a:rPr sz="1700" b="0">
                <a:solidFill>
                  <a:srgbClr val="2F3B49"/>
                </a:solidFill>
                <a:latin typeface="Montserrat"/>
              </a:rPr>
              <a:t>Implicit conversion: MovieLens-1M ratings &gt; 3 treated as positive.</a:t>
            </a:r>
          </a:p>
          <a:p>
            <a:pPr>
              <a:lnSpc>
                <a:spcPct val="105000"/>
              </a:lnSpc>
              <a:spcAft>
                <a:spcPts val="900"/>
              </a:spcAft>
            </a:pPr>
            <a:r>
              <a:rPr sz="1700">
                <a:solidFill>
                  <a:srgbClr val="0E7C7B"/>
                </a:solidFill>
                <a:latin typeface="Wingdings"/>
              </a:rPr>
              <a:t>§  </a:t>
            </a:r>
            <a:r>
              <a:rPr sz="1700" b="0">
                <a:solidFill>
                  <a:srgbClr val="2F3B49"/>
                </a:solidFill>
                <a:latin typeface="Montserrat"/>
              </a:rPr>
              <a:t>Popularity-aware negative sampling: q(i) ∝ f_i^η for harder contrasts.</a:t>
            </a:r>
          </a:p>
          <a:p>
            <a:pPr>
              <a:lnSpc>
                <a:spcPct val="105000"/>
              </a:lnSpc>
              <a:spcAft>
                <a:spcPts val="900"/>
              </a:spcAft>
            </a:pPr>
            <a:r>
              <a:rPr sz="1700">
                <a:solidFill>
                  <a:srgbClr val="0E7C7B"/>
                </a:solidFill>
                <a:latin typeface="Wingdings"/>
              </a:rPr>
              <a:t>§  </a:t>
            </a:r>
            <a:r>
              <a:rPr sz="1700" b="0">
                <a:solidFill>
                  <a:srgbClr val="2F3B49"/>
                </a:solidFill>
                <a:latin typeface="Montserrat"/>
              </a:rPr>
              <a:t>Reproducibility: seeds {42,43,44,45,46}; early-stopping patience 20.</a:t>
            </a:r>
          </a:p>
        </p:txBody>
      </p:sp>
      <p:pic>
        <p:nvPicPr>
          <p:cNvPr id="56" name="Picture 55" descr="image.png"/>
          <p:cNvPicPr>
            <a:picLocks noChangeAspect="1"/>
          </p:cNvPicPr>
          <p:nvPr/>
        </p:nvPicPr>
        <p:blipFill>
          <a:blip r:embed="rId10"/>
          <a:stretch>
            <a:fillRect/>
          </a:stretch>
        </p:blipFill>
        <p:spPr>
          <a:xfrm>
            <a:off x="11431828" y="6400800"/>
            <a:ext cx="384048" cy="384048"/>
          </a:xfrm>
          <a:prstGeom prst="rect">
            <a:avLst/>
          </a:prstGeom>
        </p:spPr>
      </p:pic>
      <p:pic>
        <p:nvPicPr>
          <p:cNvPr id="57" name="Picture 56" descr="image.png"/>
          <p:cNvPicPr>
            <a:picLocks noChangeAspect="1"/>
          </p:cNvPicPr>
          <p:nvPr/>
        </p:nvPicPr>
        <p:blipFill>
          <a:blip r:embed="rId13"/>
          <a:stretch>
            <a:fillRect/>
          </a:stretch>
        </p:blipFill>
        <p:spPr>
          <a:xfrm>
            <a:off x="11709806" y="6400800"/>
            <a:ext cx="384048" cy="384048"/>
          </a:xfrm>
          <a:prstGeom prst="rect">
            <a:avLst/>
          </a:prstGeom>
        </p:spPr>
      </p:pic>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Baselines &amp; Evaluation Metrics</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30" name="Rectangle 29">
            <a:extLst>
              <a:ext uri="{FF2B5EF4-FFF2-40B4-BE49-F238E27FC236}">
                <a16:creationId xmlns:a16="http://schemas.microsoft.com/office/drawing/2014/main" id="{A2CE8C4E-E822-446F-B95C-18DBA902C6F0}"/>
              </a:ext>
            </a:extLst>
          </p:cNvPr>
          <p:cNvSpPr/>
          <p:nvPr/>
        </p:nvSpPr>
        <p:spPr>
          <a:xfrm>
            <a:off x="187760" y="688960"/>
            <a:ext cx="3549662" cy="391619"/>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Datasets</a:t>
            </a:r>
          </a:p>
        </p:txBody>
      </p:sp>
      <p:sp>
        <p:nvSpPr>
          <p:cNvPr id="31" name="Rectangle 30">
            <a:extLst>
              <a:ext uri="{FF2B5EF4-FFF2-40B4-BE49-F238E27FC236}">
                <a16:creationId xmlns:a16="http://schemas.microsoft.com/office/drawing/2014/main" id="{9309D474-8F76-4EAC-998E-4A0D01DA33A3}"/>
              </a:ext>
            </a:extLst>
          </p:cNvPr>
          <p:cNvSpPr/>
          <p:nvPr/>
        </p:nvSpPr>
        <p:spPr>
          <a:xfrm>
            <a:off x="4434457" y="692327"/>
            <a:ext cx="3549662" cy="384884"/>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Metrics</a:t>
            </a:r>
          </a:p>
        </p:txBody>
      </p:sp>
      <p:sp>
        <p:nvSpPr>
          <p:cNvPr id="34" name="Rectangle 33">
            <a:extLst>
              <a:ext uri="{FF2B5EF4-FFF2-40B4-BE49-F238E27FC236}">
                <a16:creationId xmlns:a16="http://schemas.microsoft.com/office/drawing/2014/main" id="{B9661C1F-3072-4037-80D3-89469FB49903}"/>
              </a:ext>
            </a:extLst>
          </p:cNvPr>
          <p:cNvSpPr/>
          <p:nvPr/>
        </p:nvSpPr>
        <p:spPr>
          <a:xfrm>
            <a:off x="8546053" y="692327"/>
            <a:ext cx="3549663"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Hardware</a:t>
            </a:r>
          </a:p>
        </p:txBody>
      </p:sp>
      <p:sp>
        <p:nvSpPr>
          <p:cNvPr id="55" name="TextBox 54"/>
          <p:cNvSpPr txBox="1"/>
          <p:nvPr/>
        </p:nvSpPr>
        <p:spPr>
          <a:xfrm>
            <a:off x="365760" y="1737360"/>
            <a:ext cx="576072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Clustering benchmark: LIME-based surrogate explanation pipeline.</a:t>
            </a:r>
          </a:p>
          <a:p>
            <a:pPr>
              <a:lnSpc>
                <a:spcPct val="105000"/>
              </a:lnSpc>
              <a:spcAft>
                <a:spcPts val="900"/>
              </a:spcAft>
            </a:pPr>
            <a:r>
              <a:rPr sz="1700">
                <a:solidFill>
                  <a:srgbClr val="0E7C7B"/>
                </a:solidFill>
                <a:latin typeface="Wingdings"/>
              </a:rPr>
              <a:t>§  </a:t>
            </a:r>
            <a:r>
              <a:rPr sz="1700" b="1">
                <a:solidFill>
                  <a:srgbClr val="2F3B49"/>
                </a:solidFill>
                <a:latin typeface="Montserrat Medium"/>
              </a:rPr>
              <a:t>Recommendation benchmarks: MF, NCF, LightGCN, RecDCL, HCCF, HPCF (strongest reference).</a:t>
            </a:r>
          </a:p>
          <a:p>
            <a:pPr>
              <a:lnSpc>
                <a:spcPct val="105000"/>
              </a:lnSpc>
              <a:spcAft>
                <a:spcPts val="900"/>
              </a:spcAft>
            </a:pPr>
            <a:r>
              <a:rPr sz="1700">
                <a:solidFill>
                  <a:srgbClr val="0E7C7B"/>
                </a:solidFill>
                <a:latin typeface="Wingdings"/>
              </a:rPr>
              <a:t>§  </a:t>
            </a:r>
            <a:r>
              <a:rPr sz="1700" b="0">
                <a:solidFill>
                  <a:srgbClr val="2F3B49"/>
                </a:solidFill>
                <a:latin typeface="Montserrat"/>
              </a:rPr>
              <a:t>Ranking: Precision@K, Recall@K, NDCG@20 (principal).</a:t>
            </a:r>
          </a:p>
          <a:p>
            <a:pPr>
              <a:lnSpc>
                <a:spcPct val="105000"/>
              </a:lnSpc>
              <a:spcAft>
                <a:spcPts val="900"/>
              </a:spcAft>
            </a:pPr>
            <a:r>
              <a:rPr sz="1700">
                <a:solidFill>
                  <a:srgbClr val="0E7C7B"/>
                </a:solidFill>
                <a:latin typeface="Wingdings"/>
              </a:rPr>
              <a:t>§  </a:t>
            </a:r>
            <a:r>
              <a:rPr sz="1700" b="0">
                <a:solidFill>
                  <a:srgbClr val="2F3B49"/>
                </a:solidFill>
                <a:latin typeface="Montserrat"/>
              </a:rPr>
              <a:t>System diversity: Catalogue Coverage = |⋃ R_u| / |I|.</a:t>
            </a:r>
          </a:p>
          <a:p>
            <a:pPr>
              <a:lnSpc>
                <a:spcPct val="105000"/>
              </a:lnSpc>
              <a:spcAft>
                <a:spcPts val="900"/>
              </a:spcAft>
            </a:pPr>
            <a:r>
              <a:rPr sz="1700">
                <a:solidFill>
                  <a:srgbClr val="0E7C7B"/>
                </a:solidFill>
                <a:latin typeface="Wingdings"/>
              </a:rPr>
              <a:t>§  </a:t>
            </a:r>
            <a:r>
              <a:rPr sz="1700" b="0">
                <a:solidFill>
                  <a:srgbClr val="2F3B49"/>
                </a:solidFill>
                <a:latin typeface="Montserrat"/>
              </a:rPr>
              <a:t>List diversity: Intra-List Diversity (ILD), built into the coalition utility.</a:t>
            </a:r>
          </a:p>
          <a:p>
            <a:pPr>
              <a:lnSpc>
                <a:spcPct val="105000"/>
              </a:lnSpc>
              <a:spcAft>
                <a:spcPts val="900"/>
              </a:spcAft>
            </a:pPr>
            <a:r>
              <a:rPr sz="1700">
                <a:solidFill>
                  <a:srgbClr val="0E7C7B"/>
                </a:solidFill>
                <a:latin typeface="Wingdings"/>
              </a:rPr>
              <a:t>§  </a:t>
            </a:r>
            <a:r>
              <a:rPr sz="1700" b="0">
                <a:solidFill>
                  <a:srgbClr val="2F3B49"/>
                </a:solidFill>
                <a:latin typeface="Montserrat"/>
              </a:rPr>
              <a:t>Clustering quality: Silhouette, Davies–Bouldin.</a:t>
            </a:r>
          </a:p>
        </p:txBody>
      </p:sp>
      <p:pic>
        <p:nvPicPr>
          <p:cNvPr id="56" name="Picture 55" descr="metrics.png"/>
          <p:cNvPicPr>
            <a:picLocks noChangeAspect="1"/>
          </p:cNvPicPr>
          <p:nvPr/>
        </p:nvPicPr>
        <p:blipFill>
          <a:blip r:embed="rId12"/>
          <a:stretch>
            <a:fillRect/>
          </a:stretch>
        </p:blipFill>
        <p:spPr>
          <a:xfrm>
            <a:off x="6309360" y="2011680"/>
            <a:ext cx="5212080" cy="3411543"/>
          </a:xfrm>
          <a:prstGeom prst="rect">
            <a:avLst/>
          </a:prstGeom>
        </p:spPr>
      </p:pic>
      <p:pic>
        <p:nvPicPr>
          <p:cNvPr id="57" name="Picture 56" descr="image.png"/>
          <p:cNvPicPr>
            <a:picLocks noChangeAspect="1"/>
          </p:cNvPicPr>
          <p:nvPr/>
        </p:nvPicPr>
        <p:blipFill>
          <a:blip r:embed="rId10"/>
          <a:stretch>
            <a:fillRect/>
          </a:stretch>
        </p:blipFill>
        <p:spPr>
          <a:xfrm>
            <a:off x="11431828" y="6400800"/>
            <a:ext cx="384048" cy="384048"/>
          </a:xfrm>
          <a:prstGeom prst="rect">
            <a:avLst/>
          </a:prstGeom>
        </p:spPr>
      </p:pic>
      <p:pic>
        <p:nvPicPr>
          <p:cNvPr id="58" name="Picture 57" descr="image.png"/>
          <p:cNvPicPr>
            <a:picLocks noChangeAspect="1"/>
          </p:cNvPicPr>
          <p:nvPr/>
        </p:nvPicPr>
        <p:blipFill>
          <a:blip r:embed="rId14"/>
          <a:stretch>
            <a:fillRect/>
          </a:stretch>
        </p:blipFill>
        <p:spPr>
          <a:xfrm>
            <a:off x="11709806" y="6400800"/>
            <a:ext cx="384048" cy="384048"/>
          </a:xfrm>
          <a:prstGeom prst="rect">
            <a:avLst/>
          </a:prstGeom>
        </p:spPr>
      </p:pic>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Hardware &amp; Software</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30" name="Rectangle 29">
            <a:extLst>
              <a:ext uri="{FF2B5EF4-FFF2-40B4-BE49-F238E27FC236}">
                <a16:creationId xmlns:a16="http://schemas.microsoft.com/office/drawing/2014/main" id="{A2CE8C4E-E822-446F-B95C-18DBA902C6F0}"/>
              </a:ext>
            </a:extLst>
          </p:cNvPr>
          <p:cNvSpPr/>
          <p:nvPr/>
        </p:nvSpPr>
        <p:spPr>
          <a:xfrm>
            <a:off x="187760" y="688960"/>
            <a:ext cx="3549662" cy="391619"/>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Datasets</a:t>
            </a:r>
          </a:p>
        </p:txBody>
      </p:sp>
      <p:sp>
        <p:nvSpPr>
          <p:cNvPr id="31" name="Rectangle 30">
            <a:extLst>
              <a:ext uri="{FF2B5EF4-FFF2-40B4-BE49-F238E27FC236}">
                <a16:creationId xmlns:a16="http://schemas.microsoft.com/office/drawing/2014/main" id="{9309D474-8F76-4EAC-998E-4A0D01DA33A3}"/>
              </a:ext>
            </a:extLst>
          </p:cNvPr>
          <p:cNvSpPr/>
          <p:nvPr/>
        </p:nvSpPr>
        <p:spPr>
          <a:xfrm>
            <a:off x="4434457" y="692327"/>
            <a:ext cx="3549662"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Metrics</a:t>
            </a:r>
          </a:p>
        </p:txBody>
      </p:sp>
      <p:sp>
        <p:nvSpPr>
          <p:cNvPr id="34" name="Rectangle 33">
            <a:extLst>
              <a:ext uri="{FF2B5EF4-FFF2-40B4-BE49-F238E27FC236}">
                <a16:creationId xmlns:a16="http://schemas.microsoft.com/office/drawing/2014/main" id="{B9661C1F-3072-4037-80D3-89469FB49903}"/>
              </a:ext>
            </a:extLst>
          </p:cNvPr>
          <p:cNvSpPr/>
          <p:nvPr/>
        </p:nvSpPr>
        <p:spPr>
          <a:xfrm>
            <a:off x="8546053" y="692327"/>
            <a:ext cx="3549663" cy="384884"/>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Hardware</a:t>
            </a:r>
          </a:p>
        </p:txBody>
      </p:sp>
      <p:sp>
        <p:nvSpPr>
          <p:cNvPr id="55" name="TextBox 54"/>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0">
                <a:solidFill>
                  <a:srgbClr val="2F3B49"/>
                </a:solidFill>
                <a:latin typeface="Montserrat"/>
              </a:rPr>
              <a:t>CPU: Intel Core i9-14900K, 24 cores — clustering, preprocessing, data loading.</a:t>
            </a:r>
          </a:p>
          <a:p>
            <a:pPr>
              <a:lnSpc>
                <a:spcPct val="105000"/>
              </a:lnSpc>
              <a:spcAft>
                <a:spcPts val="900"/>
              </a:spcAft>
            </a:pPr>
            <a:r>
              <a:rPr sz="1700">
                <a:solidFill>
                  <a:srgbClr val="0E7C7B"/>
                </a:solidFill>
                <a:latin typeface="Wingdings"/>
              </a:rPr>
              <a:t>§  </a:t>
            </a:r>
            <a:r>
              <a:rPr sz="1700" b="0">
                <a:solidFill>
                  <a:srgbClr val="2F3B49"/>
                </a:solidFill>
                <a:latin typeface="Montserrat"/>
              </a:rPr>
              <a:t>GPU: NVIDIA GeForce RTX 4090, 24 GB — DyHuCoG training &amp; inference.</a:t>
            </a:r>
          </a:p>
          <a:p>
            <a:pPr>
              <a:lnSpc>
                <a:spcPct val="105000"/>
              </a:lnSpc>
              <a:spcAft>
                <a:spcPts val="900"/>
              </a:spcAft>
            </a:pPr>
            <a:r>
              <a:rPr sz="1700">
                <a:solidFill>
                  <a:srgbClr val="0E7C7B"/>
                </a:solidFill>
                <a:latin typeface="Wingdings"/>
              </a:rPr>
              <a:t>§  </a:t>
            </a:r>
            <a:r>
              <a:rPr sz="1700" b="0">
                <a:solidFill>
                  <a:srgbClr val="2F3B49"/>
                </a:solidFill>
                <a:latin typeface="Montserrat"/>
              </a:rPr>
              <a:t>RAM: 48 GB; Storage: 2 TB SSD.</a:t>
            </a:r>
          </a:p>
          <a:p>
            <a:pPr>
              <a:lnSpc>
                <a:spcPct val="105000"/>
              </a:lnSpc>
              <a:spcAft>
                <a:spcPts val="900"/>
              </a:spcAft>
            </a:pPr>
            <a:r>
              <a:rPr sz="1700">
                <a:solidFill>
                  <a:srgbClr val="0E7C7B"/>
                </a:solidFill>
                <a:latin typeface="Wingdings"/>
              </a:rPr>
              <a:t>§  </a:t>
            </a:r>
            <a:r>
              <a:rPr sz="1700" b="0">
                <a:solidFill>
                  <a:srgbClr val="2F3B49"/>
                </a:solidFill>
                <a:latin typeface="Montserrat"/>
              </a:rPr>
              <a:t>Python 3.8; scikit-learn, LightGBM, SHAP, PyTorch 2.0.1, NumPy/SciPy/pandas.</a:t>
            </a:r>
          </a:p>
          <a:p>
            <a:pPr>
              <a:lnSpc>
                <a:spcPct val="105000"/>
              </a:lnSpc>
              <a:spcAft>
                <a:spcPts val="900"/>
              </a:spcAft>
            </a:pPr>
            <a:r>
              <a:rPr sz="1700">
                <a:solidFill>
                  <a:srgbClr val="0E7C7B"/>
                </a:solidFill>
                <a:latin typeface="Wingdings"/>
              </a:rPr>
              <a:t>§  </a:t>
            </a:r>
            <a:r>
              <a:rPr sz="1700" b="0">
                <a:solidFill>
                  <a:srgbClr val="2F3B49"/>
                </a:solidFill>
                <a:latin typeface="Montserrat"/>
              </a:rPr>
              <a:t>Altair for interactive SHAP visualisation; metrics at K ∈ {5, 10, 20}.</a:t>
            </a:r>
          </a:p>
        </p:txBody>
      </p:sp>
      <p:pic>
        <p:nvPicPr>
          <p:cNvPr id="56" name="Picture 55" descr="image.png"/>
          <p:cNvPicPr>
            <a:picLocks noChangeAspect="1"/>
          </p:cNvPicPr>
          <p:nvPr/>
        </p:nvPicPr>
        <p:blipFill>
          <a:blip r:embed="rId11"/>
          <a:stretch>
            <a:fillRect/>
          </a:stretch>
        </p:blipFill>
        <p:spPr>
          <a:xfrm>
            <a:off x="11431828" y="6400800"/>
            <a:ext cx="384048" cy="384048"/>
          </a:xfrm>
          <a:prstGeom prst="rect">
            <a:avLst/>
          </a:prstGeom>
        </p:spPr>
      </p:pic>
      <p:pic>
        <p:nvPicPr>
          <p:cNvPr id="57" name="Picture 56" descr="image.png"/>
          <p:cNvPicPr>
            <a:picLocks noChangeAspect="1"/>
          </p:cNvPicPr>
          <p:nvPr/>
        </p:nvPicPr>
        <p:blipFill>
          <a:blip r:embed="rId13"/>
          <a:stretch>
            <a:fillRect/>
          </a:stretch>
        </p:blipFill>
        <p:spPr>
          <a:xfrm>
            <a:off x="11709806" y="6400800"/>
            <a:ext cx="384048" cy="384048"/>
          </a:xfrm>
          <a:prstGeom prst="rect">
            <a:avLst/>
          </a:prstGeom>
        </p:spPr>
      </p:pic>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9ED3DE66-EA75-4A44-95A7-C4F7001685B8}"/>
              </a:ext>
            </a:extLst>
          </p:cNvPr>
          <p:cNvSpPr/>
          <p:nvPr/>
        </p:nvSpPr>
        <p:spPr>
          <a:xfrm>
            <a:off x="892728" y="1929560"/>
            <a:ext cx="10406543" cy="299888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3600" b="1" dirty="0">
                <a:solidFill>
                  <a:schemeClr val="bg1"/>
                </a:solidFill>
                <a:latin typeface="Montserrat Medium" pitchFamily="50" charset="0"/>
              </a:rPr>
              <a:t>Contribution I — Explainable Black-Box Clustering</a:t>
            </a:r>
          </a:p>
        </p:txBody>
      </p:sp>
      <p:pic>
        <p:nvPicPr>
          <p:cNvPr id="7" name="Picture 6">
            <a:extLst>
              <a:ext uri="{FF2B5EF4-FFF2-40B4-BE49-F238E27FC236}">
                <a16:creationId xmlns:a16="http://schemas.microsoft.com/office/drawing/2014/main" id="{21A05AE4-2B9A-4D6C-8A67-0FDF35D10E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75523" y="2014740"/>
            <a:ext cx="786211" cy="786211"/>
          </a:xfrm>
          <a:prstGeom prst="rect">
            <a:avLst/>
          </a:prstGeom>
        </p:spPr>
      </p:pic>
      <p:pic>
        <p:nvPicPr>
          <p:cNvPr id="29" name="Picture 28" descr="image.png"/>
          <p:cNvPicPr>
            <a:picLocks noChangeAspect="1"/>
          </p:cNvPicPr>
          <p:nvPr/>
        </p:nvPicPr>
        <p:blipFill>
          <a:blip r:embed="rId4"/>
          <a:stretch>
            <a:fillRect/>
          </a:stretch>
        </p:blipFill>
        <p:spPr>
          <a:xfrm>
            <a:off x="11431828" y="6400800"/>
            <a:ext cx="384048" cy="384048"/>
          </a:xfrm>
          <a:prstGeom prst="rect">
            <a:avLst/>
          </a:prstGeom>
        </p:spPr>
      </p:pic>
      <p:pic>
        <p:nvPicPr>
          <p:cNvPr id="30" name="Picture 29" descr="image.png"/>
          <p:cNvPicPr>
            <a:picLocks noChangeAspect="1"/>
          </p:cNvPicPr>
          <p:nvPr/>
        </p:nvPicPr>
        <p:blipFill>
          <a:blip r:embed="rId7"/>
          <a:stretch>
            <a:fillRect/>
          </a:stretch>
        </p:blipFill>
        <p:spPr>
          <a:xfrm>
            <a:off x="11709806" y="6400800"/>
            <a:ext cx="384048" cy="384048"/>
          </a:xfrm>
          <a:prstGeom prst="rect">
            <a:avLst/>
          </a:prstGeom>
        </p:spPr>
      </p:pic>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 — Explainable Black-Box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Gap: Shapley explanation is dominant in supervised tasks, but clustering remains comparatively under-explained.</a:t>
            </a:r>
          </a:p>
          <a:p>
            <a:pPr lvl="1">
              <a:lnSpc>
                <a:spcPct val="105000"/>
              </a:lnSpc>
              <a:spcAft>
                <a:spcPts val="600"/>
              </a:spcAft>
            </a:pPr>
            <a:r>
              <a:rPr sz="1600">
                <a:solidFill>
                  <a:srgbClr val="0E7C7B"/>
                </a:solidFill>
                <a:latin typeface="Montserrat"/>
              </a:rPr>
              <a:t>–  </a:t>
            </a:r>
            <a:r>
              <a:rPr sz="1600" b="0">
                <a:solidFill>
                  <a:srgbClr val="2F3B49"/>
                </a:solidFill>
                <a:latin typeface="Montserrat"/>
              </a:rPr>
              <a:t>Existing clustering-interpretability methods privilege local or global explanation, not both.</a:t>
            </a:r>
          </a:p>
          <a:p>
            <a:pPr lvl="1">
              <a:lnSpc>
                <a:spcPct val="105000"/>
              </a:lnSpc>
              <a:spcAft>
                <a:spcPts val="600"/>
              </a:spcAft>
            </a:pPr>
            <a:r>
              <a:rPr sz="1600">
                <a:solidFill>
                  <a:srgbClr val="0E7C7B"/>
                </a:solidFill>
                <a:latin typeface="Montserrat"/>
              </a:rPr>
              <a:t>–  </a:t>
            </a:r>
            <a:r>
              <a:rPr sz="1600" b="0">
                <a:solidFill>
                  <a:srgbClr val="2F3B49"/>
                </a:solidFill>
                <a:latin typeface="Montserrat"/>
              </a:rPr>
              <a:t>They often fail to scale or preserve coherence across clusters.</a:t>
            </a:r>
          </a:p>
          <a:p>
            <a:pPr>
              <a:lnSpc>
                <a:spcPct val="105000"/>
              </a:lnSpc>
              <a:spcAft>
                <a:spcPts val="900"/>
              </a:spcAft>
            </a:pPr>
            <a:r>
              <a:rPr sz="1700">
                <a:solidFill>
                  <a:srgbClr val="0E7C7B"/>
                </a:solidFill>
                <a:latin typeface="Wingdings"/>
              </a:rPr>
              <a:t>§  </a:t>
            </a:r>
            <a:r>
              <a:rPr sz="1700" b="1">
                <a:solidFill>
                  <a:srgbClr val="2F3B49"/>
                </a:solidFill>
                <a:latin typeface="Montserrat Medium"/>
              </a:rPr>
              <a:t>Objectives: build a pipeline yielding cluster-level explanation while preserving feature-level attribution.</a:t>
            </a:r>
          </a:p>
          <a:p>
            <a:pPr lvl="1">
              <a:lnSpc>
                <a:spcPct val="105000"/>
              </a:lnSpc>
              <a:spcAft>
                <a:spcPts val="600"/>
              </a:spcAft>
            </a:pPr>
            <a:r>
              <a:rPr sz="1600">
                <a:solidFill>
                  <a:srgbClr val="0E7C7B"/>
                </a:solidFill>
                <a:latin typeface="Montserrat"/>
              </a:rPr>
              <a:t>–  </a:t>
            </a:r>
            <a:r>
              <a:rPr sz="1600" b="0">
                <a:solidFill>
                  <a:srgbClr val="2F3B49"/>
                </a:solidFill>
                <a:latin typeface="Montserrat"/>
              </a:rPr>
              <a:t>Preserve the semantics of the original feature space; justify why Shapley is better than LIME.</a:t>
            </a:r>
          </a:p>
        </p:txBody>
      </p:sp>
      <p:pic>
        <p:nvPicPr>
          <p:cNvPr id="49" name="Picture 48" descr="image.png"/>
          <p:cNvPicPr>
            <a:picLocks noChangeAspect="1"/>
          </p:cNvPicPr>
          <p:nvPr/>
        </p:nvPicPr>
        <p:blipFill>
          <a:blip r:embed="rId14"/>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4"/>
          <a:stretch>
            <a:fillRect/>
          </a:stretch>
        </p:blipFill>
        <p:spPr>
          <a:xfrm>
            <a:off x="11709806" y="6400800"/>
            <a:ext cx="384048" cy="384048"/>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 — Explainable Black-Box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RQ1 · How can Shapley values explain black-box clustering faithfully at instance and cluster level?</a:t>
            </a:r>
          </a:p>
          <a:p>
            <a:pPr lvl="1">
              <a:lnSpc>
                <a:spcPct val="105000"/>
              </a:lnSpc>
              <a:spcAft>
                <a:spcPts val="600"/>
              </a:spcAft>
            </a:pPr>
            <a:r>
              <a:rPr sz="1600">
                <a:solidFill>
                  <a:srgbClr val="0E7C7B"/>
                </a:solidFill>
                <a:latin typeface="Montserrat"/>
              </a:rPr>
              <a:t>–  </a:t>
            </a:r>
            <a:r>
              <a:rPr sz="1600" b="0">
                <a:solidFill>
                  <a:srgbClr val="2F3B49"/>
                </a:solidFill>
                <a:latin typeface="Montserrat"/>
              </a:rPr>
              <a:t>Objective O1 · Build a pipeline that yields cluster-level explanation while keeping feature-level attribution.</a:t>
            </a:r>
          </a:p>
          <a:p>
            <a:pPr lvl="1">
              <a:lnSpc>
                <a:spcPct val="105000"/>
              </a:lnSpc>
              <a:spcAft>
                <a:spcPts val="600"/>
              </a:spcAft>
            </a:pPr>
            <a:r>
              <a:rPr sz="1600">
                <a:solidFill>
                  <a:srgbClr val="0E7C7B"/>
                </a:solidFill>
                <a:latin typeface="Montserrat"/>
              </a:rPr>
              <a:t>–  </a:t>
            </a:r>
            <a:r>
              <a:rPr sz="1600" b="0">
                <a:solidFill>
                  <a:srgbClr val="2F3B49"/>
                </a:solidFill>
                <a:latin typeface="Montserrat"/>
              </a:rPr>
              <a:t>Objective O2 · Preserve the semantics of the original feature space, not a reduced latent space.</a:t>
            </a:r>
          </a:p>
          <a:p>
            <a:pPr lvl="1">
              <a:lnSpc>
                <a:spcPct val="105000"/>
              </a:lnSpc>
              <a:spcAft>
                <a:spcPts val="600"/>
              </a:spcAft>
            </a:pPr>
            <a:r>
              <a:rPr sz="1600">
                <a:solidFill>
                  <a:srgbClr val="0E7C7B"/>
                </a:solidFill>
                <a:latin typeface="Montserrat"/>
              </a:rPr>
              <a:t>–  </a:t>
            </a:r>
            <a:r>
              <a:rPr sz="1600" b="0">
                <a:solidFill>
                  <a:srgbClr val="2F3B49"/>
                </a:solidFill>
                <a:latin typeface="Montserrat"/>
              </a:rPr>
              <a:t>Objective O3 · Justify Shapley over an ad-hoc surrogate such as LIME.</a:t>
            </a:r>
          </a:p>
        </p:txBody>
      </p:sp>
      <p:pic>
        <p:nvPicPr>
          <p:cNvPr id="49" name="Picture 48" descr="image.png"/>
          <p:cNvPicPr>
            <a:picLocks noChangeAspect="1"/>
          </p:cNvPicPr>
          <p:nvPr/>
        </p:nvPicPr>
        <p:blipFill>
          <a:blip r:embed="rId14"/>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 — Explainable Black-Box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Player set N = F — each feature is a player.</a:t>
            </a:r>
          </a:p>
          <a:p>
            <a:pPr>
              <a:lnSpc>
                <a:spcPct val="105000"/>
              </a:lnSpc>
              <a:spcAft>
                <a:spcPts val="900"/>
              </a:spcAft>
            </a:pPr>
            <a:r>
              <a:rPr sz="1700">
                <a:solidFill>
                  <a:srgbClr val="0E7C7B"/>
                </a:solidFill>
                <a:latin typeface="Wingdings"/>
              </a:rPr>
              <a:t>§  </a:t>
            </a:r>
            <a:r>
              <a:rPr sz="1700" b="0">
                <a:solidFill>
                  <a:srgbClr val="2F3B49"/>
                </a:solidFill>
                <a:latin typeface="Montserrat"/>
              </a:rPr>
              <a:t>Value function v(S) = Silhouette( KMeans(X_S, k*) ) — how well data cluster using only features in S.</a:t>
            </a:r>
          </a:p>
          <a:p>
            <a:pPr>
              <a:lnSpc>
                <a:spcPct val="105000"/>
              </a:lnSpc>
              <a:spcAft>
                <a:spcPts val="900"/>
              </a:spcAft>
            </a:pPr>
            <a:r>
              <a:rPr sz="1700">
                <a:solidFill>
                  <a:srgbClr val="0E7C7B"/>
                </a:solidFill>
                <a:latin typeface="Wingdings"/>
              </a:rPr>
              <a:t>§  </a:t>
            </a:r>
            <a:r>
              <a:rPr sz="1700" b="0">
                <a:solidFill>
                  <a:srgbClr val="2F3B49"/>
                </a:solidFill>
                <a:latin typeface="Montserrat"/>
              </a:rPr>
              <a:t>A feature's Shapley value = its expected marginal contribution to clustering quality over all coalition orders.</a:t>
            </a:r>
          </a:p>
          <a:p>
            <a:pPr>
              <a:lnSpc>
                <a:spcPct val="105000"/>
              </a:lnSpc>
              <a:spcAft>
                <a:spcPts val="900"/>
              </a:spcAft>
            </a:pPr>
            <a:r>
              <a:rPr sz="1700">
                <a:solidFill>
                  <a:srgbClr val="0E7C7B"/>
                </a:solidFill>
                <a:latin typeface="Wingdings"/>
              </a:rPr>
              <a:t>§  </a:t>
            </a:r>
            <a:r>
              <a:rPr sz="1700" b="0">
                <a:solidFill>
                  <a:srgbClr val="2F3B49"/>
                </a:solidFill>
                <a:latin typeface="Montserrat"/>
              </a:rPr>
              <a:t>Why Silhouette: bounded, normalised, semantically intuitive.</a:t>
            </a:r>
          </a:p>
          <a:p>
            <a:pPr>
              <a:lnSpc>
                <a:spcPct val="105000"/>
              </a:lnSpc>
              <a:spcAft>
                <a:spcPts val="900"/>
              </a:spcAft>
            </a:pPr>
            <a:r>
              <a:rPr sz="1700">
                <a:solidFill>
                  <a:srgbClr val="0E7C7B"/>
                </a:solidFill>
                <a:latin typeface="Wingdings"/>
              </a:rPr>
              <a:t>§  </a:t>
            </a:r>
            <a:r>
              <a:rPr sz="1700" b="1">
                <a:solidFill>
                  <a:srgbClr val="2F3B49"/>
                </a:solidFill>
                <a:latin typeface="Montserrat Medium"/>
              </a:rPr>
              <a:t>Direct evaluation for every coalition is intractable → we need a bridge.</a:t>
            </a:r>
          </a:p>
        </p:txBody>
      </p:sp>
      <p:pic>
        <p:nvPicPr>
          <p:cNvPr id="49" name="Picture 48" descr="image.png"/>
          <p:cNvPicPr>
            <a:picLocks noChangeAspect="1"/>
          </p:cNvPicPr>
          <p:nvPr/>
        </p:nvPicPr>
        <p:blipFill>
          <a:blip r:embed="rId14"/>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1"/>
          <a:stretch>
            <a:fillRect/>
          </a:stretch>
        </p:blipFill>
        <p:spPr>
          <a:xfrm>
            <a:off x="11709806" y="6400800"/>
            <a:ext cx="384048" cy="384048"/>
          </a:xfrm>
          <a:prstGeom prst="rect">
            <a:avLst/>
          </a:prstGeom>
        </p:spPr>
      </p:pic>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 — Explainable Black-Box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Once K-Means produces cluster labels, train a LightGBM multiclass surrogate to predict them from original features.</a:t>
            </a:r>
          </a:p>
          <a:p>
            <a:pPr>
              <a:lnSpc>
                <a:spcPct val="105000"/>
              </a:lnSpc>
              <a:spcAft>
                <a:spcPts val="900"/>
              </a:spcAft>
            </a:pPr>
            <a:r>
              <a:rPr sz="1700">
                <a:solidFill>
                  <a:srgbClr val="0E7C7B"/>
                </a:solidFill>
                <a:latin typeface="Wingdings"/>
              </a:rPr>
              <a:t>§  </a:t>
            </a:r>
            <a:r>
              <a:rPr sz="1700" b="0">
                <a:solidFill>
                  <a:srgbClr val="2F3B49"/>
                </a:solidFill>
                <a:latin typeface="Montserrat"/>
              </a:rPr>
              <a:t>Apply TreeSHAP to the surrogate — fast, exact tree-based attribution in the original semantic feature space.</a:t>
            </a:r>
          </a:p>
          <a:p>
            <a:pPr lvl="1">
              <a:lnSpc>
                <a:spcPct val="105000"/>
              </a:lnSpc>
              <a:spcAft>
                <a:spcPts val="600"/>
              </a:spcAft>
            </a:pPr>
            <a:r>
              <a:rPr sz="1600">
                <a:solidFill>
                  <a:srgbClr val="0E7C7B"/>
                </a:solidFill>
                <a:latin typeface="Montserrat"/>
              </a:rPr>
              <a:t>–  </a:t>
            </a:r>
            <a:r>
              <a:rPr sz="1600" b="0">
                <a:solidFill>
                  <a:srgbClr val="2F3B49"/>
                </a:solidFill>
                <a:latin typeface="Montserrat"/>
              </a:rPr>
              <a:t>Direct TreeSHAP on K-Means is impossible (it explains tree models, not centroids).</a:t>
            </a:r>
          </a:p>
          <a:p>
            <a:pPr lvl="1">
              <a:lnSpc>
                <a:spcPct val="105000"/>
              </a:lnSpc>
              <a:spcAft>
                <a:spcPts val="600"/>
              </a:spcAft>
            </a:pPr>
            <a:r>
              <a:rPr sz="1600">
                <a:solidFill>
                  <a:srgbClr val="0E7C7B"/>
                </a:solidFill>
                <a:latin typeface="Montserrat"/>
              </a:rPr>
              <a:t>–  </a:t>
            </a:r>
            <a:r>
              <a:rPr sz="1600" b="0">
                <a:solidFill>
                  <a:srgbClr val="2F3B49"/>
                </a:solidFill>
                <a:latin typeface="Montserrat"/>
              </a:rPr>
              <a:t>The surrogate preserves the chemistry/pollution vocabulary that makes the analysis actionable.</a:t>
            </a:r>
          </a:p>
          <a:p>
            <a:pPr lvl="1">
              <a:lnSpc>
                <a:spcPct val="105000"/>
              </a:lnSpc>
              <a:spcAft>
                <a:spcPts val="600"/>
              </a:spcAft>
            </a:pPr>
            <a:r>
              <a:rPr sz="1600">
                <a:solidFill>
                  <a:srgbClr val="0E7C7B"/>
                </a:solidFill>
                <a:latin typeface="Montserrat"/>
              </a:rPr>
              <a:t>–  </a:t>
            </a:r>
            <a:r>
              <a:rPr sz="1600" b="1">
                <a:solidFill>
                  <a:srgbClr val="2F3B49"/>
                </a:solidFill>
                <a:latin typeface="Montserrat"/>
              </a:rPr>
              <a:t>Validity condition: surrogate fidelity is high (macro-F1 ≈ 0.82).</a:t>
            </a:r>
          </a:p>
        </p:txBody>
      </p:sp>
      <p:pic>
        <p:nvPicPr>
          <p:cNvPr id="49" name="Picture 48" descr="image.png"/>
          <p:cNvPicPr>
            <a:picLocks noChangeAspect="1"/>
          </p:cNvPicPr>
          <p:nvPr/>
        </p:nvPicPr>
        <p:blipFill>
          <a:blip r:embed="rId14"/>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7"/>
          <a:stretch>
            <a:fillRect/>
          </a:stretch>
        </p:blipFill>
        <p:spPr>
          <a:xfrm>
            <a:off x="11709806" y="6400800"/>
            <a:ext cx="384048" cy="384048"/>
          </a:xfrm>
          <a:prstGeom prst="rect">
            <a:avLst/>
          </a:prstGeom>
        </p:spPr>
      </p:pic>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 — Explainable Black-Box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576072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0">
                <a:solidFill>
                  <a:srgbClr val="2F3B49"/>
                </a:solidFill>
                <a:latin typeface="Montserrat"/>
              </a:rPr>
              <a:t>Stage 1 – PCA: stabilise geometry + visual diagnostic. NOT the explanatory space.</a:t>
            </a:r>
          </a:p>
          <a:p>
            <a:pPr>
              <a:lnSpc>
                <a:spcPct val="105000"/>
              </a:lnSpc>
              <a:spcAft>
                <a:spcPts val="900"/>
              </a:spcAft>
            </a:pPr>
            <a:r>
              <a:rPr sz="1700">
                <a:solidFill>
                  <a:srgbClr val="0E7C7B"/>
                </a:solidFill>
                <a:latin typeface="Wingdings"/>
              </a:rPr>
              <a:t>§  </a:t>
            </a:r>
            <a:r>
              <a:rPr sz="1700" b="0">
                <a:solidFill>
                  <a:srgbClr val="2F3B49"/>
                </a:solidFill>
                <a:latin typeface="Montserrat"/>
              </a:rPr>
              <a:t>Stage 2 – K-Means++ with multi-criteria k selection (elbow, Silhouette, Davies–Bouldin).</a:t>
            </a:r>
          </a:p>
          <a:p>
            <a:pPr>
              <a:lnSpc>
                <a:spcPct val="105000"/>
              </a:lnSpc>
              <a:spcAft>
                <a:spcPts val="900"/>
              </a:spcAft>
            </a:pPr>
            <a:r>
              <a:rPr sz="1700">
                <a:solidFill>
                  <a:srgbClr val="0E7C7B"/>
                </a:solidFill>
                <a:latin typeface="Wingdings"/>
              </a:rPr>
              <a:t>§  </a:t>
            </a:r>
            <a:r>
              <a:rPr sz="1700" b="0">
                <a:solidFill>
                  <a:srgbClr val="2F3B49"/>
                </a:solidFill>
                <a:latin typeface="Montserrat"/>
              </a:rPr>
              <a:t>Stage 3 – LightGBM surrogate trained on original features to predict cluster labels.</a:t>
            </a:r>
          </a:p>
          <a:p>
            <a:pPr>
              <a:lnSpc>
                <a:spcPct val="105000"/>
              </a:lnSpc>
              <a:spcAft>
                <a:spcPts val="900"/>
              </a:spcAft>
            </a:pPr>
            <a:r>
              <a:rPr sz="1700">
                <a:solidFill>
                  <a:srgbClr val="0E7C7B"/>
                </a:solidFill>
                <a:latin typeface="Wingdings"/>
              </a:rPr>
              <a:t>§  </a:t>
            </a:r>
            <a:r>
              <a:rPr sz="1700" b="0">
                <a:solidFill>
                  <a:srgbClr val="2F3B49"/>
                </a:solidFill>
                <a:latin typeface="Montserrat"/>
              </a:rPr>
              <a:t>Stage 4 – TreeSHAP attribution in the original feature space.</a:t>
            </a:r>
          </a:p>
          <a:p>
            <a:pPr>
              <a:lnSpc>
                <a:spcPct val="105000"/>
              </a:lnSpc>
              <a:spcAft>
                <a:spcPts val="900"/>
              </a:spcAft>
            </a:pPr>
            <a:r>
              <a:rPr sz="1700">
                <a:solidFill>
                  <a:srgbClr val="0E7C7B"/>
                </a:solidFill>
                <a:latin typeface="Wingdings"/>
              </a:rPr>
              <a:t>§  </a:t>
            </a:r>
            <a:r>
              <a:rPr sz="1700" b="0">
                <a:solidFill>
                  <a:srgbClr val="2F3B49"/>
                </a:solidFill>
                <a:latin typeface="Montserrat"/>
              </a:rPr>
              <a:t>Stage 5 – Aggregate into global importance, cluster-specific profiles, and local force plots.</a:t>
            </a:r>
          </a:p>
          <a:p>
            <a:pPr lvl="1">
              <a:lnSpc>
                <a:spcPct val="105000"/>
              </a:lnSpc>
              <a:spcAft>
                <a:spcPts val="600"/>
              </a:spcAft>
            </a:pPr>
            <a:r>
              <a:rPr sz="1600">
                <a:solidFill>
                  <a:srgbClr val="0E7C7B"/>
                </a:solidFill>
                <a:latin typeface="Montserrat"/>
              </a:rPr>
              <a:t>–  </a:t>
            </a:r>
            <a:r>
              <a:rPr sz="1600" b="0">
                <a:solidFill>
                  <a:srgbClr val="2F3B49"/>
                </a:solidFill>
                <a:latin typeface="Montserrat"/>
              </a:rPr>
              <a:t>Complexity: dominated by PCA and repeated K-Means; TreeSHAP scales with tree count, not exponentially in features.</a:t>
            </a:r>
          </a:p>
        </p:txBody>
      </p:sp>
      <p:pic>
        <p:nvPicPr>
          <p:cNvPr id="49" name="Picture 48" descr="c1_pipeline_paper.png"/>
          <p:cNvPicPr>
            <a:picLocks noChangeAspect="1"/>
          </p:cNvPicPr>
          <p:nvPr/>
        </p:nvPicPr>
        <p:blipFill>
          <a:blip r:embed="rId12"/>
          <a:stretch>
            <a:fillRect/>
          </a:stretch>
        </p:blipFill>
        <p:spPr>
          <a:xfrm>
            <a:off x="6400800" y="2011680"/>
            <a:ext cx="4114800" cy="4114800"/>
          </a:xfrm>
          <a:prstGeom prst="rect">
            <a:avLst/>
          </a:prstGeom>
        </p:spPr>
      </p:pic>
      <p:pic>
        <p:nvPicPr>
          <p:cNvPr id="50" name="Picture 49" descr="image.png"/>
          <p:cNvPicPr>
            <a:picLocks noChangeAspect="1"/>
          </p:cNvPicPr>
          <p:nvPr/>
        </p:nvPicPr>
        <p:blipFill>
          <a:blip r:embed="rId15"/>
          <a:stretch>
            <a:fillRect/>
          </a:stretch>
        </p:blipFill>
        <p:spPr>
          <a:xfrm>
            <a:off x="11431828" y="6400800"/>
            <a:ext cx="384048" cy="384048"/>
          </a:xfrm>
          <a:prstGeom prst="rect">
            <a:avLst/>
          </a:prstGeom>
        </p:spPr>
      </p:pic>
      <p:pic>
        <p:nvPicPr>
          <p:cNvPr id="51" name="Picture 50" descr="image.png"/>
          <p:cNvPicPr>
            <a:picLocks noChangeAspect="1"/>
          </p:cNvPicPr>
          <p:nvPr/>
        </p:nvPicPr>
        <p:blipFill>
          <a:blip r:embed="rId16"/>
          <a:stretch>
            <a:fillRect/>
          </a:stretch>
        </p:blipFill>
        <p:spPr>
          <a:xfrm>
            <a:off x="11709806" y="6400800"/>
            <a:ext cx="384048" cy="384048"/>
          </a:xfrm>
          <a:prstGeom prst="rect">
            <a:avLst/>
          </a:prstGeom>
        </p:spPr>
      </p:pic>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 — Explainable Black-Box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0">
                <a:solidFill>
                  <a:srgbClr val="2F3B49"/>
                </a:solidFill>
                <a:latin typeface="Montserrat"/>
              </a:rPr>
              <a:t>Multi-criteria evaluation across k ∈ {2..10} using elbow, Silhouette, Davies–Bouldin.</a:t>
            </a:r>
          </a:p>
          <a:p>
            <a:pPr>
              <a:lnSpc>
                <a:spcPct val="105000"/>
              </a:lnSpc>
              <a:spcAft>
                <a:spcPts val="900"/>
              </a:spcAft>
            </a:pPr>
            <a:r>
              <a:rPr sz="1700">
                <a:solidFill>
                  <a:srgbClr val="0E7C7B"/>
                </a:solidFill>
                <a:latin typeface="Wingdings"/>
              </a:rPr>
              <a:t>§  </a:t>
            </a:r>
            <a:r>
              <a:rPr sz="1700" b="1">
                <a:solidFill>
                  <a:srgbClr val="2F3B49"/>
                </a:solidFill>
                <a:latin typeface="Montserrat Medium"/>
              </a:rPr>
              <a:t>We select k* = 3 — even though it is NOT geometrically optimal:</a:t>
            </a:r>
          </a:p>
          <a:p>
            <a:pPr lvl="1">
              <a:lnSpc>
                <a:spcPct val="105000"/>
              </a:lnSpc>
              <a:spcAft>
                <a:spcPts val="600"/>
              </a:spcAft>
            </a:pPr>
            <a:r>
              <a:rPr sz="1600">
                <a:solidFill>
                  <a:srgbClr val="0E7C7B"/>
                </a:solidFill>
                <a:latin typeface="Montserrat"/>
              </a:rPr>
              <a:t>–  </a:t>
            </a:r>
            <a:r>
              <a:rPr sz="1600" b="0">
                <a:solidFill>
                  <a:srgbClr val="2F3B49"/>
                </a:solidFill>
                <a:latin typeface="Montserrat"/>
              </a:rPr>
              <a:t>k = 2: Silhouette 0.214, Davies–Bouldin 1.775 (better separation).</a:t>
            </a:r>
          </a:p>
          <a:p>
            <a:pPr lvl="1">
              <a:lnSpc>
                <a:spcPct val="105000"/>
              </a:lnSpc>
              <a:spcAft>
                <a:spcPts val="600"/>
              </a:spcAft>
            </a:pPr>
            <a:r>
              <a:rPr sz="1600">
                <a:solidFill>
                  <a:srgbClr val="0E7C7B"/>
                </a:solidFill>
                <a:latin typeface="Montserrat"/>
              </a:rPr>
              <a:t>–  </a:t>
            </a:r>
            <a:r>
              <a:rPr sz="1600" b="0">
                <a:solidFill>
                  <a:srgbClr val="2F3B49"/>
                </a:solidFill>
                <a:latin typeface="Montserrat"/>
              </a:rPr>
              <a:t>k = 3: Silhouette 0.144, Davies–Bouldin 2.097 (weaker separation).</a:t>
            </a:r>
          </a:p>
          <a:p>
            <a:pPr lvl="1">
              <a:lnSpc>
                <a:spcPct val="105000"/>
              </a:lnSpc>
              <a:spcAft>
                <a:spcPts val="600"/>
              </a:spcAft>
            </a:pPr>
            <a:r>
              <a:rPr sz="1600">
                <a:solidFill>
                  <a:srgbClr val="0E7C7B"/>
                </a:solidFill>
                <a:latin typeface="Montserrat"/>
              </a:rPr>
              <a:t>–  </a:t>
            </a:r>
            <a:r>
              <a:rPr sz="1600" b="1">
                <a:solidFill>
                  <a:srgbClr val="2F3B49"/>
                </a:solidFill>
                <a:latin typeface="Montserrat"/>
              </a:rPr>
              <a:t>Why: three clusters give a semantically richer oenological partition → more actionable.</a:t>
            </a:r>
          </a:p>
          <a:p>
            <a:pPr lvl="1">
              <a:lnSpc>
                <a:spcPct val="105000"/>
              </a:lnSpc>
              <a:spcAft>
                <a:spcPts val="600"/>
              </a:spcAft>
            </a:pPr>
            <a:r>
              <a:rPr sz="1600">
                <a:solidFill>
                  <a:srgbClr val="0E7C7B"/>
                </a:solidFill>
                <a:latin typeface="Montserrat"/>
              </a:rPr>
              <a:t>–  </a:t>
            </a:r>
            <a:r>
              <a:rPr sz="1600" b="0">
                <a:solidFill>
                  <a:srgbClr val="2F3B49"/>
                </a:solidFill>
                <a:latin typeface="Montserrat"/>
              </a:rPr>
              <a:t>Note: the higher Silhouette ≈ 0.63 belongs to Beijing (C2), not this wine partition.</a:t>
            </a:r>
          </a:p>
        </p:txBody>
      </p:sp>
      <p:pic>
        <p:nvPicPr>
          <p:cNvPr id="49" name="Picture 48" descr="image.png"/>
          <p:cNvPicPr>
            <a:picLocks noChangeAspect="1"/>
          </p:cNvPicPr>
          <p:nvPr/>
        </p:nvPicPr>
        <p:blipFill>
          <a:blip r:embed="rId14"/>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 — Explainable Black-Box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Global SHAP ranking (high → low):</a:t>
            </a:r>
          </a:p>
          <a:p>
            <a:pPr lvl="1">
              <a:lnSpc>
                <a:spcPct val="105000"/>
              </a:lnSpc>
              <a:spcAft>
                <a:spcPts val="600"/>
              </a:spcAft>
            </a:pPr>
            <a:r>
              <a:rPr sz="1600">
                <a:solidFill>
                  <a:srgbClr val="0E7C7B"/>
                </a:solidFill>
                <a:latin typeface="Montserrat"/>
              </a:rPr>
              <a:t>–  </a:t>
            </a:r>
            <a:r>
              <a:rPr sz="1600" b="0">
                <a:solidFill>
                  <a:srgbClr val="2F3B49"/>
                </a:solidFill>
                <a:latin typeface="Montserrat"/>
              </a:rPr>
              <a:t>density → pH → fixed acidity → sulfur-dioxide → alcohol</a:t>
            </a:r>
          </a:p>
          <a:p>
            <a:pPr lvl="1">
              <a:lnSpc>
                <a:spcPct val="105000"/>
              </a:lnSpc>
              <a:spcAft>
                <a:spcPts val="600"/>
              </a:spcAft>
            </a:pPr>
            <a:r>
              <a:rPr sz="1600">
                <a:solidFill>
                  <a:srgbClr val="0E7C7B"/>
                </a:solidFill>
                <a:latin typeface="Montserrat"/>
              </a:rPr>
              <a:t>–  </a:t>
            </a:r>
            <a:r>
              <a:rPr sz="1600" b="0">
                <a:solidFill>
                  <a:srgbClr val="2F3B49"/>
                </a:solidFill>
                <a:latin typeface="Montserrat"/>
              </a:rPr>
              <a:t>Dominant drivers relate to structure, preservation, and sensory balance.</a:t>
            </a:r>
          </a:p>
          <a:p>
            <a:pPr lvl="1">
              <a:lnSpc>
                <a:spcPct val="105000"/>
              </a:lnSpc>
              <a:spcAft>
                <a:spcPts val="600"/>
              </a:spcAft>
            </a:pPr>
            <a:r>
              <a:rPr sz="1600">
                <a:solidFill>
                  <a:srgbClr val="0E7C7B"/>
                </a:solidFill>
                <a:latin typeface="Montserrat"/>
              </a:rPr>
              <a:t>–  </a:t>
            </a:r>
            <a:r>
              <a:rPr sz="1600" b="1">
                <a:solidFill>
                  <a:srgbClr val="2F3B49"/>
                </a:solidFill>
                <a:latin typeface="Montserrat"/>
              </a:rPr>
              <a:t>This is NOT an arbitrary classifier artefact — it recovers a chemically interpretable hierarchy.</a:t>
            </a:r>
          </a:p>
        </p:txBody>
      </p:sp>
      <p:pic>
        <p:nvPicPr>
          <p:cNvPr id="49" name="Picture 48" descr="image.png"/>
          <p:cNvPicPr>
            <a:picLocks noChangeAspect="1"/>
          </p:cNvPicPr>
          <p:nvPr/>
        </p:nvPicPr>
        <p:blipFill>
          <a:blip r:embed="rId14"/>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 — Explainable Black-Box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Three clusters show distinct explanatory signatures.</a:t>
            </a:r>
          </a:p>
          <a:p>
            <a:pPr lvl="1">
              <a:lnSpc>
                <a:spcPct val="105000"/>
              </a:lnSpc>
              <a:spcAft>
                <a:spcPts val="600"/>
              </a:spcAft>
            </a:pPr>
            <a:r>
              <a:rPr sz="1600">
                <a:solidFill>
                  <a:srgbClr val="0E7C7B"/>
                </a:solidFill>
                <a:latin typeface="Montserrat"/>
              </a:rPr>
              <a:t>–  </a:t>
            </a:r>
            <a:r>
              <a:rPr sz="1600" b="0">
                <a:solidFill>
                  <a:srgbClr val="2F3B49"/>
                </a:solidFill>
                <a:latin typeface="Montserrat"/>
              </a:rPr>
              <a:t>Cluster 0 – density + sulfur-dioxide-related variables.</a:t>
            </a:r>
          </a:p>
          <a:p>
            <a:pPr lvl="1">
              <a:lnSpc>
                <a:spcPct val="105000"/>
              </a:lnSpc>
              <a:spcAft>
                <a:spcPts val="600"/>
              </a:spcAft>
            </a:pPr>
            <a:r>
              <a:rPr sz="1600">
                <a:solidFill>
                  <a:srgbClr val="0E7C7B"/>
                </a:solidFill>
                <a:latin typeface="Montserrat"/>
              </a:rPr>
              <a:t>–  </a:t>
            </a:r>
            <a:r>
              <a:rPr sz="1600" b="0">
                <a:solidFill>
                  <a:srgbClr val="2F3B49"/>
                </a:solidFill>
                <a:latin typeface="Montserrat"/>
              </a:rPr>
              <a:t>Cluster 1 – acidity and pH-related effects.</a:t>
            </a:r>
          </a:p>
          <a:p>
            <a:pPr lvl="1">
              <a:lnSpc>
                <a:spcPct val="105000"/>
              </a:lnSpc>
              <a:spcAft>
                <a:spcPts val="600"/>
              </a:spcAft>
            </a:pPr>
            <a:r>
              <a:rPr sz="1600">
                <a:solidFill>
                  <a:srgbClr val="0E7C7B"/>
                </a:solidFill>
                <a:latin typeface="Montserrat"/>
              </a:rPr>
              <a:t>–  </a:t>
            </a:r>
            <a:r>
              <a:rPr sz="1600" b="0">
                <a:solidFill>
                  <a:srgbClr val="2F3B49"/>
                </a:solidFill>
                <a:latin typeface="Montserrat"/>
              </a:rPr>
              <a:t>Cluster 2 – a different balance of acidity, alcohol, and related chemical attributes.</a:t>
            </a:r>
          </a:p>
          <a:p>
            <a:pPr lvl="1">
              <a:lnSpc>
                <a:spcPct val="105000"/>
              </a:lnSpc>
              <a:spcAft>
                <a:spcPts val="600"/>
              </a:spcAft>
            </a:pPr>
            <a:r>
              <a:rPr sz="1600">
                <a:solidFill>
                  <a:srgbClr val="0E7C7B"/>
                </a:solidFill>
                <a:latin typeface="Montserrat"/>
              </a:rPr>
              <a:t>–  </a:t>
            </a:r>
            <a:r>
              <a:rPr sz="1600" b="0">
                <a:solidFill>
                  <a:srgbClr val="2F3B49"/>
                </a:solidFill>
                <a:latin typeface="Montserrat"/>
              </a:rPr>
              <a:t>The same small set of variables recurs across clusters, with different relative weights within each.</a:t>
            </a:r>
          </a:p>
        </p:txBody>
      </p:sp>
      <p:pic>
        <p:nvPicPr>
          <p:cNvPr id="49" name="Picture 48" descr="image.png"/>
          <p:cNvPicPr>
            <a:picLocks noChangeAspect="1"/>
          </p:cNvPicPr>
          <p:nvPr/>
        </p:nvPicPr>
        <p:blipFill>
          <a:blip r:embed="rId14"/>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 — Explainable Black-Box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graphicFrame>
        <p:nvGraphicFramePr>
          <p:cNvPr id="48" name="Table 47"/>
          <p:cNvGraphicFramePr>
            <a:graphicFrameLocks noGrp="1"/>
          </p:cNvGraphicFramePr>
          <p:nvPr/>
        </p:nvGraphicFramePr>
        <p:xfrm>
          <a:off x="365760" y="1737360"/>
          <a:ext cx="11429998" cy="3474720"/>
        </p:xfrm>
        <a:graphic>
          <a:graphicData uri="http://schemas.openxmlformats.org/drawingml/2006/table">
            <a:tbl>
              <a:tblPr>
                <a:tableStyleId>{5C22544A-7EE6-4342-B048-85BDC9FD1C3A}</a:tableStyleId>
              </a:tblPr>
              <a:tblGrid>
                <a:gridCol w="2905932"/>
                <a:gridCol w="4262033"/>
                <a:gridCol w="4262033"/>
              </a:tblGrid>
              <a:tr h="579120">
                <a:tc>
                  <a:txBody>
                    <a:bodyPr/>
                    <a:lstStyle/>
                    <a:p>
                      <a:pPr algn="ctr"/>
                      <a:r>
                        <a:rPr sz="1400" b="1">
                          <a:solidFill>
                            <a:srgbClr val="FFFFFF"/>
                          </a:solidFill>
                          <a:latin typeface="Montserrat Medium"/>
                        </a:rPr>
                        <a:t>Criterion</a:t>
                      </a:r>
                    </a:p>
                  </a:txBody>
                  <a:tcPr anchor="ctr" marL="54864" marR="54864" marT="18288" marB="18288">
                    <a:solidFill>
                      <a:srgbClr val="0E7C7B"/>
                    </a:solidFill>
                  </a:tcPr>
                </a:tc>
                <a:tc>
                  <a:txBody>
                    <a:bodyPr/>
                    <a:lstStyle/>
                    <a:p>
                      <a:pPr algn="ctr"/>
                      <a:r>
                        <a:rPr sz="1400" b="1">
                          <a:solidFill>
                            <a:srgbClr val="FFFFFF"/>
                          </a:solidFill>
                          <a:latin typeface="Montserrat Medium"/>
                        </a:rPr>
                        <a:t>SHAP (cooperative)</a:t>
                      </a:r>
                    </a:p>
                  </a:txBody>
                  <a:tcPr anchor="ctr" marL="54864" marR="54864" marT="18288" marB="18288">
                    <a:solidFill>
                      <a:srgbClr val="0E7C7B"/>
                    </a:solidFill>
                  </a:tcPr>
                </a:tc>
                <a:tc>
                  <a:txBody>
                    <a:bodyPr/>
                    <a:lstStyle/>
                    <a:p>
                      <a:pPr algn="ctr"/>
                      <a:r>
                        <a:rPr sz="1400" b="1">
                          <a:solidFill>
                            <a:srgbClr val="FFFFFF"/>
                          </a:solidFill>
                          <a:latin typeface="Montserrat Medium"/>
                        </a:rPr>
                        <a:t>LIME (local surrogate)</a:t>
                      </a:r>
                    </a:p>
                  </a:txBody>
                  <a:tcPr anchor="ctr" marL="54864" marR="54864" marT="18288" marB="18288">
                    <a:solidFill>
                      <a:srgbClr val="0E7C7B"/>
                    </a:solidFill>
                  </a:tcPr>
                </a:tc>
              </a:tr>
              <a:tr h="579120">
                <a:tc>
                  <a:txBody>
                    <a:bodyPr/>
                    <a:lstStyle/>
                    <a:p>
                      <a:pPr algn="l"/>
                      <a:r>
                        <a:rPr sz="1400" b="0">
                          <a:solidFill>
                            <a:srgbClr val="2F3B49"/>
                          </a:solidFill>
                          <a:latin typeface="Montserrat"/>
                        </a:rPr>
                        <a:t>Basis</a:t>
                      </a:r>
                    </a:p>
                  </a:txBody>
                  <a:tcPr anchor="ctr" marL="54864" marR="54864" marT="18288" marB="18288">
                    <a:solidFill>
                      <a:srgbClr val="FFFFFF"/>
                    </a:solidFill>
                  </a:tcPr>
                </a:tc>
                <a:tc>
                  <a:txBody>
                    <a:bodyPr/>
                    <a:lstStyle/>
                    <a:p>
                      <a:pPr algn="ctr"/>
                      <a:r>
                        <a:rPr sz="1400" b="0">
                          <a:solidFill>
                            <a:srgbClr val="2F3B49"/>
                          </a:solidFill>
                          <a:latin typeface="Montserrat"/>
                        </a:rPr>
                        <a:t>Cooperative-game marginal contribution</a:t>
                      </a:r>
                    </a:p>
                  </a:txBody>
                  <a:tcPr anchor="ctr" marL="54864" marR="54864" marT="18288" marB="18288">
                    <a:solidFill>
                      <a:srgbClr val="FFFFFF"/>
                    </a:solidFill>
                  </a:tcPr>
                </a:tc>
                <a:tc>
                  <a:txBody>
                    <a:bodyPr/>
                    <a:lstStyle/>
                    <a:p>
                      <a:pPr algn="ctr"/>
                      <a:r>
                        <a:rPr sz="1400" b="0">
                          <a:solidFill>
                            <a:srgbClr val="2F3B49"/>
                          </a:solidFill>
                          <a:latin typeface="Montserrat"/>
                        </a:rPr>
                        <a:t>Local surrogate approximation</a:t>
                      </a:r>
                    </a:p>
                  </a:txBody>
                  <a:tcPr anchor="ctr" marL="54864" marR="54864" marT="18288" marB="18288">
                    <a:solidFill>
                      <a:srgbClr val="FFFFFF"/>
                    </a:solidFill>
                  </a:tcPr>
                </a:tc>
              </a:tr>
              <a:tr h="579120">
                <a:tc>
                  <a:txBody>
                    <a:bodyPr/>
                    <a:lstStyle/>
                    <a:p>
                      <a:pPr algn="l"/>
                      <a:r>
                        <a:rPr sz="1400" b="0">
                          <a:solidFill>
                            <a:srgbClr val="2F3B49"/>
                          </a:solidFill>
                          <a:latin typeface="Montserrat"/>
                        </a:rPr>
                        <a:t>Local / global</a:t>
                      </a:r>
                    </a:p>
                  </a:txBody>
                  <a:tcPr anchor="ctr" marL="54864" marR="54864" marT="18288" marB="18288">
                    <a:solidFill>
                      <a:srgbClr val="F0F4FB"/>
                    </a:solidFill>
                  </a:tcPr>
                </a:tc>
                <a:tc>
                  <a:txBody>
                    <a:bodyPr/>
                    <a:lstStyle/>
                    <a:p>
                      <a:pPr algn="ctr"/>
                      <a:r>
                        <a:rPr sz="1400" b="0">
                          <a:solidFill>
                            <a:srgbClr val="2F3B49"/>
                          </a:solidFill>
                          <a:latin typeface="Montserrat"/>
                        </a:rPr>
                        <a:t>Both</a:t>
                      </a:r>
                    </a:p>
                  </a:txBody>
                  <a:tcPr anchor="ctr" marL="54864" marR="54864" marT="18288" marB="18288">
                    <a:solidFill>
                      <a:srgbClr val="F0F4FB"/>
                    </a:solidFill>
                  </a:tcPr>
                </a:tc>
                <a:tc>
                  <a:txBody>
                    <a:bodyPr/>
                    <a:lstStyle/>
                    <a:p>
                      <a:pPr algn="ctr"/>
                      <a:r>
                        <a:rPr sz="1400" b="0">
                          <a:solidFill>
                            <a:srgbClr val="2F3B49"/>
                          </a:solidFill>
                          <a:latin typeface="Montserrat"/>
                        </a:rPr>
                        <a:t>Primarily local</a:t>
                      </a:r>
                    </a:p>
                  </a:txBody>
                  <a:tcPr anchor="ctr" marL="54864" marR="54864" marT="18288" marB="18288">
                    <a:solidFill>
                      <a:srgbClr val="F0F4FB"/>
                    </a:solidFill>
                  </a:tcPr>
                </a:tc>
              </a:tr>
              <a:tr h="579120">
                <a:tc>
                  <a:txBody>
                    <a:bodyPr/>
                    <a:lstStyle/>
                    <a:p>
                      <a:pPr algn="l"/>
                      <a:r>
                        <a:rPr sz="1400" b="0">
                          <a:solidFill>
                            <a:srgbClr val="2F3B49"/>
                          </a:solidFill>
                          <a:latin typeface="Montserrat"/>
                        </a:rPr>
                        <a:t>Theoretical guarantee</a:t>
                      </a:r>
                    </a:p>
                  </a:txBody>
                  <a:tcPr anchor="ctr" marL="54864" marR="54864" marT="18288" marB="18288">
                    <a:solidFill>
                      <a:srgbClr val="FFFFFF"/>
                    </a:solidFill>
                  </a:tcPr>
                </a:tc>
                <a:tc>
                  <a:txBody>
                    <a:bodyPr/>
                    <a:lstStyle/>
                    <a:p>
                      <a:pPr algn="ctr"/>
                      <a:r>
                        <a:rPr sz="1400" b="0">
                          <a:solidFill>
                            <a:srgbClr val="2F3B49"/>
                          </a:solidFill>
                          <a:latin typeface="Montserrat"/>
                        </a:rPr>
                        <a:t>Efficiency, symmetry, null player, additivity</a:t>
                      </a:r>
                    </a:p>
                  </a:txBody>
                  <a:tcPr anchor="ctr" marL="54864" marR="54864" marT="18288" marB="18288">
                    <a:solidFill>
                      <a:srgbClr val="FFFFFF"/>
                    </a:solidFill>
                  </a:tcPr>
                </a:tc>
                <a:tc>
                  <a:txBody>
                    <a:bodyPr/>
                    <a:lstStyle/>
                    <a:p>
                      <a:pPr algn="ctr"/>
                      <a:r>
                        <a:rPr sz="1400" b="0">
                          <a:solidFill>
                            <a:srgbClr val="2F3B49"/>
                          </a:solidFill>
                          <a:latin typeface="Montserrat"/>
                        </a:rPr>
                        <a:t>None equivalent</a:t>
                      </a:r>
                    </a:p>
                  </a:txBody>
                  <a:tcPr anchor="ctr" marL="54864" marR="54864" marT="18288" marB="18288">
                    <a:solidFill>
                      <a:srgbClr val="FFFFFF"/>
                    </a:solidFill>
                  </a:tcPr>
                </a:tc>
              </a:tr>
              <a:tr h="579120">
                <a:tc>
                  <a:txBody>
                    <a:bodyPr/>
                    <a:lstStyle/>
                    <a:p>
                      <a:pPr algn="l"/>
                      <a:r>
                        <a:rPr sz="1400" b="0">
                          <a:solidFill>
                            <a:srgbClr val="2F3B49"/>
                          </a:solidFill>
                          <a:latin typeface="Montserrat"/>
                        </a:rPr>
                        <a:t>Stability</a:t>
                      </a:r>
                    </a:p>
                  </a:txBody>
                  <a:tcPr anchor="ctr" marL="54864" marR="54864" marT="18288" marB="18288">
                    <a:solidFill>
                      <a:srgbClr val="F0F4FB"/>
                    </a:solidFill>
                  </a:tcPr>
                </a:tc>
                <a:tc>
                  <a:txBody>
                    <a:bodyPr/>
                    <a:lstStyle/>
                    <a:p>
                      <a:pPr algn="ctr"/>
                      <a:r>
                        <a:rPr sz="1400" b="0">
                          <a:solidFill>
                            <a:srgbClr val="2F3B49"/>
                          </a:solidFill>
                          <a:latin typeface="Montserrat"/>
                        </a:rPr>
                        <a:t>Higher when surrogate faithful</a:t>
                      </a:r>
                    </a:p>
                  </a:txBody>
                  <a:tcPr anchor="ctr" marL="54864" marR="54864" marT="18288" marB="18288">
                    <a:solidFill>
                      <a:srgbClr val="F0F4FB"/>
                    </a:solidFill>
                  </a:tcPr>
                </a:tc>
                <a:tc>
                  <a:txBody>
                    <a:bodyPr/>
                    <a:lstStyle/>
                    <a:p>
                      <a:pPr algn="ctr"/>
                      <a:r>
                        <a:rPr sz="1400" b="0">
                          <a:solidFill>
                            <a:srgbClr val="2F3B49"/>
                          </a:solidFill>
                          <a:latin typeface="Montserrat"/>
                        </a:rPr>
                        <a:t>Sensitive to perturbation design</a:t>
                      </a:r>
                    </a:p>
                  </a:txBody>
                  <a:tcPr anchor="ctr" marL="54864" marR="54864" marT="18288" marB="18288">
                    <a:solidFill>
                      <a:srgbClr val="F0F4FB"/>
                    </a:solidFill>
                  </a:tcPr>
                </a:tc>
              </a:tr>
              <a:tr h="579120">
                <a:tc>
                  <a:txBody>
                    <a:bodyPr/>
                    <a:lstStyle/>
                    <a:p>
                      <a:pPr algn="l"/>
                      <a:r>
                        <a:rPr sz="1400" b="0">
                          <a:solidFill>
                            <a:srgbClr val="2F3B49"/>
                          </a:solidFill>
                          <a:latin typeface="Montserrat"/>
                        </a:rPr>
                        <a:t>Cluster comparison</a:t>
                      </a:r>
                    </a:p>
                  </a:txBody>
                  <a:tcPr anchor="ctr" marL="54864" marR="54864" marT="18288" marB="18288">
                    <a:solidFill>
                      <a:srgbClr val="FFFFFF"/>
                    </a:solidFill>
                  </a:tcPr>
                </a:tc>
                <a:tc>
                  <a:txBody>
                    <a:bodyPr/>
                    <a:lstStyle/>
                    <a:p>
                      <a:pPr algn="ctr"/>
                      <a:r>
                        <a:rPr sz="1400" b="0">
                          <a:solidFill>
                            <a:srgbClr val="2F3B49"/>
                          </a:solidFill>
                          <a:latin typeface="Montserrat"/>
                        </a:rPr>
                        <a:t>Strong</a:t>
                      </a:r>
                    </a:p>
                  </a:txBody>
                  <a:tcPr anchor="ctr" marL="54864" marR="54864" marT="18288" marB="18288">
                    <a:solidFill>
                      <a:srgbClr val="FFFFFF"/>
                    </a:solidFill>
                  </a:tcPr>
                </a:tc>
                <a:tc>
                  <a:txBody>
                    <a:bodyPr/>
                    <a:lstStyle/>
                    <a:p>
                      <a:pPr algn="ctr"/>
                      <a:r>
                        <a:rPr sz="1400" b="0">
                          <a:solidFill>
                            <a:srgbClr val="2F3B49"/>
                          </a:solidFill>
                          <a:latin typeface="Montserrat"/>
                        </a:rPr>
                        <a:t>Limited</a:t>
                      </a:r>
                    </a:p>
                  </a:txBody>
                  <a:tcPr anchor="ctr" marL="54864" marR="54864" marT="18288" marB="18288">
                    <a:solidFill>
                      <a:srgbClr val="FFFFFF"/>
                    </a:solidFill>
                  </a:tcPr>
                </a:tc>
              </a:tr>
            </a:tbl>
          </a:graphicData>
        </a:graphic>
      </p:graphicFrame>
      <p:pic>
        <p:nvPicPr>
          <p:cNvPr id="49" name="Picture 48" descr="image.png"/>
          <p:cNvPicPr>
            <a:picLocks noChangeAspect="1"/>
          </p:cNvPicPr>
          <p:nvPr/>
        </p:nvPicPr>
        <p:blipFill>
          <a:blip r:embed="rId14"/>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 — Explainable Black-Box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Answers to the questions and objectives</a:t>
            </a:r>
          </a:p>
          <a:p>
            <a:pPr lvl="1">
              <a:lnSpc>
                <a:spcPct val="105000"/>
              </a:lnSpc>
              <a:spcAft>
                <a:spcPts val="600"/>
              </a:spcAft>
            </a:pPr>
            <a:r>
              <a:rPr sz="1600">
                <a:solidFill>
                  <a:srgbClr val="0E7C7B"/>
                </a:solidFill>
                <a:latin typeface="Montserrat"/>
              </a:rPr>
              <a:t>–  </a:t>
            </a:r>
            <a:r>
              <a:rPr sz="1600" b="0">
                <a:solidFill>
                  <a:srgbClr val="2F3B49"/>
                </a:solidFill>
                <a:latin typeface="Montserrat"/>
              </a:rPr>
              <a:t>RQ1 answered in the affirmative — faithful, coherent cluster-level explanation from Shapley values.</a:t>
            </a:r>
          </a:p>
          <a:p>
            <a:pPr lvl="1">
              <a:lnSpc>
                <a:spcPct val="105000"/>
              </a:lnSpc>
              <a:spcAft>
                <a:spcPts val="600"/>
              </a:spcAft>
            </a:pPr>
            <a:r>
              <a:rPr sz="1600">
                <a:solidFill>
                  <a:srgbClr val="0E7C7B"/>
                </a:solidFill>
                <a:latin typeface="Montserrat"/>
              </a:rPr>
              <a:t>–  </a:t>
            </a:r>
            <a:r>
              <a:rPr sz="1600" b="0">
                <a:solidFill>
                  <a:srgbClr val="2F3B49"/>
                </a:solidFill>
                <a:latin typeface="Montserrat"/>
              </a:rPr>
              <a:t>O1 met · cluster-level explanation while preserving feature-level attribution.</a:t>
            </a:r>
          </a:p>
          <a:p>
            <a:pPr lvl="1">
              <a:lnSpc>
                <a:spcPct val="105000"/>
              </a:lnSpc>
              <a:spcAft>
                <a:spcPts val="600"/>
              </a:spcAft>
            </a:pPr>
            <a:r>
              <a:rPr sz="1600">
                <a:solidFill>
                  <a:srgbClr val="0E7C7B"/>
                </a:solidFill>
                <a:latin typeface="Montserrat"/>
              </a:rPr>
              <a:t>–  </a:t>
            </a:r>
            <a:r>
              <a:rPr sz="1600" b="0">
                <a:solidFill>
                  <a:srgbClr val="2F3B49"/>
                </a:solidFill>
                <a:latin typeface="Montserrat"/>
              </a:rPr>
              <a:t>O2 met · attribution returned to the original chemical variables.</a:t>
            </a:r>
          </a:p>
          <a:p>
            <a:pPr lvl="1">
              <a:lnSpc>
                <a:spcPct val="105000"/>
              </a:lnSpc>
              <a:spcAft>
                <a:spcPts val="600"/>
              </a:spcAft>
            </a:pPr>
            <a:r>
              <a:rPr sz="1600">
                <a:solidFill>
                  <a:srgbClr val="0E7C7B"/>
                </a:solidFill>
                <a:latin typeface="Montserrat"/>
              </a:rPr>
              <a:t>–  </a:t>
            </a:r>
            <a:r>
              <a:rPr sz="1600" b="0">
                <a:solidFill>
                  <a:srgbClr val="2F3B49"/>
                </a:solidFill>
                <a:latin typeface="Montserrat"/>
              </a:rPr>
              <a:t>O3 met · Shapley grounded in four axioms; LIME has no equivalent guarantee.</a:t>
            </a:r>
          </a:p>
        </p:txBody>
      </p:sp>
      <p:pic>
        <p:nvPicPr>
          <p:cNvPr id="49" name="Picture 48" descr="image.png"/>
          <p:cNvPicPr>
            <a:picLocks noChangeAspect="1"/>
          </p:cNvPicPr>
          <p:nvPr/>
        </p:nvPicPr>
        <p:blipFill>
          <a:blip r:embed="rId14"/>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0"/>
          <a:stretch>
            <a:fillRect/>
          </a:stretch>
        </p:blipFill>
        <p:spPr>
          <a:xfrm>
            <a:off x="11709806" y="6400800"/>
            <a:ext cx="384048" cy="384048"/>
          </a:xfrm>
          <a:prstGeom prst="rect">
            <a:avLst/>
          </a:prstGeom>
        </p:spPr>
      </p:pic>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 — Explainable Black-Box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Key findings</a:t>
            </a:r>
          </a:p>
          <a:p>
            <a:pPr lvl="1">
              <a:lnSpc>
                <a:spcPct val="105000"/>
              </a:lnSpc>
              <a:spcAft>
                <a:spcPts val="600"/>
              </a:spcAft>
            </a:pPr>
            <a:r>
              <a:rPr sz="1600">
                <a:solidFill>
                  <a:srgbClr val="0E7C7B"/>
                </a:solidFill>
                <a:latin typeface="Montserrat"/>
              </a:rPr>
              <a:t>–  </a:t>
            </a:r>
            <a:r>
              <a:rPr sz="1600" b="0">
                <a:solidFill>
                  <a:srgbClr val="2F3B49"/>
                </a:solidFill>
                <a:latin typeface="Montserrat"/>
              </a:rPr>
              <a:t>Cluster-level explanation anchored to individual feature contributions.</a:t>
            </a:r>
          </a:p>
          <a:p>
            <a:pPr lvl="1">
              <a:lnSpc>
                <a:spcPct val="105000"/>
              </a:lnSpc>
              <a:spcAft>
                <a:spcPts val="600"/>
              </a:spcAft>
            </a:pPr>
            <a:r>
              <a:rPr sz="1600">
                <a:solidFill>
                  <a:srgbClr val="0E7C7B"/>
                </a:solidFill>
                <a:latin typeface="Montserrat"/>
              </a:rPr>
              <a:t>–  </a:t>
            </a:r>
            <a:r>
              <a:rPr sz="1600" b="0">
                <a:solidFill>
                  <a:srgbClr val="2F3B49"/>
                </a:solidFill>
                <a:latin typeface="Montserrat"/>
              </a:rPr>
              <a:t>Explanations returned to the original chemical variables, not a latent space.</a:t>
            </a:r>
          </a:p>
          <a:p>
            <a:pPr lvl="1">
              <a:lnSpc>
                <a:spcPct val="105000"/>
              </a:lnSpc>
              <a:spcAft>
                <a:spcPts val="600"/>
              </a:spcAft>
            </a:pPr>
            <a:r>
              <a:rPr sz="1600">
                <a:solidFill>
                  <a:srgbClr val="0E7C7B"/>
                </a:solidFill>
                <a:latin typeface="Montserrat"/>
              </a:rPr>
              <a:t>–  </a:t>
            </a:r>
            <a:r>
              <a:rPr sz="1600" b="0">
                <a:solidFill>
                  <a:srgbClr val="2F3B49"/>
                </a:solidFill>
                <a:latin typeface="Montserrat"/>
              </a:rPr>
              <a:t>Theoretically grounded case for Shapley over LIME (efficiency, symmetry, null player, additivity).</a:t>
            </a:r>
          </a:p>
          <a:p>
            <a:pPr lvl="1">
              <a:lnSpc>
                <a:spcPct val="105000"/>
              </a:lnSpc>
              <a:spcAft>
                <a:spcPts val="600"/>
              </a:spcAft>
            </a:pPr>
            <a:r>
              <a:rPr sz="1600">
                <a:solidFill>
                  <a:srgbClr val="0E7C7B"/>
                </a:solidFill>
                <a:latin typeface="Montserrat"/>
              </a:rPr>
              <a:t>–  </a:t>
            </a:r>
            <a:r>
              <a:rPr sz="1600" b="0">
                <a:solidFill>
                  <a:srgbClr val="2F3B49"/>
                </a:solidFill>
                <a:latin typeface="Montserrat"/>
              </a:rPr>
              <a:t>Recovers an oenologically interpretable ranking — density, pH, acidity, sulfur dioxide, alcohol.</a:t>
            </a:r>
          </a:p>
        </p:txBody>
      </p:sp>
      <p:pic>
        <p:nvPicPr>
          <p:cNvPr id="49" name="Picture 48" descr="image.png"/>
          <p:cNvPicPr>
            <a:picLocks noChangeAspect="1"/>
          </p:cNvPicPr>
          <p:nvPr/>
        </p:nvPicPr>
        <p:blipFill>
          <a:blip r:embed="rId14"/>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 — Explainable Black-Box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Limitations</a:t>
            </a:r>
          </a:p>
          <a:p>
            <a:pPr lvl="1">
              <a:lnSpc>
                <a:spcPct val="105000"/>
              </a:lnSpc>
              <a:spcAft>
                <a:spcPts val="600"/>
              </a:spcAft>
            </a:pPr>
            <a:r>
              <a:rPr sz="1600">
                <a:solidFill>
                  <a:srgbClr val="0E7C7B"/>
                </a:solidFill>
                <a:latin typeface="Montserrat"/>
              </a:rPr>
              <a:t>–  </a:t>
            </a:r>
            <a:r>
              <a:rPr sz="1600" b="0">
                <a:solidFill>
                  <a:srgbClr val="2F3B49"/>
                </a:solidFill>
                <a:latin typeface="Montserrat"/>
              </a:rPr>
              <a:t>Fidelity depends on the LightGBM surrogate — not a direct mechanism of the K-Means geometry.</a:t>
            </a:r>
          </a:p>
          <a:p>
            <a:pPr lvl="1">
              <a:lnSpc>
                <a:spcPct val="105000"/>
              </a:lnSpc>
              <a:spcAft>
                <a:spcPts val="600"/>
              </a:spcAft>
            </a:pPr>
            <a:r>
              <a:rPr sz="1600">
                <a:solidFill>
                  <a:srgbClr val="0E7C7B"/>
                </a:solidFill>
                <a:latin typeface="Montserrat"/>
              </a:rPr>
              <a:t>–  </a:t>
            </a:r>
            <a:r>
              <a:rPr sz="1600" b="0">
                <a:solidFill>
                  <a:srgbClr val="2F3B49"/>
                </a:solidFill>
                <a:latin typeface="Montserrat"/>
              </a:rPr>
              <a:t>Confined to tabular data; no structured, graph, or image input.</a:t>
            </a:r>
          </a:p>
          <a:p>
            <a:pPr lvl="1">
              <a:lnSpc>
                <a:spcPct val="105000"/>
              </a:lnSpc>
              <a:spcAft>
                <a:spcPts val="600"/>
              </a:spcAft>
            </a:pPr>
            <a:r>
              <a:rPr sz="1600">
                <a:solidFill>
                  <a:srgbClr val="0E7C7B"/>
                </a:solidFill>
                <a:latin typeface="Montserrat"/>
              </a:rPr>
              <a:t>–  </a:t>
            </a:r>
            <a:r>
              <a:rPr sz="1600" b="0">
                <a:solidFill>
                  <a:srgbClr val="2F3B49"/>
                </a:solidFill>
                <a:latin typeface="Montserrat"/>
              </a:rPr>
              <a:t>Single-level structure: cannot explain how importance reconfigures between a partition and its sub-partitions.</a:t>
            </a:r>
          </a:p>
          <a:p>
            <a:pPr lvl="1">
              <a:lnSpc>
                <a:spcPct val="105000"/>
              </a:lnSpc>
              <a:spcAft>
                <a:spcPts val="600"/>
              </a:spcAft>
            </a:pPr>
            <a:r>
              <a:rPr sz="1600">
                <a:solidFill>
                  <a:srgbClr val="0E7C7B"/>
                </a:solidFill>
                <a:latin typeface="Montserrat"/>
              </a:rPr>
              <a:t>–  </a:t>
            </a:r>
            <a:r>
              <a:rPr sz="1600" b="0">
                <a:solidFill>
                  <a:srgbClr val="2F3B49"/>
                </a:solidFill>
                <a:latin typeface="Montserrat"/>
              </a:rPr>
              <a:t>The surrogate approximation compresses observation-level variation.</a:t>
            </a:r>
          </a:p>
        </p:txBody>
      </p:sp>
      <p:pic>
        <p:nvPicPr>
          <p:cNvPr id="49" name="Picture 48" descr="image.png"/>
          <p:cNvPicPr>
            <a:picLocks noChangeAspect="1"/>
          </p:cNvPicPr>
          <p:nvPr/>
        </p:nvPicPr>
        <p:blipFill>
          <a:blip r:embed="rId14"/>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4"/>
          <a:stretch>
            <a:fillRect/>
          </a:stretch>
        </p:blipFill>
        <p:spPr>
          <a:xfrm>
            <a:off x="11709806" y="6400800"/>
            <a:ext cx="384048" cy="384048"/>
          </a:xfrm>
          <a:prstGeom prst="rect">
            <a:avLst/>
          </a:prstGeom>
        </p:spPr>
      </p:pic>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 — Explainable Black-Box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Takeaways</a:t>
            </a:r>
          </a:p>
          <a:p>
            <a:pPr lvl="1">
              <a:lnSpc>
                <a:spcPct val="105000"/>
              </a:lnSpc>
              <a:spcAft>
                <a:spcPts val="600"/>
              </a:spcAft>
            </a:pPr>
            <a:r>
              <a:rPr sz="1600">
                <a:solidFill>
                  <a:srgbClr val="0E7C7B"/>
                </a:solidFill>
                <a:latin typeface="Montserrat"/>
              </a:rPr>
              <a:t>–  </a:t>
            </a:r>
            <a:r>
              <a:rPr sz="1600" b="0">
                <a:solidFill>
                  <a:srgbClr val="2F3B49"/>
                </a:solidFill>
                <a:latin typeface="Montserrat"/>
              </a:rPr>
              <a:t>Shapley attribution is a single, principled lens for explaining an unsupervised partition.</a:t>
            </a:r>
          </a:p>
          <a:p>
            <a:pPr lvl="1">
              <a:lnSpc>
                <a:spcPct val="105000"/>
              </a:lnSpc>
              <a:spcAft>
                <a:spcPts val="600"/>
              </a:spcAft>
            </a:pPr>
            <a:r>
              <a:rPr sz="1600">
                <a:solidFill>
                  <a:srgbClr val="0E7C7B"/>
                </a:solidFill>
                <a:latin typeface="Montserrat"/>
              </a:rPr>
              <a:t>–  </a:t>
            </a:r>
            <a:r>
              <a:rPr sz="1600" b="0">
                <a:solidFill>
                  <a:srgbClr val="2F3B49"/>
                </a:solidFill>
                <a:latin typeface="Montserrat"/>
              </a:rPr>
              <a:t>Keeping attribution in the original feature space is what makes it actionable.</a:t>
            </a:r>
          </a:p>
          <a:p>
            <a:pPr lvl="1">
              <a:lnSpc>
                <a:spcPct val="105000"/>
              </a:lnSpc>
              <a:spcAft>
                <a:spcPts val="600"/>
              </a:spcAft>
            </a:pPr>
            <a:r>
              <a:rPr sz="1600">
                <a:solidFill>
                  <a:srgbClr val="0E7C7B"/>
                </a:solidFill>
                <a:latin typeface="Montserrat"/>
              </a:rPr>
              <a:t>–  </a:t>
            </a:r>
            <a:r>
              <a:rPr sz="1600" b="1">
                <a:solidFill>
                  <a:srgbClr val="2F3B49"/>
                </a:solidFill>
                <a:latin typeface="Montserrat"/>
              </a:rPr>
              <a:t>But real data are rarely single-level: broad regimes contain nested sub-groups.</a:t>
            </a:r>
          </a:p>
          <a:p>
            <a:pPr>
              <a:lnSpc>
                <a:spcPct val="105000"/>
              </a:lnSpc>
              <a:spcAft>
                <a:spcPts val="900"/>
              </a:spcAft>
            </a:pPr>
            <a:r>
              <a:rPr sz="1700">
                <a:solidFill>
                  <a:srgbClr val="0E7C7B"/>
                </a:solidFill>
                <a:latin typeface="Wingdings"/>
              </a:rPr>
              <a:t>§  </a:t>
            </a:r>
            <a:r>
              <a:rPr sz="1700" b="1">
                <a:solidFill>
                  <a:srgbClr val="2F3B49"/>
                </a:solidFill>
                <a:latin typeface="Montserrat Medium"/>
              </a:rPr>
              <a:t>So the next question is whether this logic survives scale and hierarchy.</a:t>
            </a:r>
          </a:p>
        </p:txBody>
      </p:sp>
      <p:pic>
        <p:nvPicPr>
          <p:cNvPr id="49" name="Picture 48" descr="image.png"/>
          <p:cNvPicPr>
            <a:picLocks noChangeAspect="1"/>
          </p:cNvPicPr>
          <p:nvPr/>
        </p:nvPicPr>
        <p:blipFill>
          <a:blip r:embed="rId14"/>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1"/>
          <a:stretch>
            <a:fillRect/>
          </a:stretch>
        </p:blipFill>
        <p:spPr>
          <a:xfrm>
            <a:off x="11709806" y="6400800"/>
            <a:ext cx="384048" cy="384048"/>
          </a:xfrm>
          <a:prstGeom prst="rect">
            <a:avLst/>
          </a:prstGeom>
        </p:spPr>
      </p:pic>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9ED3DE66-EA75-4A44-95A7-C4F7001685B8}"/>
              </a:ext>
            </a:extLst>
          </p:cNvPr>
          <p:cNvSpPr/>
          <p:nvPr/>
        </p:nvSpPr>
        <p:spPr>
          <a:xfrm>
            <a:off x="892728" y="1929560"/>
            <a:ext cx="10406543" cy="299888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3600" b="1" dirty="0">
                <a:solidFill>
                  <a:schemeClr val="bg1"/>
                </a:solidFill>
                <a:latin typeface="Montserrat Medium" pitchFamily="50" charset="0"/>
              </a:rPr>
              <a:t>Contribution II — Enhanced Multi-Level XAI for Large-Scale Clustering</a:t>
            </a:r>
          </a:p>
        </p:txBody>
      </p:sp>
      <p:pic>
        <p:nvPicPr>
          <p:cNvPr id="7" name="Picture 6">
            <a:extLst>
              <a:ext uri="{FF2B5EF4-FFF2-40B4-BE49-F238E27FC236}">
                <a16:creationId xmlns:a16="http://schemas.microsoft.com/office/drawing/2014/main" id="{21A05AE4-2B9A-4D6C-8A67-0FDF35D10E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75523" y="2014740"/>
            <a:ext cx="786211" cy="786211"/>
          </a:xfrm>
          <a:prstGeom prst="rect">
            <a:avLst/>
          </a:prstGeom>
        </p:spPr>
      </p:pic>
      <p:pic>
        <p:nvPicPr>
          <p:cNvPr id="29" name="Picture 28" descr="image.png"/>
          <p:cNvPicPr>
            <a:picLocks noChangeAspect="1"/>
          </p:cNvPicPr>
          <p:nvPr/>
        </p:nvPicPr>
        <p:blipFill>
          <a:blip r:embed="rId7"/>
          <a:stretch>
            <a:fillRect/>
          </a:stretch>
        </p:blipFill>
        <p:spPr>
          <a:xfrm>
            <a:off x="11431828" y="6400800"/>
            <a:ext cx="384048" cy="384048"/>
          </a:xfrm>
          <a:prstGeom prst="rect">
            <a:avLst/>
          </a:prstGeom>
        </p:spPr>
      </p:pic>
      <p:pic>
        <p:nvPicPr>
          <p:cNvPr id="30" name="Picture 29" descr="image.png"/>
          <p:cNvPicPr>
            <a:picLocks noChangeAspect="1"/>
          </p:cNvPicPr>
          <p:nvPr/>
        </p:nvPicPr>
        <p:blipFill>
          <a:blip r:embed="rId3"/>
          <a:stretch>
            <a:fillRect/>
          </a:stretch>
        </p:blipFill>
        <p:spPr>
          <a:xfrm>
            <a:off x="11709806" y="6400800"/>
            <a:ext cx="384048" cy="384048"/>
          </a:xfrm>
          <a:prstGeom prst="rect">
            <a:avLst/>
          </a:prstGeom>
        </p:spPr>
      </p:pic>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 — Multi-Level XAI for Large-Scale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Gap: once clustering is multi-level, feature importance must stay interpretable within a cluster, across sub-clusters, and across the hierarchy.</a:t>
            </a:r>
          </a:p>
          <a:p>
            <a:pPr lvl="1">
              <a:lnSpc>
                <a:spcPct val="105000"/>
              </a:lnSpc>
              <a:spcAft>
                <a:spcPts val="600"/>
              </a:spcAft>
            </a:pPr>
            <a:r>
              <a:rPr sz="1600">
                <a:solidFill>
                  <a:srgbClr val="0E7C7B"/>
                </a:solidFill>
                <a:latin typeface="Montserrat"/>
              </a:rPr>
              <a:t>–  </a:t>
            </a:r>
            <a:r>
              <a:rPr sz="1600" b="0">
                <a:solidFill>
                  <a:srgbClr val="2F3B49"/>
                </a:solidFill>
                <a:latin typeface="Montserrat"/>
              </a:rPr>
              <a:t>Large-scale data make exact explanation computationally burdensome.</a:t>
            </a:r>
          </a:p>
          <a:p>
            <a:pPr lvl="1">
              <a:lnSpc>
                <a:spcPct val="105000"/>
              </a:lnSpc>
              <a:spcAft>
                <a:spcPts val="600"/>
              </a:spcAft>
            </a:pPr>
            <a:r>
              <a:rPr sz="1600">
                <a:solidFill>
                  <a:srgbClr val="0E7C7B"/>
                </a:solidFill>
                <a:latin typeface="Montserrat"/>
              </a:rPr>
              <a:t>–  </a:t>
            </a:r>
            <a:r>
              <a:rPr sz="1600" b="0">
                <a:solidFill>
                  <a:srgbClr val="2F3B49"/>
                </a:solidFill>
                <a:latin typeface="Montserrat"/>
              </a:rPr>
              <a:t>Flat explanation may be true yet incomplete — it cannot show how importance changes inside a cluster.</a:t>
            </a:r>
          </a:p>
          <a:p>
            <a:pPr>
              <a:lnSpc>
                <a:spcPct val="105000"/>
              </a:lnSpc>
              <a:spcAft>
                <a:spcPts val="900"/>
              </a:spcAft>
            </a:pPr>
            <a:r>
              <a:rPr sz="1700">
                <a:solidFill>
                  <a:srgbClr val="0E7C7B"/>
                </a:solidFill>
                <a:latin typeface="Wingdings"/>
              </a:rPr>
              <a:t>§  </a:t>
            </a:r>
            <a:r>
              <a:rPr sz="1700" b="1">
                <a:solidFill>
                  <a:srgbClr val="2F3B49"/>
                </a:solidFill>
                <a:latin typeface="Montserrat Medium"/>
              </a:rPr>
              <a:t>Objectives: a genuinely multi-level workflow; a formal cross-level consistency argument (Prop. 6.1); validation on a structurally different large-scale dataset.</a:t>
            </a:r>
          </a:p>
        </p:txBody>
      </p:sp>
      <p:pic>
        <p:nvPicPr>
          <p:cNvPr id="49" name="Picture 48" descr="image.png"/>
          <p:cNvPicPr>
            <a:picLocks noChangeAspect="1"/>
          </p:cNvPicPr>
          <p:nvPr/>
        </p:nvPicPr>
        <p:blipFill>
          <a:blip r:embed="rId13"/>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4"/>
          <a:stretch>
            <a:fillRect/>
          </a:stretch>
        </p:blipFill>
        <p:spPr>
          <a:xfrm>
            <a:off x="11709806" y="6400800"/>
            <a:ext cx="384048" cy="384048"/>
          </a:xfrm>
          <a:prstGeom prst="rect">
            <a:avLst/>
          </a:prstGeom>
        </p:spPr>
      </p:pic>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 — Multi-Level XAI for Large-Scale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RQ2 · How can this extend to large-scale, hierarchical clustering without losing tractability or consistency?</a:t>
            </a:r>
          </a:p>
          <a:p>
            <a:pPr lvl="1">
              <a:lnSpc>
                <a:spcPct val="105000"/>
              </a:lnSpc>
              <a:spcAft>
                <a:spcPts val="600"/>
              </a:spcAft>
            </a:pPr>
            <a:r>
              <a:rPr sz="1600">
                <a:solidFill>
                  <a:srgbClr val="0E7C7B"/>
                </a:solidFill>
                <a:latin typeface="Montserrat"/>
              </a:rPr>
              <a:t>–  </a:t>
            </a:r>
            <a:r>
              <a:rPr sz="1600" b="0">
                <a:solidFill>
                  <a:srgbClr val="2F3B49"/>
                </a:solidFill>
                <a:latin typeface="Montserrat"/>
              </a:rPr>
              <a:t>Objective O1 · A genuinely multi-level workflow, not a rerun of the single-level pipeline.</a:t>
            </a:r>
          </a:p>
          <a:p>
            <a:pPr lvl="1">
              <a:lnSpc>
                <a:spcPct val="105000"/>
              </a:lnSpc>
              <a:spcAft>
                <a:spcPts val="600"/>
              </a:spcAft>
            </a:pPr>
            <a:r>
              <a:rPr sz="1600">
                <a:solidFill>
                  <a:srgbClr val="0E7C7B"/>
                </a:solidFill>
                <a:latin typeface="Montserrat"/>
              </a:rPr>
              <a:t>–  </a:t>
            </a:r>
            <a:r>
              <a:rPr sz="1600" b="0">
                <a:solidFill>
                  <a:srgbClr val="2F3B49"/>
                </a:solidFill>
                <a:latin typeface="Montserrat"/>
              </a:rPr>
              <a:t>Objective O2 · A formal cross-level consistency argument (Proposition 6.1).</a:t>
            </a:r>
          </a:p>
          <a:p>
            <a:pPr lvl="1">
              <a:lnSpc>
                <a:spcPct val="105000"/>
              </a:lnSpc>
              <a:spcAft>
                <a:spcPts val="600"/>
              </a:spcAft>
            </a:pPr>
            <a:r>
              <a:rPr sz="1600">
                <a:solidFill>
                  <a:srgbClr val="0E7C7B"/>
                </a:solidFill>
                <a:latin typeface="Montserrat"/>
              </a:rPr>
              <a:t>–  </a:t>
            </a:r>
            <a:r>
              <a:rPr sz="1600" b="0">
                <a:solidFill>
                  <a:srgbClr val="2F3B49"/>
                </a:solidFill>
                <a:latin typeface="Montserrat"/>
              </a:rPr>
              <a:t>Objective O3 · Validation on a structurally different large-scale dataset.</a:t>
            </a:r>
          </a:p>
        </p:txBody>
      </p:sp>
      <p:pic>
        <p:nvPicPr>
          <p:cNvPr id="49" name="Picture 48" descr="image.png"/>
          <p:cNvPicPr>
            <a:picLocks noChangeAspect="1"/>
          </p:cNvPicPr>
          <p:nvPr/>
        </p:nvPicPr>
        <p:blipFill>
          <a:blip r:embed="rId13"/>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4"/>
          <a:stretch>
            <a:fillRect/>
          </a:stretch>
        </p:blipFill>
        <p:spPr>
          <a:xfrm>
            <a:off x="11709806" y="6400800"/>
            <a:ext cx="384048" cy="384048"/>
          </a:xfrm>
          <a:prstGeom prst="rect">
            <a:avLst/>
          </a:prstGeom>
        </p:spPr>
      </p:pic>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 — Multi-Level XAI for Large-Scale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Recursive/nested: coarse clustering on the full dataset, then subdivide each cluster.</a:t>
            </a:r>
          </a:p>
          <a:p>
            <a:pPr>
              <a:lnSpc>
                <a:spcPct val="105000"/>
              </a:lnSpc>
              <a:spcAft>
                <a:spcPts val="900"/>
              </a:spcAft>
            </a:pPr>
            <a:r>
              <a:rPr sz="1700">
                <a:solidFill>
                  <a:srgbClr val="0E7C7B"/>
                </a:solidFill>
                <a:latin typeface="Wingdings"/>
              </a:rPr>
              <a:t>§  </a:t>
            </a:r>
            <a:r>
              <a:rPr sz="1700" b="0">
                <a:solidFill>
                  <a:srgbClr val="2F3B49"/>
                </a:solidFill>
                <a:latin typeface="Montserrat"/>
              </a:rPr>
              <a:t>For each level, train a level-specific surrogate and compute SHAP in the SAME original feature space.</a:t>
            </a:r>
          </a:p>
          <a:p>
            <a:pPr>
              <a:lnSpc>
                <a:spcPct val="105000"/>
              </a:lnSpc>
              <a:spcAft>
                <a:spcPts val="900"/>
              </a:spcAft>
            </a:pPr>
            <a:r>
              <a:rPr sz="1700">
                <a:solidFill>
                  <a:srgbClr val="0E7C7B"/>
                </a:solidFill>
                <a:latin typeface="Wingdings"/>
              </a:rPr>
              <a:t>§  </a:t>
            </a:r>
            <a:r>
              <a:rPr sz="1700" b="1">
                <a:solidFill>
                  <a:srgbClr val="2F3B49"/>
                </a:solidFill>
                <a:latin typeface="Montserrat Medium"/>
              </a:rPr>
              <a:t>Cross-level aggregation is NOT a naive average — it respects cluster size and nesting structure.</a:t>
            </a:r>
          </a:p>
          <a:p>
            <a:pPr lvl="1">
              <a:lnSpc>
                <a:spcPct val="105000"/>
              </a:lnSpc>
              <a:spcAft>
                <a:spcPts val="600"/>
              </a:spcAft>
            </a:pPr>
            <a:r>
              <a:rPr sz="1600">
                <a:solidFill>
                  <a:srgbClr val="0E7C7B"/>
                </a:solidFill>
                <a:latin typeface="Montserrat"/>
              </a:rPr>
              <a:t>–  </a:t>
            </a:r>
            <a:r>
              <a:rPr sz="1600" b="0">
                <a:solidFill>
                  <a:srgbClr val="2F3B49"/>
                </a:solidFill>
                <a:latin typeface="Montserrat"/>
              </a:rPr>
              <a:t>Parent-level attribution = an expectation over the explanatory structure of its descendants.</a:t>
            </a:r>
          </a:p>
          <a:p>
            <a:pPr lvl="1">
              <a:lnSpc>
                <a:spcPct val="105000"/>
              </a:lnSpc>
              <a:spcAft>
                <a:spcPts val="600"/>
              </a:spcAft>
            </a:pPr>
            <a:r>
              <a:rPr sz="1600">
                <a:solidFill>
                  <a:srgbClr val="0E7C7B"/>
                </a:solidFill>
                <a:latin typeface="Montserrat"/>
              </a:rPr>
              <a:t>–  </a:t>
            </a:r>
            <a:r>
              <a:rPr sz="1600" b="0">
                <a:solidFill>
                  <a:srgbClr val="2F3B49"/>
                </a:solidFill>
                <a:latin typeface="Montserrat"/>
              </a:rPr>
              <a:t>The hierarchy is a pragmatic analytical device, not a claim of true ontological hierarchy.</a:t>
            </a:r>
          </a:p>
        </p:txBody>
      </p:sp>
      <p:pic>
        <p:nvPicPr>
          <p:cNvPr id="49" name="Picture 48" descr="c2_hierarchy.png"/>
          <p:cNvPicPr>
            <a:picLocks noChangeAspect="1"/>
          </p:cNvPicPr>
          <p:nvPr/>
        </p:nvPicPr>
        <p:blipFill>
          <a:blip r:embed="rId12"/>
          <a:stretch>
            <a:fillRect/>
          </a:stretch>
        </p:blipFill>
        <p:spPr>
          <a:xfrm>
            <a:off x="1463040" y="3429000"/>
            <a:ext cx="9235440" cy="2712910"/>
          </a:xfrm>
          <a:prstGeom prst="rect">
            <a:avLst/>
          </a:prstGeom>
        </p:spPr>
      </p:pic>
      <p:pic>
        <p:nvPicPr>
          <p:cNvPr id="50" name="Picture 49" descr="image.png"/>
          <p:cNvPicPr>
            <a:picLocks noChangeAspect="1"/>
          </p:cNvPicPr>
          <p:nvPr/>
        </p:nvPicPr>
        <p:blipFill>
          <a:blip r:embed="rId14"/>
          <a:stretch>
            <a:fillRect/>
          </a:stretch>
        </p:blipFill>
        <p:spPr>
          <a:xfrm>
            <a:off x="11431828" y="6400800"/>
            <a:ext cx="384048" cy="384048"/>
          </a:xfrm>
          <a:prstGeom prst="rect">
            <a:avLst/>
          </a:prstGeom>
        </p:spPr>
      </p:pic>
      <p:pic>
        <p:nvPicPr>
          <p:cNvPr id="51" name="Picture 50"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 — Multi-Level XAI for Large-Scale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0">
                <a:solidFill>
                  <a:srgbClr val="2F3B49"/>
                </a:solidFill>
                <a:latin typeface="Montserrat"/>
              </a:rPr>
              <a:t>Let Φ^(l,c)_j = E_{x~c}[|φ_j^(l)(x)|] be the expected absolute SHAP importance of feature j at level l in cluster c.</a:t>
            </a:r>
          </a:p>
          <a:p>
            <a:pPr>
              <a:lnSpc>
                <a:spcPct val="105000"/>
              </a:lnSpc>
              <a:spcAft>
                <a:spcPts val="900"/>
              </a:spcAft>
            </a:pPr>
            <a:r>
              <a:rPr sz="1700">
                <a:solidFill>
                  <a:srgbClr val="0E7C7B"/>
                </a:solidFill>
                <a:latin typeface="Wingdings"/>
              </a:rPr>
              <a:t>§  </a:t>
            </a:r>
            <a:r>
              <a:rPr sz="1700" b="0">
                <a:solidFill>
                  <a:srgbClr val="2F3B49"/>
                </a:solidFill>
                <a:latin typeface="Montserrat"/>
              </a:rPr>
              <a:t>Let w_c' = |c'| / |c| be the relative size of child c' within parent c.</a:t>
            </a:r>
          </a:p>
          <a:p>
            <a:pPr>
              <a:lnSpc>
                <a:spcPct val="105000"/>
              </a:lnSpc>
              <a:spcAft>
                <a:spcPts val="900"/>
              </a:spcAft>
            </a:pPr>
            <a:r>
              <a:rPr sz="1700">
                <a:solidFill>
                  <a:srgbClr val="0E7C7B"/>
                </a:solidFill>
                <a:latin typeface="Wingdings"/>
              </a:rPr>
              <a:t>§  </a:t>
            </a:r>
            <a:r>
              <a:rPr sz="1700" b="1">
                <a:solidFill>
                  <a:srgbClr val="2F3B49"/>
                </a:solidFill>
                <a:latin typeface="Montserrat Medium"/>
              </a:rPr>
              <a:t>For a strict nested hierarchy on a consistent feature space:</a:t>
            </a:r>
          </a:p>
          <a:p>
            <a:pPr lvl="1">
              <a:lnSpc>
                <a:spcPct val="105000"/>
              </a:lnSpc>
              <a:spcAft>
                <a:spcPts val="600"/>
              </a:spcAft>
            </a:pPr>
            <a:r>
              <a:rPr sz="1600">
                <a:solidFill>
                  <a:srgbClr val="0E7C7B"/>
                </a:solidFill>
                <a:latin typeface="Montserrat"/>
              </a:rPr>
              <a:t>–  </a:t>
            </a:r>
            <a:r>
              <a:rPr sz="1600" b="1">
                <a:solidFill>
                  <a:srgbClr val="2F3B49"/>
                </a:solidFill>
                <a:latin typeface="Montserrat"/>
              </a:rPr>
              <a:t>Φ^(l,c)_j = Σ_{c'∈child(c)} w_c' · Φ^(l+1,c')_j + ε_j</a:t>
            </a:r>
          </a:p>
          <a:p>
            <a:pPr lvl="1">
              <a:lnSpc>
                <a:spcPct val="105000"/>
              </a:lnSpc>
              <a:spcAft>
                <a:spcPts val="600"/>
              </a:spcAft>
            </a:pPr>
            <a:r>
              <a:rPr sz="1600">
                <a:solidFill>
                  <a:srgbClr val="0E7C7B"/>
                </a:solidFill>
                <a:latin typeface="Montserrat"/>
              </a:rPr>
              <a:t>–  </a:t>
            </a:r>
            <a:r>
              <a:rPr sz="1600" b="0">
                <a:solidFill>
                  <a:srgbClr val="2F3B49"/>
                </a:solidFill>
                <a:latin typeface="Montserrat"/>
              </a:rPr>
              <a:t>ε_j is a residual from surrogate mismatch, vanishing under perfect fidelity.</a:t>
            </a:r>
          </a:p>
          <a:p>
            <a:pPr lvl="1">
              <a:lnSpc>
                <a:spcPct val="105000"/>
              </a:lnSpc>
              <a:spcAft>
                <a:spcPts val="600"/>
              </a:spcAft>
            </a:pPr>
            <a:r>
              <a:rPr sz="1600">
                <a:solidFill>
                  <a:srgbClr val="0E7C7B"/>
                </a:solidFill>
                <a:latin typeface="Montserrat"/>
              </a:rPr>
              <a:t>–  </a:t>
            </a:r>
            <a:r>
              <a:rPr sz="1600" b="0">
                <a:solidFill>
                  <a:srgbClr val="2F3B49"/>
                </a:solidFill>
                <a:latin typeface="Montserrat"/>
              </a:rPr>
              <a:t>Derived via law of total expectation (children partition the parent).</a:t>
            </a:r>
          </a:p>
          <a:p>
            <a:pPr lvl="1">
              <a:lnSpc>
                <a:spcPct val="105000"/>
              </a:lnSpc>
              <a:spcAft>
                <a:spcPts val="600"/>
              </a:spcAft>
            </a:pPr>
            <a:r>
              <a:rPr sz="1600">
                <a:solidFill>
                  <a:srgbClr val="0E7C7B"/>
                </a:solidFill>
                <a:latin typeface="Montserrat"/>
              </a:rPr>
              <a:t>–  </a:t>
            </a:r>
            <a:r>
              <a:rPr sz="1600" b="0">
                <a:solidFill>
                  <a:srgbClr val="2F3B49"/>
                </a:solidFill>
                <a:latin typeface="Montserrat"/>
              </a:rPr>
              <a:t>Does NOT imply explanations are identical across levels — it implies differences can be interpreted, not dismissed as inconsistency.</a:t>
            </a:r>
          </a:p>
        </p:txBody>
      </p:sp>
      <p:pic>
        <p:nvPicPr>
          <p:cNvPr id="49" name="Picture 48" descr="image.png"/>
          <p:cNvPicPr>
            <a:picLocks noChangeAspect="1"/>
          </p:cNvPicPr>
          <p:nvPr/>
        </p:nvPicPr>
        <p:blipFill>
          <a:blip r:embed="rId13"/>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4"/>
          <a:stretch>
            <a:fillRect/>
          </a:stretch>
        </p:blipFill>
        <p:spPr>
          <a:xfrm>
            <a:off x="11709806" y="6400800"/>
            <a:ext cx="384048" cy="384048"/>
          </a:xfrm>
          <a:prstGeom prst="rect">
            <a:avLst/>
          </a:prstGeom>
        </p:spPr>
      </p:pic>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 — Multi-Level XAI for Large-Scale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Full dataset, k = 3 (strong convergence on multi-criteria evaluation).</a:t>
            </a:r>
          </a:p>
          <a:p>
            <a:pPr lvl="1">
              <a:lnSpc>
                <a:spcPct val="105000"/>
              </a:lnSpc>
              <a:spcAft>
                <a:spcPts val="600"/>
              </a:spcAft>
            </a:pPr>
            <a:r>
              <a:rPr sz="1600">
                <a:solidFill>
                  <a:srgbClr val="0E7C7B"/>
                </a:solidFill>
                <a:latin typeface="Montserrat"/>
              </a:rPr>
              <a:t>–  </a:t>
            </a:r>
            <a:r>
              <a:rPr sz="1600" b="0">
                <a:solidFill>
                  <a:srgbClr val="2F3B49"/>
                </a:solidFill>
                <a:latin typeface="Montserrat"/>
              </a:rPr>
              <a:t>Silhouette ≈ 0.63 — materially stronger separation than wine.</a:t>
            </a:r>
          </a:p>
          <a:p>
            <a:pPr lvl="1">
              <a:lnSpc>
                <a:spcPct val="105000"/>
              </a:lnSpc>
              <a:spcAft>
                <a:spcPts val="600"/>
              </a:spcAft>
            </a:pPr>
            <a:r>
              <a:rPr sz="1600">
                <a:solidFill>
                  <a:srgbClr val="0E7C7B"/>
                </a:solidFill>
                <a:latin typeface="Montserrat"/>
              </a:rPr>
              <a:t>–  </a:t>
            </a:r>
            <a:r>
              <a:rPr sz="1600" b="0">
                <a:solidFill>
                  <a:srgbClr val="2F3B49"/>
                </a:solidFill>
                <a:latin typeface="Montserrat"/>
              </a:rPr>
              <a:t>Davies–Bouldin ≈ 0.55 — low between-cluster ambiguity.</a:t>
            </a:r>
          </a:p>
          <a:p>
            <a:pPr lvl="1">
              <a:lnSpc>
                <a:spcPct val="105000"/>
              </a:lnSpc>
              <a:spcAft>
                <a:spcPts val="600"/>
              </a:spcAft>
            </a:pPr>
            <a:r>
              <a:rPr sz="1600">
                <a:solidFill>
                  <a:srgbClr val="0E7C7B"/>
                </a:solidFill>
                <a:latin typeface="Montserrat"/>
              </a:rPr>
              <a:t>–  </a:t>
            </a:r>
            <a:r>
              <a:rPr sz="1600" b="0">
                <a:solidFill>
                  <a:srgbClr val="2F3B49"/>
                </a:solidFill>
                <a:latin typeface="Montserrat"/>
              </a:rPr>
              <a:t>PCA projection (2 components) used only for visual inspection.</a:t>
            </a:r>
          </a:p>
          <a:p>
            <a:pPr lvl="1">
              <a:lnSpc>
                <a:spcPct val="105000"/>
              </a:lnSpc>
              <a:spcAft>
                <a:spcPts val="600"/>
              </a:spcAft>
            </a:pPr>
            <a:r>
              <a:rPr sz="1600">
                <a:solidFill>
                  <a:srgbClr val="0E7C7B"/>
                </a:solidFill>
                <a:latin typeface="Montserrat"/>
              </a:rPr>
              <a:t>–  </a:t>
            </a:r>
            <a:r>
              <a:rPr sz="1600" b="0">
                <a:solidFill>
                  <a:srgbClr val="2F3B49"/>
                </a:solidFill>
                <a:latin typeface="Montserrat"/>
              </a:rPr>
              <a:t>Sensitivity: robust to modest variation in k, projection dim, surrogate depth; only low-ranked variables shift.</a:t>
            </a:r>
          </a:p>
        </p:txBody>
      </p:sp>
      <p:pic>
        <p:nvPicPr>
          <p:cNvPr id="49" name="Picture 48" descr="image.png"/>
          <p:cNvPicPr>
            <a:picLocks noChangeAspect="1"/>
          </p:cNvPicPr>
          <p:nvPr/>
        </p:nvPicPr>
        <p:blipFill>
          <a:blip r:embed="rId11"/>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3"/>
          <a:stretch>
            <a:fillRect/>
          </a:stretch>
        </p:blipFill>
        <p:spPr>
          <a:xfrm>
            <a:off x="11709806" y="6400800"/>
            <a:ext cx="384048" cy="384048"/>
          </a:xfrm>
          <a:prstGeom prst="rect">
            <a:avLst/>
          </a:prstGeom>
        </p:spPr>
      </p:pic>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 — Multi-Level XAI for Large-Scale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Global SHAP ranking (high → low):</a:t>
            </a:r>
          </a:p>
          <a:p>
            <a:pPr lvl="1">
              <a:lnSpc>
                <a:spcPct val="105000"/>
              </a:lnSpc>
              <a:spcAft>
                <a:spcPts val="600"/>
              </a:spcAft>
            </a:pPr>
            <a:r>
              <a:rPr sz="1600">
                <a:solidFill>
                  <a:srgbClr val="0E7C7B"/>
                </a:solidFill>
                <a:latin typeface="Montserrat"/>
              </a:rPr>
              <a:t>–  </a:t>
            </a:r>
            <a:r>
              <a:rPr sz="1600" b="0">
                <a:solidFill>
                  <a:srgbClr val="2F3B49"/>
                </a:solidFill>
                <a:latin typeface="Montserrat"/>
              </a:rPr>
              <a:t>temperature → dew point → pressure → CO → NO2 → PM10 → PM2.5</a:t>
            </a:r>
          </a:p>
          <a:p>
            <a:pPr lvl="1">
              <a:lnSpc>
                <a:spcPct val="105000"/>
              </a:lnSpc>
              <a:spcAft>
                <a:spcPts val="600"/>
              </a:spcAft>
            </a:pPr>
            <a:r>
              <a:rPr sz="1600">
                <a:solidFill>
                  <a:srgbClr val="0E7C7B"/>
                </a:solidFill>
                <a:latin typeface="Montserrat"/>
              </a:rPr>
              <a:t>–  </a:t>
            </a:r>
            <a:r>
              <a:rPr sz="1600" b="0">
                <a:solidFill>
                  <a:srgbClr val="2F3B49"/>
                </a:solidFill>
                <a:latin typeface="Montserrat"/>
              </a:rPr>
              <a:t>It is NOT simply pollutant concentrations that matter — meteorological variables play a structurally central role.</a:t>
            </a:r>
          </a:p>
          <a:p>
            <a:pPr lvl="1">
              <a:lnSpc>
                <a:spcPct val="105000"/>
              </a:lnSpc>
              <a:spcAft>
                <a:spcPts val="600"/>
              </a:spcAft>
            </a:pPr>
            <a:r>
              <a:rPr sz="1600">
                <a:solidFill>
                  <a:srgbClr val="0E7C7B"/>
                </a:solidFill>
                <a:latin typeface="Montserrat"/>
              </a:rPr>
              <a:t>–  </a:t>
            </a:r>
            <a:r>
              <a:rPr sz="1600" b="0">
                <a:solidFill>
                  <a:srgbClr val="2F3B49"/>
                </a:solidFill>
                <a:latin typeface="Montserrat"/>
              </a:rPr>
              <a:t>Temperature, dew point and pressure condition dispersion, trapping, and photochemical behaviour.</a:t>
            </a:r>
          </a:p>
          <a:p>
            <a:pPr lvl="1">
              <a:lnSpc>
                <a:spcPct val="105000"/>
              </a:lnSpc>
              <a:spcAft>
                <a:spcPts val="600"/>
              </a:spcAft>
            </a:pPr>
            <a:r>
              <a:rPr sz="1600">
                <a:solidFill>
                  <a:srgbClr val="0E7C7B"/>
                </a:solidFill>
                <a:latin typeface="Montserrat"/>
              </a:rPr>
              <a:t>–  </a:t>
            </a:r>
            <a:r>
              <a:rPr sz="1600" b="0">
                <a:solidFill>
                  <a:srgbClr val="2F3B49"/>
                </a:solidFill>
                <a:latin typeface="Montserrat"/>
              </a:rPr>
              <a:t>This is the kind of insight flat descriptive summaries often fail to make explicit.</a:t>
            </a:r>
          </a:p>
        </p:txBody>
      </p:sp>
      <p:pic>
        <p:nvPicPr>
          <p:cNvPr id="49" name="Picture 48" descr="image.png"/>
          <p:cNvPicPr>
            <a:picLocks noChangeAspect="1"/>
          </p:cNvPicPr>
          <p:nvPr/>
        </p:nvPicPr>
        <p:blipFill>
          <a:blip r:embed="rId11"/>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0"/>
          <a:stretch>
            <a:fillRect/>
          </a:stretch>
        </p:blipFill>
        <p:spPr>
          <a:xfrm>
            <a:off x="11709806" y="6400800"/>
            <a:ext cx="384048" cy="384048"/>
          </a:xfrm>
          <a:prstGeom prst="rect">
            <a:avLst/>
          </a:prstGeom>
        </p:spPr>
      </p:pic>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 — Multi-Level XAI for Large-Scale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0">
                <a:solidFill>
                  <a:srgbClr val="2F3B49"/>
                </a:solidFill>
                <a:latin typeface="Montserrat"/>
              </a:rPr>
              <a:t>Regime A – warm photochemical: ozone, temperature, dew point prominent (summer photochemical smog).</a:t>
            </a:r>
          </a:p>
          <a:p>
            <a:pPr>
              <a:lnSpc>
                <a:spcPct val="105000"/>
              </a:lnSpc>
              <a:spcAft>
                <a:spcPts val="900"/>
              </a:spcAft>
            </a:pPr>
            <a:r>
              <a:rPr sz="1700">
                <a:solidFill>
                  <a:srgbClr val="0E7C7B"/>
                </a:solidFill>
                <a:latin typeface="Wingdings"/>
              </a:rPr>
              <a:t>§  </a:t>
            </a:r>
            <a:r>
              <a:rPr sz="1700" b="0">
                <a:solidFill>
                  <a:srgbClr val="2F3B49"/>
                </a:solidFill>
                <a:latin typeface="Montserrat"/>
              </a:rPr>
              <a:t>Regime B – wintertime smog: CO, SO2, PM dominate; low wind speed suppresses dispersion.</a:t>
            </a:r>
          </a:p>
          <a:p>
            <a:pPr>
              <a:lnSpc>
                <a:spcPct val="105000"/>
              </a:lnSpc>
              <a:spcAft>
                <a:spcPts val="900"/>
              </a:spcAft>
            </a:pPr>
            <a:r>
              <a:rPr sz="1700">
                <a:solidFill>
                  <a:srgbClr val="0E7C7B"/>
                </a:solidFill>
                <a:latin typeface="Wingdings"/>
              </a:rPr>
              <a:t>§  </a:t>
            </a:r>
            <a:r>
              <a:rPr sz="1700" b="0">
                <a:solidFill>
                  <a:srgbClr val="2F3B49"/>
                </a:solidFill>
                <a:latin typeface="Montserrat"/>
              </a:rPr>
              <a:t>Regime C – comparatively clean air: favourable meteorology, weak pollutant pushes.</a:t>
            </a:r>
          </a:p>
          <a:p>
            <a:pPr lvl="1">
              <a:lnSpc>
                <a:spcPct val="105000"/>
              </a:lnSpc>
              <a:spcAft>
                <a:spcPts val="600"/>
              </a:spcAft>
            </a:pPr>
            <a:r>
              <a:rPr sz="1600">
                <a:solidFill>
                  <a:srgbClr val="0E7C7B"/>
                </a:solidFill>
                <a:latin typeface="Montserrat"/>
              </a:rPr>
              <a:t>–  </a:t>
            </a:r>
            <a:r>
              <a:rPr sz="1600" b="1">
                <a:solidFill>
                  <a:srgbClr val="2F3B49"/>
                </a:solidFill>
                <a:latin typeface="Montserrat"/>
              </a:rPr>
              <a:t>The framework shows not only that these regimes exist, but which variable combinations define them.</a:t>
            </a:r>
          </a:p>
        </p:txBody>
      </p:sp>
      <p:pic>
        <p:nvPicPr>
          <p:cNvPr id="49" name="Picture 48" descr="image.png"/>
          <p:cNvPicPr>
            <a:picLocks noChangeAspect="1"/>
          </p:cNvPicPr>
          <p:nvPr/>
        </p:nvPicPr>
        <p:blipFill>
          <a:blip r:embed="rId11"/>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3"/>
          <a:stretch>
            <a:fillRect/>
          </a:stretch>
        </p:blipFill>
        <p:spPr>
          <a:xfrm>
            <a:off x="11709806" y="6400800"/>
            <a:ext cx="384048" cy="384048"/>
          </a:xfrm>
          <a:prstGeom prst="rect">
            <a:avLst/>
          </a:prstGeom>
        </p:spPr>
      </p:pic>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 — Multi-Level XAI for Large-Scale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0">
                <a:solidFill>
                  <a:srgbClr val="2F3B49"/>
                </a:solidFill>
                <a:latin typeface="Montserrat"/>
              </a:rPr>
              <a:t>At the coarse level, temperature and dew point dominate — they differentiate broad atmospheric regimes.</a:t>
            </a:r>
          </a:p>
          <a:p>
            <a:pPr>
              <a:lnSpc>
                <a:spcPct val="105000"/>
              </a:lnSpc>
              <a:spcAft>
                <a:spcPts val="900"/>
              </a:spcAft>
            </a:pPr>
            <a:r>
              <a:rPr sz="1700">
                <a:solidFill>
                  <a:srgbClr val="0E7C7B"/>
                </a:solidFill>
                <a:latin typeface="Wingdings"/>
              </a:rPr>
              <a:t>§  </a:t>
            </a:r>
            <a:r>
              <a:rPr sz="1700" b="0">
                <a:solidFill>
                  <a:srgbClr val="2F3B49"/>
                </a:solidFill>
                <a:latin typeface="Montserrat"/>
              </a:rPr>
              <a:t>Within individual clusters, CO, SO2, PM10, wind speed, pressure, or ozone become more discriminative.</a:t>
            </a:r>
          </a:p>
          <a:p>
            <a:pPr>
              <a:lnSpc>
                <a:spcPct val="105000"/>
              </a:lnSpc>
              <a:spcAft>
                <a:spcPts val="900"/>
              </a:spcAft>
            </a:pPr>
            <a:r>
              <a:rPr sz="1700">
                <a:solidFill>
                  <a:srgbClr val="0E7C7B"/>
                </a:solidFill>
                <a:latin typeface="Wingdings"/>
              </a:rPr>
              <a:t>§  </a:t>
            </a:r>
            <a:r>
              <a:rPr sz="1700" b="1">
                <a:solidFill>
                  <a:srgbClr val="2F3B49"/>
                </a:solidFill>
                <a:latin typeface="Montserrat Medium"/>
              </a:rPr>
              <a:t>This change is NOT contradictory — it is exactly what a multi-level explanation should reveal.</a:t>
            </a:r>
          </a:p>
          <a:p>
            <a:pPr lvl="1">
              <a:lnSpc>
                <a:spcPct val="105000"/>
              </a:lnSpc>
              <a:spcAft>
                <a:spcPts val="600"/>
              </a:spcAft>
            </a:pPr>
            <a:r>
              <a:rPr sz="1600">
                <a:solidFill>
                  <a:srgbClr val="0E7C7B"/>
                </a:solidFill>
                <a:latin typeface="Montserrat"/>
              </a:rPr>
              <a:t>–  </a:t>
            </a:r>
            <a:r>
              <a:rPr sz="1600" b="0">
                <a:solidFill>
                  <a:srgbClr val="2F3B49"/>
                </a:solidFill>
                <a:latin typeface="Montserrat"/>
              </a:rPr>
              <a:t>Parent-level story = regime selection. Cluster-level story = variation within a regime.</a:t>
            </a:r>
          </a:p>
          <a:p>
            <a:pPr lvl="1">
              <a:lnSpc>
                <a:spcPct val="105000"/>
              </a:lnSpc>
              <a:spcAft>
                <a:spcPts val="600"/>
              </a:spcAft>
            </a:pPr>
            <a:r>
              <a:rPr sz="1600">
                <a:solidFill>
                  <a:srgbClr val="0E7C7B"/>
                </a:solidFill>
                <a:latin typeface="Montserrat"/>
              </a:rPr>
              <a:t>–  </a:t>
            </a:r>
            <a:r>
              <a:rPr sz="1600" b="0">
                <a:solidFill>
                  <a:srgbClr val="2F3B49"/>
                </a:solidFill>
                <a:latin typeface="Montserrat"/>
              </a:rPr>
              <a:t>A variable can be globally important yet locally uninformative within a sub-cluster.</a:t>
            </a:r>
          </a:p>
        </p:txBody>
      </p:sp>
      <p:pic>
        <p:nvPicPr>
          <p:cNvPr id="49" name="Picture 48" descr="image.png"/>
          <p:cNvPicPr>
            <a:picLocks noChangeAspect="1"/>
          </p:cNvPicPr>
          <p:nvPr/>
        </p:nvPicPr>
        <p:blipFill>
          <a:blip r:embed="rId11"/>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3"/>
          <a:stretch>
            <a:fillRect/>
          </a:stretch>
        </p:blipFill>
        <p:spPr>
          <a:xfrm>
            <a:off x="11709806" y="6400800"/>
            <a:ext cx="384048" cy="384048"/>
          </a:xfrm>
          <a:prstGeom prst="rect">
            <a:avLst/>
          </a:prstGeom>
        </p:spPr>
      </p:pic>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 — Multi-Level XAI for Large-Scale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0">
                <a:solidFill>
                  <a:srgbClr val="2F3B49"/>
                </a:solidFill>
                <a:latin typeface="Montserrat"/>
              </a:rPr>
              <a:t>Wine: small, dense, chemically correlated. Beijing: large, noisy, temporally and meteorologically variable.</a:t>
            </a:r>
          </a:p>
          <a:p>
            <a:pPr>
              <a:lnSpc>
                <a:spcPct val="105000"/>
              </a:lnSpc>
              <a:spcAft>
                <a:spcPts val="900"/>
              </a:spcAft>
            </a:pPr>
            <a:r>
              <a:rPr sz="1700">
                <a:solidFill>
                  <a:srgbClr val="0E7C7B"/>
                </a:solidFill>
                <a:latin typeface="Wingdings"/>
              </a:rPr>
              <a:t>§  </a:t>
            </a:r>
            <a:r>
              <a:rPr sz="1700" b="1">
                <a:solidFill>
                  <a:srgbClr val="2F3B49"/>
                </a:solidFill>
                <a:latin typeface="Montserrat Medium"/>
              </a:rPr>
              <a:t>The same explanatory logic remains productive in both → not tied to one domain-specific peculiarity.</a:t>
            </a:r>
          </a:p>
          <a:p>
            <a:pPr lvl="1">
              <a:lnSpc>
                <a:spcPct val="105000"/>
              </a:lnSpc>
              <a:spcAft>
                <a:spcPts val="600"/>
              </a:spcAft>
            </a:pPr>
            <a:r>
              <a:rPr sz="1600">
                <a:solidFill>
                  <a:srgbClr val="0E7C7B"/>
                </a:solidFill>
                <a:latin typeface="Montserrat"/>
              </a:rPr>
              <a:t>–  </a:t>
            </a:r>
            <a:r>
              <a:rPr sz="1600" b="0">
                <a:solidFill>
                  <a:srgbClr val="2F3B49"/>
                </a:solidFill>
                <a:latin typeface="Montserrat"/>
              </a:rPr>
              <a:t>vs SHAP-based clustering literature: Beijing Silhouette ≈ 0.63 vs Gramegna &amp; Giudici credit-risk 0.37.</a:t>
            </a:r>
          </a:p>
          <a:p>
            <a:pPr lvl="1">
              <a:lnSpc>
                <a:spcPct val="105000"/>
              </a:lnSpc>
              <a:spcAft>
                <a:spcPts val="600"/>
              </a:spcAft>
            </a:pPr>
            <a:r>
              <a:rPr sz="1600">
                <a:solidFill>
                  <a:srgbClr val="0E7C7B"/>
                </a:solidFill>
                <a:latin typeface="Montserrat"/>
              </a:rPr>
              <a:t>–  </a:t>
            </a:r>
            <a:r>
              <a:rPr sz="1600" b="0">
                <a:solidFill>
                  <a:srgbClr val="2F3B49"/>
                </a:solidFill>
                <a:latin typeface="Montserrat"/>
              </a:rPr>
              <a:t>LIME comparator: weaker structural coherence, less stable local narratives for hierarchical reasoning.</a:t>
            </a:r>
          </a:p>
        </p:txBody>
      </p:sp>
      <p:pic>
        <p:nvPicPr>
          <p:cNvPr id="49" name="Picture 48" descr="image.png"/>
          <p:cNvPicPr>
            <a:picLocks noChangeAspect="1"/>
          </p:cNvPicPr>
          <p:nvPr/>
        </p:nvPicPr>
        <p:blipFill>
          <a:blip r:embed="rId11"/>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1"/>
          <a:stretch>
            <a:fillRect/>
          </a:stretch>
        </p:blipFill>
        <p:spPr>
          <a:xfrm>
            <a:off x="11709806" y="6400800"/>
            <a:ext cx="384048" cy="384048"/>
          </a:xfrm>
          <a:prstGeom prst="rect">
            <a:avLst/>
          </a:prstGeom>
        </p:spPr>
      </p:pic>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 — Multi-Level XAI for Large-Scale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Answers to the questions and objectives</a:t>
            </a:r>
          </a:p>
          <a:p>
            <a:pPr lvl="1">
              <a:lnSpc>
                <a:spcPct val="105000"/>
              </a:lnSpc>
              <a:spcAft>
                <a:spcPts val="600"/>
              </a:spcAft>
            </a:pPr>
            <a:r>
              <a:rPr sz="1600">
                <a:solidFill>
                  <a:srgbClr val="0E7C7B"/>
                </a:solidFill>
                <a:latin typeface="Montserrat"/>
              </a:rPr>
              <a:t>–  </a:t>
            </a:r>
            <a:r>
              <a:rPr sz="1600" b="0">
                <a:solidFill>
                  <a:srgbClr val="2F3B49"/>
                </a:solidFill>
                <a:latin typeface="Montserrat"/>
              </a:rPr>
              <a:t>RQ2 answered in the affirmative, with bounds — coherence retained under scale and hierarchy.</a:t>
            </a:r>
          </a:p>
          <a:p>
            <a:pPr lvl="1">
              <a:lnSpc>
                <a:spcPct val="105000"/>
              </a:lnSpc>
              <a:spcAft>
                <a:spcPts val="600"/>
              </a:spcAft>
            </a:pPr>
            <a:r>
              <a:rPr sz="1600">
                <a:solidFill>
                  <a:srgbClr val="0E7C7B"/>
                </a:solidFill>
                <a:latin typeface="Montserrat"/>
              </a:rPr>
              <a:t>–  </a:t>
            </a:r>
            <a:r>
              <a:rPr sz="1600" b="0">
                <a:solidFill>
                  <a:srgbClr val="2F3B49"/>
                </a:solidFill>
                <a:latin typeface="Montserrat"/>
              </a:rPr>
              <a:t>O1 met · a multi-granular explanation that does not collapse into a single flat summary.</a:t>
            </a:r>
          </a:p>
          <a:p>
            <a:pPr lvl="1">
              <a:lnSpc>
                <a:spcPct val="105000"/>
              </a:lnSpc>
              <a:spcAft>
                <a:spcPts val="600"/>
              </a:spcAft>
            </a:pPr>
            <a:r>
              <a:rPr sz="1600">
                <a:solidFill>
                  <a:srgbClr val="0E7C7B"/>
                </a:solidFill>
                <a:latin typeface="Montserrat"/>
              </a:rPr>
              <a:t>–  </a:t>
            </a:r>
            <a:r>
              <a:rPr sz="1600" b="0">
                <a:solidFill>
                  <a:srgbClr val="2F3B49"/>
                </a:solidFill>
                <a:latin typeface="Montserrat"/>
              </a:rPr>
              <a:t>O2 met · Proposition 6.1 provides a formal cross-level consistency argument.</a:t>
            </a:r>
          </a:p>
          <a:p>
            <a:pPr lvl="1">
              <a:lnSpc>
                <a:spcPct val="105000"/>
              </a:lnSpc>
              <a:spcAft>
                <a:spcPts val="600"/>
              </a:spcAft>
            </a:pPr>
            <a:r>
              <a:rPr sz="1600">
                <a:solidFill>
                  <a:srgbClr val="0E7C7B"/>
                </a:solidFill>
                <a:latin typeface="Montserrat"/>
              </a:rPr>
              <a:t>–  </a:t>
            </a:r>
            <a:r>
              <a:rPr sz="1600" b="0">
                <a:solidFill>
                  <a:srgbClr val="2F3B49"/>
                </a:solidFill>
                <a:latin typeface="Montserrat"/>
              </a:rPr>
              <a:t>O3 met · validated on a structurally different large-scale dataset (Beijing air quality).</a:t>
            </a:r>
          </a:p>
        </p:txBody>
      </p:sp>
      <p:pic>
        <p:nvPicPr>
          <p:cNvPr id="49" name="Picture 48" descr="image.png"/>
          <p:cNvPicPr>
            <a:picLocks noChangeAspect="1"/>
          </p:cNvPicPr>
          <p:nvPr/>
        </p:nvPicPr>
        <p:blipFill>
          <a:blip r:embed="rId11"/>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7"/>
          <a:stretch>
            <a:fillRect/>
          </a:stretch>
        </p:blipFill>
        <p:spPr>
          <a:xfrm>
            <a:off x="11709806" y="6400800"/>
            <a:ext cx="384048" cy="384048"/>
          </a:xfrm>
          <a:prstGeom prst="rect">
            <a:avLst/>
          </a:prstGeom>
        </p:spPr>
      </p:pic>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 — Multi-Level XAI for Large-Scale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Key findings</a:t>
            </a:r>
          </a:p>
          <a:p>
            <a:pPr lvl="1">
              <a:lnSpc>
                <a:spcPct val="105000"/>
              </a:lnSpc>
              <a:spcAft>
                <a:spcPts val="600"/>
              </a:spcAft>
            </a:pPr>
            <a:r>
              <a:rPr sz="1600">
                <a:solidFill>
                  <a:srgbClr val="0E7C7B"/>
                </a:solidFill>
                <a:latin typeface="Montserrat"/>
              </a:rPr>
              <a:t>–  </a:t>
            </a:r>
            <a:r>
              <a:rPr sz="1600" b="0">
                <a:solidFill>
                  <a:srgbClr val="2F3B49"/>
                </a:solidFill>
                <a:latin typeface="Montserrat"/>
              </a:rPr>
              <a:t>Scalable, multi-granular explanation that does not collapse into a single flat summary.</a:t>
            </a:r>
          </a:p>
          <a:p>
            <a:pPr lvl="1">
              <a:lnSpc>
                <a:spcPct val="105000"/>
              </a:lnSpc>
              <a:spcAft>
                <a:spcPts val="600"/>
              </a:spcAft>
            </a:pPr>
            <a:r>
              <a:rPr sz="1600">
                <a:solidFill>
                  <a:srgbClr val="0E7C7B"/>
                </a:solidFill>
                <a:latin typeface="Montserrat"/>
              </a:rPr>
              <a:t>–  </a:t>
            </a:r>
            <a:r>
              <a:rPr sz="1600" b="0">
                <a:solidFill>
                  <a:srgbClr val="2F3B49"/>
                </a:solidFill>
                <a:latin typeface="Montserrat"/>
              </a:rPr>
              <a:t>Formal cross-level consistency argument (Proposition 6.1).</a:t>
            </a:r>
          </a:p>
          <a:p>
            <a:pPr lvl="1">
              <a:lnSpc>
                <a:spcPct val="105000"/>
              </a:lnSpc>
              <a:spcAft>
                <a:spcPts val="600"/>
              </a:spcAft>
            </a:pPr>
            <a:r>
              <a:rPr sz="1600">
                <a:solidFill>
                  <a:srgbClr val="0E7C7B"/>
                </a:solidFill>
                <a:latin typeface="Montserrat"/>
              </a:rPr>
              <a:t>–  </a:t>
            </a:r>
            <a:r>
              <a:rPr sz="1600" b="0">
                <a:solidFill>
                  <a:srgbClr val="2F3B49"/>
                </a:solidFill>
                <a:latin typeface="Montserrat"/>
              </a:rPr>
              <a:t>Validated on a structurally different large-scale dataset (Beijing air quality).</a:t>
            </a:r>
          </a:p>
          <a:p>
            <a:pPr lvl="1">
              <a:lnSpc>
                <a:spcPct val="105000"/>
              </a:lnSpc>
              <a:spcAft>
                <a:spcPts val="600"/>
              </a:spcAft>
            </a:pPr>
            <a:r>
              <a:rPr sz="1600">
                <a:solidFill>
                  <a:srgbClr val="0E7C7B"/>
                </a:solidFill>
                <a:latin typeface="Montserrat"/>
              </a:rPr>
              <a:t>–  </a:t>
            </a:r>
            <a:r>
              <a:rPr sz="1600" b="0">
                <a:solidFill>
                  <a:srgbClr val="2F3B49"/>
                </a:solidFill>
                <a:latin typeface="Montserrat"/>
              </a:rPr>
              <a:t>Differences across levels are interpretable, not dismissed as inconsistency.</a:t>
            </a:r>
          </a:p>
        </p:txBody>
      </p:sp>
      <p:pic>
        <p:nvPicPr>
          <p:cNvPr id="49" name="Picture 48" descr="image.png"/>
          <p:cNvPicPr>
            <a:picLocks noChangeAspect="1"/>
          </p:cNvPicPr>
          <p:nvPr/>
        </p:nvPicPr>
        <p:blipFill>
          <a:blip r:embed="rId11"/>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3"/>
          <a:stretch>
            <a:fillRect/>
          </a:stretch>
        </p:blipFill>
        <p:spPr>
          <a:xfrm>
            <a:off x="11709806" y="6400800"/>
            <a:ext cx="384048" cy="384048"/>
          </a:xfrm>
          <a:prstGeom prst="rect">
            <a:avLst/>
          </a:prstGeom>
        </p:spPr>
      </p:pic>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 — Multi-Level XAI for Large-Scale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Limitations</a:t>
            </a:r>
          </a:p>
          <a:p>
            <a:pPr lvl="1">
              <a:lnSpc>
                <a:spcPct val="105000"/>
              </a:lnSpc>
              <a:spcAft>
                <a:spcPts val="600"/>
              </a:spcAft>
            </a:pPr>
            <a:r>
              <a:rPr sz="1600">
                <a:solidFill>
                  <a:srgbClr val="0E7C7B"/>
                </a:solidFill>
                <a:latin typeface="Montserrat"/>
              </a:rPr>
              <a:t>–  </a:t>
            </a:r>
            <a:r>
              <a:rPr sz="1600" b="0">
                <a:solidFill>
                  <a:srgbClr val="2F3B49"/>
                </a:solidFill>
                <a:latin typeface="Montserrat"/>
              </a:rPr>
              <a:t>Clustering remains static, even though the Beijing data are temporal.</a:t>
            </a:r>
          </a:p>
          <a:p>
            <a:pPr lvl="1">
              <a:lnSpc>
                <a:spcPct val="105000"/>
              </a:lnSpc>
              <a:spcAft>
                <a:spcPts val="600"/>
              </a:spcAft>
            </a:pPr>
            <a:r>
              <a:rPr sz="1600">
                <a:solidFill>
                  <a:srgbClr val="0E7C7B"/>
                </a:solidFill>
                <a:latin typeface="Montserrat"/>
              </a:rPr>
              <a:t>–  </a:t>
            </a:r>
            <a:r>
              <a:rPr sz="1600" b="0">
                <a:solidFill>
                  <a:srgbClr val="2F3B49"/>
                </a:solidFill>
                <a:latin typeface="Montserrat"/>
              </a:rPr>
              <a:t>Surrogate-based SHAP plus representative-instance reporting compress observation-level variation.</a:t>
            </a:r>
          </a:p>
          <a:p>
            <a:pPr lvl="1">
              <a:lnSpc>
                <a:spcPct val="105000"/>
              </a:lnSpc>
              <a:spcAft>
                <a:spcPts val="600"/>
              </a:spcAft>
            </a:pPr>
            <a:r>
              <a:rPr sz="1600">
                <a:solidFill>
                  <a:srgbClr val="0E7C7B"/>
                </a:solidFill>
                <a:latin typeface="Montserrat"/>
              </a:rPr>
              <a:t>–  </a:t>
            </a:r>
            <a:r>
              <a:rPr sz="1600" b="0">
                <a:solidFill>
                  <a:srgbClr val="2F3B49"/>
                </a:solidFill>
                <a:latin typeface="Montserrat"/>
              </a:rPr>
              <a:t>Confined to tabular data.</a:t>
            </a:r>
          </a:p>
          <a:p>
            <a:pPr lvl="1">
              <a:lnSpc>
                <a:spcPct val="105000"/>
              </a:lnSpc>
              <a:spcAft>
                <a:spcPts val="600"/>
              </a:spcAft>
            </a:pPr>
            <a:r>
              <a:rPr sz="1600">
                <a:solidFill>
                  <a:srgbClr val="0E7C7B"/>
                </a:solidFill>
                <a:latin typeface="Montserrat"/>
              </a:rPr>
              <a:t>–  </a:t>
            </a:r>
            <a:r>
              <a:rPr sz="1600" b="1">
                <a:solidFill>
                  <a:srgbClr val="2F3B49"/>
                </a:solidFill>
                <a:latin typeface="Montserrat"/>
              </a:rPr>
              <a:t>Still an explanation of a pre-computed partition — it does not influence learning.</a:t>
            </a:r>
          </a:p>
        </p:txBody>
      </p:sp>
      <p:pic>
        <p:nvPicPr>
          <p:cNvPr id="49" name="Picture 48" descr="image.png"/>
          <p:cNvPicPr>
            <a:picLocks noChangeAspect="1"/>
          </p:cNvPicPr>
          <p:nvPr/>
        </p:nvPicPr>
        <p:blipFill>
          <a:blip r:embed="rId11"/>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3"/>
          <a:stretch>
            <a:fillRect/>
          </a:stretch>
        </p:blipFill>
        <p:spPr>
          <a:xfrm>
            <a:off x="11709806" y="6400800"/>
            <a:ext cx="384048" cy="384048"/>
          </a:xfrm>
          <a:prstGeom prst="rect">
            <a:avLst/>
          </a:prstGeom>
        </p:spPr>
      </p:pic>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 — Multi-Level XAI for Large-Scale Clustering</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Takeaways</a:t>
            </a:r>
          </a:p>
          <a:p>
            <a:pPr lvl="1">
              <a:lnSpc>
                <a:spcPct val="105000"/>
              </a:lnSpc>
              <a:spcAft>
                <a:spcPts val="600"/>
              </a:spcAft>
            </a:pPr>
            <a:r>
              <a:rPr sz="1600">
                <a:solidFill>
                  <a:srgbClr val="0E7C7B"/>
                </a:solidFill>
                <a:latin typeface="Montserrat"/>
              </a:rPr>
              <a:t>–  </a:t>
            </a:r>
            <a:r>
              <a:rPr sz="1600" b="0">
                <a:solidFill>
                  <a:srgbClr val="2F3B49"/>
                </a:solidFill>
                <a:latin typeface="Montserrat"/>
              </a:rPr>
              <a:t>Shapley attribution stays coherent across granularity — when the hierarchy is explicit.</a:t>
            </a:r>
          </a:p>
          <a:p>
            <a:pPr lvl="1">
              <a:lnSpc>
                <a:spcPct val="105000"/>
              </a:lnSpc>
              <a:spcAft>
                <a:spcPts val="600"/>
              </a:spcAft>
            </a:pPr>
            <a:r>
              <a:rPr sz="1600">
                <a:solidFill>
                  <a:srgbClr val="0E7C7B"/>
                </a:solidFill>
                <a:latin typeface="Montserrat"/>
              </a:rPr>
              <a:t>–  </a:t>
            </a:r>
            <a:r>
              <a:rPr sz="1600" b="0">
                <a:solidFill>
                  <a:srgbClr val="2F3B49"/>
                </a:solidFill>
                <a:latin typeface="Montserrat"/>
              </a:rPr>
              <a:t>Explanations become interpretable against scale, not just against a single flat partition.</a:t>
            </a:r>
          </a:p>
          <a:p>
            <a:pPr lvl="1">
              <a:lnSpc>
                <a:spcPct val="105000"/>
              </a:lnSpc>
              <a:spcAft>
                <a:spcPts val="600"/>
              </a:spcAft>
            </a:pPr>
            <a:r>
              <a:rPr sz="1600">
                <a:solidFill>
                  <a:srgbClr val="0E7C7B"/>
                </a:solidFill>
                <a:latin typeface="Montserrat"/>
              </a:rPr>
              <a:t>–  </a:t>
            </a:r>
            <a:r>
              <a:rPr sz="1600" b="1">
                <a:solidFill>
                  <a:srgbClr val="2F3B49"/>
                </a:solidFill>
                <a:latin typeface="Montserrat"/>
              </a:rPr>
              <a:t>But the attribution is still post-hoc: it explains a partition that was already computed.</a:t>
            </a:r>
          </a:p>
          <a:p>
            <a:pPr>
              <a:lnSpc>
                <a:spcPct val="105000"/>
              </a:lnSpc>
              <a:spcAft>
                <a:spcPts val="900"/>
              </a:spcAft>
            </a:pPr>
            <a:r>
              <a:rPr sz="1700">
                <a:solidFill>
                  <a:srgbClr val="0E7C7B"/>
                </a:solidFill>
                <a:latin typeface="Wingdings"/>
              </a:rPr>
              <a:t>§  </a:t>
            </a:r>
            <a:r>
              <a:rPr sz="1700" b="1">
                <a:solidFill>
                  <a:srgbClr val="2F3B49"/>
                </a:solidFill>
                <a:latin typeface="Montserrat Medium"/>
              </a:rPr>
              <a:t>So the next step is to let attribution shape the learning itself.</a:t>
            </a:r>
          </a:p>
        </p:txBody>
      </p:sp>
      <p:pic>
        <p:nvPicPr>
          <p:cNvPr id="49" name="Picture 48" descr="image.png"/>
          <p:cNvPicPr>
            <a:picLocks noChangeAspect="1"/>
          </p:cNvPicPr>
          <p:nvPr/>
        </p:nvPicPr>
        <p:blipFill>
          <a:blip r:embed="rId11"/>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3"/>
          <a:stretch>
            <a:fillRect/>
          </a:stretch>
        </p:blipFill>
        <p:spPr>
          <a:xfrm>
            <a:off x="11709806" y="6400800"/>
            <a:ext cx="384048" cy="384048"/>
          </a:xfrm>
          <a:prstGeom prst="rect">
            <a:avLst/>
          </a:prstGeom>
        </p:spPr>
      </p:pic>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9ED3DE66-EA75-4A44-95A7-C4F7001685B8}"/>
              </a:ext>
            </a:extLst>
          </p:cNvPr>
          <p:cNvSpPr/>
          <p:nvPr/>
        </p:nvSpPr>
        <p:spPr>
          <a:xfrm>
            <a:off x="892728" y="1929560"/>
            <a:ext cx="10406543" cy="299888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3600" b="1" dirty="0">
                <a:solidFill>
                  <a:schemeClr val="bg1"/>
                </a:solidFill>
                <a:latin typeface="Montserrat Medium" pitchFamily="50" charset="0"/>
              </a:rPr>
              <a:t>Contribution III — DyHuCoG: A Dynamic Hypergraph Cooperative Game</a:t>
            </a:r>
          </a:p>
        </p:txBody>
      </p:sp>
      <p:pic>
        <p:nvPicPr>
          <p:cNvPr id="7" name="Picture 6">
            <a:extLst>
              <a:ext uri="{FF2B5EF4-FFF2-40B4-BE49-F238E27FC236}">
                <a16:creationId xmlns:a16="http://schemas.microsoft.com/office/drawing/2014/main" id="{21A05AE4-2B9A-4D6C-8A67-0FDF35D10E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75523" y="2014740"/>
            <a:ext cx="786211" cy="786211"/>
          </a:xfrm>
          <a:prstGeom prst="rect">
            <a:avLst/>
          </a:prstGeom>
        </p:spPr>
      </p:pic>
      <p:pic>
        <p:nvPicPr>
          <p:cNvPr id="29" name="Picture 28" descr="image.png"/>
          <p:cNvPicPr>
            <a:picLocks noChangeAspect="1"/>
          </p:cNvPicPr>
          <p:nvPr/>
        </p:nvPicPr>
        <p:blipFill>
          <a:blip r:embed="rId7"/>
          <a:stretch>
            <a:fillRect/>
          </a:stretch>
        </p:blipFill>
        <p:spPr>
          <a:xfrm>
            <a:off x="11431828" y="6400800"/>
            <a:ext cx="384048" cy="384048"/>
          </a:xfrm>
          <a:prstGeom prst="rect">
            <a:avLst/>
          </a:prstGeom>
        </p:spPr>
      </p:pic>
      <p:pic>
        <p:nvPicPr>
          <p:cNvPr id="30" name="Picture 29" descr="image.png"/>
          <p:cNvPicPr>
            <a:picLocks noChangeAspect="1"/>
          </p:cNvPicPr>
          <p:nvPr/>
        </p:nvPicPr>
        <p:blipFill>
          <a:blip r:embed="rId8"/>
          <a:stretch>
            <a:fillRect/>
          </a:stretch>
        </p:blipFill>
        <p:spPr>
          <a:xfrm>
            <a:off x="11709806" y="6400800"/>
            <a:ext cx="384048" cy="384048"/>
          </a:xfrm>
          <a:prstGeom prst="rect">
            <a:avLst/>
          </a:prstGeom>
        </p:spPr>
      </p:pic>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III — DyHuCoG: A Dynamic Hypergraph Cooperative Game</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Gap: graph and hypergraph recommenders treat message importance as either uniform or attention-weighted, without a principled marginal-contribution account.</a:t>
            </a:r>
          </a:p>
          <a:p>
            <a:pPr lvl="1">
              <a:lnSpc>
                <a:spcPct val="105000"/>
              </a:lnSpc>
              <a:spcAft>
                <a:spcPts val="600"/>
              </a:spcAft>
            </a:pPr>
            <a:r>
              <a:rPr sz="1600">
                <a:solidFill>
                  <a:srgbClr val="0E7C7B"/>
                </a:solidFill>
                <a:latin typeface="Montserrat"/>
              </a:rPr>
              <a:t>–  </a:t>
            </a:r>
            <a:r>
              <a:rPr sz="1600" b="0">
                <a:solidFill>
                  <a:srgbClr val="2F3B49"/>
                </a:solidFill>
                <a:latin typeface="Montserrat"/>
              </a:rPr>
              <a:t>Diversity is often a secondary objective or a re-ranking heuristic.</a:t>
            </a:r>
          </a:p>
          <a:p>
            <a:pPr lvl="1">
              <a:lnSpc>
                <a:spcPct val="105000"/>
              </a:lnSpc>
              <a:spcAft>
                <a:spcPts val="600"/>
              </a:spcAft>
            </a:pPr>
            <a:r>
              <a:rPr sz="1600">
                <a:solidFill>
                  <a:srgbClr val="0E7C7B"/>
                </a:solidFill>
                <a:latin typeface="Montserrat"/>
              </a:rPr>
              <a:t>–  </a:t>
            </a:r>
            <a:r>
              <a:rPr sz="1600" b="0">
                <a:solidFill>
                  <a:srgbClr val="2F3B49"/>
                </a:solidFill>
                <a:latin typeface="Montserrat"/>
              </a:rPr>
              <a:t>Interpretability is added after prediction, not integrated into the learning objective.</a:t>
            </a:r>
          </a:p>
          <a:p>
            <a:pPr>
              <a:lnSpc>
                <a:spcPct val="105000"/>
              </a:lnSpc>
              <a:spcAft>
                <a:spcPts val="900"/>
              </a:spcAft>
            </a:pPr>
            <a:r>
              <a:rPr sz="1700">
                <a:solidFill>
                  <a:srgbClr val="0E7C7B"/>
                </a:solidFill>
                <a:latin typeface="Wingdings"/>
              </a:rPr>
              <a:t>§  </a:t>
            </a:r>
            <a:r>
              <a:rPr sz="1700" b="1">
                <a:solidFill>
                  <a:srgbClr val="2F3B49"/>
                </a:solidFill>
                <a:latin typeface="Montserrat Medium"/>
              </a:rPr>
              <a:t>Objectives: formulate recommendation as a cooperative game; embed preference-aware Monte Carlo Shapley into message passing; improve ranking, coverage, and diversity jointly.</a:t>
            </a:r>
          </a:p>
        </p:txBody>
      </p:sp>
      <p:pic>
        <p:nvPicPr>
          <p:cNvPr id="49" name="Picture 48" descr="image.png"/>
          <p:cNvPicPr>
            <a:picLocks noChangeAspect="1"/>
          </p:cNvPicPr>
          <p:nvPr/>
        </p:nvPicPr>
        <p:blipFill>
          <a:blip r:embed="rId7"/>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III — DyHuCoG: A Dynamic Hypergraph Cooperative Game</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RQ3 · Can cooperative attribution move beyond post-hoc and enter the learning dynamics of graph recommenders?</a:t>
            </a:r>
          </a:p>
          <a:p>
            <a:pPr lvl="1">
              <a:lnSpc>
                <a:spcPct val="105000"/>
              </a:lnSpc>
              <a:spcAft>
                <a:spcPts val="600"/>
              </a:spcAft>
            </a:pPr>
            <a:r>
              <a:rPr sz="1600">
                <a:solidFill>
                  <a:srgbClr val="0E7C7B"/>
                </a:solidFill>
                <a:latin typeface="Montserrat"/>
              </a:rPr>
              <a:t>–  </a:t>
            </a:r>
            <a:r>
              <a:rPr sz="1600" b="0">
                <a:solidFill>
                  <a:srgbClr val="2F3B49"/>
                </a:solidFill>
                <a:latin typeface="Montserrat"/>
              </a:rPr>
              <a:t>RQ4 · Can a recommender jointly optimise ranking accuracy, context and diversity when importance is estimated by a cooperative-game utility?</a:t>
            </a:r>
          </a:p>
          <a:p>
            <a:pPr lvl="1">
              <a:lnSpc>
                <a:spcPct val="105000"/>
              </a:lnSpc>
              <a:spcAft>
                <a:spcPts val="600"/>
              </a:spcAft>
            </a:pPr>
            <a:r>
              <a:rPr sz="1600">
                <a:solidFill>
                  <a:srgbClr val="0E7C7B"/>
                </a:solidFill>
                <a:latin typeface="Montserrat"/>
              </a:rPr>
              <a:t>–  </a:t>
            </a:r>
            <a:r>
              <a:rPr sz="1600" b="0">
                <a:solidFill>
                  <a:srgbClr val="2F3B49"/>
                </a:solidFill>
                <a:latin typeface="Montserrat"/>
              </a:rPr>
              <a:t>Objective O1 · Formulate recommendation as a cooperative game with users, items and contexts as players.</a:t>
            </a:r>
          </a:p>
          <a:p>
            <a:pPr lvl="1">
              <a:lnSpc>
                <a:spcPct val="105000"/>
              </a:lnSpc>
              <a:spcAft>
                <a:spcPts val="600"/>
              </a:spcAft>
            </a:pPr>
            <a:r>
              <a:rPr sz="1600">
                <a:solidFill>
                  <a:srgbClr val="0E7C7B"/>
                </a:solidFill>
                <a:latin typeface="Montserrat"/>
              </a:rPr>
              <a:t>–  </a:t>
            </a:r>
            <a:r>
              <a:rPr sz="1600" b="0">
                <a:solidFill>
                  <a:srgbClr val="2F3B49"/>
                </a:solidFill>
                <a:latin typeface="Montserrat"/>
              </a:rPr>
              <a:t>Objective O2 · Embed preference-aware Monte Carlo Shapley into hypergraph message passing.</a:t>
            </a:r>
          </a:p>
          <a:p>
            <a:pPr lvl="1">
              <a:lnSpc>
                <a:spcPct val="105000"/>
              </a:lnSpc>
              <a:spcAft>
                <a:spcPts val="600"/>
              </a:spcAft>
            </a:pPr>
            <a:r>
              <a:rPr sz="1600">
                <a:solidFill>
                  <a:srgbClr val="0E7C7B"/>
                </a:solidFill>
                <a:latin typeface="Montserrat"/>
              </a:rPr>
              <a:t>–  </a:t>
            </a:r>
            <a:r>
              <a:rPr sz="1600" b="0">
                <a:solidFill>
                  <a:srgbClr val="2F3B49"/>
                </a:solidFill>
                <a:latin typeface="Montserrat"/>
              </a:rPr>
              <a:t>Objective O3 · Improve ranking, coverage and diversity jointly.</a:t>
            </a:r>
          </a:p>
        </p:txBody>
      </p:sp>
      <p:pic>
        <p:nvPicPr>
          <p:cNvPr id="49" name="Picture 48" descr="image.png"/>
          <p:cNvPicPr>
            <a:picLocks noChangeAspect="1"/>
          </p:cNvPicPr>
          <p:nvPr/>
        </p:nvPicPr>
        <p:blipFill>
          <a:blip r:embed="rId7"/>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0"/>
          <a:stretch>
            <a:fillRect/>
          </a:stretch>
        </p:blipFill>
        <p:spPr>
          <a:xfrm>
            <a:off x="11709806" y="6400800"/>
            <a:ext cx="384048" cy="384048"/>
          </a:xfrm>
          <a:prstGeom prst="rect">
            <a:avLst/>
          </a:prstGeom>
        </p:spPr>
      </p:pic>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III — DyHuCoG: A Dynamic Hypergraph Cooperative Game</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Player set N = U ∪ I ∪ C (users, items, contexts).</a:t>
            </a:r>
          </a:p>
          <a:p>
            <a:pPr>
              <a:lnSpc>
                <a:spcPct val="105000"/>
              </a:lnSpc>
              <a:spcAft>
                <a:spcPts val="900"/>
              </a:spcAft>
            </a:pPr>
            <a:r>
              <a:rPr sz="1700">
                <a:solidFill>
                  <a:srgbClr val="0E7C7B"/>
                </a:solidFill>
                <a:latin typeface="Wingdings"/>
              </a:rPr>
              <a:t>§  </a:t>
            </a:r>
            <a:r>
              <a:rPr sz="1700" b="0">
                <a:solidFill>
                  <a:srgbClr val="2F3B49"/>
                </a:solidFill>
                <a:latin typeface="Montserrat"/>
              </a:rPr>
              <a:t>Hypergraph H = (V, E, W); V = U ∪ I ∪ C; W = dynamic edge weights from Shapley estimates.</a:t>
            </a:r>
          </a:p>
          <a:p>
            <a:pPr>
              <a:lnSpc>
                <a:spcPct val="105000"/>
              </a:lnSpc>
              <a:spcAft>
                <a:spcPts val="900"/>
              </a:spcAft>
            </a:pPr>
            <a:r>
              <a:rPr sz="1700">
                <a:solidFill>
                  <a:srgbClr val="0E7C7B"/>
                </a:solidFill>
                <a:latin typeface="Wingdings"/>
              </a:rPr>
              <a:t>§  </a:t>
            </a:r>
            <a:r>
              <a:rPr sz="1700" b="0">
                <a:solidFill>
                  <a:srgbClr val="2F3B49"/>
                </a:solidFill>
                <a:latin typeface="Montserrat"/>
              </a:rPr>
              <a:t>Coalition S ⊆ N represents entities participating in a recommendation episode.</a:t>
            </a:r>
          </a:p>
          <a:p>
            <a:pPr>
              <a:lnSpc>
                <a:spcPct val="105000"/>
              </a:lnSpc>
              <a:spcAft>
                <a:spcPts val="900"/>
              </a:spcAft>
            </a:pPr>
            <a:r>
              <a:rPr sz="1700">
                <a:solidFill>
                  <a:srgbClr val="0E7C7B"/>
                </a:solidFill>
                <a:latin typeface="Wingdings"/>
              </a:rPr>
              <a:t>§  </a:t>
            </a:r>
            <a:r>
              <a:rPr sz="1700" b="0">
                <a:solidFill>
                  <a:srgbClr val="2F3B49"/>
                </a:solidFill>
                <a:latin typeface="Montserrat"/>
              </a:rPr>
              <a:t>Coalition value v(S) measures the quality of the recommendation outcome achievable by S.</a:t>
            </a:r>
          </a:p>
          <a:p>
            <a:pPr>
              <a:lnSpc>
                <a:spcPct val="105000"/>
              </a:lnSpc>
              <a:spcAft>
                <a:spcPts val="900"/>
              </a:spcAft>
            </a:pPr>
            <a:r>
              <a:rPr sz="1700">
                <a:solidFill>
                  <a:srgbClr val="0E7C7B"/>
                </a:solidFill>
                <a:latin typeface="Wingdings"/>
              </a:rPr>
              <a:t>§  </a:t>
            </a:r>
            <a:r>
              <a:rPr sz="1700" b="0">
                <a:solidFill>
                  <a:srgbClr val="2F3B49"/>
                </a:solidFill>
                <a:latin typeface="Montserrat"/>
              </a:rPr>
              <a:t>Top-N task: produce a ranked list L_u balancing relevance, diversity, and contextual fit.</a:t>
            </a:r>
          </a:p>
        </p:txBody>
      </p:sp>
      <p:pic>
        <p:nvPicPr>
          <p:cNvPr id="49" name="Picture 48" descr="image.png"/>
          <p:cNvPicPr>
            <a:picLocks noChangeAspect="1"/>
          </p:cNvPicPr>
          <p:nvPr/>
        </p:nvPicPr>
        <p:blipFill>
          <a:blip r:embed="rId7"/>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III — DyHuCoG: A Dynamic Hypergraph Cooperative Game</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v(S) = α · NDCG@20(S) + β · Diversity(S) + γ · ContextScore(S), with α + β + γ = 1.</a:t>
            </a:r>
          </a:p>
          <a:p>
            <a:pPr lvl="1">
              <a:lnSpc>
                <a:spcPct val="105000"/>
              </a:lnSpc>
              <a:spcAft>
                <a:spcPts val="600"/>
              </a:spcAft>
            </a:pPr>
            <a:r>
              <a:rPr sz="1600">
                <a:solidFill>
                  <a:srgbClr val="0E7C7B"/>
                </a:solidFill>
                <a:latin typeface="Montserrat"/>
              </a:rPr>
              <a:t>–  </a:t>
            </a:r>
            <a:r>
              <a:rPr sz="1600" b="0">
                <a:solidFill>
                  <a:srgbClr val="2F3B49"/>
                </a:solidFill>
                <a:latin typeface="Montserrat"/>
              </a:rPr>
              <a:t>The same trade-off the recommender must satisfy is the trade-off from which attribution is computed — explanatory game and predictive objective are aligned by design.</a:t>
            </a:r>
          </a:p>
          <a:p>
            <a:pPr>
              <a:lnSpc>
                <a:spcPct val="105000"/>
              </a:lnSpc>
              <a:spcAft>
                <a:spcPts val="900"/>
              </a:spcAft>
            </a:pPr>
            <a:r>
              <a:rPr sz="1700">
                <a:solidFill>
                  <a:srgbClr val="0E7C7B"/>
                </a:solidFill>
                <a:latin typeface="Wingdings"/>
              </a:rPr>
              <a:t>§  </a:t>
            </a:r>
            <a:r>
              <a:rPr sz="1700" b="1">
                <a:solidFill>
                  <a:srgbClr val="2F3B49"/>
                </a:solidFill>
                <a:latin typeface="Montserrat Medium"/>
              </a:rPr>
              <a:t>Preference-weighted: v_pref(S) = v(S) + λ_pref · Σ_{(u,i)∈S} sim(u,i).</a:t>
            </a:r>
          </a:p>
          <a:p>
            <a:pPr lvl="1">
              <a:lnSpc>
                <a:spcPct val="105000"/>
              </a:lnSpc>
              <a:spcAft>
                <a:spcPts val="600"/>
              </a:spcAft>
            </a:pPr>
            <a:r>
              <a:rPr sz="1600">
                <a:solidFill>
                  <a:srgbClr val="0E7C7B"/>
                </a:solidFill>
                <a:latin typeface="Montserrat"/>
              </a:rPr>
              <a:t>–  </a:t>
            </a:r>
            <a:r>
              <a:rPr sz="1600" b="0">
                <a:solidFill>
                  <a:srgbClr val="2F3B49"/>
                </a:solidFill>
                <a:latin typeface="Montserrat"/>
              </a:rPr>
              <a:t>α = 0.60, β = 0.25, γ = 0.15; λ_pref = 0.20 — grid-searched, stable (&lt;1.5% variance in NDCG@20).</a:t>
            </a:r>
          </a:p>
          <a:p>
            <a:pPr lvl="1">
              <a:lnSpc>
                <a:spcPct val="105000"/>
              </a:lnSpc>
              <a:spcAft>
                <a:spcPts val="600"/>
              </a:spcAft>
            </a:pPr>
            <a:r>
              <a:rPr sz="1600">
                <a:solidFill>
                  <a:srgbClr val="0E7C7B"/>
                </a:solidFill>
                <a:latin typeface="Montserrat"/>
              </a:rPr>
              <a:t>–  </a:t>
            </a:r>
            <a:r>
              <a:rPr sz="1600" b="0">
                <a:solidFill>
                  <a:srgbClr val="2F3B49"/>
                </a:solidFill>
                <a:latin typeface="Montserrat"/>
              </a:rPr>
              <a:t>Coalition evaluation scoped to the interaction episode (a few dozen players), not the full catalogue.</a:t>
            </a:r>
          </a:p>
        </p:txBody>
      </p:sp>
      <p:pic>
        <p:nvPicPr>
          <p:cNvPr id="49" name="Picture 48" descr="image.png"/>
          <p:cNvPicPr>
            <a:picLocks noChangeAspect="1"/>
          </p:cNvPicPr>
          <p:nvPr/>
        </p:nvPicPr>
        <p:blipFill>
          <a:blip r:embed="rId7"/>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III — DyHuCoG: A Dynamic Hypergraph Cooperative Game</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0">
                <a:solidFill>
                  <a:srgbClr val="2F3B49"/>
                </a:solidFill>
                <a:latin typeface="Montserrat"/>
              </a:rPr>
              <a:t>Exact Shapley is combinatorial and infeasible for realistic systems.</a:t>
            </a:r>
          </a:p>
          <a:p>
            <a:pPr>
              <a:lnSpc>
                <a:spcPct val="105000"/>
              </a:lnSpc>
              <a:spcAft>
                <a:spcPts val="900"/>
              </a:spcAft>
            </a:pPr>
            <a:r>
              <a:rPr sz="1700">
                <a:solidFill>
                  <a:srgbClr val="0E7C7B"/>
                </a:solidFill>
                <a:latin typeface="Wingdings"/>
              </a:rPr>
              <a:t>§  </a:t>
            </a:r>
            <a:r>
              <a:rPr sz="1700" b="1">
                <a:solidFill>
                  <a:srgbClr val="2F3B49"/>
                </a:solidFill>
                <a:latin typeface="Montserrat Medium"/>
              </a:rPr>
              <a:t>Monte Carlo estimator: φ̂_j = (1/M) Σ_m [ v(S_m ∪ {j}) − v(S_m) ].</a:t>
            </a:r>
          </a:p>
          <a:p>
            <a:pPr>
              <a:lnSpc>
                <a:spcPct val="105000"/>
              </a:lnSpc>
              <a:spcAft>
                <a:spcPts val="900"/>
              </a:spcAft>
            </a:pPr>
            <a:r>
              <a:rPr sz="1700">
                <a:solidFill>
                  <a:srgbClr val="0E7C7B"/>
                </a:solidFill>
                <a:latin typeface="Wingdings"/>
              </a:rPr>
              <a:t>§  </a:t>
            </a:r>
            <a:r>
              <a:rPr sz="1700" b="1">
                <a:solidFill>
                  <a:srgbClr val="2F3B49"/>
                </a:solidFill>
                <a:latin typeface="Montserrat Medium"/>
              </a:rPr>
              <a:t>Preference-aware: φ̂_j^pref = (1/M) Σ_m [ v_pref(S_m ∪ {j}) − v_pref(S_m) ].</a:t>
            </a:r>
          </a:p>
          <a:p>
            <a:pPr lvl="1">
              <a:lnSpc>
                <a:spcPct val="105000"/>
              </a:lnSpc>
              <a:spcAft>
                <a:spcPts val="600"/>
              </a:spcAft>
            </a:pPr>
            <a:r>
              <a:rPr sz="1600">
                <a:solidFill>
                  <a:srgbClr val="0E7C7B"/>
                </a:solidFill>
                <a:latin typeface="Montserrat"/>
              </a:rPr>
              <a:t>–  </a:t>
            </a:r>
            <a:r>
              <a:rPr sz="1600" b="0">
                <a:solidFill>
                  <a:srgbClr val="2F3B49"/>
                </a:solidFill>
                <a:latin typeface="Montserrat"/>
              </a:rPr>
              <a:t>Unbiased; variance = σ²/M → MSE decays O(1/M), absolute error O(1/√M).</a:t>
            </a:r>
          </a:p>
          <a:p>
            <a:pPr lvl="1">
              <a:lnSpc>
                <a:spcPct val="105000"/>
              </a:lnSpc>
              <a:spcAft>
                <a:spcPts val="600"/>
              </a:spcAft>
            </a:pPr>
            <a:r>
              <a:rPr sz="1600">
                <a:solidFill>
                  <a:srgbClr val="0E7C7B"/>
                </a:solidFill>
                <a:latin typeface="Montserrat"/>
              </a:rPr>
              <a:t>–  </a:t>
            </a:r>
            <a:r>
              <a:rPr sz="1600" b="1">
                <a:solidFill>
                  <a:srgbClr val="2F3B49"/>
                </a:solidFill>
                <a:latin typeface="Montserrat"/>
              </a:rPr>
              <a:t>M = 50 selected: MSE ≈ 1.4×10⁻⁵, ~99% accuracy on MovieLens-1M.</a:t>
            </a:r>
          </a:p>
          <a:p>
            <a:pPr lvl="1">
              <a:lnSpc>
                <a:spcPct val="105000"/>
              </a:lnSpc>
              <a:spcAft>
                <a:spcPts val="600"/>
              </a:spcAft>
            </a:pPr>
            <a:r>
              <a:rPr sz="1600">
                <a:solidFill>
                  <a:srgbClr val="0E7C7B"/>
                </a:solidFill>
                <a:latin typeface="Montserrat"/>
              </a:rPr>
              <a:t>–  </a:t>
            </a:r>
            <a:r>
              <a:rPr sz="1600" b="0">
                <a:solidFill>
                  <a:srgbClr val="2F3B49"/>
                </a:solidFill>
                <a:latin typeface="Montserrat"/>
              </a:rPr>
              <a:t>Refreshed every 10 batches (~49 updates/epoch), smoothed by exponential moving average.</a:t>
            </a:r>
          </a:p>
        </p:txBody>
      </p:sp>
      <p:pic>
        <p:nvPicPr>
          <p:cNvPr id="49" name="Picture 48" descr="image.png"/>
          <p:cNvPicPr>
            <a:picLocks noChangeAspect="1"/>
          </p:cNvPicPr>
          <p:nvPr/>
        </p:nvPicPr>
        <p:blipFill>
          <a:blip r:embed="rId7"/>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1"/>
          <a:stretch>
            <a:fillRect/>
          </a:stretch>
        </p:blipFill>
        <p:spPr>
          <a:xfrm>
            <a:off x="11709806" y="6400800"/>
            <a:ext cx="384048" cy="384048"/>
          </a:xfrm>
          <a:prstGeom prst="rect">
            <a:avLst/>
          </a:prstGeom>
        </p:spPr>
      </p:pic>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III — DyHuCoG: A Dynamic Hypergraph Cooperative Game</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0">
                <a:solidFill>
                  <a:srgbClr val="2F3B49"/>
                </a:solidFill>
                <a:latin typeface="Montserrat"/>
              </a:rPr>
              <a:t>Base propagation: e^(l+1) = σ( D^-1/2 A D^-1/2 e^(l) ).</a:t>
            </a:r>
          </a:p>
          <a:p>
            <a:pPr>
              <a:lnSpc>
                <a:spcPct val="105000"/>
              </a:lnSpc>
              <a:spcAft>
                <a:spcPts val="900"/>
              </a:spcAft>
            </a:pPr>
            <a:r>
              <a:rPr sz="1700">
                <a:solidFill>
                  <a:srgbClr val="0E7C7B"/>
                </a:solidFill>
                <a:latin typeface="Wingdings"/>
              </a:rPr>
              <a:t>§  </a:t>
            </a:r>
            <a:r>
              <a:rPr sz="1700" b="1">
                <a:solidFill>
                  <a:srgbClr val="2F3B49"/>
                </a:solidFill>
                <a:latin typeface="Montserrat Medium"/>
              </a:rPr>
              <a:t>Shapley-weighted: e_j^(l+1) = σ( W^(l) e_j^(l) + Σ_{k∈N(j)} w_jk e_k^(l) ).</a:t>
            </a:r>
          </a:p>
          <a:p>
            <a:pPr>
              <a:lnSpc>
                <a:spcPct val="105000"/>
              </a:lnSpc>
              <a:spcAft>
                <a:spcPts val="900"/>
              </a:spcAft>
            </a:pPr>
            <a:r>
              <a:rPr sz="1700">
                <a:solidFill>
                  <a:srgbClr val="0E7C7B"/>
                </a:solidFill>
                <a:latin typeface="Wingdings"/>
              </a:rPr>
              <a:t>§  </a:t>
            </a:r>
            <a:r>
              <a:rPr sz="1700" b="1">
                <a:solidFill>
                  <a:srgbClr val="2F3B49"/>
                </a:solidFill>
                <a:latin typeface="Montserrat Medium"/>
              </a:rPr>
              <a:t>Normalised weights: w_jk = φ̂_jk / Σ_{k'∈N(j)} φ̂_jk'.</a:t>
            </a:r>
          </a:p>
          <a:p>
            <a:pPr lvl="1">
              <a:lnSpc>
                <a:spcPct val="105000"/>
              </a:lnSpc>
              <a:spcAft>
                <a:spcPts val="600"/>
              </a:spcAft>
            </a:pPr>
            <a:r>
              <a:rPr sz="1600">
                <a:solidFill>
                  <a:srgbClr val="0E7C7B"/>
                </a:solidFill>
                <a:latin typeface="Montserrat"/>
              </a:rPr>
              <a:t>–  </a:t>
            </a:r>
            <a:r>
              <a:rPr sz="1600" b="0">
                <a:solidFill>
                  <a:srgbClr val="2F3B49"/>
                </a:solidFill>
                <a:latin typeface="Montserrat"/>
              </a:rPr>
              <a:t>Clipped + exponentially smoothed before normalisation (stabilises sparse regimes).</a:t>
            </a:r>
          </a:p>
          <a:p>
            <a:pPr lvl="1">
              <a:lnSpc>
                <a:spcPct val="105000"/>
              </a:lnSpc>
              <a:spcAft>
                <a:spcPts val="600"/>
              </a:spcAft>
            </a:pPr>
            <a:r>
              <a:rPr sz="1600">
                <a:solidFill>
                  <a:srgbClr val="0E7C7B"/>
                </a:solidFill>
                <a:latin typeface="Montserrat"/>
              </a:rPr>
              <a:t>–  </a:t>
            </a:r>
            <a:r>
              <a:rPr sz="1600" b="0">
                <a:solidFill>
                  <a:srgbClr val="2F3B49"/>
                </a:solidFill>
                <a:latin typeface="Montserrat"/>
              </a:rPr>
              <a:t>Attention gate: a_ui = σ( W_a[ e_u, e_i, l_i ] ); y_ui = (1 + a_ui) ⟨e_u, e_i⟩.</a:t>
            </a:r>
          </a:p>
          <a:p>
            <a:pPr lvl="1">
              <a:lnSpc>
                <a:spcPct val="105000"/>
              </a:lnSpc>
              <a:spcAft>
                <a:spcPts val="600"/>
              </a:spcAft>
            </a:pPr>
            <a:r>
              <a:rPr sz="1600">
                <a:solidFill>
                  <a:srgbClr val="0E7C7B"/>
                </a:solidFill>
                <a:latin typeface="Montserrat"/>
              </a:rPr>
              <a:t>–  </a:t>
            </a:r>
            <a:r>
              <a:rPr sz="1600" b="0">
                <a:solidFill>
                  <a:srgbClr val="2F3B49"/>
                </a:solidFill>
                <a:latin typeface="Montserrat"/>
              </a:rPr>
              <a:t>Context-aware score: f(u,i,c) = y_ui + λ_c ⟨g(c_ui), e_cui⟩.</a:t>
            </a:r>
          </a:p>
        </p:txBody>
      </p:sp>
      <p:pic>
        <p:nvPicPr>
          <p:cNvPr id="49" name="Picture 48" descr="c3_architecture_paper.png"/>
          <p:cNvPicPr>
            <a:picLocks noChangeAspect="1"/>
          </p:cNvPicPr>
          <p:nvPr/>
        </p:nvPicPr>
        <p:blipFill>
          <a:blip r:embed="rId12"/>
          <a:stretch>
            <a:fillRect/>
          </a:stretch>
        </p:blipFill>
        <p:spPr>
          <a:xfrm>
            <a:off x="914400" y="3383280"/>
            <a:ext cx="10332720" cy="2491488"/>
          </a:xfrm>
          <a:prstGeom prst="rect">
            <a:avLst/>
          </a:prstGeom>
        </p:spPr>
      </p:pic>
      <p:pic>
        <p:nvPicPr>
          <p:cNvPr id="50" name="Picture 49" descr="image.png"/>
          <p:cNvPicPr>
            <a:picLocks noChangeAspect="1"/>
          </p:cNvPicPr>
          <p:nvPr/>
        </p:nvPicPr>
        <p:blipFill>
          <a:blip r:embed="rId7"/>
          <a:stretch>
            <a:fillRect/>
          </a:stretch>
        </p:blipFill>
        <p:spPr>
          <a:xfrm>
            <a:off x="11431828" y="6400800"/>
            <a:ext cx="384048" cy="384048"/>
          </a:xfrm>
          <a:prstGeom prst="rect">
            <a:avLst/>
          </a:prstGeom>
        </p:spPr>
      </p:pic>
      <p:pic>
        <p:nvPicPr>
          <p:cNvPr id="51" name="Picture 50" descr="image.png"/>
          <p:cNvPicPr>
            <a:picLocks noChangeAspect="1"/>
          </p:cNvPicPr>
          <p:nvPr/>
        </p:nvPicPr>
        <p:blipFill>
          <a:blip r:embed="rId7"/>
          <a:stretch>
            <a:fillRect/>
          </a:stretch>
        </p:blipFill>
        <p:spPr>
          <a:xfrm>
            <a:off x="11709806" y="6400800"/>
            <a:ext cx="384048" cy="384048"/>
          </a:xfrm>
          <a:prstGeom prst="rect">
            <a:avLst/>
          </a:prstGeom>
        </p:spPr>
      </p:pic>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III — DyHuCoG: A Dynamic Hypergraph Cooperative Game</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L = L_rec + λ_div L_div + λ_ctx L_ctx + λ_reg L_reg.</a:t>
            </a:r>
          </a:p>
          <a:p>
            <a:pPr lvl="1">
              <a:lnSpc>
                <a:spcPct val="105000"/>
              </a:lnSpc>
              <a:spcAft>
                <a:spcPts val="600"/>
              </a:spcAft>
            </a:pPr>
            <a:r>
              <a:rPr sz="1600">
                <a:solidFill>
                  <a:srgbClr val="0E7C7B"/>
                </a:solidFill>
                <a:latin typeface="Montserrat"/>
              </a:rPr>
              <a:t>–  </a:t>
            </a:r>
            <a:r>
              <a:rPr sz="1600" b="0">
                <a:solidFill>
                  <a:srgbClr val="2F3B49"/>
                </a:solidFill>
                <a:latin typeface="Montserrat"/>
              </a:rPr>
              <a:t>L_rec – Bayesian Personalised Ranking (pairwise, implicit feedback).</a:t>
            </a:r>
          </a:p>
          <a:p>
            <a:pPr lvl="1">
              <a:lnSpc>
                <a:spcPct val="105000"/>
              </a:lnSpc>
              <a:spcAft>
                <a:spcPts val="600"/>
              </a:spcAft>
            </a:pPr>
            <a:r>
              <a:rPr sz="1600">
                <a:solidFill>
                  <a:srgbClr val="0E7C7B"/>
                </a:solidFill>
                <a:latin typeface="Montserrat"/>
              </a:rPr>
              <a:t>–  </a:t>
            </a:r>
            <a:r>
              <a:rPr sz="1600" b="0">
                <a:solidFill>
                  <a:srgbClr val="2F3B49"/>
                </a:solidFill>
                <a:latin typeface="Montserrat"/>
              </a:rPr>
              <a:t>L_div – Intra-List Diversity regulariser: penalises redundant ranked lists.</a:t>
            </a:r>
          </a:p>
          <a:p>
            <a:pPr lvl="1">
              <a:lnSpc>
                <a:spcPct val="105000"/>
              </a:lnSpc>
              <a:spcAft>
                <a:spcPts val="600"/>
              </a:spcAft>
            </a:pPr>
            <a:r>
              <a:rPr sz="1600">
                <a:solidFill>
                  <a:srgbClr val="0E7C7B"/>
                </a:solidFill>
                <a:latin typeface="Montserrat"/>
              </a:rPr>
              <a:t>–  </a:t>
            </a:r>
            <a:r>
              <a:rPr sz="1600" b="0">
                <a:solidFill>
                  <a:srgbClr val="2F3B49"/>
                </a:solidFill>
                <a:latin typeface="Montserrat"/>
              </a:rPr>
              <a:t>L_ctx – Context alignment: match context embedding to context-node representation.</a:t>
            </a:r>
          </a:p>
          <a:p>
            <a:pPr lvl="1">
              <a:lnSpc>
                <a:spcPct val="105000"/>
              </a:lnSpc>
              <a:spcAft>
                <a:spcPts val="600"/>
              </a:spcAft>
            </a:pPr>
            <a:r>
              <a:rPr sz="1600">
                <a:solidFill>
                  <a:srgbClr val="0E7C7B"/>
                </a:solidFill>
                <a:latin typeface="Montserrat"/>
              </a:rPr>
              <a:t>–  </a:t>
            </a:r>
            <a:r>
              <a:rPr sz="1600" b="0">
                <a:solidFill>
                  <a:srgbClr val="2F3B49"/>
                </a:solidFill>
                <a:latin typeface="Montserrat"/>
              </a:rPr>
              <a:t>L_reg – L2 weight decay.</a:t>
            </a:r>
          </a:p>
          <a:p>
            <a:pPr lvl="1">
              <a:lnSpc>
                <a:spcPct val="105000"/>
              </a:lnSpc>
              <a:spcAft>
                <a:spcPts val="600"/>
              </a:spcAft>
            </a:pPr>
            <a:r>
              <a:rPr sz="1600">
                <a:solidFill>
                  <a:srgbClr val="0E7C7B"/>
                </a:solidFill>
                <a:latin typeface="Montserrat"/>
              </a:rPr>
              <a:t>–  </a:t>
            </a:r>
            <a:r>
              <a:rPr sz="1600" b="1">
                <a:solidFill>
                  <a:srgbClr val="2F3B49"/>
                </a:solidFill>
                <a:latin typeface="Montserrat"/>
              </a:rPr>
              <a:t>The learning objective and coalition value are aligned: DyHuCoG trains to optimise the same balance that later determines attribution.</a:t>
            </a:r>
          </a:p>
        </p:txBody>
      </p:sp>
      <p:pic>
        <p:nvPicPr>
          <p:cNvPr id="49" name="Picture 48" descr="image.png"/>
          <p:cNvPicPr>
            <a:picLocks noChangeAspect="1"/>
          </p:cNvPicPr>
          <p:nvPr/>
        </p:nvPicPr>
        <p:blipFill>
          <a:blip r:embed="rId7"/>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3"/>
          <a:stretch>
            <a:fillRect/>
          </a:stretch>
        </p:blipFill>
        <p:spPr>
          <a:xfrm>
            <a:off x="11709806" y="6400800"/>
            <a:ext cx="384048" cy="384048"/>
          </a:xfrm>
          <a:prstGeom prst="rect">
            <a:avLst/>
          </a:prstGeom>
        </p:spPr>
      </p:pic>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III — DyHuCoG: A Dynamic Hypergraph Cooperative Game</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graphicFrame>
        <p:nvGraphicFramePr>
          <p:cNvPr id="48" name="Table 47"/>
          <p:cNvGraphicFramePr>
            <a:graphicFrameLocks noGrp="1"/>
          </p:cNvGraphicFramePr>
          <p:nvPr/>
        </p:nvGraphicFramePr>
        <p:xfrm>
          <a:off x="365760" y="1737360"/>
          <a:ext cx="11521439" cy="3566160"/>
        </p:xfrm>
        <a:graphic>
          <a:graphicData uri="http://schemas.openxmlformats.org/drawingml/2006/table">
            <a:tbl>
              <a:tblPr>
                <a:tableStyleId>{5C22544A-7EE6-4342-B048-85BDC9FD1C3A}</a:tableStyleId>
              </a:tblPr>
              <a:tblGrid>
                <a:gridCol w="2633472"/>
                <a:gridCol w="1645919"/>
                <a:gridCol w="1810512"/>
                <a:gridCol w="1810512"/>
                <a:gridCol w="1810512"/>
                <a:gridCol w="1810512"/>
              </a:tblGrid>
              <a:tr h="713232">
                <a:tc>
                  <a:txBody>
                    <a:bodyPr/>
                    <a:lstStyle/>
                    <a:p>
                      <a:pPr algn="ctr"/>
                      <a:r>
                        <a:rPr sz="1400" b="1">
                          <a:solidFill>
                            <a:srgbClr val="FFFFFF"/>
                          </a:solidFill>
                          <a:latin typeface="Montserrat Medium"/>
                        </a:rPr>
                        <a:t>Dataset</a:t>
                      </a:r>
                    </a:p>
                  </a:txBody>
                  <a:tcPr anchor="ctr" marL="54864" marR="54864" marT="18288" marB="18288">
                    <a:solidFill>
                      <a:srgbClr val="0E7C7B"/>
                    </a:solidFill>
                  </a:tcPr>
                </a:tc>
                <a:tc>
                  <a:txBody>
                    <a:bodyPr/>
                    <a:lstStyle/>
                    <a:p>
                      <a:pPr algn="ctr"/>
                      <a:r>
                        <a:rPr sz="1400" b="1">
                          <a:solidFill>
                            <a:srgbClr val="FFFFFF"/>
                          </a:solidFill>
                          <a:latin typeface="Montserrat Medium"/>
                        </a:rPr>
                        <a:t>Model</a:t>
                      </a:r>
                    </a:p>
                  </a:txBody>
                  <a:tcPr anchor="ctr" marL="54864" marR="54864" marT="18288" marB="18288">
                    <a:solidFill>
                      <a:srgbClr val="0E7C7B"/>
                    </a:solidFill>
                  </a:tcPr>
                </a:tc>
                <a:tc>
                  <a:txBody>
                    <a:bodyPr/>
                    <a:lstStyle/>
                    <a:p>
                      <a:pPr algn="ctr"/>
                      <a:r>
                        <a:rPr sz="1400" b="1">
                          <a:solidFill>
                            <a:srgbClr val="FFFFFF"/>
                          </a:solidFill>
                          <a:latin typeface="Montserrat Medium"/>
                        </a:rPr>
                        <a:t>NDCG@20</a:t>
                      </a:r>
                    </a:p>
                  </a:txBody>
                  <a:tcPr anchor="ctr" marL="54864" marR="54864" marT="18288" marB="18288">
                    <a:solidFill>
                      <a:srgbClr val="0E7C7B"/>
                    </a:solidFill>
                  </a:tcPr>
                </a:tc>
                <a:tc>
                  <a:txBody>
                    <a:bodyPr/>
                    <a:lstStyle/>
                    <a:p>
                      <a:pPr algn="ctr"/>
                      <a:r>
                        <a:rPr sz="1400" b="1">
                          <a:solidFill>
                            <a:srgbClr val="FFFFFF"/>
                          </a:solidFill>
                          <a:latin typeface="Montserrat Medium"/>
                        </a:rPr>
                        <a:t>Recall@20</a:t>
                      </a:r>
                    </a:p>
                  </a:txBody>
                  <a:tcPr anchor="ctr" marL="54864" marR="54864" marT="18288" marB="18288">
                    <a:solidFill>
                      <a:srgbClr val="0E7C7B"/>
                    </a:solidFill>
                  </a:tcPr>
                </a:tc>
                <a:tc>
                  <a:txBody>
                    <a:bodyPr/>
                    <a:lstStyle/>
                    <a:p>
                      <a:pPr algn="ctr"/>
                      <a:r>
                        <a:rPr sz="1400" b="1">
                          <a:solidFill>
                            <a:srgbClr val="FFFFFF"/>
                          </a:solidFill>
                          <a:latin typeface="Montserrat Medium"/>
                        </a:rPr>
                        <a:t>Coverage</a:t>
                      </a:r>
                    </a:p>
                  </a:txBody>
                  <a:tcPr anchor="ctr" marL="54864" marR="54864" marT="18288" marB="18288">
                    <a:solidFill>
                      <a:srgbClr val="0E7C7B"/>
                    </a:solidFill>
                  </a:tcPr>
                </a:tc>
                <a:tc>
                  <a:txBody>
                    <a:bodyPr/>
                    <a:lstStyle/>
                    <a:p>
                      <a:pPr algn="ctr"/>
                      <a:r>
                        <a:rPr sz="1400" b="1">
                          <a:solidFill>
                            <a:srgbClr val="FFFFFF"/>
                          </a:solidFill>
                          <a:latin typeface="Montserrat Medium"/>
                        </a:rPr>
                        <a:t>Diversity</a:t>
                      </a:r>
                    </a:p>
                  </a:txBody>
                  <a:tcPr anchor="ctr" marL="54864" marR="54864" marT="18288" marB="18288">
                    <a:solidFill>
                      <a:srgbClr val="0E7C7B"/>
                    </a:solidFill>
                  </a:tcPr>
                </a:tc>
              </a:tr>
              <a:tr h="713232">
                <a:tc>
                  <a:txBody>
                    <a:bodyPr/>
                    <a:lstStyle/>
                    <a:p>
                      <a:pPr algn="l"/>
                      <a:r>
                        <a:rPr sz="1400" b="0">
                          <a:solidFill>
                            <a:srgbClr val="2F3B49"/>
                          </a:solidFill>
                          <a:latin typeface="Montserrat"/>
                        </a:rPr>
                        <a:t>MovieLens-1M</a:t>
                      </a:r>
                    </a:p>
                  </a:txBody>
                  <a:tcPr anchor="ctr" marL="54864" marR="54864" marT="18288" marB="18288">
                    <a:solidFill>
                      <a:srgbClr val="FFFFFF"/>
                    </a:solidFill>
                  </a:tcPr>
                </a:tc>
                <a:tc>
                  <a:txBody>
                    <a:bodyPr/>
                    <a:lstStyle/>
                    <a:p>
                      <a:pPr algn="ctr"/>
                      <a:r>
                        <a:rPr sz="1400" b="0">
                          <a:solidFill>
                            <a:srgbClr val="2F3B49"/>
                          </a:solidFill>
                          <a:latin typeface="Montserrat"/>
                        </a:rPr>
                        <a:t>HPCF</a:t>
                      </a:r>
                    </a:p>
                  </a:txBody>
                  <a:tcPr anchor="ctr" marL="54864" marR="54864" marT="18288" marB="18288">
                    <a:solidFill>
                      <a:srgbClr val="FFFFFF"/>
                    </a:solidFill>
                  </a:tcPr>
                </a:tc>
                <a:tc>
                  <a:txBody>
                    <a:bodyPr/>
                    <a:lstStyle/>
                    <a:p>
                      <a:pPr algn="ctr"/>
                      <a:r>
                        <a:rPr sz="1400" b="0">
                          <a:solidFill>
                            <a:srgbClr val="2F3B49"/>
                          </a:solidFill>
                          <a:latin typeface="Montserrat"/>
                        </a:rPr>
                        <a:t>0.2528</a:t>
                      </a:r>
                    </a:p>
                  </a:txBody>
                  <a:tcPr anchor="ctr" marL="54864" marR="54864" marT="18288" marB="18288">
                    <a:solidFill>
                      <a:srgbClr val="FFFFFF"/>
                    </a:solidFill>
                  </a:tcPr>
                </a:tc>
                <a:tc>
                  <a:txBody>
                    <a:bodyPr/>
                    <a:lstStyle/>
                    <a:p>
                      <a:pPr algn="ctr"/>
                      <a:r>
                        <a:rPr sz="1400" b="0">
                          <a:solidFill>
                            <a:srgbClr val="2F3B49"/>
                          </a:solidFill>
                          <a:latin typeface="Montserrat"/>
                        </a:rPr>
                        <a:t>0.2098</a:t>
                      </a:r>
                    </a:p>
                  </a:txBody>
                  <a:tcPr anchor="ctr" marL="54864" marR="54864" marT="18288" marB="18288">
                    <a:solidFill>
                      <a:srgbClr val="FFFFFF"/>
                    </a:solidFill>
                  </a:tcPr>
                </a:tc>
                <a:tc>
                  <a:txBody>
                    <a:bodyPr/>
                    <a:lstStyle/>
                    <a:p>
                      <a:pPr algn="ctr"/>
                      <a:r>
                        <a:rPr sz="1400" b="0">
                          <a:solidFill>
                            <a:srgbClr val="2F3B49"/>
                          </a:solidFill>
                          <a:latin typeface="Montserrat"/>
                        </a:rPr>
                        <a:t>0.342</a:t>
                      </a:r>
                    </a:p>
                  </a:txBody>
                  <a:tcPr anchor="ctr" marL="54864" marR="54864" marT="18288" marB="18288">
                    <a:solidFill>
                      <a:srgbClr val="FFFFFF"/>
                    </a:solidFill>
                  </a:tcPr>
                </a:tc>
                <a:tc>
                  <a:txBody>
                    <a:bodyPr/>
                    <a:lstStyle/>
                    <a:p>
                      <a:pPr algn="ctr"/>
                      <a:r>
                        <a:rPr sz="1400" b="0">
                          <a:solidFill>
                            <a:srgbClr val="2F3B49"/>
                          </a:solidFill>
                          <a:latin typeface="Montserrat"/>
                        </a:rPr>
                        <a:t>0.461</a:t>
                      </a:r>
                    </a:p>
                  </a:txBody>
                  <a:tcPr anchor="ctr" marL="54864" marR="54864" marT="18288" marB="18288">
                    <a:solidFill>
                      <a:srgbClr val="FFFFFF"/>
                    </a:solidFill>
                  </a:tcPr>
                </a:tc>
              </a:tr>
              <a:tr h="713232">
                <a:tc>
                  <a:txBody>
                    <a:bodyPr/>
                    <a:lstStyle/>
                    <a:p>
                      <a:pPr algn="l"/>
                      <a:r>
                        <a:rPr sz="1400" b="1">
                          <a:solidFill>
                            <a:srgbClr val="FFFFFF"/>
                          </a:solidFill>
                          <a:latin typeface="Montserrat"/>
                        </a:rPr>
                        <a:t>MovieLens-1M</a:t>
                      </a:r>
                    </a:p>
                  </a:txBody>
                  <a:tcPr anchor="ctr" marL="54864" marR="54864" marT="18288" marB="18288">
                    <a:solidFill>
                      <a:srgbClr val="0A5F5E"/>
                    </a:solidFill>
                  </a:tcPr>
                </a:tc>
                <a:tc>
                  <a:txBody>
                    <a:bodyPr/>
                    <a:lstStyle/>
                    <a:p>
                      <a:pPr algn="ctr"/>
                      <a:r>
                        <a:rPr sz="1400" b="1">
                          <a:solidFill>
                            <a:srgbClr val="FFFFFF"/>
                          </a:solidFill>
                          <a:latin typeface="Montserrat"/>
                        </a:rPr>
                        <a:t>DyHuCoG</a:t>
                      </a:r>
                    </a:p>
                  </a:txBody>
                  <a:tcPr anchor="ctr" marL="54864" marR="54864" marT="18288" marB="18288">
                    <a:solidFill>
                      <a:srgbClr val="0A5F5E"/>
                    </a:solidFill>
                  </a:tcPr>
                </a:tc>
                <a:tc>
                  <a:txBody>
                    <a:bodyPr/>
                    <a:lstStyle/>
                    <a:p>
                      <a:pPr algn="ctr"/>
                      <a:r>
                        <a:rPr sz="1400" b="1">
                          <a:solidFill>
                            <a:srgbClr val="FFFFFF"/>
                          </a:solidFill>
                          <a:latin typeface="Montserrat"/>
                        </a:rPr>
                        <a:t>0.2775</a:t>
                      </a:r>
                    </a:p>
                  </a:txBody>
                  <a:tcPr anchor="ctr" marL="54864" marR="54864" marT="18288" marB="18288">
                    <a:solidFill>
                      <a:srgbClr val="0A5F5E"/>
                    </a:solidFill>
                  </a:tcPr>
                </a:tc>
                <a:tc>
                  <a:txBody>
                    <a:bodyPr/>
                    <a:lstStyle/>
                    <a:p>
                      <a:pPr algn="ctr"/>
                      <a:r>
                        <a:rPr sz="1400" b="1">
                          <a:solidFill>
                            <a:srgbClr val="FFFFFF"/>
                          </a:solidFill>
                          <a:latin typeface="Montserrat"/>
                        </a:rPr>
                        <a:t>0.2362</a:t>
                      </a:r>
                    </a:p>
                  </a:txBody>
                  <a:tcPr anchor="ctr" marL="54864" marR="54864" marT="18288" marB="18288">
                    <a:solidFill>
                      <a:srgbClr val="0A5F5E"/>
                    </a:solidFill>
                  </a:tcPr>
                </a:tc>
                <a:tc>
                  <a:txBody>
                    <a:bodyPr/>
                    <a:lstStyle/>
                    <a:p>
                      <a:pPr algn="ctr"/>
                      <a:r>
                        <a:rPr sz="1400" b="1">
                          <a:solidFill>
                            <a:srgbClr val="FFFFFF"/>
                          </a:solidFill>
                          <a:latin typeface="Montserrat"/>
                        </a:rPr>
                        <a:t>0.397</a:t>
                      </a:r>
                    </a:p>
                  </a:txBody>
                  <a:tcPr anchor="ctr" marL="54864" marR="54864" marT="18288" marB="18288">
                    <a:solidFill>
                      <a:srgbClr val="0A5F5E"/>
                    </a:solidFill>
                  </a:tcPr>
                </a:tc>
                <a:tc>
                  <a:txBody>
                    <a:bodyPr/>
                    <a:lstStyle/>
                    <a:p>
                      <a:pPr algn="ctr"/>
                      <a:r>
                        <a:rPr sz="1400" b="1">
                          <a:solidFill>
                            <a:srgbClr val="FFFFFF"/>
                          </a:solidFill>
                          <a:latin typeface="Montserrat"/>
                        </a:rPr>
                        <a:t>0.516</a:t>
                      </a:r>
                    </a:p>
                  </a:txBody>
                  <a:tcPr anchor="ctr" marL="54864" marR="54864" marT="18288" marB="18288">
                    <a:solidFill>
                      <a:srgbClr val="0A5F5E"/>
                    </a:solidFill>
                  </a:tcPr>
                </a:tc>
              </a:tr>
              <a:tr h="713232">
                <a:tc>
                  <a:txBody>
                    <a:bodyPr/>
                    <a:lstStyle/>
                    <a:p>
                      <a:pPr algn="l"/>
                      <a:r>
                        <a:rPr sz="1400" b="0">
                          <a:solidFill>
                            <a:srgbClr val="2F3B49"/>
                          </a:solidFill>
                          <a:latin typeface="Montserrat"/>
                        </a:rPr>
                        <a:t>Amazon-Book</a:t>
                      </a:r>
                    </a:p>
                  </a:txBody>
                  <a:tcPr anchor="ctr" marL="54864" marR="54864" marT="18288" marB="18288">
                    <a:solidFill>
                      <a:srgbClr val="FFFFFF"/>
                    </a:solidFill>
                  </a:tcPr>
                </a:tc>
                <a:tc>
                  <a:txBody>
                    <a:bodyPr/>
                    <a:lstStyle/>
                    <a:p>
                      <a:pPr algn="ctr"/>
                      <a:r>
                        <a:rPr sz="1400" b="0">
                          <a:solidFill>
                            <a:srgbClr val="2F3B49"/>
                          </a:solidFill>
                          <a:latin typeface="Montserrat"/>
                        </a:rPr>
                        <a:t>HPCF</a:t>
                      </a:r>
                    </a:p>
                  </a:txBody>
                  <a:tcPr anchor="ctr" marL="54864" marR="54864" marT="18288" marB="18288">
                    <a:solidFill>
                      <a:srgbClr val="FFFFFF"/>
                    </a:solidFill>
                  </a:tcPr>
                </a:tc>
                <a:tc>
                  <a:txBody>
                    <a:bodyPr/>
                    <a:lstStyle/>
                    <a:p>
                      <a:pPr algn="ctr"/>
                      <a:r>
                        <a:rPr sz="1400" b="0">
                          <a:solidFill>
                            <a:srgbClr val="2F3B49"/>
                          </a:solidFill>
                          <a:latin typeface="Montserrat"/>
                        </a:rPr>
                        <a:t>0.0270</a:t>
                      </a:r>
                    </a:p>
                  </a:txBody>
                  <a:tcPr anchor="ctr" marL="54864" marR="54864" marT="18288" marB="18288">
                    <a:solidFill>
                      <a:srgbClr val="FFFFFF"/>
                    </a:solidFill>
                  </a:tcPr>
                </a:tc>
                <a:tc>
                  <a:txBody>
                    <a:bodyPr/>
                    <a:lstStyle/>
                    <a:p>
                      <a:pPr algn="ctr"/>
                      <a:r>
                        <a:rPr sz="1400" b="0">
                          <a:solidFill>
                            <a:srgbClr val="2F3B49"/>
                          </a:solidFill>
                          <a:latin typeface="Montserrat"/>
                        </a:rPr>
                        <a:t>0.0359</a:t>
                      </a:r>
                    </a:p>
                  </a:txBody>
                  <a:tcPr anchor="ctr" marL="54864" marR="54864" marT="18288" marB="18288">
                    <a:solidFill>
                      <a:srgbClr val="FFFFFF"/>
                    </a:solidFill>
                  </a:tcPr>
                </a:tc>
                <a:tc>
                  <a:txBody>
                    <a:bodyPr/>
                    <a:lstStyle/>
                    <a:p>
                      <a:pPr algn="ctr"/>
                      <a:r>
                        <a:rPr sz="1400" b="0">
                          <a:solidFill>
                            <a:srgbClr val="2F3B49"/>
                          </a:solidFill>
                          <a:latin typeface="Montserrat"/>
                        </a:rPr>
                        <a:t>0.259</a:t>
                      </a:r>
                    </a:p>
                  </a:txBody>
                  <a:tcPr anchor="ctr" marL="54864" marR="54864" marT="18288" marB="18288">
                    <a:solidFill>
                      <a:srgbClr val="FFFFFF"/>
                    </a:solidFill>
                  </a:tcPr>
                </a:tc>
                <a:tc>
                  <a:txBody>
                    <a:bodyPr/>
                    <a:lstStyle/>
                    <a:p>
                      <a:pPr algn="ctr"/>
                      <a:r>
                        <a:rPr sz="1400" b="0">
                          <a:solidFill>
                            <a:srgbClr val="2F3B49"/>
                          </a:solidFill>
                          <a:latin typeface="Montserrat"/>
                        </a:rPr>
                        <a:t>0.535</a:t>
                      </a:r>
                    </a:p>
                  </a:txBody>
                  <a:tcPr anchor="ctr" marL="54864" marR="54864" marT="18288" marB="18288">
                    <a:solidFill>
                      <a:srgbClr val="FFFFFF"/>
                    </a:solidFill>
                  </a:tcPr>
                </a:tc>
              </a:tr>
              <a:tr h="713232">
                <a:tc>
                  <a:txBody>
                    <a:bodyPr/>
                    <a:lstStyle/>
                    <a:p>
                      <a:pPr algn="l"/>
                      <a:r>
                        <a:rPr sz="1400" b="1">
                          <a:solidFill>
                            <a:srgbClr val="FFFFFF"/>
                          </a:solidFill>
                          <a:latin typeface="Montserrat"/>
                        </a:rPr>
                        <a:t>Amazon-Book</a:t>
                      </a:r>
                    </a:p>
                  </a:txBody>
                  <a:tcPr anchor="ctr" marL="54864" marR="54864" marT="18288" marB="18288">
                    <a:solidFill>
                      <a:srgbClr val="0A5F5E"/>
                    </a:solidFill>
                  </a:tcPr>
                </a:tc>
                <a:tc>
                  <a:txBody>
                    <a:bodyPr/>
                    <a:lstStyle/>
                    <a:p>
                      <a:pPr algn="ctr"/>
                      <a:r>
                        <a:rPr sz="1400" b="1">
                          <a:solidFill>
                            <a:srgbClr val="FFFFFF"/>
                          </a:solidFill>
                          <a:latin typeface="Montserrat"/>
                        </a:rPr>
                        <a:t>DyHuCoG</a:t>
                      </a:r>
                    </a:p>
                  </a:txBody>
                  <a:tcPr anchor="ctr" marL="54864" marR="54864" marT="18288" marB="18288">
                    <a:solidFill>
                      <a:srgbClr val="0A5F5E"/>
                    </a:solidFill>
                  </a:tcPr>
                </a:tc>
                <a:tc>
                  <a:txBody>
                    <a:bodyPr/>
                    <a:lstStyle/>
                    <a:p>
                      <a:pPr algn="ctr"/>
                      <a:r>
                        <a:rPr sz="1400" b="1">
                          <a:solidFill>
                            <a:srgbClr val="FFFFFF"/>
                          </a:solidFill>
                          <a:latin typeface="Montserrat"/>
                        </a:rPr>
                        <a:t>0.0306</a:t>
                      </a:r>
                    </a:p>
                  </a:txBody>
                  <a:tcPr anchor="ctr" marL="54864" marR="54864" marT="18288" marB="18288">
                    <a:solidFill>
                      <a:srgbClr val="0A5F5E"/>
                    </a:solidFill>
                  </a:tcPr>
                </a:tc>
                <a:tc>
                  <a:txBody>
                    <a:bodyPr/>
                    <a:lstStyle/>
                    <a:p>
                      <a:pPr algn="ctr"/>
                      <a:r>
                        <a:rPr sz="1400" b="1">
                          <a:solidFill>
                            <a:srgbClr val="FFFFFF"/>
                          </a:solidFill>
                          <a:latin typeface="Montserrat"/>
                        </a:rPr>
                        <a:t>0.0417</a:t>
                      </a:r>
                    </a:p>
                  </a:txBody>
                  <a:tcPr anchor="ctr" marL="54864" marR="54864" marT="18288" marB="18288">
                    <a:solidFill>
                      <a:srgbClr val="0A5F5E"/>
                    </a:solidFill>
                  </a:tcPr>
                </a:tc>
                <a:tc>
                  <a:txBody>
                    <a:bodyPr/>
                    <a:lstStyle/>
                    <a:p>
                      <a:pPr algn="ctr"/>
                      <a:r>
                        <a:rPr sz="1400" b="1">
                          <a:solidFill>
                            <a:srgbClr val="FFFFFF"/>
                          </a:solidFill>
                          <a:latin typeface="Montserrat"/>
                        </a:rPr>
                        <a:t>0.336</a:t>
                      </a:r>
                    </a:p>
                  </a:txBody>
                  <a:tcPr anchor="ctr" marL="54864" marR="54864" marT="18288" marB="18288">
                    <a:solidFill>
                      <a:srgbClr val="0A5F5E"/>
                    </a:solidFill>
                  </a:tcPr>
                </a:tc>
                <a:tc>
                  <a:txBody>
                    <a:bodyPr/>
                    <a:lstStyle/>
                    <a:p>
                      <a:pPr algn="ctr"/>
                      <a:r>
                        <a:rPr sz="1400" b="1">
                          <a:solidFill>
                            <a:srgbClr val="FFFFFF"/>
                          </a:solidFill>
                          <a:latin typeface="Montserrat"/>
                        </a:rPr>
                        <a:t>0.602</a:t>
                      </a:r>
                    </a:p>
                  </a:txBody>
                  <a:tcPr anchor="ctr" marL="54864" marR="54864" marT="18288" marB="18288">
                    <a:solidFill>
                      <a:srgbClr val="0A5F5E"/>
                    </a:solidFill>
                  </a:tcPr>
                </a:tc>
              </a:tr>
            </a:tbl>
          </a:graphicData>
        </a:graphic>
      </p:graphicFrame>
      <p:pic>
        <p:nvPicPr>
          <p:cNvPr id="49" name="Picture 48" descr="image.png"/>
          <p:cNvPicPr>
            <a:picLocks noChangeAspect="1"/>
          </p:cNvPicPr>
          <p:nvPr/>
        </p:nvPicPr>
        <p:blipFill>
          <a:blip r:embed="rId7"/>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III — DyHuCoG: A Dynamic Hypergraph Cooperative Game</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graphicFrame>
        <p:nvGraphicFramePr>
          <p:cNvPr id="48" name="Table 47"/>
          <p:cNvGraphicFramePr>
            <a:graphicFrameLocks noGrp="1"/>
          </p:cNvGraphicFramePr>
          <p:nvPr/>
        </p:nvGraphicFramePr>
        <p:xfrm>
          <a:off x="365760" y="1737360"/>
          <a:ext cx="11338558" cy="3291840"/>
        </p:xfrm>
        <a:graphic>
          <a:graphicData uri="http://schemas.openxmlformats.org/drawingml/2006/table">
            <a:tbl>
              <a:tblPr>
                <a:tableStyleId>{5C22544A-7EE6-4342-B048-85BDC9FD1C3A}</a:tableStyleId>
              </a:tblPr>
              <a:tblGrid>
                <a:gridCol w="4360984"/>
                <a:gridCol w="3488787"/>
                <a:gridCol w="3488787"/>
              </a:tblGrid>
              <a:tr h="658368">
                <a:tc>
                  <a:txBody>
                    <a:bodyPr/>
                    <a:lstStyle/>
                    <a:p>
                      <a:pPr algn="ctr"/>
                      <a:r>
                        <a:rPr sz="1400" b="1">
                          <a:solidFill>
                            <a:srgbClr val="FFFFFF"/>
                          </a:solidFill>
                          <a:latin typeface="Montserrat Medium"/>
                        </a:rPr>
                        <a:t>Metric</a:t>
                      </a:r>
                    </a:p>
                  </a:txBody>
                  <a:tcPr anchor="ctr" marL="54864" marR="54864" marT="18288" marB="18288">
                    <a:solidFill>
                      <a:srgbClr val="0E7C7B"/>
                    </a:solidFill>
                  </a:tcPr>
                </a:tc>
                <a:tc>
                  <a:txBody>
                    <a:bodyPr/>
                    <a:lstStyle/>
                    <a:p>
                      <a:pPr algn="ctr"/>
                      <a:r>
                        <a:rPr sz="1400" b="1">
                          <a:solidFill>
                            <a:srgbClr val="FFFFFF"/>
                          </a:solidFill>
                          <a:latin typeface="Montserrat Medium"/>
                        </a:rPr>
                        <a:t>MovieLens-1M</a:t>
                      </a:r>
                    </a:p>
                  </a:txBody>
                  <a:tcPr anchor="ctr" marL="54864" marR="54864" marT="18288" marB="18288">
                    <a:solidFill>
                      <a:srgbClr val="0E7C7B"/>
                    </a:solidFill>
                  </a:tcPr>
                </a:tc>
                <a:tc>
                  <a:txBody>
                    <a:bodyPr/>
                    <a:lstStyle/>
                    <a:p>
                      <a:pPr algn="ctr"/>
                      <a:r>
                        <a:rPr sz="1400" b="1">
                          <a:solidFill>
                            <a:srgbClr val="FFFFFF"/>
                          </a:solidFill>
                          <a:latin typeface="Montserrat Medium"/>
                        </a:rPr>
                        <a:t>Amazon-Book</a:t>
                      </a:r>
                    </a:p>
                  </a:txBody>
                  <a:tcPr anchor="ctr" marL="54864" marR="54864" marT="18288" marB="18288">
                    <a:solidFill>
                      <a:srgbClr val="0E7C7B"/>
                    </a:solidFill>
                  </a:tcPr>
                </a:tc>
              </a:tr>
              <a:tr h="658368">
                <a:tc>
                  <a:txBody>
                    <a:bodyPr/>
                    <a:lstStyle/>
                    <a:p>
                      <a:pPr algn="l"/>
                      <a:r>
                        <a:rPr sz="1400" b="0">
                          <a:solidFill>
                            <a:srgbClr val="2F3B49"/>
                          </a:solidFill>
                          <a:latin typeface="Montserrat"/>
                        </a:rPr>
                        <a:t>NDCG@20</a:t>
                      </a:r>
                    </a:p>
                  </a:txBody>
                  <a:tcPr anchor="ctr" marL="54864" marR="54864" marT="18288" marB="18288">
                    <a:solidFill>
                      <a:srgbClr val="FFFFFF"/>
                    </a:solidFill>
                  </a:tcPr>
                </a:tc>
                <a:tc>
                  <a:txBody>
                    <a:bodyPr/>
                    <a:lstStyle/>
                    <a:p>
                      <a:pPr algn="ctr"/>
                      <a:r>
                        <a:rPr sz="1400" b="0">
                          <a:solidFill>
                            <a:srgbClr val="2F3B49"/>
                          </a:solidFill>
                          <a:latin typeface="Montserrat"/>
                        </a:rPr>
                        <a:t>+9.77%</a:t>
                      </a:r>
                    </a:p>
                  </a:txBody>
                  <a:tcPr anchor="ctr" marL="54864" marR="54864" marT="18288" marB="18288">
                    <a:solidFill>
                      <a:srgbClr val="FFFFFF"/>
                    </a:solidFill>
                  </a:tcPr>
                </a:tc>
                <a:tc>
                  <a:txBody>
                    <a:bodyPr/>
                    <a:lstStyle/>
                    <a:p>
                      <a:pPr algn="ctr"/>
                      <a:r>
                        <a:rPr sz="1400" b="0">
                          <a:solidFill>
                            <a:srgbClr val="2F3B49"/>
                          </a:solidFill>
                          <a:latin typeface="Montserrat"/>
                        </a:rPr>
                        <a:t>+13.33%</a:t>
                      </a:r>
                    </a:p>
                  </a:txBody>
                  <a:tcPr anchor="ctr" marL="54864" marR="54864" marT="18288" marB="18288">
                    <a:solidFill>
                      <a:srgbClr val="FFFFFF"/>
                    </a:solidFill>
                  </a:tcPr>
                </a:tc>
              </a:tr>
              <a:tr h="658368">
                <a:tc>
                  <a:txBody>
                    <a:bodyPr/>
                    <a:lstStyle/>
                    <a:p>
                      <a:pPr algn="l"/>
                      <a:r>
                        <a:rPr sz="1400" b="0">
                          <a:solidFill>
                            <a:srgbClr val="2F3B49"/>
                          </a:solidFill>
                          <a:latin typeface="Montserrat"/>
                        </a:rPr>
                        <a:t>Recall@20</a:t>
                      </a:r>
                    </a:p>
                  </a:txBody>
                  <a:tcPr anchor="ctr" marL="54864" marR="54864" marT="18288" marB="18288">
                    <a:solidFill>
                      <a:srgbClr val="F0F4FB"/>
                    </a:solidFill>
                  </a:tcPr>
                </a:tc>
                <a:tc>
                  <a:txBody>
                    <a:bodyPr/>
                    <a:lstStyle/>
                    <a:p>
                      <a:pPr algn="ctr"/>
                      <a:r>
                        <a:rPr sz="1400" b="0">
                          <a:solidFill>
                            <a:srgbClr val="2F3B49"/>
                          </a:solidFill>
                          <a:latin typeface="Montserrat"/>
                        </a:rPr>
                        <a:t>+12.58%</a:t>
                      </a:r>
                    </a:p>
                  </a:txBody>
                  <a:tcPr anchor="ctr" marL="54864" marR="54864" marT="18288" marB="18288">
                    <a:solidFill>
                      <a:srgbClr val="F0F4FB"/>
                    </a:solidFill>
                  </a:tcPr>
                </a:tc>
                <a:tc>
                  <a:txBody>
                    <a:bodyPr/>
                    <a:lstStyle/>
                    <a:p>
                      <a:pPr algn="ctr"/>
                      <a:r>
                        <a:rPr sz="1400" b="0">
                          <a:solidFill>
                            <a:srgbClr val="2F3B49"/>
                          </a:solidFill>
                          <a:latin typeface="Montserrat"/>
                        </a:rPr>
                        <a:t>+16.16%</a:t>
                      </a:r>
                    </a:p>
                  </a:txBody>
                  <a:tcPr anchor="ctr" marL="54864" marR="54864" marT="18288" marB="18288">
                    <a:solidFill>
                      <a:srgbClr val="F0F4FB"/>
                    </a:solidFill>
                  </a:tcPr>
                </a:tc>
              </a:tr>
              <a:tr h="658368">
                <a:tc>
                  <a:txBody>
                    <a:bodyPr/>
                    <a:lstStyle/>
                    <a:p>
                      <a:pPr algn="l"/>
                      <a:r>
                        <a:rPr sz="1400" b="0">
                          <a:solidFill>
                            <a:srgbClr val="2F3B49"/>
                          </a:solidFill>
                          <a:latin typeface="Montserrat"/>
                        </a:rPr>
                        <a:t>Coverage</a:t>
                      </a:r>
                    </a:p>
                  </a:txBody>
                  <a:tcPr anchor="ctr" marL="54864" marR="54864" marT="18288" marB="18288">
                    <a:solidFill>
                      <a:srgbClr val="FFFFFF"/>
                    </a:solidFill>
                  </a:tcPr>
                </a:tc>
                <a:tc>
                  <a:txBody>
                    <a:bodyPr/>
                    <a:lstStyle/>
                    <a:p>
                      <a:pPr algn="ctr"/>
                      <a:r>
                        <a:rPr sz="1400" b="0">
                          <a:solidFill>
                            <a:srgbClr val="2F3B49"/>
                          </a:solidFill>
                          <a:latin typeface="Montserrat"/>
                        </a:rPr>
                        <a:t>+16.1%</a:t>
                      </a:r>
                    </a:p>
                  </a:txBody>
                  <a:tcPr anchor="ctr" marL="54864" marR="54864" marT="18288" marB="18288">
                    <a:solidFill>
                      <a:srgbClr val="FFFFFF"/>
                    </a:solidFill>
                  </a:tcPr>
                </a:tc>
                <a:tc>
                  <a:txBody>
                    <a:bodyPr/>
                    <a:lstStyle/>
                    <a:p>
                      <a:pPr algn="ctr"/>
                      <a:r>
                        <a:rPr sz="1400" b="0">
                          <a:solidFill>
                            <a:srgbClr val="2F3B49"/>
                          </a:solidFill>
                          <a:latin typeface="Montserrat"/>
                        </a:rPr>
                        <a:t>+29.7%</a:t>
                      </a:r>
                    </a:p>
                  </a:txBody>
                  <a:tcPr anchor="ctr" marL="54864" marR="54864" marT="18288" marB="18288">
                    <a:solidFill>
                      <a:srgbClr val="FFFFFF"/>
                    </a:solidFill>
                  </a:tcPr>
                </a:tc>
              </a:tr>
              <a:tr h="658368">
                <a:tc>
                  <a:txBody>
                    <a:bodyPr/>
                    <a:lstStyle/>
                    <a:p>
                      <a:pPr algn="l"/>
                      <a:r>
                        <a:rPr sz="1400" b="0">
                          <a:solidFill>
                            <a:srgbClr val="2F3B49"/>
                          </a:solidFill>
                          <a:latin typeface="Montserrat"/>
                        </a:rPr>
                        <a:t>Intra-List Diversity</a:t>
                      </a:r>
                    </a:p>
                  </a:txBody>
                  <a:tcPr anchor="ctr" marL="54864" marR="54864" marT="18288" marB="18288">
                    <a:solidFill>
                      <a:srgbClr val="F0F4FB"/>
                    </a:solidFill>
                  </a:tcPr>
                </a:tc>
                <a:tc>
                  <a:txBody>
                    <a:bodyPr/>
                    <a:lstStyle/>
                    <a:p>
                      <a:pPr algn="ctr"/>
                      <a:r>
                        <a:rPr sz="1400" b="0">
                          <a:solidFill>
                            <a:srgbClr val="2F3B49"/>
                          </a:solidFill>
                          <a:latin typeface="Montserrat"/>
                        </a:rPr>
                        <a:t>+11.9%</a:t>
                      </a:r>
                    </a:p>
                  </a:txBody>
                  <a:tcPr anchor="ctr" marL="54864" marR="54864" marT="18288" marB="18288">
                    <a:solidFill>
                      <a:srgbClr val="F0F4FB"/>
                    </a:solidFill>
                  </a:tcPr>
                </a:tc>
                <a:tc>
                  <a:txBody>
                    <a:bodyPr/>
                    <a:lstStyle/>
                    <a:p>
                      <a:pPr algn="ctr"/>
                      <a:r>
                        <a:rPr sz="1400" b="0">
                          <a:solidFill>
                            <a:srgbClr val="2F3B49"/>
                          </a:solidFill>
                          <a:latin typeface="Montserrat"/>
                        </a:rPr>
                        <a:t>+12.5%</a:t>
                      </a:r>
                    </a:p>
                  </a:txBody>
                  <a:tcPr anchor="ctr" marL="54864" marR="54864" marT="18288" marB="18288">
                    <a:solidFill>
                      <a:srgbClr val="F0F4FB"/>
                    </a:solidFill>
                  </a:tcPr>
                </a:tc>
              </a:tr>
            </a:tbl>
          </a:graphicData>
        </a:graphic>
      </p:graphicFrame>
      <p:pic>
        <p:nvPicPr>
          <p:cNvPr id="49" name="Picture 48" descr="image.png"/>
          <p:cNvPicPr>
            <a:picLocks noChangeAspect="1"/>
          </p:cNvPicPr>
          <p:nvPr/>
        </p:nvPicPr>
        <p:blipFill>
          <a:blip r:embed="rId7"/>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III — DyHuCoG: A Dynamic Hypergraph Cooperative Game</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MovieLens-1M: Coverage 0.342 → 0.397 (+16.1%); ILD 0.461 → 0.516 (+11.9%).</a:t>
            </a:r>
          </a:p>
          <a:p>
            <a:pPr>
              <a:lnSpc>
                <a:spcPct val="105000"/>
              </a:lnSpc>
              <a:spcAft>
                <a:spcPts val="900"/>
              </a:spcAft>
            </a:pPr>
            <a:r>
              <a:rPr sz="1700">
                <a:solidFill>
                  <a:srgbClr val="0E7C7B"/>
                </a:solidFill>
                <a:latin typeface="Wingdings"/>
              </a:rPr>
              <a:t>§  </a:t>
            </a:r>
            <a:r>
              <a:rPr sz="1700" b="1">
                <a:solidFill>
                  <a:srgbClr val="2F3B49"/>
                </a:solidFill>
                <a:latin typeface="Montserrat Medium"/>
              </a:rPr>
              <a:t>Amazon-Book: Coverage 0.259 → 0.336 (+29.7%); ILD 0.535 → 0.602 (+12.5%).</a:t>
            </a:r>
          </a:p>
          <a:p>
            <a:pPr lvl="1">
              <a:lnSpc>
                <a:spcPct val="105000"/>
              </a:lnSpc>
              <a:spcAft>
                <a:spcPts val="600"/>
              </a:spcAft>
            </a:pPr>
            <a:r>
              <a:rPr sz="1600">
                <a:solidFill>
                  <a:srgbClr val="0E7C7B"/>
                </a:solidFill>
                <a:latin typeface="Montserrat"/>
              </a:rPr>
              <a:t>–  </a:t>
            </a:r>
            <a:r>
              <a:rPr sz="1600" b="0">
                <a:solidFill>
                  <a:srgbClr val="2F3B49"/>
                </a:solidFill>
                <a:latin typeface="Montserrat"/>
              </a:rPr>
              <a:t>Reduced filter-bubble effect and greater discovery opportunity — while NDCG/Recall also improve, so accuracy is not traded off for diversity.</a:t>
            </a:r>
          </a:p>
        </p:txBody>
      </p:sp>
      <p:pic>
        <p:nvPicPr>
          <p:cNvPr id="49" name="Picture 48" descr="image.png"/>
          <p:cNvPicPr>
            <a:picLocks noChangeAspect="1"/>
          </p:cNvPicPr>
          <p:nvPr/>
        </p:nvPicPr>
        <p:blipFill>
          <a:blip r:embed="rId7"/>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III — DyHuCoG: A Dynamic Hypergraph Cooperative Game</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graphicFrame>
        <p:nvGraphicFramePr>
          <p:cNvPr id="48" name="Table 47"/>
          <p:cNvGraphicFramePr>
            <a:graphicFrameLocks noGrp="1"/>
          </p:cNvGraphicFramePr>
          <p:nvPr/>
        </p:nvGraphicFramePr>
        <p:xfrm>
          <a:off x="365760" y="1737360"/>
          <a:ext cx="11430000" cy="3566157"/>
        </p:xfrm>
        <a:graphic>
          <a:graphicData uri="http://schemas.openxmlformats.org/drawingml/2006/table">
            <a:tbl>
              <a:tblPr>
                <a:tableStyleId>{5C22544A-7EE6-4342-B048-85BDC9FD1C3A}</a:tableStyleId>
              </a:tblPr>
              <a:tblGrid>
                <a:gridCol w="3429000"/>
                <a:gridCol w="2286000"/>
                <a:gridCol w="1714500"/>
                <a:gridCol w="2286000"/>
                <a:gridCol w="1714500"/>
              </a:tblGrid>
              <a:tr h="509451">
                <a:tc>
                  <a:txBody>
                    <a:bodyPr/>
                    <a:lstStyle/>
                    <a:p>
                      <a:pPr algn="ctr"/>
                      <a:r>
                        <a:rPr sz="1400" b="1">
                          <a:solidFill>
                            <a:srgbClr val="FFFFFF"/>
                          </a:solidFill>
                          <a:latin typeface="Montserrat Medium"/>
                        </a:rPr>
                        <a:t>Variant</a:t>
                      </a:r>
                    </a:p>
                  </a:txBody>
                  <a:tcPr anchor="ctr" marL="54864" marR="54864" marT="18288" marB="18288">
                    <a:solidFill>
                      <a:srgbClr val="0E7C7B"/>
                    </a:solidFill>
                  </a:tcPr>
                </a:tc>
                <a:tc>
                  <a:txBody>
                    <a:bodyPr/>
                    <a:lstStyle/>
                    <a:p>
                      <a:pPr algn="ctr"/>
                      <a:r>
                        <a:rPr sz="1400" b="1">
                          <a:solidFill>
                            <a:srgbClr val="FFFFFF"/>
                          </a:solidFill>
                          <a:latin typeface="Montserrat Medium"/>
                        </a:rPr>
                        <a:t>ML-1M NDCG@20</a:t>
                      </a:r>
                    </a:p>
                  </a:txBody>
                  <a:tcPr anchor="ctr" marL="54864" marR="54864" marT="18288" marB="18288">
                    <a:solidFill>
                      <a:srgbClr val="0E7C7B"/>
                    </a:solidFill>
                  </a:tcPr>
                </a:tc>
                <a:tc>
                  <a:txBody>
                    <a:bodyPr/>
                    <a:lstStyle/>
                    <a:p>
                      <a:pPr algn="ctr"/>
                      <a:r>
                        <a:rPr sz="1400" b="1">
                          <a:solidFill>
                            <a:srgbClr val="FFFFFF"/>
                          </a:solidFill>
                          <a:latin typeface="Montserrat Medium"/>
                        </a:rPr>
                        <a:t>% Drop</a:t>
                      </a:r>
                    </a:p>
                  </a:txBody>
                  <a:tcPr anchor="ctr" marL="54864" marR="54864" marT="18288" marB="18288">
                    <a:solidFill>
                      <a:srgbClr val="0E7C7B"/>
                    </a:solidFill>
                  </a:tcPr>
                </a:tc>
                <a:tc>
                  <a:txBody>
                    <a:bodyPr/>
                    <a:lstStyle/>
                    <a:p>
                      <a:pPr algn="ctr"/>
                      <a:r>
                        <a:rPr sz="1400" b="1">
                          <a:solidFill>
                            <a:srgbClr val="FFFFFF"/>
                          </a:solidFill>
                          <a:latin typeface="Montserrat Medium"/>
                        </a:rPr>
                        <a:t>Amazon NDCG@20</a:t>
                      </a:r>
                    </a:p>
                  </a:txBody>
                  <a:tcPr anchor="ctr" marL="54864" marR="54864" marT="18288" marB="18288">
                    <a:solidFill>
                      <a:srgbClr val="0E7C7B"/>
                    </a:solidFill>
                  </a:tcPr>
                </a:tc>
                <a:tc>
                  <a:txBody>
                    <a:bodyPr/>
                    <a:lstStyle/>
                    <a:p>
                      <a:pPr algn="ctr"/>
                      <a:r>
                        <a:rPr sz="1400" b="1">
                          <a:solidFill>
                            <a:srgbClr val="FFFFFF"/>
                          </a:solidFill>
                          <a:latin typeface="Montserrat Medium"/>
                        </a:rPr>
                        <a:t>% Drop</a:t>
                      </a:r>
                    </a:p>
                  </a:txBody>
                  <a:tcPr anchor="ctr" marL="54864" marR="54864" marT="18288" marB="18288">
                    <a:solidFill>
                      <a:srgbClr val="0E7C7B"/>
                    </a:solidFill>
                  </a:tcPr>
                </a:tc>
              </a:tr>
              <a:tr h="509451">
                <a:tc>
                  <a:txBody>
                    <a:bodyPr/>
                    <a:lstStyle/>
                    <a:p>
                      <a:pPr algn="l"/>
                      <a:r>
                        <a:rPr sz="1400" b="0">
                          <a:solidFill>
                            <a:srgbClr val="2F3B49"/>
                          </a:solidFill>
                          <a:latin typeface="Montserrat"/>
                        </a:rPr>
                        <a:t>Full DyHuCoG</a:t>
                      </a:r>
                    </a:p>
                  </a:txBody>
                  <a:tcPr anchor="ctr" marL="54864" marR="54864" marT="18288" marB="18288">
                    <a:solidFill>
                      <a:srgbClr val="FFFFFF"/>
                    </a:solidFill>
                  </a:tcPr>
                </a:tc>
                <a:tc>
                  <a:txBody>
                    <a:bodyPr/>
                    <a:lstStyle/>
                    <a:p>
                      <a:pPr algn="ctr"/>
                      <a:r>
                        <a:rPr sz="1400" b="0">
                          <a:solidFill>
                            <a:srgbClr val="2F3B49"/>
                          </a:solidFill>
                          <a:latin typeface="Montserrat"/>
                        </a:rPr>
                        <a:t>0.2775</a:t>
                      </a:r>
                    </a:p>
                  </a:txBody>
                  <a:tcPr anchor="ctr" marL="54864" marR="54864" marT="18288" marB="18288">
                    <a:solidFill>
                      <a:srgbClr val="FFFFFF"/>
                    </a:solidFill>
                  </a:tcPr>
                </a:tc>
                <a:tc>
                  <a:txBody>
                    <a:bodyPr/>
                    <a:lstStyle/>
                    <a:p>
                      <a:pPr algn="ctr"/>
                      <a:r>
                        <a:rPr sz="1400" b="0">
                          <a:solidFill>
                            <a:srgbClr val="2F3B49"/>
                          </a:solidFill>
                          <a:latin typeface="Montserrat"/>
                        </a:rPr>
                        <a:t>–</a:t>
                      </a:r>
                    </a:p>
                  </a:txBody>
                  <a:tcPr anchor="ctr" marL="54864" marR="54864" marT="18288" marB="18288">
                    <a:solidFill>
                      <a:srgbClr val="FFFFFF"/>
                    </a:solidFill>
                  </a:tcPr>
                </a:tc>
                <a:tc>
                  <a:txBody>
                    <a:bodyPr/>
                    <a:lstStyle/>
                    <a:p>
                      <a:pPr algn="ctr"/>
                      <a:r>
                        <a:rPr sz="1400" b="0">
                          <a:solidFill>
                            <a:srgbClr val="2F3B49"/>
                          </a:solidFill>
                          <a:latin typeface="Montserrat"/>
                        </a:rPr>
                        <a:t>0.0306</a:t>
                      </a:r>
                    </a:p>
                  </a:txBody>
                  <a:tcPr anchor="ctr" marL="54864" marR="54864" marT="18288" marB="18288">
                    <a:solidFill>
                      <a:srgbClr val="FFFFFF"/>
                    </a:solidFill>
                  </a:tcPr>
                </a:tc>
                <a:tc>
                  <a:txBody>
                    <a:bodyPr/>
                    <a:lstStyle/>
                    <a:p>
                      <a:pPr algn="ctr"/>
                      <a:r>
                        <a:rPr sz="1400" b="0">
                          <a:solidFill>
                            <a:srgbClr val="2F3B49"/>
                          </a:solidFill>
                          <a:latin typeface="Montserrat"/>
                        </a:rPr>
                        <a:t>–</a:t>
                      </a:r>
                    </a:p>
                  </a:txBody>
                  <a:tcPr anchor="ctr" marL="54864" marR="54864" marT="18288" marB="18288">
                    <a:solidFill>
                      <a:srgbClr val="FFFFFF"/>
                    </a:solidFill>
                  </a:tcPr>
                </a:tc>
              </a:tr>
              <a:tr h="509451">
                <a:tc>
                  <a:txBody>
                    <a:bodyPr/>
                    <a:lstStyle/>
                    <a:p>
                      <a:pPr algn="l"/>
                      <a:r>
                        <a:rPr sz="1400" b="1">
                          <a:solidFill>
                            <a:srgbClr val="FFFFFF"/>
                          </a:solidFill>
                          <a:latin typeface="Montserrat"/>
                        </a:rPr>
                        <a:t>w/o Shapley Value</a:t>
                      </a:r>
                    </a:p>
                  </a:txBody>
                  <a:tcPr anchor="ctr" marL="54864" marR="54864" marT="18288" marB="18288">
                    <a:solidFill>
                      <a:srgbClr val="0A5F5E"/>
                    </a:solidFill>
                  </a:tcPr>
                </a:tc>
                <a:tc>
                  <a:txBody>
                    <a:bodyPr/>
                    <a:lstStyle/>
                    <a:p>
                      <a:pPr algn="ctr"/>
                      <a:r>
                        <a:rPr sz="1400" b="1">
                          <a:solidFill>
                            <a:srgbClr val="FFFFFF"/>
                          </a:solidFill>
                          <a:latin typeface="Montserrat"/>
                        </a:rPr>
                        <a:t>0.2647</a:t>
                      </a:r>
                    </a:p>
                  </a:txBody>
                  <a:tcPr anchor="ctr" marL="54864" marR="54864" marT="18288" marB="18288">
                    <a:solidFill>
                      <a:srgbClr val="0A5F5E"/>
                    </a:solidFill>
                  </a:tcPr>
                </a:tc>
                <a:tc>
                  <a:txBody>
                    <a:bodyPr/>
                    <a:lstStyle/>
                    <a:p>
                      <a:pPr algn="ctr"/>
                      <a:r>
                        <a:rPr sz="1400" b="1">
                          <a:solidFill>
                            <a:srgbClr val="FFFFFF"/>
                          </a:solidFill>
                          <a:latin typeface="Montserrat"/>
                        </a:rPr>
                        <a:t>4.6%</a:t>
                      </a:r>
                    </a:p>
                  </a:txBody>
                  <a:tcPr anchor="ctr" marL="54864" marR="54864" marT="18288" marB="18288">
                    <a:solidFill>
                      <a:srgbClr val="0A5F5E"/>
                    </a:solidFill>
                  </a:tcPr>
                </a:tc>
                <a:tc>
                  <a:txBody>
                    <a:bodyPr/>
                    <a:lstStyle/>
                    <a:p>
                      <a:pPr algn="ctr"/>
                      <a:r>
                        <a:rPr sz="1400" b="1">
                          <a:solidFill>
                            <a:srgbClr val="FFFFFF"/>
                          </a:solidFill>
                          <a:latin typeface="Montserrat"/>
                        </a:rPr>
                        <a:t>0.0287</a:t>
                      </a:r>
                    </a:p>
                  </a:txBody>
                  <a:tcPr anchor="ctr" marL="54864" marR="54864" marT="18288" marB="18288">
                    <a:solidFill>
                      <a:srgbClr val="0A5F5E"/>
                    </a:solidFill>
                  </a:tcPr>
                </a:tc>
                <a:tc>
                  <a:txBody>
                    <a:bodyPr/>
                    <a:lstStyle/>
                    <a:p>
                      <a:pPr algn="ctr"/>
                      <a:r>
                        <a:rPr sz="1400" b="1">
                          <a:solidFill>
                            <a:srgbClr val="FFFFFF"/>
                          </a:solidFill>
                          <a:latin typeface="Montserrat"/>
                        </a:rPr>
                        <a:t>6.1%</a:t>
                      </a:r>
                    </a:p>
                  </a:txBody>
                  <a:tcPr anchor="ctr" marL="54864" marR="54864" marT="18288" marB="18288">
                    <a:solidFill>
                      <a:srgbClr val="0A5F5E"/>
                    </a:solidFill>
                  </a:tcPr>
                </a:tc>
              </a:tr>
              <a:tr h="509451">
                <a:tc>
                  <a:txBody>
                    <a:bodyPr/>
                    <a:lstStyle/>
                    <a:p>
                      <a:pPr algn="l"/>
                      <a:r>
                        <a:rPr sz="1400" b="0">
                          <a:solidFill>
                            <a:srgbClr val="2F3B49"/>
                          </a:solidFill>
                          <a:latin typeface="Montserrat"/>
                        </a:rPr>
                        <a:t>w/o Hypergraph</a:t>
                      </a:r>
                    </a:p>
                  </a:txBody>
                  <a:tcPr anchor="ctr" marL="54864" marR="54864" marT="18288" marB="18288">
                    <a:solidFill>
                      <a:srgbClr val="FFFFFF"/>
                    </a:solidFill>
                  </a:tcPr>
                </a:tc>
                <a:tc>
                  <a:txBody>
                    <a:bodyPr/>
                    <a:lstStyle/>
                    <a:p>
                      <a:pPr algn="ctr"/>
                      <a:r>
                        <a:rPr sz="1400" b="0">
                          <a:solidFill>
                            <a:srgbClr val="2F3B49"/>
                          </a:solidFill>
                          <a:latin typeface="Montserrat"/>
                        </a:rPr>
                        <a:t>0.2586</a:t>
                      </a:r>
                    </a:p>
                  </a:txBody>
                  <a:tcPr anchor="ctr" marL="54864" marR="54864" marT="18288" marB="18288">
                    <a:solidFill>
                      <a:srgbClr val="FFFFFF"/>
                    </a:solidFill>
                  </a:tcPr>
                </a:tc>
                <a:tc>
                  <a:txBody>
                    <a:bodyPr/>
                    <a:lstStyle/>
                    <a:p>
                      <a:pPr algn="ctr"/>
                      <a:r>
                        <a:rPr sz="1400" b="0">
                          <a:solidFill>
                            <a:srgbClr val="2F3B49"/>
                          </a:solidFill>
                          <a:latin typeface="Montserrat"/>
                        </a:rPr>
                        <a:t>6.8%</a:t>
                      </a:r>
                    </a:p>
                  </a:txBody>
                  <a:tcPr anchor="ctr" marL="54864" marR="54864" marT="18288" marB="18288">
                    <a:solidFill>
                      <a:srgbClr val="FFFFFF"/>
                    </a:solidFill>
                  </a:tcPr>
                </a:tc>
                <a:tc>
                  <a:txBody>
                    <a:bodyPr/>
                    <a:lstStyle/>
                    <a:p>
                      <a:pPr algn="ctr"/>
                      <a:r>
                        <a:rPr sz="1400" b="0">
                          <a:solidFill>
                            <a:srgbClr val="2F3B49"/>
                          </a:solidFill>
                          <a:latin typeface="Montserrat"/>
                        </a:rPr>
                        <a:t>0.0279</a:t>
                      </a:r>
                    </a:p>
                  </a:txBody>
                  <a:tcPr anchor="ctr" marL="54864" marR="54864" marT="18288" marB="18288">
                    <a:solidFill>
                      <a:srgbClr val="FFFFFF"/>
                    </a:solidFill>
                  </a:tcPr>
                </a:tc>
                <a:tc>
                  <a:txBody>
                    <a:bodyPr/>
                    <a:lstStyle/>
                    <a:p>
                      <a:pPr algn="ctr"/>
                      <a:r>
                        <a:rPr sz="1400" b="0">
                          <a:solidFill>
                            <a:srgbClr val="2F3B49"/>
                          </a:solidFill>
                          <a:latin typeface="Montserrat"/>
                        </a:rPr>
                        <a:t>8.9%</a:t>
                      </a:r>
                    </a:p>
                  </a:txBody>
                  <a:tcPr anchor="ctr" marL="54864" marR="54864" marT="18288" marB="18288">
                    <a:solidFill>
                      <a:srgbClr val="FFFFFF"/>
                    </a:solidFill>
                  </a:tcPr>
                </a:tc>
              </a:tr>
              <a:tr h="509451">
                <a:tc>
                  <a:txBody>
                    <a:bodyPr/>
                    <a:lstStyle/>
                    <a:p>
                      <a:pPr algn="l"/>
                      <a:r>
                        <a:rPr sz="1400" b="0">
                          <a:solidFill>
                            <a:srgbClr val="2F3B49"/>
                          </a:solidFill>
                          <a:latin typeface="Montserrat"/>
                        </a:rPr>
                        <a:t>w/o Attention</a:t>
                      </a:r>
                    </a:p>
                  </a:txBody>
                  <a:tcPr anchor="ctr" marL="54864" marR="54864" marT="18288" marB="18288">
                    <a:solidFill>
                      <a:srgbClr val="F0F4FB"/>
                    </a:solidFill>
                  </a:tcPr>
                </a:tc>
                <a:tc>
                  <a:txBody>
                    <a:bodyPr/>
                    <a:lstStyle/>
                    <a:p>
                      <a:pPr algn="ctr"/>
                      <a:r>
                        <a:rPr sz="1400" b="0">
                          <a:solidFill>
                            <a:srgbClr val="2F3B49"/>
                          </a:solidFill>
                          <a:latin typeface="Montserrat"/>
                        </a:rPr>
                        <a:t>0.2678</a:t>
                      </a:r>
                    </a:p>
                  </a:txBody>
                  <a:tcPr anchor="ctr" marL="54864" marR="54864" marT="18288" marB="18288">
                    <a:solidFill>
                      <a:srgbClr val="F0F4FB"/>
                    </a:solidFill>
                  </a:tcPr>
                </a:tc>
                <a:tc>
                  <a:txBody>
                    <a:bodyPr/>
                    <a:lstStyle/>
                    <a:p>
                      <a:pPr algn="ctr"/>
                      <a:r>
                        <a:rPr sz="1400" b="0">
                          <a:solidFill>
                            <a:srgbClr val="2F3B49"/>
                          </a:solidFill>
                          <a:latin typeface="Montserrat"/>
                        </a:rPr>
                        <a:t>3.5%</a:t>
                      </a:r>
                    </a:p>
                  </a:txBody>
                  <a:tcPr anchor="ctr" marL="54864" marR="54864" marT="18288" marB="18288">
                    <a:solidFill>
                      <a:srgbClr val="F0F4FB"/>
                    </a:solidFill>
                  </a:tcPr>
                </a:tc>
                <a:tc>
                  <a:txBody>
                    <a:bodyPr/>
                    <a:lstStyle/>
                    <a:p>
                      <a:pPr algn="ctr"/>
                      <a:r>
                        <a:rPr sz="1400" b="0">
                          <a:solidFill>
                            <a:srgbClr val="2F3B49"/>
                          </a:solidFill>
                          <a:latin typeface="Montserrat"/>
                        </a:rPr>
                        <a:t>0.0295</a:t>
                      </a:r>
                    </a:p>
                  </a:txBody>
                  <a:tcPr anchor="ctr" marL="54864" marR="54864" marT="18288" marB="18288">
                    <a:solidFill>
                      <a:srgbClr val="F0F4FB"/>
                    </a:solidFill>
                  </a:tcPr>
                </a:tc>
                <a:tc>
                  <a:txBody>
                    <a:bodyPr/>
                    <a:lstStyle/>
                    <a:p>
                      <a:pPr algn="ctr"/>
                      <a:r>
                        <a:rPr sz="1400" b="0">
                          <a:solidFill>
                            <a:srgbClr val="2F3B49"/>
                          </a:solidFill>
                          <a:latin typeface="Montserrat"/>
                        </a:rPr>
                        <a:t>3.5%</a:t>
                      </a:r>
                    </a:p>
                  </a:txBody>
                  <a:tcPr anchor="ctr" marL="54864" marR="54864" marT="18288" marB="18288">
                    <a:solidFill>
                      <a:srgbClr val="F0F4FB"/>
                    </a:solidFill>
                  </a:tcPr>
                </a:tc>
              </a:tr>
              <a:tr h="509451">
                <a:tc>
                  <a:txBody>
                    <a:bodyPr/>
                    <a:lstStyle/>
                    <a:p>
                      <a:pPr algn="l"/>
                      <a:r>
                        <a:rPr sz="1400" b="0">
                          <a:solidFill>
                            <a:srgbClr val="2F3B49"/>
                          </a:solidFill>
                          <a:latin typeface="Montserrat"/>
                        </a:rPr>
                        <a:t>w/o Context</a:t>
                      </a:r>
                    </a:p>
                  </a:txBody>
                  <a:tcPr anchor="ctr" marL="54864" marR="54864" marT="18288" marB="18288">
                    <a:solidFill>
                      <a:srgbClr val="FFFFFF"/>
                    </a:solidFill>
                  </a:tcPr>
                </a:tc>
                <a:tc>
                  <a:txBody>
                    <a:bodyPr/>
                    <a:lstStyle/>
                    <a:p>
                      <a:pPr algn="ctr"/>
                      <a:r>
                        <a:rPr sz="1400" b="0">
                          <a:solidFill>
                            <a:srgbClr val="2F3B49"/>
                          </a:solidFill>
                          <a:latin typeface="Montserrat"/>
                        </a:rPr>
                        <a:t>0.2547</a:t>
                      </a:r>
                    </a:p>
                  </a:txBody>
                  <a:tcPr anchor="ctr" marL="54864" marR="54864" marT="18288" marB="18288">
                    <a:solidFill>
                      <a:srgbClr val="FFFFFF"/>
                    </a:solidFill>
                  </a:tcPr>
                </a:tc>
                <a:tc>
                  <a:txBody>
                    <a:bodyPr/>
                    <a:lstStyle/>
                    <a:p>
                      <a:pPr algn="ctr"/>
                      <a:r>
                        <a:rPr sz="1400" b="0">
                          <a:solidFill>
                            <a:srgbClr val="2F3B49"/>
                          </a:solidFill>
                          <a:latin typeface="Montserrat"/>
                        </a:rPr>
                        <a:t>8.2%</a:t>
                      </a:r>
                    </a:p>
                  </a:txBody>
                  <a:tcPr anchor="ctr" marL="54864" marR="54864" marT="18288" marB="18288">
                    <a:solidFill>
                      <a:srgbClr val="FFFFFF"/>
                    </a:solidFill>
                  </a:tcPr>
                </a:tc>
                <a:tc>
                  <a:txBody>
                    <a:bodyPr/>
                    <a:lstStyle/>
                    <a:p>
                      <a:pPr algn="ctr"/>
                      <a:r>
                        <a:rPr sz="1400" b="0">
                          <a:solidFill>
                            <a:srgbClr val="2F3B49"/>
                          </a:solidFill>
                          <a:latin typeface="Montserrat"/>
                        </a:rPr>
                        <a:t>0.0272</a:t>
                      </a:r>
                    </a:p>
                  </a:txBody>
                  <a:tcPr anchor="ctr" marL="54864" marR="54864" marT="18288" marB="18288">
                    <a:solidFill>
                      <a:srgbClr val="FFFFFF"/>
                    </a:solidFill>
                  </a:tcPr>
                </a:tc>
                <a:tc>
                  <a:txBody>
                    <a:bodyPr/>
                    <a:lstStyle/>
                    <a:p>
                      <a:pPr algn="ctr"/>
                      <a:r>
                        <a:rPr sz="1400" b="0">
                          <a:solidFill>
                            <a:srgbClr val="2F3B49"/>
                          </a:solidFill>
                          <a:latin typeface="Montserrat"/>
                        </a:rPr>
                        <a:t>11.0%</a:t>
                      </a:r>
                    </a:p>
                  </a:txBody>
                  <a:tcPr anchor="ctr" marL="54864" marR="54864" marT="18288" marB="18288">
                    <a:solidFill>
                      <a:srgbClr val="FFFFFF"/>
                    </a:solidFill>
                  </a:tcPr>
                </a:tc>
              </a:tr>
              <a:tr h="509451">
                <a:tc>
                  <a:txBody>
                    <a:bodyPr/>
                    <a:lstStyle/>
                    <a:p>
                      <a:pPr algn="l"/>
                      <a:r>
                        <a:rPr sz="1400" b="1">
                          <a:solidFill>
                            <a:srgbClr val="FFFFFF"/>
                          </a:solidFill>
                          <a:latin typeface="Montserrat"/>
                        </a:rPr>
                        <a:t>w/o Diversity</a:t>
                      </a:r>
                    </a:p>
                  </a:txBody>
                  <a:tcPr anchor="ctr" marL="54864" marR="54864" marT="18288" marB="18288">
                    <a:solidFill>
                      <a:srgbClr val="0A5F5E"/>
                    </a:solidFill>
                  </a:tcPr>
                </a:tc>
                <a:tc>
                  <a:txBody>
                    <a:bodyPr/>
                    <a:lstStyle/>
                    <a:p>
                      <a:pPr algn="ctr"/>
                      <a:r>
                        <a:rPr sz="1400" b="1">
                          <a:solidFill>
                            <a:srgbClr val="FFFFFF"/>
                          </a:solidFill>
                          <a:latin typeface="Montserrat"/>
                        </a:rPr>
                        <a:t>0.2614</a:t>
                      </a:r>
                    </a:p>
                  </a:txBody>
                  <a:tcPr anchor="ctr" marL="54864" marR="54864" marT="18288" marB="18288">
                    <a:solidFill>
                      <a:srgbClr val="0A5F5E"/>
                    </a:solidFill>
                  </a:tcPr>
                </a:tc>
                <a:tc>
                  <a:txBody>
                    <a:bodyPr/>
                    <a:lstStyle/>
                    <a:p>
                      <a:pPr algn="ctr"/>
                      <a:r>
                        <a:rPr sz="1400" b="1">
                          <a:solidFill>
                            <a:srgbClr val="FFFFFF"/>
                          </a:solidFill>
                          <a:latin typeface="Montserrat"/>
                        </a:rPr>
                        <a:t>5.8%</a:t>
                      </a:r>
                    </a:p>
                  </a:txBody>
                  <a:tcPr anchor="ctr" marL="54864" marR="54864" marT="18288" marB="18288">
                    <a:solidFill>
                      <a:srgbClr val="0A5F5E"/>
                    </a:solidFill>
                  </a:tcPr>
                </a:tc>
                <a:tc>
                  <a:txBody>
                    <a:bodyPr/>
                    <a:lstStyle/>
                    <a:p>
                      <a:pPr algn="ctr"/>
                      <a:r>
                        <a:rPr sz="1400" b="1">
                          <a:solidFill>
                            <a:srgbClr val="FFFFFF"/>
                          </a:solidFill>
                          <a:latin typeface="Montserrat"/>
                        </a:rPr>
                        <a:t>0.0288</a:t>
                      </a:r>
                    </a:p>
                  </a:txBody>
                  <a:tcPr anchor="ctr" marL="54864" marR="54864" marT="18288" marB="18288">
                    <a:solidFill>
                      <a:srgbClr val="0A5F5E"/>
                    </a:solidFill>
                  </a:tcPr>
                </a:tc>
                <a:tc>
                  <a:txBody>
                    <a:bodyPr/>
                    <a:lstStyle/>
                    <a:p>
                      <a:pPr algn="ctr"/>
                      <a:r>
                        <a:rPr sz="1400" b="1">
                          <a:solidFill>
                            <a:srgbClr val="FFFFFF"/>
                          </a:solidFill>
                          <a:latin typeface="Montserrat"/>
                        </a:rPr>
                        <a:t>5.8%</a:t>
                      </a:r>
                    </a:p>
                  </a:txBody>
                  <a:tcPr anchor="ctr" marL="54864" marR="54864" marT="18288" marB="18288">
                    <a:solidFill>
                      <a:srgbClr val="0A5F5E"/>
                    </a:solidFill>
                  </a:tcPr>
                </a:tc>
              </a:tr>
            </a:tbl>
          </a:graphicData>
        </a:graphic>
      </p:graphicFrame>
      <p:pic>
        <p:nvPicPr>
          <p:cNvPr id="49" name="Picture 48" descr="image.png"/>
          <p:cNvPicPr>
            <a:picLocks noChangeAspect="1"/>
          </p:cNvPicPr>
          <p:nvPr/>
        </p:nvPicPr>
        <p:blipFill>
          <a:blip r:embed="rId13"/>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III — DyHuCoG: A Dynamic Hypergraph Cooperative Game</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0">
                <a:solidFill>
                  <a:srgbClr val="2F3B49"/>
                </a:solidFill>
                <a:latin typeface="Montserrat"/>
              </a:rPr>
              <a:t>Training: DyHuCoG ~2000 s vs HPCF ~1125 s on MovieLens-1M (≈ 1.78×).</a:t>
            </a:r>
          </a:p>
          <a:p>
            <a:pPr>
              <a:lnSpc>
                <a:spcPct val="105000"/>
              </a:lnSpc>
              <a:spcAft>
                <a:spcPts val="900"/>
              </a:spcAft>
            </a:pPr>
            <a:r>
              <a:rPr sz="1700">
                <a:solidFill>
                  <a:srgbClr val="0E7C7B"/>
                </a:solidFill>
                <a:latin typeface="Wingdings"/>
              </a:rPr>
              <a:t>§  </a:t>
            </a:r>
            <a:r>
              <a:rPr sz="1700" b="0">
                <a:solidFill>
                  <a:srgbClr val="2F3B49"/>
                </a:solidFill>
                <a:latin typeface="Montserrat"/>
              </a:rPr>
              <a:t>Inference: 1.84 ms/query (ML-1M), 8.52 ms (Amazon) — suitable for real-time deployment.</a:t>
            </a:r>
          </a:p>
          <a:p>
            <a:pPr>
              <a:lnSpc>
                <a:spcPct val="105000"/>
              </a:lnSpc>
              <a:spcAft>
                <a:spcPts val="900"/>
              </a:spcAft>
            </a:pPr>
            <a:r>
              <a:rPr sz="1700">
                <a:solidFill>
                  <a:srgbClr val="0E7C7B"/>
                </a:solidFill>
                <a:latin typeface="Wingdings"/>
              </a:rPr>
              <a:t>§  </a:t>
            </a:r>
            <a:r>
              <a:rPr sz="1700" b="0">
                <a:solidFill>
                  <a:srgbClr val="2F3B49"/>
                </a:solidFill>
                <a:latin typeface="Montserrat"/>
              </a:rPr>
              <a:t>Memory: 4.4 vs 4.1 GB (ML-1M); 17.9 vs 16.8 GB (Amazon).</a:t>
            </a:r>
          </a:p>
          <a:p>
            <a:pPr>
              <a:lnSpc>
                <a:spcPct val="105000"/>
              </a:lnSpc>
              <a:spcAft>
                <a:spcPts val="900"/>
              </a:spcAft>
            </a:pPr>
            <a:r>
              <a:rPr sz="1700">
                <a:solidFill>
                  <a:srgbClr val="0E7C7B"/>
                </a:solidFill>
                <a:latin typeface="Wingdings"/>
              </a:rPr>
              <a:t>§  </a:t>
            </a:r>
            <a:r>
              <a:rPr sz="1700" b="0">
                <a:solidFill>
                  <a:srgbClr val="2F3B49"/>
                </a:solidFill>
                <a:latin typeface="Montserrat"/>
              </a:rPr>
              <a:t>Per-epoch cost: O((L+1)md) + O((M/f)m).</a:t>
            </a:r>
          </a:p>
          <a:p>
            <a:pPr>
              <a:lnSpc>
                <a:spcPct val="105000"/>
              </a:lnSpc>
              <a:spcAft>
                <a:spcPts val="900"/>
              </a:spcAft>
            </a:pPr>
            <a:r>
              <a:rPr sz="1700">
                <a:solidFill>
                  <a:srgbClr val="0E7C7B"/>
                </a:solidFill>
                <a:latin typeface="Wingdings"/>
              </a:rPr>
              <a:t>§  </a:t>
            </a:r>
            <a:r>
              <a:rPr sz="1700" b="1">
                <a:solidFill>
                  <a:srgbClr val="2F3B49"/>
                </a:solidFill>
                <a:latin typeface="Montserrat Medium"/>
              </a:rPr>
              <a:t>Shapley convergence: M=50 → MSE 1.4×10⁻⁵, ~99% accuracy; M=100 → MSE 3.5×10⁻⁶ (diminishing returns).</a:t>
            </a:r>
          </a:p>
        </p:txBody>
      </p:sp>
      <p:pic>
        <p:nvPicPr>
          <p:cNvPr id="49" name="Picture 48" descr="image.png"/>
          <p:cNvPicPr>
            <a:picLocks noChangeAspect="1"/>
          </p:cNvPicPr>
          <p:nvPr/>
        </p:nvPicPr>
        <p:blipFill>
          <a:blip r:embed="rId13"/>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0"/>
          <a:stretch>
            <a:fillRect/>
          </a:stretch>
        </p:blipFill>
        <p:spPr>
          <a:xfrm>
            <a:off x="11709806" y="6400800"/>
            <a:ext cx="384048" cy="384048"/>
          </a:xfrm>
          <a:prstGeom prst="rect">
            <a:avLst/>
          </a:prstGeom>
        </p:spPr>
      </p:pic>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III — DyHuCoG: A Dynamic Hypergraph Cooperative Game</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0">
                <a:solidFill>
                  <a:srgbClr val="2F3B49"/>
                </a:solidFill>
                <a:latin typeface="Montserrat"/>
              </a:rPr>
              <a:t>Paired t-tests on per-user NDCG@20 (n = 6,040 users; df = 6,039).</a:t>
            </a:r>
          </a:p>
          <a:p>
            <a:pPr>
              <a:lnSpc>
                <a:spcPct val="105000"/>
              </a:lnSpc>
              <a:spcAft>
                <a:spcPts val="900"/>
              </a:spcAft>
            </a:pPr>
            <a:r>
              <a:rPr sz="1700">
                <a:solidFill>
                  <a:srgbClr val="0E7C7B"/>
                </a:solidFill>
                <a:latin typeface="Wingdings"/>
              </a:rPr>
              <a:t>§  </a:t>
            </a:r>
            <a:r>
              <a:rPr sz="1700" b="0">
                <a:solidFill>
                  <a:srgbClr val="2F3B49"/>
                </a:solidFill>
                <a:latin typeface="Montserrat"/>
              </a:rPr>
              <a:t>DyHuCoG outperforms every baseline with extremely small p-values after Holm–Bonferroni correction.</a:t>
            </a:r>
          </a:p>
          <a:p>
            <a:pPr lvl="1">
              <a:lnSpc>
                <a:spcPct val="105000"/>
              </a:lnSpc>
              <a:spcAft>
                <a:spcPts val="600"/>
              </a:spcAft>
            </a:pPr>
            <a:r>
              <a:rPr sz="1600">
                <a:solidFill>
                  <a:srgbClr val="0E7C7B"/>
                </a:solidFill>
                <a:latin typeface="Montserrat"/>
              </a:rPr>
              <a:t>–  </a:t>
            </a:r>
            <a:r>
              <a:rPr sz="1600" b="1">
                <a:solidFill>
                  <a:srgbClr val="2F3B49"/>
                </a:solidFill>
                <a:latin typeface="Montserrat"/>
              </a:rPr>
              <a:t>vs HPCF: t = 46.38, Cohen’s d_z = 1.3345, p = 1.81×10⁻²⁷⁰.</a:t>
            </a:r>
          </a:p>
          <a:p>
            <a:pPr lvl="1">
              <a:lnSpc>
                <a:spcPct val="105000"/>
              </a:lnSpc>
              <a:spcAft>
                <a:spcPts val="600"/>
              </a:spcAft>
            </a:pPr>
            <a:r>
              <a:rPr sz="1600">
                <a:solidFill>
                  <a:srgbClr val="0E7C7B"/>
                </a:solidFill>
                <a:latin typeface="Montserrat"/>
              </a:rPr>
              <a:t>–  </a:t>
            </a:r>
            <a:r>
              <a:rPr sz="1600" b="0">
                <a:solidFill>
                  <a:srgbClr val="2F3B49"/>
                </a:solidFill>
                <a:latin typeface="Montserrat"/>
              </a:rPr>
              <a:t>Wilcoxon signed-rank test also significant (p &lt; 0.001).</a:t>
            </a:r>
          </a:p>
          <a:p>
            <a:pPr lvl="1">
              <a:lnSpc>
                <a:spcPct val="105000"/>
              </a:lnSpc>
              <a:spcAft>
                <a:spcPts val="600"/>
              </a:spcAft>
            </a:pPr>
            <a:r>
              <a:rPr sz="1600">
                <a:solidFill>
                  <a:srgbClr val="0E7C7B"/>
                </a:solidFill>
                <a:latin typeface="Montserrat"/>
              </a:rPr>
              <a:t>–  </a:t>
            </a:r>
            <a:r>
              <a:rPr sz="1600" b="0">
                <a:solidFill>
                  <a:srgbClr val="2F3B49"/>
                </a:solidFill>
                <a:latin typeface="Montserrat"/>
              </a:rPr>
              <a:t>Effect sizes are large — improvements are substantively meaningful, not merely statistically visible.</a:t>
            </a:r>
          </a:p>
        </p:txBody>
      </p:sp>
      <p:pic>
        <p:nvPicPr>
          <p:cNvPr id="49" name="Picture 48" descr="image.png"/>
          <p:cNvPicPr>
            <a:picLocks noChangeAspect="1"/>
          </p:cNvPicPr>
          <p:nvPr/>
        </p:nvPicPr>
        <p:blipFill>
          <a:blip r:embed="rId13"/>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III — DyHuCoG: A Dynamic Hypergraph Cooperative Game</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0">
                <a:solidFill>
                  <a:srgbClr val="2F3B49"/>
                </a:solidFill>
                <a:latin typeface="Montserrat"/>
              </a:rPr>
              <a:t>Cold-start (5 or fewer interactions): NDCG@20 ≈ 0.061 (user) and 0.057 (item), improving over HPCF by ~10%.</a:t>
            </a:r>
          </a:p>
          <a:p>
            <a:pPr>
              <a:lnSpc>
                <a:spcPct val="105000"/>
              </a:lnSpc>
              <a:spcAft>
                <a:spcPts val="900"/>
              </a:spcAft>
            </a:pPr>
            <a:r>
              <a:rPr sz="1700">
                <a:solidFill>
                  <a:srgbClr val="0E7C7B"/>
                </a:solidFill>
                <a:latin typeface="Wingdings"/>
              </a:rPr>
              <a:t>§  </a:t>
            </a:r>
            <a:r>
              <a:rPr sz="1700" b="0">
                <a:solidFill>
                  <a:srgbClr val="2F3B49"/>
                </a:solidFill>
                <a:latin typeface="Montserrat"/>
              </a:rPr>
              <a:t>Cross-dataset: MovieLens +9.9%, Amazon +14.8%, Yelp2018 +11.8%.</a:t>
            </a:r>
          </a:p>
          <a:p>
            <a:pPr>
              <a:lnSpc>
                <a:spcPct val="105000"/>
              </a:lnSpc>
              <a:spcAft>
                <a:spcPts val="900"/>
              </a:spcAft>
            </a:pPr>
            <a:r>
              <a:rPr sz="1700">
                <a:solidFill>
                  <a:srgbClr val="0E7C7B"/>
                </a:solidFill>
                <a:latin typeface="Wingdings"/>
              </a:rPr>
              <a:t>§  </a:t>
            </a:r>
            <a:r>
              <a:rPr sz="1700" b="1">
                <a:solidFill>
                  <a:srgbClr val="2F3B49"/>
                </a:solidFill>
                <a:latin typeface="Montserrat Medium"/>
              </a:rPr>
              <a:t>Interpretability: a SHAP waterfall decomposes a recommendation into ranking, diversity, context and preference contributions.</a:t>
            </a:r>
          </a:p>
          <a:p>
            <a:pPr lvl="1">
              <a:lnSpc>
                <a:spcPct val="105000"/>
              </a:lnSpc>
              <a:spcAft>
                <a:spcPts val="600"/>
              </a:spcAft>
            </a:pPr>
            <a:r>
              <a:rPr sz="1600">
                <a:solidFill>
                  <a:srgbClr val="0E7C7B"/>
                </a:solidFill>
                <a:latin typeface="Montserrat"/>
              </a:rPr>
              <a:t>–  </a:t>
            </a:r>
            <a:r>
              <a:rPr sz="1600" b="0">
                <a:solidFill>
                  <a:srgbClr val="2F3B49"/>
                </a:solidFill>
                <a:latin typeface="Montserrat"/>
              </a:rPr>
              <a:t>Popularity bias: Shapley measures marginal utility, not raw frequency — weak but informative interactions retain influence.</a:t>
            </a:r>
          </a:p>
        </p:txBody>
      </p:sp>
      <p:pic>
        <p:nvPicPr>
          <p:cNvPr id="49" name="Picture 48" descr="image.png"/>
          <p:cNvPicPr>
            <a:picLocks noChangeAspect="1"/>
          </p:cNvPicPr>
          <p:nvPr/>
        </p:nvPicPr>
        <p:blipFill>
          <a:blip r:embed="rId13"/>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III — DyHuCoG: A Dynamic Hypergraph Cooperative Game</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Answers to the questions and objectives</a:t>
            </a:r>
          </a:p>
          <a:p>
            <a:pPr lvl="1">
              <a:lnSpc>
                <a:spcPct val="105000"/>
              </a:lnSpc>
              <a:spcAft>
                <a:spcPts val="600"/>
              </a:spcAft>
            </a:pPr>
            <a:r>
              <a:rPr sz="1600">
                <a:solidFill>
                  <a:srgbClr val="0E7C7B"/>
                </a:solidFill>
                <a:latin typeface="Montserrat"/>
              </a:rPr>
              <a:t>–  </a:t>
            </a:r>
            <a:r>
              <a:rPr sz="1600" b="0">
                <a:solidFill>
                  <a:srgbClr val="2F3B49"/>
                </a:solidFill>
                <a:latin typeface="Montserrat"/>
              </a:rPr>
              <a:t>RQ3 answered in the affirmative — attribution becomes an in-training signal, not a post-hoc diagnostic.</a:t>
            </a:r>
          </a:p>
          <a:p>
            <a:pPr lvl="1">
              <a:lnSpc>
                <a:spcPct val="105000"/>
              </a:lnSpc>
              <a:spcAft>
                <a:spcPts val="600"/>
              </a:spcAft>
            </a:pPr>
            <a:r>
              <a:rPr sz="1600">
                <a:solidFill>
                  <a:srgbClr val="0E7C7B"/>
                </a:solidFill>
                <a:latin typeface="Montserrat"/>
              </a:rPr>
              <a:t>–  </a:t>
            </a:r>
            <a:r>
              <a:rPr sz="1600" b="0">
                <a:solidFill>
                  <a:srgbClr val="2F3B49"/>
                </a:solidFill>
                <a:latin typeface="Montserrat"/>
              </a:rPr>
              <a:t>RQ4 answered in the affirmative — ranking, coverage and diversity improve together.</a:t>
            </a:r>
          </a:p>
          <a:p>
            <a:pPr lvl="1">
              <a:lnSpc>
                <a:spcPct val="105000"/>
              </a:lnSpc>
              <a:spcAft>
                <a:spcPts val="600"/>
              </a:spcAft>
            </a:pPr>
            <a:r>
              <a:rPr sz="1600">
                <a:solidFill>
                  <a:srgbClr val="0E7C7B"/>
                </a:solidFill>
                <a:latin typeface="Montserrat"/>
              </a:rPr>
              <a:t>–  </a:t>
            </a:r>
            <a:r>
              <a:rPr sz="1600" b="0">
                <a:solidFill>
                  <a:srgbClr val="2F3B49"/>
                </a:solidFill>
                <a:latin typeface="Montserrat"/>
              </a:rPr>
              <a:t>O1 met · recommendation formulated as a cooperative game over users, items and contexts.</a:t>
            </a:r>
          </a:p>
          <a:p>
            <a:pPr lvl="1">
              <a:lnSpc>
                <a:spcPct val="105000"/>
              </a:lnSpc>
              <a:spcAft>
                <a:spcPts val="600"/>
              </a:spcAft>
            </a:pPr>
            <a:r>
              <a:rPr sz="1600">
                <a:solidFill>
                  <a:srgbClr val="0E7C7B"/>
                </a:solidFill>
                <a:latin typeface="Montserrat"/>
              </a:rPr>
              <a:t>–  </a:t>
            </a:r>
            <a:r>
              <a:rPr sz="1600" b="0">
                <a:solidFill>
                  <a:srgbClr val="2F3B49"/>
                </a:solidFill>
                <a:latin typeface="Montserrat"/>
              </a:rPr>
              <a:t>O2 met · preference-aware Monte Carlo Shapley embedded in message passing.</a:t>
            </a:r>
          </a:p>
          <a:p>
            <a:pPr lvl="1">
              <a:lnSpc>
                <a:spcPct val="105000"/>
              </a:lnSpc>
              <a:spcAft>
                <a:spcPts val="600"/>
              </a:spcAft>
            </a:pPr>
            <a:r>
              <a:rPr sz="1600">
                <a:solidFill>
                  <a:srgbClr val="0E7C7B"/>
                </a:solidFill>
                <a:latin typeface="Montserrat"/>
              </a:rPr>
              <a:t>–  </a:t>
            </a:r>
            <a:r>
              <a:rPr sz="1600" b="0">
                <a:solidFill>
                  <a:srgbClr val="2F3B49"/>
                </a:solidFill>
                <a:latin typeface="Montserrat"/>
              </a:rPr>
              <a:t>O3 met · +9.9% (MovieLens) / +14.8% (Amazon) NDCG, with higher coverage and diversity.</a:t>
            </a:r>
          </a:p>
        </p:txBody>
      </p:sp>
      <p:pic>
        <p:nvPicPr>
          <p:cNvPr id="49" name="Picture 48" descr="image.png"/>
          <p:cNvPicPr>
            <a:picLocks noChangeAspect="1"/>
          </p:cNvPicPr>
          <p:nvPr/>
        </p:nvPicPr>
        <p:blipFill>
          <a:blip r:embed="rId13"/>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1"/>
          <a:stretch>
            <a:fillRect/>
          </a:stretch>
        </p:blipFill>
        <p:spPr>
          <a:xfrm>
            <a:off x="11709806" y="6400800"/>
            <a:ext cx="384048" cy="384048"/>
          </a:xfrm>
          <a:prstGeom prst="rect">
            <a:avLst/>
          </a:prstGeom>
        </p:spPr>
      </p:pic>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III — DyHuCoG: A Dynamic Hypergraph Cooperative Game</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Key findings</a:t>
            </a:r>
          </a:p>
          <a:p>
            <a:pPr lvl="1">
              <a:lnSpc>
                <a:spcPct val="105000"/>
              </a:lnSpc>
              <a:spcAft>
                <a:spcPts val="600"/>
              </a:spcAft>
            </a:pPr>
            <a:r>
              <a:rPr sz="1600">
                <a:solidFill>
                  <a:srgbClr val="0E7C7B"/>
                </a:solidFill>
                <a:latin typeface="Montserrat"/>
              </a:rPr>
              <a:t>–  </a:t>
            </a:r>
            <a:r>
              <a:rPr sz="1600" b="0">
                <a:solidFill>
                  <a:srgbClr val="2F3B49"/>
                </a:solidFill>
                <a:latin typeface="Montserrat"/>
              </a:rPr>
              <a:t>Cooperative attribution used as an in-training signal — a stronger claim than the clustering chapters.</a:t>
            </a:r>
          </a:p>
          <a:p>
            <a:pPr lvl="1">
              <a:lnSpc>
                <a:spcPct val="105000"/>
              </a:lnSpc>
              <a:spcAft>
                <a:spcPts val="600"/>
              </a:spcAft>
            </a:pPr>
            <a:r>
              <a:rPr sz="1600">
                <a:solidFill>
                  <a:srgbClr val="0E7C7B"/>
                </a:solidFill>
                <a:latin typeface="Montserrat"/>
              </a:rPr>
              <a:t>–  </a:t>
            </a:r>
            <a:r>
              <a:rPr sz="1600" b="0">
                <a:solidFill>
                  <a:srgbClr val="2F3B49"/>
                </a:solidFill>
                <a:latin typeface="Montserrat"/>
              </a:rPr>
              <a:t>The accuracy–diversity–context trade-off is not structurally fixed.</a:t>
            </a:r>
          </a:p>
          <a:p>
            <a:pPr lvl="1">
              <a:lnSpc>
                <a:spcPct val="105000"/>
              </a:lnSpc>
              <a:spcAft>
                <a:spcPts val="600"/>
              </a:spcAft>
            </a:pPr>
            <a:r>
              <a:rPr sz="1600">
                <a:solidFill>
                  <a:srgbClr val="0E7C7B"/>
                </a:solidFill>
                <a:latin typeface="Montserrat"/>
              </a:rPr>
              <a:t>–  </a:t>
            </a:r>
            <a:r>
              <a:rPr sz="1600" b="0">
                <a:solidFill>
                  <a:srgbClr val="2F3B49"/>
                </a:solidFill>
                <a:latin typeface="Montserrat"/>
              </a:rPr>
              <a:t>NDCG, recall, coverage and diversity improve together on both datasets.</a:t>
            </a:r>
          </a:p>
          <a:p>
            <a:pPr lvl="1">
              <a:lnSpc>
                <a:spcPct val="105000"/>
              </a:lnSpc>
              <a:spcAft>
                <a:spcPts val="600"/>
              </a:spcAft>
            </a:pPr>
            <a:r>
              <a:rPr sz="1600">
                <a:solidFill>
                  <a:srgbClr val="0E7C7B"/>
                </a:solidFill>
                <a:latin typeface="Montserrat"/>
              </a:rPr>
              <a:t>–  </a:t>
            </a:r>
            <a:r>
              <a:rPr sz="1600" b="0">
                <a:solidFill>
                  <a:srgbClr val="2F3B49"/>
                </a:solidFill>
                <a:latin typeface="Montserrat"/>
              </a:rPr>
              <a:t>Largest gains on the sparsest data (Amazon-Book), consistent with Shapley weighting helping when signal is weak.</a:t>
            </a:r>
          </a:p>
        </p:txBody>
      </p:sp>
      <p:pic>
        <p:nvPicPr>
          <p:cNvPr id="49" name="Picture 48" descr="image.png"/>
          <p:cNvPicPr>
            <a:picLocks noChangeAspect="1"/>
          </p:cNvPicPr>
          <p:nvPr/>
        </p:nvPicPr>
        <p:blipFill>
          <a:blip r:embed="rId13"/>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7"/>
          <a:stretch>
            <a:fillRect/>
          </a:stretch>
        </p:blipFill>
        <p:spPr>
          <a:xfrm>
            <a:off x="11709806" y="6400800"/>
            <a:ext cx="384048" cy="384048"/>
          </a:xfrm>
          <a:prstGeom prst="rect">
            <a:avLst/>
          </a:prstGeom>
        </p:spPr>
      </p:pic>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III — DyHuCoG: A Dynamic Hypergraph Cooperative Game</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Limitations</a:t>
            </a:r>
          </a:p>
          <a:p>
            <a:pPr lvl="1">
              <a:lnSpc>
                <a:spcPct val="105000"/>
              </a:lnSpc>
              <a:spcAft>
                <a:spcPts val="600"/>
              </a:spcAft>
            </a:pPr>
            <a:r>
              <a:rPr sz="1600">
                <a:solidFill>
                  <a:srgbClr val="0E7C7B"/>
                </a:solidFill>
                <a:latin typeface="Montserrat"/>
              </a:rPr>
              <a:t>–  </a:t>
            </a:r>
            <a:r>
              <a:rPr sz="1600" b="0">
                <a:solidFill>
                  <a:srgbClr val="2F3B49"/>
                </a:solidFill>
                <a:latin typeface="Montserrat"/>
              </a:rPr>
              <a:t>Measurable computational overhead — roughly 1.78× training time over HPCF.</a:t>
            </a:r>
          </a:p>
          <a:p>
            <a:pPr lvl="1">
              <a:lnSpc>
                <a:spcPct val="105000"/>
              </a:lnSpc>
              <a:spcAft>
                <a:spcPts val="600"/>
              </a:spcAft>
            </a:pPr>
            <a:r>
              <a:rPr sz="1600">
                <a:solidFill>
                  <a:srgbClr val="0E7C7B"/>
                </a:solidFill>
                <a:latin typeface="Montserrat"/>
              </a:rPr>
              <a:t>–  </a:t>
            </a:r>
            <a:r>
              <a:rPr sz="1600" b="0">
                <a:solidFill>
                  <a:srgbClr val="2F3B49"/>
                </a:solidFill>
                <a:latin typeface="Montserrat"/>
              </a:rPr>
              <a:t>Depends on availability of meaningful context.</a:t>
            </a:r>
          </a:p>
          <a:p>
            <a:pPr lvl="1">
              <a:lnSpc>
                <a:spcPct val="105000"/>
              </a:lnSpc>
              <a:spcAft>
                <a:spcPts val="600"/>
              </a:spcAft>
            </a:pPr>
            <a:r>
              <a:rPr sz="1600">
                <a:solidFill>
                  <a:srgbClr val="0E7C7B"/>
                </a:solidFill>
                <a:latin typeface="Montserrat"/>
              </a:rPr>
              <a:t>–  </a:t>
            </a:r>
            <a:r>
              <a:rPr sz="1600" b="0">
                <a:solidFill>
                  <a:srgbClr val="2F3B49"/>
                </a:solidFill>
                <a:latin typeface="Montserrat"/>
              </a:rPr>
              <a:t>Monte Carlo Shapley could be improved by variance reduction.</a:t>
            </a:r>
          </a:p>
          <a:p>
            <a:pPr lvl="1">
              <a:lnSpc>
                <a:spcPct val="105000"/>
              </a:lnSpc>
              <a:spcAft>
                <a:spcPts val="600"/>
              </a:spcAft>
            </a:pPr>
            <a:r>
              <a:rPr sz="1600">
                <a:solidFill>
                  <a:srgbClr val="0E7C7B"/>
                </a:solidFill>
                <a:latin typeface="Montserrat"/>
              </a:rPr>
              <a:t>–  </a:t>
            </a:r>
            <a:r>
              <a:rPr sz="1600" b="0">
                <a:solidFill>
                  <a:srgbClr val="2F3B49"/>
                </a:solidFill>
                <a:latin typeface="Montserrat"/>
              </a:rPr>
              <a:t>Ablation is component-wise, so it does not test factorial interactions.</a:t>
            </a:r>
          </a:p>
          <a:p>
            <a:pPr lvl="1">
              <a:lnSpc>
                <a:spcPct val="105000"/>
              </a:lnSpc>
              <a:spcAft>
                <a:spcPts val="600"/>
              </a:spcAft>
            </a:pPr>
            <a:r>
              <a:rPr sz="1600">
                <a:solidFill>
                  <a:srgbClr val="0E7C7B"/>
                </a:solidFill>
                <a:latin typeface="Montserrat"/>
              </a:rPr>
              <a:t>–  </a:t>
            </a:r>
            <a:r>
              <a:rPr sz="1600" b="0">
                <a:solidFill>
                  <a:srgbClr val="2F3B49"/>
                </a:solidFill>
                <a:latin typeface="Montserrat"/>
              </a:rPr>
              <a:t>Baselines finalised through early 2026, so superiority is claimed only against the tested baselines.</a:t>
            </a:r>
          </a:p>
        </p:txBody>
      </p:sp>
      <p:pic>
        <p:nvPicPr>
          <p:cNvPr id="49" name="Picture 48" descr="image.png"/>
          <p:cNvPicPr>
            <a:picLocks noChangeAspect="1"/>
          </p:cNvPicPr>
          <p:nvPr/>
        </p:nvPicPr>
        <p:blipFill>
          <a:blip r:embed="rId13"/>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3"/>
          <a:stretch>
            <a:fillRect/>
          </a:stretch>
        </p:blipFill>
        <p:spPr>
          <a:xfrm>
            <a:off x="11709806" y="6400800"/>
            <a:ext cx="384048" cy="384048"/>
          </a:xfrm>
          <a:prstGeom prst="rect">
            <a:avLst/>
          </a:prstGeom>
        </p:spPr>
      </p:pic>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Contribution III — DyHuCoG: A Dynamic Hypergraph Cooperative Game</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Objectives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Methodology</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Results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Findings</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Takeaways</a:t>
            </a:r>
          </a:p>
          <a:p>
            <a:pPr lvl="1">
              <a:lnSpc>
                <a:spcPct val="105000"/>
              </a:lnSpc>
              <a:spcAft>
                <a:spcPts val="600"/>
              </a:spcAft>
            </a:pPr>
            <a:r>
              <a:rPr sz="1600">
                <a:solidFill>
                  <a:srgbClr val="0E7C7B"/>
                </a:solidFill>
                <a:latin typeface="Montserrat"/>
              </a:rPr>
              <a:t>–  </a:t>
            </a:r>
            <a:r>
              <a:rPr sz="1600" b="0">
                <a:solidFill>
                  <a:srgbClr val="2F3B49"/>
                </a:solidFill>
                <a:latin typeface="Montserrat"/>
              </a:rPr>
              <a:t>Attribution is a first-class part of the learning objective, not a post-hoc diagnostic.</a:t>
            </a:r>
          </a:p>
          <a:p>
            <a:pPr lvl="1">
              <a:lnSpc>
                <a:spcPct val="105000"/>
              </a:lnSpc>
              <a:spcAft>
                <a:spcPts val="600"/>
              </a:spcAft>
            </a:pPr>
            <a:r>
              <a:rPr sz="1600">
                <a:solidFill>
                  <a:srgbClr val="0E7C7B"/>
                </a:solidFill>
                <a:latin typeface="Montserrat"/>
              </a:rPr>
              <a:t>–  </a:t>
            </a:r>
            <a:r>
              <a:rPr sz="1600" b="0">
                <a:solidFill>
                  <a:srgbClr val="2F3B49"/>
                </a:solidFill>
                <a:latin typeface="Montserrat"/>
              </a:rPr>
              <a:t>The explanation is a direct read-out of the objective the model already optimises.</a:t>
            </a:r>
          </a:p>
          <a:p>
            <a:pPr lvl="1">
              <a:lnSpc>
                <a:spcPct val="105000"/>
              </a:lnSpc>
              <a:spcAft>
                <a:spcPts val="600"/>
              </a:spcAft>
            </a:pPr>
            <a:r>
              <a:rPr sz="1600">
                <a:solidFill>
                  <a:srgbClr val="0E7C7B"/>
                </a:solidFill>
                <a:latin typeface="Montserrat"/>
              </a:rPr>
              <a:t>–  </a:t>
            </a:r>
            <a:r>
              <a:rPr sz="1600" b="1">
                <a:solidFill>
                  <a:srgbClr val="2F3B49"/>
                </a:solidFill>
                <a:latin typeface="Montserrat"/>
              </a:rPr>
              <a:t>This makes the explanation structurally faithful rather than an external approximation.</a:t>
            </a:r>
          </a:p>
          <a:p>
            <a:pPr lvl="1">
              <a:lnSpc>
                <a:spcPct val="105000"/>
              </a:lnSpc>
              <a:spcAft>
                <a:spcPts val="600"/>
              </a:spcAft>
            </a:pPr>
            <a:r>
              <a:rPr sz="1600">
                <a:solidFill>
                  <a:srgbClr val="0E7C7B"/>
                </a:solidFill>
                <a:latin typeface="Montserrat"/>
              </a:rPr>
              <a:t>–  </a:t>
            </a:r>
            <a:r>
              <a:rPr sz="1600" b="0">
                <a:solidFill>
                  <a:srgbClr val="2F3B49"/>
                </a:solidFill>
                <a:latin typeface="Montserrat"/>
              </a:rPr>
              <a:t>Built on a principled, axiomatic basis — aligned with trustworthy-AI expectations.</a:t>
            </a:r>
          </a:p>
        </p:txBody>
      </p:sp>
      <p:pic>
        <p:nvPicPr>
          <p:cNvPr id="49" name="Picture 48" descr="image.png"/>
          <p:cNvPicPr>
            <a:picLocks noChangeAspect="1"/>
          </p:cNvPicPr>
          <p:nvPr/>
        </p:nvPicPr>
        <p:blipFill>
          <a:blip r:embed="rId13"/>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9ED3DE66-EA75-4A44-95A7-C4F7001685B8}"/>
              </a:ext>
            </a:extLst>
          </p:cNvPr>
          <p:cNvSpPr/>
          <p:nvPr/>
        </p:nvSpPr>
        <p:spPr>
          <a:xfrm>
            <a:off x="892728" y="1929560"/>
            <a:ext cx="10406543" cy="299888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3600" dirty="0">
                <a:solidFill>
                  <a:schemeClr val="bg1"/>
                </a:solidFill>
                <a:latin typeface="Montserrat Medium" pitchFamily="50" charset="0"/>
              </a:rPr>
              <a:t>Conclusion &amp; Perspectives</a:t>
            </a:r>
          </a:p>
        </p:txBody>
      </p:sp>
      <p:pic>
        <p:nvPicPr>
          <p:cNvPr id="7" name="Picture 6">
            <a:extLst>
              <a:ext uri="{FF2B5EF4-FFF2-40B4-BE49-F238E27FC236}">
                <a16:creationId xmlns:a16="http://schemas.microsoft.com/office/drawing/2014/main" id="{21A05AE4-2B9A-4D6C-8A67-0FDF35D10E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75523" y="2014740"/>
            <a:ext cx="786211" cy="786211"/>
          </a:xfrm>
          <a:prstGeom prst="rect">
            <a:avLst/>
          </a:prstGeom>
        </p:spPr>
      </p:pic>
      <p:pic>
        <p:nvPicPr>
          <p:cNvPr id="29" name="Picture 28" descr="image.png"/>
          <p:cNvPicPr>
            <a:picLocks noChangeAspect="1"/>
          </p:cNvPicPr>
          <p:nvPr/>
        </p:nvPicPr>
        <p:blipFill>
          <a:blip r:embed="rId4"/>
          <a:stretch>
            <a:fillRect/>
          </a:stretch>
        </p:blipFill>
        <p:spPr>
          <a:xfrm>
            <a:off x="11431828" y="6400800"/>
            <a:ext cx="384048" cy="384048"/>
          </a:xfrm>
          <a:prstGeom prst="rect">
            <a:avLst/>
          </a:prstGeom>
        </p:spPr>
      </p:pic>
      <p:pic>
        <p:nvPicPr>
          <p:cNvPr id="30" name="Picture 29" descr="image.png"/>
          <p:cNvPicPr>
            <a:picLocks noChangeAspect="1"/>
          </p:cNvPicPr>
          <p:nvPr/>
        </p:nvPicPr>
        <p:blipFill>
          <a:blip r:embed="rId7"/>
          <a:stretch>
            <a:fillRect/>
          </a:stretch>
        </p:blipFill>
        <p:spPr>
          <a:xfrm>
            <a:off x="11709806" y="6400800"/>
            <a:ext cx="384048" cy="384048"/>
          </a:xfrm>
          <a:prstGeom prst="rect">
            <a:avLst/>
          </a:prstGeom>
        </p:spPr>
      </p:pic>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Conclusion &amp; Perspectives</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Synthesis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Limitations</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Perspectives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Conclusion</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graphicFrame>
        <p:nvGraphicFramePr>
          <p:cNvPr id="48" name="Table 47"/>
          <p:cNvGraphicFramePr>
            <a:graphicFrameLocks noGrp="1"/>
          </p:cNvGraphicFramePr>
          <p:nvPr/>
        </p:nvGraphicFramePr>
        <p:xfrm>
          <a:off x="365760" y="1737360"/>
          <a:ext cx="11521438" cy="3566160"/>
        </p:xfrm>
        <a:graphic>
          <a:graphicData uri="http://schemas.openxmlformats.org/drawingml/2006/table">
            <a:tbl>
              <a:tblPr>
                <a:tableStyleId>{5C22544A-7EE6-4342-B048-85BDC9FD1C3A}</a:tableStyleId>
              </a:tblPr>
              <a:tblGrid>
                <a:gridCol w="1228953"/>
                <a:gridCol w="3226003"/>
                <a:gridCol w="3226003"/>
                <a:gridCol w="3840479"/>
              </a:tblGrid>
              <a:tr h="891540">
                <a:tc>
                  <a:txBody>
                    <a:bodyPr/>
                    <a:lstStyle/>
                    <a:p>
                      <a:pPr algn="ctr"/>
                      <a:r>
                        <a:rPr sz="1400" b="1">
                          <a:solidFill>
                            <a:srgbClr val="FFFFFF"/>
                          </a:solidFill>
                          <a:latin typeface="Montserrat Medium"/>
                        </a:rPr>
                        <a:t>Contribution</a:t>
                      </a:r>
                    </a:p>
                  </a:txBody>
                  <a:tcPr anchor="ctr" marL="54864" marR="54864" marT="18288" marB="18288">
                    <a:solidFill>
                      <a:srgbClr val="0E7C7B"/>
                    </a:solidFill>
                  </a:tcPr>
                </a:tc>
                <a:tc>
                  <a:txBody>
                    <a:bodyPr/>
                    <a:lstStyle/>
                    <a:p>
                      <a:pPr algn="ctr"/>
                      <a:r>
                        <a:rPr sz="1400" b="1">
                          <a:solidFill>
                            <a:srgbClr val="FFFFFF"/>
                          </a:solidFill>
                          <a:latin typeface="Montserrat Medium"/>
                        </a:rPr>
                        <a:t>Main idea</a:t>
                      </a:r>
                    </a:p>
                  </a:txBody>
                  <a:tcPr anchor="ctr" marL="54864" marR="54864" marT="18288" marB="18288">
                    <a:solidFill>
                      <a:srgbClr val="0E7C7B"/>
                    </a:solidFill>
                  </a:tcPr>
                </a:tc>
                <a:tc>
                  <a:txBody>
                    <a:bodyPr/>
                    <a:lstStyle/>
                    <a:p>
                      <a:pPr algn="ctr"/>
                      <a:r>
                        <a:rPr sz="1400" b="1">
                          <a:solidFill>
                            <a:srgbClr val="FFFFFF"/>
                          </a:solidFill>
                          <a:latin typeface="Montserrat Medium"/>
                        </a:rPr>
                        <a:t>Achievement</a:t>
                      </a:r>
                    </a:p>
                  </a:txBody>
                  <a:tcPr anchor="ctr" marL="54864" marR="54864" marT="18288" marB="18288">
                    <a:solidFill>
                      <a:srgbClr val="0E7C7B"/>
                    </a:solidFill>
                  </a:tcPr>
                </a:tc>
                <a:tc>
                  <a:txBody>
                    <a:bodyPr/>
                    <a:lstStyle/>
                    <a:p>
                      <a:pPr algn="ctr"/>
                      <a:r>
                        <a:rPr sz="1400" b="1">
                          <a:solidFill>
                            <a:srgbClr val="FFFFFF"/>
                          </a:solidFill>
                          <a:latin typeface="Montserrat Medium"/>
                        </a:rPr>
                        <a:t>Key finding</a:t>
                      </a:r>
                    </a:p>
                  </a:txBody>
                  <a:tcPr anchor="ctr" marL="54864" marR="54864" marT="18288" marB="18288">
                    <a:solidFill>
                      <a:srgbClr val="0E7C7B"/>
                    </a:solidFill>
                  </a:tcPr>
                </a:tc>
              </a:tr>
              <a:tr h="891540">
                <a:tc>
                  <a:txBody>
                    <a:bodyPr/>
                    <a:lstStyle/>
                    <a:p>
                      <a:pPr algn="l"/>
                      <a:r>
                        <a:rPr sz="1400" b="0">
                          <a:solidFill>
                            <a:srgbClr val="2F3B49"/>
                          </a:solidFill>
                          <a:latin typeface="Montserrat"/>
                        </a:rPr>
                        <a:t>C1</a:t>
                      </a:r>
                    </a:p>
                  </a:txBody>
                  <a:tcPr anchor="ctr" marL="54864" marR="54864" marT="18288" marB="18288">
                    <a:solidFill>
                      <a:srgbClr val="FFFFFF"/>
                    </a:solidFill>
                  </a:tcPr>
                </a:tc>
                <a:tc>
                  <a:txBody>
                    <a:bodyPr/>
                    <a:lstStyle/>
                    <a:p>
                      <a:pPr algn="ctr"/>
                      <a:r>
                        <a:rPr sz="1400" b="0">
                          <a:solidFill>
                            <a:srgbClr val="2F3B49"/>
                          </a:solidFill>
                          <a:latin typeface="Montserrat"/>
                        </a:rPr>
                        <a:t>Explain black-box clustering via Shapley</a:t>
                      </a:r>
                    </a:p>
                  </a:txBody>
                  <a:tcPr anchor="ctr" marL="54864" marR="54864" marT="18288" marB="18288">
                    <a:solidFill>
                      <a:srgbClr val="FFFFFF"/>
                    </a:solidFill>
                  </a:tcPr>
                </a:tc>
                <a:tc>
                  <a:txBody>
                    <a:bodyPr/>
                    <a:lstStyle/>
                    <a:p>
                      <a:pPr algn="ctr"/>
                      <a:r>
                        <a:rPr sz="1400" b="0">
                          <a:solidFill>
                            <a:srgbClr val="2F3B49"/>
                          </a:solidFill>
                          <a:latin typeface="Montserrat"/>
                        </a:rPr>
                        <a:t>PCA–KMeans–LightGBM–TreeSHAP pipeline</a:t>
                      </a:r>
                    </a:p>
                  </a:txBody>
                  <a:tcPr anchor="ctr" marL="54864" marR="54864" marT="18288" marB="18288">
                    <a:solidFill>
                      <a:srgbClr val="FFFFFF"/>
                    </a:solidFill>
                  </a:tcPr>
                </a:tc>
                <a:tc>
                  <a:txBody>
                    <a:bodyPr/>
                    <a:lstStyle/>
                    <a:p>
                      <a:pPr algn="ctr"/>
                      <a:r>
                        <a:rPr sz="1400" b="0">
                          <a:solidFill>
                            <a:srgbClr val="2F3B49"/>
                          </a:solidFill>
                          <a:latin typeface="Montserrat"/>
                        </a:rPr>
                        <a:t>Faithful, chemistry-consistent cluster attribution (wine)</a:t>
                      </a:r>
                    </a:p>
                  </a:txBody>
                  <a:tcPr anchor="ctr" marL="54864" marR="54864" marT="18288" marB="18288">
                    <a:solidFill>
                      <a:srgbClr val="FFFFFF"/>
                    </a:solidFill>
                  </a:tcPr>
                </a:tc>
              </a:tr>
              <a:tr h="891540">
                <a:tc>
                  <a:txBody>
                    <a:bodyPr/>
                    <a:lstStyle/>
                    <a:p>
                      <a:pPr algn="l"/>
                      <a:r>
                        <a:rPr sz="1400" b="0">
                          <a:solidFill>
                            <a:srgbClr val="2F3B49"/>
                          </a:solidFill>
                          <a:latin typeface="Montserrat"/>
                        </a:rPr>
                        <a:t>C2</a:t>
                      </a:r>
                    </a:p>
                  </a:txBody>
                  <a:tcPr anchor="ctr" marL="54864" marR="54864" marT="18288" marB="18288">
                    <a:solidFill>
                      <a:srgbClr val="F0F4FB"/>
                    </a:solidFill>
                  </a:tcPr>
                </a:tc>
                <a:tc>
                  <a:txBody>
                    <a:bodyPr/>
                    <a:lstStyle/>
                    <a:p>
                      <a:pPr algn="ctr"/>
                      <a:r>
                        <a:rPr sz="1400" b="0">
                          <a:solidFill>
                            <a:srgbClr val="2F3B49"/>
                          </a:solidFill>
                          <a:latin typeface="Montserrat"/>
                        </a:rPr>
                        <a:t>Multi-level, large-scale clustering XAI</a:t>
                      </a:r>
                    </a:p>
                  </a:txBody>
                  <a:tcPr anchor="ctr" marL="54864" marR="54864" marT="18288" marB="18288">
                    <a:solidFill>
                      <a:srgbClr val="F0F4FB"/>
                    </a:solidFill>
                  </a:tcPr>
                </a:tc>
                <a:tc>
                  <a:txBody>
                    <a:bodyPr/>
                    <a:lstStyle/>
                    <a:p>
                      <a:pPr algn="ctr"/>
                      <a:r>
                        <a:rPr sz="1400" b="0">
                          <a:solidFill>
                            <a:srgbClr val="2F3B49"/>
                          </a:solidFill>
                          <a:latin typeface="Montserrat"/>
                        </a:rPr>
                        <a:t>Cross-level SHAP aggregation + Prop. 6.1</a:t>
                      </a:r>
                    </a:p>
                  </a:txBody>
                  <a:tcPr anchor="ctr" marL="54864" marR="54864" marT="18288" marB="18288">
                    <a:solidFill>
                      <a:srgbClr val="F0F4FB"/>
                    </a:solidFill>
                  </a:tcPr>
                </a:tc>
                <a:tc>
                  <a:txBody>
                    <a:bodyPr/>
                    <a:lstStyle/>
                    <a:p>
                      <a:pPr algn="ctr"/>
                      <a:r>
                        <a:rPr sz="1400" b="0">
                          <a:solidFill>
                            <a:srgbClr val="2F3B49"/>
                          </a:solidFill>
                          <a:latin typeface="Montserrat"/>
                        </a:rPr>
                        <a:t>Coherent under hierarchy; interprets differences</a:t>
                      </a:r>
                    </a:p>
                  </a:txBody>
                  <a:tcPr anchor="ctr" marL="54864" marR="54864" marT="18288" marB="18288">
                    <a:solidFill>
                      <a:srgbClr val="F0F4FB"/>
                    </a:solidFill>
                  </a:tcPr>
                </a:tc>
              </a:tr>
              <a:tr h="891540">
                <a:tc>
                  <a:txBody>
                    <a:bodyPr/>
                    <a:lstStyle/>
                    <a:p>
                      <a:pPr algn="l"/>
                      <a:r>
                        <a:rPr sz="1400" b="0">
                          <a:solidFill>
                            <a:srgbClr val="2F3B49"/>
                          </a:solidFill>
                          <a:latin typeface="Montserrat"/>
                        </a:rPr>
                        <a:t>C3</a:t>
                      </a:r>
                    </a:p>
                  </a:txBody>
                  <a:tcPr anchor="ctr" marL="54864" marR="54864" marT="18288" marB="18288">
                    <a:solidFill>
                      <a:srgbClr val="FFFFFF"/>
                    </a:solidFill>
                  </a:tcPr>
                </a:tc>
                <a:tc>
                  <a:txBody>
                    <a:bodyPr/>
                    <a:lstStyle/>
                    <a:p>
                      <a:pPr algn="ctr"/>
                      <a:r>
                        <a:rPr sz="1400" b="0">
                          <a:solidFill>
                            <a:srgbClr val="2F3B49"/>
                          </a:solidFill>
                          <a:latin typeface="Montserrat"/>
                        </a:rPr>
                        <a:t>DyHuCoG hypergraph cooperative game</a:t>
                      </a:r>
                    </a:p>
                  </a:txBody>
                  <a:tcPr anchor="ctr" marL="54864" marR="54864" marT="18288" marB="18288">
                    <a:solidFill>
                      <a:srgbClr val="FFFFFF"/>
                    </a:solidFill>
                  </a:tcPr>
                </a:tc>
                <a:tc>
                  <a:txBody>
                    <a:bodyPr/>
                    <a:lstStyle/>
                    <a:p>
                      <a:pPr algn="ctr"/>
                      <a:r>
                        <a:rPr sz="1400" b="0">
                          <a:solidFill>
                            <a:srgbClr val="2F3B49"/>
                          </a:solidFill>
                          <a:latin typeface="Montserrat"/>
                        </a:rPr>
                        <a:t>Preference-aware Shapley as in-training signal</a:t>
                      </a:r>
                    </a:p>
                  </a:txBody>
                  <a:tcPr anchor="ctr" marL="54864" marR="54864" marT="18288" marB="18288">
                    <a:solidFill>
                      <a:srgbClr val="FFFFFF"/>
                    </a:solidFill>
                  </a:tcPr>
                </a:tc>
                <a:tc>
                  <a:txBody>
                    <a:bodyPr/>
                    <a:lstStyle/>
                    <a:p>
                      <a:pPr algn="ctr"/>
                      <a:r>
                        <a:rPr sz="1400" b="0">
                          <a:solidFill>
                            <a:srgbClr val="2F3B49"/>
                          </a:solidFill>
                          <a:latin typeface="Montserrat"/>
                        </a:rPr>
                        <a:t>Accuracy + coverage + diversity improve together</a:t>
                      </a:r>
                    </a:p>
                  </a:txBody>
                  <a:tcPr anchor="ctr" marL="54864" marR="54864" marT="18288" marB="18288">
                    <a:solidFill>
                      <a:srgbClr val="FFFFFF"/>
                    </a:solidFill>
                  </a:tcPr>
                </a:tc>
              </a:tr>
            </a:tbl>
          </a:graphicData>
        </a:graphic>
      </p:graphicFrame>
      <p:pic>
        <p:nvPicPr>
          <p:cNvPr id="49" name="Picture 48" descr="image.png"/>
          <p:cNvPicPr>
            <a:picLocks noChangeAspect="1"/>
          </p:cNvPicPr>
          <p:nvPr/>
        </p:nvPicPr>
        <p:blipFill>
          <a:blip r:embed="rId15"/>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6"/>
          <a:stretch>
            <a:fillRect/>
          </a:stretch>
        </p:blipFill>
        <p:spPr>
          <a:xfrm>
            <a:off x="11709806" y="6400800"/>
            <a:ext cx="384048" cy="384048"/>
          </a:xfrm>
          <a:prstGeom prst="rect">
            <a:avLst/>
          </a:prstGeom>
        </p:spPr>
      </p:pic>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Conclusion &amp; Perspectives</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Synthesis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Limitations</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Perspectives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Conclusion</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graphicFrame>
        <p:nvGraphicFramePr>
          <p:cNvPr id="48" name="Table 47"/>
          <p:cNvGraphicFramePr>
            <a:graphicFrameLocks noGrp="1"/>
          </p:cNvGraphicFramePr>
          <p:nvPr/>
        </p:nvGraphicFramePr>
        <p:xfrm>
          <a:off x="365760" y="1737360"/>
          <a:ext cx="11521437" cy="3566160"/>
        </p:xfrm>
        <a:graphic>
          <a:graphicData uri="http://schemas.openxmlformats.org/drawingml/2006/table">
            <a:tbl>
              <a:tblPr>
                <a:tableStyleId>{5C22544A-7EE6-4342-B048-85BDC9FD1C3A}</a:tableStyleId>
              </a:tblPr>
              <a:tblGrid>
                <a:gridCol w="907199"/>
                <a:gridCol w="5896799"/>
                <a:gridCol w="2903040"/>
                <a:gridCol w="1814399"/>
              </a:tblGrid>
              <a:tr h="891540">
                <a:tc>
                  <a:txBody>
                    <a:bodyPr/>
                    <a:lstStyle/>
                    <a:p>
                      <a:pPr algn="ctr"/>
                      <a:r>
                        <a:rPr sz="1400" b="1">
                          <a:solidFill>
                            <a:srgbClr val="FFFFFF"/>
                          </a:solidFill>
                          <a:latin typeface="Montserrat Medium"/>
                        </a:rPr>
                        <a:t>No.</a:t>
                      </a:r>
                    </a:p>
                  </a:txBody>
                  <a:tcPr anchor="ctr" marL="54864" marR="54864" marT="18288" marB="18288">
                    <a:solidFill>
                      <a:srgbClr val="0E7C7B"/>
                    </a:solidFill>
                  </a:tcPr>
                </a:tc>
                <a:tc>
                  <a:txBody>
                    <a:bodyPr/>
                    <a:lstStyle/>
                    <a:p>
                      <a:pPr algn="ctr"/>
                      <a:r>
                        <a:rPr sz="1400" b="1">
                          <a:solidFill>
                            <a:srgbClr val="FFFFFF"/>
                          </a:solidFill>
                          <a:latin typeface="Montserrat Medium"/>
                        </a:rPr>
                        <a:t>Title</a:t>
                      </a:r>
                    </a:p>
                  </a:txBody>
                  <a:tcPr anchor="ctr" marL="54864" marR="54864" marT="18288" marB="18288">
                    <a:solidFill>
                      <a:srgbClr val="0E7C7B"/>
                    </a:solidFill>
                  </a:tcPr>
                </a:tc>
                <a:tc>
                  <a:txBody>
                    <a:bodyPr/>
                    <a:lstStyle/>
                    <a:p>
                      <a:pPr algn="ctr"/>
                      <a:r>
                        <a:rPr sz="1400" b="1">
                          <a:solidFill>
                            <a:srgbClr val="FFFFFF"/>
                          </a:solidFill>
                          <a:latin typeface="Montserrat Medium"/>
                        </a:rPr>
                        <a:t>Venue</a:t>
                      </a:r>
                    </a:p>
                  </a:txBody>
                  <a:tcPr anchor="ctr" marL="54864" marR="54864" marT="18288" marB="18288">
                    <a:solidFill>
                      <a:srgbClr val="0E7C7B"/>
                    </a:solidFill>
                  </a:tcPr>
                </a:tc>
                <a:tc>
                  <a:txBody>
                    <a:bodyPr/>
                    <a:lstStyle/>
                    <a:p>
                      <a:pPr algn="ctr"/>
                      <a:r>
                        <a:rPr sz="1400" b="1">
                          <a:solidFill>
                            <a:srgbClr val="FFFFFF"/>
                          </a:solidFill>
                          <a:latin typeface="Montserrat Medium"/>
                        </a:rPr>
                        <a:t>Status</a:t>
                      </a:r>
                    </a:p>
                  </a:txBody>
                  <a:tcPr anchor="ctr" marL="54864" marR="54864" marT="18288" marB="18288">
                    <a:solidFill>
                      <a:srgbClr val="0E7C7B"/>
                    </a:solidFill>
                  </a:tcPr>
                </a:tc>
              </a:tr>
              <a:tr h="891540">
                <a:tc>
                  <a:txBody>
                    <a:bodyPr/>
                    <a:lstStyle/>
                    <a:p>
                      <a:pPr algn="l"/>
                      <a:r>
                        <a:rPr sz="1400" b="0">
                          <a:solidFill>
                            <a:srgbClr val="2F3B49"/>
                          </a:solidFill>
                          <a:latin typeface="Montserrat"/>
                        </a:rPr>
                        <a:t>I</a:t>
                      </a:r>
                    </a:p>
                  </a:txBody>
                  <a:tcPr anchor="ctr" marL="54864" marR="54864" marT="18288" marB="18288">
                    <a:solidFill>
                      <a:srgbClr val="FFFFFF"/>
                    </a:solidFill>
                  </a:tcPr>
                </a:tc>
                <a:tc>
                  <a:txBody>
                    <a:bodyPr/>
                    <a:lstStyle/>
                    <a:p>
                      <a:pPr algn="ctr"/>
                      <a:r>
                        <a:rPr sz="1400" b="0">
                          <a:solidFill>
                            <a:srgbClr val="2F3B49"/>
                          </a:solidFill>
                          <a:latin typeface="Montserrat"/>
                        </a:rPr>
                        <a:t>Shapley Values for Explaining the Black Box Nature of ML Model Clustering</a:t>
                      </a:r>
                    </a:p>
                  </a:txBody>
                  <a:tcPr anchor="ctr" marL="54864" marR="54864" marT="18288" marB="18288">
                    <a:solidFill>
                      <a:srgbClr val="FFFFFF"/>
                    </a:solidFill>
                  </a:tcPr>
                </a:tc>
                <a:tc>
                  <a:txBody>
                    <a:bodyPr/>
                    <a:lstStyle/>
                    <a:p>
                      <a:pPr algn="ctr"/>
                      <a:r>
                        <a:rPr sz="1400" b="0">
                          <a:solidFill>
                            <a:srgbClr val="2F3B49"/>
                          </a:solidFill>
                          <a:latin typeface="Montserrat"/>
                        </a:rPr>
                        <a:t>Procedia Computer Science 220, 806–811</a:t>
                      </a:r>
                    </a:p>
                  </a:txBody>
                  <a:tcPr anchor="ctr" marL="54864" marR="54864" marT="18288" marB="18288">
                    <a:solidFill>
                      <a:srgbClr val="FFFFFF"/>
                    </a:solidFill>
                  </a:tcPr>
                </a:tc>
                <a:tc>
                  <a:txBody>
                    <a:bodyPr/>
                    <a:lstStyle/>
                    <a:p>
                      <a:pPr algn="ctr"/>
                      <a:r>
                        <a:rPr sz="1400" b="0">
                          <a:solidFill>
                            <a:srgbClr val="2F3B49"/>
                          </a:solidFill>
                          <a:latin typeface="Montserrat"/>
                        </a:rPr>
                        <a:t>Published, 2023</a:t>
                      </a:r>
                    </a:p>
                  </a:txBody>
                  <a:tcPr anchor="ctr" marL="54864" marR="54864" marT="18288" marB="18288">
                    <a:solidFill>
                      <a:srgbClr val="FFFFFF"/>
                    </a:solidFill>
                  </a:tcPr>
                </a:tc>
              </a:tr>
              <a:tr h="891540">
                <a:tc>
                  <a:txBody>
                    <a:bodyPr/>
                    <a:lstStyle/>
                    <a:p>
                      <a:pPr algn="l"/>
                      <a:r>
                        <a:rPr sz="1400" b="0">
                          <a:solidFill>
                            <a:srgbClr val="2F3B49"/>
                          </a:solidFill>
                          <a:latin typeface="Montserrat"/>
                        </a:rPr>
                        <a:t>II</a:t>
                      </a:r>
                    </a:p>
                  </a:txBody>
                  <a:tcPr anchor="ctr" marL="54864" marR="54864" marT="18288" marB="18288">
                    <a:solidFill>
                      <a:srgbClr val="F0F4FB"/>
                    </a:solidFill>
                  </a:tcPr>
                </a:tc>
                <a:tc>
                  <a:txBody>
                    <a:bodyPr/>
                    <a:lstStyle/>
                    <a:p>
                      <a:pPr algn="ctr"/>
                      <a:r>
                        <a:rPr sz="1400" b="0">
                          <a:solidFill>
                            <a:srgbClr val="2F3B49"/>
                          </a:solidFill>
                          <a:latin typeface="Montserrat"/>
                        </a:rPr>
                        <a:t>Game Theory Meets Explainable AI: An Enhanced Approach to Understanding Black Box Models Through Shapley Values</a:t>
                      </a:r>
                    </a:p>
                  </a:txBody>
                  <a:tcPr anchor="ctr" marL="54864" marR="54864" marT="18288" marB="18288">
                    <a:solidFill>
                      <a:srgbClr val="F0F4FB"/>
                    </a:solidFill>
                  </a:tcPr>
                </a:tc>
                <a:tc>
                  <a:txBody>
                    <a:bodyPr/>
                    <a:lstStyle/>
                    <a:p>
                      <a:pPr algn="ctr"/>
                      <a:r>
                        <a:rPr sz="1400" b="0">
                          <a:solidFill>
                            <a:srgbClr val="2F3B49"/>
                          </a:solidFill>
                          <a:latin typeface="Montserrat"/>
                        </a:rPr>
                        <a:t>IJACSA 16(7), 716–725</a:t>
                      </a:r>
                    </a:p>
                  </a:txBody>
                  <a:tcPr anchor="ctr" marL="54864" marR="54864" marT="18288" marB="18288">
                    <a:solidFill>
                      <a:srgbClr val="F0F4FB"/>
                    </a:solidFill>
                  </a:tcPr>
                </a:tc>
                <a:tc>
                  <a:txBody>
                    <a:bodyPr/>
                    <a:lstStyle/>
                    <a:p>
                      <a:pPr algn="ctr"/>
                      <a:r>
                        <a:rPr sz="1400" b="0">
                          <a:solidFill>
                            <a:srgbClr val="2F3B49"/>
                          </a:solidFill>
                          <a:latin typeface="Montserrat"/>
                        </a:rPr>
                        <a:t>Published, 2025</a:t>
                      </a:r>
                    </a:p>
                  </a:txBody>
                  <a:tcPr anchor="ctr" marL="54864" marR="54864" marT="18288" marB="18288">
                    <a:solidFill>
                      <a:srgbClr val="F0F4FB"/>
                    </a:solidFill>
                  </a:tcPr>
                </a:tc>
              </a:tr>
              <a:tr h="891540">
                <a:tc>
                  <a:txBody>
                    <a:bodyPr/>
                    <a:lstStyle/>
                    <a:p>
                      <a:pPr algn="l"/>
                      <a:r>
                        <a:rPr sz="1400" b="0">
                          <a:solidFill>
                            <a:srgbClr val="2F3B49"/>
                          </a:solidFill>
                          <a:latin typeface="Montserrat"/>
                        </a:rPr>
                        <a:t>III</a:t>
                      </a:r>
                    </a:p>
                  </a:txBody>
                  <a:tcPr anchor="ctr" marL="54864" marR="54864" marT="18288" marB="18288">
                    <a:solidFill>
                      <a:srgbClr val="FFFFFF"/>
                    </a:solidFill>
                  </a:tcPr>
                </a:tc>
                <a:tc>
                  <a:txBody>
                    <a:bodyPr/>
                    <a:lstStyle/>
                    <a:p>
                      <a:pPr algn="ctr"/>
                      <a:r>
                        <a:rPr sz="1400" b="0">
                          <a:solidFill>
                            <a:srgbClr val="2F3B49"/>
                          </a:solidFill>
                          <a:latin typeface="Montserrat"/>
                        </a:rPr>
                        <a:t>DyHuCoG: A Dynamic Hypergraph Cooperative Game for Preference-aware Recommendation</a:t>
                      </a:r>
                    </a:p>
                  </a:txBody>
                  <a:tcPr anchor="ctr" marL="54864" marR="54864" marT="18288" marB="18288">
                    <a:solidFill>
                      <a:srgbClr val="FFFFFF"/>
                    </a:solidFill>
                  </a:tcPr>
                </a:tc>
                <a:tc>
                  <a:txBody>
                    <a:bodyPr/>
                    <a:lstStyle/>
                    <a:p>
                      <a:pPr algn="ctr"/>
                      <a:r>
                        <a:rPr sz="1400" b="0">
                          <a:solidFill>
                            <a:srgbClr val="2F3B49"/>
                          </a:solidFill>
                          <a:latin typeface="Montserrat"/>
                        </a:rPr>
                        <a:t>IJIES 19(2), 887–902</a:t>
                      </a:r>
                    </a:p>
                  </a:txBody>
                  <a:tcPr anchor="ctr" marL="54864" marR="54864" marT="18288" marB="18288">
                    <a:solidFill>
                      <a:srgbClr val="FFFFFF"/>
                    </a:solidFill>
                  </a:tcPr>
                </a:tc>
                <a:tc>
                  <a:txBody>
                    <a:bodyPr/>
                    <a:lstStyle/>
                    <a:p>
                      <a:pPr algn="ctr"/>
                      <a:r>
                        <a:rPr sz="1400" b="0">
                          <a:solidFill>
                            <a:srgbClr val="2F3B49"/>
                          </a:solidFill>
                          <a:latin typeface="Montserrat"/>
                        </a:rPr>
                        <a:t>Published, 2026</a:t>
                      </a:r>
                    </a:p>
                  </a:txBody>
                  <a:tcPr anchor="ctr" marL="54864" marR="54864" marT="18288" marB="18288">
                    <a:solidFill>
                      <a:srgbClr val="FFFFFF"/>
                    </a:solidFill>
                  </a:tcPr>
                </a:tc>
              </a:tr>
            </a:tbl>
          </a:graphicData>
        </a:graphic>
      </p:graphicFrame>
      <p:pic>
        <p:nvPicPr>
          <p:cNvPr id="49" name="Picture 48" descr="image.png"/>
          <p:cNvPicPr>
            <a:picLocks noChangeAspect="1"/>
          </p:cNvPicPr>
          <p:nvPr/>
        </p:nvPicPr>
        <p:blipFill>
          <a:blip r:embed="rId13"/>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Conclusion &amp; Perspectives</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Synthesis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Limitations</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Perspectives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Conclusion</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0">
                <a:solidFill>
                  <a:srgbClr val="2F3B49"/>
                </a:solidFill>
                <a:latin typeface="Montserrat"/>
              </a:rPr>
              <a:t>Computational – exact Shapley is intractable; every contribution relies on approximation, surrogates, or restricted reporting.</a:t>
            </a:r>
          </a:p>
          <a:p>
            <a:pPr>
              <a:lnSpc>
                <a:spcPct val="105000"/>
              </a:lnSpc>
              <a:spcAft>
                <a:spcPts val="900"/>
              </a:spcAft>
            </a:pPr>
            <a:r>
              <a:rPr sz="1700">
                <a:solidFill>
                  <a:srgbClr val="0E7C7B"/>
                </a:solidFill>
                <a:latin typeface="Wingdings"/>
              </a:rPr>
              <a:t>§  </a:t>
            </a:r>
            <a:r>
              <a:rPr sz="1700" b="0">
                <a:solidFill>
                  <a:srgbClr val="2F3B49"/>
                </a:solidFill>
                <a:latin typeface="Montserrat"/>
              </a:rPr>
              <a:t>Methodological – clustering depends on surrogate fidelity; recommendation depends on stable approximate contributions and adequate context.</a:t>
            </a:r>
          </a:p>
          <a:p>
            <a:pPr>
              <a:lnSpc>
                <a:spcPct val="105000"/>
              </a:lnSpc>
              <a:spcAft>
                <a:spcPts val="900"/>
              </a:spcAft>
            </a:pPr>
            <a:r>
              <a:rPr sz="1700">
                <a:solidFill>
                  <a:srgbClr val="0E7C7B"/>
                </a:solidFill>
                <a:latin typeface="Wingdings"/>
              </a:rPr>
              <a:t>§  </a:t>
            </a:r>
            <a:r>
              <a:rPr sz="1700" b="0">
                <a:solidFill>
                  <a:srgbClr val="2F3B49"/>
                </a:solidFill>
                <a:latin typeface="Montserrat"/>
              </a:rPr>
              <a:t>Empirical – tabular clustering + benchmark recommendation; no multimodal, sequential, or online deployment; no dedicated human-subject actionability study.</a:t>
            </a:r>
          </a:p>
          <a:p>
            <a:pPr>
              <a:lnSpc>
                <a:spcPct val="105000"/>
              </a:lnSpc>
              <a:spcAft>
                <a:spcPts val="900"/>
              </a:spcAft>
            </a:pPr>
            <a:r>
              <a:rPr sz="1700">
                <a:solidFill>
                  <a:srgbClr val="0E7C7B"/>
                </a:solidFill>
                <a:latin typeface="Wingdings"/>
              </a:rPr>
              <a:t>§  </a:t>
            </a:r>
            <a:r>
              <a:rPr sz="1700" b="1">
                <a:solidFill>
                  <a:srgbClr val="2F3B49"/>
                </a:solidFill>
                <a:latin typeface="Montserrat Medium"/>
              </a:rPr>
              <a:t>Claim scope – a coherent and productive perspective, not one fully unified framework eliminating all tension.</a:t>
            </a:r>
          </a:p>
        </p:txBody>
      </p:sp>
      <p:pic>
        <p:nvPicPr>
          <p:cNvPr id="49" name="Picture 48" descr="image.png"/>
          <p:cNvPicPr>
            <a:picLocks noChangeAspect="1"/>
          </p:cNvPicPr>
          <p:nvPr/>
        </p:nvPicPr>
        <p:blipFill>
          <a:blip r:embed="rId13"/>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0"/>
          <a:stretch>
            <a:fillRect/>
          </a:stretch>
        </p:blipFill>
        <p:spPr>
          <a:xfrm>
            <a:off x="11709806" y="6400800"/>
            <a:ext cx="384048" cy="384048"/>
          </a:xfrm>
          <a:prstGeom prst="rect">
            <a:avLst/>
          </a:prstGeom>
        </p:spPr>
      </p:pic>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Conclusion &amp; Perspectives</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Synthesis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Limitations</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Perspectives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Conclusion</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0">
                <a:solidFill>
                  <a:srgbClr val="2F3B49"/>
                </a:solidFill>
                <a:latin typeface="Montserrat"/>
              </a:rPr>
              <a:t>Scalable cooperative attribution – lower-variance Shapley, learned proposal distributions, adaptive refresh policies.</a:t>
            </a:r>
          </a:p>
          <a:p>
            <a:pPr>
              <a:lnSpc>
                <a:spcPct val="105000"/>
              </a:lnSpc>
              <a:spcAft>
                <a:spcPts val="900"/>
              </a:spcAft>
            </a:pPr>
            <a:r>
              <a:rPr sz="1700">
                <a:solidFill>
                  <a:srgbClr val="0E7C7B"/>
                </a:solidFill>
                <a:latin typeface="Wingdings"/>
              </a:rPr>
              <a:t>§  </a:t>
            </a:r>
            <a:r>
              <a:rPr sz="1700" b="0">
                <a:solidFill>
                  <a:srgbClr val="2F3B49"/>
                </a:solidFill>
                <a:latin typeface="Montserrat"/>
              </a:rPr>
              <a:t>Online / streaming recommendation – truly incremental settings with evolving graphs and delayed feedback.</a:t>
            </a:r>
          </a:p>
          <a:p>
            <a:pPr>
              <a:lnSpc>
                <a:spcPct val="105000"/>
              </a:lnSpc>
              <a:spcAft>
                <a:spcPts val="900"/>
              </a:spcAft>
            </a:pPr>
            <a:r>
              <a:rPr sz="1700">
                <a:solidFill>
                  <a:srgbClr val="0E7C7B"/>
                </a:solidFill>
                <a:latin typeface="Wingdings"/>
              </a:rPr>
              <a:t>§  </a:t>
            </a:r>
            <a:r>
              <a:rPr sz="1700" b="0">
                <a:solidFill>
                  <a:srgbClr val="2F3B49"/>
                </a:solidFill>
                <a:latin typeface="Montserrat"/>
              </a:rPr>
              <a:t>Richer human-centred evaluation – do explanations measurably improve analyst judgement, user trust, intervention quality, or perceived fairness?</a:t>
            </a:r>
          </a:p>
          <a:p>
            <a:pPr>
              <a:lnSpc>
                <a:spcPct val="105000"/>
              </a:lnSpc>
              <a:spcAft>
                <a:spcPts val="900"/>
              </a:spcAft>
            </a:pPr>
            <a:r>
              <a:rPr sz="1700">
                <a:solidFill>
                  <a:srgbClr val="0E7C7B"/>
                </a:solidFill>
                <a:latin typeface="Wingdings"/>
              </a:rPr>
              <a:t>§  </a:t>
            </a:r>
            <a:r>
              <a:rPr sz="1700" b="0">
                <a:solidFill>
                  <a:srgbClr val="2F3B49"/>
                </a:solidFill>
                <a:latin typeface="Montserrat"/>
              </a:rPr>
              <a:t>Broader trustworthy-AI evaluation – exposure fairness, transparency requirements, governance-oriented auditing.</a:t>
            </a:r>
          </a:p>
        </p:txBody>
      </p:sp>
      <p:pic>
        <p:nvPicPr>
          <p:cNvPr id="49" name="Picture 48" descr="image.png"/>
          <p:cNvPicPr>
            <a:picLocks noChangeAspect="1"/>
          </p:cNvPicPr>
          <p:nvPr/>
        </p:nvPicPr>
        <p:blipFill>
          <a:blip r:embed="rId13"/>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0" name="Rectangle 19">
            <a:extLst>
              <a:ext uri="{FF2B5EF4-FFF2-40B4-BE49-F238E27FC236}">
                <a16:creationId xmlns:a16="http://schemas.microsoft.com/office/drawing/2014/main" id="{3D3298FF-043C-4077-BE78-07BF0ECDD2B0}"/>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1" name="Rectangle 20">
            <a:extLst>
              <a:ext uri="{FF2B5EF4-FFF2-40B4-BE49-F238E27FC236}">
                <a16:creationId xmlns:a16="http://schemas.microsoft.com/office/drawing/2014/main" id="{B81D3895-81C4-420F-9606-5931A882BFD2}"/>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2" name="Rectangle 21">
            <a:extLst>
              <a:ext uri="{FF2B5EF4-FFF2-40B4-BE49-F238E27FC236}">
                <a16:creationId xmlns:a16="http://schemas.microsoft.com/office/drawing/2014/main" id="{9B2C498D-6A21-40C6-A30C-DF2F56025702}"/>
              </a:ext>
            </a:extLst>
          </p:cNvPr>
          <p:cNvSpPr/>
          <p:nvPr/>
        </p:nvSpPr>
        <p:spPr>
          <a:xfrm>
            <a:off x="1314748" y="824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3" name="Rectangle 22">
            <a:extLst>
              <a:ext uri="{FF2B5EF4-FFF2-40B4-BE49-F238E27FC236}">
                <a16:creationId xmlns:a16="http://schemas.microsoft.com/office/drawing/2014/main" id="{957F6E89-5472-4277-A221-0EA15EE23A1E}"/>
              </a:ext>
            </a:extLst>
          </p:cNvPr>
          <p:cNvSpPr/>
          <p:nvPr/>
        </p:nvSpPr>
        <p:spPr>
          <a:xfrm>
            <a:off x="1841724" y="77266"/>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24" name="Rectangle 23">
            <a:extLst>
              <a:ext uri="{FF2B5EF4-FFF2-40B4-BE49-F238E27FC236}">
                <a16:creationId xmlns:a16="http://schemas.microsoft.com/office/drawing/2014/main" id="{3ABEEF48-4937-4A1E-946C-8A461CDAE09E}"/>
              </a:ext>
            </a:extLst>
          </p:cNvPr>
          <p:cNvSpPr/>
          <p:nvPr/>
        </p:nvSpPr>
        <p:spPr>
          <a:xfrm>
            <a:off x="2423450" y="82455"/>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pic>
        <p:nvPicPr>
          <p:cNvPr id="25" name="Picture 24">
            <a:extLst>
              <a:ext uri="{FF2B5EF4-FFF2-40B4-BE49-F238E27FC236}">
                <a16:creationId xmlns:a16="http://schemas.microsoft.com/office/drawing/2014/main" id="{72B8D2D0-A98D-4B43-B3DF-7A0978DD18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3422" y="139964"/>
            <a:ext cx="385680" cy="385680"/>
          </a:xfrm>
          <a:prstGeom prst="rect">
            <a:avLst/>
          </a:prstGeom>
        </p:spPr>
      </p:pic>
      <p:pic>
        <p:nvPicPr>
          <p:cNvPr id="26" name="Picture 25">
            <a:extLst>
              <a:ext uri="{FF2B5EF4-FFF2-40B4-BE49-F238E27FC236}">
                <a16:creationId xmlns:a16="http://schemas.microsoft.com/office/drawing/2014/main" id="{18CEBB07-47F3-4626-8779-4612D67742F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2949" y="134166"/>
            <a:ext cx="385680" cy="385680"/>
          </a:xfrm>
          <a:prstGeom prst="rect">
            <a:avLst/>
          </a:prstGeom>
        </p:spPr>
      </p:pic>
      <p:pic>
        <p:nvPicPr>
          <p:cNvPr id="27" name="Picture 26">
            <a:extLst>
              <a:ext uri="{FF2B5EF4-FFF2-40B4-BE49-F238E27FC236}">
                <a16:creationId xmlns:a16="http://schemas.microsoft.com/office/drawing/2014/main" id="{8A810F5D-ABBB-41F7-87FA-1D0FB302C49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42123" y="128838"/>
            <a:ext cx="385680" cy="385680"/>
          </a:xfrm>
          <a:prstGeom prst="rect">
            <a:avLst/>
          </a:prstGeom>
        </p:spPr>
      </p:pic>
      <p:pic>
        <p:nvPicPr>
          <p:cNvPr id="29" name="Picture 28">
            <a:extLst>
              <a:ext uri="{FF2B5EF4-FFF2-40B4-BE49-F238E27FC236}">
                <a16:creationId xmlns:a16="http://schemas.microsoft.com/office/drawing/2014/main" id="{108DBDCE-F4E9-4936-A4E2-0CD1E489386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69099" y="134166"/>
            <a:ext cx="385680" cy="385680"/>
          </a:xfrm>
          <a:prstGeom prst="rect">
            <a:avLst/>
          </a:prstGeom>
        </p:spPr>
      </p:pic>
      <p:pic>
        <p:nvPicPr>
          <p:cNvPr id="30" name="Picture 29">
            <a:extLst>
              <a:ext uri="{FF2B5EF4-FFF2-40B4-BE49-F238E27FC236}">
                <a16:creationId xmlns:a16="http://schemas.microsoft.com/office/drawing/2014/main" id="{CF52F0FB-F954-4784-981C-869B6C64D6BA}"/>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2449636" y="141132"/>
            <a:ext cx="385680" cy="385680"/>
          </a:xfrm>
          <a:prstGeom prst="rect">
            <a:avLst/>
          </a:prstGeom>
        </p:spPr>
      </p:pic>
      <p:sp>
        <p:nvSpPr>
          <p:cNvPr id="31" name="Rectangle 30">
            <a:extLst>
              <a:ext uri="{FF2B5EF4-FFF2-40B4-BE49-F238E27FC236}">
                <a16:creationId xmlns:a16="http://schemas.microsoft.com/office/drawing/2014/main" id="{EFFA7040-247D-43A4-9A60-5A00AA7CE48E}"/>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Conclusion &amp; Perspectives</a:t>
            </a:r>
          </a:p>
        </p:txBody>
      </p:sp>
      <p:sp>
        <p:nvSpPr>
          <p:cNvPr id="34" name="Rectangle 33">
            <a:extLst>
              <a:ext uri="{FF2B5EF4-FFF2-40B4-BE49-F238E27FC236}">
                <a16:creationId xmlns:a16="http://schemas.microsoft.com/office/drawing/2014/main" id="{338EF12D-7A55-4BDF-B414-F14EAB185F7B}"/>
              </a:ext>
            </a:extLst>
          </p:cNvPr>
          <p:cNvSpPr/>
          <p:nvPr/>
        </p:nvSpPr>
        <p:spPr>
          <a:xfrm>
            <a:off x="206046" y="727218"/>
            <a:ext cx="2657835" cy="374262"/>
          </a:xfrm>
          <a:prstGeom prst="rect">
            <a:avLst/>
          </a:prstGeom>
        </p:spPr>
        <p:style>
          <a:lnRef idx="2">
            <a:schemeClr val="accent1">
              <a:shade val="50000"/>
            </a:schemeClr>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Synthesis</a:t>
            </a:r>
          </a:p>
        </p:txBody>
      </p:sp>
      <p:sp>
        <p:nvSpPr>
          <p:cNvPr id="37" name="Rectangle 36">
            <a:extLst>
              <a:ext uri="{FF2B5EF4-FFF2-40B4-BE49-F238E27FC236}">
                <a16:creationId xmlns:a16="http://schemas.microsoft.com/office/drawing/2014/main" id="{9DB4FE30-DBC9-43EC-8381-DC1015FF4D0E}"/>
              </a:ext>
            </a:extLst>
          </p:cNvPr>
          <p:cNvSpPr/>
          <p:nvPr/>
        </p:nvSpPr>
        <p:spPr>
          <a:xfrm>
            <a:off x="3338564"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Limitations</a:t>
            </a:r>
          </a:p>
        </p:txBody>
      </p:sp>
      <p:sp>
        <p:nvSpPr>
          <p:cNvPr id="46" name="Rectangle 45">
            <a:extLst>
              <a:ext uri="{FF2B5EF4-FFF2-40B4-BE49-F238E27FC236}">
                <a16:creationId xmlns:a16="http://schemas.microsoft.com/office/drawing/2014/main" id="{76FC0458-F8E2-41F7-A852-7B442C39A8FD}"/>
              </a:ext>
            </a:extLst>
          </p:cNvPr>
          <p:cNvSpPr/>
          <p:nvPr/>
        </p:nvSpPr>
        <p:spPr>
          <a:xfrm>
            <a:off x="6397365" y="722461"/>
            <a:ext cx="2657835" cy="374262"/>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Perspectives</a:t>
            </a:r>
          </a:p>
        </p:txBody>
      </p:sp>
      <p:sp>
        <p:nvSpPr>
          <p:cNvPr id="47" name="Rectangle 46">
            <a:extLst>
              <a:ext uri="{FF2B5EF4-FFF2-40B4-BE49-F238E27FC236}">
                <a16:creationId xmlns:a16="http://schemas.microsoft.com/office/drawing/2014/main" id="{70FFF23A-F129-4A59-B03C-A6A336C50B9C}"/>
              </a:ext>
            </a:extLst>
          </p:cNvPr>
          <p:cNvSpPr/>
          <p:nvPr/>
        </p:nvSpPr>
        <p:spPr>
          <a:xfrm>
            <a:off x="9456167" y="722461"/>
            <a:ext cx="2657835" cy="374262"/>
          </a:xfrm>
          <a:prstGeom prst="rect">
            <a:avLst/>
          </a:prstGeom>
        </p:spPr>
        <p:style>
          <a:lnRef idx="2">
            <a:schemeClr val="accent1"/>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Conclusion</a:t>
            </a:r>
          </a:p>
        </p:txBody>
      </p:sp>
      <p:sp>
        <p:nvSpPr>
          <p:cNvPr id="33" name="Rectangle 32">
            <a:extLst>
              <a:ext uri="{FF2B5EF4-FFF2-40B4-BE49-F238E27FC236}">
                <a16:creationId xmlns:a16="http://schemas.microsoft.com/office/drawing/2014/main" id="{EC04778A-F5D5-45B8-9ACC-75A0F1A8CC97}"/>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5" name="Picture 34">
            <a:extLst>
              <a:ext uri="{FF2B5EF4-FFF2-40B4-BE49-F238E27FC236}">
                <a16:creationId xmlns:a16="http://schemas.microsoft.com/office/drawing/2014/main" id="{237B83AA-45B3-48C4-B9D6-DCC79044850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897" y="141132"/>
            <a:ext cx="385680" cy="385680"/>
          </a:xfrm>
          <a:prstGeom prst="rect">
            <a:avLst/>
          </a:prstGeom>
        </p:spPr>
      </p:pic>
      <p:sp>
        <p:nvSpPr>
          <p:cNvPr id="36" name="Rectangle 35">
            <a:extLst>
              <a:ext uri="{FF2B5EF4-FFF2-40B4-BE49-F238E27FC236}">
                <a16:creationId xmlns:a16="http://schemas.microsoft.com/office/drawing/2014/main" id="{7AFD1281-2EF7-475C-A818-E378DEF491B4}"/>
              </a:ext>
            </a:extLst>
          </p:cNvPr>
          <p:cNvSpPr/>
          <p:nvPr/>
        </p:nvSpPr>
        <p:spPr>
          <a:xfrm>
            <a:off x="3597593" y="96241"/>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8" name="Picture 37">
            <a:extLst>
              <a:ext uri="{FF2B5EF4-FFF2-40B4-BE49-F238E27FC236}">
                <a16:creationId xmlns:a16="http://schemas.microsoft.com/office/drawing/2014/main" id="{77D37652-F775-4FD0-8A29-291258449E3A}"/>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634710" y="141132"/>
            <a:ext cx="385680" cy="385680"/>
          </a:xfrm>
          <a:prstGeom prst="rect">
            <a:avLst/>
          </a:prstGeom>
        </p:spPr>
      </p:pic>
      <p:sp>
        <p:nvSpPr>
          <p:cNvPr id="48" name="TextBox 47"/>
          <p:cNvSpPr txBox="1"/>
          <p:nvPr/>
        </p:nvSpPr>
        <p:spPr>
          <a:xfrm>
            <a:off x="365760" y="1737360"/>
            <a:ext cx="11430000" cy="4206240"/>
          </a:xfrm>
          <a:prstGeom prst="rect">
            <a:avLst/>
          </a:prstGeom>
          <a:noFill/>
        </p:spPr>
        <p:txBody>
          <a:bodyPr wrap="square" anchor="t" lIns="0" rIns="0" tIns="0" bIns="0">
            <a:spAutoFit/>
          </a:bodyPr>
          <a:lstStyle/>
          <a:p>
            <a:pPr>
              <a:lnSpc>
                <a:spcPct val="105000"/>
              </a:lnSpc>
              <a:spcAft>
                <a:spcPts val="900"/>
              </a:spcAft>
            </a:pPr>
            <a:r>
              <a:rPr sz="1700">
                <a:solidFill>
                  <a:srgbClr val="0E7C7B"/>
                </a:solidFill>
                <a:latin typeface="Wingdings"/>
              </a:rPr>
              <a:t>§  </a:t>
            </a:r>
            <a:r>
              <a:rPr sz="1700" b="1">
                <a:solidFill>
                  <a:srgbClr val="2F3B49"/>
                </a:solidFill>
                <a:latin typeface="Montserrat Medium"/>
              </a:rPr>
              <a:t>Thesis answer: cooperative game theory can function as a shared methodological perspective for actionable explanation across clustering and recommendation.</a:t>
            </a:r>
          </a:p>
          <a:p>
            <a:pPr>
              <a:lnSpc>
                <a:spcPct val="105000"/>
              </a:lnSpc>
              <a:spcAft>
                <a:spcPts val="900"/>
              </a:spcAft>
            </a:pPr>
            <a:r>
              <a:rPr sz="1700">
                <a:solidFill>
                  <a:srgbClr val="0E7C7B"/>
                </a:solidFill>
                <a:latin typeface="Wingdings"/>
              </a:rPr>
              <a:t>§  </a:t>
            </a:r>
            <a:r>
              <a:rPr sz="1700" b="0">
                <a:solidFill>
                  <a:srgbClr val="2F3B49"/>
                </a:solidFill>
                <a:latin typeface="Montserrat"/>
              </a:rPr>
              <a:t>Key outcomes:</a:t>
            </a:r>
          </a:p>
          <a:p>
            <a:pPr lvl="1">
              <a:lnSpc>
                <a:spcPct val="105000"/>
              </a:lnSpc>
              <a:spcAft>
                <a:spcPts val="600"/>
              </a:spcAft>
            </a:pPr>
            <a:r>
              <a:rPr sz="1600">
                <a:solidFill>
                  <a:srgbClr val="0E7C7B"/>
                </a:solidFill>
                <a:latin typeface="Montserrat"/>
              </a:rPr>
              <a:t>–  </a:t>
            </a:r>
            <a:r>
              <a:rPr sz="1600" b="0">
                <a:solidFill>
                  <a:srgbClr val="2F3B49"/>
                </a:solidFill>
                <a:latin typeface="Montserrat"/>
              </a:rPr>
              <a:t>Shapley attribution as a common formal language for feature, interaction, and context importance allocation.</a:t>
            </a:r>
          </a:p>
          <a:p>
            <a:pPr lvl="1">
              <a:lnSpc>
                <a:spcPct val="105000"/>
              </a:lnSpc>
              <a:spcAft>
                <a:spcPts val="600"/>
              </a:spcAft>
            </a:pPr>
            <a:r>
              <a:rPr sz="1600">
                <a:solidFill>
                  <a:srgbClr val="0E7C7B"/>
                </a:solidFill>
                <a:latin typeface="Montserrat"/>
              </a:rPr>
              <a:t>–  </a:t>
            </a:r>
            <a:r>
              <a:rPr sz="1600" b="0">
                <a:solidFill>
                  <a:srgbClr val="2F3B49"/>
                </a:solidFill>
                <a:latin typeface="Montserrat"/>
              </a:rPr>
              <a:t>Faithful clustering explanation, hierarchical explanatory coherence, and contribution-aware recommendation learning.</a:t>
            </a:r>
          </a:p>
          <a:p>
            <a:pPr lvl="1">
              <a:lnSpc>
                <a:spcPct val="105000"/>
              </a:lnSpc>
              <a:spcAft>
                <a:spcPts val="600"/>
              </a:spcAft>
            </a:pPr>
            <a:r>
              <a:rPr sz="1600">
                <a:solidFill>
                  <a:srgbClr val="0E7C7B"/>
                </a:solidFill>
                <a:latin typeface="Montserrat"/>
              </a:rPr>
              <a:t>–  </a:t>
            </a:r>
            <a:r>
              <a:rPr sz="1600" b="0">
                <a:solidFill>
                  <a:srgbClr val="2F3B49"/>
                </a:solidFill>
                <a:latin typeface="Montserrat"/>
              </a:rPr>
              <a:t>Explanation as method, not commentary — from post-hoc description to in-training guidance.</a:t>
            </a:r>
          </a:p>
          <a:p>
            <a:pPr lvl="1">
              <a:lnSpc>
                <a:spcPct val="105000"/>
              </a:lnSpc>
              <a:spcAft>
                <a:spcPts val="600"/>
              </a:spcAft>
            </a:pPr>
            <a:r>
              <a:rPr sz="1600">
                <a:solidFill>
                  <a:srgbClr val="0E7C7B"/>
                </a:solidFill>
                <a:latin typeface="Montserrat"/>
              </a:rPr>
              <a:t>–  </a:t>
            </a:r>
            <a:r>
              <a:rPr sz="1600" b="0">
                <a:solidFill>
                  <a:srgbClr val="2F3B49"/>
                </a:solidFill>
                <a:latin typeface="Montserrat"/>
              </a:rPr>
              <a:t>Aligned with trustworthy-AI requirements (EU AI Act, OECD principles, GDPR).</a:t>
            </a:r>
          </a:p>
        </p:txBody>
      </p:sp>
      <p:pic>
        <p:nvPicPr>
          <p:cNvPr id="49" name="Picture 48" descr="image.png"/>
          <p:cNvPicPr>
            <a:picLocks noChangeAspect="1"/>
          </p:cNvPicPr>
          <p:nvPr/>
        </p:nvPicPr>
        <p:blipFill>
          <a:blip r:embed="rId13"/>
          <a:stretch>
            <a:fillRect/>
          </a:stretch>
        </p:blipFill>
        <p:spPr>
          <a:xfrm>
            <a:off x="11431828" y="6400800"/>
            <a:ext cx="384048" cy="384048"/>
          </a:xfrm>
          <a:prstGeom prst="rect">
            <a:avLst/>
          </a:prstGeom>
        </p:spPr>
      </p:pic>
      <p:pic>
        <p:nvPicPr>
          <p:cNvPr id="50" name="Picture 49"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CCCEB5C7-51D3-494F-A421-55FB592E934F}"/>
              </a:ext>
            </a:extLst>
          </p:cNvPr>
          <p:cNvSpPr/>
          <p:nvPr/>
        </p:nvSpPr>
        <p:spPr>
          <a:xfrm>
            <a:off x="4388435" y="90180"/>
            <a:ext cx="7724594" cy="485432"/>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600" dirty="0">
                <a:latin typeface="Montserrat" pitchFamily="2" charset="0"/>
              </a:rPr>
              <a:t>References</a:t>
            </a:r>
          </a:p>
        </p:txBody>
      </p:sp>
      <p:sp>
        <p:nvSpPr>
          <p:cNvPr id="32" name="Rectangle 31">
            <a:extLst>
              <a:ext uri="{FF2B5EF4-FFF2-40B4-BE49-F238E27FC236}">
                <a16:creationId xmlns:a16="http://schemas.microsoft.com/office/drawing/2014/main" id="{E067F8FA-59D9-4D0E-BEEB-730D320E627E}"/>
              </a:ext>
            </a:extLst>
          </p:cNvPr>
          <p:cNvSpPr/>
          <p:nvPr/>
        </p:nvSpPr>
        <p:spPr>
          <a:xfrm>
            <a:off x="206046" y="82459"/>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3" name="Rectangle 32">
            <a:extLst>
              <a:ext uri="{FF2B5EF4-FFF2-40B4-BE49-F238E27FC236}">
                <a16:creationId xmlns:a16="http://schemas.microsoft.com/office/drawing/2014/main" id="{B026127E-1598-47EB-BDDE-1ECF383D54B9}"/>
              </a:ext>
            </a:extLst>
          </p:cNvPr>
          <p:cNvSpPr/>
          <p:nvPr/>
        </p:nvSpPr>
        <p:spPr>
          <a:xfrm>
            <a:off x="760397" y="82458"/>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5" name="Rectangle 34">
            <a:extLst>
              <a:ext uri="{FF2B5EF4-FFF2-40B4-BE49-F238E27FC236}">
                <a16:creationId xmlns:a16="http://schemas.microsoft.com/office/drawing/2014/main" id="{4892771E-45AE-4CCE-89B9-574DC86FD31D}"/>
              </a:ext>
            </a:extLst>
          </p:cNvPr>
          <p:cNvSpPr/>
          <p:nvPr/>
        </p:nvSpPr>
        <p:spPr>
          <a:xfrm>
            <a:off x="1314748" y="82457"/>
            <a:ext cx="440431" cy="485431"/>
          </a:xfrm>
          <a:prstGeom prst="rect">
            <a:avLst/>
          </a:prstGeom>
        </p:spPr>
        <p:style>
          <a:lnRef idx="2">
            <a:schemeClr val="accent1">
              <a:shade val="50000"/>
            </a:schemeClr>
          </a:lnRef>
          <a:fillRef idx="1">
            <a:schemeClr val="lt1"/>
          </a:fillRef>
          <a:effectRef idx="0">
            <a:schemeClr val="accent1"/>
          </a:effectRef>
          <a:fontRef idx="minor">
            <a:schemeClr val="lt1"/>
          </a:fontRef>
        </p:style>
        <p:txBody>
          <a:bodyPr rtlCol="0" anchor="ctr"/>
          <a:lstStyle/>
          <a:p>
            <a:pPr algn="just"/>
            <a:endParaRPr lang="en-US" sz="1600" b="1" dirty="0">
              <a:solidFill>
                <a:srgbClr val="0E7C7B"/>
              </a:solidFill>
              <a:latin typeface="Montserrat" pitchFamily="2" charset="0"/>
            </a:endParaRPr>
          </a:p>
        </p:txBody>
      </p:sp>
      <p:sp>
        <p:nvSpPr>
          <p:cNvPr id="36" name="Rectangle 35">
            <a:extLst>
              <a:ext uri="{FF2B5EF4-FFF2-40B4-BE49-F238E27FC236}">
                <a16:creationId xmlns:a16="http://schemas.microsoft.com/office/drawing/2014/main" id="{9C0BE312-9AF8-4443-B694-2D180EEF85CD}"/>
              </a:ext>
            </a:extLst>
          </p:cNvPr>
          <p:cNvSpPr/>
          <p:nvPr/>
        </p:nvSpPr>
        <p:spPr>
          <a:xfrm>
            <a:off x="1869099" y="76192"/>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sp>
        <p:nvSpPr>
          <p:cNvPr id="38" name="Rectangle 37">
            <a:extLst>
              <a:ext uri="{FF2B5EF4-FFF2-40B4-BE49-F238E27FC236}">
                <a16:creationId xmlns:a16="http://schemas.microsoft.com/office/drawing/2014/main" id="{DCB0E726-43D0-4FE6-A410-392C4A122418}"/>
              </a:ext>
            </a:extLst>
          </p:cNvPr>
          <p:cNvSpPr/>
          <p:nvPr/>
        </p:nvSpPr>
        <p:spPr>
          <a:xfrm>
            <a:off x="2423450" y="82455"/>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39" name="Picture 38">
            <a:extLst>
              <a:ext uri="{FF2B5EF4-FFF2-40B4-BE49-F238E27FC236}">
                <a16:creationId xmlns:a16="http://schemas.microsoft.com/office/drawing/2014/main" id="{D3E18E98-9282-4F49-89ED-9827D92C24F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6258" y="141132"/>
            <a:ext cx="385680" cy="385680"/>
          </a:xfrm>
          <a:prstGeom prst="rect">
            <a:avLst/>
          </a:prstGeom>
        </p:spPr>
      </p:pic>
      <p:pic>
        <p:nvPicPr>
          <p:cNvPr id="40" name="Picture 39">
            <a:extLst>
              <a:ext uri="{FF2B5EF4-FFF2-40B4-BE49-F238E27FC236}">
                <a16:creationId xmlns:a16="http://schemas.microsoft.com/office/drawing/2014/main" id="{45164400-9B0F-437B-845E-44AA5C13B15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07361" y="127561"/>
            <a:ext cx="385680" cy="385680"/>
          </a:xfrm>
          <a:prstGeom prst="rect">
            <a:avLst/>
          </a:prstGeom>
        </p:spPr>
      </p:pic>
      <p:pic>
        <p:nvPicPr>
          <p:cNvPr id="41" name="Picture 40">
            <a:extLst>
              <a:ext uri="{FF2B5EF4-FFF2-40B4-BE49-F238E27FC236}">
                <a16:creationId xmlns:a16="http://schemas.microsoft.com/office/drawing/2014/main" id="{D0C37649-3C2C-4BF5-838A-D8CA8750495C}"/>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342123" y="126067"/>
            <a:ext cx="385680" cy="385680"/>
          </a:xfrm>
          <a:prstGeom prst="rect">
            <a:avLst/>
          </a:prstGeom>
        </p:spPr>
      </p:pic>
      <p:pic>
        <p:nvPicPr>
          <p:cNvPr id="42" name="Picture 41">
            <a:extLst>
              <a:ext uri="{FF2B5EF4-FFF2-40B4-BE49-F238E27FC236}">
                <a16:creationId xmlns:a16="http://schemas.microsoft.com/office/drawing/2014/main" id="{A7E9609D-B823-4BD2-AE08-6BBDBF2058F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901297" y="134166"/>
            <a:ext cx="385680" cy="385680"/>
          </a:xfrm>
          <a:prstGeom prst="rect">
            <a:avLst/>
          </a:prstGeom>
        </p:spPr>
      </p:pic>
      <p:pic>
        <p:nvPicPr>
          <p:cNvPr id="43" name="Picture 42">
            <a:extLst>
              <a:ext uri="{FF2B5EF4-FFF2-40B4-BE49-F238E27FC236}">
                <a16:creationId xmlns:a16="http://schemas.microsoft.com/office/drawing/2014/main" id="{62392A2C-06DD-4378-BD0D-8A3B432ECF9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450825" y="149053"/>
            <a:ext cx="385680" cy="385680"/>
          </a:xfrm>
          <a:prstGeom prst="rect">
            <a:avLst/>
          </a:prstGeom>
        </p:spPr>
      </p:pic>
      <p:sp>
        <p:nvSpPr>
          <p:cNvPr id="44" name="Rectangle 43">
            <a:extLst>
              <a:ext uri="{FF2B5EF4-FFF2-40B4-BE49-F238E27FC236}">
                <a16:creationId xmlns:a16="http://schemas.microsoft.com/office/drawing/2014/main" id="{B8419EA4-0C4C-43EA-B51E-3097C20A9B51}"/>
              </a:ext>
            </a:extLst>
          </p:cNvPr>
          <p:cNvSpPr/>
          <p:nvPr/>
        </p:nvSpPr>
        <p:spPr>
          <a:xfrm>
            <a:off x="3010690" y="91257"/>
            <a:ext cx="440431" cy="4854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45" name="Picture 44">
            <a:extLst>
              <a:ext uri="{FF2B5EF4-FFF2-40B4-BE49-F238E27FC236}">
                <a16:creationId xmlns:a16="http://schemas.microsoft.com/office/drawing/2014/main" id="{34F1DA1E-D1BC-4CA7-AAF0-6CB3987275D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8065" y="157855"/>
            <a:ext cx="385680" cy="385680"/>
          </a:xfrm>
          <a:prstGeom prst="rect">
            <a:avLst/>
          </a:prstGeom>
        </p:spPr>
      </p:pic>
      <p:sp>
        <p:nvSpPr>
          <p:cNvPr id="52" name="Rectangle 51">
            <a:extLst>
              <a:ext uri="{FF2B5EF4-FFF2-40B4-BE49-F238E27FC236}">
                <a16:creationId xmlns:a16="http://schemas.microsoft.com/office/drawing/2014/main" id="{454C3267-017F-4704-8518-859AFBF908F4}"/>
              </a:ext>
            </a:extLst>
          </p:cNvPr>
          <p:cNvSpPr/>
          <p:nvPr/>
        </p:nvSpPr>
        <p:spPr>
          <a:xfrm>
            <a:off x="3597593" y="96241"/>
            <a:ext cx="440431" cy="485431"/>
          </a:xfrm>
          <a:prstGeom prst="rect">
            <a:avLst/>
          </a:prstGeom>
        </p:spPr>
        <p:style>
          <a:lnRef idx="2">
            <a:schemeClr val="accent1"/>
          </a:lnRef>
          <a:fillRef idx="1">
            <a:srgbClr val="0E7C7B"/>
          </a:fillRef>
          <a:effectRef idx="0">
            <a:schemeClr val="accent1"/>
          </a:effectRef>
          <a:fontRef idx="minor">
            <a:schemeClr val="dk1"/>
          </a:fontRef>
        </p:style>
        <p:txBody>
          <a:bodyPr rtlCol="0" anchor="ctr"/>
          <a:lstStyle/>
          <a:p>
            <a:pPr algn="just"/>
            <a:endParaRPr lang="en-US" sz="1600" b="1" dirty="0">
              <a:solidFill>
                <a:srgbClr val="0E7C7B"/>
              </a:solidFill>
              <a:latin typeface="Montserrat" pitchFamily="2" charset="0"/>
            </a:endParaRPr>
          </a:p>
        </p:txBody>
      </p:sp>
      <p:pic>
        <p:nvPicPr>
          <p:cNvPr id="54" name="Picture 53">
            <a:extLst>
              <a:ext uri="{FF2B5EF4-FFF2-40B4-BE49-F238E27FC236}">
                <a16:creationId xmlns:a16="http://schemas.microsoft.com/office/drawing/2014/main" id="{2F3B410F-CF66-4565-9C0A-572E927F0B8F}"/>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3624968" y="162839"/>
            <a:ext cx="385680" cy="385680"/>
          </a:xfrm>
          <a:prstGeom prst="rect">
            <a:avLst/>
          </a:prstGeom>
        </p:spPr>
      </p:pic>
      <p:sp>
        <p:nvSpPr>
          <p:cNvPr id="30" name="Rectangle 29">
            <a:extLst>
              <a:ext uri="{FF2B5EF4-FFF2-40B4-BE49-F238E27FC236}">
                <a16:creationId xmlns:a16="http://schemas.microsoft.com/office/drawing/2014/main" id="{A2CE8C4E-E822-446F-B95C-18DBA902C6F0}"/>
              </a:ext>
            </a:extLst>
          </p:cNvPr>
          <p:cNvSpPr/>
          <p:nvPr/>
        </p:nvSpPr>
        <p:spPr>
          <a:xfrm>
            <a:off x="187760" y="688960"/>
            <a:ext cx="3549662" cy="391619"/>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2000" dirty="0">
                <a:latin typeface="Montserrat" pitchFamily="2" charset="0"/>
                <a:cs typeface="Times New Roman" panose="02020603050405020304" pitchFamily="18" charset="0"/>
              </a:rPr>
              <a:t>References</a:t>
            </a:r>
          </a:p>
        </p:txBody>
      </p:sp>
      <p:sp>
        <p:nvSpPr>
          <p:cNvPr id="31" name="Rectangle 30">
            <a:extLst>
              <a:ext uri="{FF2B5EF4-FFF2-40B4-BE49-F238E27FC236}">
                <a16:creationId xmlns:a16="http://schemas.microsoft.com/office/drawing/2014/main" id="{9309D474-8F76-4EAC-998E-4A0D01DA33A3}"/>
              </a:ext>
            </a:extLst>
          </p:cNvPr>
          <p:cNvSpPr/>
          <p:nvPr/>
        </p:nvSpPr>
        <p:spPr>
          <a:xfrm>
            <a:off x="4434457" y="692327"/>
            <a:ext cx="3549662"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Key sources</a:t>
            </a:r>
          </a:p>
        </p:txBody>
      </p:sp>
      <p:sp>
        <p:nvSpPr>
          <p:cNvPr id="34" name="Rectangle 33">
            <a:extLst>
              <a:ext uri="{FF2B5EF4-FFF2-40B4-BE49-F238E27FC236}">
                <a16:creationId xmlns:a16="http://schemas.microsoft.com/office/drawing/2014/main" id="{B9661C1F-3072-4037-80D3-89469FB49903}"/>
              </a:ext>
            </a:extLst>
          </p:cNvPr>
          <p:cNvSpPr/>
          <p:nvPr/>
        </p:nvSpPr>
        <p:spPr>
          <a:xfrm>
            <a:off x="8546053" y="692327"/>
            <a:ext cx="3549663" cy="384884"/>
          </a:xfrm>
          <a:prstGeom prst="rect">
            <a:avLst/>
          </a:prstGeom>
        </p:spPr>
        <p:style>
          <a:lnRef idx="2">
            <a:schemeClr val="accent1"/>
          </a:lnRef>
          <a:fillRef idx="1">
            <a:schemeClr val="lt1"/>
          </a:fillRef>
          <a:effectRef idx="0">
            <a:schemeClr val="accent1"/>
          </a:effectRef>
          <a:fontRef idx="minor">
            <a:schemeClr val="dk1"/>
          </a:fontRef>
        </p:style>
        <p:txBody>
          <a:bodyPr rtlCol="0" anchor="ctr" wrap="square"/>
          <a:lstStyle/>
          <a:p>
            <a:r>
              <a:rPr lang="en-US" sz="2000" dirty="0">
                <a:latin typeface="Montserrat" pitchFamily="2" charset="0"/>
                <a:cs typeface="Times New Roman" panose="02020603050405020304" pitchFamily="18" charset="0"/>
              </a:rPr>
              <a:t>Citations</a:t>
            </a:r>
          </a:p>
        </p:txBody>
      </p:sp>
      <p:sp>
        <p:nvSpPr>
          <p:cNvPr id="55" name="TextBox 54"/>
          <p:cNvSpPr txBox="1"/>
          <p:nvPr/>
        </p:nvSpPr>
        <p:spPr>
          <a:xfrm>
            <a:off x="365760" y="1737360"/>
            <a:ext cx="11521440" cy="4297680"/>
          </a:xfrm>
          <a:prstGeom prst="rect">
            <a:avLst/>
          </a:prstGeom>
          <a:noFill/>
        </p:spPr>
        <p:txBody>
          <a:bodyPr wrap="square" anchor="t" lIns="0" rIns="0" tIns="0" bIns="0">
            <a:spAutoFit/>
          </a:bodyPr>
          <a:lstStyle/>
          <a:p>
            <a:pPr>
              <a:lnSpc>
                <a:spcPct val="105000"/>
              </a:lnSpc>
              <a:spcAft>
                <a:spcPts val="900"/>
              </a:spcAft>
            </a:pPr>
            <a:r>
              <a:rPr sz="1500">
                <a:solidFill>
                  <a:srgbClr val="0E7C7B"/>
                </a:solidFill>
                <a:latin typeface="Wingdings"/>
              </a:rPr>
              <a:t>§  </a:t>
            </a:r>
            <a:r>
              <a:rPr sz="1500" b="0">
                <a:solidFill>
                  <a:srgbClr val="2F3B49"/>
                </a:solidFill>
                <a:latin typeface="Montserrat"/>
              </a:rPr>
              <a:t>[R1] Louhichi, M. &amp; Lazaar, M. Shapley Values for Explaining the Black Box Nature of ML Model Clustering. Procedia Computer Science 220, 806–811 (2023).</a:t>
            </a:r>
          </a:p>
          <a:p>
            <a:pPr>
              <a:lnSpc>
                <a:spcPct val="105000"/>
              </a:lnSpc>
              <a:spcAft>
                <a:spcPts val="900"/>
              </a:spcAft>
            </a:pPr>
            <a:r>
              <a:rPr sz="1500">
                <a:solidFill>
                  <a:srgbClr val="0E7C7B"/>
                </a:solidFill>
                <a:latin typeface="Wingdings"/>
              </a:rPr>
              <a:t>§  </a:t>
            </a:r>
            <a:r>
              <a:rPr sz="1500" b="0">
                <a:solidFill>
                  <a:srgbClr val="2F3B49"/>
                </a:solidFill>
                <a:latin typeface="Montserrat"/>
              </a:rPr>
              <a:t>[R2] Louhichi, M. &amp; Lazaar, M. Game Theory Meets Explainable AI: An Enhanced Approach to Understanding Black Box Models Through Shapley Values. IJACSA 16(7), 716–725 (2025).</a:t>
            </a:r>
          </a:p>
          <a:p>
            <a:pPr>
              <a:lnSpc>
                <a:spcPct val="105000"/>
              </a:lnSpc>
              <a:spcAft>
                <a:spcPts val="900"/>
              </a:spcAft>
            </a:pPr>
            <a:r>
              <a:rPr sz="1500">
                <a:solidFill>
                  <a:srgbClr val="0E7C7B"/>
                </a:solidFill>
                <a:latin typeface="Wingdings"/>
              </a:rPr>
              <a:t>§  </a:t>
            </a:r>
            <a:r>
              <a:rPr sz="1500" b="0">
                <a:solidFill>
                  <a:srgbClr val="2F3B49"/>
                </a:solidFill>
                <a:latin typeface="Montserrat"/>
              </a:rPr>
              <a:t>[R3] Louhichi, M. &amp; Lazaar, M. DyHuCoG: A Dynamic Hypergraph Cooperative Game for Preference-aware Recommendation. IJIES 19(2), 887–902 (2026).</a:t>
            </a:r>
          </a:p>
          <a:p>
            <a:pPr>
              <a:lnSpc>
                <a:spcPct val="105000"/>
              </a:lnSpc>
              <a:spcAft>
                <a:spcPts val="900"/>
              </a:spcAft>
            </a:pPr>
            <a:r>
              <a:rPr sz="1500">
                <a:solidFill>
                  <a:srgbClr val="0E7C7B"/>
                </a:solidFill>
                <a:latin typeface="Wingdings"/>
              </a:rPr>
              <a:t>§  </a:t>
            </a:r>
            <a:r>
              <a:rPr sz="1500" b="0">
                <a:solidFill>
                  <a:srgbClr val="2F3B49"/>
                </a:solidFill>
                <a:latin typeface="Montserrat"/>
              </a:rPr>
              <a:t>[R4] Lundberg, S.M. &amp; Lee, S.-I. A Unified Approach to Interpreting Model Predictions (SHAP). NeurIPS 30, 4765–4774 (2017).</a:t>
            </a:r>
          </a:p>
          <a:p>
            <a:pPr>
              <a:lnSpc>
                <a:spcPct val="105000"/>
              </a:lnSpc>
              <a:spcAft>
                <a:spcPts val="900"/>
              </a:spcAft>
            </a:pPr>
            <a:r>
              <a:rPr sz="1500">
                <a:solidFill>
                  <a:srgbClr val="0E7C7B"/>
                </a:solidFill>
                <a:latin typeface="Wingdings"/>
              </a:rPr>
              <a:t>§  </a:t>
            </a:r>
            <a:r>
              <a:rPr sz="1500" b="0">
                <a:solidFill>
                  <a:srgbClr val="2F3B49"/>
                </a:solidFill>
                <a:latin typeface="Montserrat"/>
              </a:rPr>
              <a:t>[R5] Lundberg, S.M. et al. Consistent Individualized Feature Attribution for Tree Ensembles. KDD 2018, 2713–2723 (2018).</a:t>
            </a:r>
          </a:p>
          <a:p>
            <a:pPr>
              <a:lnSpc>
                <a:spcPct val="105000"/>
              </a:lnSpc>
              <a:spcAft>
                <a:spcPts val="900"/>
              </a:spcAft>
            </a:pPr>
            <a:r>
              <a:rPr sz="1500">
                <a:solidFill>
                  <a:srgbClr val="0E7C7B"/>
                </a:solidFill>
                <a:latin typeface="Wingdings"/>
              </a:rPr>
              <a:t>§  </a:t>
            </a:r>
            <a:r>
              <a:rPr sz="1500" b="0">
                <a:solidFill>
                  <a:srgbClr val="2F3B49"/>
                </a:solidFill>
                <a:latin typeface="Montserrat"/>
              </a:rPr>
              <a:t>[R6] Shapley, L.S. A Value for n-Person Games. Contributions to the Theory of Games II, 307–317 (1953).</a:t>
            </a:r>
          </a:p>
          <a:p>
            <a:pPr>
              <a:lnSpc>
                <a:spcPct val="105000"/>
              </a:lnSpc>
              <a:spcAft>
                <a:spcPts val="900"/>
              </a:spcAft>
            </a:pPr>
            <a:r>
              <a:rPr sz="1500">
                <a:solidFill>
                  <a:srgbClr val="0E7C7B"/>
                </a:solidFill>
                <a:latin typeface="Wingdings"/>
              </a:rPr>
              <a:t>§  </a:t>
            </a:r>
            <a:r>
              <a:rPr sz="1500" b="0">
                <a:solidFill>
                  <a:srgbClr val="2F3B49"/>
                </a:solidFill>
                <a:latin typeface="Montserrat"/>
              </a:rPr>
              <a:t>[R7] Gramegna, A. &amp; Giudici, P. SHAP-based Clustering Explanations. Stats 4(4), 938–959 (2021).</a:t>
            </a:r>
          </a:p>
          <a:p>
            <a:pPr>
              <a:lnSpc>
                <a:spcPct val="105000"/>
              </a:lnSpc>
              <a:spcAft>
                <a:spcPts val="900"/>
              </a:spcAft>
            </a:pPr>
            <a:r>
              <a:rPr sz="1500">
                <a:solidFill>
                  <a:srgbClr val="0E7C7B"/>
                </a:solidFill>
                <a:latin typeface="Wingdings"/>
              </a:rPr>
              <a:t>§  </a:t>
            </a:r>
            <a:r>
              <a:rPr sz="1500" b="0">
                <a:solidFill>
                  <a:srgbClr val="2F3B49"/>
                </a:solidFill>
                <a:latin typeface="Montserrat"/>
              </a:rPr>
              <a:t>[R8] Wang, X. et al. Hypergraph Learning: Methods and Practices. IEEE TPAMI 44(5), 2543–2563 (2022).</a:t>
            </a:r>
          </a:p>
          <a:p>
            <a:pPr>
              <a:lnSpc>
                <a:spcPct val="105000"/>
              </a:lnSpc>
              <a:spcAft>
                <a:spcPts val="900"/>
              </a:spcAft>
            </a:pPr>
            <a:r>
              <a:rPr sz="1500">
                <a:solidFill>
                  <a:srgbClr val="0E7C7B"/>
                </a:solidFill>
                <a:latin typeface="Wingdings"/>
              </a:rPr>
              <a:t>§  </a:t>
            </a:r>
            <a:r>
              <a:rPr sz="1500" b="0">
                <a:solidFill>
                  <a:srgbClr val="2F3B49"/>
                </a:solidFill>
                <a:latin typeface="Montserrat"/>
              </a:rPr>
              <a:t>[R9] European Commission. Proposal for a Regulation on Artificial Intelligence (EU AI Act). COM(2021) 206 final (2021).</a:t>
            </a:r>
          </a:p>
        </p:txBody>
      </p:sp>
      <p:pic>
        <p:nvPicPr>
          <p:cNvPr id="56" name="Picture 55" descr="image.png"/>
          <p:cNvPicPr>
            <a:picLocks noChangeAspect="1"/>
          </p:cNvPicPr>
          <p:nvPr/>
        </p:nvPicPr>
        <p:blipFill>
          <a:blip r:embed="rId13"/>
          <a:stretch>
            <a:fillRect/>
          </a:stretch>
        </p:blipFill>
        <p:spPr>
          <a:xfrm>
            <a:off x="11431828" y="6400800"/>
            <a:ext cx="384048" cy="384048"/>
          </a:xfrm>
          <a:prstGeom prst="rect">
            <a:avLst/>
          </a:prstGeom>
        </p:spPr>
      </p:pic>
      <p:pic>
        <p:nvPicPr>
          <p:cNvPr id="57" name="Picture 56" descr="image.png"/>
          <p:cNvPicPr>
            <a:picLocks noChangeAspect="1"/>
          </p:cNvPicPr>
          <p:nvPr/>
        </p:nvPicPr>
        <p:blipFill>
          <a:blip r:embed="rId15"/>
          <a:stretch>
            <a:fillRect/>
          </a:stretch>
        </p:blipFill>
        <p:spPr>
          <a:xfrm>
            <a:off x="11709806" y="6400800"/>
            <a:ext cx="384048" cy="384048"/>
          </a:xfrm>
          <a:prstGeom prst="rect">
            <a:avLst/>
          </a:prstGeom>
        </p:spPr>
      </p:pic>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a:extLst>
              <a:ext uri="{FF2B5EF4-FFF2-40B4-BE49-F238E27FC236}">
                <a16:creationId xmlns:a16="http://schemas.microsoft.com/office/drawing/2014/main" id="{FC71851D-B3D2-40B2-BF0E-F3A741CF4A25}"/>
              </a:ext>
            </a:extLst>
          </p:cNvPr>
          <p:cNvSpPr/>
          <p:nvPr/>
        </p:nvSpPr>
        <p:spPr>
          <a:xfrm>
            <a:off x="760397" y="6326321"/>
            <a:ext cx="11431603" cy="52322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wrap="square"/>
          <a:lstStyle/>
          <a:p>
            <a:r>
              <a:rPr lang="en-US" sz="1200" dirty="0">
                <a:latin typeface="Montserrat" pitchFamily="2" charset="0"/>
                <a:cs typeface="Times New Roman" panose="02020603050405020304" pitchFamily="18" charset="0"/>
              </a:rPr>
              <a:t>PhD Viva – Mouad LOUHICHI – Cooperative Game Theory &amp; Shapley for XAI in Recommendation Systems</a:t>
            </a:r>
          </a:p>
        </p:txBody>
      </p:sp>
      <p:pic>
        <p:nvPicPr>
          <p:cNvPr id="3" name="Picture 2">
            <a:extLst>
              <a:ext uri="{FF2B5EF4-FFF2-40B4-BE49-F238E27FC236}">
                <a16:creationId xmlns:a16="http://schemas.microsoft.com/office/drawing/2014/main" id="{0A073962-83AC-48A2-961D-3326B33D7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 y="6400800"/>
            <a:ext cx="440430" cy="374262"/>
          </a:xfrm>
          <a:prstGeom prst="rect">
            <a:avLst/>
          </a:prstGeom>
        </p:spPr>
      </p:pic>
      <p:sp>
        <p:nvSpPr>
          <p:cNvPr id="28" name="Rectangle 27">
            <a:extLst>
              <a:ext uri="{FF2B5EF4-FFF2-40B4-BE49-F238E27FC236}">
                <a16:creationId xmlns:a16="http://schemas.microsoft.com/office/drawing/2014/main" id="{9ED3DE66-EA75-4A44-95A7-C4F7001685B8}"/>
              </a:ext>
            </a:extLst>
          </p:cNvPr>
          <p:cNvSpPr/>
          <p:nvPr/>
        </p:nvSpPr>
        <p:spPr>
          <a:xfrm>
            <a:off x="874264" y="2044758"/>
            <a:ext cx="10406543" cy="2998880"/>
          </a:xfrm>
          <a:prstGeom prst="rect">
            <a:avLst/>
          </a:prstGeom>
        </p:spPr>
        <p:style>
          <a:lnRef idx="2">
            <a:schemeClr val="accent1">
              <a:shade val="50000"/>
            </a:schemeClr>
          </a:lnRef>
          <a:fillRef idx="1">
            <a:srgbClr val="0E7C7B"/>
          </a:fillRef>
          <a:effectRef idx="0">
            <a:schemeClr val="accent1"/>
          </a:effectRef>
          <a:fontRef idx="minor">
            <a:schemeClr val="lt1"/>
          </a:fontRef>
        </p:style>
        <p:txBody>
          <a:bodyPr rtlCol="0" anchor="ctr"/>
          <a:lstStyle/>
          <a:p>
            <a:pPr algn="ctr"/>
            <a:r>
              <a:rPr lang="en-US" sz="3600" dirty="0">
                <a:solidFill>
                  <a:schemeClr val="bg1"/>
                </a:solidFill>
                <a:latin typeface="Montserrat Medium" pitchFamily="50" charset="0"/>
              </a:rPr>
              <a:t>Questions &amp; Discussion</a:t>
            </a:r>
          </a:p>
          <a:p>
            <a:pPr algn="ctr"/>
            <a:r>
              <a:rPr lang="en-US" sz="2400" dirty="0">
                <a:solidFill>
                  <a:schemeClr val="bg1"/>
                </a:solidFill>
                <a:latin typeface="Montserrat" pitchFamily="2" charset="0"/>
              </a:rPr>
              <a:t>Thank you for your attention.</a:t>
            </a:r>
          </a:p>
          <a:p>
            <a:pPr algn="ctr"/>
            <a:r>
              <a:rPr lang="en-US" sz="2400" b="1" dirty="0">
                <a:solidFill>
                  <a:schemeClr val="bg1"/>
                </a:solidFill>
                <a:latin typeface="Montserrat" pitchFamily="2" charset="0"/>
              </a:rPr>
              <a:t>I welcome your questions and comments.</a:t>
            </a:r>
            <a:br>
              <a:rPr lang="en-US" sz="2400" dirty="0">
                <a:solidFill>
                  <a:schemeClr val="bg1"/>
                </a:solidFill>
              </a:rPr>
            </a:br>
            <a:endParaRPr lang="en-US" sz="2400" b="1" dirty="0">
              <a:solidFill>
                <a:schemeClr val="tx1"/>
              </a:solidFill>
              <a:latin typeface="Montserrat" pitchFamily="2" charset="0"/>
            </a:endParaRPr>
          </a:p>
        </p:txBody>
      </p:sp>
      <p:pic>
        <p:nvPicPr>
          <p:cNvPr id="29" name="Picture 28" descr="image.png"/>
          <p:cNvPicPr>
            <a:picLocks noChangeAspect="1"/>
          </p:cNvPicPr>
          <p:nvPr/>
        </p:nvPicPr>
        <p:blipFill>
          <a:blip r:embed="rId4"/>
          <a:stretch>
            <a:fillRect/>
          </a:stretch>
        </p:blipFill>
        <p:spPr>
          <a:xfrm>
            <a:off x="11431828" y="6400800"/>
            <a:ext cx="384048" cy="384048"/>
          </a:xfrm>
          <a:prstGeom prst="rect">
            <a:avLst/>
          </a:prstGeom>
        </p:spPr>
      </p:pic>
      <p:pic>
        <p:nvPicPr>
          <p:cNvPr id="30" name="Picture 29" descr="image.png"/>
          <p:cNvPicPr>
            <a:picLocks noChangeAspect="1"/>
          </p:cNvPicPr>
          <p:nvPr/>
        </p:nvPicPr>
        <p:blipFill>
          <a:blip r:embed="rId6"/>
          <a:stretch>
            <a:fillRect/>
          </a:stretch>
        </p:blipFill>
        <p:spPr>
          <a:xfrm>
            <a:off x="11709806" y="6400800"/>
            <a:ext cx="384048" cy="38404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4373</TotalTime>
  <Words>11871</Words>
  <Application>Microsoft Office PowerPoint</Application>
  <PresentationFormat>Widescreen</PresentationFormat>
  <Paragraphs>1718</Paragraphs>
  <Slides>80</Slides>
  <Notes>79</Notes>
  <HiddenSlides>3</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80</vt:i4>
      </vt:variant>
    </vt:vector>
  </HeadingPairs>
  <TitlesOfParts>
    <vt:vector size="90" baseType="lpstr">
      <vt:lpstr>Agency FB</vt:lpstr>
      <vt:lpstr>Arial</vt:lpstr>
      <vt:lpstr>Calibri</vt:lpstr>
      <vt:lpstr>Calibri Light</vt:lpstr>
      <vt:lpstr>Cambria Math</vt:lpstr>
      <vt:lpstr>Consolas</vt:lpstr>
      <vt:lpstr>Montserrat</vt:lpstr>
      <vt:lpstr>Montserrat Medium</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Redwane Nesmaoui</dc:creator>
  <cp:lastModifiedBy>hp</cp:lastModifiedBy>
  <cp:revision>138</cp:revision>
  <dcterms:created xsi:type="dcterms:W3CDTF">2026-07-12T13:29:11Z</dcterms:created>
  <dcterms:modified xsi:type="dcterms:W3CDTF">2026-07-24T19:05:45Z</dcterms:modified>
</cp:coreProperties>
</file>