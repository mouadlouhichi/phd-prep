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C1 answers RQ1 in the affirmative: Shapley values can explain black-box clustering faithfully, provided the surrogate is high-fidelity, and coherently at cluster level. It anchors cluster-level explanation to individual feature contributions, it returns explanations to the original variables, and it offers a theoretically grounded argument for Shapley over LIME. But I want to be clear about the scope and limits.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That limitation is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with bounds. Shapley-based clustering explanation can scale to hierarchical, large-scale settings without losing interpretive coherence, provided the hierarchy is modelled explicitly and the approximation is transparent. We achieved a scalable, multi-granular explanation that does not collapse into a single flat summary; a formal cross-level consistency argument in Proposition 6.1; and validation on a structurally different large-scale dataset. The limitations are equally clear: the clustering remains static even though the Beijing data are temporal; the surrogate-based SHAP plus representative-instance reporting compresses observation-level variation; and the whole approach is confined to tabular data. The most important limit, and the bridge to C3, is that the model is still an explanation of a pre-computed partition; it does not yet influence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evidence is that ranking, coverage and diversity improve together, with the largest gains on the sparsest data, and that the improvement is statistically large. The limitations must be stated honestly: measurable computational overhead, roughly one point seven eight times training time; dependence on meaningful context; Monte Carlo Shapley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1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3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38.xml"/></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333F50"/>
                          </a:solidFill>
                          <a:latin typeface="Montserrat"/>
                        </a:rPr>
                        <a:t>President</a:t>
                      </a:r>
                    </a:p>
                  </a:txBody>
                  <a:tcPr/>
                </a:tc>
                <a:tc>
                  <a:txBody>
                    <a:bodyPr/>
                    <a:lstStyle/>
                    <a:p>
                      <a:pPr algn="l"/>
                      <a:r>
                        <a:rPr sz="1000" b="0">
                          <a:solidFill>
                            <a:srgbClr val="333F50"/>
                          </a:solidFill>
                          <a:latin typeface="Montserrat"/>
                        </a:rPr>
                        <a:t>[President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1F2A44"/>
                          </a:solidFill>
                          <a:latin typeface="Montserrat"/>
                        </a:rPr>
                        <a:t>Supervisor</a:t>
                      </a:r>
                    </a:p>
                  </a:txBody>
                  <a:tcPr/>
                </a:tc>
                <a:tc>
                  <a:txBody>
                    <a:bodyPr/>
                    <a:lstStyle/>
                    <a:p>
                      <a:pPr algn="l"/>
                      <a:r>
                        <a:rPr sz="1000" b="0">
                          <a:solidFill>
                            <a:srgbClr val="1F2A44"/>
                          </a:solidFill>
                          <a:latin typeface="Montserrat"/>
                        </a:rPr>
                        <a:t>Pr. Mohamed LAZAAR</a:t>
                      </a:r>
                    </a:p>
                  </a:txBody>
                  <a:tcPr/>
                </a:tc>
                <a:tc>
                  <a:txBody>
                    <a:bodyPr/>
                    <a:lstStyle/>
                    <a:p>
                      <a:pPr algn="ctr"/>
                      <a:r>
                        <a:rPr sz="1000" b="0">
                          <a:solidFill>
                            <a:srgbClr val="1F2A44"/>
                          </a:solidFill>
                          <a:latin typeface="Montserrat"/>
                        </a:rPr>
                        <a:t>PES</a:t>
                      </a:r>
                    </a:p>
                  </a:txBody>
                  <a:tcPr/>
                </a:tc>
                <a:tc>
                  <a:txBody>
                    <a:bodyPr/>
                    <a:lstStyle/>
                    <a:p>
                      <a:pPr algn="ctr"/>
                      <a:r>
                        <a:rPr sz="1000" b="0">
                          <a:solidFill>
                            <a:srgbClr val="1F2A44"/>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333F50"/>
                          </a:solidFill>
                          <a:latin typeface="Montserrat"/>
                        </a:rPr>
                        <a:t>Guest</a:t>
                      </a:r>
                    </a:p>
                  </a:txBody>
                  <a:tcPr/>
                </a:tc>
                <a:tc>
                  <a:txBody>
                    <a:bodyPr/>
                    <a:lstStyle/>
                    <a:p>
                      <a:pPr algn="l"/>
                      <a:r>
                        <a:rPr sz="1000" b="0">
                          <a:solidFill>
                            <a:srgbClr val="333F50"/>
                          </a:solidFill>
                          <a:latin typeface="Montserrat"/>
                        </a:rPr>
                        <a:t>[Guest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900" b="1" dirty="0">
                <a:solidFill>
                  <a:schemeClr val="tx1"/>
                </a:solidFill>
                <a:latin typeface="Montserrat Medium" pitchFamily="50" charset="0"/>
              </a:rPr>
              <a:t>Conclusion &amp; Perspectives</a:t>
            </a:r>
          </a:p>
          <a:p>
            <a:pPr algn="l"/>
            <a:r>
              <a:rPr lang="en-US" sz="1900" b="1" dirty="0">
                <a:solidFill>
                  <a:schemeClr val="tx1"/>
                </a:solidFill>
                <a:latin typeface="Montserrat Medium" pitchFamily="50" charset="0"/>
              </a:rPr>
              <a:t>Summary</a:t>
            </a:r>
          </a:p>
          <a:p>
            <a:pPr algn="l"/>
            <a:r>
              <a:rPr lang="en-US" sz="1900" b="1" dirty="0">
                <a:solidFill>
                  <a:schemeClr val="tx1"/>
                </a:solidFill>
                <a:latin typeface="Montserrat Medium" pitchFamily="50" charset="0"/>
              </a:rPr>
              <a:t>Limitations</a:t>
            </a:r>
          </a:p>
          <a:p>
            <a:pPr algn="l"/>
            <a:r>
              <a:rPr lang="en-US" sz="1900" b="1" dirty="0">
                <a:solidFill>
                  <a:schemeClr val="tx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900" b="1" dirty="0">
                <a:solidFill>
                  <a:schemeClr val="tx1"/>
                </a:solidFill>
                <a:latin typeface="Montserrat Medium" pitchFamily="50" charset="0"/>
              </a:rPr>
              <a:t>Contributions</a:t>
            </a:r>
          </a:p>
          <a:p>
            <a:pPr algn="l"/>
            <a:r>
              <a:rPr lang="en-US" sz="1900" b="1" dirty="0">
                <a:solidFill>
                  <a:schemeClr val="tx1"/>
                </a:solidFill>
                <a:latin typeface="Montserrat Medium" pitchFamily="50" charset="0"/>
              </a:rPr>
              <a:t>C1 Explainable clustering</a:t>
            </a:r>
          </a:p>
          <a:p>
            <a:pPr algn="l"/>
            <a:r>
              <a:rPr lang="en-US" sz="1900" b="1" dirty="0">
                <a:solidFill>
                  <a:schemeClr val="tx1"/>
                </a:solidFill>
                <a:latin typeface="Montserrat Medium" pitchFamily="50" charset="0"/>
              </a:rPr>
              <a:t>C2 Multi-level XAI</a:t>
            </a:r>
          </a:p>
          <a:p>
            <a:pPr algn="l"/>
            <a:r>
              <a:rPr lang="en-US" sz="1900" b="1" dirty="0">
                <a:solidFill>
                  <a:schemeClr val="tx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900" b="1" dirty="0">
                <a:solidFill>
                  <a:schemeClr val="tx1"/>
                </a:solidFill>
                <a:latin typeface="Montserrat Medium" pitchFamily="50" charset="0"/>
              </a:rPr>
              <a:t>Protocols</a:t>
            </a:r>
          </a:p>
          <a:p>
            <a:pPr algn="l"/>
            <a:r>
              <a:rPr lang="en-US" sz="1900" b="1" dirty="0">
                <a:solidFill>
                  <a:schemeClr val="tx1"/>
                </a:solidFill>
                <a:latin typeface="Montserrat Medium" pitchFamily="50" charset="0"/>
              </a:rPr>
              <a:t>Datasets</a:t>
            </a:r>
          </a:p>
          <a:p>
            <a:pPr algn="l"/>
            <a:r>
              <a:rPr lang="en-US" sz="1900" b="1" dirty="0">
                <a:solidFill>
                  <a:schemeClr val="tx1"/>
                </a:solidFill>
                <a:latin typeface="Montserrat Medium" pitchFamily="50" charset="0"/>
              </a:rPr>
              <a:t>Baselines</a:t>
            </a:r>
          </a:p>
          <a:p>
            <a:pPr algn="l"/>
            <a:r>
              <a:rPr lang="en-US" sz="1900" b="1" dirty="0">
                <a:solidFill>
                  <a:schemeClr val="tx1"/>
                </a:solidFill>
                <a:latin typeface="Montserrat Medium" pitchFamily="50" charset="0"/>
              </a:rPr>
              <a:t>Metrics</a:t>
            </a:r>
          </a:p>
          <a:p>
            <a:pPr algn="l"/>
            <a:r>
              <a:rPr lang="en-US" sz="1900" b="1" dirty="0">
                <a:solidFill>
                  <a:schemeClr val="tx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900" b="1" dirty="0">
                <a:solidFill>
                  <a:schemeClr val="tx1"/>
                </a:solidFill>
                <a:latin typeface="Montserrat Medium" pitchFamily="50" charset="0"/>
              </a:rPr>
              <a:t>Context &amp; Problematic</a:t>
            </a:r>
          </a:p>
          <a:p>
            <a:pPr algn="l"/>
            <a:r>
              <a:rPr lang="en-US" sz="1900" b="1" dirty="0">
                <a:solidFill>
                  <a:schemeClr val="tx1"/>
                </a:solidFill>
                <a:latin typeface="Montserrat Medium" pitchFamily="50" charset="0"/>
              </a:rPr>
              <a:t>Limitations</a:t>
            </a:r>
          </a:p>
          <a:p>
            <a:pPr algn="l"/>
            <a:r>
              <a:rPr lang="en-US" sz="1900" b="1" dirty="0">
                <a:solidFill>
                  <a:schemeClr val="tx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900" b="1" dirty="0">
                <a:solidFill>
                  <a:schemeClr val="tx1"/>
                </a:solidFill>
                <a:latin typeface="Montserrat Medium" pitchFamily="50" charset="0"/>
              </a:rPr>
              <a:t>Introduction</a:t>
            </a:r>
          </a:p>
          <a:p>
            <a:pPr algn="l"/>
            <a:r>
              <a:rPr lang="en-US" sz="1900" b="1" dirty="0">
                <a:solidFill>
                  <a:schemeClr val="tx1"/>
                </a:solidFill>
                <a:latin typeface="Montserrat Medium" pitchFamily="50" charset="0"/>
              </a:rPr>
              <a:t>Motivation</a:t>
            </a:r>
          </a:p>
          <a:p>
            <a:pPr algn="l"/>
            <a:r>
              <a:rPr lang="en-US" sz="1900" b="1" dirty="0">
                <a:solidFill>
                  <a:schemeClr val="tx1"/>
                </a:solidFill>
                <a:latin typeface="Montserrat Medium" pitchFamily="50" charset="0"/>
              </a:rPr>
              <a:t>Actionable insight</a:t>
            </a:r>
          </a:p>
          <a:p>
            <a:pPr algn="l"/>
            <a:r>
              <a:rPr lang="en-US" sz="1900" b="1" dirty="0">
                <a:solidFill>
                  <a:schemeClr val="tx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9" name="Picture 48">
            <a:extLst>
              <a:ext uri="{FF2B5EF4-FFF2-40B4-BE49-F238E27FC236}">
                <a16:creationId xmlns:a16="http://schemas.microsoft.com/office/drawing/2014/main" id="{52CE41B6-D6E1-4421-9EA6-0C816142904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8" name="Picture 7">
            <a:extLst>
              <a:ext uri="{FF2B5EF4-FFF2-40B4-BE49-F238E27FC236}">
                <a16:creationId xmlns:a16="http://schemas.microsoft.com/office/drawing/2014/main" id="{164DD2AA-5AF2-4791-BD22-7CD31AD4A6D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Central Question</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General Context</a:t>
            </a:r>
          </a:p>
        </p:txBody>
      </p:sp>
      <p:pic>
        <p:nvPicPr>
          <p:cNvPr id="26" name="Picture 25">
            <a:extLst>
              <a:ext uri="{FF2B5EF4-FFF2-40B4-BE49-F238E27FC236}">
                <a16:creationId xmlns:a16="http://schemas.microsoft.com/office/drawing/2014/main" id="{27A6BE97-AC51-426A-A0DB-4F8EAC24B22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4472C4"/>
                </a:solidFill>
                <a:latin typeface="Montserrat Medium"/>
              </a:rPr>
              <a:t>Core tension: as models gain expressive power, they lose the transparency needed for trustworthy deployment.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Definition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Definition 1.1 (Actionable insight)</a:t>
            </a:r>
          </a:p>
          <a:p>
            <a:pPr lvl="1">
              <a:lnSpc>
                <a:spcPct val="105000"/>
              </a:lnSpc>
              <a:spcAft>
                <a:spcPts val="600"/>
              </a:spcAft>
            </a:pPr>
            <a:r>
              <a:rPr sz="1600">
                <a:solidFill>
                  <a:srgbClr val="4472C4"/>
                </a:solidFill>
                <a:latin typeface="Montserrat"/>
              </a:rPr>
              <a:t>–  </a:t>
            </a:r>
            <a:r>
              <a:rPr sz="1600" b="0">
                <a:solidFill>
                  <a:srgbClr val="333F50"/>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4472C4"/>
                </a:solidFill>
                <a:latin typeface="Montserrat"/>
              </a:rPr>
              <a:t>–  </a:t>
            </a:r>
            <a:r>
              <a:rPr sz="1600" b="0">
                <a:solidFill>
                  <a:srgbClr val="333F50"/>
                </a:solidFill>
                <a:latin typeface="Montserrat"/>
              </a:rPr>
              <a:t>… and that factor is expressible in the semantic vocabulary of the task domain.</a:t>
            </a:r>
          </a:p>
          <a:p>
            <a:pPr>
              <a:lnSpc>
                <a:spcPct val="105000"/>
              </a:lnSpc>
              <a:spcAft>
                <a:spcPts val="900"/>
              </a:spcAft>
            </a:pPr>
            <a:r>
              <a:rPr sz="1700">
                <a:solidFill>
                  <a:srgbClr val="4472C4"/>
                </a:solidFill>
                <a:latin typeface="Wingdings"/>
              </a:rPr>
              <a:t>§  </a:t>
            </a:r>
            <a:r>
              <a:rPr sz="1700" b="0">
                <a:solidFill>
                  <a:srgbClr val="333F50"/>
                </a:solidFill>
                <a:latin typeface="Montserrat"/>
              </a:rPr>
              <a:t>Accessibility means the domain's own terms:</a:t>
            </a:r>
          </a:p>
          <a:p>
            <a:pPr lvl="1">
              <a:lnSpc>
                <a:spcPct val="105000"/>
              </a:lnSpc>
              <a:spcAft>
                <a:spcPts val="600"/>
              </a:spcAft>
            </a:pPr>
            <a:r>
              <a:rPr sz="1600">
                <a:solidFill>
                  <a:srgbClr val="4472C4"/>
                </a:solidFill>
                <a:latin typeface="Montserrat"/>
              </a:rPr>
              <a:t>–  </a:t>
            </a:r>
            <a:r>
              <a:rPr sz="1600" b="0">
                <a:solidFill>
                  <a:srgbClr val="333F50"/>
                </a:solidFill>
                <a:latin typeface="Montserrat"/>
              </a:rPr>
              <a:t>a physicochemical variable (wine), a pollution indicator (air quality), or a preference signal (recommendation).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not an opaque latent code.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Why: an explanation that identifies a modifiable driver supports intervention, not merely description.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Overview</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Evolution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4472C4"/>
                </a:solidFill>
                <a:latin typeface="Montserrat"/>
              </a:rPr>
              <a:t>–  </a:t>
            </a:r>
            <a:r>
              <a:rPr sz="1600" b="0">
                <a:solidFill>
                  <a:srgbClr val="333F50"/>
                </a:solidFill>
                <a:latin typeface="Montserrat"/>
              </a:rPr>
              <a:t>→ MF → neural CF → graph CNNs → hypergraph: each step improved ranking but intensified the interpretability deficit.</a:t>
            </a:r>
          </a:p>
          <a:p>
            <a:pPr>
              <a:lnSpc>
                <a:spcPct val="105000"/>
              </a:lnSpc>
              <a:spcAft>
                <a:spcPts val="900"/>
              </a:spcAft>
            </a:pPr>
            <a:r>
              <a:rPr sz="1700">
                <a:solidFill>
                  <a:srgbClr val="4472C4"/>
                </a:solidFill>
                <a:latin typeface="Wingdings"/>
              </a:rPr>
              <a:t>§  </a:t>
            </a:r>
            <a:r>
              <a:rPr sz="1700" b="0">
                <a:solidFill>
                  <a:srgbClr val="333F50"/>
                </a:solidFill>
                <a:latin typeface="Montserrat"/>
              </a:rPr>
              <a:t>Why the deficit matters:</a:t>
            </a:r>
          </a:p>
          <a:p>
            <a:pPr lvl="1">
              <a:lnSpc>
                <a:spcPct val="105000"/>
              </a:lnSpc>
              <a:spcAft>
                <a:spcPts val="600"/>
              </a:spcAft>
            </a:pPr>
            <a:r>
              <a:rPr sz="1600">
                <a:solidFill>
                  <a:srgbClr val="4472C4"/>
                </a:solidFill>
                <a:latin typeface="Montserrat"/>
              </a:rPr>
              <a:t>–  </a:t>
            </a:r>
            <a:r>
              <a:rPr sz="1600" b="0">
                <a:solidFill>
                  <a:srgbClr val="333F50"/>
                </a:solidFill>
                <a:latin typeface="Montserrat"/>
              </a:rPr>
              <a:t>Undermines user trust.</a:t>
            </a:r>
          </a:p>
          <a:p>
            <a:pPr lvl="1">
              <a:lnSpc>
                <a:spcPct val="105000"/>
              </a:lnSpc>
              <a:spcAft>
                <a:spcPts val="600"/>
              </a:spcAft>
            </a:pPr>
            <a:r>
              <a:rPr sz="1600">
                <a:solidFill>
                  <a:srgbClr val="4472C4"/>
                </a:solidFill>
                <a:latin typeface="Montserrat"/>
              </a:rPr>
              <a:t>–  </a:t>
            </a:r>
            <a:r>
              <a:rPr sz="1600" b="0">
                <a:solidFill>
                  <a:srgbClr val="333F50"/>
                </a:solidFill>
                <a:latin typeface="Montserrat"/>
              </a:rPr>
              <a:t>Constrains debugging and scientific learning.</a:t>
            </a:r>
          </a:p>
          <a:p>
            <a:pPr lvl="1">
              <a:lnSpc>
                <a:spcPct val="105000"/>
              </a:lnSpc>
              <a:spcAft>
                <a:spcPts val="600"/>
              </a:spcAft>
            </a:pPr>
            <a:r>
              <a:rPr sz="1600">
                <a:solidFill>
                  <a:srgbClr val="4472C4"/>
                </a:solidFill>
                <a:latin typeface="Montserrat"/>
              </a:rPr>
              <a:t>–  </a:t>
            </a:r>
            <a:r>
              <a:rPr sz="1600" b="0">
                <a:solidFill>
                  <a:srgbClr val="333F50"/>
                </a:solidFill>
                <a:latin typeface="Montserrat"/>
              </a:rPr>
              <a:t>Collides with regulatory expectations (EU AI Act, OECD principles, GDPR).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9" name="Picture 8">
            <a:extLst>
              <a:ext uri="{FF2B5EF4-FFF2-40B4-BE49-F238E27FC236}">
                <a16:creationId xmlns:a16="http://schemas.microsoft.com/office/drawing/2014/main" id="{B7A66ACB-825E-443D-A604-7C015890B2E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Gap</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Collaborative filtering – users who behaved similarly will value similar items (user-/item-based).</a:t>
            </a:r>
          </a:p>
          <a:p>
            <a:pPr>
              <a:lnSpc>
                <a:spcPct val="105000"/>
              </a:lnSpc>
              <a:spcAft>
                <a:spcPts val="900"/>
              </a:spcAft>
            </a:pPr>
            <a:r>
              <a:rPr sz="1700">
                <a:solidFill>
                  <a:srgbClr val="4472C4"/>
                </a:solidFill>
                <a:latin typeface="Wingdings"/>
              </a:rPr>
              <a:t>§  </a:t>
            </a:r>
            <a:r>
              <a:rPr sz="1700" b="0">
                <a:solidFill>
                  <a:srgbClr val="333F50"/>
                </a:solidFill>
                <a:latin typeface="Montserrat"/>
              </a:rPr>
              <a:t>Content-based – recommends items sharing attributes with a user profile.</a:t>
            </a:r>
          </a:p>
          <a:p>
            <a:pPr>
              <a:lnSpc>
                <a:spcPct val="105000"/>
              </a:lnSpc>
              <a:spcAft>
                <a:spcPts val="900"/>
              </a:spcAft>
            </a:pPr>
            <a:r>
              <a:rPr sz="1700">
                <a:solidFill>
                  <a:srgbClr val="4472C4"/>
                </a:solidFill>
                <a:latin typeface="Wingdings"/>
              </a:rPr>
              <a:t>§  </a:t>
            </a:r>
            <a:r>
              <a:rPr sz="1700" b="0">
                <a:solidFill>
                  <a:srgbClr val="333F50"/>
                </a:solidFill>
                <a:latin typeface="Montserrat"/>
              </a:rPr>
              <a:t>Hybrid – combines collaborative and content signals.</a:t>
            </a:r>
          </a:p>
          <a:p>
            <a:pPr>
              <a:lnSpc>
                <a:spcPct val="105000"/>
              </a:lnSpc>
              <a:spcAft>
                <a:spcPts val="900"/>
              </a:spcAft>
            </a:pPr>
            <a:r>
              <a:rPr sz="1700">
                <a:solidFill>
                  <a:srgbClr val="4472C4"/>
                </a:solidFill>
                <a:latin typeface="Wingdings"/>
              </a:rPr>
              <a:t>§  </a:t>
            </a:r>
            <a:r>
              <a:rPr sz="1700" b="0">
                <a:solidFill>
                  <a:srgbClr val="333F50"/>
                </a:solidFill>
                <a:latin typeface="Montserrat"/>
              </a:rPr>
              <a:t>Matrix factorisation – R ≈ PQᵀ: compact but opaque latent factors.</a:t>
            </a:r>
          </a:p>
          <a:p>
            <a:pPr>
              <a:lnSpc>
                <a:spcPct val="105000"/>
              </a:lnSpc>
              <a:spcAft>
                <a:spcPts val="900"/>
              </a:spcAft>
            </a:pPr>
            <a:r>
              <a:rPr sz="1700">
                <a:solidFill>
                  <a:srgbClr val="4472C4"/>
                </a:solidFill>
                <a:latin typeface="Wingdings"/>
              </a:rPr>
              <a:t>§  </a:t>
            </a:r>
            <a:r>
              <a:rPr sz="1700" b="0">
                <a:solidFill>
                  <a:srgbClr val="333F50"/>
                </a:solidFill>
                <a:latin typeface="Montserrat"/>
              </a:rPr>
              <a:t>Graph-based – interaction graph with neighbourhood propagation (LightGCN, hypergraph).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 &amp; scale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Interpretability</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The gap</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Data sparsity &amp; scalability – the user–item matrix is overwhelmingly empty.</a:t>
            </a:r>
          </a:p>
          <a:p>
            <a:pPr>
              <a:lnSpc>
                <a:spcPct val="105000"/>
              </a:lnSpc>
              <a:spcAft>
                <a:spcPts val="900"/>
              </a:spcAft>
            </a:pPr>
            <a:r>
              <a:rPr sz="1700">
                <a:solidFill>
                  <a:srgbClr val="4472C4"/>
                </a:solidFill>
                <a:latin typeface="Wingdings"/>
              </a:rPr>
              <a:t>§  </a:t>
            </a:r>
            <a:r>
              <a:rPr sz="1700" b="0">
                <a:solidFill>
                  <a:srgbClr val="333F50"/>
                </a:solidFill>
                <a:latin typeface="Montserrat"/>
              </a:rPr>
              <a:t>Cold-start – new users and items are structurally disadvantaged.</a:t>
            </a:r>
          </a:p>
          <a:p>
            <a:pPr>
              <a:lnSpc>
                <a:spcPct val="105000"/>
              </a:lnSpc>
              <a:spcAft>
                <a:spcPts val="900"/>
              </a:spcAft>
            </a:pPr>
            <a:r>
              <a:rPr sz="1700">
                <a:solidFill>
                  <a:srgbClr val="4472C4"/>
                </a:solidFill>
                <a:latin typeface="Wingdings"/>
              </a:rPr>
              <a:t>§  </a:t>
            </a:r>
            <a:r>
              <a:rPr sz="1700" b="0">
                <a:solidFill>
                  <a:srgbClr val="333F50"/>
                </a:solidFill>
                <a:latin typeface="Montserrat"/>
              </a:rPr>
              <a:t>Popularity bias &amp; lack of diversity – exposure begets interaction, begets exposure.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Absence of interpretability – the most fundamental limit.</a:t>
            </a:r>
          </a:p>
          <a:p>
            <a:pPr lvl="1">
              <a:lnSpc>
                <a:spcPct val="105000"/>
              </a:lnSpc>
              <a:spcAft>
                <a:spcPts val="600"/>
              </a:spcAft>
            </a:pPr>
            <a:r>
              <a:rPr sz="1600">
                <a:solidFill>
                  <a:srgbClr val="4472C4"/>
                </a:solidFill>
                <a:latin typeface="Montserrat"/>
              </a:rPr>
              <a:t>–  </a:t>
            </a:r>
            <a:r>
              <a:rPr sz="1600" b="0">
                <a:solidFill>
                  <a:srgbClr val="333F50"/>
                </a:solidFill>
                <a:latin typeface="Montserrat"/>
              </a:rPr>
              <a:t>For clustering: methods favour local OR global explanation, not both.</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They struggle to scale, and explanations rarely stay coherent across resolutions.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L3</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1. Lack of explainability – complex models remain hard to interpret faithfully and actionably.</a:t>
            </a:r>
          </a:p>
          <a:p>
            <a:pPr>
              <a:lnSpc>
                <a:spcPct val="105000"/>
              </a:lnSpc>
              <a:spcAft>
                <a:spcPts val="900"/>
              </a:spcAft>
            </a:pPr>
            <a:r>
              <a:rPr sz="1700">
                <a:solidFill>
                  <a:srgbClr val="4472C4"/>
                </a:solidFill>
                <a:latin typeface="Wingdings"/>
              </a:rPr>
              <a:t>§  </a:t>
            </a:r>
            <a:r>
              <a:rPr sz="1700" b="1">
                <a:solidFill>
                  <a:srgbClr val="333F50"/>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4472C4"/>
                </a:solidFill>
                <a:latin typeface="Wingdings"/>
              </a:rPr>
              <a:t>§  </a:t>
            </a:r>
            <a:r>
              <a:rPr sz="1700" b="1">
                <a:solidFill>
                  <a:srgbClr val="333F50"/>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4472C4"/>
                </a:solidFill>
                <a:latin typeface="Montserrat"/>
              </a:rPr>
              <a:t>–  </a:t>
            </a:r>
            <a:r>
              <a:rPr sz="1600" b="1">
                <a:solidFill>
                  <a:srgbClr val="333F50"/>
                </a:solidFill>
                <a:latin typeface="Montserrat"/>
              </a:rPr>
              <a:t>Thesis gap: the literature still lacks a single cooperative-attribution framework that explains clustering faithfully, stays coherent under hierarchy, and then operates as an in-training signal in recommendation.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Aim</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RQ1</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RQ2</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4472C4"/>
                </a:solidFill>
                <a:latin typeface="Wingdings"/>
              </a:rPr>
              <a:t>§  </a:t>
            </a:r>
            <a:r>
              <a:rPr sz="1700" b="0">
                <a:solidFill>
                  <a:srgbClr val="333F50"/>
                </a:solidFill>
                <a:latin typeface="Montserrat"/>
              </a:rPr>
              <a:t>RQ1 · How can Shapley values explain black-box clustering faithfully at instance and cluster level?</a:t>
            </a:r>
          </a:p>
          <a:p>
            <a:pPr>
              <a:lnSpc>
                <a:spcPct val="105000"/>
              </a:lnSpc>
              <a:spcAft>
                <a:spcPts val="900"/>
              </a:spcAft>
            </a:pPr>
            <a:r>
              <a:rPr sz="1700">
                <a:solidFill>
                  <a:srgbClr val="4472C4"/>
                </a:solidFill>
                <a:latin typeface="Wingdings"/>
              </a:rPr>
              <a:t>§  </a:t>
            </a:r>
            <a:r>
              <a:rPr sz="1700" b="0">
                <a:solidFill>
                  <a:srgbClr val="333F50"/>
                </a:solidFill>
                <a:latin typeface="Montserrat"/>
              </a:rPr>
              <a:t>RQ2 · How can this extend to large-scale, hierarchical clustering without losing tractability or consistency?</a:t>
            </a:r>
          </a:p>
          <a:p>
            <a:pPr>
              <a:lnSpc>
                <a:spcPct val="105000"/>
              </a:lnSpc>
              <a:spcAft>
                <a:spcPts val="900"/>
              </a:spcAft>
            </a:pPr>
            <a:r>
              <a:rPr sz="1700">
                <a:solidFill>
                  <a:srgbClr val="4472C4"/>
                </a:solidFill>
                <a:latin typeface="Wingdings"/>
              </a:rPr>
              <a:t>§  </a:t>
            </a:r>
            <a:r>
              <a:rPr sz="1700" b="0">
                <a:solidFill>
                  <a:srgbClr val="333F50"/>
                </a:solidFill>
                <a:latin typeface="Montserrat"/>
              </a:rPr>
              <a:t>RQ3 · Can cooperative attribution move beyond post-hoc and enter the learning dynamics of graph recommenders?</a:t>
            </a:r>
          </a:p>
          <a:p>
            <a:pPr>
              <a:lnSpc>
                <a:spcPct val="105000"/>
              </a:lnSpc>
              <a:spcAft>
                <a:spcPts val="900"/>
              </a:spcAft>
            </a:pPr>
            <a:r>
              <a:rPr sz="1700">
                <a:solidFill>
                  <a:srgbClr val="4472C4"/>
                </a:solidFill>
                <a:latin typeface="Wingdings"/>
              </a:rPr>
              <a:t>§  </a:t>
            </a:r>
            <a:r>
              <a:rPr sz="1700" b="0">
                <a:solidFill>
                  <a:srgbClr val="333F50"/>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4472C4"/>
                </a:solidFill>
                <a:latin typeface="Wingdings"/>
              </a:rPr>
              <a:t>§  </a:t>
            </a:r>
            <a:r>
              <a:rPr sz="1700" b="0">
                <a:solidFill>
                  <a:srgbClr val="333F50"/>
                </a:solidFill>
                <a:latin typeface="Montserrat"/>
              </a:rPr>
              <a:t>RQ5 · What emerges when clustering explanation and recommendation learning are two stages of one cooperative-game perspective?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C3</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C1 – Explainable black-box clustering: PCA–K-Means–LightGBM–TreeSHAP pipeline.</a:t>
            </a:r>
          </a:p>
          <a:p>
            <a:pPr lvl="1">
              <a:lnSpc>
                <a:spcPct val="105000"/>
              </a:lnSpc>
              <a:spcAft>
                <a:spcPts val="600"/>
              </a:spcAft>
            </a:pPr>
            <a:r>
              <a:rPr sz="1600">
                <a:solidFill>
                  <a:srgbClr val="4472C4"/>
                </a:solidFill>
                <a:latin typeface="Montserrat"/>
              </a:rPr>
              <a:t>–  </a:t>
            </a:r>
            <a:r>
              <a:rPr sz="1600" b="0">
                <a:solidFill>
                  <a:srgbClr val="333F50"/>
                </a:solidFill>
                <a:latin typeface="Montserrat"/>
              </a:rPr>
              <a:t>→ Wine Quality: faithful instance- and cluster-level feature attribution.</a:t>
            </a:r>
          </a:p>
          <a:p>
            <a:pPr>
              <a:lnSpc>
                <a:spcPct val="105000"/>
              </a:lnSpc>
              <a:spcAft>
                <a:spcPts val="900"/>
              </a:spcAft>
            </a:pPr>
            <a:r>
              <a:rPr sz="1700">
                <a:solidFill>
                  <a:srgbClr val="4472C4"/>
                </a:solidFill>
                <a:latin typeface="Wingdings"/>
              </a:rPr>
              <a:t>§  </a:t>
            </a:r>
            <a:r>
              <a:rPr sz="1700" b="1">
                <a:solidFill>
                  <a:srgbClr val="333F50"/>
                </a:solidFill>
                <a:latin typeface="Montserrat Medium"/>
              </a:rPr>
              <a:t>C2 – Enhanced multi-level XAI for large-scale clustering with cross-level SHAP aggregation.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 Beijing Air Quality: hierarchical attribution consistency under scale.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C3 – DyHuCoG: Dynamic Hypergraph Cooperative Game for preference-aware recommendation.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 MovieLens-1M &amp; Amazon-Book: preference-aware Monte Carlo Shapley as an in-training signal.</a:t>
            </a:r>
          </a:p>
          <a:p>
            <a:pPr lvl="1">
              <a:lnSpc>
                <a:spcPct val="105000"/>
              </a:lnSpc>
              <a:spcAft>
                <a:spcPts val="600"/>
              </a:spcAft>
            </a:pPr>
            <a:r>
              <a:rPr sz="1600">
                <a:solidFill>
                  <a:srgbClr val="4472C4"/>
                </a:solidFill>
                <a:latin typeface="Montserrat"/>
              </a:rPr>
              <a:t>–  </a:t>
            </a:r>
            <a:r>
              <a:rPr sz="1600" b="1">
                <a:solidFill>
                  <a:srgbClr val="333F50"/>
                </a:solidFill>
                <a:latin typeface="Montserrat"/>
              </a:rPr>
              <a:t>Thesis claim: cooperative game theory functions as a shared attribution perspective for explanation, optimisation and intervention.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11" name="Picture 10">
            <a:extLst>
              <a:ext uri="{FF2B5EF4-FFF2-40B4-BE49-F238E27FC236}">
                <a16:creationId xmlns:a16="http://schemas.microsoft.com/office/drawing/2014/main" id="{F355B24B-FC7B-4F36-8CB6-B332F282DE6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pic>
        <p:nvPicPr>
          <p:cNvPr id="8" name="Picture 7">
            <a:extLst>
              <a:ext uri="{FF2B5EF4-FFF2-40B4-BE49-F238E27FC236}">
                <a16:creationId xmlns:a16="http://schemas.microsoft.com/office/drawing/2014/main" id="{B12BDC57-FFFD-4B42-A60D-1956C496C6B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Type</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Role</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4472C4"/>
                    </a:solidFill>
                  </a:tcPr>
                </a:tc>
                <a:tc>
                  <a:txBody>
                    <a:bodyPr/>
                    <a:lstStyle/>
                    <a:p>
                      <a:pPr algn="ctr"/>
                      <a:r>
                        <a:rPr sz="1200" b="1">
                          <a:solidFill>
                            <a:srgbClr val="FFFFFF"/>
                          </a:solidFill>
                          <a:latin typeface="Montserrat Medium"/>
                        </a:rPr>
                        <a:t>Scale</a:t>
                      </a:r>
                    </a:p>
                  </a:txBody>
                  <a:tcPr anchor="ctr" marL="54864" marR="54864" marT="18288" marB="18288">
                    <a:solidFill>
                      <a:srgbClr val="4472C4"/>
                    </a:solidFill>
                  </a:tcPr>
                </a:tc>
                <a:tc>
                  <a:txBody>
                    <a:bodyPr/>
                    <a:lstStyle/>
                    <a:p>
                      <a:pPr algn="ctr"/>
                      <a:r>
                        <a:rPr sz="1200" b="1">
                          <a:solidFill>
                            <a:srgbClr val="FFFFFF"/>
                          </a:solidFill>
                          <a:latin typeface="Montserrat Medium"/>
                        </a:rPr>
                        <a:t>Type</a:t>
                      </a:r>
                    </a:p>
                  </a:txBody>
                  <a:tcPr anchor="ctr" marL="54864" marR="54864" marT="18288" marB="18288">
                    <a:solidFill>
                      <a:srgbClr val="4472C4"/>
                    </a:solidFill>
                  </a:tcPr>
                </a:tc>
                <a:tc>
                  <a:txBody>
                    <a:bodyPr/>
                    <a:lstStyle/>
                    <a:p>
                      <a:pPr algn="ctr"/>
                      <a:r>
                        <a:rPr sz="1200" b="1">
                          <a:solidFill>
                            <a:srgbClr val="FFFFFF"/>
                          </a:solidFill>
                          <a:latin typeface="Montserrat Medium"/>
                        </a:rPr>
                        <a:t>Role</a:t>
                      </a:r>
                    </a:p>
                  </a:txBody>
                  <a:tcPr anchor="ctr" marL="54864" marR="54864" marT="18288" marB="18288">
                    <a:solidFill>
                      <a:srgbClr val="4472C4"/>
                    </a:solidFill>
                  </a:tcPr>
                </a:tc>
              </a:tr>
              <a:tr h="713232">
                <a:tc>
                  <a:txBody>
                    <a:bodyPr/>
                    <a:lstStyle/>
                    <a:p>
                      <a:pPr algn="l"/>
                      <a:r>
                        <a:rPr sz="1200" b="0">
                          <a:solidFill>
                            <a:srgbClr val="333F50"/>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333F50"/>
                          </a:solidFill>
                          <a:latin typeface="Montserrat"/>
                        </a:rPr>
                        <a:t>4,898 × 11</a:t>
                      </a:r>
                    </a:p>
                  </a:txBody>
                  <a:tcPr anchor="ctr" marL="54864" marR="54864" marT="18288" marB="18288">
                    <a:solidFill>
                      <a:srgbClr val="FFFFFF"/>
                    </a:solidFill>
                  </a:tcPr>
                </a:tc>
                <a:tc>
                  <a:txBody>
                    <a:bodyPr/>
                    <a:lstStyle/>
                    <a:p>
                      <a:pPr algn="ctr"/>
                      <a:r>
                        <a:rPr sz="1200" b="0">
                          <a:solidFill>
                            <a:srgbClr val="333F50"/>
                          </a:solidFill>
                          <a:latin typeface="Montserrat"/>
                        </a:rPr>
                        <a:t>Tabular, numeric</a:t>
                      </a:r>
                    </a:p>
                  </a:txBody>
                  <a:tcPr anchor="ctr" marL="54864" marR="54864" marT="18288" marB="18288">
                    <a:solidFill>
                      <a:srgbClr val="FFFFFF"/>
                    </a:solidFill>
                  </a:tcPr>
                </a:tc>
                <a:tc>
                  <a:txBody>
                    <a:bodyPr/>
                    <a:lstStyle/>
                    <a:p>
                      <a:pPr algn="ctr"/>
                      <a:r>
                        <a:rPr sz="1200" b="0">
                          <a:solidFill>
                            <a:srgbClr val="333F50"/>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333F50"/>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333F50"/>
                          </a:solidFill>
                          <a:latin typeface="Montserrat"/>
                        </a:rPr>
                        <a:t>383,585 × 11</a:t>
                      </a:r>
                    </a:p>
                  </a:txBody>
                  <a:tcPr anchor="ctr" marL="54864" marR="54864" marT="18288" marB="18288">
                    <a:solidFill>
                      <a:srgbClr val="F0F4FB"/>
                    </a:solidFill>
                  </a:tcPr>
                </a:tc>
                <a:tc>
                  <a:txBody>
                    <a:bodyPr/>
                    <a:lstStyle/>
                    <a:p>
                      <a:pPr algn="ctr"/>
                      <a:r>
                        <a:rPr sz="1200" b="0">
                          <a:solidFill>
                            <a:srgbClr val="333F50"/>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333F50"/>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333F50"/>
                          </a:solidFill>
                          <a:latin typeface="Montserrat"/>
                        </a:rPr>
                        <a:t>MovieLens-1M</a:t>
                      </a:r>
                    </a:p>
                  </a:txBody>
                  <a:tcPr anchor="ctr" marL="54864" marR="54864" marT="18288" marB="18288">
                    <a:solidFill>
                      <a:srgbClr val="FFFFFF"/>
                    </a:solidFill>
                  </a:tcPr>
                </a:tc>
                <a:tc>
                  <a:txBody>
                    <a:bodyPr/>
                    <a:lstStyle/>
                    <a:p>
                      <a:pPr algn="ctr"/>
                      <a:r>
                        <a:rPr sz="1200" b="0">
                          <a:solidFill>
                            <a:srgbClr val="333F50"/>
                          </a:solidFill>
                          <a:latin typeface="Montserrat"/>
                        </a:rPr>
                        <a:t>6,040 u / 3,706 i / 1.0M int</a:t>
                      </a:r>
                    </a:p>
                  </a:txBody>
                  <a:tcPr anchor="ctr" marL="54864" marR="54864" marT="18288" marB="18288">
                    <a:solidFill>
                      <a:srgbClr val="FFFFFF"/>
                    </a:solidFill>
                  </a:tcPr>
                </a:tc>
                <a:tc>
                  <a:txBody>
                    <a:bodyPr/>
                    <a:lstStyle/>
                    <a:p>
                      <a:pPr algn="ctr"/>
                      <a:r>
                        <a:rPr sz="1200" b="0">
                          <a:solidFill>
                            <a:srgbClr val="333F50"/>
                          </a:solidFill>
                          <a:latin typeface="Montserrat"/>
                        </a:rPr>
                        <a:t>Implicit feedback (0.0447)</a:t>
                      </a:r>
                    </a:p>
                  </a:txBody>
                  <a:tcPr anchor="ctr" marL="54864" marR="54864" marT="18288" marB="18288">
                    <a:solidFill>
                      <a:srgbClr val="FFFFFF"/>
                    </a:solidFill>
                  </a:tcPr>
                </a:tc>
                <a:tc>
                  <a:txBody>
                    <a:bodyPr/>
                    <a:lstStyle/>
                    <a:p>
                      <a:pPr algn="ctr"/>
                      <a:r>
                        <a:rPr sz="1200" b="0">
                          <a:solidFill>
                            <a:srgbClr val="333F50"/>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333F50"/>
                          </a:solidFill>
                          <a:latin typeface="Montserrat"/>
                        </a:rPr>
                        <a:t>Amazon-Book</a:t>
                      </a:r>
                    </a:p>
                  </a:txBody>
                  <a:tcPr anchor="ctr" marL="54864" marR="54864" marT="18288" marB="18288">
                    <a:solidFill>
                      <a:srgbClr val="F0F4FB"/>
                    </a:solidFill>
                  </a:tcPr>
                </a:tc>
                <a:tc>
                  <a:txBody>
                    <a:bodyPr/>
                    <a:lstStyle/>
                    <a:p>
                      <a:pPr algn="ctr"/>
                      <a:r>
                        <a:rPr sz="1200" b="0">
                          <a:solidFill>
                            <a:srgbClr val="333F50"/>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333F50"/>
                          </a:solidFill>
                          <a:latin typeface="Montserrat"/>
                        </a:rPr>
                        <a:t>Implicit feedback (0.0006)</a:t>
                      </a:r>
                    </a:p>
                  </a:txBody>
                  <a:tcPr anchor="ctr" marL="54864" marR="54864" marT="18288" marB="18288">
                    <a:solidFill>
                      <a:srgbClr val="F0F4FB"/>
                    </a:solidFill>
                  </a:tcPr>
                </a:tc>
                <a:tc>
                  <a:txBody>
                    <a:bodyPr/>
                    <a:lstStyle/>
                    <a:p>
                      <a:pPr algn="ctr"/>
                      <a:r>
                        <a:rPr sz="1200" b="0">
                          <a:solidFill>
                            <a:srgbClr val="333F50"/>
                          </a:solidFill>
                          <a:latin typeface="Montserrat"/>
                        </a:rPr>
                        <a:t>C3 – DyHuCoG</a:t>
                      </a:r>
                    </a:p>
                  </a:txBody>
                  <a:tcPr anchor="ctr" marL="54864" marR="54864" marT="18288" marB="18288">
                    <a:solidFill>
                      <a:srgbClr val="F0F4FB"/>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Clustering</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Recommendation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Clustering: five-fold cross-validation for surrogate/attribution stability.</a:t>
            </a:r>
          </a:p>
          <a:p>
            <a:pPr>
              <a:lnSpc>
                <a:spcPct val="105000"/>
              </a:lnSpc>
              <a:spcAft>
                <a:spcPts val="900"/>
              </a:spcAft>
            </a:pPr>
            <a:r>
              <a:rPr sz="1700">
                <a:solidFill>
                  <a:srgbClr val="4472C4"/>
                </a:solidFill>
                <a:latin typeface="Wingdings"/>
              </a:rPr>
              <a:t>§  </a:t>
            </a:r>
            <a:r>
              <a:rPr sz="1700" b="0">
                <a:solidFill>
                  <a:srgbClr val="333F50"/>
                </a:solidFill>
                <a:latin typeface="Montserrat"/>
              </a:rPr>
              <a:t>Recommendation: user-level, temporal split — 70% train / 10% val / 20% test.</a:t>
            </a:r>
          </a:p>
          <a:p>
            <a:pPr>
              <a:lnSpc>
                <a:spcPct val="105000"/>
              </a:lnSpc>
              <a:spcAft>
                <a:spcPts val="900"/>
              </a:spcAft>
            </a:pPr>
            <a:r>
              <a:rPr sz="1700">
                <a:solidFill>
                  <a:srgbClr val="4472C4"/>
                </a:solidFill>
                <a:latin typeface="Wingdings"/>
              </a:rPr>
              <a:t>§  </a:t>
            </a:r>
            <a:r>
              <a:rPr sz="1700" b="0">
                <a:solidFill>
                  <a:srgbClr val="333F50"/>
                </a:solidFill>
                <a:latin typeface="Montserrat"/>
              </a:rPr>
              <a:t>Leave-one-out: the latest test positive per user is the target, ranked against negatives.</a:t>
            </a:r>
          </a:p>
          <a:p>
            <a:pPr>
              <a:lnSpc>
                <a:spcPct val="105000"/>
              </a:lnSpc>
              <a:spcAft>
                <a:spcPts val="900"/>
              </a:spcAft>
            </a:pPr>
            <a:r>
              <a:rPr sz="1700">
                <a:solidFill>
                  <a:srgbClr val="4472C4"/>
                </a:solidFill>
                <a:latin typeface="Wingdings"/>
              </a:rPr>
              <a:t>§  </a:t>
            </a:r>
            <a:r>
              <a:rPr sz="1700" b="0">
                <a:solidFill>
                  <a:srgbClr val="333F50"/>
                </a:solidFill>
                <a:latin typeface="Montserrat"/>
              </a:rPr>
              <a:t>Implicit conversion: MovieLens-1M ratings &gt; 3 treated as positive.</a:t>
            </a:r>
          </a:p>
          <a:p>
            <a:pPr>
              <a:lnSpc>
                <a:spcPct val="105000"/>
              </a:lnSpc>
              <a:spcAft>
                <a:spcPts val="900"/>
              </a:spcAft>
            </a:pPr>
            <a:r>
              <a:rPr sz="1700">
                <a:solidFill>
                  <a:srgbClr val="4472C4"/>
                </a:solidFill>
                <a:latin typeface="Wingdings"/>
              </a:rPr>
              <a:t>§  </a:t>
            </a:r>
            <a:r>
              <a:rPr sz="1700" b="0">
                <a:solidFill>
                  <a:srgbClr val="333F50"/>
                </a:solidFill>
                <a:latin typeface="Montserrat"/>
              </a:rPr>
              <a:t>Popularity-aware negative sampling: q(i) ∝ f_i^η for harder contrasts.</a:t>
            </a:r>
          </a:p>
          <a:p>
            <a:pPr>
              <a:lnSpc>
                <a:spcPct val="105000"/>
              </a:lnSpc>
              <a:spcAft>
                <a:spcPts val="900"/>
              </a:spcAft>
            </a:pPr>
            <a:r>
              <a:rPr sz="1700">
                <a:solidFill>
                  <a:srgbClr val="4472C4"/>
                </a:solidFill>
                <a:latin typeface="Wingdings"/>
              </a:rPr>
              <a:t>§  </a:t>
            </a:r>
            <a:r>
              <a:rPr sz="1700" b="0">
                <a:solidFill>
                  <a:srgbClr val="333F50"/>
                </a:solidFill>
                <a:latin typeface="Montserrat"/>
              </a:rPr>
              <a:t>Reproducibility: seeds {42,43,44,45,46}; early-stopping patience 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Baselines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Ranking</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Diversity</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Clustering benchmark: LIME-based surrogate explanation pipeline.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Recommendation benchmarks: MF, NCF, LightGCN, RecDCL, HCCF, HPCF (strongest reference).</a:t>
            </a:r>
          </a:p>
          <a:p>
            <a:pPr>
              <a:lnSpc>
                <a:spcPct val="105000"/>
              </a:lnSpc>
              <a:spcAft>
                <a:spcPts val="900"/>
              </a:spcAft>
            </a:pPr>
            <a:r>
              <a:rPr sz="1700">
                <a:solidFill>
                  <a:srgbClr val="4472C4"/>
                </a:solidFill>
                <a:latin typeface="Wingdings"/>
              </a:rPr>
              <a:t>§  </a:t>
            </a:r>
            <a:r>
              <a:rPr sz="1700" b="0">
                <a:solidFill>
                  <a:srgbClr val="333F50"/>
                </a:solidFill>
                <a:latin typeface="Montserrat"/>
              </a:rPr>
              <a:t>Ranking: Precision@K, Recall@K, NDCG@20 (principal).</a:t>
            </a:r>
          </a:p>
          <a:p>
            <a:pPr>
              <a:lnSpc>
                <a:spcPct val="105000"/>
              </a:lnSpc>
              <a:spcAft>
                <a:spcPts val="900"/>
              </a:spcAft>
            </a:pPr>
            <a:r>
              <a:rPr sz="1700">
                <a:solidFill>
                  <a:srgbClr val="4472C4"/>
                </a:solidFill>
                <a:latin typeface="Wingdings"/>
              </a:rPr>
              <a:t>§  </a:t>
            </a:r>
            <a:r>
              <a:rPr sz="1700" b="0">
                <a:solidFill>
                  <a:srgbClr val="333F50"/>
                </a:solidFill>
                <a:latin typeface="Montserrat"/>
              </a:rPr>
              <a:t>System diversity: Catalogue Coverage = |⋃ R_u| / |I|.</a:t>
            </a:r>
          </a:p>
          <a:p>
            <a:pPr>
              <a:lnSpc>
                <a:spcPct val="105000"/>
              </a:lnSpc>
              <a:spcAft>
                <a:spcPts val="900"/>
              </a:spcAft>
            </a:pPr>
            <a:r>
              <a:rPr sz="1700">
                <a:solidFill>
                  <a:srgbClr val="4472C4"/>
                </a:solidFill>
                <a:latin typeface="Wingdings"/>
              </a:rPr>
              <a:t>§  </a:t>
            </a:r>
            <a:r>
              <a:rPr sz="1700" b="0">
                <a:solidFill>
                  <a:srgbClr val="333F50"/>
                </a:solidFill>
                <a:latin typeface="Montserrat"/>
              </a:rPr>
              <a:t>List diversity: Intra-List Diversity (ILD), built into the coalition utility.</a:t>
            </a:r>
          </a:p>
          <a:p>
            <a:pPr>
              <a:lnSpc>
                <a:spcPct val="105000"/>
              </a:lnSpc>
              <a:spcAft>
                <a:spcPts val="900"/>
              </a:spcAft>
            </a:pPr>
            <a:r>
              <a:rPr sz="1700">
                <a:solidFill>
                  <a:srgbClr val="4472C4"/>
                </a:solidFill>
                <a:latin typeface="Wingdings"/>
              </a:rPr>
              <a:t>§  </a:t>
            </a:r>
            <a:r>
              <a:rPr sz="1700" b="0">
                <a:solidFill>
                  <a:srgbClr val="333F50"/>
                </a:solidFill>
                <a:latin typeface="Montserrat"/>
              </a:rPr>
              <a:t>Clustering quality: Silhouette, Davies–Bouldin.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27" name="Picture 26">
            <a:extLst>
              <a:ext uri="{FF2B5EF4-FFF2-40B4-BE49-F238E27FC236}">
                <a16:creationId xmlns:a16="http://schemas.microsoft.com/office/drawing/2014/main" id="{D9F890B0-1390-4FE0-88C9-4D8C60A28583}"/>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Compute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Stack</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pic>
        <p:nvPicPr>
          <p:cNvPr id="46" name="Picture 45">
            <a:extLst>
              <a:ext uri="{FF2B5EF4-FFF2-40B4-BE49-F238E27FC236}">
                <a16:creationId xmlns:a16="http://schemas.microsoft.com/office/drawing/2014/main" id="{8F63320B-B090-4DC8-B80E-1EE0F309264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CPU: Intel Core i9-14900K, 24 cores — clustering, preprocessing, data loading.</a:t>
            </a:r>
          </a:p>
          <a:p>
            <a:pPr>
              <a:lnSpc>
                <a:spcPct val="105000"/>
              </a:lnSpc>
              <a:spcAft>
                <a:spcPts val="900"/>
              </a:spcAft>
            </a:pPr>
            <a:r>
              <a:rPr sz="1700">
                <a:solidFill>
                  <a:srgbClr val="4472C4"/>
                </a:solidFill>
                <a:latin typeface="Wingdings"/>
              </a:rPr>
              <a:t>§  </a:t>
            </a:r>
            <a:r>
              <a:rPr sz="1700" b="0">
                <a:solidFill>
                  <a:srgbClr val="333F50"/>
                </a:solidFill>
                <a:latin typeface="Montserrat"/>
              </a:rPr>
              <a:t>GPU: NVIDIA GeForce RTX 4090, 24 GB — DyHuCoG training &amp; inference.</a:t>
            </a:r>
          </a:p>
          <a:p>
            <a:pPr>
              <a:lnSpc>
                <a:spcPct val="105000"/>
              </a:lnSpc>
              <a:spcAft>
                <a:spcPts val="900"/>
              </a:spcAft>
            </a:pPr>
            <a:r>
              <a:rPr sz="1700">
                <a:solidFill>
                  <a:srgbClr val="4472C4"/>
                </a:solidFill>
                <a:latin typeface="Wingdings"/>
              </a:rPr>
              <a:t>§  </a:t>
            </a:r>
            <a:r>
              <a:rPr sz="1700" b="0">
                <a:solidFill>
                  <a:srgbClr val="333F50"/>
                </a:solidFill>
                <a:latin typeface="Montserrat"/>
              </a:rPr>
              <a:t>RAM: 48 GB; Storage: 2 TB SSD.</a:t>
            </a:r>
          </a:p>
          <a:p>
            <a:pPr>
              <a:lnSpc>
                <a:spcPct val="105000"/>
              </a:lnSpc>
              <a:spcAft>
                <a:spcPts val="900"/>
              </a:spcAft>
            </a:pPr>
            <a:r>
              <a:rPr sz="1700">
                <a:solidFill>
                  <a:srgbClr val="4472C4"/>
                </a:solidFill>
                <a:latin typeface="Wingdings"/>
              </a:rPr>
              <a:t>§  </a:t>
            </a:r>
            <a:r>
              <a:rPr sz="1700" b="0">
                <a:solidFill>
                  <a:srgbClr val="333F50"/>
                </a:solidFill>
                <a:latin typeface="Montserrat"/>
              </a:rPr>
              <a:t>Python 3.8; scikit-learn, LightGBM, SHAP, PyTorch 2.0.1, NumPy/SciPy/pandas.</a:t>
            </a:r>
          </a:p>
          <a:p>
            <a:pPr>
              <a:lnSpc>
                <a:spcPct val="105000"/>
              </a:lnSpc>
              <a:spcAft>
                <a:spcPts val="900"/>
              </a:spcAft>
            </a:pPr>
            <a:r>
              <a:rPr sz="1700">
                <a:solidFill>
                  <a:srgbClr val="4472C4"/>
                </a:solidFill>
                <a:latin typeface="Wingdings"/>
              </a:rPr>
              <a:t>§  </a:t>
            </a:r>
            <a:r>
              <a:rPr sz="1700" b="0">
                <a:solidFill>
                  <a:srgbClr val="333F50"/>
                </a:solidFill>
                <a:latin typeface="Montserrat"/>
              </a:rPr>
              <a:t>Altair for interactive SHAP visualisation; metrics at K ∈ {5, 10, 20}.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12" name="Picture 11">
            <a:extLst>
              <a:ext uri="{FF2B5EF4-FFF2-40B4-BE49-F238E27FC236}">
                <a16:creationId xmlns:a16="http://schemas.microsoft.com/office/drawing/2014/main" id="{0A2AA8E5-1801-41AF-A1EC-E61B77A5432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pic>
        <p:nvPicPr>
          <p:cNvPr id="8" name="Picture 7">
            <a:extLst>
              <a:ext uri="{FF2B5EF4-FFF2-40B4-BE49-F238E27FC236}">
                <a16:creationId xmlns:a16="http://schemas.microsoft.com/office/drawing/2014/main" id="{3B33B7BC-F298-4FB4-89E0-325B14296C5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4472C4"/>
                </a:solidFill>
                <a:latin typeface="Montserrat"/>
              </a:rPr>
              <a:t>–  </a:t>
            </a:r>
            <a:r>
              <a:rPr sz="1600" b="0">
                <a:solidFill>
                  <a:srgbClr val="333F50"/>
                </a:solidFill>
                <a:latin typeface="Montserrat"/>
              </a:rPr>
              <a:t>Existing clustering-interpretability methods privilege local or global explanation, not both.</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They often fail to scale or preserve coherence across clusters.</a:t>
            </a:r>
          </a:p>
          <a:p>
            <a:pPr>
              <a:lnSpc>
                <a:spcPct val="105000"/>
              </a:lnSpc>
              <a:spcAft>
                <a:spcPts val="900"/>
              </a:spcAft>
            </a:pPr>
            <a:r>
              <a:rPr sz="1700">
                <a:solidFill>
                  <a:srgbClr val="4472C4"/>
                </a:solidFill>
                <a:latin typeface="Wingdings"/>
              </a:rPr>
              <a:t>§  </a:t>
            </a:r>
            <a:r>
              <a:rPr sz="1700" b="1">
                <a:solidFill>
                  <a:srgbClr val="333F50"/>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Preserve the semantics of the original feature space; justify why Shapley is better than LIME.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Player set N = F — each feature is a player.</a:t>
            </a:r>
          </a:p>
          <a:p>
            <a:pPr>
              <a:lnSpc>
                <a:spcPct val="105000"/>
              </a:lnSpc>
              <a:spcAft>
                <a:spcPts val="900"/>
              </a:spcAft>
            </a:pPr>
            <a:r>
              <a:rPr sz="1700">
                <a:solidFill>
                  <a:srgbClr val="4472C4"/>
                </a:solidFill>
                <a:latin typeface="Wingdings"/>
              </a:rPr>
              <a:t>§  </a:t>
            </a:r>
            <a:r>
              <a:rPr sz="1700" b="0">
                <a:solidFill>
                  <a:srgbClr val="333F50"/>
                </a:solidFill>
                <a:latin typeface="Montserrat"/>
              </a:rPr>
              <a:t>Value function v(S) = Silhouette( KMeans(X_S, k*) ) — how well data cluster using only features in S.</a:t>
            </a:r>
          </a:p>
          <a:p>
            <a:pPr>
              <a:lnSpc>
                <a:spcPct val="105000"/>
              </a:lnSpc>
              <a:spcAft>
                <a:spcPts val="900"/>
              </a:spcAft>
            </a:pPr>
            <a:r>
              <a:rPr sz="1700">
                <a:solidFill>
                  <a:srgbClr val="4472C4"/>
                </a:solidFill>
                <a:latin typeface="Wingdings"/>
              </a:rPr>
              <a:t>§  </a:t>
            </a:r>
            <a:r>
              <a:rPr sz="1700" b="0">
                <a:solidFill>
                  <a:srgbClr val="333F50"/>
                </a:solidFill>
                <a:latin typeface="Montserrat"/>
              </a:rPr>
              <a:t>A feature's Shapley value = its expected marginal contribution to clustering quality over all coalition orders.</a:t>
            </a:r>
          </a:p>
          <a:p>
            <a:pPr>
              <a:lnSpc>
                <a:spcPct val="105000"/>
              </a:lnSpc>
              <a:spcAft>
                <a:spcPts val="900"/>
              </a:spcAft>
            </a:pPr>
            <a:r>
              <a:rPr sz="1700">
                <a:solidFill>
                  <a:srgbClr val="4472C4"/>
                </a:solidFill>
                <a:latin typeface="Wingdings"/>
              </a:rPr>
              <a:t>§  </a:t>
            </a:r>
            <a:r>
              <a:rPr sz="1700" b="0">
                <a:solidFill>
                  <a:srgbClr val="333F50"/>
                </a:solidFill>
                <a:latin typeface="Montserrat"/>
              </a:rPr>
              <a:t>Why Silhouette: bounded, normalised, semantically intuitive.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Direct evaluation for every coalition is intractable → we need a bridge.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4472C4"/>
                </a:solidFill>
                <a:latin typeface="Wingdings"/>
              </a:rPr>
              <a:t>§  </a:t>
            </a:r>
            <a:r>
              <a:rPr sz="1700" b="0">
                <a:solidFill>
                  <a:srgbClr val="333F50"/>
                </a:solidFill>
                <a:latin typeface="Montserrat"/>
              </a:rPr>
              <a:t>Apply TreeSHAP to the surrogate — fast, exact tree-based attribution in the original semantic feature space.</a:t>
            </a:r>
          </a:p>
          <a:p>
            <a:pPr lvl="1">
              <a:lnSpc>
                <a:spcPct val="105000"/>
              </a:lnSpc>
              <a:spcAft>
                <a:spcPts val="600"/>
              </a:spcAft>
            </a:pPr>
            <a:r>
              <a:rPr sz="1600">
                <a:solidFill>
                  <a:srgbClr val="4472C4"/>
                </a:solidFill>
                <a:latin typeface="Montserrat"/>
              </a:rPr>
              <a:t>–  </a:t>
            </a:r>
            <a:r>
              <a:rPr sz="1600" b="0">
                <a:solidFill>
                  <a:srgbClr val="333F50"/>
                </a:solidFill>
                <a:latin typeface="Montserrat"/>
              </a:rPr>
              <a:t>Direct TreeSHAP on K-Means is impossible (it explains tree models, not centroids).</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 surrogate preserves the chemistry/pollution vocabulary that makes the analysis actionable.</a:t>
            </a:r>
          </a:p>
          <a:p>
            <a:pPr lvl="1">
              <a:lnSpc>
                <a:spcPct val="105000"/>
              </a:lnSpc>
              <a:spcAft>
                <a:spcPts val="600"/>
              </a:spcAft>
            </a:pPr>
            <a:r>
              <a:rPr sz="1600">
                <a:solidFill>
                  <a:srgbClr val="4472C4"/>
                </a:solidFill>
                <a:latin typeface="Montserrat"/>
              </a:rPr>
              <a:t>–  </a:t>
            </a:r>
            <a:r>
              <a:rPr sz="1600" b="1">
                <a:solidFill>
                  <a:srgbClr val="333F50"/>
                </a:solidFill>
                <a:latin typeface="Montserrat"/>
              </a:rPr>
              <a:t>Validity condition: surrogate fidelity is high (macro-F1 ≈ 0.82).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Stage 1 – PCA: stabilise geometry + visual diagnostic. NOT the explanatory space.</a:t>
            </a:r>
          </a:p>
          <a:p>
            <a:pPr>
              <a:lnSpc>
                <a:spcPct val="105000"/>
              </a:lnSpc>
              <a:spcAft>
                <a:spcPts val="900"/>
              </a:spcAft>
            </a:pPr>
            <a:r>
              <a:rPr sz="1700">
                <a:solidFill>
                  <a:srgbClr val="4472C4"/>
                </a:solidFill>
                <a:latin typeface="Wingdings"/>
              </a:rPr>
              <a:t>§  </a:t>
            </a:r>
            <a:r>
              <a:rPr sz="1700" b="0">
                <a:solidFill>
                  <a:srgbClr val="333F50"/>
                </a:solidFill>
                <a:latin typeface="Montserrat"/>
              </a:rPr>
              <a:t>Stage 2 – K-Means++ with multi-criteria k selection (elbow, Silhouette, Davies–Bouldin).</a:t>
            </a:r>
          </a:p>
          <a:p>
            <a:pPr>
              <a:lnSpc>
                <a:spcPct val="105000"/>
              </a:lnSpc>
              <a:spcAft>
                <a:spcPts val="900"/>
              </a:spcAft>
            </a:pPr>
            <a:r>
              <a:rPr sz="1700">
                <a:solidFill>
                  <a:srgbClr val="4472C4"/>
                </a:solidFill>
                <a:latin typeface="Wingdings"/>
              </a:rPr>
              <a:t>§  </a:t>
            </a:r>
            <a:r>
              <a:rPr sz="1700" b="0">
                <a:solidFill>
                  <a:srgbClr val="333F50"/>
                </a:solidFill>
                <a:latin typeface="Montserrat"/>
              </a:rPr>
              <a:t>Stage 3 – LightGBM surrogate trained on original features to predict cluster labels.</a:t>
            </a:r>
          </a:p>
          <a:p>
            <a:pPr>
              <a:lnSpc>
                <a:spcPct val="105000"/>
              </a:lnSpc>
              <a:spcAft>
                <a:spcPts val="900"/>
              </a:spcAft>
            </a:pPr>
            <a:r>
              <a:rPr sz="1700">
                <a:solidFill>
                  <a:srgbClr val="4472C4"/>
                </a:solidFill>
                <a:latin typeface="Wingdings"/>
              </a:rPr>
              <a:t>§  </a:t>
            </a:r>
            <a:r>
              <a:rPr sz="1700" b="0">
                <a:solidFill>
                  <a:srgbClr val="333F50"/>
                </a:solidFill>
                <a:latin typeface="Montserrat"/>
              </a:rPr>
              <a:t>Stage 4 – TreeSHAP attribution in the original feature space.</a:t>
            </a:r>
          </a:p>
          <a:p>
            <a:pPr>
              <a:lnSpc>
                <a:spcPct val="105000"/>
              </a:lnSpc>
              <a:spcAft>
                <a:spcPts val="900"/>
              </a:spcAft>
            </a:pPr>
            <a:r>
              <a:rPr sz="1700">
                <a:solidFill>
                  <a:srgbClr val="4472C4"/>
                </a:solidFill>
                <a:latin typeface="Wingdings"/>
              </a:rPr>
              <a:t>§  </a:t>
            </a:r>
            <a:r>
              <a:rPr sz="1700" b="0">
                <a:solidFill>
                  <a:srgbClr val="333F50"/>
                </a:solidFill>
                <a:latin typeface="Montserrat"/>
              </a:rPr>
              <a:t>Stage 5 – Aggregate into global importance, cluster-specific profiles, and local force plots.</a:t>
            </a:r>
          </a:p>
          <a:p>
            <a:pPr lvl="1">
              <a:lnSpc>
                <a:spcPct val="105000"/>
              </a:lnSpc>
              <a:spcAft>
                <a:spcPts val="600"/>
              </a:spcAft>
            </a:pPr>
            <a:r>
              <a:rPr sz="1600">
                <a:solidFill>
                  <a:srgbClr val="4472C4"/>
                </a:solidFill>
                <a:latin typeface="Montserrat"/>
              </a:rPr>
              <a:t>–  </a:t>
            </a:r>
            <a:r>
              <a:rPr sz="1600" b="0">
                <a:solidFill>
                  <a:srgbClr val="333F50"/>
                </a:solidFill>
                <a:latin typeface="Montserrat"/>
              </a:rPr>
              <a:t>Complexity: dominated by PCA and repeated K-Means; TreeSHAP scales with tree count, not exponentially in features.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Multi-criteria evaluation across k ∈ {2..10} using elbow, Silhouette, Davies–Bouldin.</a:t>
            </a:r>
          </a:p>
          <a:p>
            <a:pPr>
              <a:lnSpc>
                <a:spcPct val="105000"/>
              </a:lnSpc>
              <a:spcAft>
                <a:spcPts val="900"/>
              </a:spcAft>
            </a:pPr>
            <a:r>
              <a:rPr sz="1700">
                <a:solidFill>
                  <a:srgbClr val="4472C4"/>
                </a:solidFill>
                <a:latin typeface="Wingdings"/>
              </a:rPr>
              <a:t>§  </a:t>
            </a:r>
            <a:r>
              <a:rPr sz="1700" b="1">
                <a:solidFill>
                  <a:srgbClr val="333F50"/>
                </a:solidFill>
                <a:latin typeface="Montserrat Medium"/>
              </a:rPr>
              <a:t>We select k* = 3 — even though it is NOT geometrically optimal:</a:t>
            </a:r>
          </a:p>
          <a:p>
            <a:pPr lvl="1">
              <a:lnSpc>
                <a:spcPct val="105000"/>
              </a:lnSpc>
              <a:spcAft>
                <a:spcPts val="600"/>
              </a:spcAft>
            </a:pPr>
            <a:r>
              <a:rPr sz="1600">
                <a:solidFill>
                  <a:srgbClr val="4472C4"/>
                </a:solidFill>
                <a:latin typeface="Montserrat"/>
              </a:rPr>
              <a:t>–  </a:t>
            </a:r>
            <a:r>
              <a:rPr sz="1600" b="0">
                <a:solidFill>
                  <a:srgbClr val="333F50"/>
                </a:solidFill>
                <a:latin typeface="Montserrat"/>
              </a:rPr>
              <a:t>k = 2: Silhouette 0.214, Davies–Bouldin 1.775 (better separation).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k = 3: Silhouette 0.144, Davies–Bouldin 2.097 (weaker separation).</a:t>
            </a:r>
          </a:p>
          <a:p>
            <a:pPr lvl="1">
              <a:lnSpc>
                <a:spcPct val="105000"/>
              </a:lnSpc>
              <a:spcAft>
                <a:spcPts val="600"/>
              </a:spcAft>
            </a:pPr>
            <a:r>
              <a:rPr sz="1600">
                <a:solidFill>
                  <a:srgbClr val="4472C4"/>
                </a:solidFill>
                <a:latin typeface="Montserrat"/>
              </a:rPr>
              <a:t>–  </a:t>
            </a:r>
            <a:r>
              <a:rPr sz="1600" b="1">
                <a:solidFill>
                  <a:srgbClr val="333F50"/>
                </a:solidFill>
                <a:latin typeface="Montserrat"/>
              </a:rPr>
              <a:t>Why: three clusters give a semantically richer oenological partition → more actionable.</a:t>
            </a:r>
          </a:p>
          <a:p>
            <a:pPr lvl="1">
              <a:lnSpc>
                <a:spcPct val="105000"/>
              </a:lnSpc>
              <a:spcAft>
                <a:spcPts val="600"/>
              </a:spcAft>
            </a:pPr>
            <a:r>
              <a:rPr sz="1600">
                <a:solidFill>
                  <a:srgbClr val="4472C4"/>
                </a:solidFill>
                <a:latin typeface="Montserrat"/>
              </a:rPr>
              <a:t>–  </a:t>
            </a:r>
            <a:r>
              <a:rPr sz="1600" b="0">
                <a:solidFill>
                  <a:srgbClr val="333F50"/>
                </a:solidFill>
                <a:latin typeface="Montserrat"/>
              </a:rPr>
              <a:t>Note: the higher Silhouette ≈ 0.63 belongs to Beijing (C2), not this wine partition.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Global SHAP ranking (high → low):</a:t>
            </a:r>
          </a:p>
          <a:p>
            <a:pPr lvl="1">
              <a:lnSpc>
                <a:spcPct val="105000"/>
              </a:lnSpc>
              <a:spcAft>
                <a:spcPts val="600"/>
              </a:spcAft>
            </a:pPr>
            <a:r>
              <a:rPr sz="1600">
                <a:solidFill>
                  <a:srgbClr val="4472C4"/>
                </a:solidFill>
                <a:latin typeface="Montserrat"/>
              </a:rPr>
              <a:t>–  </a:t>
            </a:r>
            <a:r>
              <a:rPr sz="1600" b="0">
                <a:solidFill>
                  <a:srgbClr val="333F50"/>
                </a:solidFill>
                <a:latin typeface="Montserrat"/>
              </a:rPr>
              <a:t>density → pH → fixed acidity → sulfur-dioxide → alcohol</a:t>
            </a:r>
          </a:p>
          <a:p>
            <a:pPr lvl="1">
              <a:lnSpc>
                <a:spcPct val="105000"/>
              </a:lnSpc>
              <a:spcAft>
                <a:spcPts val="600"/>
              </a:spcAft>
            </a:pPr>
            <a:r>
              <a:rPr sz="1600">
                <a:solidFill>
                  <a:srgbClr val="4472C4"/>
                </a:solidFill>
                <a:latin typeface="Montserrat"/>
              </a:rPr>
              <a:t>–  </a:t>
            </a:r>
            <a:r>
              <a:rPr sz="1600" b="0">
                <a:solidFill>
                  <a:srgbClr val="333F50"/>
                </a:solidFill>
                <a:latin typeface="Montserrat"/>
              </a:rPr>
              <a:t>Dominant drivers relate to structure, preservation, and sensory balance.</a:t>
            </a:r>
          </a:p>
          <a:p>
            <a:pPr lvl="1">
              <a:lnSpc>
                <a:spcPct val="105000"/>
              </a:lnSpc>
              <a:spcAft>
                <a:spcPts val="600"/>
              </a:spcAft>
            </a:pPr>
            <a:r>
              <a:rPr sz="1600">
                <a:solidFill>
                  <a:srgbClr val="4472C4"/>
                </a:solidFill>
                <a:latin typeface="Montserrat"/>
              </a:rPr>
              <a:t>–  </a:t>
            </a:r>
            <a:r>
              <a:rPr sz="1600" b="1">
                <a:solidFill>
                  <a:srgbClr val="333F50"/>
                </a:solidFill>
                <a:latin typeface="Montserrat"/>
              </a:rPr>
              <a:t>This is NOT an arbitrary classifier artefact — it recovers a chemically interpretable hierarchy.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Three clusters show distinct explanatory signatures.</a:t>
            </a:r>
          </a:p>
          <a:p>
            <a:pPr lvl="1">
              <a:lnSpc>
                <a:spcPct val="105000"/>
              </a:lnSpc>
              <a:spcAft>
                <a:spcPts val="600"/>
              </a:spcAft>
            </a:pPr>
            <a:r>
              <a:rPr sz="1600">
                <a:solidFill>
                  <a:srgbClr val="4472C4"/>
                </a:solidFill>
                <a:latin typeface="Montserrat"/>
              </a:rPr>
              <a:t>–  </a:t>
            </a:r>
            <a:r>
              <a:rPr sz="1600" b="0">
                <a:solidFill>
                  <a:srgbClr val="333F50"/>
                </a:solidFill>
                <a:latin typeface="Montserrat"/>
              </a:rPr>
              <a:t>Cluster 0 – density + sulfur-dioxide-related variables.</a:t>
            </a:r>
          </a:p>
          <a:p>
            <a:pPr lvl="1">
              <a:lnSpc>
                <a:spcPct val="105000"/>
              </a:lnSpc>
              <a:spcAft>
                <a:spcPts val="600"/>
              </a:spcAft>
            </a:pPr>
            <a:r>
              <a:rPr sz="1600">
                <a:solidFill>
                  <a:srgbClr val="4472C4"/>
                </a:solidFill>
                <a:latin typeface="Montserrat"/>
              </a:rPr>
              <a:t>–  </a:t>
            </a:r>
            <a:r>
              <a:rPr sz="1600" b="0">
                <a:solidFill>
                  <a:srgbClr val="333F50"/>
                </a:solidFill>
                <a:latin typeface="Montserrat"/>
              </a:rPr>
              <a:t>Cluster 1 – acidity and pH-related effects.</a:t>
            </a:r>
          </a:p>
          <a:p>
            <a:pPr lvl="1">
              <a:lnSpc>
                <a:spcPct val="105000"/>
              </a:lnSpc>
              <a:spcAft>
                <a:spcPts val="600"/>
              </a:spcAft>
            </a:pPr>
            <a:r>
              <a:rPr sz="1600">
                <a:solidFill>
                  <a:srgbClr val="4472C4"/>
                </a:solidFill>
                <a:latin typeface="Montserrat"/>
              </a:rPr>
              <a:t>–  </a:t>
            </a:r>
            <a:r>
              <a:rPr sz="1600" b="0">
                <a:solidFill>
                  <a:srgbClr val="333F50"/>
                </a:solidFill>
                <a:latin typeface="Montserrat"/>
              </a:rPr>
              <a:t>Cluster 2 – a different balance of acidity, alcohol, and related chemical attributes.</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 same small set of variables recurs across clusters, with different relative weights within each.</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4472C4"/>
                    </a:solidFill>
                  </a:tcPr>
                </a:tc>
                <a:tc>
                  <a:txBody>
                    <a:bodyPr/>
                    <a:lstStyle/>
                    <a:p>
                      <a:pPr algn="ctr"/>
                      <a:r>
                        <a:rPr sz="1200" b="1">
                          <a:solidFill>
                            <a:srgbClr val="FFFFFF"/>
                          </a:solidFill>
                          <a:latin typeface="Montserrat Medium"/>
                        </a:rPr>
                        <a:t>SHAP (cooperative)</a:t>
                      </a:r>
                    </a:p>
                  </a:txBody>
                  <a:tcPr anchor="ctr" marL="54864" marR="54864" marT="18288" marB="18288">
                    <a:solidFill>
                      <a:srgbClr val="4472C4"/>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4472C4"/>
                    </a:solidFill>
                  </a:tcPr>
                </a:tc>
              </a:tr>
              <a:tr h="579120">
                <a:tc>
                  <a:txBody>
                    <a:bodyPr/>
                    <a:lstStyle/>
                    <a:p>
                      <a:pPr algn="l"/>
                      <a:r>
                        <a:rPr sz="1200" b="0">
                          <a:solidFill>
                            <a:srgbClr val="333F50"/>
                          </a:solidFill>
                          <a:latin typeface="Montserrat"/>
                        </a:rPr>
                        <a:t>Basis</a:t>
                      </a:r>
                    </a:p>
                  </a:txBody>
                  <a:tcPr anchor="ctr" marL="54864" marR="54864" marT="18288" marB="18288">
                    <a:solidFill>
                      <a:srgbClr val="FFFFFF"/>
                    </a:solidFill>
                  </a:tcPr>
                </a:tc>
                <a:tc>
                  <a:txBody>
                    <a:bodyPr/>
                    <a:lstStyle/>
                    <a:p>
                      <a:pPr algn="ctr"/>
                      <a:r>
                        <a:rPr sz="1200" b="0">
                          <a:solidFill>
                            <a:srgbClr val="333F50"/>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333F50"/>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333F50"/>
                          </a:solidFill>
                          <a:latin typeface="Montserrat"/>
                        </a:rPr>
                        <a:t>Local / global</a:t>
                      </a:r>
                    </a:p>
                  </a:txBody>
                  <a:tcPr anchor="ctr" marL="54864" marR="54864" marT="18288" marB="18288">
                    <a:solidFill>
                      <a:srgbClr val="F0F4FB"/>
                    </a:solidFill>
                  </a:tcPr>
                </a:tc>
                <a:tc>
                  <a:txBody>
                    <a:bodyPr/>
                    <a:lstStyle/>
                    <a:p>
                      <a:pPr algn="ctr"/>
                      <a:r>
                        <a:rPr sz="1200" b="0">
                          <a:solidFill>
                            <a:srgbClr val="333F50"/>
                          </a:solidFill>
                          <a:latin typeface="Montserrat"/>
                        </a:rPr>
                        <a:t>Both</a:t>
                      </a:r>
                    </a:p>
                  </a:txBody>
                  <a:tcPr anchor="ctr" marL="54864" marR="54864" marT="18288" marB="18288">
                    <a:solidFill>
                      <a:srgbClr val="F0F4FB"/>
                    </a:solidFill>
                  </a:tcPr>
                </a:tc>
                <a:tc>
                  <a:txBody>
                    <a:bodyPr/>
                    <a:lstStyle/>
                    <a:p>
                      <a:pPr algn="ctr"/>
                      <a:r>
                        <a:rPr sz="1200" b="0">
                          <a:solidFill>
                            <a:srgbClr val="333F50"/>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333F50"/>
                          </a:solidFill>
                          <a:latin typeface="Montserrat"/>
                        </a:rPr>
                        <a:t>Theoretical guarantee</a:t>
                      </a:r>
                    </a:p>
                  </a:txBody>
                  <a:tcPr anchor="ctr" marL="54864" marR="54864" marT="18288" marB="18288">
                    <a:solidFill>
                      <a:srgbClr val="FFFFFF"/>
                    </a:solidFill>
                  </a:tcPr>
                </a:tc>
                <a:tc>
                  <a:txBody>
                    <a:bodyPr/>
                    <a:lstStyle/>
                    <a:p>
                      <a:pPr algn="ctr"/>
                      <a:r>
                        <a:rPr sz="1200" b="0">
                          <a:solidFill>
                            <a:srgbClr val="333F50"/>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333F50"/>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333F50"/>
                          </a:solidFill>
                          <a:latin typeface="Montserrat"/>
                        </a:rPr>
                        <a:t>Stability</a:t>
                      </a:r>
                    </a:p>
                  </a:txBody>
                  <a:tcPr anchor="ctr" marL="54864" marR="54864" marT="18288" marB="18288">
                    <a:solidFill>
                      <a:srgbClr val="F0F4FB"/>
                    </a:solidFill>
                  </a:tcPr>
                </a:tc>
                <a:tc>
                  <a:txBody>
                    <a:bodyPr/>
                    <a:lstStyle/>
                    <a:p>
                      <a:pPr algn="ctr"/>
                      <a:r>
                        <a:rPr sz="1200" b="0">
                          <a:solidFill>
                            <a:srgbClr val="333F50"/>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333F50"/>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333F50"/>
                          </a:solidFill>
                          <a:latin typeface="Montserrat"/>
                        </a:rPr>
                        <a:t>Cluster comparison</a:t>
                      </a:r>
                    </a:p>
                  </a:txBody>
                  <a:tcPr anchor="ctr" marL="54864" marR="54864" marT="18288" marB="18288">
                    <a:solidFill>
                      <a:srgbClr val="FFFFFF"/>
                    </a:solidFill>
                  </a:tcPr>
                </a:tc>
                <a:tc>
                  <a:txBody>
                    <a:bodyPr/>
                    <a:lstStyle/>
                    <a:p>
                      <a:pPr algn="ctr"/>
                      <a:r>
                        <a:rPr sz="1200" b="0">
                          <a:solidFill>
                            <a:srgbClr val="333F50"/>
                          </a:solidFill>
                          <a:latin typeface="Montserrat"/>
                        </a:rPr>
                        <a:t>Strong</a:t>
                      </a:r>
                    </a:p>
                  </a:txBody>
                  <a:tcPr anchor="ctr" marL="54864" marR="54864" marT="18288" marB="18288">
                    <a:solidFill>
                      <a:srgbClr val="FFFFFF"/>
                    </a:solidFill>
                  </a:tcPr>
                </a:tc>
                <a:tc>
                  <a:txBody>
                    <a:bodyPr/>
                    <a:lstStyle/>
                    <a:p>
                      <a:pPr algn="ctr"/>
                      <a:r>
                        <a:rPr sz="1200" b="0">
                          <a:solidFill>
                            <a:srgbClr val="333F50"/>
                          </a:solidFill>
                          <a:latin typeface="Montserrat"/>
                        </a:rPr>
                        <a:t>Limited</a:t>
                      </a:r>
                    </a:p>
                  </a:txBody>
                  <a:tcPr anchor="ctr" marL="54864" marR="54864" marT="18288" marB="18288">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Achieved: cluster-level explanation anchored to individual feature contributions; explanations returned to original variables; theoretically-grounded case for Shapley over LIME.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Limitations: fidelity depends on the LightGBM surrogate; tabular data only; single-level structure.</a:t>
            </a:r>
          </a:p>
          <a:p>
            <a:pPr lvl="1">
              <a:lnSpc>
                <a:spcPct val="105000"/>
              </a:lnSpc>
              <a:spcAft>
                <a:spcPts val="600"/>
              </a:spcAft>
            </a:pPr>
            <a:r>
              <a:rPr sz="1600">
                <a:solidFill>
                  <a:srgbClr val="4472C4"/>
                </a:solidFill>
                <a:latin typeface="Montserrat"/>
              </a:rPr>
              <a:t>–  </a:t>
            </a:r>
            <a:r>
              <a:rPr sz="1600" b="1">
                <a:solidFill>
                  <a:srgbClr val="333F50"/>
                </a:solidFill>
                <a:latin typeface="Montserrat"/>
              </a:rPr>
              <a:t>Cannot yet address hierarchical coherence — that is C2's point of departure.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12" name="Picture 11">
            <a:extLst>
              <a:ext uri="{FF2B5EF4-FFF2-40B4-BE49-F238E27FC236}">
                <a16:creationId xmlns:a16="http://schemas.microsoft.com/office/drawing/2014/main" id="{6F7A2139-CEDC-4A74-8EFD-98602709C00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pic>
        <p:nvPicPr>
          <p:cNvPr id="13" name="Picture 12">
            <a:extLst>
              <a:ext uri="{FF2B5EF4-FFF2-40B4-BE49-F238E27FC236}">
                <a16:creationId xmlns:a16="http://schemas.microsoft.com/office/drawing/2014/main" id="{6AB4BEC6-2AE5-4B35-BF80-7E516452D89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4472C4"/>
                </a:solidFill>
                <a:latin typeface="Montserrat"/>
              </a:rPr>
              <a:t>–  </a:t>
            </a:r>
            <a:r>
              <a:rPr sz="1600" b="0">
                <a:solidFill>
                  <a:srgbClr val="333F50"/>
                </a:solidFill>
                <a:latin typeface="Montserrat"/>
              </a:rPr>
              <a:t>Large-scale data make exact explanation computationally burdensome.</a:t>
            </a:r>
          </a:p>
          <a:p>
            <a:pPr lvl="1">
              <a:lnSpc>
                <a:spcPct val="105000"/>
              </a:lnSpc>
              <a:spcAft>
                <a:spcPts val="600"/>
              </a:spcAft>
            </a:pPr>
            <a:r>
              <a:rPr sz="1600">
                <a:solidFill>
                  <a:srgbClr val="4472C4"/>
                </a:solidFill>
                <a:latin typeface="Montserrat"/>
              </a:rPr>
              <a:t>–  </a:t>
            </a:r>
            <a:r>
              <a:rPr sz="1600" b="0">
                <a:solidFill>
                  <a:srgbClr val="333F50"/>
                </a:solidFill>
                <a:latin typeface="Montserrat"/>
              </a:rPr>
              <a:t>Flat explanation may be true yet incomplete — it cannot show how importance changes inside a cluster.</a:t>
            </a:r>
          </a:p>
          <a:p>
            <a:pPr>
              <a:lnSpc>
                <a:spcPct val="105000"/>
              </a:lnSpc>
              <a:spcAft>
                <a:spcPts val="900"/>
              </a:spcAft>
            </a:pPr>
            <a:r>
              <a:rPr sz="1700">
                <a:solidFill>
                  <a:srgbClr val="4472C4"/>
                </a:solidFill>
                <a:latin typeface="Wingdings"/>
              </a:rPr>
              <a:t>§  </a:t>
            </a:r>
            <a:r>
              <a:rPr sz="1700" b="1">
                <a:solidFill>
                  <a:srgbClr val="333F50"/>
                </a:solidFill>
                <a:latin typeface="Montserrat Medium"/>
              </a:rPr>
              <a:t>Objectives: a genuinely multi-level workflow; a formal cross-level consistency argument (Prop. 6.1); validation on a structurally different large-scale dataset.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Recursive/nested: coarse clustering on the full dataset, then subdivide each cluster.</a:t>
            </a:r>
          </a:p>
          <a:p>
            <a:pPr>
              <a:lnSpc>
                <a:spcPct val="105000"/>
              </a:lnSpc>
              <a:spcAft>
                <a:spcPts val="900"/>
              </a:spcAft>
            </a:pPr>
            <a:r>
              <a:rPr sz="1700">
                <a:solidFill>
                  <a:srgbClr val="4472C4"/>
                </a:solidFill>
                <a:latin typeface="Wingdings"/>
              </a:rPr>
              <a:t>§  </a:t>
            </a:r>
            <a:r>
              <a:rPr sz="1700" b="0">
                <a:solidFill>
                  <a:srgbClr val="333F50"/>
                </a:solidFill>
                <a:latin typeface="Montserrat"/>
              </a:rPr>
              <a:t>For each level, train a level-specific surrogate and compute SHAP in the SAME original feature space.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Cross-level aggregation is NOT a naive average — it respects cluster size and nesting structure.</a:t>
            </a:r>
          </a:p>
          <a:p>
            <a:pPr lvl="1">
              <a:lnSpc>
                <a:spcPct val="105000"/>
              </a:lnSpc>
              <a:spcAft>
                <a:spcPts val="600"/>
              </a:spcAft>
            </a:pPr>
            <a:r>
              <a:rPr sz="1600">
                <a:solidFill>
                  <a:srgbClr val="4472C4"/>
                </a:solidFill>
                <a:latin typeface="Montserrat"/>
              </a:rPr>
              <a:t>–  </a:t>
            </a:r>
            <a:r>
              <a:rPr sz="1600" b="0">
                <a:solidFill>
                  <a:srgbClr val="333F50"/>
                </a:solidFill>
                <a:latin typeface="Montserrat"/>
              </a:rPr>
              <a:t>Parent-level attribution = an expectation over the explanatory structure of its descendants.</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 hierarchy is a pragmatic analytical device, not a claim of true ontological hierarchy.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Let Φ^(l,c)_j = E_{x~c}[|φ_j^(l)(x)|] be the expected absolute SHAP importance of feature j at level l in cluster c.</a:t>
            </a:r>
          </a:p>
          <a:p>
            <a:pPr>
              <a:lnSpc>
                <a:spcPct val="105000"/>
              </a:lnSpc>
              <a:spcAft>
                <a:spcPts val="900"/>
              </a:spcAft>
            </a:pPr>
            <a:r>
              <a:rPr sz="1700">
                <a:solidFill>
                  <a:srgbClr val="4472C4"/>
                </a:solidFill>
                <a:latin typeface="Wingdings"/>
              </a:rPr>
              <a:t>§  </a:t>
            </a:r>
            <a:r>
              <a:rPr sz="1700" b="0">
                <a:solidFill>
                  <a:srgbClr val="333F50"/>
                </a:solidFill>
                <a:latin typeface="Montserrat"/>
              </a:rPr>
              <a:t>Let w_c' = |c'| / |c| be the relative size of child c' within parent c.</a:t>
            </a:r>
          </a:p>
          <a:p>
            <a:pPr>
              <a:lnSpc>
                <a:spcPct val="105000"/>
              </a:lnSpc>
              <a:spcAft>
                <a:spcPts val="900"/>
              </a:spcAft>
            </a:pPr>
            <a:r>
              <a:rPr sz="1700">
                <a:solidFill>
                  <a:srgbClr val="4472C4"/>
                </a:solidFill>
                <a:latin typeface="Wingdings"/>
              </a:rPr>
              <a:t>§  </a:t>
            </a:r>
            <a:r>
              <a:rPr sz="1700" b="1">
                <a:solidFill>
                  <a:srgbClr val="333F50"/>
                </a:solidFill>
                <a:latin typeface="Montserrat Medium"/>
              </a:rPr>
              <a:t>For a strict nested hierarchy on a consistent feature space:</a:t>
            </a:r>
          </a:p>
          <a:p>
            <a:pPr lvl="1">
              <a:lnSpc>
                <a:spcPct val="105000"/>
              </a:lnSpc>
              <a:spcAft>
                <a:spcPts val="600"/>
              </a:spcAft>
            </a:pPr>
            <a:r>
              <a:rPr sz="1600">
                <a:solidFill>
                  <a:srgbClr val="4472C4"/>
                </a:solidFill>
                <a:latin typeface="Montserrat"/>
              </a:rPr>
              <a:t>–  </a:t>
            </a:r>
            <a:r>
              <a:rPr sz="1600" b="1">
                <a:solidFill>
                  <a:srgbClr val="333F50"/>
                </a:solidFill>
                <a:latin typeface="Montserrat"/>
              </a:rPr>
              <a:t>Φ^(l,c)_j = Σ_{c'∈child(c)} w_c' · Φ^(l+1,c')_j + ε_j</a:t>
            </a:r>
          </a:p>
          <a:p>
            <a:pPr lvl="1">
              <a:lnSpc>
                <a:spcPct val="105000"/>
              </a:lnSpc>
              <a:spcAft>
                <a:spcPts val="600"/>
              </a:spcAft>
            </a:pPr>
            <a:r>
              <a:rPr sz="1600">
                <a:solidFill>
                  <a:srgbClr val="4472C4"/>
                </a:solidFill>
                <a:latin typeface="Montserrat"/>
              </a:rPr>
              <a:t>–  </a:t>
            </a:r>
            <a:r>
              <a:rPr sz="1600" b="0">
                <a:solidFill>
                  <a:srgbClr val="333F50"/>
                </a:solidFill>
                <a:latin typeface="Montserrat"/>
              </a:rPr>
              <a:t>ε_j is a residual from surrogate mismatch, vanishing under perfect fidelity.</a:t>
            </a:r>
          </a:p>
          <a:p>
            <a:pPr lvl="1">
              <a:lnSpc>
                <a:spcPct val="105000"/>
              </a:lnSpc>
              <a:spcAft>
                <a:spcPts val="600"/>
              </a:spcAft>
            </a:pPr>
            <a:r>
              <a:rPr sz="1600">
                <a:solidFill>
                  <a:srgbClr val="4472C4"/>
                </a:solidFill>
                <a:latin typeface="Montserrat"/>
              </a:rPr>
              <a:t>–  </a:t>
            </a:r>
            <a:r>
              <a:rPr sz="1600" b="0">
                <a:solidFill>
                  <a:srgbClr val="333F50"/>
                </a:solidFill>
                <a:latin typeface="Montserrat"/>
              </a:rPr>
              <a:t>Derived via law of total expectation (children partition the parent).</a:t>
            </a:r>
          </a:p>
          <a:p>
            <a:pPr lvl="1">
              <a:lnSpc>
                <a:spcPct val="105000"/>
              </a:lnSpc>
              <a:spcAft>
                <a:spcPts val="600"/>
              </a:spcAft>
            </a:pPr>
            <a:r>
              <a:rPr sz="1600">
                <a:solidFill>
                  <a:srgbClr val="4472C4"/>
                </a:solidFill>
                <a:latin typeface="Montserrat"/>
              </a:rPr>
              <a:t>–  </a:t>
            </a:r>
            <a:r>
              <a:rPr sz="1600" b="0">
                <a:solidFill>
                  <a:srgbClr val="333F50"/>
                </a:solidFill>
                <a:latin typeface="Montserrat"/>
              </a:rPr>
              <a:t>Does NOT imply explanations are identical across levels — it implies differences can be interpreted, not dismissed as inconsistency.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Full dataset, k = 3 (strong convergence on multi-criteria evaluation).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Silhouette ≈ 0.63 — materially stronger separation than wine.</a:t>
            </a:r>
          </a:p>
          <a:p>
            <a:pPr lvl="1">
              <a:lnSpc>
                <a:spcPct val="105000"/>
              </a:lnSpc>
              <a:spcAft>
                <a:spcPts val="600"/>
              </a:spcAft>
            </a:pPr>
            <a:r>
              <a:rPr sz="1600">
                <a:solidFill>
                  <a:srgbClr val="4472C4"/>
                </a:solidFill>
                <a:latin typeface="Montserrat"/>
              </a:rPr>
              <a:t>–  </a:t>
            </a:r>
            <a:r>
              <a:rPr sz="1600" b="0">
                <a:solidFill>
                  <a:srgbClr val="333F50"/>
                </a:solidFill>
                <a:latin typeface="Montserrat"/>
              </a:rPr>
              <a:t>Davies–Bouldin ≈ 0.55 — low between-cluster ambiguity.</a:t>
            </a:r>
          </a:p>
          <a:p>
            <a:pPr lvl="1">
              <a:lnSpc>
                <a:spcPct val="105000"/>
              </a:lnSpc>
              <a:spcAft>
                <a:spcPts val="600"/>
              </a:spcAft>
            </a:pPr>
            <a:r>
              <a:rPr sz="1600">
                <a:solidFill>
                  <a:srgbClr val="4472C4"/>
                </a:solidFill>
                <a:latin typeface="Montserrat"/>
              </a:rPr>
              <a:t>–  </a:t>
            </a:r>
            <a:r>
              <a:rPr sz="1600" b="0">
                <a:solidFill>
                  <a:srgbClr val="333F50"/>
                </a:solidFill>
                <a:latin typeface="Montserrat"/>
              </a:rPr>
              <a:t>PCA projection (2 components) used only for visual inspection.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Sensitivity: robust to modest variation in k, projection dim, surrogate depth; only low-ranked variables shift.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Global SHAP ranking (high → low):</a:t>
            </a:r>
          </a:p>
          <a:p>
            <a:pPr lvl="1">
              <a:lnSpc>
                <a:spcPct val="105000"/>
              </a:lnSpc>
              <a:spcAft>
                <a:spcPts val="600"/>
              </a:spcAft>
            </a:pPr>
            <a:r>
              <a:rPr sz="1600">
                <a:solidFill>
                  <a:srgbClr val="4472C4"/>
                </a:solidFill>
                <a:latin typeface="Montserrat"/>
              </a:rPr>
              <a:t>–  </a:t>
            </a:r>
            <a:r>
              <a:rPr sz="1600" b="0">
                <a:solidFill>
                  <a:srgbClr val="333F50"/>
                </a:solidFill>
                <a:latin typeface="Montserrat"/>
              </a:rPr>
              <a:t>temperature → dew point → pressure → CO → NO2 → PM10 → PM2.5</a:t>
            </a:r>
          </a:p>
          <a:p>
            <a:pPr lvl="1">
              <a:lnSpc>
                <a:spcPct val="105000"/>
              </a:lnSpc>
              <a:spcAft>
                <a:spcPts val="600"/>
              </a:spcAft>
            </a:pPr>
            <a:r>
              <a:rPr sz="1600">
                <a:solidFill>
                  <a:srgbClr val="4472C4"/>
                </a:solidFill>
                <a:latin typeface="Montserrat"/>
              </a:rPr>
              <a:t>–  </a:t>
            </a:r>
            <a:r>
              <a:rPr sz="1600" b="0">
                <a:solidFill>
                  <a:srgbClr val="333F50"/>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4472C4"/>
                </a:solidFill>
                <a:latin typeface="Montserrat"/>
              </a:rPr>
              <a:t>–  </a:t>
            </a:r>
            <a:r>
              <a:rPr sz="1600" b="0">
                <a:solidFill>
                  <a:srgbClr val="333F50"/>
                </a:solidFill>
                <a:latin typeface="Montserrat"/>
              </a:rPr>
              <a:t>Temperature, dew point and pressure condition dispersion, trapping, and photochemical behaviour.</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This is the kind of insight flat descriptive summaries often fail to make explicit.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Regime A – warm photochemical: ozone, temperature, dew point prominent (summer photochemical smog).</a:t>
            </a:r>
          </a:p>
          <a:p>
            <a:pPr>
              <a:lnSpc>
                <a:spcPct val="105000"/>
              </a:lnSpc>
              <a:spcAft>
                <a:spcPts val="900"/>
              </a:spcAft>
            </a:pPr>
            <a:r>
              <a:rPr sz="1700">
                <a:solidFill>
                  <a:srgbClr val="4472C4"/>
                </a:solidFill>
                <a:latin typeface="Wingdings"/>
              </a:rPr>
              <a:t>§  </a:t>
            </a:r>
            <a:r>
              <a:rPr sz="1700" b="0">
                <a:solidFill>
                  <a:srgbClr val="333F50"/>
                </a:solidFill>
                <a:latin typeface="Montserrat"/>
              </a:rPr>
              <a:t>Regime B – wintertime smog: CO, SO2, PM dominate; low wind speed suppresses dispersion.</a:t>
            </a:r>
          </a:p>
          <a:p>
            <a:pPr>
              <a:lnSpc>
                <a:spcPct val="105000"/>
              </a:lnSpc>
              <a:spcAft>
                <a:spcPts val="900"/>
              </a:spcAft>
            </a:pPr>
            <a:r>
              <a:rPr sz="1700">
                <a:solidFill>
                  <a:srgbClr val="4472C4"/>
                </a:solidFill>
                <a:latin typeface="Wingdings"/>
              </a:rPr>
              <a:t>§  </a:t>
            </a:r>
            <a:r>
              <a:rPr sz="1700" b="0">
                <a:solidFill>
                  <a:srgbClr val="333F50"/>
                </a:solidFill>
                <a:latin typeface="Montserrat"/>
              </a:rPr>
              <a:t>Regime C – comparatively clean air: favourable meteorology, weak pollutant pushes.</a:t>
            </a:r>
          </a:p>
          <a:p>
            <a:pPr lvl="1">
              <a:lnSpc>
                <a:spcPct val="105000"/>
              </a:lnSpc>
              <a:spcAft>
                <a:spcPts val="600"/>
              </a:spcAft>
            </a:pPr>
            <a:r>
              <a:rPr sz="1600">
                <a:solidFill>
                  <a:srgbClr val="4472C4"/>
                </a:solidFill>
                <a:latin typeface="Montserrat"/>
              </a:rPr>
              <a:t>–  </a:t>
            </a:r>
            <a:r>
              <a:rPr sz="1600" b="1">
                <a:solidFill>
                  <a:srgbClr val="333F50"/>
                </a:solidFill>
                <a:latin typeface="Montserrat"/>
              </a:rPr>
              <a:t>The framework shows not only that these regimes exist, but which variable combinations define them.</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At the coarse level, temperature and dew point dominate — they differentiate broad atmospheric regimes.</a:t>
            </a:r>
          </a:p>
          <a:p>
            <a:pPr>
              <a:lnSpc>
                <a:spcPct val="105000"/>
              </a:lnSpc>
              <a:spcAft>
                <a:spcPts val="900"/>
              </a:spcAft>
            </a:pPr>
            <a:r>
              <a:rPr sz="1700">
                <a:solidFill>
                  <a:srgbClr val="4472C4"/>
                </a:solidFill>
                <a:latin typeface="Wingdings"/>
              </a:rPr>
              <a:t>§  </a:t>
            </a:r>
            <a:r>
              <a:rPr sz="1700" b="0">
                <a:solidFill>
                  <a:srgbClr val="333F50"/>
                </a:solidFill>
                <a:latin typeface="Montserrat"/>
              </a:rPr>
              <a:t>Within individual clusters, CO, SO2, PM10, wind speed, pressure, or ozone become more discriminative.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This change is NOT contradictory — it is exactly what a multi-level explanation should reveal.</a:t>
            </a:r>
          </a:p>
          <a:p>
            <a:pPr lvl="1">
              <a:lnSpc>
                <a:spcPct val="105000"/>
              </a:lnSpc>
              <a:spcAft>
                <a:spcPts val="600"/>
              </a:spcAft>
            </a:pPr>
            <a:r>
              <a:rPr sz="1600">
                <a:solidFill>
                  <a:srgbClr val="4472C4"/>
                </a:solidFill>
                <a:latin typeface="Montserrat"/>
              </a:rPr>
              <a:t>–  </a:t>
            </a:r>
            <a:r>
              <a:rPr sz="1600" b="0">
                <a:solidFill>
                  <a:srgbClr val="333F50"/>
                </a:solidFill>
                <a:latin typeface="Montserrat"/>
              </a:rPr>
              <a:t>Parent-level story = regime selection. Cluster-level story = variation within a regime.</a:t>
            </a:r>
          </a:p>
          <a:p>
            <a:pPr lvl="1">
              <a:lnSpc>
                <a:spcPct val="105000"/>
              </a:lnSpc>
              <a:spcAft>
                <a:spcPts val="600"/>
              </a:spcAft>
            </a:pPr>
            <a:r>
              <a:rPr sz="1600">
                <a:solidFill>
                  <a:srgbClr val="4472C4"/>
                </a:solidFill>
                <a:latin typeface="Montserrat"/>
              </a:rPr>
              <a:t>–  </a:t>
            </a:r>
            <a:r>
              <a:rPr sz="1600" b="0">
                <a:solidFill>
                  <a:srgbClr val="333F50"/>
                </a:solidFill>
                <a:latin typeface="Montserrat"/>
              </a:rPr>
              <a:t>A variable can be globally important yet locally uninformative within a sub-cluster.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Wine: small, dense, chemically correlated. Beijing: large, noisy, temporally and meteorologically variable.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The same explanatory logic remains productive in both → not tied to one domain-specific peculiarity.</a:t>
            </a:r>
          </a:p>
          <a:p>
            <a:pPr lvl="1">
              <a:lnSpc>
                <a:spcPct val="105000"/>
              </a:lnSpc>
              <a:spcAft>
                <a:spcPts val="600"/>
              </a:spcAft>
            </a:pPr>
            <a:r>
              <a:rPr sz="1600">
                <a:solidFill>
                  <a:srgbClr val="4472C4"/>
                </a:solidFill>
                <a:latin typeface="Montserrat"/>
              </a:rPr>
              <a:t>–  </a:t>
            </a:r>
            <a:r>
              <a:rPr sz="1600" b="0">
                <a:solidFill>
                  <a:srgbClr val="333F50"/>
                </a:solidFill>
                <a:latin typeface="Montserrat"/>
              </a:rPr>
              <a:t>vs SHAP-based clustering literature: Beijing Silhouette ≈ 0.63 vs Gramegna &amp; Giudici credit-risk 0.37.</a:t>
            </a:r>
          </a:p>
          <a:p>
            <a:pPr lvl="1">
              <a:lnSpc>
                <a:spcPct val="105000"/>
              </a:lnSpc>
              <a:spcAft>
                <a:spcPts val="600"/>
              </a:spcAft>
            </a:pPr>
            <a:r>
              <a:rPr sz="1600">
                <a:solidFill>
                  <a:srgbClr val="4472C4"/>
                </a:solidFill>
                <a:latin typeface="Montserrat"/>
              </a:rPr>
              <a:t>–  </a:t>
            </a:r>
            <a:r>
              <a:rPr sz="1600" b="0">
                <a:solidFill>
                  <a:srgbClr val="333F50"/>
                </a:solidFill>
                <a:latin typeface="Montserrat"/>
              </a:rPr>
              <a:t>LIME comparator: weaker structural coherence, less stable local narratives for hierarchical reasoning.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Achieved: scalable, multi-granular explanation without collapsing into a single flat summary; formal consistency argument; validation on a structurally different dataset.</a:t>
            </a:r>
          </a:p>
          <a:p>
            <a:pPr>
              <a:lnSpc>
                <a:spcPct val="105000"/>
              </a:lnSpc>
              <a:spcAft>
                <a:spcPts val="900"/>
              </a:spcAft>
            </a:pPr>
            <a:r>
              <a:rPr sz="1700">
                <a:solidFill>
                  <a:srgbClr val="4472C4"/>
                </a:solidFill>
                <a:latin typeface="Wingdings"/>
              </a:rPr>
              <a:t>§  </a:t>
            </a:r>
            <a:r>
              <a:rPr sz="1700" b="1">
                <a:solidFill>
                  <a:srgbClr val="333F50"/>
                </a:solidFill>
                <a:latin typeface="Montserrat Medium"/>
              </a:rPr>
              <a:t>Limitations: still static clustering (despite temporal Beijing data); surrogate-based SHAP + representative-instance reporting compress variation; tabular only.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11" name="Picture 10">
            <a:extLst>
              <a:ext uri="{FF2B5EF4-FFF2-40B4-BE49-F238E27FC236}">
                <a16:creationId xmlns:a16="http://schemas.microsoft.com/office/drawing/2014/main" id="{F12F7A59-75A8-477D-AE84-2A7CD6038F5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pic>
        <p:nvPicPr>
          <p:cNvPr id="13" name="Picture 12">
            <a:extLst>
              <a:ext uri="{FF2B5EF4-FFF2-40B4-BE49-F238E27FC236}">
                <a16:creationId xmlns:a16="http://schemas.microsoft.com/office/drawing/2014/main" id="{7DD3C25F-AC3C-4B62-929F-79324707176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4472C4"/>
                </a:solidFill>
                <a:latin typeface="Montserrat"/>
              </a:rPr>
              <a:t>–  </a:t>
            </a:r>
            <a:r>
              <a:rPr sz="1600" b="0">
                <a:solidFill>
                  <a:srgbClr val="333F50"/>
                </a:solidFill>
                <a:latin typeface="Montserrat"/>
              </a:rPr>
              <a:t>Diversity is often a secondary objective or a re-ranking heuristic.</a:t>
            </a:r>
          </a:p>
          <a:p>
            <a:pPr lvl="1">
              <a:lnSpc>
                <a:spcPct val="105000"/>
              </a:lnSpc>
              <a:spcAft>
                <a:spcPts val="600"/>
              </a:spcAft>
            </a:pPr>
            <a:r>
              <a:rPr sz="1600">
                <a:solidFill>
                  <a:srgbClr val="4472C4"/>
                </a:solidFill>
                <a:latin typeface="Montserrat"/>
              </a:rPr>
              <a:t>–  </a:t>
            </a:r>
            <a:r>
              <a:rPr sz="1600" b="0">
                <a:solidFill>
                  <a:srgbClr val="333F50"/>
                </a:solidFill>
                <a:latin typeface="Montserrat"/>
              </a:rPr>
              <a:t>Interpretability is added after prediction, not integrated into the learning objective.</a:t>
            </a:r>
          </a:p>
          <a:p>
            <a:pPr>
              <a:lnSpc>
                <a:spcPct val="105000"/>
              </a:lnSpc>
              <a:spcAft>
                <a:spcPts val="900"/>
              </a:spcAft>
            </a:pPr>
            <a:r>
              <a:rPr sz="1700">
                <a:solidFill>
                  <a:srgbClr val="4472C4"/>
                </a:solidFill>
                <a:latin typeface="Wingdings"/>
              </a:rPr>
              <a:t>§  </a:t>
            </a:r>
            <a:r>
              <a:rPr sz="1700" b="1">
                <a:solidFill>
                  <a:srgbClr val="333F50"/>
                </a:solidFill>
                <a:latin typeface="Montserrat Medium"/>
              </a:rPr>
              <a:t>Objectives: formulate recommendation as a cooperative game; embed preference-aware Monte Carlo Shapley into message passing; improve ranking, coverage, and diversity jointly.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Player set N = U ∪ I ∪ C (users, items, contexts).</a:t>
            </a:r>
          </a:p>
          <a:p>
            <a:pPr>
              <a:lnSpc>
                <a:spcPct val="105000"/>
              </a:lnSpc>
              <a:spcAft>
                <a:spcPts val="900"/>
              </a:spcAft>
            </a:pPr>
            <a:r>
              <a:rPr sz="1700">
                <a:solidFill>
                  <a:srgbClr val="4472C4"/>
                </a:solidFill>
                <a:latin typeface="Wingdings"/>
              </a:rPr>
              <a:t>§  </a:t>
            </a:r>
            <a:r>
              <a:rPr sz="1700" b="0">
                <a:solidFill>
                  <a:srgbClr val="333F50"/>
                </a:solidFill>
                <a:latin typeface="Montserrat"/>
              </a:rPr>
              <a:t>Hypergraph H = (V, E, W); V = U ∪ I ∪ C; W = dynamic edge weights from Shapley estimates.</a:t>
            </a:r>
          </a:p>
          <a:p>
            <a:pPr>
              <a:lnSpc>
                <a:spcPct val="105000"/>
              </a:lnSpc>
              <a:spcAft>
                <a:spcPts val="900"/>
              </a:spcAft>
            </a:pPr>
            <a:r>
              <a:rPr sz="1700">
                <a:solidFill>
                  <a:srgbClr val="4472C4"/>
                </a:solidFill>
                <a:latin typeface="Wingdings"/>
              </a:rPr>
              <a:t>§  </a:t>
            </a:r>
            <a:r>
              <a:rPr sz="1700" b="0">
                <a:solidFill>
                  <a:srgbClr val="333F50"/>
                </a:solidFill>
                <a:latin typeface="Montserrat"/>
              </a:rPr>
              <a:t>Coalition S ⊆ N represents entities participating in a recommendation episode.</a:t>
            </a:r>
          </a:p>
          <a:p>
            <a:pPr>
              <a:lnSpc>
                <a:spcPct val="105000"/>
              </a:lnSpc>
              <a:spcAft>
                <a:spcPts val="900"/>
              </a:spcAft>
            </a:pPr>
            <a:r>
              <a:rPr sz="1700">
                <a:solidFill>
                  <a:srgbClr val="4472C4"/>
                </a:solidFill>
                <a:latin typeface="Wingdings"/>
              </a:rPr>
              <a:t>§  </a:t>
            </a:r>
            <a:r>
              <a:rPr sz="1700" b="0">
                <a:solidFill>
                  <a:srgbClr val="333F50"/>
                </a:solidFill>
                <a:latin typeface="Montserrat"/>
              </a:rPr>
              <a:t>Coalition value v(S) measures the quality of the recommendation outcome achievable by S.</a:t>
            </a:r>
          </a:p>
          <a:p>
            <a:pPr>
              <a:lnSpc>
                <a:spcPct val="105000"/>
              </a:lnSpc>
              <a:spcAft>
                <a:spcPts val="900"/>
              </a:spcAft>
            </a:pPr>
            <a:r>
              <a:rPr sz="1700">
                <a:solidFill>
                  <a:srgbClr val="4472C4"/>
                </a:solidFill>
                <a:latin typeface="Wingdings"/>
              </a:rPr>
              <a:t>§  </a:t>
            </a:r>
            <a:r>
              <a:rPr sz="1700" b="0">
                <a:solidFill>
                  <a:srgbClr val="333F50"/>
                </a:solidFill>
                <a:latin typeface="Montserrat"/>
              </a:rPr>
              <a:t>Top-N task: produce a ranked list L_u balancing relevance, diversity, and contextual fit.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v(S) = α · NDCG@20(S) + β · Diversity(S) + γ · ContextScore(S), with α + β + γ = 1.</a:t>
            </a:r>
          </a:p>
          <a:p>
            <a:pPr lvl="1">
              <a:lnSpc>
                <a:spcPct val="105000"/>
              </a:lnSpc>
              <a:spcAft>
                <a:spcPts val="600"/>
              </a:spcAft>
            </a:pPr>
            <a:r>
              <a:rPr sz="1600">
                <a:solidFill>
                  <a:srgbClr val="4472C4"/>
                </a:solidFill>
                <a:latin typeface="Montserrat"/>
              </a:rPr>
              <a:t>–  </a:t>
            </a:r>
            <a:r>
              <a:rPr sz="1600" b="0">
                <a:solidFill>
                  <a:srgbClr val="333F50"/>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4472C4"/>
                </a:solidFill>
                <a:latin typeface="Wingdings"/>
              </a:rPr>
              <a:t>§  </a:t>
            </a:r>
            <a:r>
              <a:rPr sz="1700" b="1">
                <a:solidFill>
                  <a:srgbClr val="333F50"/>
                </a:solidFill>
                <a:latin typeface="Montserrat Medium"/>
              </a:rPr>
              <a:t>Preference-weighted: v_pref(S) = v(S) + λ_pref · Σ_{(u,i)∈S} sim(u,i).</a:t>
            </a:r>
          </a:p>
          <a:p>
            <a:pPr lvl="1">
              <a:lnSpc>
                <a:spcPct val="105000"/>
              </a:lnSpc>
              <a:spcAft>
                <a:spcPts val="600"/>
              </a:spcAft>
            </a:pPr>
            <a:r>
              <a:rPr sz="1600">
                <a:solidFill>
                  <a:srgbClr val="4472C4"/>
                </a:solidFill>
                <a:latin typeface="Montserrat"/>
              </a:rPr>
              <a:t>–  </a:t>
            </a:r>
            <a:r>
              <a:rPr sz="1600" b="0">
                <a:solidFill>
                  <a:srgbClr val="333F50"/>
                </a:solidFill>
                <a:latin typeface="Montserrat"/>
              </a:rPr>
              <a:t>α = 0.60, β = 0.25, γ = 0.15; λ_pref = 0.20 — grid-searched, stable (&lt;1.5% variance in NDCG@20).</a:t>
            </a:r>
          </a:p>
          <a:p>
            <a:pPr lvl="1">
              <a:lnSpc>
                <a:spcPct val="105000"/>
              </a:lnSpc>
              <a:spcAft>
                <a:spcPts val="600"/>
              </a:spcAft>
            </a:pPr>
            <a:r>
              <a:rPr sz="1600">
                <a:solidFill>
                  <a:srgbClr val="4472C4"/>
                </a:solidFill>
                <a:latin typeface="Montserrat"/>
              </a:rPr>
              <a:t>–  </a:t>
            </a:r>
            <a:r>
              <a:rPr sz="1600" b="0">
                <a:solidFill>
                  <a:srgbClr val="333F50"/>
                </a:solidFill>
                <a:latin typeface="Montserrat"/>
              </a:rPr>
              <a:t>Coalition evaluation scoped to the interaction episode (a few dozen players), not the full catalogue.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Exact Shapley is combinatorial and infeasible for realistic systems.</a:t>
            </a:r>
          </a:p>
          <a:p>
            <a:pPr>
              <a:lnSpc>
                <a:spcPct val="105000"/>
              </a:lnSpc>
              <a:spcAft>
                <a:spcPts val="900"/>
              </a:spcAft>
            </a:pPr>
            <a:r>
              <a:rPr sz="1700">
                <a:solidFill>
                  <a:srgbClr val="4472C4"/>
                </a:solidFill>
                <a:latin typeface="Wingdings"/>
              </a:rPr>
              <a:t>§  </a:t>
            </a:r>
            <a:r>
              <a:rPr sz="1700" b="1">
                <a:solidFill>
                  <a:srgbClr val="333F50"/>
                </a:solidFill>
                <a:latin typeface="Montserrat Medium"/>
              </a:rPr>
              <a:t>Monte Carlo estimator: φ̂_j = (1/M) Σ_m [ v(S_m ∪ {j}) − v(S_m) ].</a:t>
            </a:r>
          </a:p>
          <a:p>
            <a:pPr>
              <a:lnSpc>
                <a:spcPct val="105000"/>
              </a:lnSpc>
              <a:spcAft>
                <a:spcPts val="900"/>
              </a:spcAft>
            </a:pPr>
            <a:r>
              <a:rPr sz="1700">
                <a:solidFill>
                  <a:srgbClr val="4472C4"/>
                </a:solidFill>
                <a:latin typeface="Wingdings"/>
              </a:rPr>
              <a:t>§  </a:t>
            </a:r>
            <a:r>
              <a:rPr sz="1700" b="1">
                <a:solidFill>
                  <a:srgbClr val="333F50"/>
                </a:solidFill>
                <a:latin typeface="Montserrat Medium"/>
              </a:rPr>
              <a:t>Preference-aware: φ̂_j^pref = (1/M) Σ_m [ v_pref(S_m ∪ {j}) − v_pref(S_m) ].</a:t>
            </a:r>
          </a:p>
          <a:p>
            <a:pPr lvl="1">
              <a:lnSpc>
                <a:spcPct val="105000"/>
              </a:lnSpc>
              <a:spcAft>
                <a:spcPts val="600"/>
              </a:spcAft>
            </a:pPr>
            <a:r>
              <a:rPr sz="1600">
                <a:solidFill>
                  <a:srgbClr val="4472C4"/>
                </a:solidFill>
                <a:latin typeface="Montserrat"/>
              </a:rPr>
              <a:t>–  </a:t>
            </a:r>
            <a:r>
              <a:rPr sz="1600" b="0">
                <a:solidFill>
                  <a:srgbClr val="333F50"/>
                </a:solidFill>
                <a:latin typeface="Montserrat"/>
              </a:rPr>
              <a:t>Unbiased; variance = σ²/M → MSE decays O(1/M), absolute error O(1/√M).</a:t>
            </a:r>
          </a:p>
          <a:p>
            <a:pPr lvl="1">
              <a:lnSpc>
                <a:spcPct val="105000"/>
              </a:lnSpc>
              <a:spcAft>
                <a:spcPts val="600"/>
              </a:spcAft>
            </a:pPr>
            <a:r>
              <a:rPr sz="1600">
                <a:solidFill>
                  <a:srgbClr val="4472C4"/>
                </a:solidFill>
                <a:latin typeface="Montserrat"/>
              </a:rPr>
              <a:t>–  </a:t>
            </a:r>
            <a:r>
              <a:rPr sz="1600" b="1">
                <a:solidFill>
                  <a:srgbClr val="333F50"/>
                </a:solidFill>
                <a:latin typeface="Montserrat"/>
              </a:rPr>
              <a:t>M = 50 selected: MSE ≈ 1.4×10⁻⁵, ~99% accuracy on MovieLens-1M.</a:t>
            </a:r>
          </a:p>
          <a:p>
            <a:pPr lvl="1">
              <a:lnSpc>
                <a:spcPct val="105000"/>
              </a:lnSpc>
              <a:spcAft>
                <a:spcPts val="600"/>
              </a:spcAft>
            </a:pPr>
            <a:r>
              <a:rPr sz="1600">
                <a:solidFill>
                  <a:srgbClr val="4472C4"/>
                </a:solidFill>
                <a:latin typeface="Montserrat"/>
              </a:rPr>
              <a:t>–  </a:t>
            </a:r>
            <a:r>
              <a:rPr sz="1600" b="0">
                <a:solidFill>
                  <a:srgbClr val="333F50"/>
                </a:solidFill>
                <a:latin typeface="Montserrat"/>
              </a:rPr>
              <a:t>Refreshed every 10 batches (~49 updates/epoch), smoothed by exponential moving average.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Base propagation: e^(l+1) = σ( D^-1/2 A D^-1/2 e^(l) ).</a:t>
            </a:r>
          </a:p>
          <a:p>
            <a:pPr>
              <a:lnSpc>
                <a:spcPct val="105000"/>
              </a:lnSpc>
              <a:spcAft>
                <a:spcPts val="900"/>
              </a:spcAft>
            </a:pPr>
            <a:r>
              <a:rPr sz="1700">
                <a:solidFill>
                  <a:srgbClr val="4472C4"/>
                </a:solidFill>
                <a:latin typeface="Wingdings"/>
              </a:rPr>
              <a:t>§  </a:t>
            </a:r>
            <a:r>
              <a:rPr sz="1700" b="1">
                <a:solidFill>
                  <a:srgbClr val="333F50"/>
                </a:solidFill>
                <a:latin typeface="Montserrat Medium"/>
              </a:rPr>
              <a:t>Shapley-weighted: e_j^(l+1) = σ( W^(l) e_j^(l) + Σ_{k∈N(j)} w_jk e_k^(l) ).</a:t>
            </a:r>
          </a:p>
          <a:p>
            <a:pPr>
              <a:lnSpc>
                <a:spcPct val="105000"/>
              </a:lnSpc>
              <a:spcAft>
                <a:spcPts val="900"/>
              </a:spcAft>
            </a:pPr>
            <a:r>
              <a:rPr sz="1700">
                <a:solidFill>
                  <a:srgbClr val="4472C4"/>
                </a:solidFill>
                <a:latin typeface="Wingdings"/>
              </a:rPr>
              <a:t>§  </a:t>
            </a:r>
            <a:r>
              <a:rPr sz="1700" b="1">
                <a:solidFill>
                  <a:srgbClr val="333F50"/>
                </a:solidFill>
                <a:latin typeface="Montserrat Medium"/>
              </a:rPr>
              <a:t>Normalised weights: w_jk = φ̂_jk / Σ_{k'∈N(j)} φ̂_jk'.</a:t>
            </a:r>
          </a:p>
          <a:p>
            <a:pPr lvl="1">
              <a:lnSpc>
                <a:spcPct val="105000"/>
              </a:lnSpc>
              <a:spcAft>
                <a:spcPts val="600"/>
              </a:spcAft>
            </a:pPr>
            <a:r>
              <a:rPr sz="1600">
                <a:solidFill>
                  <a:srgbClr val="4472C4"/>
                </a:solidFill>
                <a:latin typeface="Montserrat"/>
              </a:rPr>
              <a:t>–  </a:t>
            </a:r>
            <a:r>
              <a:rPr sz="1600" b="0">
                <a:solidFill>
                  <a:srgbClr val="333F50"/>
                </a:solidFill>
                <a:latin typeface="Montserrat"/>
              </a:rPr>
              <a:t>Clipped + exponentially smoothed before normalisation (stabilises sparse regimes).</a:t>
            </a:r>
          </a:p>
          <a:p>
            <a:pPr lvl="1">
              <a:lnSpc>
                <a:spcPct val="105000"/>
              </a:lnSpc>
              <a:spcAft>
                <a:spcPts val="600"/>
              </a:spcAft>
            </a:pPr>
            <a:r>
              <a:rPr sz="1600">
                <a:solidFill>
                  <a:srgbClr val="4472C4"/>
                </a:solidFill>
                <a:latin typeface="Montserrat"/>
              </a:rPr>
              <a:t>–  </a:t>
            </a:r>
            <a:r>
              <a:rPr sz="1600" b="0">
                <a:solidFill>
                  <a:srgbClr val="333F50"/>
                </a:solidFill>
                <a:latin typeface="Montserrat"/>
              </a:rPr>
              <a:t>Attention gate: a_ui = σ( W_a[ e_u, e_i, l_i ] ); y_ui = (1 + a_ui) ⟨e_u, e_i⟩.</a:t>
            </a:r>
          </a:p>
          <a:p>
            <a:pPr lvl="1">
              <a:lnSpc>
                <a:spcPct val="105000"/>
              </a:lnSpc>
              <a:spcAft>
                <a:spcPts val="600"/>
              </a:spcAft>
            </a:pPr>
            <a:r>
              <a:rPr sz="1600">
                <a:solidFill>
                  <a:srgbClr val="4472C4"/>
                </a:solidFill>
                <a:latin typeface="Montserrat"/>
              </a:rPr>
              <a:t>–  </a:t>
            </a:r>
            <a:r>
              <a:rPr sz="1600" b="0">
                <a:solidFill>
                  <a:srgbClr val="333F50"/>
                </a:solidFill>
                <a:latin typeface="Montserrat"/>
              </a:rPr>
              <a:t>Context-aware score: f(u,i,c) = y_ui + λ_c ⟨g(c_ui), e_cui⟩.</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L = L_rec + λ_div L_div + λ_ctx L_ctx + λ_reg L_reg.</a:t>
            </a:r>
          </a:p>
          <a:p>
            <a:pPr lvl="1">
              <a:lnSpc>
                <a:spcPct val="105000"/>
              </a:lnSpc>
              <a:spcAft>
                <a:spcPts val="600"/>
              </a:spcAft>
            </a:pPr>
            <a:r>
              <a:rPr sz="1600">
                <a:solidFill>
                  <a:srgbClr val="4472C4"/>
                </a:solidFill>
                <a:latin typeface="Montserrat"/>
              </a:rPr>
              <a:t>–  </a:t>
            </a:r>
            <a:r>
              <a:rPr sz="1600" b="0">
                <a:solidFill>
                  <a:srgbClr val="333F50"/>
                </a:solidFill>
                <a:latin typeface="Montserrat"/>
              </a:rPr>
              <a:t>L_rec – Bayesian Personalised Ranking (pairwise, implicit feedback).</a:t>
            </a:r>
          </a:p>
          <a:p>
            <a:pPr lvl="1">
              <a:lnSpc>
                <a:spcPct val="105000"/>
              </a:lnSpc>
              <a:spcAft>
                <a:spcPts val="600"/>
              </a:spcAft>
            </a:pPr>
            <a:r>
              <a:rPr sz="1600">
                <a:solidFill>
                  <a:srgbClr val="4472C4"/>
                </a:solidFill>
                <a:latin typeface="Montserrat"/>
              </a:rPr>
              <a:t>–  </a:t>
            </a:r>
            <a:r>
              <a:rPr sz="1600" b="0">
                <a:solidFill>
                  <a:srgbClr val="333F50"/>
                </a:solidFill>
                <a:latin typeface="Montserrat"/>
              </a:rPr>
              <a:t>L_div – Intra-List Diversity regulariser: penalises redundant ranked lists.</a:t>
            </a:r>
          </a:p>
          <a:p>
            <a:pPr lvl="1">
              <a:lnSpc>
                <a:spcPct val="105000"/>
              </a:lnSpc>
              <a:spcAft>
                <a:spcPts val="600"/>
              </a:spcAft>
            </a:pPr>
            <a:r>
              <a:rPr sz="1600">
                <a:solidFill>
                  <a:srgbClr val="4472C4"/>
                </a:solidFill>
                <a:latin typeface="Montserrat"/>
              </a:rPr>
              <a:t>–  </a:t>
            </a:r>
            <a:r>
              <a:rPr sz="1600" b="0">
                <a:solidFill>
                  <a:srgbClr val="333F50"/>
                </a:solidFill>
                <a:latin typeface="Montserrat"/>
              </a:rPr>
              <a:t>L_ctx – Context alignment: match context embedding to context-node representation.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L_reg – L2 weight decay.</a:t>
            </a:r>
          </a:p>
          <a:p>
            <a:pPr lvl="1">
              <a:lnSpc>
                <a:spcPct val="105000"/>
              </a:lnSpc>
              <a:spcAft>
                <a:spcPts val="600"/>
              </a:spcAft>
            </a:pPr>
            <a:r>
              <a:rPr sz="1600">
                <a:solidFill>
                  <a:srgbClr val="4472C4"/>
                </a:solidFill>
                <a:latin typeface="Montserrat"/>
              </a:rPr>
              <a:t>–  </a:t>
            </a:r>
            <a:r>
              <a:rPr sz="1600" b="1">
                <a:solidFill>
                  <a:srgbClr val="333F50"/>
                </a:solidFill>
                <a:latin typeface="Montserrat"/>
              </a:rPr>
              <a:t>The learning objective and coalition value are aligned: DyHuCoG trains to optimise the same balance that later determines attribution.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4472C4"/>
                    </a:solidFill>
                  </a:tcPr>
                </a:tc>
                <a:tc>
                  <a:txBody>
                    <a:bodyPr/>
                    <a:lstStyle/>
                    <a:p>
                      <a:pPr algn="ctr"/>
                      <a:r>
                        <a:rPr sz="1200" b="1">
                          <a:solidFill>
                            <a:srgbClr val="FFFFFF"/>
                          </a:solidFill>
                          <a:latin typeface="Montserrat Medium"/>
                        </a:rPr>
                        <a:t>Model</a:t>
                      </a:r>
                    </a:p>
                  </a:txBody>
                  <a:tcPr anchor="ctr" marL="54864" marR="54864" marT="18288" marB="18288">
                    <a:solidFill>
                      <a:srgbClr val="4472C4"/>
                    </a:solidFill>
                  </a:tcPr>
                </a:tc>
                <a:tc>
                  <a:txBody>
                    <a:bodyPr/>
                    <a:lstStyle/>
                    <a:p>
                      <a:pPr algn="ctr"/>
                      <a:r>
                        <a:rPr sz="1200" b="1">
                          <a:solidFill>
                            <a:srgbClr val="FFFFFF"/>
                          </a:solidFill>
                          <a:latin typeface="Montserrat Medium"/>
                        </a:rPr>
                        <a:t>NDCG@20</a:t>
                      </a:r>
                    </a:p>
                  </a:txBody>
                  <a:tcPr anchor="ctr" marL="54864" marR="54864" marT="18288" marB="18288">
                    <a:solidFill>
                      <a:srgbClr val="4472C4"/>
                    </a:solidFill>
                  </a:tcPr>
                </a:tc>
                <a:tc>
                  <a:txBody>
                    <a:bodyPr/>
                    <a:lstStyle/>
                    <a:p>
                      <a:pPr algn="ctr"/>
                      <a:r>
                        <a:rPr sz="1200" b="1">
                          <a:solidFill>
                            <a:srgbClr val="FFFFFF"/>
                          </a:solidFill>
                          <a:latin typeface="Montserrat Medium"/>
                        </a:rPr>
                        <a:t>Recall@20</a:t>
                      </a:r>
                    </a:p>
                  </a:txBody>
                  <a:tcPr anchor="ctr" marL="54864" marR="54864" marT="18288" marB="18288">
                    <a:solidFill>
                      <a:srgbClr val="4472C4"/>
                    </a:solidFill>
                  </a:tcPr>
                </a:tc>
                <a:tc>
                  <a:txBody>
                    <a:bodyPr/>
                    <a:lstStyle/>
                    <a:p>
                      <a:pPr algn="ctr"/>
                      <a:r>
                        <a:rPr sz="1200" b="1">
                          <a:solidFill>
                            <a:srgbClr val="FFFFFF"/>
                          </a:solidFill>
                          <a:latin typeface="Montserrat Medium"/>
                        </a:rPr>
                        <a:t>Coverage</a:t>
                      </a:r>
                    </a:p>
                  </a:txBody>
                  <a:tcPr anchor="ctr" marL="54864" marR="54864" marT="18288" marB="18288">
                    <a:solidFill>
                      <a:srgbClr val="4472C4"/>
                    </a:solidFill>
                  </a:tcPr>
                </a:tc>
                <a:tc>
                  <a:txBody>
                    <a:bodyPr/>
                    <a:lstStyle/>
                    <a:p>
                      <a:pPr algn="ctr"/>
                      <a:r>
                        <a:rPr sz="1200" b="1">
                          <a:solidFill>
                            <a:srgbClr val="FFFFFF"/>
                          </a:solidFill>
                          <a:latin typeface="Montserrat Medium"/>
                        </a:rPr>
                        <a:t>Diversity</a:t>
                      </a:r>
                    </a:p>
                  </a:txBody>
                  <a:tcPr anchor="ctr" marL="54864" marR="54864" marT="18288" marB="18288">
                    <a:solidFill>
                      <a:srgbClr val="4472C4"/>
                    </a:solidFill>
                  </a:tcPr>
                </a:tc>
              </a:tr>
              <a:tr h="713232">
                <a:tc>
                  <a:txBody>
                    <a:bodyPr/>
                    <a:lstStyle/>
                    <a:p>
                      <a:pPr algn="l"/>
                      <a:r>
                        <a:rPr sz="1200" b="0">
                          <a:solidFill>
                            <a:srgbClr val="333F50"/>
                          </a:solidFill>
                          <a:latin typeface="Montserrat"/>
                        </a:rPr>
                        <a:t>MovieLens-1M</a:t>
                      </a:r>
                    </a:p>
                  </a:txBody>
                  <a:tcPr anchor="ctr" marL="54864" marR="54864" marT="18288" marB="18288">
                    <a:solidFill>
                      <a:srgbClr val="FFFFFF"/>
                    </a:solidFill>
                  </a:tcPr>
                </a:tc>
                <a:tc>
                  <a:txBody>
                    <a:bodyPr/>
                    <a:lstStyle/>
                    <a:p>
                      <a:pPr algn="ctr"/>
                      <a:r>
                        <a:rPr sz="1200" b="0">
                          <a:solidFill>
                            <a:srgbClr val="333F50"/>
                          </a:solidFill>
                          <a:latin typeface="Montserrat"/>
                        </a:rPr>
                        <a:t>HPCF</a:t>
                      </a:r>
                    </a:p>
                  </a:txBody>
                  <a:tcPr anchor="ctr" marL="54864" marR="54864" marT="18288" marB="18288">
                    <a:solidFill>
                      <a:srgbClr val="FFFFFF"/>
                    </a:solidFill>
                  </a:tcPr>
                </a:tc>
                <a:tc>
                  <a:txBody>
                    <a:bodyPr/>
                    <a:lstStyle/>
                    <a:p>
                      <a:pPr algn="ctr"/>
                      <a:r>
                        <a:rPr sz="1200" b="0">
                          <a:solidFill>
                            <a:srgbClr val="333F50"/>
                          </a:solidFill>
                          <a:latin typeface="Montserrat"/>
                        </a:rPr>
                        <a:t>0.2528</a:t>
                      </a:r>
                    </a:p>
                  </a:txBody>
                  <a:tcPr anchor="ctr" marL="54864" marR="54864" marT="18288" marB="18288">
                    <a:solidFill>
                      <a:srgbClr val="FFFFFF"/>
                    </a:solidFill>
                  </a:tcPr>
                </a:tc>
                <a:tc>
                  <a:txBody>
                    <a:bodyPr/>
                    <a:lstStyle/>
                    <a:p>
                      <a:pPr algn="ctr"/>
                      <a:r>
                        <a:rPr sz="1200" b="0">
                          <a:solidFill>
                            <a:srgbClr val="333F50"/>
                          </a:solidFill>
                          <a:latin typeface="Montserrat"/>
                        </a:rPr>
                        <a:t>0.2098</a:t>
                      </a:r>
                    </a:p>
                  </a:txBody>
                  <a:tcPr anchor="ctr" marL="54864" marR="54864" marT="18288" marB="18288">
                    <a:solidFill>
                      <a:srgbClr val="FFFFFF"/>
                    </a:solidFill>
                  </a:tcPr>
                </a:tc>
                <a:tc>
                  <a:txBody>
                    <a:bodyPr/>
                    <a:lstStyle/>
                    <a:p>
                      <a:pPr algn="ctr"/>
                      <a:r>
                        <a:rPr sz="1200" b="0">
                          <a:solidFill>
                            <a:srgbClr val="333F50"/>
                          </a:solidFill>
                          <a:latin typeface="Montserrat"/>
                        </a:rPr>
                        <a:t>0.342</a:t>
                      </a:r>
                    </a:p>
                  </a:txBody>
                  <a:tcPr anchor="ctr" marL="54864" marR="54864" marT="18288" marB="18288">
                    <a:solidFill>
                      <a:srgbClr val="FFFFFF"/>
                    </a:solidFill>
                  </a:tcPr>
                </a:tc>
                <a:tc>
                  <a:txBody>
                    <a:bodyPr/>
                    <a:lstStyle/>
                    <a:p>
                      <a:pPr algn="ctr"/>
                      <a:r>
                        <a:rPr sz="1200" b="0">
                          <a:solidFill>
                            <a:srgbClr val="333F50"/>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2E5A9E"/>
                    </a:solidFill>
                  </a:tcPr>
                </a:tc>
                <a:tc>
                  <a:txBody>
                    <a:bodyPr/>
                    <a:lstStyle/>
                    <a:p>
                      <a:pPr algn="ctr"/>
                      <a:r>
                        <a:rPr sz="1200" b="1">
                          <a:solidFill>
                            <a:srgbClr val="FFFFFF"/>
                          </a:solidFill>
                          <a:latin typeface="Montserrat"/>
                        </a:rPr>
                        <a:t>DyHuCoG</a:t>
                      </a:r>
                    </a:p>
                  </a:txBody>
                  <a:tcPr anchor="ctr" marL="54864" marR="54864" marT="18288" marB="18288">
                    <a:solidFill>
                      <a:srgbClr val="2E5A9E"/>
                    </a:solidFill>
                  </a:tcPr>
                </a:tc>
                <a:tc>
                  <a:txBody>
                    <a:bodyPr/>
                    <a:lstStyle/>
                    <a:p>
                      <a:pPr algn="ctr"/>
                      <a:r>
                        <a:rPr sz="1200" b="1">
                          <a:solidFill>
                            <a:srgbClr val="FFFFFF"/>
                          </a:solidFill>
                          <a:latin typeface="Montserrat"/>
                        </a:rPr>
                        <a:t>0.2775</a:t>
                      </a:r>
                    </a:p>
                  </a:txBody>
                  <a:tcPr anchor="ctr" marL="54864" marR="54864" marT="18288" marB="18288">
                    <a:solidFill>
                      <a:srgbClr val="2E5A9E"/>
                    </a:solidFill>
                  </a:tcPr>
                </a:tc>
                <a:tc>
                  <a:txBody>
                    <a:bodyPr/>
                    <a:lstStyle/>
                    <a:p>
                      <a:pPr algn="ctr"/>
                      <a:r>
                        <a:rPr sz="1200" b="1">
                          <a:solidFill>
                            <a:srgbClr val="FFFFFF"/>
                          </a:solidFill>
                          <a:latin typeface="Montserrat"/>
                        </a:rPr>
                        <a:t>0.2362</a:t>
                      </a:r>
                    </a:p>
                  </a:txBody>
                  <a:tcPr anchor="ctr" marL="54864" marR="54864" marT="18288" marB="18288">
                    <a:solidFill>
                      <a:srgbClr val="2E5A9E"/>
                    </a:solidFill>
                  </a:tcPr>
                </a:tc>
                <a:tc>
                  <a:txBody>
                    <a:bodyPr/>
                    <a:lstStyle/>
                    <a:p>
                      <a:pPr algn="ctr"/>
                      <a:r>
                        <a:rPr sz="1200" b="1">
                          <a:solidFill>
                            <a:srgbClr val="FFFFFF"/>
                          </a:solidFill>
                          <a:latin typeface="Montserrat"/>
                        </a:rPr>
                        <a:t>0.397</a:t>
                      </a:r>
                    </a:p>
                  </a:txBody>
                  <a:tcPr anchor="ctr" marL="54864" marR="54864" marT="18288" marB="18288">
                    <a:solidFill>
                      <a:srgbClr val="2E5A9E"/>
                    </a:solidFill>
                  </a:tcPr>
                </a:tc>
                <a:tc>
                  <a:txBody>
                    <a:bodyPr/>
                    <a:lstStyle/>
                    <a:p>
                      <a:pPr algn="ctr"/>
                      <a:r>
                        <a:rPr sz="1200" b="1">
                          <a:solidFill>
                            <a:srgbClr val="FFFFFF"/>
                          </a:solidFill>
                          <a:latin typeface="Montserrat"/>
                        </a:rPr>
                        <a:t>0.516</a:t>
                      </a:r>
                    </a:p>
                  </a:txBody>
                  <a:tcPr anchor="ctr" marL="54864" marR="54864" marT="18288" marB="18288">
                    <a:solidFill>
                      <a:srgbClr val="2E5A9E"/>
                    </a:solidFill>
                  </a:tcPr>
                </a:tc>
              </a:tr>
              <a:tr h="713232">
                <a:tc>
                  <a:txBody>
                    <a:bodyPr/>
                    <a:lstStyle/>
                    <a:p>
                      <a:pPr algn="l"/>
                      <a:r>
                        <a:rPr sz="1200" b="0">
                          <a:solidFill>
                            <a:srgbClr val="333F50"/>
                          </a:solidFill>
                          <a:latin typeface="Montserrat"/>
                        </a:rPr>
                        <a:t>Amazon-Book</a:t>
                      </a:r>
                    </a:p>
                  </a:txBody>
                  <a:tcPr anchor="ctr" marL="54864" marR="54864" marT="18288" marB="18288">
                    <a:solidFill>
                      <a:srgbClr val="FFFFFF"/>
                    </a:solidFill>
                  </a:tcPr>
                </a:tc>
                <a:tc>
                  <a:txBody>
                    <a:bodyPr/>
                    <a:lstStyle/>
                    <a:p>
                      <a:pPr algn="ctr"/>
                      <a:r>
                        <a:rPr sz="1200" b="0">
                          <a:solidFill>
                            <a:srgbClr val="333F50"/>
                          </a:solidFill>
                          <a:latin typeface="Montserrat"/>
                        </a:rPr>
                        <a:t>HPCF</a:t>
                      </a:r>
                    </a:p>
                  </a:txBody>
                  <a:tcPr anchor="ctr" marL="54864" marR="54864" marT="18288" marB="18288">
                    <a:solidFill>
                      <a:srgbClr val="FFFFFF"/>
                    </a:solidFill>
                  </a:tcPr>
                </a:tc>
                <a:tc>
                  <a:txBody>
                    <a:bodyPr/>
                    <a:lstStyle/>
                    <a:p>
                      <a:pPr algn="ctr"/>
                      <a:r>
                        <a:rPr sz="1200" b="0">
                          <a:solidFill>
                            <a:srgbClr val="333F50"/>
                          </a:solidFill>
                          <a:latin typeface="Montserrat"/>
                        </a:rPr>
                        <a:t>0.0270</a:t>
                      </a:r>
                    </a:p>
                  </a:txBody>
                  <a:tcPr anchor="ctr" marL="54864" marR="54864" marT="18288" marB="18288">
                    <a:solidFill>
                      <a:srgbClr val="FFFFFF"/>
                    </a:solidFill>
                  </a:tcPr>
                </a:tc>
                <a:tc>
                  <a:txBody>
                    <a:bodyPr/>
                    <a:lstStyle/>
                    <a:p>
                      <a:pPr algn="ctr"/>
                      <a:r>
                        <a:rPr sz="1200" b="0">
                          <a:solidFill>
                            <a:srgbClr val="333F50"/>
                          </a:solidFill>
                          <a:latin typeface="Montserrat"/>
                        </a:rPr>
                        <a:t>0.0359</a:t>
                      </a:r>
                    </a:p>
                  </a:txBody>
                  <a:tcPr anchor="ctr" marL="54864" marR="54864" marT="18288" marB="18288">
                    <a:solidFill>
                      <a:srgbClr val="FFFFFF"/>
                    </a:solidFill>
                  </a:tcPr>
                </a:tc>
                <a:tc>
                  <a:txBody>
                    <a:bodyPr/>
                    <a:lstStyle/>
                    <a:p>
                      <a:pPr algn="ctr"/>
                      <a:r>
                        <a:rPr sz="1200" b="0">
                          <a:solidFill>
                            <a:srgbClr val="333F50"/>
                          </a:solidFill>
                          <a:latin typeface="Montserrat"/>
                        </a:rPr>
                        <a:t>0.259</a:t>
                      </a:r>
                    </a:p>
                  </a:txBody>
                  <a:tcPr anchor="ctr" marL="54864" marR="54864" marT="18288" marB="18288">
                    <a:solidFill>
                      <a:srgbClr val="FFFFFF"/>
                    </a:solidFill>
                  </a:tcPr>
                </a:tc>
                <a:tc>
                  <a:txBody>
                    <a:bodyPr/>
                    <a:lstStyle/>
                    <a:p>
                      <a:pPr algn="ctr"/>
                      <a:r>
                        <a:rPr sz="1200" b="0">
                          <a:solidFill>
                            <a:srgbClr val="333F50"/>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2E5A9E"/>
                    </a:solidFill>
                  </a:tcPr>
                </a:tc>
                <a:tc>
                  <a:txBody>
                    <a:bodyPr/>
                    <a:lstStyle/>
                    <a:p>
                      <a:pPr algn="ctr"/>
                      <a:r>
                        <a:rPr sz="1200" b="1">
                          <a:solidFill>
                            <a:srgbClr val="FFFFFF"/>
                          </a:solidFill>
                          <a:latin typeface="Montserrat"/>
                        </a:rPr>
                        <a:t>DyHuCoG</a:t>
                      </a:r>
                    </a:p>
                  </a:txBody>
                  <a:tcPr anchor="ctr" marL="54864" marR="54864" marT="18288" marB="18288">
                    <a:solidFill>
                      <a:srgbClr val="2E5A9E"/>
                    </a:solidFill>
                  </a:tcPr>
                </a:tc>
                <a:tc>
                  <a:txBody>
                    <a:bodyPr/>
                    <a:lstStyle/>
                    <a:p>
                      <a:pPr algn="ctr"/>
                      <a:r>
                        <a:rPr sz="1200" b="1">
                          <a:solidFill>
                            <a:srgbClr val="FFFFFF"/>
                          </a:solidFill>
                          <a:latin typeface="Montserrat"/>
                        </a:rPr>
                        <a:t>0.0306</a:t>
                      </a:r>
                    </a:p>
                  </a:txBody>
                  <a:tcPr anchor="ctr" marL="54864" marR="54864" marT="18288" marB="18288">
                    <a:solidFill>
                      <a:srgbClr val="2E5A9E"/>
                    </a:solidFill>
                  </a:tcPr>
                </a:tc>
                <a:tc>
                  <a:txBody>
                    <a:bodyPr/>
                    <a:lstStyle/>
                    <a:p>
                      <a:pPr algn="ctr"/>
                      <a:r>
                        <a:rPr sz="1200" b="1">
                          <a:solidFill>
                            <a:srgbClr val="FFFFFF"/>
                          </a:solidFill>
                          <a:latin typeface="Montserrat"/>
                        </a:rPr>
                        <a:t>0.0417</a:t>
                      </a:r>
                    </a:p>
                  </a:txBody>
                  <a:tcPr anchor="ctr" marL="54864" marR="54864" marT="18288" marB="18288">
                    <a:solidFill>
                      <a:srgbClr val="2E5A9E"/>
                    </a:solidFill>
                  </a:tcPr>
                </a:tc>
                <a:tc>
                  <a:txBody>
                    <a:bodyPr/>
                    <a:lstStyle/>
                    <a:p>
                      <a:pPr algn="ctr"/>
                      <a:r>
                        <a:rPr sz="1200" b="1">
                          <a:solidFill>
                            <a:srgbClr val="FFFFFF"/>
                          </a:solidFill>
                          <a:latin typeface="Montserrat"/>
                        </a:rPr>
                        <a:t>0.336</a:t>
                      </a:r>
                    </a:p>
                  </a:txBody>
                  <a:tcPr anchor="ctr" marL="54864" marR="54864" marT="18288" marB="18288">
                    <a:solidFill>
                      <a:srgbClr val="2E5A9E"/>
                    </a:solidFill>
                  </a:tcPr>
                </a:tc>
                <a:tc>
                  <a:txBody>
                    <a:bodyPr/>
                    <a:lstStyle/>
                    <a:p>
                      <a:pPr algn="ctr"/>
                      <a:r>
                        <a:rPr sz="1200" b="1">
                          <a:solidFill>
                            <a:srgbClr val="FFFFFF"/>
                          </a:solidFill>
                          <a:latin typeface="Montserrat"/>
                        </a:rPr>
                        <a:t>0.602</a:t>
                      </a:r>
                    </a:p>
                  </a:txBody>
                  <a:tcPr anchor="ctr" marL="54864" marR="54864" marT="18288" marB="18288">
                    <a:solidFill>
                      <a:srgbClr val="2E5A9E"/>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4472C4"/>
                    </a:solidFill>
                  </a:tcPr>
                </a:tc>
                <a:tc>
                  <a:txBody>
                    <a:bodyPr/>
                    <a:lstStyle/>
                    <a:p>
                      <a:pPr algn="ctr"/>
                      <a:r>
                        <a:rPr sz="1200" b="1">
                          <a:solidFill>
                            <a:srgbClr val="FFFFFF"/>
                          </a:solidFill>
                          <a:latin typeface="Montserrat Medium"/>
                        </a:rPr>
                        <a:t>MovieLens-1M</a:t>
                      </a:r>
                    </a:p>
                  </a:txBody>
                  <a:tcPr anchor="ctr" marL="54864" marR="54864" marT="18288" marB="18288">
                    <a:solidFill>
                      <a:srgbClr val="4472C4"/>
                    </a:solidFill>
                  </a:tcPr>
                </a:tc>
                <a:tc>
                  <a:txBody>
                    <a:bodyPr/>
                    <a:lstStyle/>
                    <a:p>
                      <a:pPr algn="ctr"/>
                      <a:r>
                        <a:rPr sz="1200" b="1">
                          <a:solidFill>
                            <a:srgbClr val="FFFFFF"/>
                          </a:solidFill>
                          <a:latin typeface="Montserrat Medium"/>
                        </a:rPr>
                        <a:t>Amazon-Book</a:t>
                      </a:r>
                    </a:p>
                  </a:txBody>
                  <a:tcPr anchor="ctr" marL="54864" marR="54864" marT="18288" marB="18288">
                    <a:solidFill>
                      <a:srgbClr val="4472C4"/>
                    </a:solidFill>
                  </a:tcPr>
                </a:tc>
              </a:tr>
              <a:tr h="658368">
                <a:tc>
                  <a:txBody>
                    <a:bodyPr/>
                    <a:lstStyle/>
                    <a:p>
                      <a:pPr algn="l"/>
                      <a:r>
                        <a:rPr sz="1200" b="0">
                          <a:solidFill>
                            <a:srgbClr val="333F50"/>
                          </a:solidFill>
                          <a:latin typeface="Montserrat"/>
                        </a:rPr>
                        <a:t>NDCG@20</a:t>
                      </a:r>
                    </a:p>
                  </a:txBody>
                  <a:tcPr anchor="ctr" marL="54864" marR="54864" marT="18288" marB="18288">
                    <a:solidFill>
                      <a:srgbClr val="FFFFFF"/>
                    </a:solidFill>
                  </a:tcPr>
                </a:tc>
                <a:tc>
                  <a:txBody>
                    <a:bodyPr/>
                    <a:lstStyle/>
                    <a:p>
                      <a:pPr algn="ctr"/>
                      <a:r>
                        <a:rPr sz="1200" b="0">
                          <a:solidFill>
                            <a:srgbClr val="333F50"/>
                          </a:solidFill>
                          <a:latin typeface="Montserrat"/>
                        </a:rPr>
                        <a:t>+9.77%</a:t>
                      </a:r>
                    </a:p>
                  </a:txBody>
                  <a:tcPr anchor="ctr" marL="54864" marR="54864" marT="18288" marB="18288">
                    <a:solidFill>
                      <a:srgbClr val="FFFFFF"/>
                    </a:solidFill>
                  </a:tcPr>
                </a:tc>
                <a:tc>
                  <a:txBody>
                    <a:bodyPr/>
                    <a:lstStyle/>
                    <a:p>
                      <a:pPr algn="ctr"/>
                      <a:r>
                        <a:rPr sz="1200" b="0">
                          <a:solidFill>
                            <a:srgbClr val="333F50"/>
                          </a:solidFill>
                          <a:latin typeface="Montserrat"/>
                        </a:rPr>
                        <a:t>+13.33%</a:t>
                      </a:r>
                    </a:p>
                  </a:txBody>
                  <a:tcPr anchor="ctr" marL="54864" marR="54864" marT="18288" marB="18288">
                    <a:solidFill>
                      <a:srgbClr val="FFFFFF"/>
                    </a:solidFill>
                  </a:tcPr>
                </a:tc>
              </a:tr>
              <a:tr h="658368">
                <a:tc>
                  <a:txBody>
                    <a:bodyPr/>
                    <a:lstStyle/>
                    <a:p>
                      <a:pPr algn="l"/>
                      <a:r>
                        <a:rPr sz="1200" b="0">
                          <a:solidFill>
                            <a:srgbClr val="333F50"/>
                          </a:solidFill>
                          <a:latin typeface="Montserrat"/>
                        </a:rPr>
                        <a:t>Recall@20</a:t>
                      </a:r>
                    </a:p>
                  </a:txBody>
                  <a:tcPr anchor="ctr" marL="54864" marR="54864" marT="18288" marB="18288">
                    <a:solidFill>
                      <a:srgbClr val="F0F4FB"/>
                    </a:solidFill>
                  </a:tcPr>
                </a:tc>
                <a:tc>
                  <a:txBody>
                    <a:bodyPr/>
                    <a:lstStyle/>
                    <a:p>
                      <a:pPr algn="ctr"/>
                      <a:r>
                        <a:rPr sz="1200" b="0">
                          <a:solidFill>
                            <a:srgbClr val="333F50"/>
                          </a:solidFill>
                          <a:latin typeface="Montserrat"/>
                        </a:rPr>
                        <a:t>+12.58%</a:t>
                      </a:r>
                    </a:p>
                  </a:txBody>
                  <a:tcPr anchor="ctr" marL="54864" marR="54864" marT="18288" marB="18288">
                    <a:solidFill>
                      <a:srgbClr val="F0F4FB"/>
                    </a:solidFill>
                  </a:tcPr>
                </a:tc>
                <a:tc>
                  <a:txBody>
                    <a:bodyPr/>
                    <a:lstStyle/>
                    <a:p>
                      <a:pPr algn="ctr"/>
                      <a:r>
                        <a:rPr sz="1200" b="0">
                          <a:solidFill>
                            <a:srgbClr val="333F50"/>
                          </a:solidFill>
                          <a:latin typeface="Montserrat"/>
                        </a:rPr>
                        <a:t>+16.16%</a:t>
                      </a:r>
                    </a:p>
                  </a:txBody>
                  <a:tcPr anchor="ctr" marL="54864" marR="54864" marT="18288" marB="18288">
                    <a:solidFill>
                      <a:srgbClr val="F0F4FB"/>
                    </a:solidFill>
                  </a:tcPr>
                </a:tc>
              </a:tr>
              <a:tr h="658368">
                <a:tc>
                  <a:txBody>
                    <a:bodyPr/>
                    <a:lstStyle/>
                    <a:p>
                      <a:pPr algn="l"/>
                      <a:r>
                        <a:rPr sz="1200" b="0">
                          <a:solidFill>
                            <a:srgbClr val="333F50"/>
                          </a:solidFill>
                          <a:latin typeface="Montserrat"/>
                        </a:rPr>
                        <a:t>Coverage</a:t>
                      </a:r>
                    </a:p>
                  </a:txBody>
                  <a:tcPr anchor="ctr" marL="54864" marR="54864" marT="18288" marB="18288">
                    <a:solidFill>
                      <a:srgbClr val="FFFFFF"/>
                    </a:solidFill>
                  </a:tcPr>
                </a:tc>
                <a:tc>
                  <a:txBody>
                    <a:bodyPr/>
                    <a:lstStyle/>
                    <a:p>
                      <a:pPr algn="ctr"/>
                      <a:r>
                        <a:rPr sz="1200" b="0">
                          <a:solidFill>
                            <a:srgbClr val="333F50"/>
                          </a:solidFill>
                          <a:latin typeface="Montserrat"/>
                        </a:rPr>
                        <a:t>+16.1%</a:t>
                      </a:r>
                    </a:p>
                  </a:txBody>
                  <a:tcPr anchor="ctr" marL="54864" marR="54864" marT="18288" marB="18288">
                    <a:solidFill>
                      <a:srgbClr val="FFFFFF"/>
                    </a:solidFill>
                  </a:tcPr>
                </a:tc>
                <a:tc>
                  <a:txBody>
                    <a:bodyPr/>
                    <a:lstStyle/>
                    <a:p>
                      <a:pPr algn="ctr"/>
                      <a:r>
                        <a:rPr sz="1200" b="0">
                          <a:solidFill>
                            <a:srgbClr val="333F50"/>
                          </a:solidFill>
                          <a:latin typeface="Montserrat"/>
                        </a:rPr>
                        <a:t>+29.7%</a:t>
                      </a:r>
                    </a:p>
                  </a:txBody>
                  <a:tcPr anchor="ctr" marL="54864" marR="54864" marT="18288" marB="18288">
                    <a:solidFill>
                      <a:srgbClr val="FFFFFF"/>
                    </a:solidFill>
                  </a:tcPr>
                </a:tc>
              </a:tr>
              <a:tr h="658368">
                <a:tc>
                  <a:txBody>
                    <a:bodyPr/>
                    <a:lstStyle/>
                    <a:p>
                      <a:pPr algn="l"/>
                      <a:r>
                        <a:rPr sz="1200" b="0">
                          <a:solidFill>
                            <a:srgbClr val="333F50"/>
                          </a:solidFill>
                          <a:latin typeface="Montserrat"/>
                        </a:rPr>
                        <a:t>Intra-List Diversity</a:t>
                      </a:r>
                    </a:p>
                  </a:txBody>
                  <a:tcPr anchor="ctr" marL="54864" marR="54864" marT="18288" marB="18288">
                    <a:solidFill>
                      <a:srgbClr val="F0F4FB"/>
                    </a:solidFill>
                  </a:tcPr>
                </a:tc>
                <a:tc>
                  <a:txBody>
                    <a:bodyPr/>
                    <a:lstStyle/>
                    <a:p>
                      <a:pPr algn="ctr"/>
                      <a:r>
                        <a:rPr sz="1200" b="0">
                          <a:solidFill>
                            <a:srgbClr val="333F50"/>
                          </a:solidFill>
                          <a:latin typeface="Montserrat"/>
                        </a:rPr>
                        <a:t>+11.9%</a:t>
                      </a:r>
                    </a:p>
                  </a:txBody>
                  <a:tcPr anchor="ctr" marL="54864" marR="54864" marT="18288" marB="18288">
                    <a:solidFill>
                      <a:srgbClr val="F0F4FB"/>
                    </a:solidFill>
                  </a:tcPr>
                </a:tc>
                <a:tc>
                  <a:txBody>
                    <a:bodyPr/>
                    <a:lstStyle/>
                    <a:p>
                      <a:pPr algn="ctr"/>
                      <a:r>
                        <a:rPr sz="1200" b="0">
                          <a:solidFill>
                            <a:srgbClr val="333F50"/>
                          </a:solidFill>
                          <a:latin typeface="Montserrat"/>
                        </a:rPr>
                        <a:t>+12.5%</a:t>
                      </a:r>
                    </a:p>
                  </a:txBody>
                  <a:tcPr anchor="ctr" marL="54864" marR="54864" marT="18288" marB="18288">
                    <a:solidFill>
                      <a:srgbClr val="F0F4FB"/>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MovieLens-1M: Coverage 0.342 → 0.397 (+16.1%); ILD 0.461 → 0.516 (+11.9%).</a:t>
            </a:r>
          </a:p>
          <a:p>
            <a:pPr>
              <a:lnSpc>
                <a:spcPct val="105000"/>
              </a:lnSpc>
              <a:spcAft>
                <a:spcPts val="900"/>
              </a:spcAft>
            </a:pPr>
            <a:r>
              <a:rPr sz="1700">
                <a:solidFill>
                  <a:srgbClr val="4472C4"/>
                </a:solidFill>
                <a:latin typeface="Wingdings"/>
              </a:rPr>
              <a:t>§  </a:t>
            </a:r>
            <a:r>
              <a:rPr sz="1700" b="1">
                <a:solidFill>
                  <a:srgbClr val="333F50"/>
                </a:solidFill>
                <a:latin typeface="Montserrat Medium"/>
              </a:rPr>
              <a:t>Amazon-Book: Coverage 0.259 → 0.336 (+29.7%); ILD 0.535 → 0.602 (+12.5%).</a:t>
            </a:r>
          </a:p>
          <a:p>
            <a:pPr lvl="1">
              <a:lnSpc>
                <a:spcPct val="105000"/>
              </a:lnSpc>
              <a:spcAft>
                <a:spcPts val="600"/>
              </a:spcAft>
            </a:pPr>
            <a:r>
              <a:rPr sz="1600">
                <a:solidFill>
                  <a:srgbClr val="4472C4"/>
                </a:solidFill>
                <a:latin typeface="Montserrat"/>
              </a:rPr>
              <a:t>–  </a:t>
            </a:r>
            <a:r>
              <a:rPr sz="1600" b="0">
                <a:solidFill>
                  <a:srgbClr val="333F50"/>
                </a:solidFill>
                <a:latin typeface="Montserrat"/>
              </a:rPr>
              <a:t>Reduced filter-bubble effect and greater discovery opportunity — while NDCG/Recall also improve, so accuracy is not traded off for diversity.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4472C4"/>
                    </a:solidFill>
                  </a:tcPr>
                </a:tc>
                <a:tc>
                  <a:txBody>
                    <a:bodyPr/>
                    <a:lstStyle/>
                    <a:p>
                      <a:pPr algn="ctr"/>
                      <a:r>
                        <a:rPr sz="1200" b="1">
                          <a:solidFill>
                            <a:srgbClr val="FFFFFF"/>
                          </a:solidFill>
                          <a:latin typeface="Montserrat Medium"/>
                        </a:rPr>
                        <a:t>ML-1M NDCG@20</a:t>
                      </a:r>
                    </a:p>
                  </a:txBody>
                  <a:tcPr anchor="ctr" marL="54864" marR="54864" marT="18288" marB="18288">
                    <a:solidFill>
                      <a:srgbClr val="4472C4"/>
                    </a:solidFill>
                  </a:tcPr>
                </a:tc>
                <a:tc>
                  <a:txBody>
                    <a:bodyPr/>
                    <a:lstStyle/>
                    <a:p>
                      <a:pPr algn="ctr"/>
                      <a:r>
                        <a:rPr sz="1200" b="1">
                          <a:solidFill>
                            <a:srgbClr val="FFFFFF"/>
                          </a:solidFill>
                          <a:latin typeface="Montserrat Medium"/>
                        </a:rPr>
                        <a:t>% Drop</a:t>
                      </a:r>
                    </a:p>
                  </a:txBody>
                  <a:tcPr anchor="ctr" marL="54864" marR="54864" marT="18288" marB="18288">
                    <a:solidFill>
                      <a:srgbClr val="4472C4"/>
                    </a:solidFill>
                  </a:tcPr>
                </a:tc>
                <a:tc>
                  <a:txBody>
                    <a:bodyPr/>
                    <a:lstStyle/>
                    <a:p>
                      <a:pPr algn="ctr"/>
                      <a:r>
                        <a:rPr sz="1200" b="1">
                          <a:solidFill>
                            <a:srgbClr val="FFFFFF"/>
                          </a:solidFill>
                          <a:latin typeface="Montserrat Medium"/>
                        </a:rPr>
                        <a:t>Amazon NDCG@20</a:t>
                      </a:r>
                    </a:p>
                  </a:txBody>
                  <a:tcPr anchor="ctr" marL="54864" marR="54864" marT="18288" marB="18288">
                    <a:solidFill>
                      <a:srgbClr val="4472C4"/>
                    </a:solidFill>
                  </a:tcPr>
                </a:tc>
                <a:tc>
                  <a:txBody>
                    <a:bodyPr/>
                    <a:lstStyle/>
                    <a:p>
                      <a:pPr algn="ctr"/>
                      <a:r>
                        <a:rPr sz="1200" b="1">
                          <a:solidFill>
                            <a:srgbClr val="FFFFFF"/>
                          </a:solidFill>
                          <a:latin typeface="Montserrat Medium"/>
                        </a:rPr>
                        <a:t>% Drop</a:t>
                      </a:r>
                    </a:p>
                  </a:txBody>
                  <a:tcPr anchor="ctr" marL="54864" marR="54864" marT="18288" marB="18288">
                    <a:solidFill>
                      <a:srgbClr val="4472C4"/>
                    </a:solidFill>
                  </a:tcPr>
                </a:tc>
              </a:tr>
              <a:tr h="509451">
                <a:tc>
                  <a:txBody>
                    <a:bodyPr/>
                    <a:lstStyle/>
                    <a:p>
                      <a:pPr algn="l"/>
                      <a:r>
                        <a:rPr sz="1200" b="0">
                          <a:solidFill>
                            <a:srgbClr val="333F50"/>
                          </a:solidFill>
                          <a:latin typeface="Montserrat"/>
                        </a:rPr>
                        <a:t>Full DyHuCoG</a:t>
                      </a:r>
                    </a:p>
                  </a:txBody>
                  <a:tcPr anchor="ctr" marL="54864" marR="54864" marT="18288" marB="18288">
                    <a:solidFill>
                      <a:srgbClr val="FFFFFF"/>
                    </a:solidFill>
                  </a:tcPr>
                </a:tc>
                <a:tc>
                  <a:txBody>
                    <a:bodyPr/>
                    <a:lstStyle/>
                    <a:p>
                      <a:pPr algn="ctr"/>
                      <a:r>
                        <a:rPr sz="1200" b="0">
                          <a:solidFill>
                            <a:srgbClr val="333F50"/>
                          </a:solidFill>
                          <a:latin typeface="Montserrat"/>
                        </a:rPr>
                        <a:t>0.2775</a:t>
                      </a:r>
                    </a:p>
                  </a:txBody>
                  <a:tcPr anchor="ctr" marL="54864" marR="54864" marT="18288" marB="18288">
                    <a:solidFill>
                      <a:srgbClr val="FFFFFF"/>
                    </a:solidFill>
                  </a:tcPr>
                </a:tc>
                <a:tc>
                  <a:txBody>
                    <a:bodyPr/>
                    <a:lstStyle/>
                    <a:p>
                      <a:pPr algn="ctr"/>
                      <a:r>
                        <a:rPr sz="1200" b="0">
                          <a:solidFill>
                            <a:srgbClr val="333F50"/>
                          </a:solidFill>
                          <a:latin typeface="Montserrat"/>
                        </a:rPr>
                        <a:t>–</a:t>
                      </a:r>
                    </a:p>
                  </a:txBody>
                  <a:tcPr anchor="ctr" marL="54864" marR="54864" marT="18288" marB="18288">
                    <a:solidFill>
                      <a:srgbClr val="FFFFFF"/>
                    </a:solidFill>
                  </a:tcPr>
                </a:tc>
                <a:tc>
                  <a:txBody>
                    <a:bodyPr/>
                    <a:lstStyle/>
                    <a:p>
                      <a:pPr algn="ctr"/>
                      <a:r>
                        <a:rPr sz="1200" b="0">
                          <a:solidFill>
                            <a:srgbClr val="333F50"/>
                          </a:solidFill>
                          <a:latin typeface="Montserrat"/>
                        </a:rPr>
                        <a:t>0.0306</a:t>
                      </a:r>
                    </a:p>
                  </a:txBody>
                  <a:tcPr anchor="ctr" marL="54864" marR="54864" marT="18288" marB="18288">
                    <a:solidFill>
                      <a:srgbClr val="FFFFFF"/>
                    </a:solidFill>
                  </a:tcPr>
                </a:tc>
                <a:tc>
                  <a:txBody>
                    <a:bodyPr/>
                    <a:lstStyle/>
                    <a:p>
                      <a:pPr algn="ctr"/>
                      <a:r>
                        <a:rPr sz="1200" b="0">
                          <a:solidFill>
                            <a:srgbClr val="333F50"/>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2E5A9E"/>
                    </a:solidFill>
                  </a:tcPr>
                </a:tc>
                <a:tc>
                  <a:txBody>
                    <a:bodyPr/>
                    <a:lstStyle/>
                    <a:p>
                      <a:pPr algn="ctr"/>
                      <a:r>
                        <a:rPr sz="1200" b="1">
                          <a:solidFill>
                            <a:srgbClr val="FFFFFF"/>
                          </a:solidFill>
                          <a:latin typeface="Montserrat"/>
                        </a:rPr>
                        <a:t>0.2647</a:t>
                      </a:r>
                    </a:p>
                  </a:txBody>
                  <a:tcPr anchor="ctr" marL="54864" marR="54864" marT="18288" marB="18288">
                    <a:solidFill>
                      <a:srgbClr val="2E5A9E"/>
                    </a:solidFill>
                  </a:tcPr>
                </a:tc>
                <a:tc>
                  <a:txBody>
                    <a:bodyPr/>
                    <a:lstStyle/>
                    <a:p>
                      <a:pPr algn="ctr"/>
                      <a:r>
                        <a:rPr sz="1200" b="1">
                          <a:solidFill>
                            <a:srgbClr val="FFFFFF"/>
                          </a:solidFill>
                          <a:latin typeface="Montserrat"/>
                        </a:rPr>
                        <a:t>4.6%</a:t>
                      </a:r>
                    </a:p>
                  </a:txBody>
                  <a:tcPr anchor="ctr" marL="54864" marR="54864" marT="18288" marB="18288">
                    <a:solidFill>
                      <a:srgbClr val="2E5A9E"/>
                    </a:solidFill>
                  </a:tcPr>
                </a:tc>
                <a:tc>
                  <a:txBody>
                    <a:bodyPr/>
                    <a:lstStyle/>
                    <a:p>
                      <a:pPr algn="ctr"/>
                      <a:r>
                        <a:rPr sz="1200" b="1">
                          <a:solidFill>
                            <a:srgbClr val="FFFFFF"/>
                          </a:solidFill>
                          <a:latin typeface="Montserrat"/>
                        </a:rPr>
                        <a:t>0.0287</a:t>
                      </a:r>
                    </a:p>
                  </a:txBody>
                  <a:tcPr anchor="ctr" marL="54864" marR="54864" marT="18288" marB="18288">
                    <a:solidFill>
                      <a:srgbClr val="2E5A9E"/>
                    </a:solidFill>
                  </a:tcPr>
                </a:tc>
                <a:tc>
                  <a:txBody>
                    <a:bodyPr/>
                    <a:lstStyle/>
                    <a:p>
                      <a:pPr algn="ctr"/>
                      <a:r>
                        <a:rPr sz="1200" b="1">
                          <a:solidFill>
                            <a:srgbClr val="FFFFFF"/>
                          </a:solidFill>
                          <a:latin typeface="Montserrat"/>
                        </a:rPr>
                        <a:t>6.1%</a:t>
                      </a:r>
                    </a:p>
                  </a:txBody>
                  <a:tcPr anchor="ctr" marL="54864" marR="54864" marT="18288" marB="18288">
                    <a:solidFill>
                      <a:srgbClr val="2E5A9E"/>
                    </a:solidFill>
                  </a:tcPr>
                </a:tc>
              </a:tr>
              <a:tr h="509451">
                <a:tc>
                  <a:txBody>
                    <a:bodyPr/>
                    <a:lstStyle/>
                    <a:p>
                      <a:pPr algn="l"/>
                      <a:r>
                        <a:rPr sz="1200" b="0">
                          <a:solidFill>
                            <a:srgbClr val="333F50"/>
                          </a:solidFill>
                          <a:latin typeface="Montserrat"/>
                        </a:rPr>
                        <a:t>w/o Hypergraph</a:t>
                      </a:r>
                    </a:p>
                  </a:txBody>
                  <a:tcPr anchor="ctr" marL="54864" marR="54864" marT="18288" marB="18288">
                    <a:solidFill>
                      <a:srgbClr val="FFFFFF"/>
                    </a:solidFill>
                  </a:tcPr>
                </a:tc>
                <a:tc>
                  <a:txBody>
                    <a:bodyPr/>
                    <a:lstStyle/>
                    <a:p>
                      <a:pPr algn="ctr"/>
                      <a:r>
                        <a:rPr sz="1200" b="0">
                          <a:solidFill>
                            <a:srgbClr val="333F50"/>
                          </a:solidFill>
                          <a:latin typeface="Montserrat"/>
                        </a:rPr>
                        <a:t>0.2586</a:t>
                      </a:r>
                    </a:p>
                  </a:txBody>
                  <a:tcPr anchor="ctr" marL="54864" marR="54864" marT="18288" marB="18288">
                    <a:solidFill>
                      <a:srgbClr val="FFFFFF"/>
                    </a:solidFill>
                  </a:tcPr>
                </a:tc>
                <a:tc>
                  <a:txBody>
                    <a:bodyPr/>
                    <a:lstStyle/>
                    <a:p>
                      <a:pPr algn="ctr"/>
                      <a:r>
                        <a:rPr sz="1200" b="0">
                          <a:solidFill>
                            <a:srgbClr val="333F50"/>
                          </a:solidFill>
                          <a:latin typeface="Montserrat"/>
                        </a:rPr>
                        <a:t>6.8%</a:t>
                      </a:r>
                    </a:p>
                  </a:txBody>
                  <a:tcPr anchor="ctr" marL="54864" marR="54864" marT="18288" marB="18288">
                    <a:solidFill>
                      <a:srgbClr val="FFFFFF"/>
                    </a:solidFill>
                  </a:tcPr>
                </a:tc>
                <a:tc>
                  <a:txBody>
                    <a:bodyPr/>
                    <a:lstStyle/>
                    <a:p>
                      <a:pPr algn="ctr"/>
                      <a:r>
                        <a:rPr sz="1200" b="0">
                          <a:solidFill>
                            <a:srgbClr val="333F50"/>
                          </a:solidFill>
                          <a:latin typeface="Montserrat"/>
                        </a:rPr>
                        <a:t>0.0279</a:t>
                      </a:r>
                    </a:p>
                  </a:txBody>
                  <a:tcPr anchor="ctr" marL="54864" marR="54864" marT="18288" marB="18288">
                    <a:solidFill>
                      <a:srgbClr val="FFFFFF"/>
                    </a:solidFill>
                  </a:tcPr>
                </a:tc>
                <a:tc>
                  <a:txBody>
                    <a:bodyPr/>
                    <a:lstStyle/>
                    <a:p>
                      <a:pPr algn="ctr"/>
                      <a:r>
                        <a:rPr sz="1200" b="0">
                          <a:solidFill>
                            <a:srgbClr val="333F50"/>
                          </a:solidFill>
                          <a:latin typeface="Montserrat"/>
                        </a:rPr>
                        <a:t>8.9%</a:t>
                      </a:r>
                    </a:p>
                  </a:txBody>
                  <a:tcPr anchor="ctr" marL="54864" marR="54864" marT="18288" marB="18288">
                    <a:solidFill>
                      <a:srgbClr val="FFFFFF"/>
                    </a:solidFill>
                  </a:tcPr>
                </a:tc>
              </a:tr>
              <a:tr h="509451">
                <a:tc>
                  <a:txBody>
                    <a:bodyPr/>
                    <a:lstStyle/>
                    <a:p>
                      <a:pPr algn="l"/>
                      <a:r>
                        <a:rPr sz="1200" b="0">
                          <a:solidFill>
                            <a:srgbClr val="333F50"/>
                          </a:solidFill>
                          <a:latin typeface="Montserrat"/>
                        </a:rPr>
                        <a:t>w/o Attention</a:t>
                      </a:r>
                    </a:p>
                  </a:txBody>
                  <a:tcPr anchor="ctr" marL="54864" marR="54864" marT="18288" marB="18288">
                    <a:solidFill>
                      <a:srgbClr val="F0F4FB"/>
                    </a:solidFill>
                  </a:tcPr>
                </a:tc>
                <a:tc>
                  <a:txBody>
                    <a:bodyPr/>
                    <a:lstStyle/>
                    <a:p>
                      <a:pPr algn="ctr"/>
                      <a:r>
                        <a:rPr sz="1200" b="0">
                          <a:solidFill>
                            <a:srgbClr val="333F50"/>
                          </a:solidFill>
                          <a:latin typeface="Montserrat"/>
                        </a:rPr>
                        <a:t>0.2678</a:t>
                      </a:r>
                    </a:p>
                  </a:txBody>
                  <a:tcPr anchor="ctr" marL="54864" marR="54864" marT="18288" marB="18288">
                    <a:solidFill>
                      <a:srgbClr val="F0F4FB"/>
                    </a:solidFill>
                  </a:tcPr>
                </a:tc>
                <a:tc>
                  <a:txBody>
                    <a:bodyPr/>
                    <a:lstStyle/>
                    <a:p>
                      <a:pPr algn="ctr"/>
                      <a:r>
                        <a:rPr sz="1200" b="0">
                          <a:solidFill>
                            <a:srgbClr val="333F50"/>
                          </a:solidFill>
                          <a:latin typeface="Montserrat"/>
                        </a:rPr>
                        <a:t>3.5%</a:t>
                      </a:r>
                    </a:p>
                  </a:txBody>
                  <a:tcPr anchor="ctr" marL="54864" marR="54864" marT="18288" marB="18288">
                    <a:solidFill>
                      <a:srgbClr val="F0F4FB"/>
                    </a:solidFill>
                  </a:tcPr>
                </a:tc>
                <a:tc>
                  <a:txBody>
                    <a:bodyPr/>
                    <a:lstStyle/>
                    <a:p>
                      <a:pPr algn="ctr"/>
                      <a:r>
                        <a:rPr sz="1200" b="0">
                          <a:solidFill>
                            <a:srgbClr val="333F50"/>
                          </a:solidFill>
                          <a:latin typeface="Montserrat"/>
                        </a:rPr>
                        <a:t>0.0295</a:t>
                      </a:r>
                    </a:p>
                  </a:txBody>
                  <a:tcPr anchor="ctr" marL="54864" marR="54864" marT="18288" marB="18288">
                    <a:solidFill>
                      <a:srgbClr val="F0F4FB"/>
                    </a:solidFill>
                  </a:tcPr>
                </a:tc>
                <a:tc>
                  <a:txBody>
                    <a:bodyPr/>
                    <a:lstStyle/>
                    <a:p>
                      <a:pPr algn="ctr"/>
                      <a:r>
                        <a:rPr sz="1200" b="0">
                          <a:solidFill>
                            <a:srgbClr val="333F50"/>
                          </a:solidFill>
                          <a:latin typeface="Montserrat"/>
                        </a:rPr>
                        <a:t>3.5%</a:t>
                      </a:r>
                    </a:p>
                  </a:txBody>
                  <a:tcPr anchor="ctr" marL="54864" marR="54864" marT="18288" marB="18288">
                    <a:solidFill>
                      <a:srgbClr val="F0F4FB"/>
                    </a:solidFill>
                  </a:tcPr>
                </a:tc>
              </a:tr>
              <a:tr h="509451">
                <a:tc>
                  <a:txBody>
                    <a:bodyPr/>
                    <a:lstStyle/>
                    <a:p>
                      <a:pPr algn="l"/>
                      <a:r>
                        <a:rPr sz="1200" b="0">
                          <a:solidFill>
                            <a:srgbClr val="333F50"/>
                          </a:solidFill>
                          <a:latin typeface="Montserrat"/>
                        </a:rPr>
                        <a:t>w/o Context</a:t>
                      </a:r>
                    </a:p>
                  </a:txBody>
                  <a:tcPr anchor="ctr" marL="54864" marR="54864" marT="18288" marB="18288">
                    <a:solidFill>
                      <a:srgbClr val="FFFFFF"/>
                    </a:solidFill>
                  </a:tcPr>
                </a:tc>
                <a:tc>
                  <a:txBody>
                    <a:bodyPr/>
                    <a:lstStyle/>
                    <a:p>
                      <a:pPr algn="ctr"/>
                      <a:r>
                        <a:rPr sz="1200" b="0">
                          <a:solidFill>
                            <a:srgbClr val="333F50"/>
                          </a:solidFill>
                          <a:latin typeface="Montserrat"/>
                        </a:rPr>
                        <a:t>0.2547</a:t>
                      </a:r>
                    </a:p>
                  </a:txBody>
                  <a:tcPr anchor="ctr" marL="54864" marR="54864" marT="18288" marB="18288">
                    <a:solidFill>
                      <a:srgbClr val="FFFFFF"/>
                    </a:solidFill>
                  </a:tcPr>
                </a:tc>
                <a:tc>
                  <a:txBody>
                    <a:bodyPr/>
                    <a:lstStyle/>
                    <a:p>
                      <a:pPr algn="ctr"/>
                      <a:r>
                        <a:rPr sz="1200" b="0">
                          <a:solidFill>
                            <a:srgbClr val="333F50"/>
                          </a:solidFill>
                          <a:latin typeface="Montserrat"/>
                        </a:rPr>
                        <a:t>8.2%</a:t>
                      </a:r>
                    </a:p>
                  </a:txBody>
                  <a:tcPr anchor="ctr" marL="54864" marR="54864" marT="18288" marB="18288">
                    <a:solidFill>
                      <a:srgbClr val="FFFFFF"/>
                    </a:solidFill>
                  </a:tcPr>
                </a:tc>
                <a:tc>
                  <a:txBody>
                    <a:bodyPr/>
                    <a:lstStyle/>
                    <a:p>
                      <a:pPr algn="ctr"/>
                      <a:r>
                        <a:rPr sz="1200" b="0">
                          <a:solidFill>
                            <a:srgbClr val="333F50"/>
                          </a:solidFill>
                          <a:latin typeface="Montserrat"/>
                        </a:rPr>
                        <a:t>0.0272</a:t>
                      </a:r>
                    </a:p>
                  </a:txBody>
                  <a:tcPr anchor="ctr" marL="54864" marR="54864" marT="18288" marB="18288">
                    <a:solidFill>
                      <a:srgbClr val="FFFFFF"/>
                    </a:solidFill>
                  </a:tcPr>
                </a:tc>
                <a:tc>
                  <a:txBody>
                    <a:bodyPr/>
                    <a:lstStyle/>
                    <a:p>
                      <a:pPr algn="ctr"/>
                      <a:r>
                        <a:rPr sz="1200" b="0">
                          <a:solidFill>
                            <a:srgbClr val="333F50"/>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2E5A9E"/>
                    </a:solidFill>
                  </a:tcPr>
                </a:tc>
                <a:tc>
                  <a:txBody>
                    <a:bodyPr/>
                    <a:lstStyle/>
                    <a:p>
                      <a:pPr algn="ctr"/>
                      <a:r>
                        <a:rPr sz="1200" b="1">
                          <a:solidFill>
                            <a:srgbClr val="FFFFFF"/>
                          </a:solidFill>
                          <a:latin typeface="Montserrat"/>
                        </a:rPr>
                        <a:t>0.2614</a:t>
                      </a:r>
                    </a:p>
                  </a:txBody>
                  <a:tcPr anchor="ctr" marL="54864" marR="54864" marT="18288" marB="18288">
                    <a:solidFill>
                      <a:srgbClr val="2E5A9E"/>
                    </a:solidFill>
                  </a:tcPr>
                </a:tc>
                <a:tc>
                  <a:txBody>
                    <a:bodyPr/>
                    <a:lstStyle/>
                    <a:p>
                      <a:pPr algn="ctr"/>
                      <a:r>
                        <a:rPr sz="1200" b="1">
                          <a:solidFill>
                            <a:srgbClr val="FFFFFF"/>
                          </a:solidFill>
                          <a:latin typeface="Montserrat"/>
                        </a:rPr>
                        <a:t>5.8%</a:t>
                      </a:r>
                    </a:p>
                  </a:txBody>
                  <a:tcPr anchor="ctr" marL="54864" marR="54864" marT="18288" marB="18288">
                    <a:solidFill>
                      <a:srgbClr val="2E5A9E"/>
                    </a:solidFill>
                  </a:tcPr>
                </a:tc>
                <a:tc>
                  <a:txBody>
                    <a:bodyPr/>
                    <a:lstStyle/>
                    <a:p>
                      <a:pPr algn="ctr"/>
                      <a:r>
                        <a:rPr sz="1200" b="1">
                          <a:solidFill>
                            <a:srgbClr val="FFFFFF"/>
                          </a:solidFill>
                          <a:latin typeface="Montserrat"/>
                        </a:rPr>
                        <a:t>0.0288</a:t>
                      </a:r>
                    </a:p>
                  </a:txBody>
                  <a:tcPr anchor="ctr" marL="54864" marR="54864" marT="18288" marB="18288">
                    <a:solidFill>
                      <a:srgbClr val="2E5A9E"/>
                    </a:solidFill>
                  </a:tcPr>
                </a:tc>
                <a:tc>
                  <a:txBody>
                    <a:bodyPr/>
                    <a:lstStyle/>
                    <a:p>
                      <a:pPr algn="ctr"/>
                      <a:r>
                        <a:rPr sz="1200" b="1">
                          <a:solidFill>
                            <a:srgbClr val="FFFFFF"/>
                          </a:solidFill>
                          <a:latin typeface="Montserrat"/>
                        </a:rPr>
                        <a:t>5.8%</a:t>
                      </a:r>
                    </a:p>
                  </a:txBody>
                  <a:tcPr anchor="ctr" marL="54864" marR="54864" marT="18288" marB="18288">
                    <a:solidFill>
                      <a:srgbClr val="2E5A9E"/>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Training: DyHuCoG ~2000 s vs HPCF ~1125 s on MovieLens-1M (≈ 1.78×).</a:t>
            </a:r>
          </a:p>
          <a:p>
            <a:pPr>
              <a:lnSpc>
                <a:spcPct val="105000"/>
              </a:lnSpc>
              <a:spcAft>
                <a:spcPts val="900"/>
              </a:spcAft>
            </a:pPr>
            <a:r>
              <a:rPr sz="1700">
                <a:solidFill>
                  <a:srgbClr val="4472C4"/>
                </a:solidFill>
                <a:latin typeface="Wingdings"/>
              </a:rPr>
              <a:t>§  </a:t>
            </a:r>
            <a:r>
              <a:rPr sz="1700" b="0">
                <a:solidFill>
                  <a:srgbClr val="333F50"/>
                </a:solidFill>
                <a:latin typeface="Montserrat"/>
              </a:rPr>
              <a:t>Inference: 1.84 ms/query (ML-1M), 8.52 ms (Amazon) — suitable for real-time deployment.</a:t>
            </a:r>
          </a:p>
          <a:p>
            <a:pPr>
              <a:lnSpc>
                <a:spcPct val="105000"/>
              </a:lnSpc>
              <a:spcAft>
                <a:spcPts val="900"/>
              </a:spcAft>
            </a:pPr>
            <a:r>
              <a:rPr sz="1700">
                <a:solidFill>
                  <a:srgbClr val="4472C4"/>
                </a:solidFill>
                <a:latin typeface="Wingdings"/>
              </a:rPr>
              <a:t>§  </a:t>
            </a:r>
            <a:r>
              <a:rPr sz="1700" b="0">
                <a:solidFill>
                  <a:srgbClr val="333F50"/>
                </a:solidFill>
                <a:latin typeface="Montserrat"/>
              </a:rPr>
              <a:t>Memory: 4.4 vs 4.1 GB (ML-1M); 17.9 vs 16.8 GB (Amazon).</a:t>
            </a:r>
          </a:p>
          <a:p>
            <a:pPr>
              <a:lnSpc>
                <a:spcPct val="105000"/>
              </a:lnSpc>
              <a:spcAft>
                <a:spcPts val="900"/>
              </a:spcAft>
            </a:pPr>
            <a:r>
              <a:rPr sz="1700">
                <a:solidFill>
                  <a:srgbClr val="4472C4"/>
                </a:solidFill>
                <a:latin typeface="Wingdings"/>
              </a:rPr>
              <a:t>§  </a:t>
            </a:r>
            <a:r>
              <a:rPr sz="1700" b="0">
                <a:solidFill>
                  <a:srgbClr val="333F50"/>
                </a:solidFill>
                <a:latin typeface="Montserrat"/>
              </a:rPr>
              <a:t>Per-epoch cost: O((L+1)md) + O((M/f)m).</a:t>
            </a:r>
          </a:p>
          <a:p>
            <a:pPr>
              <a:lnSpc>
                <a:spcPct val="105000"/>
              </a:lnSpc>
              <a:spcAft>
                <a:spcPts val="900"/>
              </a:spcAft>
            </a:pPr>
            <a:r>
              <a:rPr sz="1700">
                <a:solidFill>
                  <a:srgbClr val="4472C4"/>
                </a:solidFill>
                <a:latin typeface="Wingdings"/>
              </a:rPr>
              <a:t>§  </a:t>
            </a:r>
            <a:r>
              <a:rPr sz="1700" b="1">
                <a:solidFill>
                  <a:srgbClr val="333F50"/>
                </a:solidFill>
                <a:latin typeface="Montserrat Medium"/>
              </a:rPr>
              <a:t>Shapley convergence: M=50 → MSE 1.4×10⁻⁵, ~99% accuracy; M=100 → MSE 3.5×10⁻⁶ (diminishing returns).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Paired t-tests on per-user NDCG@20 (n = 6,040 users; df = 6,039).</a:t>
            </a:r>
          </a:p>
          <a:p>
            <a:pPr>
              <a:lnSpc>
                <a:spcPct val="105000"/>
              </a:lnSpc>
              <a:spcAft>
                <a:spcPts val="900"/>
              </a:spcAft>
            </a:pPr>
            <a:r>
              <a:rPr sz="1700">
                <a:solidFill>
                  <a:srgbClr val="4472C4"/>
                </a:solidFill>
                <a:latin typeface="Wingdings"/>
              </a:rPr>
              <a:t>§  </a:t>
            </a:r>
            <a:r>
              <a:rPr sz="1700" b="0">
                <a:solidFill>
                  <a:srgbClr val="333F50"/>
                </a:solidFill>
                <a:latin typeface="Montserrat"/>
              </a:rPr>
              <a:t>DyHuCoG outperforms every baseline with extremely small p-values after Holm–Bonferroni correction.</a:t>
            </a:r>
          </a:p>
          <a:p>
            <a:pPr lvl="1">
              <a:lnSpc>
                <a:spcPct val="105000"/>
              </a:lnSpc>
              <a:spcAft>
                <a:spcPts val="600"/>
              </a:spcAft>
            </a:pPr>
            <a:r>
              <a:rPr sz="1600">
                <a:solidFill>
                  <a:srgbClr val="4472C4"/>
                </a:solidFill>
                <a:latin typeface="Montserrat"/>
              </a:rPr>
              <a:t>–  </a:t>
            </a:r>
            <a:r>
              <a:rPr sz="1600" b="1">
                <a:solidFill>
                  <a:srgbClr val="333F50"/>
                </a:solidFill>
                <a:latin typeface="Montserrat"/>
              </a:rPr>
              <a:t>vs HPCF: t = 46.38, Cohen’s d_z = 1.3345, p = 1.81×10⁻²⁷⁰.</a:t>
            </a:r>
          </a:p>
          <a:p>
            <a:pPr lvl="1">
              <a:lnSpc>
                <a:spcPct val="105000"/>
              </a:lnSpc>
              <a:spcAft>
                <a:spcPts val="600"/>
              </a:spcAft>
            </a:pPr>
            <a:r>
              <a:rPr sz="1600">
                <a:solidFill>
                  <a:srgbClr val="4472C4"/>
                </a:solidFill>
                <a:latin typeface="Montserrat"/>
              </a:rPr>
              <a:t>–  </a:t>
            </a:r>
            <a:r>
              <a:rPr sz="1600" b="0">
                <a:solidFill>
                  <a:srgbClr val="333F50"/>
                </a:solidFill>
                <a:latin typeface="Montserrat"/>
              </a:rPr>
              <a:t>Wilcoxon signed-rank test also significant (p &lt; 0.001).</a:t>
            </a:r>
          </a:p>
          <a:p>
            <a:pPr lvl="1">
              <a:lnSpc>
                <a:spcPct val="105000"/>
              </a:lnSpc>
              <a:spcAft>
                <a:spcPts val="600"/>
              </a:spcAft>
            </a:pPr>
            <a:r>
              <a:rPr sz="1600">
                <a:solidFill>
                  <a:srgbClr val="4472C4"/>
                </a:solidFill>
                <a:latin typeface="Montserrat"/>
              </a:rPr>
              <a:t>–  </a:t>
            </a:r>
            <a:r>
              <a:rPr sz="1600" b="0">
                <a:solidFill>
                  <a:srgbClr val="333F50"/>
                </a:solidFill>
                <a:latin typeface="Montserrat"/>
              </a:rPr>
              <a:t>Effect sizes are large — improvements are substantively meaningful, not merely statistically visible.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Cold-start (5 or fewer interactions): NDCG@20 ≈ 0.061 (user) and 0.057 (item), improving over HPCF by ~10%.</a:t>
            </a:r>
          </a:p>
          <a:p>
            <a:pPr>
              <a:lnSpc>
                <a:spcPct val="105000"/>
              </a:lnSpc>
              <a:spcAft>
                <a:spcPts val="900"/>
              </a:spcAft>
            </a:pPr>
            <a:r>
              <a:rPr sz="1700">
                <a:solidFill>
                  <a:srgbClr val="4472C4"/>
                </a:solidFill>
                <a:latin typeface="Wingdings"/>
              </a:rPr>
              <a:t>§  </a:t>
            </a:r>
            <a:r>
              <a:rPr sz="1700" b="0">
                <a:solidFill>
                  <a:srgbClr val="333F50"/>
                </a:solidFill>
                <a:latin typeface="Montserrat"/>
              </a:rPr>
              <a:t>Cross-dataset: MovieLens +9.9%, Amazon +14.8%, Yelp2018 +11.8%.</a:t>
            </a:r>
          </a:p>
          <a:p>
            <a:pPr>
              <a:lnSpc>
                <a:spcPct val="105000"/>
              </a:lnSpc>
              <a:spcAft>
                <a:spcPts val="900"/>
              </a:spcAft>
            </a:pPr>
            <a:r>
              <a:rPr sz="1700">
                <a:solidFill>
                  <a:srgbClr val="4472C4"/>
                </a:solidFill>
                <a:latin typeface="Wingdings"/>
              </a:rPr>
              <a:t>§  </a:t>
            </a:r>
            <a:r>
              <a:rPr sz="1700" b="1">
                <a:solidFill>
                  <a:srgbClr val="333F50"/>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4472C4"/>
                </a:solidFill>
                <a:latin typeface="Montserrat"/>
              </a:rPr>
              <a:t>–  </a:t>
            </a:r>
            <a:r>
              <a:rPr sz="1600" b="0">
                <a:solidFill>
                  <a:srgbClr val="333F50"/>
                </a:solidFill>
                <a:latin typeface="Montserrat"/>
              </a:rPr>
              <a:t>Popularity bias: Shapley measures marginal utility, not raw frequency — weak but informative interactions retain influence.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Achieved: cooperative attribution used as an in-training signal — a stronger claim than the clustering chapters; the accuracy–diversity trade-off is not structurally fixed.</a:t>
            </a:r>
          </a:p>
          <a:p>
            <a:pPr>
              <a:lnSpc>
                <a:spcPct val="105000"/>
              </a:lnSpc>
              <a:spcAft>
                <a:spcPts val="900"/>
              </a:spcAft>
            </a:pPr>
            <a:r>
              <a:rPr sz="1700">
                <a:solidFill>
                  <a:srgbClr val="4472C4"/>
                </a:solidFill>
                <a:latin typeface="Wingdings"/>
              </a:rPr>
              <a:t>§  </a:t>
            </a:r>
            <a:r>
              <a:rPr sz="1700" b="1">
                <a:solidFill>
                  <a:srgbClr val="333F50"/>
                </a:solidFill>
                <a:latin typeface="Montserrat Medium"/>
              </a:rPr>
              <a:t>Limitations: measurable computational overhead; depends on availability of meaningful context; MC Shapley could be improved by variance reduction; ablation is component-wise; baselines finalised through early 2026.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8" name="Picture 7">
            <a:extLst>
              <a:ext uri="{FF2B5EF4-FFF2-40B4-BE49-F238E27FC236}">
                <a16:creationId xmlns:a16="http://schemas.microsoft.com/office/drawing/2014/main" id="{11208CBF-FC83-4DC8-AD64-BBC9341AA3E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pic>
        <p:nvPicPr>
          <p:cNvPr id="10" name="Picture 9">
            <a:extLst>
              <a:ext uri="{FF2B5EF4-FFF2-40B4-BE49-F238E27FC236}">
                <a16:creationId xmlns:a16="http://schemas.microsoft.com/office/drawing/2014/main" id="{5B519DED-C338-448D-AF8C-DA9C0E0EE31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4472C4"/>
                    </a:solidFill>
                  </a:tcPr>
                </a:tc>
                <a:tc>
                  <a:txBody>
                    <a:bodyPr/>
                    <a:lstStyle/>
                    <a:p>
                      <a:pPr algn="ctr"/>
                      <a:r>
                        <a:rPr sz="1200" b="1">
                          <a:solidFill>
                            <a:srgbClr val="FFFFFF"/>
                          </a:solidFill>
                          <a:latin typeface="Montserrat Medium"/>
                        </a:rPr>
                        <a:t>Main idea</a:t>
                      </a:r>
                    </a:p>
                  </a:txBody>
                  <a:tcPr anchor="ctr" marL="54864" marR="54864" marT="18288" marB="18288">
                    <a:solidFill>
                      <a:srgbClr val="4472C4"/>
                    </a:solidFill>
                  </a:tcPr>
                </a:tc>
                <a:tc>
                  <a:txBody>
                    <a:bodyPr/>
                    <a:lstStyle/>
                    <a:p>
                      <a:pPr algn="ctr"/>
                      <a:r>
                        <a:rPr sz="1200" b="1">
                          <a:solidFill>
                            <a:srgbClr val="FFFFFF"/>
                          </a:solidFill>
                          <a:latin typeface="Montserrat Medium"/>
                        </a:rPr>
                        <a:t>Achievement</a:t>
                      </a:r>
                    </a:p>
                  </a:txBody>
                  <a:tcPr anchor="ctr" marL="54864" marR="54864" marT="18288" marB="18288">
                    <a:solidFill>
                      <a:srgbClr val="4472C4"/>
                    </a:solidFill>
                  </a:tcPr>
                </a:tc>
                <a:tc>
                  <a:txBody>
                    <a:bodyPr/>
                    <a:lstStyle/>
                    <a:p>
                      <a:pPr algn="ctr"/>
                      <a:r>
                        <a:rPr sz="1200" b="1">
                          <a:solidFill>
                            <a:srgbClr val="FFFFFF"/>
                          </a:solidFill>
                          <a:latin typeface="Montserrat Medium"/>
                        </a:rPr>
                        <a:t>Key finding</a:t>
                      </a:r>
                    </a:p>
                  </a:txBody>
                  <a:tcPr anchor="ctr" marL="54864" marR="54864" marT="18288" marB="18288">
                    <a:solidFill>
                      <a:srgbClr val="4472C4"/>
                    </a:solidFill>
                  </a:tcPr>
                </a:tc>
              </a:tr>
              <a:tr h="891540">
                <a:tc>
                  <a:txBody>
                    <a:bodyPr/>
                    <a:lstStyle/>
                    <a:p>
                      <a:pPr algn="l"/>
                      <a:r>
                        <a:rPr sz="1200" b="0">
                          <a:solidFill>
                            <a:srgbClr val="333F50"/>
                          </a:solidFill>
                          <a:latin typeface="Montserrat"/>
                        </a:rPr>
                        <a:t>C1</a:t>
                      </a:r>
                    </a:p>
                  </a:txBody>
                  <a:tcPr anchor="ctr" marL="54864" marR="54864" marT="18288" marB="18288">
                    <a:solidFill>
                      <a:srgbClr val="FFFFFF"/>
                    </a:solidFill>
                  </a:tcPr>
                </a:tc>
                <a:tc>
                  <a:txBody>
                    <a:bodyPr/>
                    <a:lstStyle/>
                    <a:p>
                      <a:pPr algn="ctr"/>
                      <a:r>
                        <a:rPr sz="1200" b="0">
                          <a:solidFill>
                            <a:srgbClr val="333F50"/>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333F50"/>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333F50"/>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333F50"/>
                          </a:solidFill>
                          <a:latin typeface="Montserrat"/>
                        </a:rPr>
                        <a:t>C2</a:t>
                      </a:r>
                    </a:p>
                  </a:txBody>
                  <a:tcPr anchor="ctr" marL="54864" marR="54864" marT="18288" marB="18288">
                    <a:solidFill>
                      <a:srgbClr val="F0F4FB"/>
                    </a:solidFill>
                  </a:tcPr>
                </a:tc>
                <a:tc>
                  <a:txBody>
                    <a:bodyPr/>
                    <a:lstStyle/>
                    <a:p>
                      <a:pPr algn="ctr"/>
                      <a:r>
                        <a:rPr sz="1200" b="0">
                          <a:solidFill>
                            <a:srgbClr val="333F50"/>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333F50"/>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333F50"/>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333F50"/>
                          </a:solidFill>
                          <a:latin typeface="Montserrat"/>
                        </a:rPr>
                        <a:t>C3</a:t>
                      </a:r>
                    </a:p>
                  </a:txBody>
                  <a:tcPr anchor="ctr" marL="54864" marR="54864" marT="18288" marB="18288">
                    <a:solidFill>
                      <a:srgbClr val="FFFFFF"/>
                    </a:solidFill>
                  </a:tcPr>
                </a:tc>
                <a:tc>
                  <a:txBody>
                    <a:bodyPr/>
                    <a:lstStyle/>
                    <a:p>
                      <a:pPr algn="ctr"/>
                      <a:r>
                        <a:rPr sz="1200" b="0">
                          <a:solidFill>
                            <a:srgbClr val="333F50"/>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333F50"/>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333F50"/>
                          </a:solidFill>
                          <a:latin typeface="Montserrat"/>
                        </a:rPr>
                        <a:t>Accuracy + coverage + diversity improve together</a:t>
                      </a:r>
                    </a:p>
                  </a:txBody>
                  <a:tcPr anchor="ctr" marL="54864" marR="54864" marT="18288" marB="18288">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4472C4"/>
                    </a:solidFill>
                  </a:tcPr>
                </a:tc>
                <a:tc>
                  <a:txBody>
                    <a:bodyPr/>
                    <a:lstStyle/>
                    <a:p>
                      <a:pPr algn="ctr"/>
                      <a:r>
                        <a:rPr sz="1200" b="1">
                          <a:solidFill>
                            <a:srgbClr val="FFFFFF"/>
                          </a:solidFill>
                          <a:latin typeface="Montserrat Medium"/>
                        </a:rPr>
                        <a:t>Title</a:t>
                      </a:r>
                    </a:p>
                  </a:txBody>
                  <a:tcPr anchor="ctr" marL="54864" marR="54864" marT="18288" marB="18288">
                    <a:solidFill>
                      <a:srgbClr val="4472C4"/>
                    </a:solidFill>
                  </a:tcPr>
                </a:tc>
                <a:tc>
                  <a:txBody>
                    <a:bodyPr/>
                    <a:lstStyle/>
                    <a:p>
                      <a:pPr algn="ctr"/>
                      <a:r>
                        <a:rPr sz="1200" b="1">
                          <a:solidFill>
                            <a:srgbClr val="FFFFFF"/>
                          </a:solidFill>
                          <a:latin typeface="Montserrat Medium"/>
                        </a:rPr>
                        <a:t>Venue</a:t>
                      </a:r>
                    </a:p>
                  </a:txBody>
                  <a:tcPr anchor="ctr" marL="54864" marR="54864" marT="18288" marB="18288">
                    <a:solidFill>
                      <a:srgbClr val="4472C4"/>
                    </a:solidFill>
                  </a:tcPr>
                </a:tc>
                <a:tc>
                  <a:txBody>
                    <a:bodyPr/>
                    <a:lstStyle/>
                    <a:p>
                      <a:pPr algn="ctr"/>
                      <a:r>
                        <a:rPr sz="1200" b="1">
                          <a:solidFill>
                            <a:srgbClr val="FFFFFF"/>
                          </a:solidFill>
                          <a:latin typeface="Montserrat Medium"/>
                        </a:rPr>
                        <a:t>Status</a:t>
                      </a:r>
                    </a:p>
                  </a:txBody>
                  <a:tcPr anchor="ctr" marL="54864" marR="54864" marT="18288" marB="18288">
                    <a:solidFill>
                      <a:srgbClr val="4472C4"/>
                    </a:solidFill>
                  </a:tcPr>
                </a:tc>
              </a:tr>
              <a:tr h="891540">
                <a:tc>
                  <a:txBody>
                    <a:bodyPr/>
                    <a:lstStyle/>
                    <a:p>
                      <a:pPr algn="l"/>
                      <a:r>
                        <a:rPr sz="1200" b="0">
                          <a:solidFill>
                            <a:srgbClr val="333F50"/>
                          </a:solidFill>
                          <a:latin typeface="Montserrat"/>
                        </a:rPr>
                        <a:t>I</a:t>
                      </a:r>
                    </a:p>
                  </a:txBody>
                  <a:tcPr anchor="ctr" marL="54864" marR="54864" marT="18288" marB="18288">
                    <a:solidFill>
                      <a:srgbClr val="FFFFFF"/>
                    </a:solidFill>
                  </a:tcPr>
                </a:tc>
                <a:tc>
                  <a:txBody>
                    <a:bodyPr/>
                    <a:lstStyle/>
                    <a:p>
                      <a:pPr algn="ctr"/>
                      <a:r>
                        <a:rPr sz="1200" b="0">
                          <a:solidFill>
                            <a:srgbClr val="333F50"/>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333F50"/>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333F50"/>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333F50"/>
                          </a:solidFill>
                          <a:latin typeface="Montserrat"/>
                        </a:rPr>
                        <a:t>II</a:t>
                      </a:r>
                    </a:p>
                  </a:txBody>
                  <a:tcPr anchor="ctr" marL="54864" marR="54864" marT="18288" marB="18288">
                    <a:solidFill>
                      <a:srgbClr val="F0F4FB"/>
                    </a:solidFill>
                  </a:tcPr>
                </a:tc>
                <a:tc>
                  <a:txBody>
                    <a:bodyPr/>
                    <a:lstStyle/>
                    <a:p>
                      <a:pPr algn="ctr"/>
                      <a:r>
                        <a:rPr sz="1200" b="0">
                          <a:solidFill>
                            <a:srgbClr val="333F50"/>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333F50"/>
                          </a:solidFill>
                          <a:latin typeface="Montserrat"/>
                        </a:rPr>
                        <a:t>IJACSA 16(7), 716–725</a:t>
                      </a:r>
                    </a:p>
                  </a:txBody>
                  <a:tcPr anchor="ctr" marL="54864" marR="54864" marT="18288" marB="18288">
                    <a:solidFill>
                      <a:srgbClr val="F0F4FB"/>
                    </a:solidFill>
                  </a:tcPr>
                </a:tc>
                <a:tc>
                  <a:txBody>
                    <a:bodyPr/>
                    <a:lstStyle/>
                    <a:p>
                      <a:pPr algn="ctr"/>
                      <a:r>
                        <a:rPr sz="1200" b="0">
                          <a:solidFill>
                            <a:srgbClr val="333F50"/>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333F50"/>
                          </a:solidFill>
                          <a:latin typeface="Montserrat"/>
                        </a:rPr>
                        <a:t>III</a:t>
                      </a:r>
                    </a:p>
                  </a:txBody>
                  <a:tcPr anchor="ctr" marL="54864" marR="54864" marT="18288" marB="18288">
                    <a:solidFill>
                      <a:srgbClr val="FFFFFF"/>
                    </a:solidFill>
                  </a:tcPr>
                </a:tc>
                <a:tc>
                  <a:txBody>
                    <a:bodyPr/>
                    <a:lstStyle/>
                    <a:p>
                      <a:pPr algn="ctr"/>
                      <a:r>
                        <a:rPr sz="1200" b="0">
                          <a:solidFill>
                            <a:srgbClr val="333F50"/>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333F50"/>
                          </a:solidFill>
                          <a:latin typeface="Montserrat"/>
                        </a:rPr>
                        <a:t>IJIES 19(2), 887–902</a:t>
                      </a:r>
                    </a:p>
                  </a:txBody>
                  <a:tcPr anchor="ctr" marL="54864" marR="54864" marT="18288" marB="18288">
                    <a:solidFill>
                      <a:srgbClr val="FFFFFF"/>
                    </a:solidFill>
                  </a:tcPr>
                </a:tc>
                <a:tc>
                  <a:txBody>
                    <a:bodyPr/>
                    <a:lstStyle/>
                    <a:p>
                      <a:pPr algn="ctr"/>
                      <a:r>
                        <a:rPr sz="1200" b="0">
                          <a:solidFill>
                            <a:srgbClr val="333F50"/>
                          </a:solidFill>
                          <a:latin typeface="Montserrat"/>
                        </a:rPr>
                        <a:t>Published, 2026</a:t>
                      </a:r>
                    </a:p>
                  </a:txBody>
                  <a:tcPr anchor="ctr" marL="54864" marR="54864" marT="18288" marB="18288">
                    <a:solidFill>
                      <a:srgbClr val="FFFF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4472C4"/>
                </a:solidFill>
                <a:latin typeface="Wingdings"/>
              </a:rPr>
              <a:t>§  </a:t>
            </a:r>
            <a:r>
              <a:rPr sz="1700" b="0">
                <a:solidFill>
                  <a:srgbClr val="333F50"/>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4472C4"/>
                </a:solidFill>
                <a:latin typeface="Wingdings"/>
              </a:rPr>
              <a:t>§  </a:t>
            </a:r>
            <a:r>
              <a:rPr sz="1700" b="0">
                <a:solidFill>
                  <a:srgbClr val="333F50"/>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4472C4"/>
                </a:solidFill>
                <a:latin typeface="Wingdings"/>
              </a:rPr>
              <a:t>§  </a:t>
            </a:r>
            <a:r>
              <a:rPr sz="1700" b="1">
                <a:solidFill>
                  <a:srgbClr val="333F50"/>
                </a:solidFill>
                <a:latin typeface="Montserrat Medium"/>
              </a:rPr>
              <a:t>Claim scope – a coherent and productive perspective, not one fully unified framework eliminating all tension.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0">
                <a:solidFill>
                  <a:srgbClr val="333F50"/>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4472C4"/>
                </a:solidFill>
                <a:latin typeface="Wingdings"/>
              </a:rPr>
              <a:t>§  </a:t>
            </a:r>
            <a:r>
              <a:rPr sz="1700" b="0">
                <a:solidFill>
                  <a:srgbClr val="333F50"/>
                </a:solidFill>
                <a:latin typeface="Montserrat"/>
              </a:rPr>
              <a:t>Online / streaming recommendation – truly incremental settings with evolving graphs and delayed feedback.</a:t>
            </a:r>
          </a:p>
          <a:p>
            <a:pPr>
              <a:lnSpc>
                <a:spcPct val="105000"/>
              </a:lnSpc>
              <a:spcAft>
                <a:spcPts val="900"/>
              </a:spcAft>
            </a:pPr>
            <a:r>
              <a:rPr sz="1700">
                <a:solidFill>
                  <a:srgbClr val="4472C4"/>
                </a:solidFill>
                <a:latin typeface="Wingdings"/>
              </a:rPr>
              <a:t>§  </a:t>
            </a:r>
            <a:r>
              <a:rPr sz="1700" b="0">
                <a:solidFill>
                  <a:srgbClr val="333F50"/>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4472C4"/>
                </a:solidFill>
                <a:latin typeface="Wingdings"/>
              </a:rPr>
              <a:t>§  </a:t>
            </a:r>
            <a:r>
              <a:rPr sz="1700" b="0">
                <a:solidFill>
                  <a:srgbClr val="333F50"/>
                </a:solidFill>
                <a:latin typeface="Montserrat"/>
              </a:rPr>
              <a:t>Broader trustworthy-AI evaluation – exposure fairness, transparency requirements, governance-oriented auditing.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en-US" sz="1600" b="1" dirty="0">
              <a:solidFill>
                <a:srgbClr val="98ECB7"/>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98ECB7"/>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pic>
        <p:nvPicPr>
          <p:cNvPr id="40" name="Picture 39">
            <a:extLst>
              <a:ext uri="{FF2B5EF4-FFF2-40B4-BE49-F238E27FC236}">
                <a16:creationId xmlns:a16="http://schemas.microsoft.com/office/drawing/2014/main" id="{16917540-F16D-4C7F-B58B-79DAC52F2B9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677021" y="6400800"/>
            <a:ext cx="385680" cy="385680"/>
          </a:xfrm>
          <a:prstGeom prst="rect">
            <a:avLst/>
          </a:prstGeom>
        </p:spPr>
      </p:pic>
      <p:pic>
        <p:nvPicPr>
          <p:cNvPr id="41" name="Picture 40">
            <a:extLst>
              <a:ext uri="{FF2B5EF4-FFF2-40B4-BE49-F238E27FC236}">
                <a16:creationId xmlns:a16="http://schemas.microsoft.com/office/drawing/2014/main" id="{6F1957F2-C2B5-472B-BBC6-F0E63737ABCB}"/>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4472C4"/>
                </a:solidFill>
                <a:latin typeface="Wingdings"/>
              </a:rPr>
              <a:t>§  </a:t>
            </a:r>
            <a:r>
              <a:rPr sz="1700" b="1">
                <a:solidFill>
                  <a:srgbClr val="333F50"/>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4472C4"/>
                </a:solidFill>
                <a:latin typeface="Wingdings"/>
              </a:rPr>
              <a:t>§  </a:t>
            </a:r>
            <a:r>
              <a:rPr sz="1700" b="0">
                <a:solidFill>
                  <a:srgbClr val="333F50"/>
                </a:solidFill>
                <a:latin typeface="Montserrat"/>
              </a:rPr>
              <a:t>Key outcomes:</a:t>
            </a:r>
          </a:p>
          <a:p>
            <a:pPr lvl="1">
              <a:lnSpc>
                <a:spcPct val="105000"/>
              </a:lnSpc>
              <a:spcAft>
                <a:spcPts val="600"/>
              </a:spcAft>
            </a:pPr>
            <a:r>
              <a:rPr sz="1600">
                <a:solidFill>
                  <a:srgbClr val="4472C4"/>
                </a:solidFill>
                <a:latin typeface="Montserrat"/>
              </a:rPr>
              <a:t>–  </a:t>
            </a:r>
            <a:r>
              <a:rPr sz="1600" b="0">
                <a:solidFill>
                  <a:srgbClr val="333F50"/>
                </a:solidFill>
                <a:latin typeface="Montserrat"/>
              </a:rPr>
              <a:t>Shapley attribution as a common formal language for feature, interaction, and context importance allocation.</a:t>
            </a:r>
          </a:p>
          <a:p>
            <a:pPr lvl="1">
              <a:lnSpc>
                <a:spcPct val="105000"/>
              </a:lnSpc>
              <a:spcAft>
                <a:spcPts val="600"/>
              </a:spcAft>
            </a:pPr>
            <a:r>
              <a:rPr sz="1600">
                <a:solidFill>
                  <a:srgbClr val="4472C4"/>
                </a:solidFill>
                <a:latin typeface="Montserrat"/>
              </a:rPr>
              <a:t>–  </a:t>
            </a:r>
            <a:r>
              <a:rPr sz="1600" b="0">
                <a:solidFill>
                  <a:srgbClr val="333F50"/>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4472C4"/>
                </a:solidFill>
                <a:latin typeface="Montserrat"/>
              </a:rPr>
              <a:t>–  </a:t>
            </a:r>
            <a:r>
              <a:rPr sz="1600" b="0">
                <a:solidFill>
                  <a:srgbClr val="333F50"/>
                </a:solidFill>
                <a:latin typeface="Montserrat"/>
              </a:rPr>
              <a:t>Explanation as method, not commentary — from post-hoc description to in-training guidance.</a:t>
            </a:r>
          </a:p>
          <a:p>
            <a:pPr lvl="1">
              <a:lnSpc>
                <a:spcPct val="105000"/>
              </a:lnSpc>
              <a:spcAft>
                <a:spcPts val="600"/>
              </a:spcAft>
            </a:pPr>
            <a:r>
              <a:rPr sz="1600">
                <a:solidFill>
                  <a:srgbClr val="4472C4"/>
                </a:solidFill>
                <a:latin typeface="Montserrat"/>
              </a:rPr>
              <a:t>–  </a:t>
            </a:r>
            <a:r>
              <a:rPr sz="1600" b="0">
                <a:solidFill>
                  <a:srgbClr val="333F50"/>
                </a:solidFill>
                <a:latin typeface="Montserrat"/>
              </a:rPr>
              <a:t>Aligned with trustworthy-AI requirements (EU AI Act, OECD principles, GDPR).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tx1"/>
                </a:solidFill>
                <a:latin typeface="Montserrat" pitchFamily="2" charset="0"/>
              </a:rPr>
              <a:t>Thank you for your attention.</a:t>
            </a:r>
          </a:p>
          <a:p>
            <a:pPr algn="ctr"/>
            <a:r>
              <a:rPr lang="en-US" sz="2400" b="1" dirty="0">
                <a:solidFill>
                  <a:schemeClr val="tx1"/>
                </a:solidFill>
                <a:latin typeface="Montserrat" pitchFamily="2" charset="0"/>
              </a:rPr>
              <a:t>I welcome your questions and comments.</a:t>
            </a:r>
            <a:br>
              <a:rPr lang="en-US" sz="2400" dirty="0">
                <a:solidFill>
                  <a:schemeClr val="tx1"/>
                </a:solidFill>
              </a:rPr>
            </a:br>
            <a:endParaRPr lang="en-US" sz="2400" b="1" dirty="0">
              <a:solidFill>
                <a:schemeClr val="tx1"/>
              </a:solidFill>
              <a:latin typeface="Montserrat" pitchFamily="2" charset="0"/>
            </a:endParaRPr>
          </a:p>
        </p:txBody>
      </p:sp>
      <p:pic>
        <p:nvPicPr>
          <p:cNvPr id="8" name="Picture 7">
            <a:extLst>
              <a:ext uri="{FF2B5EF4-FFF2-40B4-BE49-F238E27FC236}">
                <a16:creationId xmlns:a16="http://schemas.microsoft.com/office/drawing/2014/main" id="{3D25FC97-7379-45D2-A597-B2FAA38BD4F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710036" y="6400800"/>
            <a:ext cx="385680" cy="385680"/>
          </a:xfrm>
          <a:prstGeom prst="rect">
            <a:avLst/>
          </a:prstGeom>
        </p:spPr>
      </p:pic>
      <p:pic>
        <p:nvPicPr>
          <p:cNvPr id="9" name="Picture 8">
            <a:extLst>
              <a:ext uri="{FF2B5EF4-FFF2-40B4-BE49-F238E27FC236}">
                <a16:creationId xmlns:a16="http://schemas.microsoft.com/office/drawing/2014/main" id="{F9AFBC54-57AC-4DF1-8823-B82884C6490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431603" y="6400800"/>
            <a:ext cx="385680" cy="385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