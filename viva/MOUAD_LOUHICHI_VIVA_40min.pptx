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DD5604A-35BD-46CC-ADF2-0122FC8C099C}">
          <p14:sldIdLst>
            <p14:sldId id="283"/>
            <p14:sldId id="257"/>
            <p14:sldId id="293"/>
            <p14:sldId id="259"/>
            <p14:sldId id="314"/>
            <p14:sldId id="341"/>
            <p14:sldId id="343"/>
            <p14:sldId id="292"/>
            <p14:sldId id="316"/>
            <p14:sldId id="336"/>
            <p14:sldId id="337"/>
            <p14:sldId id="338"/>
            <p14:sldId id="340"/>
            <p14:sldId id="339"/>
            <p14:sldId id="317"/>
            <p14:sldId id="318"/>
            <p14:sldId id="291"/>
            <p14:sldId id="281"/>
            <p14:sldId id="344"/>
            <p14:sldId id="328"/>
            <p14:sldId id="347"/>
            <p14:sldId id="346"/>
            <p14:sldId id="329"/>
            <p14:sldId id="348"/>
            <p14:sldId id="349"/>
            <p14:sldId id="321"/>
            <p14:sldId id="330"/>
            <p14:sldId id="290"/>
            <p14:sldId id="260"/>
            <p14:sldId id="277"/>
            <p14:sldId id="278"/>
            <p14:sldId id="333"/>
            <p14:sldId id="350"/>
            <p14:sldId id="261"/>
            <p14:sldId id="262"/>
            <p14:sldId id="284"/>
            <p14:sldId id="263"/>
            <p14:sldId id="286"/>
            <p14:sldId id="285"/>
            <p14:sldId id="287"/>
            <p14:sldId id="264"/>
            <p14:sldId id="294"/>
            <p14:sldId id="266"/>
            <p14:sldId id="351"/>
            <p14:sldId id="267"/>
            <p14:sldId id="295"/>
            <p14:sldId id="296"/>
            <p14:sldId id="297"/>
            <p14:sldId id="298"/>
            <p14:sldId id="268"/>
            <p14:sldId id="299"/>
            <p14:sldId id="300"/>
            <p14:sldId id="288"/>
            <p14:sldId id="265"/>
            <p14:sldId id="301"/>
            <p14:sldId id="331"/>
            <p14:sldId id="334"/>
            <p14:sldId id="332"/>
            <p14:sldId id="269"/>
            <p14:sldId id="270"/>
            <p14:sldId id="302"/>
            <p14:sldId id="303"/>
            <p14:sldId id="305"/>
            <p14:sldId id="306"/>
            <p14:sldId id="307"/>
            <p14:sldId id="308"/>
            <p14:sldId id="309"/>
            <p14:sldId id="311"/>
            <p14:sldId id="289"/>
            <p14:sldId id="272"/>
            <p14:sldId id="323"/>
            <p14:sldId id="324"/>
            <p14:sldId id="273"/>
            <p14:sldId id="274"/>
            <p14:sldId id="275"/>
            <p14:sldId id="276"/>
            <p14:sldId id="313"/>
          </p14:sldIdLst>
        </p14:section>
        <p14:section name="Hidden" id="{9D07A6B9-F95A-4E5B-A630-A38672DB993B}">
          <p14:sldIdLst>
            <p14:sldId id="326"/>
            <p14:sldId id="319"/>
            <p14:sldId id="320"/>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dwane Nesmaoui" initials="RN" lastIdx="1" clrIdx="0">
    <p:extLst>
      <p:ext uri="{19B8F6BF-5375-455C-9EA6-DF929625EA0E}">
        <p15:presenceInfo xmlns:p15="http://schemas.microsoft.com/office/powerpoint/2012/main" userId="8a7fab1de5a367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ECB7"/>
    <a:srgbClr val="4C9E65"/>
    <a:srgbClr val="0D1B2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23" autoAdjust="0"/>
    <p:restoredTop sz="93690" autoAdjust="0"/>
  </p:normalViewPr>
  <p:slideViewPr>
    <p:cSldViewPr snapToGrid="0">
      <p:cViewPr varScale="1">
        <p:scale>
          <a:sx n="60" d="100"/>
          <a:sy n="60" d="100"/>
        </p:scale>
        <p:origin x="76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389AAB-E7FE-44C1-AA5E-5543FE15A072}"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B1C6E-8DC2-4E7B-B3D1-0F5C75DF7500}" type="slidenum">
              <a:rPr lang="en-US" smtClean="0"/>
              <a:t>‹#›</a:t>
            </a:fld>
            <a:endParaRPr lang="en-US"/>
          </a:p>
        </p:txBody>
      </p:sp>
    </p:spTree>
    <p:extLst>
      <p:ext uri="{BB962C8B-B14F-4D97-AF65-F5344CB8AC3E}">
        <p14:creationId xmlns:p14="http://schemas.microsoft.com/office/powerpoint/2010/main" val="134191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C1 answers RQ1 in the affirmative: Shapley values can explain black-box clustering faithfully, provided the surrogate is high-fidelity, and coherently at cluster level. It anchors cluster-level explanation to individual feature contributions, it returns explanations to the original variables, and it offers a theoretically grounded argument for Shapley over LIME. But I want to be clear about the scope and limits.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That limitation is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in the affirmative, with bounds. Shapley-based clustering explanation can scale to hierarchical, large-scale settings without losing interpretive coherence, provided the hierarchy is modelled explicitly and the approximation is transparent. We achieved a scalable, multi-granular explanation that does not collapse into a single flat summary; a formal cross-level consistency argument in Proposition 6.1; and validation on a structurally different large-scale dataset. The limitations are equally clear: the clustering remains static even though the Beijing data are temporal; the surrogate-based SHAP plus representative-instance reporting compresses observation-level variation; and the whole approach is confined to tabular data. The most important limit, and the bridge to C3, is that the model is still an explanation of a pre-computed partition; it does not yet influence learning itself.</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and makes the strongest claim of the thesis. Cooperative attribution can move beyond post-hoc analysis and enter the learning dynamics of a recommender, letting it balance accuracy, diversity and context more effectively. The evidence is that ranking, coverage and diversity improve together, with the largest gains on the sparsest data, and that the improvement is statistically large. The limitations must be stated honestly: measurable computational overhead, roughly one point seven eight times training time; dependence on meaningful context; Monte Carlo Shapley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F54D3-D74B-41A7-ABDF-C08F20987F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9099C5-5240-441D-B3F5-6B223B6711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5E3817-673E-422A-A40E-2250324CE99D}"/>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2FED8D45-DD8C-4D07-996E-E2C7F38A3B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54A3F-E35E-4C53-A8B2-56DE79E128E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398141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61A0D-F9AA-452F-8333-3F080A7BD4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F36F-E619-4DDD-B358-2791FF6A65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B7048-12D5-4645-9221-23A77DBF1311}"/>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0504A02-C54F-4C1A-AC03-C427298AF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AA430-054D-4AF5-938E-602651D84FF3}"/>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3464254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DD3CC-3662-4644-93C0-5AA5300C6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CBC00E-09C4-42EC-ACF3-E4F85A1B2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7AD24E-DD96-4632-A0A9-41F2506995D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6F99E68-1033-48FB-A4B3-1C8A17D57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28341D-CB73-4CD2-914C-44CEE7DC3028}"/>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22695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F9DDF-F57A-47DD-B5C4-818A09C270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0DB151-4F3B-4CFE-B0FC-9AC33248A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70526-8909-435A-92F8-2999DEDEBF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644E21-7A45-4291-A8CE-885F0EA4B55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1B605F95-4A7D-4DCE-A59C-89D3F100EA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312B54-4DAC-4B72-9A97-71336855B6A2}"/>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04351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94608-CD25-4F65-8423-9960E8F331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E8FED5-8D4E-4C32-9859-0B8E047A2D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CF85C9-B578-4965-B538-DEDD983E3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25415-D73D-4EEA-A153-1DAE47D07D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1545F-DA67-4337-899D-CBB10D6CE3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A638C9-461F-4186-87FA-E5EB44D41249}"/>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8" name="Footer Placeholder 7">
            <a:extLst>
              <a:ext uri="{FF2B5EF4-FFF2-40B4-BE49-F238E27FC236}">
                <a16:creationId xmlns:a16="http://schemas.microsoft.com/office/drawing/2014/main" id="{DCF95E9E-90BD-40D2-BCFB-428042D477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BAA64-7926-4C73-A132-3F311A176C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71590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E4D4-FD19-4391-BB5D-127CC57470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F01BCB8-DEDB-4431-80B1-95DE7837F70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4" name="Footer Placeholder 3">
            <a:extLst>
              <a:ext uri="{FF2B5EF4-FFF2-40B4-BE49-F238E27FC236}">
                <a16:creationId xmlns:a16="http://schemas.microsoft.com/office/drawing/2014/main" id="{24818EC0-FE97-4A33-841D-EA4D12F641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6F1B7D-FCDB-4AC6-8A43-877EBE067021}"/>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230327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F818BA-F27C-458C-8781-E8791C0A5E1A}"/>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3" name="Footer Placeholder 2">
            <a:extLst>
              <a:ext uri="{FF2B5EF4-FFF2-40B4-BE49-F238E27FC236}">
                <a16:creationId xmlns:a16="http://schemas.microsoft.com/office/drawing/2014/main" id="{8B7B28D6-0863-4C78-A71D-25195797F98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F016BA-AA77-4EEF-820E-2FBA734350B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542469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5E0C3-F4FD-4E0D-9A33-42635C44AE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A0C5FF9-28DF-4E3A-85C0-E86EC6EB23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D59E7D-72CE-4632-9D0D-8BD85C250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4B5F33-9B3A-4E69-A5B1-742A67D71608}"/>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5CFB37CA-5076-4F4F-9F55-D52FD221DD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A411D-0E2B-40D3-A25C-5192AB7F585C}"/>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8324668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5D45-140A-4F36-8E4B-B0A7D07EAF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B60B04-672F-48C4-BE23-CBE85C3AC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EFD2E4-9C17-4BD2-AE4A-DA13A045BB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6EB220-FE37-4D3D-863A-3EFF2CC61FF3}"/>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30BACE23-1854-4E77-9F1D-D16F735C0F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1702A8-F40A-471F-A264-F67B4F9D1F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748440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2E954-CDA0-4BE0-AED7-2B4E734CC9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2EBB78-2493-4ED3-BDCF-2D6681754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66FB8F-3B97-4F76-A975-43864F1433E2}"/>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B25C82C0-D09D-458D-85EA-1B889093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9FB3F-603C-4DD6-AC08-C12F05FF8E7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790838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550DE-A91D-4B1D-A889-06640E7E78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06DC8EC-D9CE-42CE-A4E7-5D92C14EF5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7D2307-916B-435F-A995-88EEA07E5B15}"/>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478E6B27-9ED6-43DB-847B-AE99475CC6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916577-1559-4546-8104-D545920D87A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673052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8D138A-52D3-4DFE-986A-D143E7BE2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3A14CE3-8C1D-43E6-822C-C6FEF12AD3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A432F1-93B7-45DF-BD08-1467C4DC9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1E1435F8-F9A3-4BE2-88B0-2F6C17750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0ACEF00-7745-402B-B267-B9F3A8DE71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D5577D-44C0-413A-B2CF-621F1242761D}" type="slidenum">
              <a:rPr lang="en-US" smtClean="0"/>
              <a:t>‹#›</a:t>
            </a:fld>
            <a:endParaRPr lang="en-US"/>
          </a:p>
        </p:txBody>
      </p:sp>
    </p:spTree>
    <p:extLst>
      <p:ext uri="{BB962C8B-B14F-4D97-AF65-F5344CB8AC3E}">
        <p14:creationId xmlns:p14="http://schemas.microsoft.com/office/powerpoint/2010/main" val="15871292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4.xml"/><Relationship Id="rId14" Type="http://schemas.openxmlformats.org/officeDocument/2006/relationships/image" Target="../media/image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5.xml"/><Relationship Id="rId14"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notesSlide" Target="../notesSlides/notesSlide86.xml"/><Relationship Id="rId6" Type="http://schemas.openxmlformats.org/officeDocument/2006/relationships/image" Target="../media/image2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7.xml"/><Relationship Id="rId14"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8.xml"/><Relationship Id="rId14" Type="http://schemas.openxmlformats.org/officeDocument/2006/relationships/image" Target="../media/image3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9.xml"/><Relationship Id="rId14"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24.png"/><Relationship Id="rId6"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3.xml"/><Relationship Id="rId13" Type="http://schemas.openxmlformats.org/officeDocument/2006/relationships/image" Target="../media/image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4.xml"/><Relationship Id="rId13"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5.xml"/><Relationship Id="rId1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6.xml"/><Relationship Id="rId13" Type="http://schemas.openxmlformats.org/officeDocument/2006/relationships/image" Target="../media/image2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97.xml"/><Relationship Id="rId7"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8.xml"/><Relationship Id="rId14" Type="http://schemas.openxmlformats.org/officeDocument/2006/relationships/image" Target="../media/image3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9.xml"/><Relationship Id="rId14" Type="http://schemas.openxmlformats.org/officeDocument/2006/relationships/image" Target="../media/image5.png"/><Relationship Id="rId15" Type="http://schemas.openxmlformats.org/officeDocument/2006/relationships/image" Target="../media/image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0.xml"/><Relationship Id="rId14" Type="http://schemas.openxmlformats.org/officeDocument/2006/relationships/image" Target="../media/image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3.png"/><Relationship Id="rId13" Type="http://schemas.openxmlformats.org/officeDocument/2006/relationships/image" Target="../media/image14.png"/><Relationship Id="rId14" Type="http://schemas.openxmlformats.org/officeDocument/2006/relationships/notesSlide" Target="../notesSlides/notesSlide101.xml"/><Relationship Id="rId15" Type="http://schemas.openxmlformats.org/officeDocument/2006/relationships/image" Target="../media/image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2.xml"/><Relationship Id="rId14" Type="http://schemas.openxmlformats.org/officeDocument/2006/relationships/image" Target="../media/image5.png"/><Relationship Id="rId15" Type="http://schemas.openxmlformats.org/officeDocument/2006/relationships/image" Target="../media/image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3.xml"/><Relationship Id="rId14" Type="http://schemas.openxmlformats.org/officeDocument/2006/relationships/image" Target="../media/image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4.xml"/><Relationship Id="rId14" Type="http://schemas.openxmlformats.org/officeDocument/2006/relationships/image" Target="../media/image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5.xml"/><Relationship Id="rId14" Type="http://schemas.openxmlformats.org/officeDocument/2006/relationships/image" Target="../media/image5.png"/><Relationship Id="rId15"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6.xml"/><Relationship Id="rId14" Type="http://schemas.openxmlformats.org/officeDocument/2006/relationships/image" Target="../media/image5.png"/><Relationship Id="rId15" Type="http://schemas.openxmlformats.org/officeDocument/2006/relationships/image" Target="../media/image2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107.xml"/><Relationship Id="rId7" Type="http://schemas.openxmlformats.org/officeDocument/2006/relationships/image" Target="../media/image5.png"/><Relationship Id="rId8" Type="http://schemas.openxmlformats.org/officeDocument/2006/relationships/image" Target="../media/image2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8.xml"/><Relationship Id="rId13" Type="http://schemas.openxmlformats.org/officeDocument/2006/relationships/image" Target="../media/image5.png"/><Relationship Id="rId14" Type="http://schemas.openxmlformats.org/officeDocument/2006/relationships/image" Target="../media/image3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4.png"/><Relationship Id="rId13" Type="http://schemas.openxmlformats.org/officeDocument/2006/relationships/notesSlide" Target="../notesSlides/notesSlide109.xml"/><Relationship Id="rId14" Type="http://schemas.openxmlformats.org/officeDocument/2006/relationships/image" Target="../media/image7.png"/><Relationship Id="rId15" Type="http://schemas.openxmlformats.org/officeDocument/2006/relationships/image" Target="../media/image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0.xml"/><Relationship Id="rId13" Type="http://schemas.openxmlformats.org/officeDocument/2006/relationships/image" Target="../media/image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1.xml"/><Relationship Id="rId13" Type="http://schemas.openxmlformats.org/officeDocument/2006/relationships/image" Target="../media/image7.png"/><Relationship Id="rId14"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2.xml"/><Relationship Id="rId13" Type="http://schemas.openxmlformats.org/officeDocument/2006/relationships/image" Target="../media/image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3.xml"/><Relationship Id="rId13" Type="http://schemas.openxmlformats.org/officeDocument/2006/relationships/image" Target="../media/image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4.xml"/><Relationship Id="rId13" Type="http://schemas.openxmlformats.org/officeDocument/2006/relationships/image" Target="../media/image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5.xml"/><Relationship Id="rId13" Type="http://schemas.openxmlformats.org/officeDocument/2006/relationships/image" Target="../media/image7.png"/><Relationship Id="rId1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6.xml"/><Relationship Id="rId13" Type="http://schemas.openxmlformats.org/officeDocument/2006/relationships/image" Target="../media/image7.png"/><Relationship Id="rId14" Type="http://schemas.openxmlformats.org/officeDocument/2006/relationships/image" Target="../media/image2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notesSlide" Target="../notesSlides/notesSlide117.xml"/><Relationship Id="rId7" Type="http://schemas.openxmlformats.org/officeDocument/2006/relationships/image" Target="../media/image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18.xml"/><Relationship Id="rId15" Type="http://schemas.openxmlformats.org/officeDocument/2006/relationships/image" Target="../media/image7.png"/><Relationship Id="rId16" Type="http://schemas.openxmlformats.org/officeDocument/2006/relationships/image" Target="../media/image3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19.xml"/><Relationship Id="rId15" Type="http://schemas.openxmlformats.org/officeDocument/2006/relationships/image" Target="../media/image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1.xml"/><Relationship Id="rId15" Type="http://schemas.openxmlformats.org/officeDocument/2006/relationships/image" Target="../media/image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5.png"/><Relationship Id="rId13" Type="http://schemas.openxmlformats.org/officeDocument/2006/relationships/image" Target="../media/image14.png"/><Relationship Id="rId14" Type="http://schemas.openxmlformats.org/officeDocument/2006/relationships/image" Target="../media/image22.png"/><Relationship Id="rId15" Type="http://schemas.openxmlformats.org/officeDocument/2006/relationships/notesSlide" Target="../notesSlides/notesSlide122.xml"/><Relationship Id="rId16" Type="http://schemas.openxmlformats.org/officeDocument/2006/relationships/image" Target="../media/image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6.xml"/><Relationship Id="rId15" Type="http://schemas.openxmlformats.org/officeDocument/2006/relationships/image" Target="../media/image2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7.xml"/><Relationship Id="rId15" Type="http://schemas.openxmlformats.org/officeDocument/2006/relationships/image" Target="../media/image2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8.xml"/><Relationship Id="rId15" Type="http://schemas.openxmlformats.org/officeDocument/2006/relationships/image" Target="../media/image3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9.xml"/><Relationship Id="rId15" Type="http://schemas.openxmlformats.org/officeDocument/2006/relationships/image" Target="../media/image6.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1.xml"/><Relationship Id="rId15" Type="http://schemas.openxmlformats.org/officeDocument/2006/relationships/image" Target="../media/image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notesSlide" Target="../notesSlides/notesSlide132.xml"/><Relationship Id="rId7" Type="http://schemas.openxmlformats.org/officeDocument/2006/relationships/image" Target="../media/image9.png"/><Relationship Id="rId8" Type="http://schemas.openxmlformats.org/officeDocument/2006/relationships/image" Target="../media/image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5.xml"/><Relationship Id="rId15" Type="http://schemas.openxmlformats.org/officeDocument/2006/relationships/image" Target="../media/image2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7.xml"/><Relationship Id="rId15" Type="http://schemas.openxmlformats.org/officeDocument/2006/relationships/image" Target="../media/image25.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notesSlide" Target="../notesSlides/notesSlide138.xml"/><Relationship Id="rId6" Type="http://schemas.openxmlformats.org/officeDocument/2006/relationships/image" Target="../media/image9.png"/><Relationship Id="rId7" Type="http://schemas.openxmlformats.org/officeDocument/2006/relationships/image" Target="../media/image31.png"/></Relationships>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CC13E993-8D38-4110-BC7A-5BBC472507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083" y="44412"/>
            <a:ext cx="2016529" cy="1468694"/>
          </a:xfrm>
          <a:prstGeom prst="rect">
            <a:avLst/>
          </a:prstGeom>
        </p:spPr>
      </p:pic>
      <p:pic>
        <p:nvPicPr>
          <p:cNvPr id="6" name="Picture 5">
            <a:extLst>
              <a:ext uri="{FF2B5EF4-FFF2-40B4-BE49-F238E27FC236}">
                <a16:creationId xmlns:a16="http://schemas.microsoft.com/office/drawing/2014/main" id="{C53FD27D-107F-4E09-9CE1-C26009B664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72657" y="27665"/>
            <a:ext cx="2123783" cy="1502187"/>
          </a:xfrm>
          <a:prstGeom prst="rect">
            <a:avLst/>
          </a:prstGeom>
        </p:spPr>
      </p:pic>
      <p:sp>
        <p:nvSpPr>
          <p:cNvPr id="8" name="TextBox 7">
            <a:extLst>
              <a:ext uri="{FF2B5EF4-FFF2-40B4-BE49-F238E27FC236}">
                <a16:creationId xmlns:a16="http://schemas.microsoft.com/office/drawing/2014/main" id="{2A8097A5-6BA2-4865-A08A-1D6CB6951142}"/>
              </a:ext>
            </a:extLst>
          </p:cNvPr>
          <p:cNvSpPr txBox="1"/>
          <p:nvPr/>
        </p:nvSpPr>
        <p:spPr>
          <a:xfrm>
            <a:off x="1655448" y="1105690"/>
            <a:ext cx="9179101" cy="276999"/>
          </a:xfrm>
          <a:prstGeom prst="rect">
            <a:avLst/>
          </a:prstGeom>
          <a:noFill/>
        </p:spPr>
        <p:txBody>
          <a:bodyPr wrap="square">
            <a:spAutoFit/>
          </a:bodyPr>
          <a:lstStyle/>
          <a:p>
            <a:pPr algn="ctr"/>
            <a:r>
              <a:rPr lang="en-US" sz="1200" dirty="0">
                <a:latin typeface="Montserrat" pitchFamily="2" charset="0"/>
                <a:cs typeface="Times New Roman" panose="02020603050405020304" pitchFamily="18" charset="0"/>
              </a:rPr>
              <a:t>Doctoral Studies Center in Information and Engineering  Sciences and Technologies (ST2I)</a:t>
            </a:r>
          </a:p>
        </p:txBody>
      </p:sp>
      <p:sp>
        <p:nvSpPr>
          <p:cNvPr id="9" name="Rectangle 8">
            <a:extLst>
              <a:ext uri="{FF2B5EF4-FFF2-40B4-BE49-F238E27FC236}">
                <a16:creationId xmlns:a16="http://schemas.microsoft.com/office/drawing/2014/main" id="{27C77998-1883-4EA1-B241-A5C292CFB970}"/>
              </a:ext>
            </a:extLst>
          </p:cNvPr>
          <p:cNvSpPr/>
          <p:nvPr/>
        </p:nvSpPr>
        <p:spPr>
          <a:xfrm>
            <a:off x="675083" y="1584372"/>
            <a:ext cx="11255142" cy="778759"/>
          </a:xfrm>
          <a:prstGeom prst="rect">
            <a:avLst/>
          </a:prstGeom>
          <a:ln>
            <a:solidFill>
              <a:srgbClr val="0D1B2A"/>
            </a:solidFill>
          </a:ln>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dirty="0">
                <a:latin typeface="Montserrat Medium" pitchFamily="50" charset="0"/>
              </a:rPr>
              <a:t>Cooperative Game Theory for Explainable AI in Recommendation Systems:</a:t>
            </a:r>
          </a:p>
          <a:p>
            <a:pPr algn="l"/>
            <a:r>
              <a:rPr lang="en-US" dirty="0">
                <a:latin typeface="Montserrat Medium" pitchFamily="50" charset="0"/>
              </a:rPr>
              <a:t>A Shapley Framework for Actionable Insight</a:t>
            </a:r>
          </a:p>
        </p:txBody>
      </p:sp>
      <p:sp>
        <p:nvSpPr>
          <p:cNvPr id="7" name="TextBox 6">
            <a:extLst>
              <a:ext uri="{FF2B5EF4-FFF2-40B4-BE49-F238E27FC236}">
                <a16:creationId xmlns:a16="http://schemas.microsoft.com/office/drawing/2014/main" id="{1E4B0EB6-9489-4A65-9E21-C4A3871D04F8}"/>
              </a:ext>
            </a:extLst>
          </p:cNvPr>
          <p:cNvSpPr txBox="1"/>
          <p:nvPr/>
        </p:nvSpPr>
        <p:spPr>
          <a:xfrm>
            <a:off x="1506449" y="2515239"/>
            <a:ext cx="9179101" cy="338554"/>
          </a:xfrm>
          <a:prstGeom prst="rect">
            <a:avLst/>
          </a:prstGeom>
          <a:noFill/>
        </p:spPr>
        <p:txBody>
          <a:bodyPr wrap="square"/>
          <a:lstStyle/>
          <a:p>
            <a:r>
              <a:rPr lang="en-US" sz="1600" b="1" dirty="0">
                <a:latin typeface="Montserrat Medium" pitchFamily="50" charset="0"/>
                <a:cs typeface="Times New Roman" panose="02020603050405020304" pitchFamily="18" charset="0"/>
              </a:rPr>
              <a:t>PhD Viva Presented by: Mouad LOUHICHI</a:t>
            </a:r>
          </a:p>
        </p:txBody>
      </p:sp>
      <p:graphicFrame>
        <p:nvGraphicFramePr>
          <p:cNvPr id="2" name="Table 2">
            <a:extLst>
              <a:ext uri="{FF2B5EF4-FFF2-40B4-BE49-F238E27FC236}">
                <a16:creationId xmlns:a16="http://schemas.microsoft.com/office/drawing/2014/main" id="{885F3AD6-276A-48D1-AA87-249946C77A35}"/>
              </a:ext>
            </a:extLst>
          </p:cNvPr>
          <p:cNvGraphicFramePr>
            <a:graphicFrameLocks noGrp="1"/>
          </p:cNvGraphicFramePr>
          <p:nvPr>
            <p:extLst>
              <p:ext uri="{D42A27DB-BD31-4B8C-83A1-F6EECF244321}">
                <p14:modId xmlns:p14="http://schemas.microsoft.com/office/powerpoint/2010/main" val="3170707495"/>
              </p:ext>
            </p:extLst>
          </p:nvPr>
        </p:nvGraphicFramePr>
        <p:xfrm>
          <a:off x="675083" y="3454954"/>
          <a:ext cx="11139832" cy="3272148"/>
        </p:xfrm>
        <a:graphic>
          <a:graphicData uri="http://schemas.openxmlformats.org/drawingml/2006/table">
            <a:tbl>
              <a:tblPr firstRow="1" bandRow="1">
                <a:tableStyleId>{2D5ABB26-0587-4C30-8999-92F81FD0307C}</a:tableStyleId>
              </a:tblPr>
              <a:tblGrid>
                <a:gridCol w="1259595">
                  <a:extLst>
                    <a:ext uri="{9D8B030D-6E8A-4147-A177-3AD203B41FA5}">
                      <a16:colId xmlns:a16="http://schemas.microsoft.com/office/drawing/2014/main" val="3342160351"/>
                    </a:ext>
                  </a:extLst>
                </a:gridCol>
                <a:gridCol w="3157086">
                  <a:extLst>
                    <a:ext uri="{9D8B030D-6E8A-4147-A177-3AD203B41FA5}">
                      <a16:colId xmlns:a16="http://schemas.microsoft.com/office/drawing/2014/main" val="1043481491"/>
                    </a:ext>
                  </a:extLst>
                </a:gridCol>
                <a:gridCol w="981777">
                  <a:extLst>
                    <a:ext uri="{9D8B030D-6E8A-4147-A177-3AD203B41FA5}">
                      <a16:colId xmlns:a16="http://schemas.microsoft.com/office/drawing/2014/main" val="1751524045"/>
                    </a:ext>
                  </a:extLst>
                </a:gridCol>
                <a:gridCol w="5741374">
                  <a:extLst>
                    <a:ext uri="{9D8B030D-6E8A-4147-A177-3AD203B41FA5}">
                      <a16:colId xmlns:a16="http://schemas.microsoft.com/office/drawing/2014/main" val="798941376"/>
                    </a:ext>
                  </a:extLst>
                </a:gridCol>
              </a:tblGrid>
              <a:tr h="363572">
                <a:tc>
                  <a:txBody>
                    <a:bodyPr/>
                    <a:lstStyle/>
                    <a:p>
                      <a:pPr algn="l"/>
                      <a:r>
                        <a:rPr sz="1000" b="1">
                          <a:solidFill>
                            <a:srgbClr val="2F3B49"/>
                          </a:solidFill>
                          <a:latin typeface="Montserrat"/>
                        </a:rPr>
                        <a:t>President</a:t>
                      </a:r>
                    </a:p>
                  </a:txBody>
                  <a:tcPr/>
                </a:tc>
                <a:tc>
                  <a:txBody>
                    <a:bodyPr/>
                    <a:lstStyle/>
                    <a:p>
                      <a:pPr algn="l"/>
                      <a:r>
                        <a:rPr sz="1000" b="0">
                          <a:solidFill>
                            <a:srgbClr val="2F3B49"/>
                          </a:solidFill>
                          <a:latin typeface="Montserrat"/>
                        </a:rPr>
                        <a:t>[President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31681501"/>
                  </a:ext>
                </a:extLst>
              </a:tr>
              <a:tr h="363572">
                <a:tc>
                  <a:txBody>
                    <a:bodyPr/>
                    <a:lstStyle/>
                    <a:p>
                      <a:pPr algn="l"/>
                      <a:r>
                        <a:rPr sz="1000" b="1">
                          <a:solidFill>
                            <a:srgbClr val="22303C"/>
                          </a:solidFill>
                          <a:latin typeface="Montserrat"/>
                        </a:rPr>
                        <a:t>Supervisor</a:t>
                      </a:r>
                    </a:p>
                  </a:txBody>
                  <a:tcPr/>
                </a:tc>
                <a:tc>
                  <a:txBody>
                    <a:bodyPr/>
                    <a:lstStyle/>
                    <a:p>
                      <a:pPr algn="l"/>
                      <a:r>
                        <a:rPr sz="1000" b="0">
                          <a:solidFill>
                            <a:srgbClr val="22303C"/>
                          </a:solidFill>
                          <a:latin typeface="Montserrat"/>
                        </a:rPr>
                        <a:t>Pr. Mohamed LAZAAR</a:t>
                      </a:r>
                    </a:p>
                  </a:txBody>
                  <a:tcPr/>
                </a:tc>
                <a:tc>
                  <a:txBody>
                    <a:bodyPr/>
                    <a:lstStyle/>
                    <a:p>
                      <a:pPr algn="ctr"/>
                      <a:r>
                        <a:rPr sz="1000" b="0">
                          <a:solidFill>
                            <a:srgbClr val="22303C"/>
                          </a:solidFill>
                          <a:latin typeface="Montserrat"/>
                        </a:rPr>
                        <a:t>PES</a:t>
                      </a:r>
                    </a:p>
                  </a:txBody>
                  <a:tcPr/>
                </a:tc>
                <a:tc>
                  <a:txBody>
                    <a:bodyPr/>
                    <a:lstStyle/>
                    <a:p>
                      <a:pPr algn="ctr"/>
                      <a:r>
                        <a:rPr sz="1000" b="0">
                          <a:solidFill>
                            <a:srgbClr val="22303C"/>
                          </a:solidFill>
                          <a:latin typeface="Montserrat"/>
                        </a:rPr>
                        <a:t>ENSIAS, Mohammed V University, Rabat</a:t>
                      </a:r>
                    </a:p>
                  </a:txBody>
                  <a:tcPr/>
                </a:tc>
                <a:extLst>
                  <a:ext uri="{0D108BD9-81ED-4DB2-BD59-A6C34878D82A}">
                    <a16:rowId xmlns:a16="http://schemas.microsoft.com/office/drawing/2014/main" val="3293723479"/>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03985861"/>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3682204677"/>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31793509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3950507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45170200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222725522"/>
                  </a:ext>
                </a:extLst>
              </a:tr>
              <a:tr h="363572">
                <a:tc>
                  <a:txBody>
                    <a:bodyPr/>
                    <a:lstStyle/>
                    <a:p>
                      <a:pPr algn="l"/>
                      <a:r>
                        <a:rPr sz="1000" b="1">
                          <a:solidFill>
                            <a:srgbClr val="2F3B49"/>
                          </a:solidFill>
                          <a:latin typeface="Montserrat"/>
                        </a:rPr>
                        <a:t>Guest</a:t>
                      </a:r>
                    </a:p>
                  </a:txBody>
                  <a:tcPr/>
                </a:tc>
                <a:tc>
                  <a:txBody>
                    <a:bodyPr/>
                    <a:lstStyle/>
                    <a:p>
                      <a:pPr algn="l"/>
                      <a:r>
                        <a:rPr sz="1000" b="0">
                          <a:solidFill>
                            <a:srgbClr val="2F3B49"/>
                          </a:solidFill>
                          <a:latin typeface="Montserrat"/>
                        </a:rPr>
                        <a:t>[Guest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724678733"/>
                  </a:ext>
                </a:extLst>
              </a:tr>
            </a:tbl>
          </a:graphicData>
        </a:graphic>
      </p:graphicFrame>
      <p:sp>
        <p:nvSpPr>
          <p:cNvPr id="12" name="TextBox 11">
            <a:extLst>
              <a:ext uri="{FF2B5EF4-FFF2-40B4-BE49-F238E27FC236}">
                <a16:creationId xmlns:a16="http://schemas.microsoft.com/office/drawing/2014/main" id="{AF385954-4759-43DE-9FF5-AD2C46EBAFB3}"/>
              </a:ext>
            </a:extLst>
          </p:cNvPr>
          <p:cNvSpPr txBox="1"/>
          <p:nvPr/>
        </p:nvSpPr>
        <p:spPr>
          <a:xfrm>
            <a:off x="675083" y="3035784"/>
            <a:ext cx="6097604" cy="338554"/>
          </a:xfrm>
          <a:prstGeom prst="rect">
            <a:avLst/>
          </a:prstGeom>
          <a:noFill/>
        </p:spPr>
        <p:txBody>
          <a:bodyPr wrap="square">
            <a:spAutoFit/>
          </a:bodyPr>
          <a:lstStyle/>
          <a:p>
            <a:r>
              <a:rPr lang="en-US" sz="1600" b="1" dirty="0">
                <a:latin typeface="Montserrat Medium" pitchFamily="50" charset="0"/>
                <a:cs typeface="Times New Roman" panose="02020603050405020304" pitchFamily="18" charset="0"/>
              </a:rPr>
              <a:t>Jury members:</a:t>
            </a:r>
            <a:endParaRPr lang="en-US" sz="1600" dirty="0"/>
          </a:p>
        </p:txBody>
      </p:sp>
      <p:pic>
        <p:nvPicPr>
          <p:cNvPr id="4" name="Picture 3">
            <a:extLst>
              <a:ext uri="{FF2B5EF4-FFF2-40B4-BE49-F238E27FC236}">
                <a16:creationId xmlns:a16="http://schemas.microsoft.com/office/drawing/2014/main" id="{F226BDBB-006F-45EB-87D2-F2B9A5576A6F}"/>
              </a:ext>
            </a:extLst>
          </p:cNvPr>
          <p:cNvPicPr>
            <a:picLocks noChangeAspect="1"/>
          </p:cNvPicPr>
          <p:nvPr/>
        </p:nvPicPr>
        <p:blipFill rotWithShape="1">
          <a:blip r:embed="rId4">
            <a:extLst>
              <a:ext uri="{28A0092B-C50C-407E-A947-70E740481C1C}">
                <a14:useLocalDpi xmlns:a14="http://schemas.microsoft.com/office/drawing/2010/main" val="0"/>
              </a:ext>
            </a:extLst>
          </a:blip>
          <a:srcRect t="29775" b="28782"/>
          <a:stretch/>
        </p:blipFill>
        <p:spPr>
          <a:xfrm>
            <a:off x="3497928" y="-44111"/>
            <a:ext cx="5196141" cy="1135736"/>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Rectangle 44">
            <a:extLst>
              <a:ext uri="{FF2B5EF4-FFF2-40B4-BE49-F238E27FC236}">
                <a16:creationId xmlns:a16="http://schemas.microsoft.com/office/drawing/2014/main" id="{2B0EA153-D1B1-47B8-8FC2-F6421B47EF6E}"/>
              </a:ext>
            </a:extLst>
          </p:cNvPr>
          <p:cNvSpPr/>
          <p:nvPr/>
        </p:nvSpPr>
        <p:spPr>
          <a:xfrm>
            <a:off x="9862990" y="2216314"/>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Conclusion &amp; Perspectives</a:t>
            </a:r>
          </a:p>
          <a:p>
            <a:pPr algn="l"/>
            <a:r>
              <a:rPr lang="en-US" sz="1900" b="1" dirty="0">
                <a:solidFill>
                  <a:schemeClr val="bg1"/>
                </a:solidFill>
                <a:latin typeface="Montserrat Medium" pitchFamily="50" charset="0"/>
              </a:rPr>
              <a:t>Summary</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Future work</a:t>
            </a:r>
          </a:p>
        </p:txBody>
      </p:sp>
      <p:sp>
        <p:nvSpPr>
          <p:cNvPr id="44" name="Rectangle 43">
            <a:extLst>
              <a:ext uri="{FF2B5EF4-FFF2-40B4-BE49-F238E27FC236}">
                <a16:creationId xmlns:a16="http://schemas.microsoft.com/office/drawing/2014/main" id="{F22E6A38-F910-4318-BD16-C7EA5E538A83}"/>
              </a:ext>
            </a:extLst>
          </p:cNvPr>
          <p:cNvSpPr/>
          <p:nvPr/>
        </p:nvSpPr>
        <p:spPr>
          <a:xfrm>
            <a:off x="7509948"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Contributions</a:t>
            </a:r>
          </a:p>
          <a:p>
            <a:pPr algn="l"/>
            <a:r>
              <a:rPr lang="en-US" sz="1900" b="1" dirty="0">
                <a:solidFill>
                  <a:schemeClr val="bg1"/>
                </a:solidFill>
                <a:latin typeface="Montserrat Medium" pitchFamily="50" charset="0"/>
              </a:rPr>
              <a:t>C1 Explainable clustering</a:t>
            </a:r>
          </a:p>
          <a:p>
            <a:pPr algn="l"/>
            <a:r>
              <a:rPr lang="en-US" sz="1900" b="1" dirty="0">
                <a:solidFill>
                  <a:schemeClr val="bg1"/>
                </a:solidFill>
                <a:latin typeface="Montserrat Medium" pitchFamily="50" charset="0"/>
              </a:rPr>
              <a:t>C2 Multi-level XAI</a:t>
            </a:r>
          </a:p>
          <a:p>
            <a:pPr algn="l"/>
            <a:r>
              <a:rPr lang="en-US" sz="1900" b="1" dirty="0">
                <a:solidFill>
                  <a:schemeClr val="bg1"/>
                </a:solidFill>
                <a:latin typeface="Montserrat Medium" pitchFamily="50" charset="0"/>
              </a:rPr>
              <a:t>C3 DyHuCoG</a:t>
            </a:r>
          </a:p>
        </p:txBody>
      </p:sp>
      <p:sp>
        <p:nvSpPr>
          <p:cNvPr id="43" name="Rectangle 42">
            <a:extLst>
              <a:ext uri="{FF2B5EF4-FFF2-40B4-BE49-F238E27FC236}">
                <a16:creationId xmlns:a16="http://schemas.microsoft.com/office/drawing/2014/main" id="{D891D8B2-71C1-40F0-BDD4-64D0E4FE1567}"/>
              </a:ext>
            </a:extLst>
          </p:cNvPr>
          <p:cNvSpPr/>
          <p:nvPr/>
        </p:nvSpPr>
        <p:spPr>
          <a:xfrm>
            <a:off x="5144820"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Protocols</a:t>
            </a:r>
          </a:p>
          <a:p>
            <a:pPr algn="l"/>
            <a:r>
              <a:rPr lang="en-US" sz="1900" b="1" dirty="0">
                <a:solidFill>
                  <a:schemeClr val="bg1"/>
                </a:solidFill>
                <a:latin typeface="Montserrat Medium" pitchFamily="50" charset="0"/>
              </a:rPr>
              <a:t>Datasets</a:t>
            </a:r>
          </a:p>
          <a:p>
            <a:pPr algn="l"/>
            <a:r>
              <a:rPr lang="en-US" sz="1900" b="1" dirty="0">
                <a:solidFill>
                  <a:schemeClr val="bg1"/>
                </a:solidFill>
                <a:latin typeface="Montserrat Medium" pitchFamily="50" charset="0"/>
              </a:rPr>
              <a:t>Baselines</a:t>
            </a:r>
          </a:p>
          <a:p>
            <a:pPr algn="l"/>
            <a:r>
              <a:rPr lang="en-US" sz="1900" b="1" dirty="0">
                <a:solidFill>
                  <a:schemeClr val="bg1"/>
                </a:solidFill>
                <a:latin typeface="Montserrat Medium" pitchFamily="50" charset="0"/>
              </a:rPr>
              <a:t>Metrics</a:t>
            </a:r>
          </a:p>
          <a:p>
            <a:pPr algn="l"/>
            <a:r>
              <a:rPr lang="en-US" sz="1900" b="1" dirty="0">
                <a:solidFill>
                  <a:schemeClr val="bg1"/>
                </a:solidFill>
                <a:latin typeface="Montserrat Medium" pitchFamily="50" charset="0"/>
              </a:rPr>
              <a:t>Hardware</a:t>
            </a:r>
          </a:p>
        </p:txBody>
      </p:sp>
      <p:sp>
        <p:nvSpPr>
          <p:cNvPr id="42" name="Rectangle 41">
            <a:extLst>
              <a:ext uri="{FF2B5EF4-FFF2-40B4-BE49-F238E27FC236}">
                <a16:creationId xmlns:a16="http://schemas.microsoft.com/office/drawing/2014/main" id="{8D503499-45DA-4224-9A1B-B2763946ACAD}"/>
              </a:ext>
            </a:extLst>
          </p:cNvPr>
          <p:cNvSpPr/>
          <p:nvPr/>
        </p:nvSpPr>
        <p:spPr>
          <a:xfrm>
            <a:off x="2768882" y="2239193"/>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Context &amp; Problematic</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Research gap</a:t>
            </a:r>
          </a:p>
        </p:txBody>
      </p:sp>
      <p:sp>
        <p:nvSpPr>
          <p:cNvPr id="4" name="Rectangle 3">
            <a:extLst>
              <a:ext uri="{FF2B5EF4-FFF2-40B4-BE49-F238E27FC236}">
                <a16:creationId xmlns:a16="http://schemas.microsoft.com/office/drawing/2014/main" id="{77F4FAD8-6AB3-49EF-B65B-446911D5EF29}"/>
              </a:ext>
            </a:extLst>
          </p:cNvPr>
          <p:cNvSpPr/>
          <p:nvPr/>
        </p:nvSpPr>
        <p:spPr>
          <a:xfrm>
            <a:off x="0" y="0"/>
            <a:ext cx="12192000" cy="97215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2400" dirty="0">
                <a:latin typeface="Montserrat Medium" pitchFamily="50" charset="0"/>
              </a:rPr>
              <a:t>VIVA Outline</a:t>
            </a:r>
          </a:p>
        </p:txBody>
      </p:sp>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Medium" pitchFamily="50"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pic>
        <p:nvPicPr>
          <p:cNvPr id="17" name="Picture 16">
            <a:extLst>
              <a:ext uri="{FF2B5EF4-FFF2-40B4-BE49-F238E27FC236}">
                <a16:creationId xmlns:a16="http://schemas.microsoft.com/office/drawing/2014/main" id="{B98EC507-9AAF-49BB-B011-715B670C2F1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041276" y="2470737"/>
            <a:ext cx="385680" cy="385680"/>
          </a:xfrm>
          <a:prstGeom prst="rect">
            <a:avLst/>
          </a:prstGeom>
        </p:spPr>
      </p:pic>
      <p:pic>
        <p:nvPicPr>
          <p:cNvPr id="18" name="Picture 17">
            <a:extLst>
              <a:ext uri="{FF2B5EF4-FFF2-40B4-BE49-F238E27FC236}">
                <a16:creationId xmlns:a16="http://schemas.microsoft.com/office/drawing/2014/main" id="{7D167106-10EB-4AF0-B9FA-BE9A96FAA3F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770631" y="2470737"/>
            <a:ext cx="385680" cy="385680"/>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392944" y="2239197"/>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Introduction</a:t>
            </a:r>
          </a:p>
          <a:p>
            <a:pPr algn="l"/>
            <a:r>
              <a:rPr lang="en-US" sz="1900" b="1" dirty="0">
                <a:solidFill>
                  <a:schemeClr val="bg1"/>
                </a:solidFill>
                <a:latin typeface="Montserrat Medium" pitchFamily="50" charset="0"/>
              </a:rPr>
              <a:t>Motivation</a:t>
            </a:r>
          </a:p>
          <a:p>
            <a:pPr algn="l"/>
            <a:r>
              <a:rPr lang="en-US" sz="1900" b="1" dirty="0">
                <a:solidFill>
                  <a:schemeClr val="bg1"/>
                </a:solidFill>
                <a:latin typeface="Montserrat Medium" pitchFamily="50" charset="0"/>
              </a:rPr>
              <a:t>Actionable insight</a:t>
            </a:r>
          </a:p>
          <a:p>
            <a:pPr algn="l"/>
            <a:r>
              <a:rPr lang="en-US" sz="1900" b="1" dirty="0">
                <a:solidFill>
                  <a:schemeClr val="bg1"/>
                </a:solidFill>
                <a:latin typeface="Montserrat Medium" pitchFamily="50" charset="0"/>
              </a:rPr>
              <a:t>Why XAI</a:t>
            </a:r>
          </a:p>
        </p:txBody>
      </p:sp>
      <p:pic>
        <p:nvPicPr>
          <p:cNvPr id="32" name="Picture 31">
            <a:extLst>
              <a:ext uri="{FF2B5EF4-FFF2-40B4-BE49-F238E27FC236}">
                <a16:creationId xmlns:a16="http://schemas.microsoft.com/office/drawing/2014/main" id="{7F23EE3A-2F89-47D4-97AF-E7E3C53EB0A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427244" y="2454551"/>
            <a:ext cx="385680" cy="385680"/>
          </a:xfrm>
          <a:prstGeom prst="rect">
            <a:avLst/>
          </a:prstGeom>
        </p:spPr>
      </p:pic>
      <p:pic>
        <p:nvPicPr>
          <p:cNvPr id="33" name="Picture 32">
            <a:extLst>
              <a:ext uri="{FF2B5EF4-FFF2-40B4-BE49-F238E27FC236}">
                <a16:creationId xmlns:a16="http://schemas.microsoft.com/office/drawing/2014/main" id="{314D8C45-88D1-4D8D-83BB-14E62CCEEFE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56599" y="2454551"/>
            <a:ext cx="385680" cy="385680"/>
          </a:xfrm>
          <a:prstGeom prst="rect">
            <a:avLst/>
          </a:prstGeom>
        </p:spPr>
      </p:pic>
      <p:pic>
        <p:nvPicPr>
          <p:cNvPr id="35" name="Picture 34">
            <a:extLst>
              <a:ext uri="{FF2B5EF4-FFF2-40B4-BE49-F238E27FC236}">
                <a16:creationId xmlns:a16="http://schemas.microsoft.com/office/drawing/2014/main" id="{7B0B79F6-13C1-4C1B-8C1A-EA30CFF3BE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773597" y="2454552"/>
            <a:ext cx="385680" cy="385680"/>
          </a:xfrm>
          <a:prstGeom prst="rect">
            <a:avLst/>
          </a:prstGeom>
        </p:spPr>
      </p:pic>
      <p:pic>
        <p:nvPicPr>
          <p:cNvPr id="36" name="Picture 35">
            <a:extLst>
              <a:ext uri="{FF2B5EF4-FFF2-40B4-BE49-F238E27FC236}">
                <a16:creationId xmlns:a16="http://schemas.microsoft.com/office/drawing/2014/main" id="{2A6749F2-4440-42F7-BAA0-C43D434CB14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2952" y="2454552"/>
            <a:ext cx="385680" cy="385680"/>
          </a:xfrm>
          <a:prstGeom prst="rect">
            <a:avLst/>
          </a:prstGeom>
        </p:spPr>
      </p:pic>
      <p:pic>
        <p:nvPicPr>
          <p:cNvPr id="38" name="Picture 37">
            <a:extLst>
              <a:ext uri="{FF2B5EF4-FFF2-40B4-BE49-F238E27FC236}">
                <a16:creationId xmlns:a16="http://schemas.microsoft.com/office/drawing/2014/main" id="{8FFCB7F3-3E7A-4660-969C-3F6DA253DAA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155719" y="2447861"/>
            <a:ext cx="385680" cy="385680"/>
          </a:xfrm>
          <a:prstGeom prst="rect">
            <a:avLst/>
          </a:prstGeom>
        </p:spPr>
      </p:pic>
      <p:pic>
        <p:nvPicPr>
          <p:cNvPr id="39" name="Picture 38">
            <a:extLst>
              <a:ext uri="{FF2B5EF4-FFF2-40B4-BE49-F238E27FC236}">
                <a16:creationId xmlns:a16="http://schemas.microsoft.com/office/drawing/2014/main" id="{7A5C0422-35FD-4F69-BADA-C75C70F5B7D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885074" y="2447861"/>
            <a:ext cx="385680" cy="385680"/>
          </a:xfrm>
          <a:prstGeom prst="rect">
            <a:avLst/>
          </a:prstGeom>
        </p:spPr>
      </p:pic>
      <p:pic>
        <p:nvPicPr>
          <p:cNvPr id="40" name="Picture 39">
            <a:extLst>
              <a:ext uri="{FF2B5EF4-FFF2-40B4-BE49-F238E27FC236}">
                <a16:creationId xmlns:a16="http://schemas.microsoft.com/office/drawing/2014/main" id="{EC0B00E0-D07A-4950-9556-8EC5FC01532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1840" y="2470740"/>
            <a:ext cx="385680" cy="385680"/>
          </a:xfrm>
          <a:prstGeom prst="rect">
            <a:avLst/>
          </a:prstGeom>
        </p:spPr>
      </p:pic>
      <p:pic>
        <p:nvPicPr>
          <p:cNvPr id="41" name="Picture 40">
            <a:extLst>
              <a:ext uri="{FF2B5EF4-FFF2-40B4-BE49-F238E27FC236}">
                <a16:creationId xmlns:a16="http://schemas.microsoft.com/office/drawing/2014/main" id="{F03CF7ED-4371-4E1E-AB5C-702F96E0FE2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1195" y="2470740"/>
            <a:ext cx="385680" cy="385680"/>
          </a:xfrm>
          <a:prstGeom prst="rect">
            <a:avLst/>
          </a:prstGeom>
        </p:spPr>
      </p:pic>
      <p:pic>
        <p:nvPicPr>
          <p:cNvPr id="46" name="Picture 4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Introduction</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48" name="Rectangle 47">
            <a:extLst>
              <a:ext uri="{FF2B5EF4-FFF2-40B4-BE49-F238E27FC236}">
                <a16:creationId xmlns:a16="http://schemas.microsoft.com/office/drawing/2014/main" id="{13D9C6AA-1783-4FA8-8CCA-F6E9A55F890C}"/>
              </a:ext>
            </a:extLst>
          </p:cNvPr>
          <p:cNvSpPr/>
          <p:nvPr/>
        </p:nvSpPr>
        <p:spPr>
          <a:xfrm>
            <a:off x="206045" y="1581483"/>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Ubiquity</a:t>
            </a:r>
          </a:p>
          <a:p>
            <a:pPr algn="l"/>
            <a:r>
              <a:rPr lang="en-US" sz="2000" b="1" dirty="0">
                <a:solidFill>
                  <a:schemeClr val="bg1"/>
                </a:solidFill>
                <a:latin typeface="Montserrat Medium" pitchFamily="50" charset="0"/>
              </a:rPr>
              <a:t>How do opaque AI systems shape what billions of users see, buy and watch every day?</a:t>
            </a:r>
          </a:p>
        </p:txBody>
      </p:sp>
      <p:sp>
        <p:nvSpPr>
          <p:cNvPr id="49" name="Rectangle 48">
            <a:extLst>
              <a:ext uri="{FF2B5EF4-FFF2-40B4-BE49-F238E27FC236}">
                <a16:creationId xmlns:a16="http://schemas.microsoft.com/office/drawing/2014/main" id="{6D7E0722-A680-4DE4-B488-11CFE545BC63}"/>
              </a:ext>
            </a:extLst>
          </p:cNvPr>
          <p:cNvSpPr/>
          <p:nvPr/>
        </p:nvSpPr>
        <p:spPr>
          <a:xfrm>
            <a:off x="4241885" y="1552636"/>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The Black Box</a:t>
            </a:r>
          </a:p>
          <a:p>
            <a:pPr algn="l"/>
            <a:r>
              <a:rPr lang="en-US" sz="2000" b="1" dirty="0">
                <a:solidFill>
                  <a:schemeClr val="bg1"/>
                </a:solidFill>
                <a:latin typeface="Montserrat Medium" pitchFamily="50" charset="0"/>
              </a:rPr>
              <a:t>Why do state-of-the-art recommenders and clustering pipelines remain opaque to users and designers?</a:t>
            </a:r>
          </a:p>
        </p:txBody>
      </p:sp>
      <p:sp>
        <p:nvSpPr>
          <p:cNvPr id="50" name="Rectangle 49">
            <a:extLst>
              <a:ext uri="{FF2B5EF4-FFF2-40B4-BE49-F238E27FC236}">
                <a16:creationId xmlns:a16="http://schemas.microsoft.com/office/drawing/2014/main" id="{0AE6385B-CDA7-498E-89D4-F0C85246326C}"/>
              </a:ext>
            </a:extLst>
          </p:cNvPr>
          <p:cNvSpPr/>
          <p:nvPr/>
        </p:nvSpPr>
        <p:spPr>
          <a:xfrm>
            <a:off x="8364296" y="1552636"/>
            <a:ext cx="3621659"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Toward Trust</a:t>
            </a:r>
          </a:p>
          <a:p>
            <a:pPr algn="l"/>
            <a:r>
              <a:rPr lang="en-US" sz="2000" b="1" dirty="0">
                <a:solidFill>
                  <a:schemeClr val="bg1"/>
                </a:solidFill>
                <a:latin typeface="Montserrat Medium" pitchFamily="50" charset="0"/>
              </a:rPr>
              <a:t>How can transparency be built as part of the model, instead of being bolted on afterwards?</a:t>
            </a:r>
          </a:p>
        </p:txBody>
      </p:sp>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rPr>
              <a:t>Motivation: Three Questions</a:t>
            </a:r>
          </a:p>
        </p:txBody>
      </p:sp>
      <p:sp>
        <p:nvSpPr>
          <p:cNvPr id="29" name="Rectangle 28">
            <a:extLst>
              <a:ext uri="{FF2B5EF4-FFF2-40B4-BE49-F238E27FC236}">
                <a16:creationId xmlns:a16="http://schemas.microsoft.com/office/drawing/2014/main" id="{DDC35470-259B-41E6-B55D-86604083CCC7}"/>
              </a:ext>
            </a:extLst>
          </p:cNvPr>
          <p:cNvSpPr/>
          <p:nvPr/>
        </p:nvSpPr>
        <p:spPr>
          <a:xfrm>
            <a:off x="6246796" y="727217"/>
            <a:ext cx="5866233" cy="369505"/>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Central Question</a:t>
            </a:r>
          </a:p>
        </p:txBody>
      </p:sp>
      <p:sp>
        <p:nvSpPr>
          <p:cNvPr id="30" name="Rectangle 29">
            <a:extLst>
              <a:ext uri="{FF2B5EF4-FFF2-40B4-BE49-F238E27FC236}">
                <a16:creationId xmlns:a16="http://schemas.microsoft.com/office/drawing/2014/main" id="{13AED925-259D-49A1-9979-03DA54FBFB6B}"/>
              </a:ext>
            </a:extLst>
          </p:cNvPr>
          <p:cNvSpPr/>
          <p:nvPr/>
        </p:nvSpPr>
        <p:spPr>
          <a:xfrm>
            <a:off x="206046" y="726222"/>
            <a:ext cx="5866233" cy="36950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cs typeface="Times New Roman" panose="02020603050405020304" pitchFamily="18" charset="0"/>
              </a:rPr>
              <a:t>General Context</a:t>
            </a:r>
          </a:p>
        </p:txBody>
      </p:sp>
      <p:sp>
        <p:nvSpPr>
          <p:cNvPr id="27" name="Rectangle 26">
            <a:extLst>
              <a:ext uri="{FF2B5EF4-FFF2-40B4-BE49-F238E27FC236}">
                <a16:creationId xmlns:a16="http://schemas.microsoft.com/office/drawing/2014/main" id="{2D70F3E7-DEC3-414D-9EF3-8ECD0E33BB70}"/>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1" name="Rectangle 30">
            <a:extLst>
              <a:ext uri="{FF2B5EF4-FFF2-40B4-BE49-F238E27FC236}">
                <a16:creationId xmlns:a16="http://schemas.microsoft.com/office/drawing/2014/main" id="{688A2916-85F8-44E4-A31A-8C984B036D8A}"/>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4" name="Rectangle 33">
            <a:extLst>
              <a:ext uri="{FF2B5EF4-FFF2-40B4-BE49-F238E27FC236}">
                <a16:creationId xmlns:a16="http://schemas.microsoft.com/office/drawing/2014/main" id="{C2554E23-DF83-4155-A45F-FD87FC73005D}"/>
              </a:ext>
            </a:extLst>
          </p:cNvPr>
          <p:cNvSpPr/>
          <p:nvPr/>
        </p:nvSpPr>
        <p:spPr>
          <a:xfrm>
            <a:off x="206046" y="82459"/>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7" name="Rectangle 36">
            <a:extLst>
              <a:ext uri="{FF2B5EF4-FFF2-40B4-BE49-F238E27FC236}">
                <a16:creationId xmlns:a16="http://schemas.microsoft.com/office/drawing/2014/main" id="{61CC7C89-1765-4E1E-89AC-241EC17CEE90}"/>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6" name="Rectangle 45">
            <a:extLst>
              <a:ext uri="{FF2B5EF4-FFF2-40B4-BE49-F238E27FC236}">
                <a16:creationId xmlns:a16="http://schemas.microsoft.com/office/drawing/2014/main" id="{E47218E2-05FA-45BA-9EA9-8D94422BE397}"/>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7" name="Rectangle 46">
            <a:extLst>
              <a:ext uri="{FF2B5EF4-FFF2-40B4-BE49-F238E27FC236}">
                <a16:creationId xmlns:a16="http://schemas.microsoft.com/office/drawing/2014/main" id="{1407607E-D0FA-4B65-9F39-AAB75D90D0A7}"/>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55" name="Rectangle 54">
            <a:extLst>
              <a:ext uri="{FF2B5EF4-FFF2-40B4-BE49-F238E27FC236}">
                <a16:creationId xmlns:a16="http://schemas.microsoft.com/office/drawing/2014/main" id="{3C99BB4A-5E08-4CDB-B8B1-F16A0884CD5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6" name="Picture 55">
            <a:extLst>
              <a:ext uri="{FF2B5EF4-FFF2-40B4-BE49-F238E27FC236}">
                <a16:creationId xmlns:a16="http://schemas.microsoft.com/office/drawing/2014/main" id="{A0759E87-8AA7-467F-9F89-0818D01E77E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33422" y="134166"/>
            <a:ext cx="385680" cy="385680"/>
          </a:xfrm>
          <a:prstGeom prst="rect">
            <a:avLst/>
          </a:prstGeom>
        </p:spPr>
      </p:pic>
      <p:pic>
        <p:nvPicPr>
          <p:cNvPr id="57" name="Picture 56">
            <a:extLst>
              <a:ext uri="{FF2B5EF4-FFF2-40B4-BE49-F238E27FC236}">
                <a16:creationId xmlns:a16="http://schemas.microsoft.com/office/drawing/2014/main" id="{CA194759-7E1E-4161-9154-B0811349128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58" name="Picture 57">
            <a:extLst>
              <a:ext uri="{FF2B5EF4-FFF2-40B4-BE49-F238E27FC236}">
                <a16:creationId xmlns:a16="http://schemas.microsoft.com/office/drawing/2014/main" id="{86353AEF-1B4D-478A-9B4D-19A2C995C9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60332" y="134166"/>
            <a:ext cx="385680" cy="385680"/>
          </a:xfrm>
          <a:prstGeom prst="rect">
            <a:avLst/>
          </a:prstGeom>
        </p:spPr>
      </p:pic>
      <p:pic>
        <p:nvPicPr>
          <p:cNvPr id="59" name="Picture 58">
            <a:extLst>
              <a:ext uri="{FF2B5EF4-FFF2-40B4-BE49-F238E27FC236}">
                <a16:creationId xmlns:a16="http://schemas.microsoft.com/office/drawing/2014/main" id="{7B1C1695-8516-4A7D-8030-A4B4B4CC0A8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60" name="Picture 59">
            <a:extLst>
              <a:ext uri="{FF2B5EF4-FFF2-40B4-BE49-F238E27FC236}">
                <a16:creationId xmlns:a16="http://schemas.microsoft.com/office/drawing/2014/main" id="{E4F1DEA8-F0AE-4010-A3AB-216C858844C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61" name="Rectangle 60">
            <a:extLst>
              <a:ext uri="{FF2B5EF4-FFF2-40B4-BE49-F238E27FC236}">
                <a16:creationId xmlns:a16="http://schemas.microsoft.com/office/drawing/2014/main" id="{C7DEB2F6-A63E-4F8F-9C0A-71FFB0C63A60}"/>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2" name="Picture 61">
            <a:extLst>
              <a:ext uri="{FF2B5EF4-FFF2-40B4-BE49-F238E27FC236}">
                <a16:creationId xmlns:a16="http://schemas.microsoft.com/office/drawing/2014/main" id="{ACD4E037-6CF8-4C8F-89F7-19ACBF0A398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63" name="Rectangle 62">
            <a:extLst>
              <a:ext uri="{FF2B5EF4-FFF2-40B4-BE49-F238E27FC236}">
                <a16:creationId xmlns:a16="http://schemas.microsoft.com/office/drawing/2014/main" id="{014784DB-F7A9-42CA-8C26-2573B348C146}"/>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4" name="Picture 63">
            <a:extLst>
              <a:ext uri="{FF2B5EF4-FFF2-40B4-BE49-F238E27FC236}">
                <a16:creationId xmlns:a16="http://schemas.microsoft.com/office/drawing/2014/main" id="{28D52A0A-4C25-4502-BE7D-8387AB88D94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65" name="TextBox 64"/>
          <p:cNvSpPr txBox="1"/>
          <p:nvPr/>
        </p:nvSpPr>
        <p:spPr>
          <a:xfrm>
            <a:off x="274320" y="3840480"/>
            <a:ext cx="11612880" cy="731520"/>
          </a:xfrm>
          <a:prstGeom prst="rect">
            <a:avLst/>
          </a:prstGeom>
          <a:noFill/>
        </p:spPr>
        <p:txBody>
          <a:bodyPr wrap="square" anchor="t" lIns="0" rIns="0" tIns="0" bIns="0">
            <a:spAutoFit/>
          </a:bodyPr>
          <a:lstStyle/>
          <a:p>
            <a:pPr algn="ctr">
              <a:lnSpc>
                <a:spcPct val="100000"/>
              </a:lnSpc>
              <a:spcAft>
                <a:spcPts val="600"/>
              </a:spcAft>
            </a:pPr>
            <a:r>
              <a:rPr sz="1600" b="1" i="0">
                <a:solidFill>
                  <a:srgbClr val="0E7C7B"/>
                </a:solidFill>
                <a:latin typeface="Montserrat Medium"/>
              </a:rPr>
              <a:t>Core tension: as models gain expressive power, they lose the transparency needed for trustworthy deployment.</a:t>
            </a:r>
          </a:p>
        </p:txBody>
      </p:sp>
      <p:pic>
        <p:nvPicPr>
          <p:cNvPr id="66" name="Picture 6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Actionable Insight — the Definition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Definition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Why it matters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Definition 1.1 (Actionable insight)</a:t>
            </a:r>
          </a:p>
          <a:p>
            <a:pPr lvl="1">
              <a:lnSpc>
                <a:spcPct val="105000"/>
              </a:lnSpc>
              <a:spcAft>
                <a:spcPts val="600"/>
              </a:spcAft>
            </a:pPr>
            <a:r>
              <a:rPr sz="1600">
                <a:solidFill>
                  <a:srgbClr val="0E7C7B"/>
                </a:solidFill>
                <a:latin typeface="Montserrat"/>
              </a:rPr>
              <a:t>–  </a:t>
            </a:r>
            <a:r>
              <a:rPr sz="1600" b="0">
                <a:solidFill>
                  <a:srgbClr val="2F3B49"/>
                </a:solidFill>
                <a:latin typeface="Montserrat"/>
              </a:rPr>
              <a:t>An explanation is actionable when it identifies at least one modifiable factor whose change is associated with a specifiable change in model output…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 and that factor is expressible in the semantic vocabulary of the task domain.</a:t>
            </a:r>
          </a:p>
          <a:p>
            <a:pPr>
              <a:lnSpc>
                <a:spcPct val="105000"/>
              </a:lnSpc>
              <a:spcAft>
                <a:spcPts val="900"/>
              </a:spcAft>
            </a:pPr>
            <a:r>
              <a:rPr sz="1700">
                <a:solidFill>
                  <a:srgbClr val="0E7C7B"/>
                </a:solidFill>
                <a:latin typeface="Wingdings"/>
              </a:rPr>
              <a:t>§  </a:t>
            </a:r>
            <a:r>
              <a:rPr sz="1700" b="0">
                <a:solidFill>
                  <a:srgbClr val="2F3B49"/>
                </a:solidFill>
                <a:latin typeface="Montserrat"/>
              </a:rPr>
              <a:t>Accessibility means the domain's own terms: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physicochemical variable (wine), a pollution indicator (air quality), or a preference signal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 an opaque latent code.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Why: an explanation that identifies a modifiable driver supports intervention, not merely description.</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Context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Overview</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Evolution</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Why it matters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Recommenders evolved from similarity filters to complex representation-learning systems on sparse, high-dimensional, dynamic data.</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MF → neural CF → graph CNNs → hypergraph: each step improved ranking but intensified the interpretability deficit.</a:t>
            </a:r>
          </a:p>
          <a:p>
            <a:pPr>
              <a:lnSpc>
                <a:spcPct val="105000"/>
              </a:lnSpc>
              <a:spcAft>
                <a:spcPts val="900"/>
              </a:spcAft>
            </a:pPr>
            <a:r>
              <a:rPr sz="1700">
                <a:solidFill>
                  <a:srgbClr val="0E7C7B"/>
                </a:solidFill>
                <a:latin typeface="Wingdings"/>
              </a:rPr>
              <a:t>§  </a:t>
            </a:r>
            <a:r>
              <a:rPr sz="1700" b="0">
                <a:solidFill>
                  <a:srgbClr val="2F3B49"/>
                </a:solidFill>
                <a:latin typeface="Montserrat"/>
              </a:rPr>
              <a:t>Why the deficit matters: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Undermines user trust.</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Constrains debugging and scientific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Collides with regulatory expectations (EU AI Act, OECD principles, GDPR).</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kern="1200" dirty="0">
                <a:solidFill>
                  <a:schemeClr val="bg1"/>
                </a:solidFill>
                <a:effectLst/>
                <a:latin typeface="Montserrat Medium" pitchFamily="50" charset="0"/>
              </a:rPr>
              <a:t>Context &amp; Problematic</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Recommendation &amp; Clustering Paradigms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Gap</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Collaborative filtering – users who behaved similarly will value similar items (user-/item-based).</a:t>
            </a:r>
          </a:p>
          <a:p>
            <a:pPr>
              <a:lnSpc>
                <a:spcPct val="105000"/>
              </a:lnSpc>
              <a:spcAft>
                <a:spcPts val="900"/>
              </a:spcAft>
            </a:pPr>
            <a:r>
              <a:rPr sz="1700">
                <a:solidFill>
                  <a:srgbClr val="0E7C7B"/>
                </a:solidFill>
                <a:latin typeface="Wingdings"/>
              </a:rPr>
              <a:t>§  </a:t>
            </a:r>
            <a:r>
              <a:rPr sz="1700" b="0">
                <a:solidFill>
                  <a:srgbClr val="2F3B49"/>
                </a:solidFill>
                <a:latin typeface="Montserrat"/>
              </a:rPr>
              <a:t>Content-based – recommends items sharing attributes with a user profile.</a:t>
            </a:r>
          </a:p>
          <a:p>
            <a:pPr>
              <a:lnSpc>
                <a:spcPct val="105000"/>
              </a:lnSpc>
              <a:spcAft>
                <a:spcPts val="900"/>
              </a:spcAft>
            </a:pPr>
            <a:r>
              <a:rPr sz="1700">
                <a:solidFill>
                  <a:srgbClr val="0E7C7B"/>
                </a:solidFill>
                <a:latin typeface="Wingdings"/>
              </a:rPr>
              <a:t>§  </a:t>
            </a:r>
            <a:r>
              <a:rPr sz="1700" b="0">
                <a:solidFill>
                  <a:srgbClr val="2F3B49"/>
                </a:solidFill>
                <a:latin typeface="Montserrat"/>
              </a:rPr>
              <a:t>Hybrid – combines collaborative and content signals.</a:t>
            </a:r>
          </a:p>
          <a:p>
            <a:pPr>
              <a:lnSpc>
                <a:spcPct val="105000"/>
              </a:lnSpc>
              <a:spcAft>
                <a:spcPts val="900"/>
              </a:spcAft>
            </a:pPr>
            <a:r>
              <a:rPr sz="1700">
                <a:solidFill>
                  <a:srgbClr val="0E7C7B"/>
                </a:solidFill>
                <a:latin typeface="Wingdings"/>
              </a:rPr>
              <a:t>§  </a:t>
            </a:r>
            <a:r>
              <a:rPr sz="1700" b="0">
                <a:solidFill>
                  <a:srgbClr val="2F3B49"/>
                </a:solidFill>
                <a:latin typeface="Montserrat"/>
              </a:rPr>
              <a:t>Matrix factorisation – R ≈ PQᵀ: compact but opaque latent factors.</a:t>
            </a:r>
          </a:p>
          <a:p>
            <a:pPr>
              <a:lnSpc>
                <a:spcPct val="105000"/>
              </a:lnSpc>
              <a:spcAft>
                <a:spcPts val="900"/>
              </a:spcAft>
            </a:pPr>
            <a:r>
              <a:rPr sz="1700">
                <a:solidFill>
                  <a:srgbClr val="0E7C7B"/>
                </a:solidFill>
                <a:latin typeface="Wingdings"/>
              </a:rPr>
              <a:t>§  </a:t>
            </a:r>
            <a:r>
              <a:rPr sz="1700" b="0">
                <a:solidFill>
                  <a:srgbClr val="2F3B49"/>
                </a:solidFill>
                <a:latin typeface="Montserrat"/>
              </a:rPr>
              <a:t>Graph-based – interaction graph with neighbourhood propagation (LightGCN, hypergraph).</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Limitations of Classical Recommenders &amp; Unsupervised Models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 &amp; scale</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Interpretability</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The gap</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Data sparsity &amp; scalability – the user–item matrix is overwhelmingly empty.</a:t>
            </a:r>
          </a:p>
          <a:p>
            <a:pPr>
              <a:lnSpc>
                <a:spcPct val="105000"/>
              </a:lnSpc>
              <a:spcAft>
                <a:spcPts val="900"/>
              </a:spcAft>
            </a:pPr>
            <a:r>
              <a:rPr sz="1700">
                <a:solidFill>
                  <a:srgbClr val="0E7C7B"/>
                </a:solidFill>
                <a:latin typeface="Wingdings"/>
              </a:rPr>
              <a:t>§  </a:t>
            </a:r>
            <a:r>
              <a:rPr sz="1700" b="0">
                <a:solidFill>
                  <a:srgbClr val="2F3B49"/>
                </a:solidFill>
                <a:latin typeface="Montserrat"/>
              </a:rPr>
              <a:t>Cold-start – new users and items are structurally disadvantaged.</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 bias &amp; lack of diversity – exposure begets interaction, begets exposure.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Absence of interpretability – the most fundamental limit.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 clustering: methods favour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struggle to scale, and explanations rarely stay coherent across resolutions.</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Three Structuring Limitations (Problem Statement)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L1</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L2</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L3</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1. Lack of explainability – complex models remain hard to interpret faithfully and actionably.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2. Difficulty of scaling – local explanations do not transfer naturally to hierarchical structures or large datasets.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3. Weak integration into learning – most explanations stay post-hoc and do not shape model dynamics or the accuracy-diversity-context trade-off.</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gap: the literature still lacks a single cooperative-attribution framework that explains clustering faithfully, stays coherent under hierarchy, and then operates as an in-training signal in recommendation.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Questions (RQ1–RQ5) and Overall Aim</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Aim</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RQ1</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RQ2</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Aim: develop, justify and evaluate a cooperative-game-theoretic perspective for XAI in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RQ1 · How can Shapley values explain black-box clustering faithfully at instance and cluster level?</a:t>
            </a:r>
          </a:p>
          <a:p>
            <a:pPr>
              <a:lnSpc>
                <a:spcPct val="105000"/>
              </a:lnSpc>
              <a:spcAft>
                <a:spcPts val="900"/>
              </a:spcAft>
            </a:pPr>
            <a:r>
              <a:rPr sz="1700">
                <a:solidFill>
                  <a:srgbClr val="0E7C7B"/>
                </a:solidFill>
                <a:latin typeface="Wingdings"/>
              </a:rPr>
              <a:t>§  </a:t>
            </a:r>
            <a:r>
              <a:rPr sz="1700" b="0">
                <a:solidFill>
                  <a:srgbClr val="2F3B49"/>
                </a:solidFill>
                <a:latin typeface="Montserrat"/>
              </a:rPr>
              <a:t>RQ2 · How can this extend to large-scale, hierarchical clustering without losing tractability or consistency?</a:t>
            </a:r>
          </a:p>
          <a:p>
            <a:pPr>
              <a:lnSpc>
                <a:spcPct val="105000"/>
              </a:lnSpc>
              <a:spcAft>
                <a:spcPts val="900"/>
              </a:spcAft>
            </a:pPr>
            <a:r>
              <a:rPr sz="1700">
                <a:solidFill>
                  <a:srgbClr val="0E7C7B"/>
                </a:solidFill>
                <a:latin typeface="Wingdings"/>
              </a:rPr>
              <a:t>§  </a:t>
            </a:r>
            <a:r>
              <a:rPr sz="1700" b="0">
                <a:solidFill>
                  <a:srgbClr val="2F3B49"/>
                </a:solidFill>
                <a:latin typeface="Montserrat"/>
              </a:rPr>
              <a:t>RQ3 · Can cooperative attribution move beyond post-hoc and enter the learning dynamics of graph recommenders?</a:t>
            </a:r>
          </a:p>
          <a:p>
            <a:pPr>
              <a:lnSpc>
                <a:spcPct val="105000"/>
              </a:lnSpc>
              <a:spcAft>
                <a:spcPts val="900"/>
              </a:spcAft>
            </a:pPr>
            <a:r>
              <a:rPr sz="1700">
                <a:solidFill>
                  <a:srgbClr val="0E7C7B"/>
                </a:solidFill>
                <a:latin typeface="Wingdings"/>
              </a:rPr>
              <a:t>§  </a:t>
            </a:r>
            <a:r>
              <a:rPr sz="1700" b="0">
                <a:solidFill>
                  <a:srgbClr val="2F3B49"/>
                </a:solidFill>
                <a:latin typeface="Montserrat"/>
              </a:rPr>
              <a:t>RQ4 · Can a recommender jointly optimise ranking accuracy, context and diversity when importance is estimated by a cooperative-game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RQ5 · What emerges when clustering explanation and recommendation learning are two stages of one cooperative-game perspective?</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The Three Contributions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C1</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C2</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C3</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C1 – Explainable black-box clustering: PCA–K-Means–LightGBM–TreeSHAP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 Wine Quality: faithful instance- and cluster-level feature attribution.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C2 – Enhanced multi-level XAI for large-scale clustering with cross-level SHAP aggregation.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Beijing Air Quality: hierarchical attribution consistency under scale.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C3 – DyHuCoG: Dynamic Hypergraph Cooperative Game for preference-aware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MovieLens-1M &amp; Amazon-Book: preference-aware Monte Carlo Shapley as an in-training signal.</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claim: cooperative game theory functions as a shared attribution perspective for explanation, optimisation and intervention.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Experimental Protocol</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Datasets Used Throughout the Thesis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Type</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Role</a:t>
            </a:r>
          </a:p>
        </p:txBody>
      </p:sp>
      <p:graphicFrame>
        <p:nvGraphicFramePr>
          <p:cNvPr id="55" name="Table 54"/>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3600450"/>
                <a:gridCol w="2340292"/>
                <a:gridCol w="2520315"/>
                <a:gridCol w="306038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Scale</a:t>
                      </a:r>
                    </a:p>
                  </a:txBody>
                  <a:tcPr anchor="ctr" marL="54864" marR="54864" marT="18288" marB="18288">
                    <a:solidFill>
                      <a:srgbClr val="0E7C7B"/>
                    </a:solidFill>
                  </a:tcPr>
                </a:tc>
                <a:tc>
                  <a:txBody>
                    <a:bodyPr/>
                    <a:lstStyle/>
                    <a:p>
                      <a:pPr algn="ctr"/>
                      <a:r>
                        <a:rPr sz="1200" b="1">
                          <a:solidFill>
                            <a:srgbClr val="FFFFFF"/>
                          </a:solidFill>
                          <a:latin typeface="Montserrat Medium"/>
                        </a:rPr>
                        <a:t>Type</a:t>
                      </a:r>
                    </a:p>
                  </a:txBody>
                  <a:tcPr anchor="ctr" marL="54864" marR="54864" marT="18288" marB="18288">
                    <a:solidFill>
                      <a:srgbClr val="0E7C7B"/>
                    </a:solidFill>
                  </a:tcPr>
                </a:tc>
                <a:tc>
                  <a:txBody>
                    <a:bodyPr/>
                    <a:lstStyle/>
                    <a:p>
                      <a:pPr algn="ctr"/>
                      <a:r>
                        <a:rPr sz="1200" b="1">
                          <a:solidFill>
                            <a:srgbClr val="FFFFFF"/>
                          </a:solidFill>
                          <a:latin typeface="Montserrat Medium"/>
                        </a:rPr>
                        <a:t>Role</a:t>
                      </a:r>
                    </a:p>
                  </a:txBody>
                  <a:tcPr anchor="ctr" marL="54864" marR="54864" marT="18288" marB="18288">
                    <a:solidFill>
                      <a:srgbClr val="0E7C7B"/>
                    </a:solidFill>
                  </a:tcPr>
                </a:tc>
              </a:tr>
              <a:tr h="713232">
                <a:tc>
                  <a:txBody>
                    <a:bodyPr/>
                    <a:lstStyle/>
                    <a:p>
                      <a:pPr algn="l"/>
                      <a:r>
                        <a:rPr sz="1200" b="0">
                          <a:solidFill>
                            <a:srgbClr val="2F3B49"/>
                          </a:solidFill>
                          <a:latin typeface="Montserrat"/>
                        </a:rPr>
                        <a:t>Wine Quality (vinho verde)</a:t>
                      </a:r>
                    </a:p>
                  </a:txBody>
                  <a:tcPr anchor="ctr" marL="54864" marR="54864" marT="18288" marB="18288">
                    <a:solidFill>
                      <a:srgbClr val="FFFFFF"/>
                    </a:solidFill>
                  </a:tcPr>
                </a:tc>
                <a:tc>
                  <a:txBody>
                    <a:bodyPr/>
                    <a:lstStyle/>
                    <a:p>
                      <a:pPr algn="ctr"/>
                      <a:r>
                        <a:rPr sz="1200" b="0">
                          <a:solidFill>
                            <a:srgbClr val="2F3B49"/>
                          </a:solidFill>
                          <a:latin typeface="Montserrat"/>
                        </a:rPr>
                        <a:t>4,898 × 11</a:t>
                      </a:r>
                    </a:p>
                  </a:txBody>
                  <a:tcPr anchor="ctr" marL="54864" marR="54864" marT="18288" marB="18288">
                    <a:solidFill>
                      <a:srgbClr val="FFFFFF"/>
                    </a:solidFill>
                  </a:tcPr>
                </a:tc>
                <a:tc>
                  <a:txBody>
                    <a:bodyPr/>
                    <a:lstStyle/>
                    <a:p>
                      <a:pPr algn="ctr"/>
                      <a:r>
                        <a:rPr sz="1200" b="0">
                          <a:solidFill>
                            <a:srgbClr val="2F3B49"/>
                          </a:solidFill>
                          <a:latin typeface="Montserrat"/>
                        </a:rPr>
                        <a:t>Tabular, numeric</a:t>
                      </a:r>
                    </a:p>
                  </a:txBody>
                  <a:tcPr anchor="ctr" marL="54864" marR="54864" marT="18288" marB="18288">
                    <a:solidFill>
                      <a:srgbClr val="FFFFFF"/>
                    </a:solidFill>
                  </a:tcPr>
                </a:tc>
                <a:tc>
                  <a:txBody>
                    <a:bodyPr/>
                    <a:lstStyle/>
                    <a:p>
                      <a:pPr algn="ctr"/>
                      <a:r>
                        <a:rPr sz="1200" b="0">
                          <a:solidFill>
                            <a:srgbClr val="2F3B49"/>
                          </a:solidFill>
                          <a:latin typeface="Montserrat"/>
                        </a:rPr>
                        <a:t>C1 – single-level clustering</a:t>
                      </a:r>
                    </a:p>
                  </a:txBody>
                  <a:tcPr anchor="ctr" marL="54864" marR="54864" marT="18288" marB="18288">
                    <a:solidFill>
                      <a:srgbClr val="FFFFFF"/>
                    </a:solidFill>
                  </a:tcPr>
                </a:tc>
              </a:tr>
              <a:tr h="713232">
                <a:tc>
                  <a:txBody>
                    <a:bodyPr/>
                    <a:lstStyle/>
                    <a:p>
                      <a:pPr algn="l"/>
                      <a:r>
                        <a:rPr sz="1200" b="0">
                          <a:solidFill>
                            <a:srgbClr val="2F3B49"/>
                          </a:solidFill>
                          <a:latin typeface="Montserrat"/>
                        </a:rPr>
                        <a:t>Beijing Multi-Site Air Quality</a:t>
                      </a:r>
                    </a:p>
                  </a:txBody>
                  <a:tcPr anchor="ctr" marL="54864" marR="54864" marT="18288" marB="18288">
                    <a:solidFill>
                      <a:srgbClr val="F0F4FB"/>
                    </a:solidFill>
                  </a:tcPr>
                </a:tc>
                <a:tc>
                  <a:txBody>
                    <a:bodyPr/>
                    <a:lstStyle/>
                    <a:p>
                      <a:pPr algn="ctr"/>
                      <a:r>
                        <a:rPr sz="1200" b="0">
                          <a:solidFill>
                            <a:srgbClr val="2F3B49"/>
                          </a:solidFill>
                          <a:latin typeface="Montserrat"/>
                        </a:rPr>
                        <a:t>383,585 × 11</a:t>
                      </a:r>
                    </a:p>
                  </a:txBody>
                  <a:tcPr anchor="ctr" marL="54864" marR="54864" marT="18288" marB="18288">
                    <a:solidFill>
                      <a:srgbClr val="F0F4FB"/>
                    </a:solidFill>
                  </a:tcPr>
                </a:tc>
                <a:tc>
                  <a:txBody>
                    <a:bodyPr/>
                    <a:lstStyle/>
                    <a:p>
                      <a:pPr algn="ctr"/>
                      <a:r>
                        <a:rPr sz="1200" b="0">
                          <a:solidFill>
                            <a:srgbClr val="2F3B49"/>
                          </a:solidFill>
                          <a:latin typeface="Montserrat"/>
                        </a:rPr>
                        <a:t>Tabular, pollutant + meteorology</a:t>
                      </a:r>
                    </a:p>
                  </a:txBody>
                  <a:tcPr anchor="ctr" marL="54864" marR="54864" marT="18288" marB="18288">
                    <a:solidFill>
                      <a:srgbClr val="F0F4FB"/>
                    </a:solidFill>
                  </a:tcPr>
                </a:tc>
                <a:tc>
                  <a:txBody>
                    <a:bodyPr/>
                    <a:lstStyle/>
                    <a:p>
                      <a:pPr algn="ctr"/>
                      <a:r>
                        <a:rPr sz="1200" b="0">
                          <a:solidFill>
                            <a:srgbClr val="2F3B49"/>
                          </a:solidFill>
                          <a:latin typeface="Montserrat"/>
                        </a:rPr>
                        <a:t>C2 – multi-level clustering</a:t>
                      </a:r>
                    </a:p>
                  </a:txBody>
                  <a:tcPr anchor="ctr" marL="54864" marR="54864" marT="18288" marB="18288">
                    <a:solidFill>
                      <a:srgbClr val="F0F4F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6,040 u / 3,706 i / 1.0M int</a:t>
                      </a:r>
                    </a:p>
                  </a:txBody>
                  <a:tcPr anchor="ctr" marL="54864" marR="54864" marT="18288" marB="18288">
                    <a:solidFill>
                      <a:srgbClr val="FFFFFF"/>
                    </a:solidFill>
                  </a:tcPr>
                </a:tc>
                <a:tc>
                  <a:txBody>
                    <a:bodyPr/>
                    <a:lstStyle/>
                    <a:p>
                      <a:pPr algn="ctr"/>
                      <a:r>
                        <a:rPr sz="1200" b="0">
                          <a:solidFill>
                            <a:srgbClr val="2F3B49"/>
                          </a:solidFill>
                          <a:latin typeface="Montserrat"/>
                        </a:rPr>
                        <a:t>Implicit feedback (0.0447)</a:t>
                      </a:r>
                    </a:p>
                  </a:txBody>
                  <a:tcPr anchor="ctr" marL="54864" marR="54864" marT="18288" marB="18288">
                    <a:solidFill>
                      <a:srgbClr val="FFFFFF"/>
                    </a:solidFill>
                  </a:tcPr>
                </a:tc>
                <a:tc>
                  <a:txBody>
                    <a:bodyPr/>
                    <a:lstStyle/>
                    <a:p>
                      <a:pPr algn="ctr"/>
                      <a:r>
                        <a:rPr sz="1200" b="0">
                          <a:solidFill>
                            <a:srgbClr val="2F3B49"/>
                          </a:solidFill>
                          <a:latin typeface="Montserrat"/>
                        </a:rPr>
                        <a:t>C3 – DyHuCoG</a:t>
                      </a:r>
                    </a:p>
                  </a:txBody>
                  <a:tcPr anchor="ctr" marL="54864" marR="54864" marT="18288" marB="18288">
                    <a:solidFill>
                      <a:srgbClr val="FFFFFF"/>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0F4FB"/>
                    </a:solidFill>
                  </a:tcPr>
                </a:tc>
                <a:tc>
                  <a:txBody>
                    <a:bodyPr/>
                    <a:lstStyle/>
                    <a:p>
                      <a:pPr algn="ctr"/>
                      <a:r>
                        <a:rPr sz="1200" b="0">
                          <a:solidFill>
                            <a:srgbClr val="2F3B49"/>
                          </a:solidFill>
                          <a:latin typeface="Montserrat"/>
                        </a:rPr>
                        <a:t>52,643 u / 91,599 i / 3.0M int</a:t>
                      </a:r>
                    </a:p>
                  </a:txBody>
                  <a:tcPr anchor="ctr" marL="54864" marR="54864" marT="18288" marB="18288">
                    <a:solidFill>
                      <a:srgbClr val="F0F4FB"/>
                    </a:solidFill>
                  </a:tcPr>
                </a:tc>
                <a:tc>
                  <a:txBody>
                    <a:bodyPr/>
                    <a:lstStyle/>
                    <a:p>
                      <a:pPr algn="ctr"/>
                      <a:r>
                        <a:rPr sz="1200" b="0">
                          <a:solidFill>
                            <a:srgbClr val="2F3B49"/>
                          </a:solidFill>
                          <a:latin typeface="Montserrat"/>
                        </a:rPr>
                        <a:t>Implicit feedback (0.0006)</a:t>
                      </a:r>
                    </a:p>
                  </a:txBody>
                  <a:tcPr anchor="ctr" marL="54864" marR="54864" marT="18288" marB="18288">
                    <a:solidFill>
                      <a:srgbClr val="F0F4FB"/>
                    </a:solidFill>
                  </a:tcPr>
                </a:tc>
                <a:tc>
                  <a:txBody>
                    <a:bodyPr/>
                    <a:lstStyle/>
                    <a:p>
                      <a:pPr algn="ctr"/>
                      <a:r>
                        <a:rPr sz="1200" b="0">
                          <a:solidFill>
                            <a:srgbClr val="2F3B49"/>
                          </a:solidFill>
                          <a:latin typeface="Montserrat"/>
                        </a:rPr>
                        <a:t>C3 – DyHuCoG</a:t>
                      </a:r>
                    </a:p>
                  </a:txBody>
                  <a:tcPr anchor="ctr" marL="54864" marR="54864" marT="18288" marB="18288">
                    <a:solidFill>
                      <a:srgbClr val="F0F4FB"/>
                    </a:solidFill>
                  </a:tcPr>
                </a:tc>
              </a:tr>
            </a:tbl>
          </a:graphicData>
        </a:graphic>
      </p:graphicFrame>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 Splitting &amp; Preprocessing</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Clustering</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Recommendation</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Reproducibility</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Clustering: five-fold cross-validation for surrogate/attribution stability.</a:t>
            </a:r>
          </a:p>
          <a:p>
            <a:pPr>
              <a:lnSpc>
                <a:spcPct val="105000"/>
              </a:lnSpc>
              <a:spcAft>
                <a:spcPts val="900"/>
              </a:spcAft>
            </a:pPr>
            <a:r>
              <a:rPr sz="1700">
                <a:solidFill>
                  <a:srgbClr val="0E7C7B"/>
                </a:solidFill>
                <a:latin typeface="Wingdings"/>
              </a:rPr>
              <a:t>§  </a:t>
            </a:r>
            <a:r>
              <a:rPr sz="1700" b="0">
                <a:solidFill>
                  <a:srgbClr val="2F3B49"/>
                </a:solidFill>
                <a:latin typeface="Montserrat"/>
              </a:rPr>
              <a:t>Recommendation: user-level, temporal split — 70% train / 10% val / 20% test.</a:t>
            </a:r>
          </a:p>
          <a:p>
            <a:pPr>
              <a:lnSpc>
                <a:spcPct val="105000"/>
              </a:lnSpc>
              <a:spcAft>
                <a:spcPts val="900"/>
              </a:spcAft>
            </a:pPr>
            <a:r>
              <a:rPr sz="1700">
                <a:solidFill>
                  <a:srgbClr val="0E7C7B"/>
                </a:solidFill>
                <a:latin typeface="Wingdings"/>
              </a:rPr>
              <a:t>§  </a:t>
            </a:r>
            <a:r>
              <a:rPr sz="1700" b="0">
                <a:solidFill>
                  <a:srgbClr val="2F3B49"/>
                </a:solidFill>
                <a:latin typeface="Montserrat"/>
              </a:rPr>
              <a:t>Leave-one-out: the latest test positive per user is the target, ranked against negatives.</a:t>
            </a:r>
          </a:p>
          <a:p>
            <a:pPr>
              <a:lnSpc>
                <a:spcPct val="105000"/>
              </a:lnSpc>
              <a:spcAft>
                <a:spcPts val="900"/>
              </a:spcAft>
            </a:pPr>
            <a:r>
              <a:rPr sz="1700">
                <a:solidFill>
                  <a:srgbClr val="0E7C7B"/>
                </a:solidFill>
                <a:latin typeface="Wingdings"/>
              </a:rPr>
              <a:t>§  </a:t>
            </a:r>
            <a:r>
              <a:rPr sz="1700" b="0">
                <a:solidFill>
                  <a:srgbClr val="2F3B49"/>
                </a:solidFill>
                <a:latin typeface="Montserrat"/>
              </a:rPr>
              <a:t>Implicit conversion: MovieLens-1M ratings &gt; 3 treated as positive.</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Popularity-aware negative sampling: q(i) ∝ f_i^η for harder contrasts.</a:t>
            </a:r>
          </a:p>
          <a:p>
            <a:pPr>
              <a:lnSpc>
                <a:spcPct val="105000"/>
              </a:lnSpc>
              <a:spcAft>
                <a:spcPts val="900"/>
              </a:spcAft>
            </a:pPr>
            <a:r>
              <a:rPr sz="1700">
                <a:solidFill>
                  <a:srgbClr val="0E7C7B"/>
                </a:solidFill>
                <a:latin typeface="Wingdings"/>
              </a:rPr>
              <a:t>§  </a:t>
            </a:r>
            <a:r>
              <a:rPr sz="1700" b="0">
                <a:solidFill>
                  <a:srgbClr val="2F3B49"/>
                </a:solidFill>
                <a:latin typeface="Montserrat"/>
              </a:rPr>
              <a:t>Reproducibility: seeds {42,43,44,45,46}; early-stopping patience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Baselines &amp; Evaluation Metrics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Baselines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Ranking</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Diversity</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Clustering benchmark: LIME-based surrogate explanation pipeline.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Recommendation benchmarks: MF, NCF, LightGCN, RecDCL, HCCF, HPCF (strongest reference).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Ranking: Precision@K, Recall@K, NDCG@20 (principal).</a:t>
            </a:r>
          </a:p>
          <a:p>
            <a:pPr>
              <a:lnSpc>
                <a:spcPct val="105000"/>
              </a:lnSpc>
              <a:spcAft>
                <a:spcPts val="900"/>
              </a:spcAft>
            </a:pPr>
            <a:r>
              <a:rPr sz="1700">
                <a:solidFill>
                  <a:srgbClr val="0E7C7B"/>
                </a:solidFill>
                <a:latin typeface="Wingdings"/>
              </a:rPr>
              <a:t>§  </a:t>
            </a:r>
            <a:r>
              <a:rPr sz="1700" b="0">
                <a:solidFill>
                  <a:srgbClr val="2F3B49"/>
                </a:solidFill>
                <a:latin typeface="Montserrat"/>
              </a:rPr>
              <a:t>System diversity: Catalogue Coverage = |⋃ R_u| / |I|.</a:t>
            </a:r>
          </a:p>
          <a:p>
            <a:pPr>
              <a:lnSpc>
                <a:spcPct val="105000"/>
              </a:lnSpc>
              <a:spcAft>
                <a:spcPts val="900"/>
              </a:spcAft>
            </a:pPr>
            <a:r>
              <a:rPr sz="1700">
                <a:solidFill>
                  <a:srgbClr val="0E7C7B"/>
                </a:solidFill>
                <a:latin typeface="Wingdings"/>
              </a:rPr>
              <a:t>§  </a:t>
            </a:r>
            <a:r>
              <a:rPr sz="1700" b="0">
                <a:solidFill>
                  <a:srgbClr val="2F3B49"/>
                </a:solidFill>
                <a:latin typeface="Montserrat"/>
              </a:rPr>
              <a:t>List diversity: Intra-List Diversity (ILD), built into the coalition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Clustering quality: Silhouette, Davies–Bouldin.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Hardware &amp; Software</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Compute</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Stack</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Reproducibility</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CPU: Intel Core i9-14900K, 24 cores — clustering, preprocessing, data loading.</a:t>
            </a:r>
          </a:p>
          <a:p>
            <a:pPr>
              <a:lnSpc>
                <a:spcPct val="105000"/>
              </a:lnSpc>
              <a:spcAft>
                <a:spcPts val="900"/>
              </a:spcAft>
            </a:pPr>
            <a:r>
              <a:rPr sz="1700">
                <a:solidFill>
                  <a:srgbClr val="0E7C7B"/>
                </a:solidFill>
                <a:latin typeface="Wingdings"/>
              </a:rPr>
              <a:t>§  </a:t>
            </a:r>
            <a:r>
              <a:rPr sz="1700" b="0">
                <a:solidFill>
                  <a:srgbClr val="2F3B49"/>
                </a:solidFill>
                <a:latin typeface="Montserrat"/>
              </a:rPr>
              <a:t>GPU: NVIDIA GeForce RTX 4090, 24 GB — DyHuCoG training &amp; inference.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RAM: 48 GB; Storage: 2 TB SSD.</a:t>
            </a:r>
          </a:p>
          <a:p>
            <a:pPr>
              <a:lnSpc>
                <a:spcPct val="105000"/>
              </a:lnSpc>
              <a:spcAft>
                <a:spcPts val="900"/>
              </a:spcAft>
            </a:pPr>
            <a:r>
              <a:rPr sz="1700">
                <a:solidFill>
                  <a:srgbClr val="0E7C7B"/>
                </a:solidFill>
                <a:latin typeface="Wingdings"/>
              </a:rPr>
              <a:t>§  </a:t>
            </a:r>
            <a:r>
              <a:rPr sz="1700" b="0">
                <a:solidFill>
                  <a:srgbClr val="2F3B49"/>
                </a:solidFill>
                <a:latin typeface="Montserrat"/>
              </a:rPr>
              <a:t>Python 3.8; scikit-learn, LightGBM, SHAP, PyTorch 2.0.1, NumPy/SciPy/pandas.</a:t>
            </a:r>
          </a:p>
          <a:p>
            <a:pPr>
              <a:lnSpc>
                <a:spcPct val="105000"/>
              </a:lnSpc>
              <a:spcAft>
                <a:spcPts val="900"/>
              </a:spcAft>
            </a:pPr>
            <a:r>
              <a:rPr sz="1700">
                <a:solidFill>
                  <a:srgbClr val="0E7C7B"/>
                </a:solidFill>
                <a:latin typeface="Wingdings"/>
              </a:rPr>
              <a:t>§  </a:t>
            </a:r>
            <a:r>
              <a:rPr sz="1700" b="0">
                <a:solidFill>
                  <a:srgbClr val="2F3B49"/>
                </a:solidFill>
                <a:latin typeface="Montserrat"/>
              </a:rPr>
              <a:t>Altair for interactive SHAP visualisation; metrics at K ∈ {5, 10,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 — Explainable Black-Box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5"/>
          <a:stretch>
            <a:fillRect/>
          </a:stretch>
        </p:blipFill>
        <p:spPr>
          <a:xfrm>
            <a:off x="11709806" y="6400800"/>
            <a:ext cx="384048" cy="384048"/>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Shapley explanation is dominant in supervised tasks, but clustering remains comparatively under-explained.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Existing clustering-interpretability methods privilege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often fail to scale or preserve coherence across clusters.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build a pipeline yielding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Preserve the semantics of the original feature space; justify why Shapley is better than LIME.</a:t>
            </a:r>
          </a:p>
        </p:txBody>
      </p:sp>
      <p:pic>
        <p:nvPicPr>
          <p:cNvPr id="49" name="Picture 48" descr="image.png"/>
          <p:cNvPicPr>
            <a:picLocks noChangeAspect="1"/>
          </p:cNvPicPr>
          <p:nvPr/>
        </p:nvPicPr>
        <p:blipFill>
          <a:blip r:embed="rId10"/>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F — each feature is a player.</a:t>
            </a:r>
          </a:p>
          <a:p>
            <a:pPr>
              <a:lnSpc>
                <a:spcPct val="105000"/>
              </a:lnSpc>
              <a:spcAft>
                <a:spcPts val="900"/>
              </a:spcAft>
            </a:pPr>
            <a:r>
              <a:rPr sz="1700">
                <a:solidFill>
                  <a:srgbClr val="0E7C7B"/>
                </a:solidFill>
                <a:latin typeface="Wingdings"/>
              </a:rPr>
              <a:t>§  </a:t>
            </a:r>
            <a:r>
              <a:rPr sz="1700" b="0">
                <a:solidFill>
                  <a:srgbClr val="2F3B49"/>
                </a:solidFill>
                <a:latin typeface="Montserrat"/>
              </a:rPr>
              <a:t>Value function v(S) = Silhouette( KMeans(X_S, k*) ) — how well data cluster using only features in S.</a:t>
            </a:r>
          </a:p>
          <a:p>
            <a:pPr>
              <a:lnSpc>
                <a:spcPct val="105000"/>
              </a:lnSpc>
              <a:spcAft>
                <a:spcPts val="900"/>
              </a:spcAft>
            </a:pPr>
            <a:r>
              <a:rPr sz="1700">
                <a:solidFill>
                  <a:srgbClr val="0E7C7B"/>
                </a:solidFill>
                <a:latin typeface="Wingdings"/>
              </a:rPr>
              <a:t>§  </a:t>
            </a:r>
            <a:r>
              <a:rPr sz="1700" b="0">
                <a:solidFill>
                  <a:srgbClr val="2F3B49"/>
                </a:solidFill>
                <a:latin typeface="Montserrat"/>
              </a:rPr>
              <a:t>A feature's Shapley value = its expected marginal contribution to clustering quality over all coalition orders.</a:t>
            </a:r>
          </a:p>
          <a:p>
            <a:pPr>
              <a:lnSpc>
                <a:spcPct val="105000"/>
              </a:lnSpc>
              <a:spcAft>
                <a:spcPts val="900"/>
              </a:spcAft>
            </a:pPr>
            <a:r>
              <a:rPr sz="1700">
                <a:solidFill>
                  <a:srgbClr val="0E7C7B"/>
                </a:solidFill>
                <a:latin typeface="Wingdings"/>
              </a:rPr>
              <a:t>§  </a:t>
            </a:r>
            <a:r>
              <a:rPr sz="1700" b="0">
                <a:solidFill>
                  <a:srgbClr val="2F3B49"/>
                </a:solidFill>
                <a:latin typeface="Montserrat"/>
              </a:rPr>
              <a:t>Why Silhouette: bounded, normalised, semantically intuitive.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Direct evaluation for every coalition is intractable → we need a bridge.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Once K-Means produces cluster labels, train a LightGBM multiclass surrogate to predict them from original features.</a:t>
            </a:r>
          </a:p>
          <a:p>
            <a:pPr>
              <a:lnSpc>
                <a:spcPct val="105000"/>
              </a:lnSpc>
              <a:spcAft>
                <a:spcPts val="900"/>
              </a:spcAft>
            </a:pPr>
            <a:r>
              <a:rPr sz="1700">
                <a:solidFill>
                  <a:srgbClr val="0E7C7B"/>
                </a:solidFill>
                <a:latin typeface="Wingdings"/>
              </a:rPr>
              <a:t>§  </a:t>
            </a:r>
            <a:r>
              <a:rPr sz="1700" b="0">
                <a:solidFill>
                  <a:srgbClr val="2F3B49"/>
                </a:solidFill>
                <a:latin typeface="Montserrat"/>
              </a:rPr>
              <a:t>Apply TreeSHAP to the surrogate — fast, exact tree-based attribution in the original semantic feature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Direct TreeSHAP on K-Means is impossible (it explains tree models, not centroids).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preserves the chemistry/pollution vocabulary that makes the analysis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Validity condition: surrogate fidelity is high (macro-F1 ≈ 0.82).</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Stage 1 – PCA: stabilise geometry + visual diagnostic. NOT the explanatory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2 – K-Means++ with multi-criteria k selection (elbow, Silhouette, Davies–Bouldin).</a:t>
            </a:r>
          </a:p>
          <a:p>
            <a:pPr>
              <a:lnSpc>
                <a:spcPct val="105000"/>
              </a:lnSpc>
              <a:spcAft>
                <a:spcPts val="900"/>
              </a:spcAft>
            </a:pPr>
            <a:r>
              <a:rPr sz="1700">
                <a:solidFill>
                  <a:srgbClr val="0E7C7B"/>
                </a:solidFill>
                <a:latin typeface="Wingdings"/>
              </a:rPr>
              <a:t>§  </a:t>
            </a:r>
            <a:r>
              <a:rPr sz="1700" b="0">
                <a:solidFill>
                  <a:srgbClr val="2F3B49"/>
                </a:solidFill>
                <a:latin typeface="Montserrat"/>
              </a:rPr>
              <a:t>Stage 3 – LightGBM surrogate trained on original features to predict cluster labels.</a:t>
            </a:r>
          </a:p>
          <a:p>
            <a:pPr>
              <a:lnSpc>
                <a:spcPct val="105000"/>
              </a:lnSpc>
              <a:spcAft>
                <a:spcPts val="900"/>
              </a:spcAft>
            </a:pPr>
            <a:r>
              <a:rPr sz="1700">
                <a:solidFill>
                  <a:srgbClr val="0E7C7B"/>
                </a:solidFill>
                <a:latin typeface="Wingdings"/>
              </a:rPr>
              <a:t>§  </a:t>
            </a:r>
            <a:r>
              <a:rPr sz="1700" b="0">
                <a:solidFill>
                  <a:srgbClr val="2F3B49"/>
                </a:solidFill>
                <a:latin typeface="Montserrat"/>
              </a:rPr>
              <a:t>Stage 4 – TreeSHAP attribution in the original feature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5 – Aggregate into global importance, cluster-specific profiles, and local force plots.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Complexity: dominated by PCA and repeated K-Means; TreeSHAP scales with tree count, not exponentially in features.</a:t>
            </a:r>
          </a:p>
        </p:txBody>
      </p:sp>
      <p:pic>
        <p:nvPicPr>
          <p:cNvPr id="49" name="Picture 48" descr="c1_pipeline.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5"/>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Multi-criteria evaluation across k ∈ {2..10} using elbow, Silhouette, Davies–Bouldin.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We select k* = 3 — even though it is NOT geometrically optimal: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2: Silhouette 0.214, Davies–Bouldin 1.775 (better separation).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3: Silhouette 0.144, Davies–Bouldin 2.097 (weaker separation).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Why: three clusters give a semantically richer oenological partition → more actionable.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Note: the higher Silhouette ≈ 0.63 belongs to Beijing (C2), not this wine partition.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density → pH → fixed acidity → sulfur-dioxide → alcohol</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Dominant drivers relate to structure, preservation, and sensory balance.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is NOT an arbitrary classifier artefact — it recovers a chemically interpretable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Three clusters show distinct explanatory signatures.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0 – density + sulfur-dioxide-related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1 – acidity and pH-related effects.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2 – a different balance of acidity, alcohol, and related chemical attributes.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small set of variables recurs across clusters, with different relative weights within each.</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29998" cy="3474720"/>
        </p:xfrm>
        <a:graphic>
          <a:graphicData uri="http://schemas.openxmlformats.org/drawingml/2006/table">
            <a:tbl>
              <a:tblPr>
                <a:tableStyleId>{5C22544A-7EE6-4342-B048-85BDC9FD1C3A}</a:tableStyleId>
              </a:tblPr>
              <a:tblGrid>
                <a:gridCol w="2905932"/>
                <a:gridCol w="4262033"/>
                <a:gridCol w="4262033"/>
              </a:tblGrid>
              <a:tr h="579120">
                <a:tc>
                  <a:txBody>
                    <a:bodyPr/>
                    <a:lstStyle/>
                    <a:p>
                      <a:pPr algn="ctr"/>
                      <a:r>
                        <a:rPr sz="1200" b="1">
                          <a:solidFill>
                            <a:srgbClr val="FFFFFF"/>
                          </a:solidFill>
                          <a:latin typeface="Montserrat Medium"/>
                        </a:rPr>
                        <a:t>Criterion</a:t>
                      </a:r>
                    </a:p>
                  </a:txBody>
                  <a:tcPr anchor="ctr" marL="54864" marR="54864" marT="18288" marB="18288">
                    <a:solidFill>
                      <a:srgbClr val="0E7C7B"/>
                    </a:solidFill>
                  </a:tcPr>
                </a:tc>
                <a:tc>
                  <a:txBody>
                    <a:bodyPr/>
                    <a:lstStyle/>
                    <a:p>
                      <a:pPr algn="ctr"/>
                      <a:r>
                        <a:rPr sz="1200" b="1">
                          <a:solidFill>
                            <a:srgbClr val="FFFFFF"/>
                          </a:solidFill>
                          <a:latin typeface="Montserrat Medium"/>
                        </a:rPr>
                        <a:t>SHAP (cooperative)</a:t>
                      </a:r>
                    </a:p>
                  </a:txBody>
                  <a:tcPr anchor="ctr" marL="54864" marR="54864" marT="18288" marB="18288">
                    <a:solidFill>
                      <a:srgbClr val="0E7C7B"/>
                    </a:solidFill>
                  </a:tcPr>
                </a:tc>
                <a:tc>
                  <a:txBody>
                    <a:bodyPr/>
                    <a:lstStyle/>
                    <a:p>
                      <a:pPr algn="ctr"/>
                      <a:r>
                        <a:rPr sz="1200" b="1">
                          <a:solidFill>
                            <a:srgbClr val="FFFFFF"/>
                          </a:solidFill>
                          <a:latin typeface="Montserrat Medium"/>
                        </a:rPr>
                        <a:t>LIME (local surrogate)</a:t>
                      </a:r>
                    </a:p>
                  </a:txBody>
                  <a:tcPr anchor="ctr" marL="54864" marR="54864" marT="18288" marB="18288">
                    <a:solidFill>
                      <a:srgbClr val="0E7C7B"/>
                    </a:solidFill>
                  </a:tcPr>
                </a:tc>
              </a:tr>
              <a:tr h="579120">
                <a:tc>
                  <a:txBody>
                    <a:bodyPr/>
                    <a:lstStyle/>
                    <a:p>
                      <a:pPr algn="l"/>
                      <a:r>
                        <a:rPr sz="1200" b="0">
                          <a:solidFill>
                            <a:srgbClr val="2F3B49"/>
                          </a:solidFill>
                          <a:latin typeface="Montserrat"/>
                        </a:rPr>
                        <a:t>Basis</a:t>
                      </a:r>
                    </a:p>
                  </a:txBody>
                  <a:tcPr anchor="ctr" marL="54864" marR="54864" marT="18288" marB="18288">
                    <a:solidFill>
                      <a:srgbClr val="FFFFFF"/>
                    </a:solidFill>
                  </a:tcPr>
                </a:tc>
                <a:tc>
                  <a:txBody>
                    <a:bodyPr/>
                    <a:lstStyle/>
                    <a:p>
                      <a:pPr algn="ctr"/>
                      <a:r>
                        <a:rPr sz="1200" b="0">
                          <a:solidFill>
                            <a:srgbClr val="2F3B49"/>
                          </a:solidFill>
                          <a:latin typeface="Montserrat"/>
                        </a:rPr>
                        <a:t>Cooperative-game marginal contribution</a:t>
                      </a:r>
                    </a:p>
                  </a:txBody>
                  <a:tcPr anchor="ctr" marL="54864" marR="54864" marT="18288" marB="18288">
                    <a:solidFill>
                      <a:srgbClr val="FFFFFF"/>
                    </a:solidFill>
                  </a:tcPr>
                </a:tc>
                <a:tc>
                  <a:txBody>
                    <a:bodyPr/>
                    <a:lstStyle/>
                    <a:p>
                      <a:pPr algn="ctr"/>
                      <a:r>
                        <a:rPr sz="1200" b="0">
                          <a:solidFill>
                            <a:srgbClr val="2F3B49"/>
                          </a:solidFill>
                          <a:latin typeface="Montserrat"/>
                        </a:rPr>
                        <a:t>Local surrogate approximation</a:t>
                      </a:r>
                    </a:p>
                  </a:txBody>
                  <a:tcPr anchor="ctr" marL="54864" marR="54864" marT="18288" marB="18288">
                    <a:solidFill>
                      <a:srgbClr val="FFFFFF"/>
                    </a:solidFill>
                  </a:tcPr>
                </a:tc>
              </a:tr>
              <a:tr h="579120">
                <a:tc>
                  <a:txBody>
                    <a:bodyPr/>
                    <a:lstStyle/>
                    <a:p>
                      <a:pPr algn="l"/>
                      <a:r>
                        <a:rPr sz="1200" b="0">
                          <a:solidFill>
                            <a:srgbClr val="2F3B49"/>
                          </a:solidFill>
                          <a:latin typeface="Montserrat"/>
                        </a:rPr>
                        <a:t>Local / global</a:t>
                      </a:r>
                    </a:p>
                  </a:txBody>
                  <a:tcPr anchor="ctr" marL="54864" marR="54864" marT="18288" marB="18288">
                    <a:solidFill>
                      <a:srgbClr val="F0F4FB"/>
                    </a:solidFill>
                  </a:tcPr>
                </a:tc>
                <a:tc>
                  <a:txBody>
                    <a:bodyPr/>
                    <a:lstStyle/>
                    <a:p>
                      <a:pPr algn="ctr"/>
                      <a:r>
                        <a:rPr sz="1200" b="0">
                          <a:solidFill>
                            <a:srgbClr val="2F3B49"/>
                          </a:solidFill>
                          <a:latin typeface="Montserrat"/>
                        </a:rPr>
                        <a:t>Both</a:t>
                      </a:r>
                    </a:p>
                  </a:txBody>
                  <a:tcPr anchor="ctr" marL="54864" marR="54864" marT="18288" marB="18288">
                    <a:solidFill>
                      <a:srgbClr val="F0F4FB"/>
                    </a:solidFill>
                  </a:tcPr>
                </a:tc>
                <a:tc>
                  <a:txBody>
                    <a:bodyPr/>
                    <a:lstStyle/>
                    <a:p>
                      <a:pPr algn="ctr"/>
                      <a:r>
                        <a:rPr sz="1200" b="0">
                          <a:solidFill>
                            <a:srgbClr val="2F3B49"/>
                          </a:solidFill>
                          <a:latin typeface="Montserrat"/>
                        </a:rPr>
                        <a:t>Primarily local</a:t>
                      </a:r>
                    </a:p>
                  </a:txBody>
                  <a:tcPr anchor="ctr" marL="54864" marR="54864" marT="18288" marB="18288">
                    <a:solidFill>
                      <a:srgbClr val="F0F4FB"/>
                    </a:solidFill>
                  </a:tcPr>
                </a:tc>
              </a:tr>
              <a:tr h="579120">
                <a:tc>
                  <a:txBody>
                    <a:bodyPr/>
                    <a:lstStyle/>
                    <a:p>
                      <a:pPr algn="l"/>
                      <a:r>
                        <a:rPr sz="1200" b="0">
                          <a:solidFill>
                            <a:srgbClr val="2F3B49"/>
                          </a:solidFill>
                          <a:latin typeface="Montserrat"/>
                        </a:rPr>
                        <a:t>Theoretical guarantee</a:t>
                      </a:r>
                    </a:p>
                  </a:txBody>
                  <a:tcPr anchor="ctr" marL="54864" marR="54864" marT="18288" marB="18288">
                    <a:solidFill>
                      <a:srgbClr val="FFFFFF"/>
                    </a:solidFill>
                  </a:tcPr>
                </a:tc>
                <a:tc>
                  <a:txBody>
                    <a:bodyPr/>
                    <a:lstStyle/>
                    <a:p>
                      <a:pPr algn="ctr"/>
                      <a:r>
                        <a:rPr sz="1200" b="0">
                          <a:solidFill>
                            <a:srgbClr val="2F3B49"/>
                          </a:solidFill>
                          <a:latin typeface="Montserrat"/>
                        </a:rPr>
                        <a:t>Efficiency, symmetry, null player, additivity</a:t>
                      </a:r>
                    </a:p>
                  </a:txBody>
                  <a:tcPr anchor="ctr" marL="54864" marR="54864" marT="18288" marB="18288">
                    <a:solidFill>
                      <a:srgbClr val="FFFFFF"/>
                    </a:solidFill>
                  </a:tcPr>
                </a:tc>
                <a:tc>
                  <a:txBody>
                    <a:bodyPr/>
                    <a:lstStyle/>
                    <a:p>
                      <a:pPr algn="ctr"/>
                      <a:r>
                        <a:rPr sz="1200" b="0">
                          <a:solidFill>
                            <a:srgbClr val="2F3B49"/>
                          </a:solidFill>
                          <a:latin typeface="Montserrat"/>
                        </a:rPr>
                        <a:t>None equivalent</a:t>
                      </a:r>
                    </a:p>
                  </a:txBody>
                  <a:tcPr anchor="ctr" marL="54864" marR="54864" marT="18288" marB="18288">
                    <a:solidFill>
                      <a:srgbClr val="FFFFFF"/>
                    </a:solidFill>
                  </a:tcPr>
                </a:tc>
              </a:tr>
              <a:tr h="579120">
                <a:tc>
                  <a:txBody>
                    <a:bodyPr/>
                    <a:lstStyle/>
                    <a:p>
                      <a:pPr algn="l"/>
                      <a:r>
                        <a:rPr sz="1200" b="0">
                          <a:solidFill>
                            <a:srgbClr val="2F3B49"/>
                          </a:solidFill>
                          <a:latin typeface="Montserrat"/>
                        </a:rPr>
                        <a:t>Stability</a:t>
                      </a:r>
                    </a:p>
                  </a:txBody>
                  <a:tcPr anchor="ctr" marL="54864" marR="54864" marT="18288" marB="18288">
                    <a:solidFill>
                      <a:srgbClr val="F0F4FB"/>
                    </a:solidFill>
                  </a:tcPr>
                </a:tc>
                <a:tc>
                  <a:txBody>
                    <a:bodyPr/>
                    <a:lstStyle/>
                    <a:p>
                      <a:pPr algn="ctr"/>
                      <a:r>
                        <a:rPr sz="1200" b="0">
                          <a:solidFill>
                            <a:srgbClr val="2F3B49"/>
                          </a:solidFill>
                          <a:latin typeface="Montserrat"/>
                        </a:rPr>
                        <a:t>Higher when surrogate faithful</a:t>
                      </a:r>
                    </a:p>
                  </a:txBody>
                  <a:tcPr anchor="ctr" marL="54864" marR="54864" marT="18288" marB="18288">
                    <a:solidFill>
                      <a:srgbClr val="F0F4FB"/>
                    </a:solidFill>
                  </a:tcPr>
                </a:tc>
                <a:tc>
                  <a:txBody>
                    <a:bodyPr/>
                    <a:lstStyle/>
                    <a:p>
                      <a:pPr algn="ctr"/>
                      <a:r>
                        <a:rPr sz="1200" b="0">
                          <a:solidFill>
                            <a:srgbClr val="2F3B49"/>
                          </a:solidFill>
                          <a:latin typeface="Montserrat"/>
                        </a:rPr>
                        <a:t>Sensitive to perturbation design</a:t>
                      </a:r>
                    </a:p>
                  </a:txBody>
                  <a:tcPr anchor="ctr" marL="54864" marR="54864" marT="18288" marB="18288">
                    <a:solidFill>
                      <a:srgbClr val="F0F4FB"/>
                    </a:solidFill>
                  </a:tcPr>
                </a:tc>
              </a:tr>
              <a:tr h="579120">
                <a:tc>
                  <a:txBody>
                    <a:bodyPr/>
                    <a:lstStyle/>
                    <a:p>
                      <a:pPr algn="l"/>
                      <a:r>
                        <a:rPr sz="1200" b="0">
                          <a:solidFill>
                            <a:srgbClr val="2F3B49"/>
                          </a:solidFill>
                          <a:latin typeface="Montserrat"/>
                        </a:rPr>
                        <a:t>Cluster comparison</a:t>
                      </a:r>
                    </a:p>
                  </a:txBody>
                  <a:tcPr anchor="ctr" marL="54864" marR="54864" marT="18288" marB="18288">
                    <a:solidFill>
                      <a:srgbClr val="FFFFFF"/>
                    </a:solidFill>
                  </a:tcPr>
                </a:tc>
                <a:tc>
                  <a:txBody>
                    <a:bodyPr/>
                    <a:lstStyle/>
                    <a:p>
                      <a:pPr algn="ctr"/>
                      <a:r>
                        <a:rPr sz="1200" b="0">
                          <a:solidFill>
                            <a:srgbClr val="2F3B49"/>
                          </a:solidFill>
                          <a:latin typeface="Montserrat"/>
                        </a:rPr>
                        <a:t>Strong</a:t>
                      </a:r>
                    </a:p>
                  </a:txBody>
                  <a:tcPr anchor="ctr" marL="54864" marR="54864" marT="18288" marB="18288">
                    <a:solidFill>
                      <a:srgbClr val="FFFFFF"/>
                    </a:solidFill>
                  </a:tcPr>
                </a:tc>
                <a:tc>
                  <a:txBody>
                    <a:bodyPr/>
                    <a:lstStyle/>
                    <a:p>
                      <a:pPr algn="ctr"/>
                      <a:r>
                        <a:rPr sz="1200" b="0">
                          <a:solidFill>
                            <a:srgbClr val="2F3B49"/>
                          </a:solidFill>
                          <a:latin typeface="Montserrat"/>
                        </a:rPr>
                        <a:t>Limited</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Achieved: cluster-level explanation anchored to individual feature contributions; explanations returned to original variables; theoretically-grounded case for Shapley over LIME.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 fidelity depends on the LightGBM surrogate; tabular data only; single-level structure.</a:t>
            </a:r>
          </a:p>
          <a:p>
            <a:pPr lvl="1">
              <a:lnSpc>
                <a:spcPct val="105000"/>
              </a:lnSpc>
              <a:spcAft>
                <a:spcPts val="600"/>
              </a:spcAft>
            </a:pPr>
            <a:r>
              <a:rPr sz="1600">
                <a:solidFill>
                  <a:srgbClr val="0E7C7B"/>
                </a:solidFill>
                <a:latin typeface="Montserrat"/>
              </a:rPr>
              <a:t>–  </a:t>
            </a:r>
            <a:r>
              <a:rPr sz="1600" b="1">
                <a:solidFill>
                  <a:srgbClr val="2F3B49"/>
                </a:solidFill>
                <a:latin typeface="Montserrat"/>
              </a:rPr>
              <a:t>Cannot yet address hierarchical coherence — that is C2's point of departure.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 — Enhanced Multi-Level XAI for Large-Scale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once clustering is multi-level, feature importance must stay interpretable within a cluster, across sub-clusters, and across the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Large-scale data make exact explanation computationally burdensome.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Flat explanation may be true yet incomplete — it cannot show how importance changes inside a cluster.</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a genuinely multi-level workflow; a formal cross-level consistency argument (Prop. 6.1);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Recursive/nested: coarse clustering on the full dataset, then subdivide each cluster.</a:t>
            </a:r>
          </a:p>
          <a:p>
            <a:pPr>
              <a:lnSpc>
                <a:spcPct val="105000"/>
              </a:lnSpc>
              <a:spcAft>
                <a:spcPts val="900"/>
              </a:spcAft>
            </a:pPr>
            <a:r>
              <a:rPr sz="1700">
                <a:solidFill>
                  <a:srgbClr val="0E7C7B"/>
                </a:solidFill>
                <a:latin typeface="Wingdings"/>
              </a:rPr>
              <a:t>§  </a:t>
            </a:r>
            <a:r>
              <a:rPr sz="1700" b="0">
                <a:solidFill>
                  <a:srgbClr val="2F3B49"/>
                </a:solidFill>
                <a:latin typeface="Montserrat"/>
              </a:rPr>
              <a:t>For each level, train a level-specific surrogate and compute SHAP in the SAME original feature space.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Cross-level aggregation is NOT a naive average — it respects cluster size and nesting structure.</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attribution = an expectation over the explanatory structure of its descendants.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hierarchy is a pragmatic analytical device, not a claim of true ontological hierarchy.</a:t>
            </a:r>
          </a:p>
        </p:txBody>
      </p:sp>
      <p:pic>
        <p:nvPicPr>
          <p:cNvPr id="49" name="Picture 48" descr="c2_hierarchy.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4"/>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Let Φ^(l,c)_j = E_{x~c}[|φ_j^(l)(x)|] be the expected absolute SHAP importance of feature j at level l in cluster c.</a:t>
            </a:r>
          </a:p>
          <a:p>
            <a:pPr>
              <a:lnSpc>
                <a:spcPct val="105000"/>
              </a:lnSpc>
              <a:spcAft>
                <a:spcPts val="900"/>
              </a:spcAft>
            </a:pPr>
            <a:r>
              <a:rPr sz="1700">
                <a:solidFill>
                  <a:srgbClr val="0E7C7B"/>
                </a:solidFill>
                <a:latin typeface="Wingdings"/>
              </a:rPr>
              <a:t>§  </a:t>
            </a:r>
            <a:r>
              <a:rPr sz="1700" b="0">
                <a:solidFill>
                  <a:srgbClr val="2F3B49"/>
                </a:solidFill>
                <a:latin typeface="Montserrat"/>
              </a:rPr>
              <a:t>Let w_c' = |c'| / |c| be the relative size of child c' within parent c.</a:t>
            </a:r>
          </a:p>
          <a:p>
            <a:pPr>
              <a:lnSpc>
                <a:spcPct val="105000"/>
              </a:lnSpc>
              <a:spcAft>
                <a:spcPts val="900"/>
              </a:spcAft>
            </a:pPr>
            <a:r>
              <a:rPr sz="1700">
                <a:solidFill>
                  <a:srgbClr val="0E7C7B"/>
                </a:solidFill>
                <a:latin typeface="Wingdings"/>
              </a:rPr>
              <a:t>§  </a:t>
            </a:r>
            <a:r>
              <a:rPr sz="1700" b="1">
                <a:solidFill>
                  <a:srgbClr val="2F3B49"/>
                </a:solidFill>
                <a:latin typeface="Montserrat Medium"/>
              </a:rPr>
              <a:t>For a strict nested hierarchy on a consistent feature space: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Φ^(l,c)_j = Σ_{c'∈child(c)} w_c' · Φ^(l+1,c')_j + ε_j</a:t>
            </a:r>
          </a:p>
          <a:p>
            <a:pPr lvl="1">
              <a:lnSpc>
                <a:spcPct val="105000"/>
              </a:lnSpc>
              <a:spcAft>
                <a:spcPts val="600"/>
              </a:spcAft>
            </a:pPr>
            <a:r>
              <a:rPr sz="1600">
                <a:solidFill>
                  <a:srgbClr val="0E7C7B"/>
                </a:solidFill>
                <a:latin typeface="Montserrat"/>
              </a:rPr>
              <a:t>–  </a:t>
            </a:r>
            <a:r>
              <a:rPr sz="1600" b="0">
                <a:solidFill>
                  <a:srgbClr val="2F3B49"/>
                </a:solidFill>
                <a:latin typeface="Montserrat"/>
              </a:rPr>
              <a:t>ε_j is a residual from surrogate mismatch, vanishing under perfect fidelity.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Derived via law of total expectation (children partition the parent).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Does NOT imply explanations are identical across levels — it implies differences can be interpreted, not dismissed as inconsistency.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Full dataset, k = 3 (strong convergence on multi-criteria evaluation).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Silhouette ≈ 0.63 — materially stronger separation than wine.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Davies–Bouldin ≈ 0.55 — low between-cluster ambiguity.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PCA projection (2 components) used only for visual inspection.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Sensitivity: robust to modest variation in k, projection dim, surrogate depth; only low-ranked variables shift.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 dew point → pressure → CO → NO2 → PM10 → PM2.5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It is NOT simply pollutant concentrations that matter — meteorological variables play a structurally central role.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dew point and pressure condition dispersion, trapping, and photochemical behaviour.</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This is the kind of insight flat descriptive summaries often fail to make explicit.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Regime A – warm photochemical: ozone, temperature, dew point prominent (summer photochemical smog).</a:t>
            </a:r>
          </a:p>
          <a:p>
            <a:pPr>
              <a:lnSpc>
                <a:spcPct val="105000"/>
              </a:lnSpc>
              <a:spcAft>
                <a:spcPts val="900"/>
              </a:spcAft>
            </a:pPr>
            <a:r>
              <a:rPr sz="1700">
                <a:solidFill>
                  <a:srgbClr val="0E7C7B"/>
                </a:solidFill>
                <a:latin typeface="Wingdings"/>
              </a:rPr>
              <a:t>§  </a:t>
            </a:r>
            <a:r>
              <a:rPr sz="1700" b="0">
                <a:solidFill>
                  <a:srgbClr val="2F3B49"/>
                </a:solidFill>
                <a:latin typeface="Montserrat"/>
              </a:rPr>
              <a:t>Regime B – wintertime smog: CO, SO2, PM dominate; low wind speed suppresses dispersion.</a:t>
            </a:r>
          </a:p>
          <a:p>
            <a:pPr>
              <a:lnSpc>
                <a:spcPct val="105000"/>
              </a:lnSpc>
              <a:spcAft>
                <a:spcPts val="900"/>
              </a:spcAft>
            </a:pPr>
            <a:r>
              <a:rPr sz="1700">
                <a:solidFill>
                  <a:srgbClr val="0E7C7B"/>
                </a:solidFill>
                <a:latin typeface="Wingdings"/>
              </a:rPr>
              <a:t>§  </a:t>
            </a:r>
            <a:r>
              <a:rPr sz="1700" b="0">
                <a:solidFill>
                  <a:srgbClr val="2F3B49"/>
                </a:solidFill>
                <a:latin typeface="Montserrat"/>
              </a:rPr>
              <a:t>Regime C – comparatively clean air: favourable meteorology, weak pollutant pushes.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framework shows not only that these regimes exist, but which variable combinations define them.</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At the coarse level, temperature and dew point dominate — they differentiate broad atmospheric regimes.</a:t>
            </a:r>
          </a:p>
          <a:p>
            <a:pPr>
              <a:lnSpc>
                <a:spcPct val="105000"/>
              </a:lnSpc>
              <a:spcAft>
                <a:spcPts val="900"/>
              </a:spcAft>
            </a:pPr>
            <a:r>
              <a:rPr sz="1700">
                <a:solidFill>
                  <a:srgbClr val="0E7C7B"/>
                </a:solidFill>
                <a:latin typeface="Wingdings"/>
              </a:rPr>
              <a:t>§  </a:t>
            </a:r>
            <a:r>
              <a:rPr sz="1700" b="0">
                <a:solidFill>
                  <a:srgbClr val="2F3B49"/>
                </a:solidFill>
                <a:latin typeface="Montserrat"/>
              </a:rPr>
              <a:t>Within individual clusters, CO, SO2, PM10, wind speed, pressure, or ozone become more discriminative.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This change is NOT contradictory — it is exactly what a multi-level explanation should reveal.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story = regime selection. Cluster-level story = variation within a regime.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variable can be globally important yet locally uninformative within a sub-cluster.</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Wine: small, dense, chemically correlated. Beijing: large, noisy, temporally and meteorologically variable.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The same explanatory logic remains productive in both → not tied to one domain-specific peculiarity.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vs SHAP-based clustering literature: Beijing Silhouette ≈ 0.63 vs Gramegna &amp; Giudici credit-risk 0.37.</a:t>
            </a:r>
          </a:p>
          <a:p>
            <a:pPr lvl="1">
              <a:lnSpc>
                <a:spcPct val="105000"/>
              </a:lnSpc>
              <a:spcAft>
                <a:spcPts val="600"/>
              </a:spcAft>
            </a:pPr>
            <a:r>
              <a:rPr sz="1600">
                <a:solidFill>
                  <a:srgbClr val="0E7C7B"/>
                </a:solidFill>
                <a:latin typeface="Montserrat"/>
              </a:rPr>
              <a:t>–  </a:t>
            </a:r>
            <a:r>
              <a:rPr sz="1600" b="0">
                <a:solidFill>
                  <a:srgbClr val="2F3B49"/>
                </a:solidFill>
                <a:latin typeface="Montserrat"/>
              </a:rPr>
              <a:t>LIME comparator: weaker structural coherence, less stable local narratives for hierarchical reasoning.</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Achieved: scalable, multi-granular explanation without collapsing into a single flat summary; formal consistency argument; validation on a structurally different dataset.</a:t>
            </a:r>
          </a:p>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 still static clustering (despite temporal Beijing data); surrogate-based SHAP + representative-instance reporting compress variation; tabular only.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III — DyHuCoG: A Dynamic Hypergraph Cooperative Game</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5"/>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graph and hypergraph recommenders treat message importance as either uniform or attention-weighted, without a principled marginal-contribution account.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Diversity is often a secondary objective or a re-ranking heuristic.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Interpretability is added after prediction, not integrated into the learning objective.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formulate recommendation as a cooperative game; embed preference-aware Monte Carlo Shapley into message passing; improve ranking, coverage, and diversity jointly.</a:t>
            </a:r>
          </a:p>
        </p:txBody>
      </p:sp>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U ∪ I ∪ C (users, items, contexts).</a:t>
            </a:r>
          </a:p>
          <a:p>
            <a:pPr>
              <a:lnSpc>
                <a:spcPct val="105000"/>
              </a:lnSpc>
              <a:spcAft>
                <a:spcPts val="900"/>
              </a:spcAft>
            </a:pPr>
            <a:r>
              <a:rPr sz="1700">
                <a:solidFill>
                  <a:srgbClr val="0E7C7B"/>
                </a:solidFill>
                <a:latin typeface="Wingdings"/>
              </a:rPr>
              <a:t>§  </a:t>
            </a:r>
            <a:r>
              <a:rPr sz="1700" b="0">
                <a:solidFill>
                  <a:srgbClr val="2F3B49"/>
                </a:solidFill>
                <a:latin typeface="Montserrat"/>
              </a:rPr>
              <a:t>Hypergraph H = (V, E, W); V = U ∪ I ∪ C; W = dynamic edge weights from Shapley estimates.</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S ⊆ N represents entities participating in a recommendation episode.</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value v(S) measures the quality of the recommendation outcome achievable by S.</a:t>
            </a:r>
          </a:p>
          <a:p>
            <a:pPr>
              <a:lnSpc>
                <a:spcPct val="105000"/>
              </a:lnSpc>
              <a:spcAft>
                <a:spcPts val="900"/>
              </a:spcAft>
            </a:pPr>
            <a:r>
              <a:rPr sz="1700">
                <a:solidFill>
                  <a:srgbClr val="0E7C7B"/>
                </a:solidFill>
                <a:latin typeface="Wingdings"/>
              </a:rPr>
              <a:t>§  </a:t>
            </a:r>
            <a:r>
              <a:rPr sz="1700" b="0">
                <a:solidFill>
                  <a:srgbClr val="2F3B49"/>
                </a:solidFill>
                <a:latin typeface="Montserrat"/>
              </a:rPr>
              <a:t>Top-N task: produce a ranked list L_u balancing relevance, diversity, and contextual fit.</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v(S) = α · NDCG@20(S) + β · Diversity(S) + γ · ContextScore(S), with α + β + γ = 1.</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trade-off the recommender must satisfy is the trade-off from which attribution is computed — explanatory game and predictive objective are aligned by design.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Preference-weighted: v_pref(S) = v(S) + λ_pref · Σ_{(u,i)∈S} sim(u,i).</a:t>
            </a:r>
          </a:p>
          <a:p>
            <a:pPr lvl="1">
              <a:lnSpc>
                <a:spcPct val="105000"/>
              </a:lnSpc>
              <a:spcAft>
                <a:spcPts val="600"/>
              </a:spcAft>
            </a:pPr>
            <a:r>
              <a:rPr sz="1600">
                <a:solidFill>
                  <a:srgbClr val="0E7C7B"/>
                </a:solidFill>
                <a:latin typeface="Montserrat"/>
              </a:rPr>
              <a:t>–  </a:t>
            </a:r>
            <a:r>
              <a:rPr sz="1600" b="0">
                <a:solidFill>
                  <a:srgbClr val="2F3B49"/>
                </a:solidFill>
                <a:latin typeface="Montserrat"/>
              </a:rPr>
              <a:t>α = 0.60, β = 0.25, γ = 0.15; λ_pref = 0.20 — grid-searched, stable (&lt;1.5% variance in NDCG@20).</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Coalition evaluation scoped to the interaction episode (a few dozen players), not the full catalogue.</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Exact Shapley is combinatorial and infeasible for realistic systems.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Monte Carlo estimator: φ̂_j = (1/M) Σ_m [ v(S_m ∪ {j}) − v(S_m)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Preference-aware: φ̂_j^pref = (1/M) Σ_m [ v_pref(S_m ∪ {j}) − v_pref(S_m) ].</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Unbiased; variance = σ²/M → MSE decays O(1/M), absolute error O(1/√M).</a:t>
            </a:r>
          </a:p>
          <a:p>
            <a:pPr lvl="1">
              <a:lnSpc>
                <a:spcPct val="105000"/>
              </a:lnSpc>
              <a:spcAft>
                <a:spcPts val="600"/>
              </a:spcAft>
            </a:pPr>
            <a:r>
              <a:rPr sz="1600">
                <a:solidFill>
                  <a:srgbClr val="0E7C7B"/>
                </a:solidFill>
                <a:latin typeface="Montserrat"/>
              </a:rPr>
              <a:t>–  </a:t>
            </a:r>
            <a:r>
              <a:rPr sz="1600" b="1">
                <a:solidFill>
                  <a:srgbClr val="2F3B49"/>
                </a:solidFill>
                <a:latin typeface="Montserrat"/>
              </a:rPr>
              <a:t>M = 50 selected: MSE ≈ 1.4×10⁻⁵, ~99% accuracy on MovieLens-1M.</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Refreshed every 10 batches (~49 updates/epoch), smoothed by exponential moving average.</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Base propagation: e^(l+1) = σ( D^-1/2 A D^-1/2 e^(l)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Shapley-weighted: e_j^(l+1) = σ( W^(l) e_j^(l) + Σ_{k∈N(j)} w_jk e_k^(l)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Normalised weights: w_jk = φ̂_jk / Σ_{k'∈N(j)} φ̂_jk'.</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Clipped + exponentially smoothed before normalisation (stabilises sparse regimes).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Attention gate: a_ui = σ( W_a[ e_u, e_i, l_i ] ); y_ui = (1 + a_ui) ⟨e_u, e_i⟩.</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Context-aware score: f(u,i,c) = y_ui + λ_c ⟨g(c_ui), e_cui⟩.</a:t>
            </a:r>
          </a:p>
        </p:txBody>
      </p:sp>
      <p:pic>
        <p:nvPicPr>
          <p:cNvPr id="49" name="Picture 48" descr="c3_dyhucog.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1"/>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 = L_rec + λ_div L_div + λ_ctx L_ctx + λ_reg L_reg.</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L_rec – Bayesian Personalised Ranking (pairwise, implicit feedback).</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L_div – Intra-List Diversity regulariser: penalises redundant ranked lists.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L_ctx – Context alignment: match context embedding to context-node representation.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L_reg – L2 weight decay.</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learning objective and coalition value are aligned: DyHuCoG trains to optimise the same balance that later determines attribution.</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2633472"/>
                <a:gridCol w="1645919"/>
                <a:gridCol w="1810512"/>
                <a:gridCol w="1810512"/>
                <a:gridCol w="1810512"/>
                <a:gridCol w="181051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Model</a:t>
                      </a:r>
                    </a:p>
                  </a:txBody>
                  <a:tcPr anchor="ctr" marL="54864" marR="54864" marT="18288" marB="18288">
                    <a:solidFill>
                      <a:srgbClr val="0E7C7B"/>
                    </a:solidFill>
                  </a:tcPr>
                </a:tc>
                <a:tc>
                  <a:txBody>
                    <a:bodyPr/>
                    <a:lstStyle/>
                    <a:p>
                      <a:pPr algn="ctr"/>
                      <a:r>
                        <a:rPr sz="1200" b="1">
                          <a:solidFill>
                            <a:srgbClr val="FFFFFF"/>
                          </a:solidFill>
                          <a:latin typeface="Montserrat Medium"/>
                        </a:rPr>
                        <a:t>NDCG@20</a:t>
                      </a:r>
                    </a:p>
                  </a:txBody>
                  <a:tcPr anchor="ctr" marL="54864" marR="54864" marT="18288" marB="18288">
                    <a:solidFill>
                      <a:srgbClr val="0E7C7B"/>
                    </a:solidFill>
                  </a:tcPr>
                </a:tc>
                <a:tc>
                  <a:txBody>
                    <a:bodyPr/>
                    <a:lstStyle/>
                    <a:p>
                      <a:pPr algn="ctr"/>
                      <a:r>
                        <a:rPr sz="1200" b="1">
                          <a:solidFill>
                            <a:srgbClr val="FFFFFF"/>
                          </a:solidFill>
                          <a:latin typeface="Montserrat Medium"/>
                        </a:rPr>
                        <a:t>Recall@20</a:t>
                      </a:r>
                    </a:p>
                  </a:txBody>
                  <a:tcPr anchor="ctr" marL="54864" marR="54864" marT="18288" marB="18288">
                    <a:solidFill>
                      <a:srgbClr val="0E7C7B"/>
                    </a:solidFill>
                  </a:tcPr>
                </a:tc>
                <a:tc>
                  <a:txBody>
                    <a:bodyPr/>
                    <a:lstStyle/>
                    <a:p>
                      <a:pPr algn="ctr"/>
                      <a:r>
                        <a:rPr sz="1200" b="1">
                          <a:solidFill>
                            <a:srgbClr val="FFFFFF"/>
                          </a:solidFill>
                          <a:latin typeface="Montserrat Medium"/>
                        </a:rPr>
                        <a:t>Coverage</a:t>
                      </a:r>
                    </a:p>
                  </a:txBody>
                  <a:tcPr anchor="ctr" marL="54864" marR="54864" marT="18288" marB="18288">
                    <a:solidFill>
                      <a:srgbClr val="0E7C7B"/>
                    </a:solidFill>
                  </a:tcPr>
                </a:tc>
                <a:tc>
                  <a:txBody>
                    <a:bodyPr/>
                    <a:lstStyle/>
                    <a:p>
                      <a:pPr algn="ctr"/>
                      <a:r>
                        <a:rPr sz="1200" b="1">
                          <a:solidFill>
                            <a:srgbClr val="FFFFFF"/>
                          </a:solidFill>
                          <a:latin typeface="Montserrat Medium"/>
                        </a:rPr>
                        <a:t>Diversity</a:t>
                      </a:r>
                    </a:p>
                  </a:txBody>
                  <a:tcPr anchor="ctr" marL="54864" marR="54864" marT="18288" marB="18288">
                    <a:solidFill>
                      <a:srgbClr val="0E7C7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0.2528</a:t>
                      </a:r>
                    </a:p>
                  </a:txBody>
                  <a:tcPr anchor="ctr" marL="54864" marR="54864" marT="18288" marB="18288">
                    <a:solidFill>
                      <a:srgbClr val="FFFFFF"/>
                    </a:solidFill>
                  </a:tcPr>
                </a:tc>
                <a:tc>
                  <a:txBody>
                    <a:bodyPr/>
                    <a:lstStyle/>
                    <a:p>
                      <a:pPr algn="ctr"/>
                      <a:r>
                        <a:rPr sz="1200" b="0">
                          <a:solidFill>
                            <a:srgbClr val="2F3B49"/>
                          </a:solidFill>
                          <a:latin typeface="Montserrat"/>
                        </a:rPr>
                        <a:t>0.2098</a:t>
                      </a:r>
                    </a:p>
                  </a:txBody>
                  <a:tcPr anchor="ctr" marL="54864" marR="54864" marT="18288" marB="18288">
                    <a:solidFill>
                      <a:srgbClr val="FFFFFF"/>
                    </a:solidFill>
                  </a:tcPr>
                </a:tc>
                <a:tc>
                  <a:txBody>
                    <a:bodyPr/>
                    <a:lstStyle/>
                    <a:p>
                      <a:pPr algn="ctr"/>
                      <a:r>
                        <a:rPr sz="1200" b="0">
                          <a:solidFill>
                            <a:srgbClr val="2F3B49"/>
                          </a:solidFill>
                          <a:latin typeface="Montserrat"/>
                        </a:rPr>
                        <a:t>0.342</a:t>
                      </a:r>
                    </a:p>
                  </a:txBody>
                  <a:tcPr anchor="ctr" marL="54864" marR="54864" marT="18288" marB="18288">
                    <a:solidFill>
                      <a:srgbClr val="FFFFFF"/>
                    </a:solidFill>
                  </a:tcPr>
                </a:tc>
                <a:tc>
                  <a:txBody>
                    <a:bodyPr/>
                    <a:lstStyle/>
                    <a:p>
                      <a:pPr algn="ctr"/>
                      <a:r>
                        <a:rPr sz="1200" b="0">
                          <a:solidFill>
                            <a:srgbClr val="2F3B49"/>
                          </a:solidFill>
                          <a:latin typeface="Montserrat"/>
                        </a:rPr>
                        <a:t>0.461</a:t>
                      </a:r>
                    </a:p>
                  </a:txBody>
                  <a:tcPr anchor="ctr" marL="54864" marR="54864" marT="18288" marB="18288">
                    <a:solidFill>
                      <a:srgbClr val="FFFFFF"/>
                    </a:solidFill>
                  </a:tcPr>
                </a:tc>
              </a:tr>
              <a:tr h="713232">
                <a:tc>
                  <a:txBody>
                    <a:bodyPr/>
                    <a:lstStyle/>
                    <a:p>
                      <a:pPr algn="l"/>
                      <a:r>
                        <a:rPr sz="1200" b="1">
                          <a:solidFill>
                            <a:srgbClr val="FFFFFF"/>
                          </a:solidFill>
                          <a:latin typeface="Montserrat"/>
                        </a:rPr>
                        <a:t>MovieLens-1M</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0.2775</a:t>
                      </a:r>
                    </a:p>
                  </a:txBody>
                  <a:tcPr anchor="ctr" marL="54864" marR="54864" marT="18288" marB="18288">
                    <a:solidFill>
                      <a:srgbClr val="0A5F5E"/>
                    </a:solidFill>
                  </a:tcPr>
                </a:tc>
                <a:tc>
                  <a:txBody>
                    <a:bodyPr/>
                    <a:lstStyle/>
                    <a:p>
                      <a:pPr algn="ctr"/>
                      <a:r>
                        <a:rPr sz="1200" b="1">
                          <a:solidFill>
                            <a:srgbClr val="FFFFFF"/>
                          </a:solidFill>
                          <a:latin typeface="Montserrat"/>
                        </a:rPr>
                        <a:t>0.2362</a:t>
                      </a:r>
                    </a:p>
                  </a:txBody>
                  <a:tcPr anchor="ctr" marL="54864" marR="54864" marT="18288" marB="18288">
                    <a:solidFill>
                      <a:srgbClr val="0A5F5E"/>
                    </a:solidFill>
                  </a:tcPr>
                </a:tc>
                <a:tc>
                  <a:txBody>
                    <a:bodyPr/>
                    <a:lstStyle/>
                    <a:p>
                      <a:pPr algn="ctr"/>
                      <a:r>
                        <a:rPr sz="1200" b="1">
                          <a:solidFill>
                            <a:srgbClr val="FFFFFF"/>
                          </a:solidFill>
                          <a:latin typeface="Montserrat"/>
                        </a:rPr>
                        <a:t>0.397</a:t>
                      </a:r>
                    </a:p>
                  </a:txBody>
                  <a:tcPr anchor="ctr" marL="54864" marR="54864" marT="18288" marB="18288">
                    <a:solidFill>
                      <a:srgbClr val="0A5F5E"/>
                    </a:solidFill>
                  </a:tcPr>
                </a:tc>
                <a:tc>
                  <a:txBody>
                    <a:bodyPr/>
                    <a:lstStyle/>
                    <a:p>
                      <a:pPr algn="ctr"/>
                      <a:r>
                        <a:rPr sz="1200" b="1">
                          <a:solidFill>
                            <a:srgbClr val="FFFFFF"/>
                          </a:solidFill>
                          <a:latin typeface="Montserrat"/>
                        </a:rPr>
                        <a:t>0.516</a:t>
                      </a:r>
                    </a:p>
                  </a:txBody>
                  <a:tcPr anchor="ctr" marL="54864" marR="54864" marT="18288" marB="18288">
                    <a:solidFill>
                      <a:srgbClr val="0A5F5E"/>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0.0270</a:t>
                      </a:r>
                    </a:p>
                  </a:txBody>
                  <a:tcPr anchor="ctr" marL="54864" marR="54864" marT="18288" marB="18288">
                    <a:solidFill>
                      <a:srgbClr val="FFFFFF"/>
                    </a:solidFill>
                  </a:tcPr>
                </a:tc>
                <a:tc>
                  <a:txBody>
                    <a:bodyPr/>
                    <a:lstStyle/>
                    <a:p>
                      <a:pPr algn="ctr"/>
                      <a:r>
                        <a:rPr sz="1200" b="0">
                          <a:solidFill>
                            <a:srgbClr val="2F3B49"/>
                          </a:solidFill>
                          <a:latin typeface="Montserrat"/>
                        </a:rPr>
                        <a:t>0.0359</a:t>
                      </a:r>
                    </a:p>
                  </a:txBody>
                  <a:tcPr anchor="ctr" marL="54864" marR="54864" marT="18288" marB="18288">
                    <a:solidFill>
                      <a:srgbClr val="FFFFFF"/>
                    </a:solidFill>
                  </a:tcPr>
                </a:tc>
                <a:tc>
                  <a:txBody>
                    <a:bodyPr/>
                    <a:lstStyle/>
                    <a:p>
                      <a:pPr algn="ctr"/>
                      <a:r>
                        <a:rPr sz="1200" b="0">
                          <a:solidFill>
                            <a:srgbClr val="2F3B49"/>
                          </a:solidFill>
                          <a:latin typeface="Montserrat"/>
                        </a:rPr>
                        <a:t>0.259</a:t>
                      </a:r>
                    </a:p>
                  </a:txBody>
                  <a:tcPr anchor="ctr" marL="54864" marR="54864" marT="18288" marB="18288">
                    <a:solidFill>
                      <a:srgbClr val="FFFFFF"/>
                    </a:solidFill>
                  </a:tcPr>
                </a:tc>
                <a:tc>
                  <a:txBody>
                    <a:bodyPr/>
                    <a:lstStyle/>
                    <a:p>
                      <a:pPr algn="ctr"/>
                      <a:r>
                        <a:rPr sz="1200" b="0">
                          <a:solidFill>
                            <a:srgbClr val="2F3B49"/>
                          </a:solidFill>
                          <a:latin typeface="Montserrat"/>
                        </a:rPr>
                        <a:t>0.535</a:t>
                      </a:r>
                    </a:p>
                  </a:txBody>
                  <a:tcPr anchor="ctr" marL="54864" marR="54864" marT="18288" marB="18288">
                    <a:solidFill>
                      <a:srgbClr val="FFFFFF"/>
                    </a:solidFill>
                  </a:tcPr>
                </a:tc>
              </a:tr>
              <a:tr h="713232">
                <a:tc>
                  <a:txBody>
                    <a:bodyPr/>
                    <a:lstStyle/>
                    <a:p>
                      <a:pPr algn="l"/>
                      <a:r>
                        <a:rPr sz="1200" b="1">
                          <a:solidFill>
                            <a:srgbClr val="FFFFFF"/>
                          </a:solidFill>
                          <a:latin typeface="Montserrat"/>
                        </a:rPr>
                        <a:t>Amazon-Book</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0.0306</a:t>
                      </a:r>
                    </a:p>
                  </a:txBody>
                  <a:tcPr anchor="ctr" marL="54864" marR="54864" marT="18288" marB="18288">
                    <a:solidFill>
                      <a:srgbClr val="0A5F5E"/>
                    </a:solidFill>
                  </a:tcPr>
                </a:tc>
                <a:tc>
                  <a:txBody>
                    <a:bodyPr/>
                    <a:lstStyle/>
                    <a:p>
                      <a:pPr algn="ctr"/>
                      <a:r>
                        <a:rPr sz="1200" b="1">
                          <a:solidFill>
                            <a:srgbClr val="FFFFFF"/>
                          </a:solidFill>
                          <a:latin typeface="Montserrat"/>
                        </a:rPr>
                        <a:t>0.0417</a:t>
                      </a:r>
                    </a:p>
                  </a:txBody>
                  <a:tcPr anchor="ctr" marL="54864" marR="54864" marT="18288" marB="18288">
                    <a:solidFill>
                      <a:srgbClr val="0A5F5E"/>
                    </a:solidFill>
                  </a:tcPr>
                </a:tc>
                <a:tc>
                  <a:txBody>
                    <a:bodyPr/>
                    <a:lstStyle/>
                    <a:p>
                      <a:pPr algn="ctr"/>
                      <a:r>
                        <a:rPr sz="1200" b="1">
                          <a:solidFill>
                            <a:srgbClr val="FFFFFF"/>
                          </a:solidFill>
                          <a:latin typeface="Montserrat"/>
                        </a:rPr>
                        <a:t>0.336</a:t>
                      </a:r>
                    </a:p>
                  </a:txBody>
                  <a:tcPr anchor="ctr" marL="54864" marR="54864" marT="18288" marB="18288">
                    <a:solidFill>
                      <a:srgbClr val="0A5F5E"/>
                    </a:solidFill>
                  </a:tcPr>
                </a:tc>
                <a:tc>
                  <a:txBody>
                    <a:bodyPr/>
                    <a:lstStyle/>
                    <a:p>
                      <a:pPr algn="ctr"/>
                      <a:r>
                        <a:rPr sz="1200" b="1">
                          <a:solidFill>
                            <a:srgbClr val="FFFFFF"/>
                          </a:solidFill>
                          <a:latin typeface="Montserrat"/>
                        </a:rPr>
                        <a:t>0.602</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338558" cy="3291840"/>
        </p:xfrm>
        <a:graphic>
          <a:graphicData uri="http://schemas.openxmlformats.org/drawingml/2006/table">
            <a:tbl>
              <a:tblPr>
                <a:tableStyleId>{5C22544A-7EE6-4342-B048-85BDC9FD1C3A}</a:tableStyleId>
              </a:tblPr>
              <a:tblGrid>
                <a:gridCol w="4360984"/>
                <a:gridCol w="3488787"/>
                <a:gridCol w="3488787"/>
              </a:tblGrid>
              <a:tr h="658368">
                <a:tc>
                  <a:txBody>
                    <a:bodyPr/>
                    <a:lstStyle/>
                    <a:p>
                      <a:pPr algn="ctr"/>
                      <a:r>
                        <a:rPr sz="1200" b="1">
                          <a:solidFill>
                            <a:srgbClr val="FFFFFF"/>
                          </a:solidFill>
                          <a:latin typeface="Montserrat Medium"/>
                        </a:rPr>
                        <a:t>Metric</a:t>
                      </a:r>
                    </a:p>
                  </a:txBody>
                  <a:tcPr anchor="ctr" marL="54864" marR="54864" marT="18288" marB="18288">
                    <a:solidFill>
                      <a:srgbClr val="0E7C7B"/>
                    </a:solidFill>
                  </a:tcPr>
                </a:tc>
                <a:tc>
                  <a:txBody>
                    <a:bodyPr/>
                    <a:lstStyle/>
                    <a:p>
                      <a:pPr algn="ctr"/>
                      <a:r>
                        <a:rPr sz="1200" b="1">
                          <a:solidFill>
                            <a:srgbClr val="FFFFFF"/>
                          </a:solidFill>
                          <a:latin typeface="Montserrat Medium"/>
                        </a:rPr>
                        <a:t>MovieLens-1M</a:t>
                      </a:r>
                    </a:p>
                  </a:txBody>
                  <a:tcPr anchor="ctr" marL="54864" marR="54864" marT="18288" marB="18288">
                    <a:solidFill>
                      <a:srgbClr val="0E7C7B"/>
                    </a:solidFill>
                  </a:tcPr>
                </a:tc>
                <a:tc>
                  <a:txBody>
                    <a:bodyPr/>
                    <a:lstStyle/>
                    <a:p>
                      <a:pPr algn="ctr"/>
                      <a:r>
                        <a:rPr sz="1200" b="1">
                          <a:solidFill>
                            <a:srgbClr val="FFFFFF"/>
                          </a:solidFill>
                          <a:latin typeface="Montserrat Medium"/>
                        </a:rPr>
                        <a:t>Amazon-Book</a:t>
                      </a:r>
                    </a:p>
                  </a:txBody>
                  <a:tcPr anchor="ctr" marL="54864" marR="54864" marT="18288" marB="18288">
                    <a:solidFill>
                      <a:srgbClr val="0E7C7B"/>
                    </a:solidFill>
                  </a:tcPr>
                </a:tc>
              </a:tr>
              <a:tr h="658368">
                <a:tc>
                  <a:txBody>
                    <a:bodyPr/>
                    <a:lstStyle/>
                    <a:p>
                      <a:pPr algn="l"/>
                      <a:r>
                        <a:rPr sz="1200" b="0">
                          <a:solidFill>
                            <a:srgbClr val="2F3B49"/>
                          </a:solidFill>
                          <a:latin typeface="Montserrat"/>
                        </a:rPr>
                        <a:t>NDCG@20</a:t>
                      </a:r>
                    </a:p>
                  </a:txBody>
                  <a:tcPr anchor="ctr" marL="54864" marR="54864" marT="18288" marB="18288">
                    <a:solidFill>
                      <a:srgbClr val="FFFFFF"/>
                    </a:solidFill>
                  </a:tcPr>
                </a:tc>
                <a:tc>
                  <a:txBody>
                    <a:bodyPr/>
                    <a:lstStyle/>
                    <a:p>
                      <a:pPr algn="ctr"/>
                      <a:r>
                        <a:rPr sz="1200" b="0">
                          <a:solidFill>
                            <a:srgbClr val="2F3B49"/>
                          </a:solidFill>
                          <a:latin typeface="Montserrat"/>
                        </a:rPr>
                        <a:t>+9.77%</a:t>
                      </a:r>
                    </a:p>
                  </a:txBody>
                  <a:tcPr anchor="ctr" marL="54864" marR="54864" marT="18288" marB="18288">
                    <a:solidFill>
                      <a:srgbClr val="FFFFFF"/>
                    </a:solidFill>
                  </a:tcPr>
                </a:tc>
                <a:tc>
                  <a:txBody>
                    <a:bodyPr/>
                    <a:lstStyle/>
                    <a:p>
                      <a:pPr algn="ctr"/>
                      <a:r>
                        <a:rPr sz="1200" b="0">
                          <a:solidFill>
                            <a:srgbClr val="2F3B49"/>
                          </a:solidFill>
                          <a:latin typeface="Montserrat"/>
                        </a:rPr>
                        <a:t>+13.33%</a:t>
                      </a:r>
                    </a:p>
                  </a:txBody>
                  <a:tcPr anchor="ctr" marL="54864" marR="54864" marT="18288" marB="18288">
                    <a:solidFill>
                      <a:srgbClr val="FFFFFF"/>
                    </a:solidFill>
                  </a:tcPr>
                </a:tc>
              </a:tr>
              <a:tr h="658368">
                <a:tc>
                  <a:txBody>
                    <a:bodyPr/>
                    <a:lstStyle/>
                    <a:p>
                      <a:pPr algn="l"/>
                      <a:r>
                        <a:rPr sz="1200" b="0">
                          <a:solidFill>
                            <a:srgbClr val="2F3B49"/>
                          </a:solidFill>
                          <a:latin typeface="Montserrat"/>
                        </a:rPr>
                        <a:t>Recall@20</a:t>
                      </a:r>
                    </a:p>
                  </a:txBody>
                  <a:tcPr anchor="ctr" marL="54864" marR="54864" marT="18288" marB="18288">
                    <a:solidFill>
                      <a:srgbClr val="F0F4FB"/>
                    </a:solidFill>
                  </a:tcPr>
                </a:tc>
                <a:tc>
                  <a:txBody>
                    <a:bodyPr/>
                    <a:lstStyle/>
                    <a:p>
                      <a:pPr algn="ctr"/>
                      <a:r>
                        <a:rPr sz="1200" b="0">
                          <a:solidFill>
                            <a:srgbClr val="2F3B49"/>
                          </a:solidFill>
                          <a:latin typeface="Montserrat"/>
                        </a:rPr>
                        <a:t>+12.58%</a:t>
                      </a:r>
                    </a:p>
                  </a:txBody>
                  <a:tcPr anchor="ctr" marL="54864" marR="54864" marT="18288" marB="18288">
                    <a:solidFill>
                      <a:srgbClr val="F0F4FB"/>
                    </a:solidFill>
                  </a:tcPr>
                </a:tc>
                <a:tc>
                  <a:txBody>
                    <a:bodyPr/>
                    <a:lstStyle/>
                    <a:p>
                      <a:pPr algn="ctr"/>
                      <a:r>
                        <a:rPr sz="1200" b="0">
                          <a:solidFill>
                            <a:srgbClr val="2F3B49"/>
                          </a:solidFill>
                          <a:latin typeface="Montserrat"/>
                        </a:rPr>
                        <a:t>+16.16%</a:t>
                      </a:r>
                    </a:p>
                  </a:txBody>
                  <a:tcPr anchor="ctr" marL="54864" marR="54864" marT="18288" marB="18288">
                    <a:solidFill>
                      <a:srgbClr val="F0F4FB"/>
                    </a:solidFill>
                  </a:tcPr>
                </a:tc>
              </a:tr>
              <a:tr h="658368">
                <a:tc>
                  <a:txBody>
                    <a:bodyPr/>
                    <a:lstStyle/>
                    <a:p>
                      <a:pPr algn="l"/>
                      <a:r>
                        <a:rPr sz="1200" b="0">
                          <a:solidFill>
                            <a:srgbClr val="2F3B49"/>
                          </a:solidFill>
                          <a:latin typeface="Montserrat"/>
                        </a:rPr>
                        <a:t>Coverage</a:t>
                      </a:r>
                    </a:p>
                  </a:txBody>
                  <a:tcPr anchor="ctr" marL="54864" marR="54864" marT="18288" marB="18288">
                    <a:solidFill>
                      <a:srgbClr val="FFFFFF"/>
                    </a:solidFill>
                  </a:tcPr>
                </a:tc>
                <a:tc>
                  <a:txBody>
                    <a:bodyPr/>
                    <a:lstStyle/>
                    <a:p>
                      <a:pPr algn="ctr"/>
                      <a:r>
                        <a:rPr sz="1200" b="0">
                          <a:solidFill>
                            <a:srgbClr val="2F3B49"/>
                          </a:solidFill>
                          <a:latin typeface="Montserrat"/>
                        </a:rPr>
                        <a:t>+16.1%</a:t>
                      </a:r>
                    </a:p>
                  </a:txBody>
                  <a:tcPr anchor="ctr" marL="54864" marR="54864" marT="18288" marB="18288">
                    <a:solidFill>
                      <a:srgbClr val="FFFFFF"/>
                    </a:solidFill>
                  </a:tcPr>
                </a:tc>
                <a:tc>
                  <a:txBody>
                    <a:bodyPr/>
                    <a:lstStyle/>
                    <a:p>
                      <a:pPr algn="ctr"/>
                      <a:r>
                        <a:rPr sz="1200" b="0">
                          <a:solidFill>
                            <a:srgbClr val="2F3B49"/>
                          </a:solidFill>
                          <a:latin typeface="Montserrat"/>
                        </a:rPr>
                        <a:t>+29.7%</a:t>
                      </a:r>
                    </a:p>
                  </a:txBody>
                  <a:tcPr anchor="ctr" marL="54864" marR="54864" marT="18288" marB="18288">
                    <a:solidFill>
                      <a:srgbClr val="FFFFFF"/>
                    </a:solidFill>
                  </a:tcPr>
                </a:tc>
              </a:tr>
              <a:tr h="658368">
                <a:tc>
                  <a:txBody>
                    <a:bodyPr/>
                    <a:lstStyle/>
                    <a:p>
                      <a:pPr algn="l"/>
                      <a:r>
                        <a:rPr sz="1200" b="0">
                          <a:solidFill>
                            <a:srgbClr val="2F3B49"/>
                          </a:solidFill>
                          <a:latin typeface="Montserrat"/>
                        </a:rPr>
                        <a:t>Intra-List Diversity</a:t>
                      </a:r>
                    </a:p>
                  </a:txBody>
                  <a:tcPr anchor="ctr" marL="54864" marR="54864" marT="18288" marB="18288">
                    <a:solidFill>
                      <a:srgbClr val="F0F4FB"/>
                    </a:solidFill>
                  </a:tcPr>
                </a:tc>
                <a:tc>
                  <a:txBody>
                    <a:bodyPr/>
                    <a:lstStyle/>
                    <a:p>
                      <a:pPr algn="ctr"/>
                      <a:r>
                        <a:rPr sz="1200" b="0">
                          <a:solidFill>
                            <a:srgbClr val="2F3B49"/>
                          </a:solidFill>
                          <a:latin typeface="Montserrat"/>
                        </a:rPr>
                        <a:t>+11.9%</a:t>
                      </a:r>
                    </a:p>
                  </a:txBody>
                  <a:tcPr anchor="ctr" marL="54864" marR="54864" marT="18288" marB="18288">
                    <a:solidFill>
                      <a:srgbClr val="F0F4FB"/>
                    </a:solidFill>
                  </a:tcPr>
                </a:tc>
                <a:tc>
                  <a:txBody>
                    <a:bodyPr/>
                    <a:lstStyle/>
                    <a:p>
                      <a:pPr algn="ctr"/>
                      <a:r>
                        <a:rPr sz="1200" b="0">
                          <a:solidFill>
                            <a:srgbClr val="2F3B49"/>
                          </a:solidFill>
                          <a:latin typeface="Montserrat"/>
                        </a:rPr>
                        <a:t>+12.5%</a:t>
                      </a:r>
                    </a:p>
                  </a:txBody>
                  <a:tcPr anchor="ctr" marL="54864" marR="54864" marT="18288" marB="18288">
                    <a:solidFill>
                      <a:srgbClr val="F0F4FB"/>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MovieLens-1M: Coverage 0.342 → 0.397 (+16.1%); ILD 0.461 → 0.516 (+11.9%).</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Amazon-Book: Coverage 0.259 → 0.336 (+29.7%); ILD 0.535 → 0.602 (+12.5%).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Reduced filter-bubble effect and greater discovery opportunity — while NDCG/Recall also improve, so accuracy is not traded off for diversity.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30000" cy="3566157"/>
        </p:xfrm>
        <a:graphic>
          <a:graphicData uri="http://schemas.openxmlformats.org/drawingml/2006/table">
            <a:tbl>
              <a:tblPr>
                <a:tableStyleId>{5C22544A-7EE6-4342-B048-85BDC9FD1C3A}</a:tableStyleId>
              </a:tblPr>
              <a:tblGrid>
                <a:gridCol w="3429000"/>
                <a:gridCol w="2286000"/>
                <a:gridCol w="1714500"/>
                <a:gridCol w="2286000"/>
                <a:gridCol w="1714500"/>
              </a:tblGrid>
              <a:tr h="509451">
                <a:tc>
                  <a:txBody>
                    <a:bodyPr/>
                    <a:lstStyle/>
                    <a:p>
                      <a:pPr algn="ctr"/>
                      <a:r>
                        <a:rPr sz="1200" b="1">
                          <a:solidFill>
                            <a:srgbClr val="FFFFFF"/>
                          </a:solidFill>
                          <a:latin typeface="Montserrat Medium"/>
                        </a:rPr>
                        <a:t>Variant</a:t>
                      </a:r>
                    </a:p>
                  </a:txBody>
                  <a:tcPr anchor="ctr" marL="54864" marR="54864" marT="18288" marB="18288">
                    <a:solidFill>
                      <a:srgbClr val="0E7C7B"/>
                    </a:solidFill>
                  </a:tcPr>
                </a:tc>
                <a:tc>
                  <a:txBody>
                    <a:bodyPr/>
                    <a:lstStyle/>
                    <a:p>
                      <a:pPr algn="ctr"/>
                      <a:r>
                        <a:rPr sz="1200" b="1">
                          <a:solidFill>
                            <a:srgbClr val="FFFFFF"/>
                          </a:solidFill>
                          <a:latin typeface="Montserrat Medium"/>
                        </a:rPr>
                        <a:t>ML-1M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c>
                  <a:txBody>
                    <a:bodyPr/>
                    <a:lstStyle/>
                    <a:p>
                      <a:pPr algn="ctr"/>
                      <a:r>
                        <a:rPr sz="1200" b="1">
                          <a:solidFill>
                            <a:srgbClr val="FFFFFF"/>
                          </a:solidFill>
                          <a:latin typeface="Montserrat Medium"/>
                        </a:rPr>
                        <a:t>Amazon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r>
              <a:tr h="509451">
                <a:tc>
                  <a:txBody>
                    <a:bodyPr/>
                    <a:lstStyle/>
                    <a:p>
                      <a:pPr algn="l"/>
                      <a:r>
                        <a:rPr sz="1200" b="0">
                          <a:solidFill>
                            <a:srgbClr val="2F3B49"/>
                          </a:solidFill>
                          <a:latin typeface="Montserrat"/>
                        </a:rPr>
                        <a:t>Full DyHuCoG</a:t>
                      </a:r>
                    </a:p>
                  </a:txBody>
                  <a:tcPr anchor="ctr" marL="54864" marR="54864" marT="18288" marB="18288">
                    <a:solidFill>
                      <a:srgbClr val="FFFFFF"/>
                    </a:solidFill>
                  </a:tcPr>
                </a:tc>
                <a:tc>
                  <a:txBody>
                    <a:bodyPr/>
                    <a:lstStyle/>
                    <a:p>
                      <a:pPr algn="ctr"/>
                      <a:r>
                        <a:rPr sz="1200" b="0">
                          <a:solidFill>
                            <a:srgbClr val="2F3B49"/>
                          </a:solidFill>
                          <a:latin typeface="Montserrat"/>
                        </a:rPr>
                        <a:t>0.2775</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c>
                  <a:txBody>
                    <a:bodyPr/>
                    <a:lstStyle/>
                    <a:p>
                      <a:pPr algn="ctr"/>
                      <a:r>
                        <a:rPr sz="1200" b="0">
                          <a:solidFill>
                            <a:srgbClr val="2F3B49"/>
                          </a:solidFill>
                          <a:latin typeface="Montserrat"/>
                        </a:rPr>
                        <a:t>0.0306</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r>
              <a:tr h="509451">
                <a:tc>
                  <a:txBody>
                    <a:bodyPr/>
                    <a:lstStyle/>
                    <a:p>
                      <a:pPr algn="l"/>
                      <a:r>
                        <a:rPr sz="1200" b="1">
                          <a:solidFill>
                            <a:srgbClr val="FFFFFF"/>
                          </a:solidFill>
                          <a:latin typeface="Montserrat"/>
                        </a:rPr>
                        <a:t>w/o Shapley Value</a:t>
                      </a:r>
                    </a:p>
                  </a:txBody>
                  <a:tcPr anchor="ctr" marL="54864" marR="54864" marT="18288" marB="18288">
                    <a:solidFill>
                      <a:srgbClr val="0A5F5E"/>
                    </a:solidFill>
                  </a:tcPr>
                </a:tc>
                <a:tc>
                  <a:txBody>
                    <a:bodyPr/>
                    <a:lstStyle/>
                    <a:p>
                      <a:pPr algn="ctr"/>
                      <a:r>
                        <a:rPr sz="1200" b="1">
                          <a:solidFill>
                            <a:srgbClr val="FFFFFF"/>
                          </a:solidFill>
                          <a:latin typeface="Montserrat"/>
                        </a:rPr>
                        <a:t>0.2647</a:t>
                      </a:r>
                    </a:p>
                  </a:txBody>
                  <a:tcPr anchor="ctr" marL="54864" marR="54864" marT="18288" marB="18288">
                    <a:solidFill>
                      <a:srgbClr val="0A5F5E"/>
                    </a:solidFill>
                  </a:tcPr>
                </a:tc>
                <a:tc>
                  <a:txBody>
                    <a:bodyPr/>
                    <a:lstStyle/>
                    <a:p>
                      <a:pPr algn="ctr"/>
                      <a:r>
                        <a:rPr sz="1200" b="1">
                          <a:solidFill>
                            <a:srgbClr val="FFFFFF"/>
                          </a:solidFill>
                          <a:latin typeface="Montserrat"/>
                        </a:rPr>
                        <a:t>4.6%</a:t>
                      </a:r>
                    </a:p>
                  </a:txBody>
                  <a:tcPr anchor="ctr" marL="54864" marR="54864" marT="18288" marB="18288">
                    <a:solidFill>
                      <a:srgbClr val="0A5F5E"/>
                    </a:solidFill>
                  </a:tcPr>
                </a:tc>
                <a:tc>
                  <a:txBody>
                    <a:bodyPr/>
                    <a:lstStyle/>
                    <a:p>
                      <a:pPr algn="ctr"/>
                      <a:r>
                        <a:rPr sz="1200" b="1">
                          <a:solidFill>
                            <a:srgbClr val="FFFFFF"/>
                          </a:solidFill>
                          <a:latin typeface="Montserrat"/>
                        </a:rPr>
                        <a:t>0.0287</a:t>
                      </a:r>
                    </a:p>
                  </a:txBody>
                  <a:tcPr anchor="ctr" marL="54864" marR="54864" marT="18288" marB="18288">
                    <a:solidFill>
                      <a:srgbClr val="0A5F5E"/>
                    </a:solidFill>
                  </a:tcPr>
                </a:tc>
                <a:tc>
                  <a:txBody>
                    <a:bodyPr/>
                    <a:lstStyle/>
                    <a:p>
                      <a:pPr algn="ctr"/>
                      <a:r>
                        <a:rPr sz="1200" b="1">
                          <a:solidFill>
                            <a:srgbClr val="FFFFFF"/>
                          </a:solidFill>
                          <a:latin typeface="Montserrat"/>
                        </a:rPr>
                        <a:t>6.1%</a:t>
                      </a:r>
                    </a:p>
                  </a:txBody>
                  <a:tcPr anchor="ctr" marL="54864" marR="54864" marT="18288" marB="18288">
                    <a:solidFill>
                      <a:srgbClr val="0A5F5E"/>
                    </a:solidFill>
                  </a:tcPr>
                </a:tc>
              </a:tr>
              <a:tr h="509451">
                <a:tc>
                  <a:txBody>
                    <a:bodyPr/>
                    <a:lstStyle/>
                    <a:p>
                      <a:pPr algn="l"/>
                      <a:r>
                        <a:rPr sz="1200" b="0">
                          <a:solidFill>
                            <a:srgbClr val="2F3B49"/>
                          </a:solidFill>
                          <a:latin typeface="Montserrat"/>
                        </a:rPr>
                        <a:t>w/o Hypergraph</a:t>
                      </a:r>
                    </a:p>
                  </a:txBody>
                  <a:tcPr anchor="ctr" marL="54864" marR="54864" marT="18288" marB="18288">
                    <a:solidFill>
                      <a:srgbClr val="FFFFFF"/>
                    </a:solidFill>
                  </a:tcPr>
                </a:tc>
                <a:tc>
                  <a:txBody>
                    <a:bodyPr/>
                    <a:lstStyle/>
                    <a:p>
                      <a:pPr algn="ctr"/>
                      <a:r>
                        <a:rPr sz="1200" b="0">
                          <a:solidFill>
                            <a:srgbClr val="2F3B49"/>
                          </a:solidFill>
                          <a:latin typeface="Montserrat"/>
                        </a:rPr>
                        <a:t>0.2586</a:t>
                      </a:r>
                    </a:p>
                  </a:txBody>
                  <a:tcPr anchor="ctr" marL="54864" marR="54864" marT="18288" marB="18288">
                    <a:solidFill>
                      <a:srgbClr val="FFFFFF"/>
                    </a:solidFill>
                  </a:tcPr>
                </a:tc>
                <a:tc>
                  <a:txBody>
                    <a:bodyPr/>
                    <a:lstStyle/>
                    <a:p>
                      <a:pPr algn="ctr"/>
                      <a:r>
                        <a:rPr sz="1200" b="0">
                          <a:solidFill>
                            <a:srgbClr val="2F3B49"/>
                          </a:solidFill>
                          <a:latin typeface="Montserrat"/>
                        </a:rPr>
                        <a:t>6.8%</a:t>
                      </a:r>
                    </a:p>
                  </a:txBody>
                  <a:tcPr anchor="ctr" marL="54864" marR="54864" marT="18288" marB="18288">
                    <a:solidFill>
                      <a:srgbClr val="FFFFFF"/>
                    </a:solidFill>
                  </a:tcPr>
                </a:tc>
                <a:tc>
                  <a:txBody>
                    <a:bodyPr/>
                    <a:lstStyle/>
                    <a:p>
                      <a:pPr algn="ctr"/>
                      <a:r>
                        <a:rPr sz="1200" b="0">
                          <a:solidFill>
                            <a:srgbClr val="2F3B49"/>
                          </a:solidFill>
                          <a:latin typeface="Montserrat"/>
                        </a:rPr>
                        <a:t>0.0279</a:t>
                      </a:r>
                    </a:p>
                  </a:txBody>
                  <a:tcPr anchor="ctr" marL="54864" marR="54864" marT="18288" marB="18288">
                    <a:solidFill>
                      <a:srgbClr val="FFFFFF"/>
                    </a:solidFill>
                  </a:tcPr>
                </a:tc>
                <a:tc>
                  <a:txBody>
                    <a:bodyPr/>
                    <a:lstStyle/>
                    <a:p>
                      <a:pPr algn="ctr"/>
                      <a:r>
                        <a:rPr sz="1200" b="0">
                          <a:solidFill>
                            <a:srgbClr val="2F3B49"/>
                          </a:solidFill>
                          <a:latin typeface="Montserrat"/>
                        </a:rPr>
                        <a:t>8.9%</a:t>
                      </a:r>
                    </a:p>
                  </a:txBody>
                  <a:tcPr anchor="ctr" marL="54864" marR="54864" marT="18288" marB="18288">
                    <a:solidFill>
                      <a:srgbClr val="FFFFFF"/>
                    </a:solidFill>
                  </a:tcPr>
                </a:tc>
              </a:tr>
              <a:tr h="509451">
                <a:tc>
                  <a:txBody>
                    <a:bodyPr/>
                    <a:lstStyle/>
                    <a:p>
                      <a:pPr algn="l"/>
                      <a:r>
                        <a:rPr sz="1200" b="0">
                          <a:solidFill>
                            <a:srgbClr val="2F3B49"/>
                          </a:solidFill>
                          <a:latin typeface="Montserrat"/>
                        </a:rPr>
                        <a:t>w/o Attention</a:t>
                      </a:r>
                    </a:p>
                  </a:txBody>
                  <a:tcPr anchor="ctr" marL="54864" marR="54864" marT="18288" marB="18288">
                    <a:solidFill>
                      <a:srgbClr val="F0F4FB"/>
                    </a:solidFill>
                  </a:tcPr>
                </a:tc>
                <a:tc>
                  <a:txBody>
                    <a:bodyPr/>
                    <a:lstStyle/>
                    <a:p>
                      <a:pPr algn="ctr"/>
                      <a:r>
                        <a:rPr sz="1200" b="0">
                          <a:solidFill>
                            <a:srgbClr val="2F3B49"/>
                          </a:solidFill>
                          <a:latin typeface="Montserrat"/>
                        </a:rPr>
                        <a:t>0.2678</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c>
                  <a:txBody>
                    <a:bodyPr/>
                    <a:lstStyle/>
                    <a:p>
                      <a:pPr algn="ctr"/>
                      <a:r>
                        <a:rPr sz="1200" b="0">
                          <a:solidFill>
                            <a:srgbClr val="2F3B49"/>
                          </a:solidFill>
                          <a:latin typeface="Montserrat"/>
                        </a:rPr>
                        <a:t>0.0295</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r>
              <a:tr h="509451">
                <a:tc>
                  <a:txBody>
                    <a:bodyPr/>
                    <a:lstStyle/>
                    <a:p>
                      <a:pPr algn="l"/>
                      <a:r>
                        <a:rPr sz="1200" b="0">
                          <a:solidFill>
                            <a:srgbClr val="2F3B49"/>
                          </a:solidFill>
                          <a:latin typeface="Montserrat"/>
                        </a:rPr>
                        <a:t>w/o Context</a:t>
                      </a:r>
                    </a:p>
                  </a:txBody>
                  <a:tcPr anchor="ctr" marL="54864" marR="54864" marT="18288" marB="18288">
                    <a:solidFill>
                      <a:srgbClr val="FFFFFF"/>
                    </a:solidFill>
                  </a:tcPr>
                </a:tc>
                <a:tc>
                  <a:txBody>
                    <a:bodyPr/>
                    <a:lstStyle/>
                    <a:p>
                      <a:pPr algn="ctr"/>
                      <a:r>
                        <a:rPr sz="1200" b="0">
                          <a:solidFill>
                            <a:srgbClr val="2F3B49"/>
                          </a:solidFill>
                          <a:latin typeface="Montserrat"/>
                        </a:rPr>
                        <a:t>0.2547</a:t>
                      </a:r>
                    </a:p>
                  </a:txBody>
                  <a:tcPr anchor="ctr" marL="54864" marR="54864" marT="18288" marB="18288">
                    <a:solidFill>
                      <a:srgbClr val="FFFFFF"/>
                    </a:solidFill>
                  </a:tcPr>
                </a:tc>
                <a:tc>
                  <a:txBody>
                    <a:bodyPr/>
                    <a:lstStyle/>
                    <a:p>
                      <a:pPr algn="ctr"/>
                      <a:r>
                        <a:rPr sz="1200" b="0">
                          <a:solidFill>
                            <a:srgbClr val="2F3B49"/>
                          </a:solidFill>
                          <a:latin typeface="Montserrat"/>
                        </a:rPr>
                        <a:t>8.2%</a:t>
                      </a:r>
                    </a:p>
                  </a:txBody>
                  <a:tcPr anchor="ctr" marL="54864" marR="54864" marT="18288" marB="18288">
                    <a:solidFill>
                      <a:srgbClr val="FFFFFF"/>
                    </a:solidFill>
                  </a:tcPr>
                </a:tc>
                <a:tc>
                  <a:txBody>
                    <a:bodyPr/>
                    <a:lstStyle/>
                    <a:p>
                      <a:pPr algn="ctr"/>
                      <a:r>
                        <a:rPr sz="1200" b="0">
                          <a:solidFill>
                            <a:srgbClr val="2F3B49"/>
                          </a:solidFill>
                          <a:latin typeface="Montserrat"/>
                        </a:rPr>
                        <a:t>0.0272</a:t>
                      </a:r>
                    </a:p>
                  </a:txBody>
                  <a:tcPr anchor="ctr" marL="54864" marR="54864" marT="18288" marB="18288">
                    <a:solidFill>
                      <a:srgbClr val="FFFFFF"/>
                    </a:solidFill>
                  </a:tcPr>
                </a:tc>
                <a:tc>
                  <a:txBody>
                    <a:bodyPr/>
                    <a:lstStyle/>
                    <a:p>
                      <a:pPr algn="ctr"/>
                      <a:r>
                        <a:rPr sz="1200" b="0">
                          <a:solidFill>
                            <a:srgbClr val="2F3B49"/>
                          </a:solidFill>
                          <a:latin typeface="Montserrat"/>
                        </a:rPr>
                        <a:t>11.0%</a:t>
                      </a:r>
                    </a:p>
                  </a:txBody>
                  <a:tcPr anchor="ctr" marL="54864" marR="54864" marT="18288" marB="18288">
                    <a:solidFill>
                      <a:srgbClr val="FFFFFF"/>
                    </a:solidFill>
                  </a:tcPr>
                </a:tc>
              </a:tr>
              <a:tr h="509451">
                <a:tc>
                  <a:txBody>
                    <a:bodyPr/>
                    <a:lstStyle/>
                    <a:p>
                      <a:pPr algn="l"/>
                      <a:r>
                        <a:rPr sz="1200" b="1">
                          <a:solidFill>
                            <a:srgbClr val="FFFFFF"/>
                          </a:solidFill>
                          <a:latin typeface="Montserrat"/>
                        </a:rPr>
                        <a:t>w/o Diversity</a:t>
                      </a:r>
                    </a:p>
                  </a:txBody>
                  <a:tcPr anchor="ctr" marL="54864" marR="54864" marT="18288" marB="18288">
                    <a:solidFill>
                      <a:srgbClr val="0A5F5E"/>
                    </a:solidFill>
                  </a:tcPr>
                </a:tc>
                <a:tc>
                  <a:txBody>
                    <a:bodyPr/>
                    <a:lstStyle/>
                    <a:p>
                      <a:pPr algn="ctr"/>
                      <a:r>
                        <a:rPr sz="1200" b="1">
                          <a:solidFill>
                            <a:srgbClr val="FFFFFF"/>
                          </a:solidFill>
                          <a:latin typeface="Montserrat"/>
                        </a:rPr>
                        <a:t>0.2614</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c>
                  <a:txBody>
                    <a:bodyPr/>
                    <a:lstStyle/>
                    <a:p>
                      <a:pPr algn="ctr"/>
                      <a:r>
                        <a:rPr sz="1200" b="1">
                          <a:solidFill>
                            <a:srgbClr val="FFFFFF"/>
                          </a:solidFill>
                          <a:latin typeface="Montserrat"/>
                        </a:rPr>
                        <a:t>0.0288</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Training: DyHuCoG ~2000 s vs HPCF ~1125 s on MovieLens-1M (≈ 1.78×).</a:t>
            </a:r>
          </a:p>
          <a:p>
            <a:pPr>
              <a:lnSpc>
                <a:spcPct val="105000"/>
              </a:lnSpc>
              <a:spcAft>
                <a:spcPts val="900"/>
              </a:spcAft>
            </a:pPr>
            <a:r>
              <a:rPr sz="1700">
                <a:solidFill>
                  <a:srgbClr val="0E7C7B"/>
                </a:solidFill>
                <a:latin typeface="Wingdings"/>
              </a:rPr>
              <a:t>§  </a:t>
            </a:r>
            <a:r>
              <a:rPr sz="1700" b="0">
                <a:solidFill>
                  <a:srgbClr val="2F3B49"/>
                </a:solidFill>
                <a:latin typeface="Montserrat"/>
              </a:rPr>
              <a:t>Inference: 1.84 ms/query (ML-1M), 8.52 ms (Amazon) — suitable for real-time deployment.</a:t>
            </a:r>
          </a:p>
          <a:p>
            <a:pPr>
              <a:lnSpc>
                <a:spcPct val="105000"/>
              </a:lnSpc>
              <a:spcAft>
                <a:spcPts val="900"/>
              </a:spcAft>
            </a:pPr>
            <a:r>
              <a:rPr sz="1700">
                <a:solidFill>
                  <a:srgbClr val="0E7C7B"/>
                </a:solidFill>
                <a:latin typeface="Wingdings"/>
              </a:rPr>
              <a:t>§  </a:t>
            </a:r>
            <a:r>
              <a:rPr sz="1700" b="0">
                <a:solidFill>
                  <a:srgbClr val="2F3B49"/>
                </a:solidFill>
                <a:latin typeface="Montserrat"/>
              </a:rPr>
              <a:t>Memory: 4.4 vs 4.1 GB (ML-1M); 17.9 vs 16.8 GB (Amazon).</a:t>
            </a:r>
          </a:p>
          <a:p>
            <a:pPr>
              <a:lnSpc>
                <a:spcPct val="105000"/>
              </a:lnSpc>
              <a:spcAft>
                <a:spcPts val="900"/>
              </a:spcAft>
            </a:pPr>
            <a:r>
              <a:rPr sz="1700">
                <a:solidFill>
                  <a:srgbClr val="0E7C7B"/>
                </a:solidFill>
                <a:latin typeface="Wingdings"/>
              </a:rPr>
              <a:t>§  </a:t>
            </a:r>
            <a:r>
              <a:rPr sz="1700" b="0">
                <a:solidFill>
                  <a:srgbClr val="2F3B49"/>
                </a:solidFill>
                <a:latin typeface="Montserrat"/>
              </a:rPr>
              <a:t>Per-epoch cost: O((L+1)md) + O((M/f)m).</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 convergence: M=50 → MSE 1.4×10⁻⁵, ~99% accuracy; M=100 → MSE 3.5×10⁻⁶ (diminishing returns).</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Paired t-tests on per-user NDCG@20 (n = 6,040 users; df = 6,039).</a:t>
            </a:r>
          </a:p>
          <a:p>
            <a:pPr>
              <a:lnSpc>
                <a:spcPct val="105000"/>
              </a:lnSpc>
              <a:spcAft>
                <a:spcPts val="900"/>
              </a:spcAft>
            </a:pPr>
            <a:r>
              <a:rPr sz="1700">
                <a:solidFill>
                  <a:srgbClr val="0E7C7B"/>
                </a:solidFill>
                <a:latin typeface="Wingdings"/>
              </a:rPr>
              <a:t>§  </a:t>
            </a:r>
            <a:r>
              <a:rPr sz="1700" b="0">
                <a:solidFill>
                  <a:srgbClr val="2F3B49"/>
                </a:solidFill>
                <a:latin typeface="Montserrat"/>
              </a:rPr>
              <a:t>DyHuCoG outperforms every baseline with extremely small p-values after Holm–Bonferroni correction.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vs HPCF: t = 46.38, Cohen’s d_z = 1.3345, p = 1.81×10⁻²⁷⁰.</a:t>
            </a:r>
          </a:p>
          <a:p>
            <a:pPr lvl="1">
              <a:lnSpc>
                <a:spcPct val="105000"/>
              </a:lnSpc>
              <a:spcAft>
                <a:spcPts val="600"/>
              </a:spcAft>
            </a:pPr>
            <a:r>
              <a:rPr sz="1600">
                <a:solidFill>
                  <a:srgbClr val="0E7C7B"/>
                </a:solidFill>
                <a:latin typeface="Montserrat"/>
              </a:rPr>
              <a:t>–  </a:t>
            </a:r>
            <a:r>
              <a:rPr sz="1600" b="0">
                <a:solidFill>
                  <a:srgbClr val="2F3B49"/>
                </a:solidFill>
                <a:latin typeface="Montserrat"/>
              </a:rPr>
              <a:t>Wilcoxon signed-rank test also significant (p &lt; 0.001).</a:t>
            </a:r>
          </a:p>
          <a:p>
            <a:pPr lvl="1">
              <a:lnSpc>
                <a:spcPct val="105000"/>
              </a:lnSpc>
              <a:spcAft>
                <a:spcPts val="600"/>
              </a:spcAft>
            </a:pPr>
            <a:r>
              <a:rPr sz="1600">
                <a:solidFill>
                  <a:srgbClr val="0E7C7B"/>
                </a:solidFill>
                <a:latin typeface="Montserrat"/>
              </a:rPr>
              <a:t>–  </a:t>
            </a:r>
            <a:r>
              <a:rPr sz="1600" b="0">
                <a:solidFill>
                  <a:srgbClr val="2F3B49"/>
                </a:solidFill>
                <a:latin typeface="Montserrat"/>
              </a:rPr>
              <a:t>Effect sizes are large — improvements are substantively meaningful, not merely statistically visible.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Cold-start (5 or fewer interactions): NDCG@20 ≈ 0.061 (user) and 0.057 (item), improving over HPCF by ~10%.</a:t>
            </a:r>
          </a:p>
          <a:p>
            <a:pPr>
              <a:lnSpc>
                <a:spcPct val="105000"/>
              </a:lnSpc>
              <a:spcAft>
                <a:spcPts val="900"/>
              </a:spcAft>
            </a:pPr>
            <a:r>
              <a:rPr sz="1700">
                <a:solidFill>
                  <a:srgbClr val="0E7C7B"/>
                </a:solidFill>
                <a:latin typeface="Wingdings"/>
              </a:rPr>
              <a:t>§  </a:t>
            </a:r>
            <a:r>
              <a:rPr sz="1700" b="0">
                <a:solidFill>
                  <a:srgbClr val="2F3B49"/>
                </a:solidFill>
                <a:latin typeface="Montserrat"/>
              </a:rPr>
              <a:t>Cross-dataset: MovieLens +9.9%, Amazon +14.8%, Yelp2018 +11.8%.</a:t>
            </a:r>
          </a:p>
          <a:p>
            <a:pPr>
              <a:lnSpc>
                <a:spcPct val="105000"/>
              </a:lnSpc>
              <a:spcAft>
                <a:spcPts val="900"/>
              </a:spcAft>
            </a:pPr>
            <a:r>
              <a:rPr sz="1700">
                <a:solidFill>
                  <a:srgbClr val="0E7C7B"/>
                </a:solidFill>
                <a:latin typeface="Wingdings"/>
              </a:rPr>
              <a:t>§  </a:t>
            </a:r>
            <a:r>
              <a:rPr sz="1700" b="1">
                <a:solidFill>
                  <a:srgbClr val="2F3B49"/>
                </a:solidFill>
                <a:latin typeface="Montserrat Medium"/>
              </a:rPr>
              <a:t>Interpretability: a SHAP waterfall decomposes a recommendation into ranking, diversity, context and preference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Popularity bias: Shapley measures marginal utility, not raw frequency — weak but informative interactions retain influence.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Achieved: cooperative attribution used as an in-training signal — a stronger claim than the clustering chapters; the accuracy–diversity trade-off is not structurally fixed.</a:t>
            </a:r>
          </a:p>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 measurable computational overhead; depends on availability of meaningful context; MC Shapley could be improved by variance reduction; ablation is component-wise; baselines finalised through early 2026.</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Conclusion &amp; Perspectives</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8" cy="3566160"/>
        </p:xfrm>
        <a:graphic>
          <a:graphicData uri="http://schemas.openxmlformats.org/drawingml/2006/table">
            <a:tbl>
              <a:tblPr>
                <a:tableStyleId>{5C22544A-7EE6-4342-B048-85BDC9FD1C3A}</a:tableStyleId>
              </a:tblPr>
              <a:tblGrid>
                <a:gridCol w="1228953"/>
                <a:gridCol w="3226003"/>
                <a:gridCol w="3226003"/>
                <a:gridCol w="3840479"/>
              </a:tblGrid>
              <a:tr h="891540">
                <a:tc>
                  <a:txBody>
                    <a:bodyPr/>
                    <a:lstStyle/>
                    <a:p>
                      <a:pPr algn="ctr"/>
                      <a:r>
                        <a:rPr sz="1200" b="1">
                          <a:solidFill>
                            <a:srgbClr val="FFFFFF"/>
                          </a:solidFill>
                          <a:latin typeface="Montserrat Medium"/>
                        </a:rPr>
                        <a:t>Contribution</a:t>
                      </a:r>
                    </a:p>
                  </a:txBody>
                  <a:tcPr anchor="ctr" marL="54864" marR="54864" marT="18288" marB="18288">
                    <a:solidFill>
                      <a:srgbClr val="0E7C7B"/>
                    </a:solidFill>
                  </a:tcPr>
                </a:tc>
                <a:tc>
                  <a:txBody>
                    <a:bodyPr/>
                    <a:lstStyle/>
                    <a:p>
                      <a:pPr algn="ctr"/>
                      <a:r>
                        <a:rPr sz="1200" b="1">
                          <a:solidFill>
                            <a:srgbClr val="FFFFFF"/>
                          </a:solidFill>
                          <a:latin typeface="Montserrat Medium"/>
                        </a:rPr>
                        <a:t>Main idea</a:t>
                      </a:r>
                    </a:p>
                  </a:txBody>
                  <a:tcPr anchor="ctr" marL="54864" marR="54864" marT="18288" marB="18288">
                    <a:solidFill>
                      <a:srgbClr val="0E7C7B"/>
                    </a:solidFill>
                  </a:tcPr>
                </a:tc>
                <a:tc>
                  <a:txBody>
                    <a:bodyPr/>
                    <a:lstStyle/>
                    <a:p>
                      <a:pPr algn="ctr"/>
                      <a:r>
                        <a:rPr sz="1200" b="1">
                          <a:solidFill>
                            <a:srgbClr val="FFFFFF"/>
                          </a:solidFill>
                          <a:latin typeface="Montserrat Medium"/>
                        </a:rPr>
                        <a:t>Achievement</a:t>
                      </a:r>
                    </a:p>
                  </a:txBody>
                  <a:tcPr anchor="ctr" marL="54864" marR="54864" marT="18288" marB="18288">
                    <a:solidFill>
                      <a:srgbClr val="0E7C7B"/>
                    </a:solidFill>
                  </a:tcPr>
                </a:tc>
                <a:tc>
                  <a:txBody>
                    <a:bodyPr/>
                    <a:lstStyle/>
                    <a:p>
                      <a:pPr algn="ctr"/>
                      <a:r>
                        <a:rPr sz="1200" b="1">
                          <a:solidFill>
                            <a:srgbClr val="FFFFFF"/>
                          </a:solidFill>
                          <a:latin typeface="Montserrat Medium"/>
                        </a:rPr>
                        <a:t>Key finding</a:t>
                      </a:r>
                    </a:p>
                  </a:txBody>
                  <a:tcPr anchor="ctr" marL="54864" marR="54864" marT="18288" marB="18288">
                    <a:solidFill>
                      <a:srgbClr val="0E7C7B"/>
                    </a:solidFill>
                  </a:tcPr>
                </a:tc>
              </a:tr>
              <a:tr h="891540">
                <a:tc>
                  <a:txBody>
                    <a:bodyPr/>
                    <a:lstStyle/>
                    <a:p>
                      <a:pPr algn="l"/>
                      <a:r>
                        <a:rPr sz="1200" b="0">
                          <a:solidFill>
                            <a:srgbClr val="2F3B49"/>
                          </a:solidFill>
                          <a:latin typeface="Montserrat"/>
                        </a:rPr>
                        <a:t>C1</a:t>
                      </a:r>
                    </a:p>
                  </a:txBody>
                  <a:tcPr anchor="ctr" marL="54864" marR="54864" marT="18288" marB="18288">
                    <a:solidFill>
                      <a:srgbClr val="FFFFFF"/>
                    </a:solidFill>
                  </a:tcPr>
                </a:tc>
                <a:tc>
                  <a:txBody>
                    <a:bodyPr/>
                    <a:lstStyle/>
                    <a:p>
                      <a:pPr algn="ctr"/>
                      <a:r>
                        <a:rPr sz="1200" b="0">
                          <a:solidFill>
                            <a:srgbClr val="2F3B49"/>
                          </a:solidFill>
                          <a:latin typeface="Montserrat"/>
                        </a:rPr>
                        <a:t>Explain black-box clustering via Shapley</a:t>
                      </a:r>
                    </a:p>
                  </a:txBody>
                  <a:tcPr anchor="ctr" marL="54864" marR="54864" marT="18288" marB="18288">
                    <a:solidFill>
                      <a:srgbClr val="FFFFFF"/>
                    </a:solidFill>
                  </a:tcPr>
                </a:tc>
                <a:tc>
                  <a:txBody>
                    <a:bodyPr/>
                    <a:lstStyle/>
                    <a:p>
                      <a:pPr algn="ctr"/>
                      <a:r>
                        <a:rPr sz="1200" b="0">
                          <a:solidFill>
                            <a:srgbClr val="2F3B49"/>
                          </a:solidFill>
                          <a:latin typeface="Montserrat"/>
                        </a:rPr>
                        <a:t>PCA–KMeans–LightGBM–TreeSHAP pipeline</a:t>
                      </a:r>
                    </a:p>
                  </a:txBody>
                  <a:tcPr anchor="ctr" marL="54864" marR="54864" marT="18288" marB="18288">
                    <a:solidFill>
                      <a:srgbClr val="FFFFFF"/>
                    </a:solidFill>
                  </a:tcPr>
                </a:tc>
                <a:tc>
                  <a:txBody>
                    <a:bodyPr/>
                    <a:lstStyle/>
                    <a:p>
                      <a:pPr algn="ctr"/>
                      <a:r>
                        <a:rPr sz="1200" b="0">
                          <a:solidFill>
                            <a:srgbClr val="2F3B49"/>
                          </a:solidFill>
                          <a:latin typeface="Montserrat"/>
                        </a:rPr>
                        <a:t>Faithful, chemistry-consistent cluster attribution (wine)</a:t>
                      </a:r>
                    </a:p>
                  </a:txBody>
                  <a:tcPr anchor="ctr" marL="54864" marR="54864" marT="18288" marB="18288">
                    <a:solidFill>
                      <a:srgbClr val="FFFFFF"/>
                    </a:solidFill>
                  </a:tcPr>
                </a:tc>
              </a:tr>
              <a:tr h="891540">
                <a:tc>
                  <a:txBody>
                    <a:bodyPr/>
                    <a:lstStyle/>
                    <a:p>
                      <a:pPr algn="l"/>
                      <a:r>
                        <a:rPr sz="1200" b="0">
                          <a:solidFill>
                            <a:srgbClr val="2F3B49"/>
                          </a:solidFill>
                          <a:latin typeface="Montserrat"/>
                        </a:rPr>
                        <a:t>C2</a:t>
                      </a:r>
                    </a:p>
                  </a:txBody>
                  <a:tcPr anchor="ctr" marL="54864" marR="54864" marT="18288" marB="18288">
                    <a:solidFill>
                      <a:srgbClr val="F0F4FB"/>
                    </a:solidFill>
                  </a:tcPr>
                </a:tc>
                <a:tc>
                  <a:txBody>
                    <a:bodyPr/>
                    <a:lstStyle/>
                    <a:p>
                      <a:pPr algn="ctr"/>
                      <a:r>
                        <a:rPr sz="1200" b="0">
                          <a:solidFill>
                            <a:srgbClr val="2F3B49"/>
                          </a:solidFill>
                          <a:latin typeface="Montserrat"/>
                        </a:rPr>
                        <a:t>Multi-level, large-scale clustering XAI</a:t>
                      </a:r>
                    </a:p>
                  </a:txBody>
                  <a:tcPr anchor="ctr" marL="54864" marR="54864" marT="18288" marB="18288">
                    <a:solidFill>
                      <a:srgbClr val="F0F4FB"/>
                    </a:solidFill>
                  </a:tcPr>
                </a:tc>
                <a:tc>
                  <a:txBody>
                    <a:bodyPr/>
                    <a:lstStyle/>
                    <a:p>
                      <a:pPr algn="ctr"/>
                      <a:r>
                        <a:rPr sz="1200" b="0">
                          <a:solidFill>
                            <a:srgbClr val="2F3B49"/>
                          </a:solidFill>
                          <a:latin typeface="Montserrat"/>
                        </a:rPr>
                        <a:t>Cross-level SHAP aggregation + Prop. 6.1</a:t>
                      </a:r>
                    </a:p>
                  </a:txBody>
                  <a:tcPr anchor="ctr" marL="54864" marR="54864" marT="18288" marB="18288">
                    <a:solidFill>
                      <a:srgbClr val="F0F4FB"/>
                    </a:solidFill>
                  </a:tcPr>
                </a:tc>
                <a:tc>
                  <a:txBody>
                    <a:bodyPr/>
                    <a:lstStyle/>
                    <a:p>
                      <a:pPr algn="ctr"/>
                      <a:r>
                        <a:rPr sz="1200" b="0">
                          <a:solidFill>
                            <a:srgbClr val="2F3B49"/>
                          </a:solidFill>
                          <a:latin typeface="Montserrat"/>
                        </a:rPr>
                        <a:t>Coherent under hierarchy; interprets differences</a:t>
                      </a:r>
                    </a:p>
                  </a:txBody>
                  <a:tcPr anchor="ctr" marL="54864" marR="54864" marT="18288" marB="18288">
                    <a:solidFill>
                      <a:srgbClr val="F0F4FB"/>
                    </a:solidFill>
                  </a:tcPr>
                </a:tc>
              </a:tr>
              <a:tr h="891540">
                <a:tc>
                  <a:txBody>
                    <a:bodyPr/>
                    <a:lstStyle/>
                    <a:p>
                      <a:pPr algn="l"/>
                      <a:r>
                        <a:rPr sz="1200" b="0">
                          <a:solidFill>
                            <a:srgbClr val="2F3B49"/>
                          </a:solidFill>
                          <a:latin typeface="Montserrat"/>
                        </a:rPr>
                        <a:t>C3</a:t>
                      </a:r>
                    </a:p>
                  </a:txBody>
                  <a:tcPr anchor="ctr" marL="54864" marR="54864" marT="18288" marB="18288">
                    <a:solidFill>
                      <a:srgbClr val="FFFFFF"/>
                    </a:solidFill>
                  </a:tcPr>
                </a:tc>
                <a:tc>
                  <a:txBody>
                    <a:bodyPr/>
                    <a:lstStyle/>
                    <a:p>
                      <a:pPr algn="ctr"/>
                      <a:r>
                        <a:rPr sz="1200" b="0">
                          <a:solidFill>
                            <a:srgbClr val="2F3B49"/>
                          </a:solidFill>
                          <a:latin typeface="Montserrat"/>
                        </a:rPr>
                        <a:t>DyHuCoG hypergraph cooperative game</a:t>
                      </a:r>
                    </a:p>
                  </a:txBody>
                  <a:tcPr anchor="ctr" marL="54864" marR="54864" marT="18288" marB="18288">
                    <a:solidFill>
                      <a:srgbClr val="FFFFFF"/>
                    </a:solidFill>
                  </a:tcPr>
                </a:tc>
                <a:tc>
                  <a:txBody>
                    <a:bodyPr/>
                    <a:lstStyle/>
                    <a:p>
                      <a:pPr algn="ctr"/>
                      <a:r>
                        <a:rPr sz="1200" b="0">
                          <a:solidFill>
                            <a:srgbClr val="2F3B49"/>
                          </a:solidFill>
                          <a:latin typeface="Montserrat"/>
                        </a:rPr>
                        <a:t>Preference-aware Shapley as in-training signal</a:t>
                      </a:r>
                    </a:p>
                  </a:txBody>
                  <a:tcPr anchor="ctr" marL="54864" marR="54864" marT="18288" marB="18288">
                    <a:solidFill>
                      <a:srgbClr val="FFFFFF"/>
                    </a:solidFill>
                  </a:tcPr>
                </a:tc>
                <a:tc>
                  <a:txBody>
                    <a:bodyPr/>
                    <a:lstStyle/>
                    <a:p>
                      <a:pPr algn="ctr"/>
                      <a:r>
                        <a:rPr sz="1200" b="0">
                          <a:solidFill>
                            <a:srgbClr val="2F3B49"/>
                          </a:solidFill>
                          <a:latin typeface="Montserrat"/>
                        </a:rPr>
                        <a:t>Accuracy + coverage + diversity improve together</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7" cy="3566160"/>
        </p:xfrm>
        <a:graphic>
          <a:graphicData uri="http://schemas.openxmlformats.org/drawingml/2006/table">
            <a:tbl>
              <a:tblPr>
                <a:tableStyleId>{5C22544A-7EE6-4342-B048-85BDC9FD1C3A}</a:tableStyleId>
              </a:tblPr>
              <a:tblGrid>
                <a:gridCol w="907199"/>
                <a:gridCol w="5896799"/>
                <a:gridCol w="2903040"/>
                <a:gridCol w="1814399"/>
              </a:tblGrid>
              <a:tr h="891540">
                <a:tc>
                  <a:txBody>
                    <a:bodyPr/>
                    <a:lstStyle/>
                    <a:p>
                      <a:pPr algn="ctr"/>
                      <a:r>
                        <a:rPr sz="1200" b="1">
                          <a:solidFill>
                            <a:srgbClr val="FFFFFF"/>
                          </a:solidFill>
                          <a:latin typeface="Montserrat Medium"/>
                        </a:rPr>
                        <a:t>No.</a:t>
                      </a:r>
                    </a:p>
                  </a:txBody>
                  <a:tcPr anchor="ctr" marL="54864" marR="54864" marT="18288" marB="18288">
                    <a:solidFill>
                      <a:srgbClr val="0E7C7B"/>
                    </a:solidFill>
                  </a:tcPr>
                </a:tc>
                <a:tc>
                  <a:txBody>
                    <a:bodyPr/>
                    <a:lstStyle/>
                    <a:p>
                      <a:pPr algn="ctr"/>
                      <a:r>
                        <a:rPr sz="1200" b="1">
                          <a:solidFill>
                            <a:srgbClr val="FFFFFF"/>
                          </a:solidFill>
                          <a:latin typeface="Montserrat Medium"/>
                        </a:rPr>
                        <a:t>Title</a:t>
                      </a:r>
                    </a:p>
                  </a:txBody>
                  <a:tcPr anchor="ctr" marL="54864" marR="54864" marT="18288" marB="18288">
                    <a:solidFill>
                      <a:srgbClr val="0E7C7B"/>
                    </a:solidFill>
                  </a:tcPr>
                </a:tc>
                <a:tc>
                  <a:txBody>
                    <a:bodyPr/>
                    <a:lstStyle/>
                    <a:p>
                      <a:pPr algn="ctr"/>
                      <a:r>
                        <a:rPr sz="1200" b="1">
                          <a:solidFill>
                            <a:srgbClr val="FFFFFF"/>
                          </a:solidFill>
                          <a:latin typeface="Montserrat Medium"/>
                        </a:rPr>
                        <a:t>Venue</a:t>
                      </a:r>
                    </a:p>
                  </a:txBody>
                  <a:tcPr anchor="ctr" marL="54864" marR="54864" marT="18288" marB="18288">
                    <a:solidFill>
                      <a:srgbClr val="0E7C7B"/>
                    </a:solidFill>
                  </a:tcPr>
                </a:tc>
                <a:tc>
                  <a:txBody>
                    <a:bodyPr/>
                    <a:lstStyle/>
                    <a:p>
                      <a:pPr algn="ctr"/>
                      <a:r>
                        <a:rPr sz="1200" b="1">
                          <a:solidFill>
                            <a:srgbClr val="FFFFFF"/>
                          </a:solidFill>
                          <a:latin typeface="Montserrat Medium"/>
                        </a:rPr>
                        <a:t>Status</a:t>
                      </a:r>
                    </a:p>
                  </a:txBody>
                  <a:tcPr anchor="ctr" marL="54864" marR="54864" marT="18288" marB="18288">
                    <a:solidFill>
                      <a:srgbClr val="0E7C7B"/>
                    </a:solidFill>
                  </a:tcPr>
                </a:tc>
              </a:tr>
              <a:tr h="891540">
                <a:tc>
                  <a:txBody>
                    <a:bodyPr/>
                    <a:lstStyle/>
                    <a:p>
                      <a:pPr algn="l"/>
                      <a:r>
                        <a:rPr sz="1200" b="0">
                          <a:solidFill>
                            <a:srgbClr val="2F3B49"/>
                          </a:solidFill>
                          <a:latin typeface="Montserrat"/>
                        </a:rPr>
                        <a:t>I</a:t>
                      </a:r>
                    </a:p>
                  </a:txBody>
                  <a:tcPr anchor="ctr" marL="54864" marR="54864" marT="18288" marB="18288">
                    <a:solidFill>
                      <a:srgbClr val="FFFFFF"/>
                    </a:solidFill>
                  </a:tcPr>
                </a:tc>
                <a:tc>
                  <a:txBody>
                    <a:bodyPr/>
                    <a:lstStyle/>
                    <a:p>
                      <a:pPr algn="ctr"/>
                      <a:r>
                        <a:rPr sz="1200" b="0">
                          <a:solidFill>
                            <a:srgbClr val="2F3B49"/>
                          </a:solidFill>
                          <a:latin typeface="Montserrat"/>
                        </a:rPr>
                        <a:t>Shapley Values for Explaining the Black Box Nature of ML Model Clustering</a:t>
                      </a:r>
                    </a:p>
                  </a:txBody>
                  <a:tcPr anchor="ctr" marL="54864" marR="54864" marT="18288" marB="18288">
                    <a:solidFill>
                      <a:srgbClr val="FFFFFF"/>
                    </a:solidFill>
                  </a:tcPr>
                </a:tc>
                <a:tc>
                  <a:txBody>
                    <a:bodyPr/>
                    <a:lstStyle/>
                    <a:p>
                      <a:pPr algn="ctr"/>
                      <a:r>
                        <a:rPr sz="1200" b="0">
                          <a:solidFill>
                            <a:srgbClr val="2F3B49"/>
                          </a:solidFill>
                          <a:latin typeface="Montserrat"/>
                        </a:rPr>
                        <a:t>Procedia Computer Science 220, 806–811</a:t>
                      </a:r>
                    </a:p>
                  </a:txBody>
                  <a:tcPr anchor="ctr" marL="54864" marR="54864" marT="18288" marB="18288">
                    <a:solidFill>
                      <a:srgbClr val="FFFFFF"/>
                    </a:solidFill>
                  </a:tcPr>
                </a:tc>
                <a:tc>
                  <a:txBody>
                    <a:bodyPr/>
                    <a:lstStyle/>
                    <a:p>
                      <a:pPr algn="ctr"/>
                      <a:r>
                        <a:rPr sz="1200" b="0">
                          <a:solidFill>
                            <a:srgbClr val="2F3B49"/>
                          </a:solidFill>
                          <a:latin typeface="Montserrat"/>
                        </a:rPr>
                        <a:t>Published, 2023</a:t>
                      </a:r>
                    </a:p>
                  </a:txBody>
                  <a:tcPr anchor="ctr" marL="54864" marR="54864" marT="18288" marB="18288">
                    <a:solidFill>
                      <a:srgbClr val="FFFFFF"/>
                    </a:solidFill>
                  </a:tcPr>
                </a:tc>
              </a:tr>
              <a:tr h="891540">
                <a:tc>
                  <a:txBody>
                    <a:bodyPr/>
                    <a:lstStyle/>
                    <a:p>
                      <a:pPr algn="l"/>
                      <a:r>
                        <a:rPr sz="1200" b="0">
                          <a:solidFill>
                            <a:srgbClr val="2F3B49"/>
                          </a:solidFill>
                          <a:latin typeface="Montserrat"/>
                        </a:rPr>
                        <a:t>II</a:t>
                      </a:r>
                    </a:p>
                  </a:txBody>
                  <a:tcPr anchor="ctr" marL="54864" marR="54864" marT="18288" marB="18288">
                    <a:solidFill>
                      <a:srgbClr val="F0F4FB"/>
                    </a:solidFill>
                  </a:tcPr>
                </a:tc>
                <a:tc>
                  <a:txBody>
                    <a:bodyPr/>
                    <a:lstStyle/>
                    <a:p>
                      <a:pPr algn="ctr"/>
                      <a:r>
                        <a:rPr sz="1200" b="0">
                          <a:solidFill>
                            <a:srgbClr val="2F3B49"/>
                          </a:solidFill>
                          <a:latin typeface="Montserrat"/>
                        </a:rPr>
                        <a:t>Game Theory Meets Explainable AI: An Enhanced Approach to Understanding Black Box Models Through Shapley Values</a:t>
                      </a:r>
                    </a:p>
                  </a:txBody>
                  <a:tcPr anchor="ctr" marL="54864" marR="54864" marT="18288" marB="18288">
                    <a:solidFill>
                      <a:srgbClr val="F0F4FB"/>
                    </a:solidFill>
                  </a:tcPr>
                </a:tc>
                <a:tc>
                  <a:txBody>
                    <a:bodyPr/>
                    <a:lstStyle/>
                    <a:p>
                      <a:pPr algn="ctr"/>
                      <a:r>
                        <a:rPr sz="1200" b="0">
                          <a:solidFill>
                            <a:srgbClr val="2F3B49"/>
                          </a:solidFill>
                          <a:latin typeface="Montserrat"/>
                        </a:rPr>
                        <a:t>IJACSA 16(7), 716–725</a:t>
                      </a:r>
                    </a:p>
                  </a:txBody>
                  <a:tcPr anchor="ctr" marL="54864" marR="54864" marT="18288" marB="18288">
                    <a:solidFill>
                      <a:srgbClr val="F0F4FB"/>
                    </a:solidFill>
                  </a:tcPr>
                </a:tc>
                <a:tc>
                  <a:txBody>
                    <a:bodyPr/>
                    <a:lstStyle/>
                    <a:p>
                      <a:pPr algn="ctr"/>
                      <a:r>
                        <a:rPr sz="1200" b="0">
                          <a:solidFill>
                            <a:srgbClr val="2F3B49"/>
                          </a:solidFill>
                          <a:latin typeface="Montserrat"/>
                        </a:rPr>
                        <a:t>Published, 2025</a:t>
                      </a:r>
                    </a:p>
                  </a:txBody>
                  <a:tcPr anchor="ctr" marL="54864" marR="54864" marT="18288" marB="18288">
                    <a:solidFill>
                      <a:srgbClr val="F0F4FB"/>
                    </a:solidFill>
                  </a:tcPr>
                </a:tc>
              </a:tr>
              <a:tr h="891540">
                <a:tc>
                  <a:txBody>
                    <a:bodyPr/>
                    <a:lstStyle/>
                    <a:p>
                      <a:pPr algn="l"/>
                      <a:r>
                        <a:rPr sz="1200" b="0">
                          <a:solidFill>
                            <a:srgbClr val="2F3B49"/>
                          </a:solidFill>
                          <a:latin typeface="Montserrat"/>
                        </a:rPr>
                        <a:t>III</a:t>
                      </a:r>
                    </a:p>
                  </a:txBody>
                  <a:tcPr anchor="ctr" marL="54864" marR="54864" marT="18288" marB="18288">
                    <a:solidFill>
                      <a:srgbClr val="FFFFFF"/>
                    </a:solidFill>
                  </a:tcPr>
                </a:tc>
                <a:tc>
                  <a:txBody>
                    <a:bodyPr/>
                    <a:lstStyle/>
                    <a:p>
                      <a:pPr algn="ctr"/>
                      <a:r>
                        <a:rPr sz="1200" b="0">
                          <a:solidFill>
                            <a:srgbClr val="2F3B49"/>
                          </a:solidFill>
                          <a:latin typeface="Montserrat"/>
                        </a:rPr>
                        <a:t>DyHuCoG: A Dynamic Hypergraph Cooperative Game for Preference-aware Recommendation</a:t>
                      </a:r>
                    </a:p>
                  </a:txBody>
                  <a:tcPr anchor="ctr" marL="54864" marR="54864" marT="18288" marB="18288">
                    <a:solidFill>
                      <a:srgbClr val="FFFFFF"/>
                    </a:solidFill>
                  </a:tcPr>
                </a:tc>
                <a:tc>
                  <a:txBody>
                    <a:bodyPr/>
                    <a:lstStyle/>
                    <a:p>
                      <a:pPr algn="ctr"/>
                      <a:r>
                        <a:rPr sz="1200" b="0">
                          <a:solidFill>
                            <a:srgbClr val="2F3B49"/>
                          </a:solidFill>
                          <a:latin typeface="Montserrat"/>
                        </a:rPr>
                        <a:t>IJIES 19(2), 887–902</a:t>
                      </a:r>
                    </a:p>
                  </a:txBody>
                  <a:tcPr anchor="ctr" marL="54864" marR="54864" marT="18288" marB="18288">
                    <a:solidFill>
                      <a:srgbClr val="FFFFFF"/>
                    </a:solidFill>
                  </a:tcPr>
                </a:tc>
                <a:tc>
                  <a:txBody>
                    <a:bodyPr/>
                    <a:lstStyle/>
                    <a:p>
                      <a:pPr algn="ctr"/>
                      <a:r>
                        <a:rPr sz="1200" b="0">
                          <a:solidFill>
                            <a:srgbClr val="2F3B49"/>
                          </a:solidFill>
                          <a:latin typeface="Montserrat"/>
                        </a:rPr>
                        <a:t>Published, 2026</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Computational – exact Shapley is intractable; every contribution relies on approximation, surrogates, or restricted reporting.</a:t>
            </a:r>
          </a:p>
          <a:p>
            <a:pPr>
              <a:lnSpc>
                <a:spcPct val="105000"/>
              </a:lnSpc>
              <a:spcAft>
                <a:spcPts val="900"/>
              </a:spcAft>
            </a:pPr>
            <a:r>
              <a:rPr sz="1700">
                <a:solidFill>
                  <a:srgbClr val="0E7C7B"/>
                </a:solidFill>
                <a:latin typeface="Wingdings"/>
              </a:rPr>
              <a:t>§  </a:t>
            </a:r>
            <a:r>
              <a:rPr sz="1700" b="0">
                <a:solidFill>
                  <a:srgbClr val="2F3B49"/>
                </a:solidFill>
                <a:latin typeface="Montserrat"/>
              </a:rPr>
              <a:t>Methodological – clustering depends on surrogate fidelity; recommendation depends on stable approximate contributions and adequate context.</a:t>
            </a:r>
          </a:p>
          <a:p>
            <a:pPr>
              <a:lnSpc>
                <a:spcPct val="105000"/>
              </a:lnSpc>
              <a:spcAft>
                <a:spcPts val="900"/>
              </a:spcAft>
            </a:pPr>
            <a:r>
              <a:rPr sz="1700">
                <a:solidFill>
                  <a:srgbClr val="0E7C7B"/>
                </a:solidFill>
                <a:latin typeface="Wingdings"/>
              </a:rPr>
              <a:t>§  </a:t>
            </a:r>
            <a:r>
              <a:rPr sz="1700" b="0">
                <a:solidFill>
                  <a:srgbClr val="2F3B49"/>
                </a:solidFill>
                <a:latin typeface="Montserrat"/>
              </a:rPr>
              <a:t>Empirical – tabular clustering + benchmark recommendation; no multimodal, sequential, or online deployment; no dedicated human-subject actionability study.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Claim scope – a coherent and productive perspective, not one fully unified framework eliminating all tension.</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Scalable cooperative attribution – lower-variance Shapley, learned proposal distributions, adaptive refresh policies.</a:t>
            </a:r>
          </a:p>
          <a:p>
            <a:pPr>
              <a:lnSpc>
                <a:spcPct val="105000"/>
              </a:lnSpc>
              <a:spcAft>
                <a:spcPts val="900"/>
              </a:spcAft>
            </a:pPr>
            <a:r>
              <a:rPr sz="1700">
                <a:solidFill>
                  <a:srgbClr val="0E7C7B"/>
                </a:solidFill>
                <a:latin typeface="Wingdings"/>
              </a:rPr>
              <a:t>§  </a:t>
            </a:r>
            <a:r>
              <a:rPr sz="1700" b="0">
                <a:solidFill>
                  <a:srgbClr val="2F3B49"/>
                </a:solidFill>
                <a:latin typeface="Montserrat"/>
              </a:rPr>
              <a:t>Online / streaming recommendation – truly incremental settings with evolving graphs and delayed feedback.</a:t>
            </a:r>
          </a:p>
          <a:p>
            <a:pPr>
              <a:lnSpc>
                <a:spcPct val="105000"/>
              </a:lnSpc>
              <a:spcAft>
                <a:spcPts val="900"/>
              </a:spcAft>
            </a:pPr>
            <a:r>
              <a:rPr sz="1700">
                <a:solidFill>
                  <a:srgbClr val="0E7C7B"/>
                </a:solidFill>
                <a:latin typeface="Wingdings"/>
              </a:rPr>
              <a:t>§  </a:t>
            </a:r>
            <a:r>
              <a:rPr sz="1700" b="0">
                <a:solidFill>
                  <a:srgbClr val="2F3B49"/>
                </a:solidFill>
                <a:latin typeface="Montserrat"/>
              </a:rPr>
              <a:t>Richer human-centred evaluation – do explanations measurably improve analyst judgement, user trust, intervention quality, or perceived fairness?</a:t>
            </a:r>
          </a:p>
          <a:p>
            <a:pPr>
              <a:lnSpc>
                <a:spcPct val="105000"/>
              </a:lnSpc>
              <a:spcAft>
                <a:spcPts val="900"/>
              </a:spcAft>
            </a:pPr>
            <a:r>
              <a:rPr sz="1700">
                <a:solidFill>
                  <a:srgbClr val="0E7C7B"/>
                </a:solidFill>
                <a:latin typeface="Wingdings"/>
              </a:rPr>
              <a:t>§  </a:t>
            </a:r>
            <a:r>
              <a:rPr sz="1700" b="0">
                <a:solidFill>
                  <a:srgbClr val="2F3B49"/>
                </a:solidFill>
                <a:latin typeface="Montserrat"/>
              </a:rPr>
              <a:t>Broader trustworthy-AI evaluation – exposure fairness, transparency requirements, governance-oriented auditing.</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Thesis answer: cooperative game theory can function as a shared methodological perspective for actionable explanation across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Key outcomes: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as a common formal language for feature, interaction, and context importance allocation.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Faithful clustering explanation, hierarchical explanatory coherence, and contribution-aware recommendation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 as method, not commentary — from post-hoc description to in-training guidance.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Aligned with trustworthy-AI requirements (EU AI Act, OECD principles, GDPR).</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74264" y="2044758"/>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3600" dirty="0">
                <a:solidFill>
                  <a:schemeClr val="bg1"/>
                </a:solidFill>
                <a:latin typeface="Montserrat Medium" pitchFamily="50" charset="0"/>
              </a:rPr>
              <a:t>Questions &amp; Discussion</a:t>
            </a:r>
          </a:p>
          <a:p>
            <a:pPr algn="ctr"/>
            <a:r>
              <a:rPr lang="en-US" sz="2400" dirty="0">
                <a:solidFill>
                  <a:schemeClr val="bg1"/>
                </a:solidFill>
                <a:latin typeface="Montserrat" pitchFamily="2" charset="0"/>
              </a:rPr>
              <a:t>Thank you for your attention.</a:t>
            </a:r>
          </a:p>
          <a:p>
            <a:pPr algn="ctr"/>
            <a:r>
              <a:rPr lang="en-US" sz="2400" b="1" dirty="0">
                <a:solidFill>
                  <a:schemeClr val="bg1"/>
                </a:solidFill>
                <a:latin typeface="Montserrat" pitchFamily="2" charset="0"/>
              </a:rPr>
              <a:t>I welcome your questions and comments.</a:t>
            </a:r>
            <a:br>
              <a:rPr lang="en-US" sz="2400" dirty="0">
                <a:solidFill>
                  <a:schemeClr val="bg1"/>
                </a:solidFill>
              </a:rPr>
            </a:br>
            <a:endParaRPr lang="en-US" sz="2400" b="1" dirty="0">
              <a:solidFill>
                <a:schemeClr val="tx1"/>
              </a:solidFill>
              <a:latin typeface="Montserrat" pitchFamily="2" charset="0"/>
            </a:endParaRPr>
          </a:p>
        </p:txBody>
      </p:sp>
      <p:pic>
        <p:nvPicPr>
          <p:cNvPr id="29" name="Picture 28" descr="image.png"/>
          <p:cNvPicPr>
            <a:picLocks noChangeAspect="1"/>
          </p:cNvPicPr>
          <p:nvPr/>
        </p:nvPicPr>
        <p:blipFill>
          <a:blip r:embed="rId6"/>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4373</TotalTime>
  <Words>11871</Words>
  <Application>Microsoft Office PowerPoint</Application>
  <PresentationFormat>Widescreen</PresentationFormat>
  <Paragraphs>1718</Paragraphs>
  <Slides>80</Slides>
  <Notes>79</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80</vt:i4>
      </vt:variant>
    </vt:vector>
  </HeadingPairs>
  <TitlesOfParts>
    <vt:vector size="90" baseType="lpstr">
      <vt:lpstr>Agency FB</vt:lpstr>
      <vt:lpstr>Arial</vt:lpstr>
      <vt:lpstr>Calibri</vt:lpstr>
      <vt:lpstr>Calibri Light</vt:lpstr>
      <vt:lpstr>Cambria Math</vt:lpstr>
      <vt:lpstr>Consolas</vt:lpstr>
      <vt:lpstr>Montserrat</vt:lpstr>
      <vt:lpstr>Montserrat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Redwane Nesmaoui</dc:creator>
  <cp:lastModifiedBy>hp</cp:lastModifiedBy>
  <cp:revision>138</cp:revision>
  <dcterms:created xsi:type="dcterms:W3CDTF">2026-07-12T13:29:11Z</dcterms:created>
  <dcterms:modified xsi:type="dcterms:W3CDTF">2026-07-24T19:05:45Z</dcterms:modified>
</cp:coreProperties>
</file>