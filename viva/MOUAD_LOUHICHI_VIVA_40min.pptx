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71" r:id="rId25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  <p:sldId id="288" r:id="rId43"/>
    <p:sldId id="289" r:id="rId44"/>
    <p:sldId id="290" r:id="rId45"/>
    <p:sldId id="291" r:id="rId46"/>
    <p:sldId id="292" r:id="rId47"/>
    <p:sldId id="293" r:id="rId48"/>
    <p:sldId id="294" r:id="rId49"/>
    <p:sldId id="295" r:id="rId50"/>
    <p:sldId id="296" r:id="rId51"/>
    <p:sldId id="297" r:id="rId52"/>
    <p:sldId id="298" r:id="rId53"/>
    <p:sldId id="299" r:id="rId54"/>
    <p:sldId id="300" r:id="rId55"/>
    <p:sldId id="301" r:id="rId56"/>
    <p:sldId id="302" r:id="rId57"/>
    <p:sldId id="303" r:id="rId58"/>
    <p:sldId id="304" r:id="rId59"/>
    <p:sldId id="305" r:id="rId60"/>
    <p:sldId id="306" r:id="rId61"/>
    <p:sldId id="307" r:id="rId62"/>
    <p:sldId id="308" r:id="rId63"/>
    <p:sldId id="309" r:id="rId64"/>
    <p:sldId id="310" r:id="rId65"/>
    <p:sldId id="311" r:id="rId66"/>
    <p:sldId id="312" r:id="rId67"/>
    <p:sldId id="313" r:id="rId68"/>
    <p:sldId id="314" r:id="rId69"/>
    <p:sldId id="315" r:id="rId70"/>
    <p:sldId id="316" r:id="rId71"/>
    <p:sldId id="317" r:id="rId72"/>
    <p:sldId id="318" r:id="rId73"/>
    <p:sldId id="319" r:id="rId74"/>
    <p:sldId id="320" r:id="rId75"/>
    <p:sldId id="321" r:id="rId76"/>
    <p:sldId id="322" r:id="rId77"/>
    <p:sldId id="323" r:id="rId78"/>
    <p:sldId id="324" r:id="rId79"/>
    <p:sldId id="325" r:id="rId80"/>
    <p:sldId id="326" r:id="rId81"/>
    <p:sldId id="327" r:id="rId82"/>
    <p:sldId id="328" r:id="rId83"/>
    <p:sldId id="329" r:id="rId84"/>
    <p:sldId id="330" r:id="rId85"/>
    <p:sldId id="331" r:id="rId86"/>
    <p:sldId id="332" r:id="rId87"/>
    <p:sldId id="333" r:id="rId88"/>
    <p:sldId id="334" r:id="rId89"/>
    <p:sldId id="335" r:id="rId90"/>
    <p:sldId id="336" r:id="rId91"/>
    <p:sldId id="337" r:id="rId92"/>
    <p:sldId id="338" r:id="rId93"/>
    <p:sldId id="339" r:id="rId94"/>
    <p:sldId id="340" r:id="rId95"/>
    <p:sldId id="341" r:id="rId96"/>
    <p:sldId id="342" r:id="rId97"/>
    <p:sldId id="343" r:id="rId98"/>
    <p:sldId id="344" r:id="rId99"/>
    <p:sldId id="345" r:id="rId100"/>
  </p:sldIdLst>
  <p:sldSz cx="18288000" cy="10287000"/>
  <p:notesSz cx="6858000" cy="9144000"/>
  <p:embeddedFontLst>
    <p:embeddedFont>
      <p:font typeface="Roca Two Bold" charset="1" panose="00000800000000000000"/>
      <p:regular r:id="rId21"/>
    </p:embeddedFont>
    <p:embeddedFont>
      <p:font typeface="Nunito Semi-Bold" charset="1" panose="00000000000000000000"/>
      <p:regular r:id="rId22"/>
    </p:embeddedFont>
    <p:embeddedFont>
      <p:font typeface="Nunito Bold" charset="1" panose="00000000000000000000"/>
      <p:regular r:id="rId23"/>
    </p:embeddedFont>
    <p:embeddedFont>
      <p:font typeface="Nunito Ultra-Bold" charset="1" panose="0000000000000000000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21" Type="http://schemas.openxmlformats.org/officeDocument/2006/relationships/font" Target="fonts/font21.fntdata"/><Relationship Id="rId22" Type="http://schemas.openxmlformats.org/officeDocument/2006/relationships/font" Target="fonts/font22.fntdata"/><Relationship Id="rId23" Type="http://schemas.openxmlformats.org/officeDocument/2006/relationships/font" Target="fonts/font23.fntdata"/><Relationship Id="rId24" Type="http://schemas.openxmlformats.org/officeDocument/2006/relationships/font" Target="fonts/font24.fntdata"/><Relationship Id="rId25" Type="http://schemas.openxmlformats.org/officeDocument/2006/relationships/slide" Target="slides/slide16.xml"/><Relationship Id="rId26" Type="http://schemas.openxmlformats.org/officeDocument/2006/relationships/notesMaster" Target="notesMasters/notesMaster1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70" Type="http://schemas.openxmlformats.org/officeDocument/2006/relationships/slide" Target="slides/slide60.xml"/><Relationship Id="rId71" Type="http://schemas.openxmlformats.org/officeDocument/2006/relationships/slide" Target="slides/slide61.xml"/><Relationship Id="rId72" Type="http://schemas.openxmlformats.org/officeDocument/2006/relationships/slide" Target="slides/slide62.xml"/><Relationship Id="rId73" Type="http://schemas.openxmlformats.org/officeDocument/2006/relationships/slide" Target="slides/slide63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77" Type="http://schemas.openxmlformats.org/officeDocument/2006/relationships/slide" Target="slides/slide67.xml"/><Relationship Id="rId78" Type="http://schemas.openxmlformats.org/officeDocument/2006/relationships/slide" Target="slides/slide68.xml"/><Relationship Id="rId79" Type="http://schemas.openxmlformats.org/officeDocument/2006/relationships/slide" Target="slides/slide69.xml"/><Relationship Id="rId80" Type="http://schemas.openxmlformats.org/officeDocument/2006/relationships/slide" Target="slides/slide70.xml"/><Relationship Id="rId81" Type="http://schemas.openxmlformats.org/officeDocument/2006/relationships/slide" Target="slides/slide71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Relationship Id="rId90" Type="http://schemas.openxmlformats.org/officeDocument/2006/relationships/slide" Target="slides/slide80.xml"/><Relationship Id="rId91" Type="http://schemas.openxmlformats.org/officeDocument/2006/relationships/slide" Target="slides/slide81.xml"/><Relationship Id="rId92" Type="http://schemas.openxmlformats.org/officeDocument/2006/relationships/slide" Target="slides/slide82.xml"/><Relationship Id="rId93" Type="http://schemas.openxmlformats.org/officeDocument/2006/relationships/slide" Target="slides/slide83.xml"/><Relationship Id="rId94" Type="http://schemas.openxmlformats.org/officeDocument/2006/relationships/slide" Target="slides/slide84.xml"/><Relationship Id="rId95" Type="http://schemas.openxmlformats.org/officeDocument/2006/relationships/slide" Target="slides/slide85.xml"/><Relationship Id="rId96" Type="http://schemas.openxmlformats.org/officeDocument/2006/relationships/slide" Target="slides/slide86.xml"/><Relationship Id="rId97" Type="http://schemas.openxmlformats.org/officeDocument/2006/relationships/slide" Target="slides/slide87.xml"/><Relationship Id="rId98" Type="http://schemas.openxmlformats.org/officeDocument/2006/relationships/slide" Target="slides/slide88.xml"/><Relationship Id="rId99" Type="http://schemas.openxmlformats.org/officeDocument/2006/relationships/slide" Target="slides/slide89.xml"/><Relationship Id="rId100" Type="http://schemas.openxmlformats.org/officeDocument/2006/relationships/slide" Target="slides/slide9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Thank you for the time to present and discuss my thesis. My thesis is titled Cooperative Game Theory for Explainable AI in Recommendation Systems: A Shapley Framework for Actionable Insight, supervised by Professor Mohamed Lazaar. It advances one idea: that Shapley-value attribution is not just a post-hoc explanation, but a single formal mechanism that explains black-box clustering, stays coherent under hierarchical scale, and finally acts as an in-training signal inside a recommender.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one-paragraph version: accurate but opaque recommenders meet trustworthy-AI requirements; Shapley values provide one principled attribution language for both explaining clustering and learning recommendations.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will walk through five parts: introduction, context and problematic, the shared experimental protocol, the three contributions, and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us begin with the introduction: why explainability is a first-class requirement for recommender systems, and what I mean by an actionable insight.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questions frame the work: ubiquity, the black box, and trust. The core tension is that expressive power trades away transparency.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frame the whole thesis around actionable insight: an explanation that identifies a modifiable, semantically meaningful driver supports intervention, not just description.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context is the progression from simple to hypergraph recommenders; each step raised expressiveness while lowering transparency, which regulation now penalises.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Recommendation is infrastructure for everyday decisions; its ubiquity plus opacity is what makes explainability a first-class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the problem this thesis addresses: the paradigm landscape, the structuring limitations, the research questions, and how the three contributions map to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orientation: collaborative, content-based, hybrid, matrix factorisation, and graph/hypergraph methods — each strengthens modelling but complicates interpretation in a specific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classical limitations; the most fundamental — and the one this thesis targets — is the absence of interpretability.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structuring problems; the thesis gap is a single cooperative-attribution framework spanning explanation, hierarchy and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overall aim is a cooperative-game-theoretic perspective for XAI in clustering and recommendation; five research questions form the spine.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contributions, one thread: C1 establishes Shapley explanation for clustering; C2 scales it to hierarchy; C3 turns it into an in-training signal. The thesis claim is that cooperative game theory is a shared attribution perspective.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the contributions, the shared experimental setup: datasets, splitting, baselines, metrics,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clustering datasets and two recommendation datasets, each chosen so attribution lands in a vocabulary a domain expert can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dataset was chosen so attribution lands in a vocabulary a domain expert can act on; the density contrast isolates whether cooperative attribution helps most when interaction data are scarce.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Splitting is designed against leakage; recommendation uses a user-level temporal holdout with leave-one-out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Baselines span classical, neural, graph and hypergraph methods; metrics cover ranking, beyond-accuracy and clustering validity. ILD is built into the DyHuCoG coalition utility.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hardware explains some runtime figures; everything stays within ordinary academic compute.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Contribution I explains black-box clustering with Shapley values. It answers RQ1 in four steps: objectives, methodology, results,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start with clustering? It is the hardest test bed for attribution because the model creates its own structure. Objectives: cluster-level + feature-level explanation, in the original semantics, justified vs LIME.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RQ1 and its three objectives: pipeline, semantics, and a justificatory argument for Shapley over LIME.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Features are players; the value of a coalition is the Silhouette of K-Means on that feature subset. A feature's Shapley value is its expected marginal contribution, but evaluating every subset is intractable.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bridge: a LightGBM surrogate predicts cluster labels from original features, then TreeSHAP attributes in the original semantic space. Fidelity (macro-F1 ~0.82) is the validity condition.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stages; PCA is only a visual/computational diagnostic, not the explanatory space. TreeSHAP scales with tree count, not exponentially in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select k=3 deliberately though it is not geometrically optimal, because three clusters support three distinct chemically meaningful narratives — far more actionable.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global ranking is dominated by density, pH, fixed acidity, sulfur dioxide and alcohol — precisely the variables an oenologist would point to. This is the strongest evidence the pipeline is faithful.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cluster exhibits a distinct signature; the same drivers re-weigh differently. This is the actionable insight: a cluster is a distinct, domain-meaningful combination of drivers.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SHAP grounds attribution in a cooperative-game allocation rule satisfying efficiency, symmetry, null-player and additivity; LIME has no equivalent guarantee and is sensitive to perturbation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RQ1 is answered yes; each objective is met. Efficiency holds with respect to the LightGBM output, which is why surrogate fidelity is the critical validity condition.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C1 answers RQ1: Shapley explains the black-box partition at cluster and instance level, in the original chemical variables, grounded in axioms.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C1 is single-level and surrogate-dependent; these limits define the departure to Contribution II.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Shapley attribution works as a single principled lens; but real data are hierarchical, motivating C2.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Contribution II scales the explanation logic to multi-level, large-scale clustering. It answers RQ2; the central concern is multi-granularity, not merely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asks whether the C1 logic survives scale and hierarchy. It adds a multi-level workflow, a formal cross-level consistency argument, and validation on Beijing air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RQ2 and its three objectives: multi-level workflow, Proposition 6.1, and a generality check on Beijing.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Recursive coarse-to-fine clustering; per-level surrogate + SHAP; cross-level aggregation respects size and nesting. Proposition 6.1 makes differences interpretable, not inconsistent.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Proposition 6.1: parent expected absolute importance equals the size-weighted sum of children's, plus a residual from surrogate mismatch. It makes hierarchical explanation self-consistent and auditable.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Beijing the partition converges strongly: Silhouette ~0.63, Davies-Bouldin ~0.55. This is where the 0.63 figure belongs — not the wine partition.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dominant features are temperature, dew point and pressure, then pollutants — meteorology sets the regime. Attribution in the original variable space reveals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Force plots reveal three regimes; the interpretation is which variable combinations define each — actionable for an air-quality analyst.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 the coarse level temperature/dew point dominate; within clusters the discriminative variables shift. Proposition 6.1 lets us interpret these shifts as meaningful structure, not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logic works on both a small correlated dataset and a large noisy one; vs the SHAP-clustering literature, Beijing's Silhouette ~0.63 beats credit-risk ~0.37.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RQ2 answered yes with bounds; O1/O2/O3 met. The honest bound: the model is still an explanation of a pre-computed partition, not yet influencing learning — the bridge to C3.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answers RQ2: scalable, coherent, multi-granular explanation, formalised by Proposition 6.1.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is still static and post-hoc; that motivates Contribution III.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shows Shapley attribution stays coherent across granularity, but remains post-hoc — motivating C3.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Contribution III introduces DyHuCoG, a Dynamic Hypergraph Cooperative Game, where Shapley attribution becomes an in-training signal. It answers RQ3 and RQ4.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C3 is the flagship: formulate recommendation as a cooperative game, embed Shapley into message passing, and improve ranking, coverage and diversity jointly.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C3 answers RQ3 and RQ4: cooperative attribution becomes an in-training signal; ranking, coverage and diversity improve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Users, items and contexts are players; the hypergraph's dynamic edge weights come from Shapley estimates; the coalition value measures recommendation quality. The parallelism with clustering is deliberate.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coalition utility combines ranking, diversity and context; this is the same trade-off the recommender optimises and from which attribution is computed, so explanation and objective are aligned by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 Shapley is infeasible; the Monte Carlo estimator is unbiased with variance decaying as 1/M. M=50 gives ~99% accuracy, refreshed every 10 batches.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decisive move: Shapley-weighted message passing, normalised and smoothed, plus an attention gate and a context-aware score. Attribution directly governs how information propagates.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loss combines BPR ranking, intra-list diversity and context alignment. The objective and the coalition value are aligned, so the explanation is a direct read-out of what the model optimises.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DyHuCoG improves NDCG, recall, coverage and diversity together vs the strongest baseline HPCF. The sparser the data, the larger the gain — Shapley-driven weighting helps most when signal is weak.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DyHuCoG improves ranking accuracy, coverage and diversity simultaneously — it does not sacrifice one for the others. The largest gains appear on the sparser Amazon-Book.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diversity metrics improve while NDCG/recall also improve — so we are not trading accuracy for diversity. The model surfaces more of the catalogue and recommends less redundant lists.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component contributes. Removing Shapley drops NDCG by 4.6% (ML-1M) / 6.1% (Amazon); context removal causes the largest single loss. Shapley weighting is load-bearing, not decorative.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attribution cost is proportionate: ~1.78× training time, milliseconds per query at inference. M=50 is the right operating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Improvements are statistically significant (p ~10^-270) with large effect sizes, so they are not a large-sample artefact. Tabulated paired tests apply to MovieLens-1M; Amazon remains descriptive.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DyHuCoG also improves cold-start and produces a SHAP waterfall that decomposes a recommendation into the same components used during training — structurally faithful, not an external approximation.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RQ3 and RQ4 answered yes: attribution becomes an in-training signal; accuracy, coverage and diversity improve together. The strongest claim is that the explanation is structurally faithful.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C3 answers RQ3 and RQ4, making the strongest claim of the thesis: attribution is an in-training signal and the accuracy–diversity trade-off is 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Limitations are honest: computational overhead, dependence on context, and component-wise ablation.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takeaway is the conceptual shift: attribution is part of the modelling logic itself, which makes it structurally faithful and aligned with trustworthy-AI regulation.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me bring everything together: a synthesis of the three contributions, the published papers, the honest limitations, the future directions, and a clear statement of the thesis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contributions, one thread: C1 makes hidden structure intelligible; C2 keeps explanation coherent under scale and hierarchy; C3 carries the same logic inside the learning dynamics. A shared attribution perspective.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thesis synthesises three peer-reviewed publications, mapped to the chapters. What it adds is the multi-level formalisation, cross-chapter comparisons, and the explicit mapping to the five research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 limitations: computational approximation, surrogate/context dependence, tabular+benchmark scope, and a coherent perspective rather than one framework eliminating all tension.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Future work turns limitations into an agenda: scalable attribution, online recommendation, human-centred evaluation, and broader trustworthy-AI/fairness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thesis answer: cooperative game theory is a shared methodological perspective for actionable explanation; explanation moves from commentary to method, aligned with trustworthy-AI regulation.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References underpinning the thesis: my three peer-reviewed papers, the SHAP and Shapley foundations, the hypergraph-learning literature, and the regulation that motivates actionable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very much for your attention. I am now happy to take your questions and comments.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notesSlide" Target="../notesSlides/notesSlide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notesSlide" Target="../notesSlides/notesSlide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notesSlide" Target="../notesSlides/notesSlide1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notesSlide" Target="../notesSlides/notesSlide1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notesSlide" Target="../notesSlides/notesSlide2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notesSlide" Target="../notesSlides/notesSlide2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notesSlide" Target="../notesSlides/notesSlide3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notesSlide" Target="../notesSlides/notesSlide5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1001"/>
          <p:cNvSpPr txBox="true"/>
          <p:nvPr/>
        </p:nvSpPr>
        <p:spPr>
          <a:xfrm rot="0">
            <a:off x="1028700" y="5810954"/>
            <a:ext cx="16230600" cy="436519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6581"/>
              </a:lnSpc>
            </a:pPr>
            <a:r>
              <a:rPr lang="en-US" sz="1800" spc="-1045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Cooperative Game Theory for Explainable AI in Recommendation Systems:
A Shapley Framework for Actionable Insight</a:t>
            </a:r>
          </a:p>
        </p:txBody>
      </p:sp>
      <p:grpSp>
        <p:nvGrpSpPr>
          <p:cNvPr name="Group 3" id="1002"/>
          <p:cNvGrpSpPr/>
          <p:nvPr/>
        </p:nvGrpSpPr>
        <p:grpSpPr>
          <a:xfrm rot="0">
            <a:off x="16258151" y="8257151"/>
            <a:ext cx="1001149" cy="1001149"/>
            <a:chOff x="0" y="0"/>
            <a:chExt cx="812800" cy="812800"/>
          </a:xfrm>
        </p:grpSpPr>
        <p:sp>
          <p:nvSpPr>
            <p:cNvPr name="Freeform 4" id="100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CC665"/>
            </a:solidFill>
          </p:spPr>
          <p:txBody>
            <a:bodyPr/>
            <a:p/>
          </p:txBody>
        </p:sp>
        <p:sp>
          <p:nvSpPr>
            <p:cNvPr name="TextBox 5" id="1004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1005"/>
          <p:cNvSpPr/>
          <p:nvPr/>
        </p:nvSpPr>
        <p:spPr>
          <a:xfrm flipH="true" flipV="false" rot="0">
            <a:off x="16564092" y="8563092"/>
            <a:ext cx="389267" cy="389267"/>
          </a:xfrm>
          <a:custGeom>
            <a:avLst/>
            <a:gdLst/>
            <a:ahLst/>
            <a:cxnLst/>
            <a:rect r="r" b="b" t="t" l="l"/>
            <a:pathLst>
              <a:path h="389267" w="389267">
                <a:moveTo>
                  <a:pt x="389267" y="0"/>
                </a:moveTo>
                <a:lnTo>
                  <a:pt x="0" y="0"/>
                </a:lnTo>
                <a:lnTo>
                  <a:pt x="0" y="389267"/>
                </a:lnTo>
                <a:lnTo>
                  <a:pt x="389267" y="389267"/>
                </a:lnTo>
                <a:lnTo>
                  <a:pt x="38926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7" id="1006"/>
          <p:cNvGrpSpPr/>
          <p:nvPr/>
        </p:nvGrpSpPr>
        <p:grpSpPr>
          <a:xfrm rot="0">
            <a:off x="1028700" y="2913924"/>
            <a:ext cx="3532312" cy="1506220"/>
            <a:chOff x="0" y="0"/>
            <a:chExt cx="7198814" cy="3069660"/>
          </a:xfrm>
        </p:grpSpPr>
        <p:sp>
          <p:nvSpPr>
            <p:cNvPr name="Freeform 8" id="1007"/>
            <p:cNvSpPr/>
            <p:nvPr/>
          </p:nvSpPr>
          <p:spPr>
            <a:xfrm flipH="false" flipV="false" rot="0">
              <a:off x="0" y="0"/>
              <a:ext cx="7198815" cy="3069660"/>
            </a:xfrm>
            <a:custGeom>
              <a:avLst/>
              <a:gdLst/>
              <a:ahLst/>
              <a:cxnLst/>
              <a:rect r="r" b="b" t="t" l="l"/>
              <a:pathLst>
                <a:path h="3069660" w="7198815">
                  <a:moveTo>
                    <a:pt x="0" y="1534830"/>
                  </a:moveTo>
                  <a:cubicBezTo>
                    <a:pt x="0" y="687604"/>
                    <a:pt x="645014" y="0"/>
                    <a:pt x="1439763" y="0"/>
                  </a:cubicBezTo>
                  <a:lnTo>
                    <a:pt x="5759052" y="0"/>
                  </a:lnTo>
                  <a:cubicBezTo>
                    <a:pt x="6553801" y="0"/>
                    <a:pt x="7198815" y="687604"/>
                    <a:pt x="7198815" y="1534830"/>
                  </a:cubicBezTo>
                  <a:cubicBezTo>
                    <a:pt x="7198815" y="2382056"/>
                    <a:pt x="6553801" y="3069660"/>
                    <a:pt x="5759052" y="3069660"/>
                  </a:cubicBezTo>
                  <a:lnTo>
                    <a:pt x="1439763" y="3069660"/>
                  </a:lnTo>
                  <a:cubicBezTo>
                    <a:pt x="645014" y="3069660"/>
                    <a:pt x="0" y="2382056"/>
                    <a:pt x="0" y="1534830"/>
                  </a:cubicBezTo>
                  <a:close/>
                </a:path>
              </a:pathLst>
            </a:custGeom>
            <a:blipFill>
              <a:blip r:embed="rId4"/>
              <a:stretch>
                <a:fillRect l="-29171" t="-40389" r="0" b="-61561"/>
              </a:stretch>
            </a:blipFill>
          </p:spPr>
          <p:txBody>
            <a:bodyPr/>
            <a:p/>
          </p:txBody>
        </p:sp>
      </p:grpSp>
      <p:sp>
        <p:nvSpPr>
          <p:cNvPr name="TextBox 9" id="1008"/>
          <p:cNvSpPr txBox="true"/>
          <p:nvPr/>
        </p:nvSpPr>
        <p:spPr>
          <a:xfrm rot="0">
            <a:off x="10923149" y="2875824"/>
            <a:ext cx="6336151" cy="154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t>Supervisor: Pr. Mohamed LAZAAR</a:t>
            </a:r>
          </a:p>
        </p:txBody>
      </p:sp>
      <p:sp>
        <p:nvSpPr>
          <p:cNvPr name="TextBox 10" id="1009"/>
          <p:cNvSpPr txBox="true"/>
          <p:nvPr/>
        </p:nvSpPr>
        <p:spPr>
          <a:xfrm rot="0">
            <a:off x="1028700" y="990600"/>
            <a:ext cx="2566690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t>ENSIAS, Mohammed V University, Rabat</a:t>
            </a:r>
          </a:p>
        </p:txBody>
      </p:sp>
      <p:sp>
        <p:nvSpPr>
          <p:cNvPr name="TextBox 11" id="1010"/>
          <p:cNvSpPr txBox="true"/>
          <p:nvPr/>
        </p:nvSpPr>
        <p:spPr>
          <a:xfrm rot="0">
            <a:off x="13227260" y="990600"/>
            <a:ext cx="4032040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t>PhD Viva — Presented by Mouad LOUHICHI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011"/>
          <p:cNvGrpSpPr/>
          <p:nvPr/>
        </p:nvGrpSpPr>
        <p:grpSpPr>
          <a:xfrm rot="0">
            <a:off x="1028700" y="5844840"/>
            <a:ext cx="16230600" cy="5449194"/>
            <a:chOff x="0" y="0"/>
            <a:chExt cx="2514545" cy="844223"/>
          </a:xfrm>
        </p:grpSpPr>
        <p:sp>
          <p:nvSpPr>
            <p:cNvPr name="Freeform 3" id="1012"/>
            <p:cNvSpPr/>
            <p:nvPr/>
          </p:nvSpPr>
          <p:spPr>
            <a:xfrm flipH="false" flipV="false" rot="0">
              <a:off x="0" y="0"/>
              <a:ext cx="2514545" cy="844223"/>
            </a:xfrm>
            <a:custGeom>
              <a:avLst/>
              <a:gdLst/>
              <a:ahLst/>
              <a:cxnLst/>
              <a:rect r="r" b="b" t="t" l="l"/>
              <a:pathLst>
                <a:path h="844223" w="2514545">
                  <a:moveTo>
                    <a:pt x="31482" y="0"/>
                  </a:moveTo>
                  <a:lnTo>
                    <a:pt x="2483063" y="0"/>
                  </a:lnTo>
                  <a:cubicBezTo>
                    <a:pt x="2491412" y="0"/>
                    <a:pt x="2499420" y="3317"/>
                    <a:pt x="2505324" y="9221"/>
                  </a:cubicBezTo>
                  <a:cubicBezTo>
                    <a:pt x="2511228" y="15125"/>
                    <a:pt x="2514545" y="23132"/>
                    <a:pt x="2514545" y="31482"/>
                  </a:cubicBezTo>
                  <a:lnTo>
                    <a:pt x="2514545" y="812741"/>
                  </a:lnTo>
                  <a:cubicBezTo>
                    <a:pt x="2514545" y="821090"/>
                    <a:pt x="2511228" y="829098"/>
                    <a:pt x="2505324" y="835002"/>
                  </a:cubicBezTo>
                  <a:cubicBezTo>
                    <a:pt x="2499420" y="840906"/>
                    <a:pt x="2491412" y="844223"/>
                    <a:pt x="2483063" y="844223"/>
                  </a:cubicBezTo>
                  <a:lnTo>
                    <a:pt x="31482" y="844223"/>
                  </a:lnTo>
                  <a:cubicBezTo>
                    <a:pt x="14095" y="844223"/>
                    <a:pt x="0" y="830128"/>
                    <a:pt x="0" y="812741"/>
                  </a:cubicBezTo>
                  <a:lnTo>
                    <a:pt x="0" y="31482"/>
                  </a:lnTo>
                  <a:cubicBezTo>
                    <a:pt x="0" y="14095"/>
                    <a:pt x="14095" y="0"/>
                    <a:pt x="31482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44159" r="0" b="-54409"/>
              </a:stretch>
            </a:blipFill>
          </p:spPr>
          <p:txBody>
            <a:bodyPr/>
            <a:p/>
          </p:txBody>
        </p:sp>
      </p:grpSp>
      <p:sp>
        <p:nvSpPr>
          <p:cNvPr name="Freeform 4" id="1013"/>
          <p:cNvSpPr/>
          <p:nvPr/>
        </p:nvSpPr>
        <p:spPr>
          <a:xfrm flipH="false" flipV="false" rot="0">
            <a:off x="6327864" y="4710867"/>
            <a:ext cx="590731" cy="536827"/>
          </a:xfrm>
          <a:custGeom>
            <a:avLst/>
            <a:gdLst/>
            <a:ahLst/>
            <a:cxnLst/>
            <a:rect r="r" b="b" t="t" l="l"/>
            <a:pathLst>
              <a:path h="536827" w="590731">
                <a:moveTo>
                  <a:pt x="0" y="0"/>
                </a:moveTo>
                <a:lnTo>
                  <a:pt x="590732" y="0"/>
                </a:lnTo>
                <a:lnTo>
                  <a:pt x="590732" y="536827"/>
                </a:lnTo>
                <a:lnTo>
                  <a:pt x="0" y="53682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1014"/>
          <p:cNvSpPr/>
          <p:nvPr/>
        </p:nvSpPr>
        <p:spPr>
          <a:xfrm flipH="false" flipV="false" rot="-1476951">
            <a:off x="681893" y="2036317"/>
            <a:ext cx="693615" cy="422238"/>
          </a:xfrm>
          <a:custGeom>
            <a:avLst/>
            <a:gdLst/>
            <a:ahLst/>
            <a:cxnLst/>
            <a:rect r="r" b="b" t="t" l="l"/>
            <a:pathLst>
              <a:path h="422238" w="693615">
                <a:moveTo>
                  <a:pt x="0" y="0"/>
                </a:moveTo>
                <a:lnTo>
                  <a:pt x="693614" y="0"/>
                </a:lnTo>
                <a:lnTo>
                  <a:pt x="693614" y="422238"/>
                </a:lnTo>
                <a:lnTo>
                  <a:pt x="0" y="42223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8" id="1017"/>
          <p:cNvSpPr txBox="true"/>
          <p:nvPr/>
        </p:nvSpPr>
        <p:spPr>
          <a:xfrm rot="0">
            <a:off x="1028700" y="3025327"/>
            <a:ext cx="6527931" cy="168554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2311"/>
              </a:lnSpc>
            </a:pPr>
            <a:r>
              <a:rPr lang="en-US" sz="3600" spc="-77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Abstract</a:t>
            </a:r>
          </a:p>
        </p:txBody>
      </p:sp>
      <p:sp>
        <p:nvSpPr>
          <p:cNvPr id="1018" name="TextBox 1017"/>
          <p:cNvSpPr txBox="1"/>
          <p:nvPr/>
        </p:nvSpPr>
        <p:spPr>
          <a:xfrm>
            <a:off x="640080" y="2103120"/>
            <a:ext cx="10881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800" b="0">
                <a:solidFill>
                  <a:srgbClr val="22303C"/>
                </a:solidFill>
                <a:latin typeface="Roca Two"/>
              </a:rPr>
              <a:t>Modern recommenders and clustering pipelines have grown remarkably accurate yet remain opaque, which collides with trust, debugging and regulation (EU AI Act, OECD, GDPR).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800" b="0">
                <a:solidFill>
                  <a:srgbClr val="22303C"/>
                </a:solidFill>
                <a:latin typeface="Roca Two"/>
              </a:rPr>
              <a:t>This thesis proposes cooperative game theory — Shapley values — as a single, shared attribution perspective spanning clustering explanation and recommendation learning.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800" b="0">
                <a:solidFill>
                  <a:srgbClr val="22303C"/>
                </a:solidFill>
                <a:latin typeface="Roca Two"/>
              </a:rPr>
              <a:t>C1 explains black-box clustering faithfully (PCA–KMeans–LightGBM–TreeSHAP); C2 scales it to multi-level, large-scale clustering with cross-level consistency; C3 (DyHuCoG) turns attribution into an in-training signal inside a hypergraph recommender.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800" b="0">
                <a:solidFill>
                  <a:srgbClr val="22303C"/>
                </a:solidFill>
                <a:latin typeface="Roca Two"/>
              </a:rPr>
              <a:t>Across wine, Beijing air quality, MovieLens-1M and Amazon-Book, ranking, coverage and diversity improve together — evidence that the accuracy–diversity trade-off is negotiable when attribution is part of the modelling logic.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020"/>
          <p:cNvGrpSpPr/>
          <p:nvPr/>
        </p:nvGrpSpPr>
        <p:grpSpPr>
          <a:xfrm rot="0">
            <a:off x="1028700" y="5498391"/>
            <a:ext cx="3842414" cy="933710"/>
            <a:chOff x="0" y="0"/>
            <a:chExt cx="1011994" cy="245915"/>
          </a:xfrm>
        </p:grpSpPr>
        <p:sp>
          <p:nvSpPr>
            <p:cNvPr name="Freeform 3" id="1021"/>
            <p:cNvSpPr/>
            <p:nvPr/>
          </p:nvSpPr>
          <p:spPr>
            <a:xfrm flipH="false" flipV="false" rot="0">
              <a:off x="0" y="0"/>
              <a:ext cx="1011994" cy="245915"/>
            </a:xfrm>
            <a:custGeom>
              <a:avLst/>
              <a:gdLst/>
              <a:ahLst/>
              <a:cxnLst/>
              <a:rect r="r" b="b" t="t" l="l"/>
              <a:pathLst>
                <a:path h="245915" w="1011994">
                  <a:moveTo>
                    <a:pt x="122958" y="0"/>
                  </a:moveTo>
                  <a:lnTo>
                    <a:pt x="889036" y="0"/>
                  </a:lnTo>
                  <a:cubicBezTo>
                    <a:pt x="956944" y="0"/>
                    <a:pt x="1011994" y="55050"/>
                    <a:pt x="1011994" y="122958"/>
                  </a:cubicBezTo>
                  <a:lnTo>
                    <a:pt x="1011994" y="122958"/>
                  </a:lnTo>
                  <a:cubicBezTo>
                    <a:pt x="1011994" y="155568"/>
                    <a:pt x="999039" y="186843"/>
                    <a:pt x="975980" y="209902"/>
                  </a:cubicBezTo>
                  <a:cubicBezTo>
                    <a:pt x="952921" y="232961"/>
                    <a:pt x="921647" y="245915"/>
                    <a:pt x="889036" y="245915"/>
                  </a:cubicBezTo>
                  <a:lnTo>
                    <a:pt x="122958" y="245915"/>
                  </a:lnTo>
                  <a:cubicBezTo>
                    <a:pt x="55050" y="245915"/>
                    <a:pt x="0" y="190865"/>
                    <a:pt x="0" y="122958"/>
                  </a:cubicBezTo>
                  <a:lnTo>
                    <a:pt x="0" y="122958"/>
                  </a:lnTo>
                  <a:cubicBezTo>
                    <a:pt x="0" y="55050"/>
                    <a:pt x="55050" y="0"/>
                    <a:pt x="122958" y="0"/>
                  </a:cubicBezTo>
                  <a:close/>
                </a:path>
              </a:pathLst>
            </a:custGeom>
            <a:ln w="28575" cap="rnd">
              <a:solidFill>
                <a:srgbClr val="124944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4" id="1022"/>
            <p:cNvSpPr txBox="true"/>
            <p:nvPr/>
          </p:nvSpPr>
          <p:spPr>
            <a:xfrm>
              <a:off x="0" y="-38100"/>
              <a:ext cx="1011994" cy="2840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023"/>
          <p:cNvGrpSpPr/>
          <p:nvPr/>
        </p:nvGrpSpPr>
        <p:grpSpPr>
          <a:xfrm rot="0">
            <a:off x="5159274" y="5498391"/>
            <a:ext cx="3842414" cy="933710"/>
            <a:chOff x="0" y="0"/>
            <a:chExt cx="1011994" cy="245915"/>
          </a:xfrm>
        </p:grpSpPr>
        <p:sp>
          <p:nvSpPr>
            <p:cNvPr name="Freeform 6" id="1024"/>
            <p:cNvSpPr/>
            <p:nvPr/>
          </p:nvSpPr>
          <p:spPr>
            <a:xfrm flipH="false" flipV="false" rot="0">
              <a:off x="0" y="0"/>
              <a:ext cx="1011994" cy="245915"/>
            </a:xfrm>
            <a:custGeom>
              <a:avLst/>
              <a:gdLst/>
              <a:ahLst/>
              <a:cxnLst/>
              <a:rect r="r" b="b" t="t" l="l"/>
              <a:pathLst>
                <a:path h="245915" w="1011994">
                  <a:moveTo>
                    <a:pt x="122958" y="0"/>
                  </a:moveTo>
                  <a:lnTo>
                    <a:pt x="889036" y="0"/>
                  </a:lnTo>
                  <a:cubicBezTo>
                    <a:pt x="956944" y="0"/>
                    <a:pt x="1011994" y="55050"/>
                    <a:pt x="1011994" y="122958"/>
                  </a:cubicBezTo>
                  <a:lnTo>
                    <a:pt x="1011994" y="122958"/>
                  </a:lnTo>
                  <a:cubicBezTo>
                    <a:pt x="1011994" y="155568"/>
                    <a:pt x="999039" y="186843"/>
                    <a:pt x="975980" y="209902"/>
                  </a:cubicBezTo>
                  <a:cubicBezTo>
                    <a:pt x="952921" y="232961"/>
                    <a:pt x="921647" y="245915"/>
                    <a:pt x="889036" y="245915"/>
                  </a:cubicBezTo>
                  <a:lnTo>
                    <a:pt x="122958" y="245915"/>
                  </a:lnTo>
                  <a:cubicBezTo>
                    <a:pt x="55050" y="245915"/>
                    <a:pt x="0" y="190865"/>
                    <a:pt x="0" y="122958"/>
                  </a:cubicBezTo>
                  <a:lnTo>
                    <a:pt x="0" y="122958"/>
                  </a:lnTo>
                  <a:cubicBezTo>
                    <a:pt x="0" y="55050"/>
                    <a:pt x="55050" y="0"/>
                    <a:pt x="122958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1025"/>
            <p:cNvSpPr txBox="true"/>
            <p:nvPr/>
          </p:nvSpPr>
          <p:spPr>
            <a:xfrm>
              <a:off x="0" y="-38100"/>
              <a:ext cx="1011994" cy="2840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026"/>
          <p:cNvGrpSpPr/>
          <p:nvPr/>
        </p:nvGrpSpPr>
        <p:grpSpPr>
          <a:xfrm rot="0">
            <a:off x="9286312" y="5498391"/>
            <a:ext cx="3842414" cy="933710"/>
            <a:chOff x="0" y="0"/>
            <a:chExt cx="1011994" cy="245915"/>
          </a:xfrm>
        </p:grpSpPr>
        <p:sp>
          <p:nvSpPr>
            <p:cNvPr name="Freeform 9" id="1027"/>
            <p:cNvSpPr/>
            <p:nvPr/>
          </p:nvSpPr>
          <p:spPr>
            <a:xfrm flipH="false" flipV="false" rot="0">
              <a:off x="0" y="0"/>
              <a:ext cx="1011994" cy="245915"/>
            </a:xfrm>
            <a:custGeom>
              <a:avLst/>
              <a:gdLst/>
              <a:ahLst/>
              <a:cxnLst/>
              <a:rect r="r" b="b" t="t" l="l"/>
              <a:pathLst>
                <a:path h="245915" w="1011994">
                  <a:moveTo>
                    <a:pt x="122958" y="0"/>
                  </a:moveTo>
                  <a:lnTo>
                    <a:pt x="889036" y="0"/>
                  </a:lnTo>
                  <a:cubicBezTo>
                    <a:pt x="956944" y="0"/>
                    <a:pt x="1011994" y="55050"/>
                    <a:pt x="1011994" y="122958"/>
                  </a:cubicBezTo>
                  <a:lnTo>
                    <a:pt x="1011994" y="122958"/>
                  </a:lnTo>
                  <a:cubicBezTo>
                    <a:pt x="1011994" y="155568"/>
                    <a:pt x="999039" y="186843"/>
                    <a:pt x="975980" y="209902"/>
                  </a:cubicBezTo>
                  <a:cubicBezTo>
                    <a:pt x="952921" y="232961"/>
                    <a:pt x="921647" y="245915"/>
                    <a:pt x="889036" y="245915"/>
                  </a:cubicBezTo>
                  <a:lnTo>
                    <a:pt x="122958" y="245915"/>
                  </a:lnTo>
                  <a:cubicBezTo>
                    <a:pt x="55050" y="245915"/>
                    <a:pt x="0" y="190865"/>
                    <a:pt x="0" y="122958"/>
                  </a:cubicBezTo>
                  <a:lnTo>
                    <a:pt x="0" y="122958"/>
                  </a:lnTo>
                  <a:cubicBezTo>
                    <a:pt x="0" y="55050"/>
                    <a:pt x="55050" y="0"/>
                    <a:pt x="122958" y="0"/>
                  </a:cubicBezTo>
                  <a:close/>
                </a:path>
              </a:pathLst>
            </a:custGeom>
            <a:ln w="28575" cap="rnd">
              <a:solidFill>
                <a:srgbClr val="124944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028"/>
            <p:cNvSpPr txBox="true"/>
            <p:nvPr/>
          </p:nvSpPr>
          <p:spPr>
            <a:xfrm>
              <a:off x="0" y="-38100"/>
              <a:ext cx="1011994" cy="2840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029"/>
          <p:cNvGrpSpPr/>
          <p:nvPr/>
        </p:nvGrpSpPr>
        <p:grpSpPr>
          <a:xfrm rot="0">
            <a:off x="13416886" y="5498391"/>
            <a:ext cx="3842414" cy="933710"/>
            <a:chOff x="0" y="0"/>
            <a:chExt cx="1011994" cy="245915"/>
          </a:xfrm>
        </p:grpSpPr>
        <p:sp>
          <p:nvSpPr>
            <p:cNvPr name="Freeform 12" id="1030"/>
            <p:cNvSpPr/>
            <p:nvPr/>
          </p:nvSpPr>
          <p:spPr>
            <a:xfrm flipH="false" flipV="false" rot="0">
              <a:off x="0" y="0"/>
              <a:ext cx="1011994" cy="245915"/>
            </a:xfrm>
            <a:custGeom>
              <a:avLst/>
              <a:gdLst/>
              <a:ahLst/>
              <a:cxnLst/>
              <a:rect r="r" b="b" t="t" l="l"/>
              <a:pathLst>
                <a:path h="245915" w="1011994">
                  <a:moveTo>
                    <a:pt x="122958" y="0"/>
                  </a:moveTo>
                  <a:lnTo>
                    <a:pt x="889036" y="0"/>
                  </a:lnTo>
                  <a:cubicBezTo>
                    <a:pt x="956944" y="0"/>
                    <a:pt x="1011994" y="55050"/>
                    <a:pt x="1011994" y="122958"/>
                  </a:cubicBezTo>
                  <a:lnTo>
                    <a:pt x="1011994" y="122958"/>
                  </a:lnTo>
                  <a:cubicBezTo>
                    <a:pt x="1011994" y="155568"/>
                    <a:pt x="999039" y="186843"/>
                    <a:pt x="975980" y="209902"/>
                  </a:cubicBezTo>
                  <a:cubicBezTo>
                    <a:pt x="952921" y="232961"/>
                    <a:pt x="921647" y="245915"/>
                    <a:pt x="889036" y="245915"/>
                  </a:cubicBezTo>
                  <a:lnTo>
                    <a:pt x="122958" y="245915"/>
                  </a:lnTo>
                  <a:cubicBezTo>
                    <a:pt x="55050" y="245915"/>
                    <a:pt x="0" y="190865"/>
                    <a:pt x="0" y="122958"/>
                  </a:cubicBezTo>
                  <a:lnTo>
                    <a:pt x="0" y="122958"/>
                  </a:lnTo>
                  <a:cubicBezTo>
                    <a:pt x="0" y="55050"/>
                    <a:pt x="55050" y="0"/>
                    <a:pt x="122958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1031"/>
            <p:cNvSpPr txBox="true"/>
            <p:nvPr/>
          </p:nvSpPr>
          <p:spPr>
            <a:xfrm>
              <a:off x="0" y="-38100"/>
              <a:ext cx="1011994" cy="2840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032"/>
          <p:cNvGrpSpPr/>
          <p:nvPr/>
        </p:nvGrpSpPr>
        <p:grpSpPr>
          <a:xfrm rot="0">
            <a:off x="1028700" y="6811391"/>
            <a:ext cx="3842414" cy="933710"/>
            <a:chOff x="0" y="0"/>
            <a:chExt cx="1011994" cy="245915"/>
          </a:xfrm>
        </p:grpSpPr>
        <p:sp>
          <p:nvSpPr>
            <p:cNvPr name="Freeform 15" id="1033"/>
            <p:cNvSpPr/>
            <p:nvPr/>
          </p:nvSpPr>
          <p:spPr>
            <a:xfrm flipH="false" flipV="false" rot="0">
              <a:off x="0" y="0"/>
              <a:ext cx="1011994" cy="245915"/>
            </a:xfrm>
            <a:custGeom>
              <a:avLst/>
              <a:gdLst/>
              <a:ahLst/>
              <a:cxnLst/>
              <a:rect r="r" b="b" t="t" l="l"/>
              <a:pathLst>
                <a:path h="245915" w="1011994">
                  <a:moveTo>
                    <a:pt x="122958" y="0"/>
                  </a:moveTo>
                  <a:lnTo>
                    <a:pt x="889036" y="0"/>
                  </a:lnTo>
                  <a:cubicBezTo>
                    <a:pt x="956944" y="0"/>
                    <a:pt x="1011994" y="55050"/>
                    <a:pt x="1011994" y="122958"/>
                  </a:cubicBezTo>
                  <a:lnTo>
                    <a:pt x="1011994" y="122958"/>
                  </a:lnTo>
                  <a:cubicBezTo>
                    <a:pt x="1011994" y="155568"/>
                    <a:pt x="999039" y="186843"/>
                    <a:pt x="975980" y="209902"/>
                  </a:cubicBezTo>
                  <a:cubicBezTo>
                    <a:pt x="952921" y="232961"/>
                    <a:pt x="921647" y="245915"/>
                    <a:pt x="889036" y="245915"/>
                  </a:cubicBezTo>
                  <a:lnTo>
                    <a:pt x="122958" y="245915"/>
                  </a:lnTo>
                  <a:cubicBezTo>
                    <a:pt x="55050" y="245915"/>
                    <a:pt x="0" y="190865"/>
                    <a:pt x="0" y="122958"/>
                  </a:cubicBezTo>
                  <a:lnTo>
                    <a:pt x="0" y="122958"/>
                  </a:lnTo>
                  <a:cubicBezTo>
                    <a:pt x="0" y="55050"/>
                    <a:pt x="55050" y="0"/>
                    <a:pt x="122958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1034"/>
            <p:cNvSpPr txBox="true"/>
            <p:nvPr/>
          </p:nvSpPr>
          <p:spPr>
            <a:xfrm>
              <a:off x="0" y="-38100"/>
              <a:ext cx="1011994" cy="2840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035"/>
          <p:cNvGrpSpPr/>
          <p:nvPr/>
        </p:nvGrpSpPr>
        <p:grpSpPr>
          <a:xfrm rot="0">
            <a:off x="5159274" y="6811391"/>
            <a:ext cx="3842414" cy="933710"/>
            <a:chOff x="0" y="0"/>
            <a:chExt cx="1011994" cy="245915"/>
          </a:xfrm>
        </p:grpSpPr>
        <p:sp>
          <p:nvSpPr>
            <p:cNvPr name="Freeform 18" id="1036"/>
            <p:cNvSpPr/>
            <p:nvPr/>
          </p:nvSpPr>
          <p:spPr>
            <a:xfrm flipH="false" flipV="false" rot="0">
              <a:off x="0" y="0"/>
              <a:ext cx="1011994" cy="245915"/>
            </a:xfrm>
            <a:custGeom>
              <a:avLst/>
              <a:gdLst/>
              <a:ahLst/>
              <a:cxnLst/>
              <a:rect r="r" b="b" t="t" l="l"/>
              <a:pathLst>
                <a:path h="245915" w="1011994">
                  <a:moveTo>
                    <a:pt x="122958" y="0"/>
                  </a:moveTo>
                  <a:lnTo>
                    <a:pt x="889036" y="0"/>
                  </a:lnTo>
                  <a:cubicBezTo>
                    <a:pt x="956944" y="0"/>
                    <a:pt x="1011994" y="55050"/>
                    <a:pt x="1011994" y="122958"/>
                  </a:cubicBezTo>
                  <a:lnTo>
                    <a:pt x="1011994" y="122958"/>
                  </a:lnTo>
                  <a:cubicBezTo>
                    <a:pt x="1011994" y="155568"/>
                    <a:pt x="999039" y="186843"/>
                    <a:pt x="975980" y="209902"/>
                  </a:cubicBezTo>
                  <a:cubicBezTo>
                    <a:pt x="952921" y="232961"/>
                    <a:pt x="921647" y="245915"/>
                    <a:pt x="889036" y="245915"/>
                  </a:cubicBezTo>
                  <a:lnTo>
                    <a:pt x="122958" y="245915"/>
                  </a:lnTo>
                  <a:cubicBezTo>
                    <a:pt x="55050" y="245915"/>
                    <a:pt x="0" y="190865"/>
                    <a:pt x="0" y="122958"/>
                  </a:cubicBezTo>
                  <a:lnTo>
                    <a:pt x="0" y="122958"/>
                  </a:lnTo>
                  <a:cubicBezTo>
                    <a:pt x="0" y="55050"/>
                    <a:pt x="55050" y="0"/>
                    <a:pt x="122958" y="0"/>
                  </a:cubicBezTo>
                  <a:close/>
                </a:path>
              </a:pathLst>
            </a:custGeom>
            <a:ln w="28575" cap="rnd">
              <a:solidFill>
                <a:srgbClr val="124944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1037"/>
            <p:cNvSpPr txBox="true"/>
            <p:nvPr/>
          </p:nvSpPr>
          <p:spPr>
            <a:xfrm>
              <a:off x="0" y="-38100"/>
              <a:ext cx="1011994" cy="2840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1038"/>
          <p:cNvGrpSpPr/>
          <p:nvPr/>
        </p:nvGrpSpPr>
        <p:grpSpPr>
          <a:xfrm rot="0">
            <a:off x="9286312" y="6811391"/>
            <a:ext cx="3842414" cy="933710"/>
            <a:chOff x="0" y="0"/>
            <a:chExt cx="1011994" cy="245915"/>
          </a:xfrm>
        </p:grpSpPr>
        <p:sp>
          <p:nvSpPr>
            <p:cNvPr name="Freeform 21" id="1039"/>
            <p:cNvSpPr/>
            <p:nvPr/>
          </p:nvSpPr>
          <p:spPr>
            <a:xfrm flipH="false" flipV="false" rot="0">
              <a:off x="0" y="0"/>
              <a:ext cx="1011994" cy="245915"/>
            </a:xfrm>
            <a:custGeom>
              <a:avLst/>
              <a:gdLst/>
              <a:ahLst/>
              <a:cxnLst/>
              <a:rect r="r" b="b" t="t" l="l"/>
              <a:pathLst>
                <a:path h="245915" w="1011994">
                  <a:moveTo>
                    <a:pt x="122958" y="0"/>
                  </a:moveTo>
                  <a:lnTo>
                    <a:pt x="889036" y="0"/>
                  </a:lnTo>
                  <a:cubicBezTo>
                    <a:pt x="956944" y="0"/>
                    <a:pt x="1011994" y="55050"/>
                    <a:pt x="1011994" y="122958"/>
                  </a:cubicBezTo>
                  <a:lnTo>
                    <a:pt x="1011994" y="122958"/>
                  </a:lnTo>
                  <a:cubicBezTo>
                    <a:pt x="1011994" y="155568"/>
                    <a:pt x="999039" y="186843"/>
                    <a:pt x="975980" y="209902"/>
                  </a:cubicBezTo>
                  <a:cubicBezTo>
                    <a:pt x="952921" y="232961"/>
                    <a:pt x="921647" y="245915"/>
                    <a:pt x="889036" y="245915"/>
                  </a:cubicBezTo>
                  <a:lnTo>
                    <a:pt x="122958" y="245915"/>
                  </a:lnTo>
                  <a:cubicBezTo>
                    <a:pt x="55050" y="245915"/>
                    <a:pt x="0" y="190865"/>
                    <a:pt x="0" y="122958"/>
                  </a:cubicBezTo>
                  <a:lnTo>
                    <a:pt x="0" y="122958"/>
                  </a:lnTo>
                  <a:cubicBezTo>
                    <a:pt x="0" y="55050"/>
                    <a:pt x="55050" y="0"/>
                    <a:pt x="122958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22" id="1040"/>
            <p:cNvSpPr txBox="true"/>
            <p:nvPr/>
          </p:nvSpPr>
          <p:spPr>
            <a:xfrm>
              <a:off x="0" y="-38100"/>
              <a:ext cx="1011994" cy="2840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3" id="1041"/>
          <p:cNvGrpSpPr/>
          <p:nvPr/>
        </p:nvGrpSpPr>
        <p:grpSpPr>
          <a:xfrm rot="0">
            <a:off x="13416886" y="6811391"/>
            <a:ext cx="3842414" cy="933710"/>
            <a:chOff x="0" y="0"/>
            <a:chExt cx="1011994" cy="245915"/>
          </a:xfrm>
        </p:grpSpPr>
        <p:sp>
          <p:nvSpPr>
            <p:cNvPr name="Freeform 24" id="1042"/>
            <p:cNvSpPr/>
            <p:nvPr/>
          </p:nvSpPr>
          <p:spPr>
            <a:xfrm flipH="false" flipV="false" rot="0">
              <a:off x="0" y="0"/>
              <a:ext cx="1011994" cy="245915"/>
            </a:xfrm>
            <a:custGeom>
              <a:avLst/>
              <a:gdLst/>
              <a:ahLst/>
              <a:cxnLst/>
              <a:rect r="r" b="b" t="t" l="l"/>
              <a:pathLst>
                <a:path h="245915" w="1011994">
                  <a:moveTo>
                    <a:pt x="122958" y="0"/>
                  </a:moveTo>
                  <a:lnTo>
                    <a:pt x="889036" y="0"/>
                  </a:lnTo>
                  <a:cubicBezTo>
                    <a:pt x="956944" y="0"/>
                    <a:pt x="1011994" y="55050"/>
                    <a:pt x="1011994" y="122958"/>
                  </a:cubicBezTo>
                  <a:lnTo>
                    <a:pt x="1011994" y="122958"/>
                  </a:lnTo>
                  <a:cubicBezTo>
                    <a:pt x="1011994" y="155568"/>
                    <a:pt x="999039" y="186843"/>
                    <a:pt x="975980" y="209902"/>
                  </a:cubicBezTo>
                  <a:cubicBezTo>
                    <a:pt x="952921" y="232961"/>
                    <a:pt x="921647" y="245915"/>
                    <a:pt x="889036" y="245915"/>
                  </a:cubicBezTo>
                  <a:lnTo>
                    <a:pt x="122958" y="245915"/>
                  </a:lnTo>
                  <a:cubicBezTo>
                    <a:pt x="55050" y="245915"/>
                    <a:pt x="0" y="190865"/>
                    <a:pt x="0" y="122958"/>
                  </a:cubicBezTo>
                  <a:lnTo>
                    <a:pt x="0" y="122958"/>
                  </a:lnTo>
                  <a:cubicBezTo>
                    <a:pt x="0" y="55050"/>
                    <a:pt x="55050" y="0"/>
                    <a:pt x="122958" y="0"/>
                  </a:cubicBezTo>
                  <a:close/>
                </a:path>
              </a:pathLst>
            </a:custGeom>
            <a:ln w="28575" cap="rnd">
              <a:solidFill>
                <a:srgbClr val="124944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5" id="1043"/>
            <p:cNvSpPr txBox="true"/>
            <p:nvPr/>
          </p:nvSpPr>
          <p:spPr>
            <a:xfrm>
              <a:off x="0" y="-38100"/>
              <a:ext cx="1011994" cy="2840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6" id="1044"/>
          <p:cNvGrpSpPr/>
          <p:nvPr/>
        </p:nvGrpSpPr>
        <p:grpSpPr>
          <a:xfrm rot="0">
            <a:off x="1028700" y="8126101"/>
            <a:ext cx="3842414" cy="933710"/>
            <a:chOff x="0" y="0"/>
            <a:chExt cx="1011994" cy="245915"/>
          </a:xfrm>
        </p:grpSpPr>
        <p:sp>
          <p:nvSpPr>
            <p:cNvPr name="Freeform 27" id="1045"/>
            <p:cNvSpPr/>
            <p:nvPr/>
          </p:nvSpPr>
          <p:spPr>
            <a:xfrm flipH="false" flipV="false" rot="0">
              <a:off x="0" y="0"/>
              <a:ext cx="1011994" cy="245915"/>
            </a:xfrm>
            <a:custGeom>
              <a:avLst/>
              <a:gdLst/>
              <a:ahLst/>
              <a:cxnLst/>
              <a:rect r="r" b="b" t="t" l="l"/>
              <a:pathLst>
                <a:path h="245915" w="1011994">
                  <a:moveTo>
                    <a:pt x="122958" y="0"/>
                  </a:moveTo>
                  <a:lnTo>
                    <a:pt x="889036" y="0"/>
                  </a:lnTo>
                  <a:cubicBezTo>
                    <a:pt x="956944" y="0"/>
                    <a:pt x="1011994" y="55050"/>
                    <a:pt x="1011994" y="122958"/>
                  </a:cubicBezTo>
                  <a:lnTo>
                    <a:pt x="1011994" y="122958"/>
                  </a:lnTo>
                  <a:cubicBezTo>
                    <a:pt x="1011994" y="155568"/>
                    <a:pt x="999039" y="186843"/>
                    <a:pt x="975980" y="209902"/>
                  </a:cubicBezTo>
                  <a:cubicBezTo>
                    <a:pt x="952921" y="232961"/>
                    <a:pt x="921647" y="245915"/>
                    <a:pt x="889036" y="245915"/>
                  </a:cubicBezTo>
                  <a:lnTo>
                    <a:pt x="122958" y="245915"/>
                  </a:lnTo>
                  <a:cubicBezTo>
                    <a:pt x="55050" y="245915"/>
                    <a:pt x="0" y="190865"/>
                    <a:pt x="0" y="122958"/>
                  </a:cubicBezTo>
                  <a:lnTo>
                    <a:pt x="0" y="122958"/>
                  </a:lnTo>
                  <a:cubicBezTo>
                    <a:pt x="0" y="55050"/>
                    <a:pt x="55050" y="0"/>
                    <a:pt x="122958" y="0"/>
                  </a:cubicBezTo>
                  <a:close/>
                </a:path>
              </a:pathLst>
            </a:custGeom>
            <a:ln w="28575" cap="rnd">
              <a:solidFill>
                <a:srgbClr val="124944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8" id="1046"/>
            <p:cNvSpPr txBox="true"/>
            <p:nvPr/>
          </p:nvSpPr>
          <p:spPr>
            <a:xfrm>
              <a:off x="0" y="-38100"/>
              <a:ext cx="1011994" cy="2840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9" id="1047"/>
          <p:cNvGrpSpPr/>
          <p:nvPr/>
        </p:nvGrpSpPr>
        <p:grpSpPr>
          <a:xfrm rot="0">
            <a:off x="5159274" y="8126101"/>
            <a:ext cx="3842414" cy="933710"/>
            <a:chOff x="0" y="0"/>
            <a:chExt cx="1011994" cy="245915"/>
          </a:xfrm>
        </p:grpSpPr>
        <p:sp>
          <p:nvSpPr>
            <p:cNvPr name="Freeform 30" id="1048"/>
            <p:cNvSpPr/>
            <p:nvPr/>
          </p:nvSpPr>
          <p:spPr>
            <a:xfrm flipH="false" flipV="false" rot="0">
              <a:off x="0" y="0"/>
              <a:ext cx="1011994" cy="245915"/>
            </a:xfrm>
            <a:custGeom>
              <a:avLst/>
              <a:gdLst/>
              <a:ahLst/>
              <a:cxnLst/>
              <a:rect r="r" b="b" t="t" l="l"/>
              <a:pathLst>
                <a:path h="245915" w="1011994">
                  <a:moveTo>
                    <a:pt x="122958" y="0"/>
                  </a:moveTo>
                  <a:lnTo>
                    <a:pt x="889036" y="0"/>
                  </a:lnTo>
                  <a:cubicBezTo>
                    <a:pt x="956944" y="0"/>
                    <a:pt x="1011994" y="55050"/>
                    <a:pt x="1011994" y="122958"/>
                  </a:cubicBezTo>
                  <a:lnTo>
                    <a:pt x="1011994" y="122958"/>
                  </a:lnTo>
                  <a:cubicBezTo>
                    <a:pt x="1011994" y="155568"/>
                    <a:pt x="999039" y="186843"/>
                    <a:pt x="975980" y="209902"/>
                  </a:cubicBezTo>
                  <a:cubicBezTo>
                    <a:pt x="952921" y="232961"/>
                    <a:pt x="921647" y="245915"/>
                    <a:pt x="889036" y="245915"/>
                  </a:cubicBezTo>
                  <a:lnTo>
                    <a:pt x="122958" y="245915"/>
                  </a:lnTo>
                  <a:cubicBezTo>
                    <a:pt x="55050" y="245915"/>
                    <a:pt x="0" y="190865"/>
                    <a:pt x="0" y="122958"/>
                  </a:cubicBezTo>
                  <a:lnTo>
                    <a:pt x="0" y="122958"/>
                  </a:lnTo>
                  <a:cubicBezTo>
                    <a:pt x="0" y="55050"/>
                    <a:pt x="55050" y="0"/>
                    <a:pt x="122958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31" id="1049"/>
            <p:cNvSpPr txBox="true"/>
            <p:nvPr/>
          </p:nvSpPr>
          <p:spPr>
            <a:xfrm>
              <a:off x="0" y="-38100"/>
              <a:ext cx="1011994" cy="2840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32" id="1050"/>
          <p:cNvGrpSpPr/>
          <p:nvPr/>
        </p:nvGrpSpPr>
        <p:grpSpPr>
          <a:xfrm rot="0">
            <a:off x="9286312" y="8126101"/>
            <a:ext cx="3842414" cy="933710"/>
            <a:chOff x="0" y="0"/>
            <a:chExt cx="1011994" cy="245915"/>
          </a:xfrm>
        </p:grpSpPr>
        <p:sp>
          <p:nvSpPr>
            <p:cNvPr name="Freeform 33" id="1051"/>
            <p:cNvSpPr/>
            <p:nvPr/>
          </p:nvSpPr>
          <p:spPr>
            <a:xfrm flipH="false" flipV="false" rot="0">
              <a:off x="0" y="0"/>
              <a:ext cx="1011994" cy="245915"/>
            </a:xfrm>
            <a:custGeom>
              <a:avLst/>
              <a:gdLst/>
              <a:ahLst/>
              <a:cxnLst/>
              <a:rect r="r" b="b" t="t" l="l"/>
              <a:pathLst>
                <a:path h="245915" w="1011994">
                  <a:moveTo>
                    <a:pt x="122958" y="0"/>
                  </a:moveTo>
                  <a:lnTo>
                    <a:pt x="889036" y="0"/>
                  </a:lnTo>
                  <a:cubicBezTo>
                    <a:pt x="956944" y="0"/>
                    <a:pt x="1011994" y="55050"/>
                    <a:pt x="1011994" y="122958"/>
                  </a:cubicBezTo>
                  <a:lnTo>
                    <a:pt x="1011994" y="122958"/>
                  </a:lnTo>
                  <a:cubicBezTo>
                    <a:pt x="1011994" y="155568"/>
                    <a:pt x="999039" y="186843"/>
                    <a:pt x="975980" y="209902"/>
                  </a:cubicBezTo>
                  <a:cubicBezTo>
                    <a:pt x="952921" y="232961"/>
                    <a:pt x="921647" y="245915"/>
                    <a:pt x="889036" y="245915"/>
                  </a:cubicBezTo>
                  <a:lnTo>
                    <a:pt x="122958" y="245915"/>
                  </a:lnTo>
                  <a:cubicBezTo>
                    <a:pt x="55050" y="245915"/>
                    <a:pt x="0" y="190865"/>
                    <a:pt x="0" y="122958"/>
                  </a:cubicBezTo>
                  <a:lnTo>
                    <a:pt x="0" y="122958"/>
                  </a:lnTo>
                  <a:cubicBezTo>
                    <a:pt x="0" y="55050"/>
                    <a:pt x="55050" y="0"/>
                    <a:pt x="122958" y="0"/>
                  </a:cubicBezTo>
                  <a:close/>
                </a:path>
              </a:pathLst>
            </a:custGeom>
            <a:ln w="28575" cap="rnd">
              <a:solidFill>
                <a:srgbClr val="124944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34" id="1052"/>
            <p:cNvSpPr txBox="true"/>
            <p:nvPr/>
          </p:nvSpPr>
          <p:spPr>
            <a:xfrm>
              <a:off x="0" y="-38100"/>
              <a:ext cx="1011994" cy="2840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35" id="1053"/>
          <p:cNvGrpSpPr/>
          <p:nvPr/>
        </p:nvGrpSpPr>
        <p:grpSpPr>
          <a:xfrm rot="0">
            <a:off x="13416886" y="8126101"/>
            <a:ext cx="3842414" cy="933710"/>
            <a:chOff x="0" y="0"/>
            <a:chExt cx="1011994" cy="245915"/>
          </a:xfrm>
        </p:grpSpPr>
        <p:sp>
          <p:nvSpPr>
            <p:cNvPr name="Freeform 36" id="1054"/>
            <p:cNvSpPr/>
            <p:nvPr/>
          </p:nvSpPr>
          <p:spPr>
            <a:xfrm flipH="false" flipV="false" rot="0">
              <a:off x="0" y="0"/>
              <a:ext cx="1011994" cy="245915"/>
            </a:xfrm>
            <a:custGeom>
              <a:avLst/>
              <a:gdLst/>
              <a:ahLst/>
              <a:cxnLst/>
              <a:rect r="r" b="b" t="t" l="l"/>
              <a:pathLst>
                <a:path h="245915" w="1011994">
                  <a:moveTo>
                    <a:pt x="122958" y="0"/>
                  </a:moveTo>
                  <a:lnTo>
                    <a:pt x="889036" y="0"/>
                  </a:lnTo>
                  <a:cubicBezTo>
                    <a:pt x="956944" y="0"/>
                    <a:pt x="1011994" y="55050"/>
                    <a:pt x="1011994" y="122958"/>
                  </a:cubicBezTo>
                  <a:lnTo>
                    <a:pt x="1011994" y="122958"/>
                  </a:lnTo>
                  <a:cubicBezTo>
                    <a:pt x="1011994" y="155568"/>
                    <a:pt x="999039" y="186843"/>
                    <a:pt x="975980" y="209902"/>
                  </a:cubicBezTo>
                  <a:cubicBezTo>
                    <a:pt x="952921" y="232961"/>
                    <a:pt x="921647" y="245915"/>
                    <a:pt x="889036" y="245915"/>
                  </a:cubicBezTo>
                  <a:lnTo>
                    <a:pt x="122958" y="245915"/>
                  </a:lnTo>
                  <a:cubicBezTo>
                    <a:pt x="55050" y="245915"/>
                    <a:pt x="0" y="190865"/>
                    <a:pt x="0" y="122958"/>
                  </a:cubicBezTo>
                  <a:lnTo>
                    <a:pt x="0" y="122958"/>
                  </a:lnTo>
                  <a:cubicBezTo>
                    <a:pt x="0" y="55050"/>
                    <a:pt x="55050" y="0"/>
                    <a:pt x="122958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37" id="1055"/>
            <p:cNvSpPr txBox="true"/>
            <p:nvPr/>
          </p:nvSpPr>
          <p:spPr>
            <a:xfrm>
              <a:off x="0" y="-38100"/>
              <a:ext cx="1011994" cy="2840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38" id="1056"/>
          <p:cNvSpPr/>
          <p:nvPr/>
        </p:nvSpPr>
        <p:spPr>
          <a:xfrm flipH="false" flipV="false" rot="1546136">
            <a:off x="4735921" y="4227727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1" id="1059"/>
          <p:cNvSpPr txBox="true"/>
          <p:nvPr/>
        </p:nvSpPr>
        <p:spPr>
          <a:xfrm rot="0">
            <a:off x="1820641" y="5722041"/>
            <a:ext cx="2258533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t>2.  Context &amp; Problematic</a:t>
            </a:r>
          </a:p>
        </p:txBody>
      </p:sp>
      <p:sp>
        <p:nvSpPr>
          <p:cNvPr name="TextBox 42" id="1060"/>
          <p:cNvSpPr txBox="true"/>
          <p:nvPr/>
        </p:nvSpPr>
        <p:spPr>
          <a:xfrm rot="0">
            <a:off x="5482626" y="5722041"/>
            <a:ext cx="3195712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t>3.  Experimental Protocol</a:t>
            </a:r>
          </a:p>
        </p:txBody>
      </p:sp>
      <p:sp>
        <p:nvSpPr>
          <p:cNvPr name="TextBox 43" id="1061"/>
          <p:cNvSpPr txBox="true"/>
          <p:nvPr/>
        </p:nvSpPr>
        <p:spPr>
          <a:xfrm rot="0">
            <a:off x="9609663" y="5722041"/>
            <a:ext cx="3195712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t>4.  Contribution I — Explainable Clustering</a:t>
            </a:r>
          </a:p>
        </p:txBody>
      </p:sp>
      <p:sp>
        <p:nvSpPr>
          <p:cNvPr name="TextBox 44" id="1062"/>
          <p:cNvSpPr txBox="true"/>
          <p:nvPr/>
        </p:nvSpPr>
        <p:spPr>
          <a:xfrm rot="0">
            <a:off x="13738326" y="5722041"/>
            <a:ext cx="3195712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t>5.  Contribution II — Multi-level XAI</a:t>
            </a:r>
          </a:p>
        </p:txBody>
      </p:sp>
      <p:sp>
        <p:nvSpPr>
          <p:cNvPr name="TextBox 45" id="1063"/>
          <p:cNvSpPr txBox="true"/>
          <p:nvPr/>
        </p:nvSpPr>
        <p:spPr>
          <a:xfrm rot="0">
            <a:off x="1352051" y="7051551"/>
            <a:ext cx="3195712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46" id="1064"/>
          <p:cNvSpPr txBox="true"/>
          <p:nvPr/>
        </p:nvSpPr>
        <p:spPr>
          <a:xfrm rot="0">
            <a:off x="5482626" y="7035041"/>
            <a:ext cx="3195712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t>6.  Contribution III — DyHuCoG</a:t>
            </a:r>
          </a:p>
        </p:txBody>
      </p:sp>
      <p:sp>
        <p:nvSpPr>
          <p:cNvPr name="TextBox 47" id="1065"/>
          <p:cNvSpPr txBox="true"/>
          <p:nvPr/>
        </p:nvSpPr>
        <p:spPr>
          <a:xfrm rot="0">
            <a:off x="9609663" y="7035041"/>
            <a:ext cx="3195712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t>7.  Conclusion &amp; Perspectives</a:t>
            </a:r>
          </a:p>
        </p:txBody>
      </p:sp>
      <p:sp>
        <p:nvSpPr>
          <p:cNvPr name="TextBox 48" id="1066"/>
          <p:cNvSpPr txBox="true"/>
          <p:nvPr/>
        </p:nvSpPr>
        <p:spPr>
          <a:xfrm rot="0">
            <a:off x="13738326" y="7035041"/>
            <a:ext cx="3195712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49" id="1067"/>
          <p:cNvSpPr txBox="true"/>
          <p:nvPr/>
        </p:nvSpPr>
        <p:spPr>
          <a:xfrm rot="0">
            <a:off x="1711642" y="8349751"/>
            <a:ext cx="2476530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50" id="1068"/>
          <p:cNvSpPr txBox="true"/>
          <p:nvPr/>
        </p:nvSpPr>
        <p:spPr>
          <a:xfrm rot="0">
            <a:off x="5482626" y="8349751"/>
            <a:ext cx="3195712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51" id="1069"/>
          <p:cNvSpPr txBox="true"/>
          <p:nvPr/>
        </p:nvSpPr>
        <p:spPr>
          <a:xfrm rot="0">
            <a:off x="9609663" y="8349751"/>
            <a:ext cx="3195712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52" id="1070"/>
          <p:cNvSpPr txBox="true"/>
          <p:nvPr/>
        </p:nvSpPr>
        <p:spPr>
          <a:xfrm rot="0">
            <a:off x="13738326" y="8349751"/>
            <a:ext cx="3195712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53" id="1071"/>
          <p:cNvSpPr txBox="true"/>
          <p:nvPr/>
        </p:nvSpPr>
        <p:spPr>
          <a:xfrm rot="0">
            <a:off x="5157506" y="3259471"/>
            <a:ext cx="7972988" cy="1685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t>1.  Introduction</a:t>
            </a:r>
          </a:p>
        </p:txBody>
      </p:sp>
      <p:sp>
        <p:nvSpPr>
          <p:cNvPr name="Freeform 54" id="1072"/>
          <p:cNvSpPr/>
          <p:nvPr/>
        </p:nvSpPr>
        <p:spPr>
          <a:xfrm flipH="false" flipV="false" rot="-7614865">
            <a:off x="12708909" y="2828874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90"/>
                </a:lnTo>
                <a:lnTo>
                  <a:pt x="0" y="4626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073"/>
          <p:cNvGrpSpPr/>
          <p:nvPr/>
        </p:nvGrpSpPr>
        <p:grpSpPr>
          <a:xfrm rot="0">
            <a:off x="0" y="5321413"/>
            <a:ext cx="18288000" cy="4965587"/>
            <a:chOff x="0" y="0"/>
            <a:chExt cx="4816593" cy="1307809"/>
          </a:xfrm>
        </p:grpSpPr>
        <p:sp>
          <p:nvSpPr>
            <p:cNvPr name="Freeform 3" id="1074"/>
            <p:cNvSpPr/>
            <p:nvPr/>
          </p:nvSpPr>
          <p:spPr>
            <a:xfrm flipH="false" flipV="false" rot="0">
              <a:off x="0" y="0"/>
              <a:ext cx="4816592" cy="1307809"/>
            </a:xfrm>
            <a:custGeom>
              <a:avLst/>
              <a:gdLst/>
              <a:ahLst/>
              <a:cxnLst/>
              <a:rect r="r" b="b" t="t" l="l"/>
              <a:pathLst>
                <a:path h="1307809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1307809"/>
                  </a:lnTo>
                  <a:lnTo>
                    <a:pt x="0" y="1307809"/>
                  </a:ln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075"/>
            <p:cNvSpPr txBox="true"/>
            <p:nvPr/>
          </p:nvSpPr>
          <p:spPr>
            <a:xfrm>
              <a:off x="0" y="-38100"/>
              <a:ext cx="4816593" cy="13459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11" id="1082"/>
          <p:cNvSpPr txBox="true"/>
          <p:nvPr/>
        </p:nvSpPr>
        <p:spPr>
          <a:xfrm rot="0">
            <a:off x="1028700" y="2635383"/>
            <a:ext cx="15730026" cy="268603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9713"/>
              </a:lnSpc>
            </a:pPr>
            <a:r>
              <a:rPr lang="en-US" sz="3600" spc="-1242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Introduction</a:t>
            </a:r>
          </a:p>
        </p:txBody>
      </p:sp>
      <p:grpSp>
        <p:nvGrpSpPr>
          <p:cNvPr name="Group 12" id="1083"/>
          <p:cNvGrpSpPr/>
          <p:nvPr/>
        </p:nvGrpSpPr>
        <p:grpSpPr>
          <a:xfrm rot="0">
            <a:off x="16258151" y="3265231"/>
            <a:ext cx="1001149" cy="1001149"/>
            <a:chOff x="0" y="0"/>
            <a:chExt cx="812800" cy="812800"/>
          </a:xfrm>
        </p:grpSpPr>
        <p:sp>
          <p:nvSpPr>
            <p:cNvPr name="Freeform 13" id="108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CC665"/>
            </a:solidFill>
          </p:spPr>
          <p:txBody>
            <a:bodyPr/>
            <a:p/>
          </p:txBody>
        </p:sp>
        <p:sp>
          <p:nvSpPr>
            <p:cNvPr name="TextBox 14" id="1085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5" id="1086"/>
          <p:cNvSpPr/>
          <p:nvPr/>
        </p:nvSpPr>
        <p:spPr>
          <a:xfrm flipH="true" flipV="false" rot="-5400000">
            <a:off x="16564092" y="3571172"/>
            <a:ext cx="389267" cy="389267"/>
          </a:xfrm>
          <a:custGeom>
            <a:avLst/>
            <a:gdLst/>
            <a:ahLst/>
            <a:cxnLst/>
            <a:rect r="r" b="b" t="t" l="l"/>
            <a:pathLst>
              <a:path h="389267" w="389267">
                <a:moveTo>
                  <a:pt x="389267" y="0"/>
                </a:moveTo>
                <a:lnTo>
                  <a:pt x="0" y="0"/>
                </a:lnTo>
                <a:lnTo>
                  <a:pt x="0" y="389267"/>
                </a:lnTo>
                <a:lnTo>
                  <a:pt x="389267" y="389267"/>
                </a:lnTo>
                <a:lnTo>
                  <a:pt x="38926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1087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3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Motivation: Three Questions</a:t>
            </a:r>
          </a:p>
        </p:txBody>
      </p:sp>
      <p:grpSp>
        <p:nvGrpSpPr>
          <p:cNvPr name="Group 3" id="1088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1089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1090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1091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1092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093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1094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095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096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109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109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099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110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110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102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110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110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1105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110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110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1108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1109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110" name="TextBox 1109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900" b="1">
                <a:solidFill>
                  <a:srgbClr val="22303C"/>
                </a:solidFill>
                <a:latin typeface="Roca Two"/>
              </a:rPr>
              <a:t>Ubiquity — how do opaque AI systems shape what billions of users see, buy and watch every day?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900" b="1">
                <a:solidFill>
                  <a:srgbClr val="22303C"/>
                </a:solidFill>
                <a:latin typeface="Roca Two"/>
              </a:rPr>
              <a:t>The Black Box — why do state-of-the-art recommenders and clustering pipelines remain opaque to users and designers?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900" b="1">
                <a:solidFill>
                  <a:srgbClr val="22303C"/>
                </a:solidFill>
                <a:latin typeface="Roca Two"/>
              </a:rPr>
              <a:t>Toward Trust — how can transparency be built into the model, instead of being bolted on afterwards?</a:t>
            </a:r>
          </a:p>
          <a:p>
            <a:pPr lvl="1">
              <a:lnSpc>
                <a:spcPct val="105000"/>
              </a:lnSpc>
              <a:spcAft>
                <a:spcPts val="900"/>
              </a:spcAft>
            </a:pPr>
            <a:r>
              <a:rPr sz="1800">
                <a:solidFill>
                  <a:srgbClr val="4F81BD"/>
                </a:solidFill>
                <a:latin typeface="Roca Two"/>
              </a:rPr>
              <a:t>–  </a:t>
            </a:r>
            <a:r>
              <a:rPr sz="1800" b="1">
                <a:solidFill>
                  <a:srgbClr val="22303C"/>
                </a:solidFill>
                <a:latin typeface="Roca Two"/>
              </a:rPr>
              <a:t>Core tension: as models gain expressive power, they lose the transparency needed for trustworthy deployment.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118"/>
          <p:cNvGrpSpPr/>
          <p:nvPr/>
        </p:nvGrpSpPr>
        <p:grpSpPr>
          <a:xfrm rot="0">
            <a:off x="1028700" y="6198504"/>
            <a:ext cx="7975559" cy="3059796"/>
            <a:chOff x="0" y="0"/>
            <a:chExt cx="2100559" cy="805872"/>
          </a:xfrm>
        </p:grpSpPr>
        <p:sp>
          <p:nvSpPr>
            <p:cNvPr name="Freeform 3" id="1119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120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121"/>
          <p:cNvGrpSpPr/>
          <p:nvPr/>
        </p:nvGrpSpPr>
        <p:grpSpPr>
          <a:xfrm rot="0">
            <a:off x="1595752" y="5758566"/>
            <a:ext cx="3204081" cy="776582"/>
            <a:chOff x="0" y="0"/>
            <a:chExt cx="843873" cy="204532"/>
          </a:xfrm>
        </p:grpSpPr>
        <p:sp>
          <p:nvSpPr>
            <p:cNvPr name="Freeform 6" id="1122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1123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124"/>
          <p:cNvGrpSpPr/>
          <p:nvPr/>
        </p:nvGrpSpPr>
        <p:grpSpPr>
          <a:xfrm rot="0">
            <a:off x="9283741" y="6198504"/>
            <a:ext cx="7975559" cy="3059796"/>
            <a:chOff x="0" y="0"/>
            <a:chExt cx="2100559" cy="805872"/>
          </a:xfrm>
        </p:grpSpPr>
        <p:sp>
          <p:nvSpPr>
            <p:cNvPr name="Freeform 9" id="1125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1126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127"/>
          <p:cNvGrpSpPr/>
          <p:nvPr/>
        </p:nvGrpSpPr>
        <p:grpSpPr>
          <a:xfrm rot="0">
            <a:off x="9850793" y="5758566"/>
            <a:ext cx="3204081" cy="776582"/>
            <a:chOff x="0" y="0"/>
            <a:chExt cx="843873" cy="204532"/>
          </a:xfrm>
        </p:grpSpPr>
        <p:sp>
          <p:nvSpPr>
            <p:cNvPr name="Freeform 12" id="1128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1129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130"/>
          <p:cNvGrpSpPr/>
          <p:nvPr/>
        </p:nvGrpSpPr>
        <p:grpSpPr>
          <a:xfrm rot="0">
            <a:off x="9850793" y="1561357"/>
            <a:ext cx="9713181" cy="3999197"/>
            <a:chOff x="0" y="0"/>
            <a:chExt cx="3055296" cy="1257954"/>
          </a:xfrm>
        </p:grpSpPr>
        <p:sp>
          <p:nvSpPr>
            <p:cNvPr name="Freeform 15" id="1131"/>
            <p:cNvSpPr/>
            <p:nvPr/>
          </p:nvSpPr>
          <p:spPr>
            <a:xfrm flipH="false" flipV="false" rot="0">
              <a:off x="0" y="0"/>
              <a:ext cx="3055296" cy="1257954"/>
            </a:xfrm>
            <a:custGeom>
              <a:avLst/>
              <a:gdLst/>
              <a:ahLst/>
              <a:cxnLst/>
              <a:rect r="r" b="b" t="t" l="l"/>
              <a:pathLst>
                <a:path h="1257954" w="3055296">
                  <a:moveTo>
                    <a:pt x="52605" y="0"/>
                  </a:moveTo>
                  <a:lnTo>
                    <a:pt x="3002691" y="0"/>
                  </a:lnTo>
                  <a:cubicBezTo>
                    <a:pt x="3031744" y="0"/>
                    <a:pt x="3055296" y="23552"/>
                    <a:pt x="3055296" y="52605"/>
                  </a:cubicBezTo>
                  <a:lnTo>
                    <a:pt x="3055296" y="1205348"/>
                  </a:lnTo>
                  <a:cubicBezTo>
                    <a:pt x="3055296" y="1219300"/>
                    <a:pt x="3049754" y="1232680"/>
                    <a:pt x="3039888" y="1242546"/>
                  </a:cubicBezTo>
                  <a:cubicBezTo>
                    <a:pt x="3030023" y="1252411"/>
                    <a:pt x="3016642" y="1257954"/>
                    <a:pt x="3002691" y="1257954"/>
                  </a:cubicBezTo>
                  <a:lnTo>
                    <a:pt x="52605" y="1257954"/>
                  </a:lnTo>
                  <a:cubicBezTo>
                    <a:pt x="23552" y="1257954"/>
                    <a:pt x="0" y="1234401"/>
                    <a:pt x="0" y="1205348"/>
                  </a:cubicBezTo>
                  <a:lnTo>
                    <a:pt x="0" y="52605"/>
                  </a:lnTo>
                  <a:cubicBezTo>
                    <a:pt x="0" y="23552"/>
                    <a:pt x="23552" y="0"/>
                    <a:pt x="52605" y="0"/>
                  </a:cubicBezTo>
                  <a:close/>
                </a:path>
              </a:pathLst>
            </a:custGeom>
            <a:blipFill>
              <a:blip r:embed="rId2"/>
              <a:stretch>
                <a:fillRect l="-27365" t="-26874" r="0" b="-79354"/>
              </a:stretch>
            </a:blipFill>
          </p:spPr>
          <p:txBody>
            <a:bodyPr/>
            <a:p/>
          </p:txBody>
        </p:sp>
      </p:grpSp>
      <p:sp>
        <p:nvSpPr>
          <p:cNvPr name="Freeform 16" id="1132"/>
          <p:cNvSpPr/>
          <p:nvPr/>
        </p:nvSpPr>
        <p:spPr>
          <a:xfrm flipH="false" flipV="false" rot="2916010">
            <a:off x="8566222" y="4850595"/>
            <a:ext cx="599295" cy="585811"/>
          </a:xfrm>
          <a:custGeom>
            <a:avLst/>
            <a:gdLst/>
            <a:ahLst/>
            <a:cxnLst/>
            <a:rect r="r" b="b" t="t" l="l"/>
            <a:pathLst>
              <a:path h="585811" w="599295">
                <a:moveTo>
                  <a:pt x="0" y="0"/>
                </a:moveTo>
                <a:lnTo>
                  <a:pt x="599295" y="0"/>
                </a:lnTo>
                <a:lnTo>
                  <a:pt x="599295" y="585810"/>
                </a:lnTo>
                <a:lnTo>
                  <a:pt x="0" y="5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1133"/>
          <p:cNvSpPr/>
          <p:nvPr/>
        </p:nvSpPr>
        <p:spPr>
          <a:xfrm flipH="false" flipV="false" rot="-1166207">
            <a:off x="616105" y="1721563"/>
            <a:ext cx="509290" cy="503560"/>
          </a:xfrm>
          <a:custGeom>
            <a:avLst/>
            <a:gdLst/>
            <a:ahLst/>
            <a:cxnLst/>
            <a:rect r="r" b="b" t="t" l="l"/>
            <a:pathLst>
              <a:path h="503560" w="509290">
                <a:moveTo>
                  <a:pt x="0" y="0"/>
                </a:moveTo>
                <a:lnTo>
                  <a:pt x="509290" y="0"/>
                </a:lnTo>
                <a:lnTo>
                  <a:pt x="509290" y="503560"/>
                </a:lnTo>
                <a:lnTo>
                  <a:pt x="0" y="5035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5" id="1141"/>
          <p:cNvSpPr txBox="true"/>
          <p:nvPr/>
        </p:nvSpPr>
        <p:spPr>
          <a:xfrm rot="0">
            <a:off x="1028700" y="2504394"/>
            <a:ext cx="7819856" cy="179361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26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Actionable Insight — the Definition</a:t>
            </a:r>
          </a:p>
        </p:txBody>
      </p:sp>
      <p:sp>
        <p:nvSpPr>
          <p:cNvPr id="1142" name="TextBox 1141"/>
          <p:cNvSpPr txBox="1"/>
          <p:nvPr/>
        </p:nvSpPr>
        <p:spPr>
          <a:xfrm>
            <a:off x="640080" y="2103120"/>
            <a:ext cx="576072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Definition 1.1 (Actionable insight)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An explanation is actionable when it identifies at least one modifiable factor whose change is associated with a specifiable change in model output…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… and that factor is expressible in the semantic vocabulary of the task domain.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Accessibility means the domain's own terms: a physicochemical variable, a pollution indicator, or a preference signal — not an opaque latent code.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Why: an explanation that identifies a modifiable driver supports intervention, not merely description.</a:t>
            </a:r>
          </a:p>
        </p:txBody>
      </p:sp>
      <p:pic>
        <p:nvPicPr>
          <p:cNvPr id="1143" name="Picture 1142" descr="action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94560"/>
            <a:ext cx="502920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142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114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14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145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114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114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148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114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115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151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115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115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154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115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115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157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115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115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1169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36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Research Context</a:t>
            </a:r>
          </a:p>
        </p:txBody>
      </p:sp>
      <p:sp>
        <p:nvSpPr>
          <p:cNvPr name="Freeform 30" id="1170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1171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172" name="TextBox 1171"/>
          <p:cNvSpPr txBox="1"/>
          <p:nvPr/>
        </p:nvSpPr>
        <p:spPr>
          <a:xfrm>
            <a:off x="640080" y="2103120"/>
            <a:ext cx="576072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Recommenders evolved from similarity filters to complex representation learning on sparse, high-dimensional, dynamic data.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→ MF → neural CF → graph CNNs → hypergraph: each step improved ranking but intensified the interpretability deficit.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Undermines user trust; constrains debugging; collides with EU AI Act, OECD, GDPR.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1">
                <a:solidFill>
                  <a:srgbClr val="22303C"/>
                </a:solidFill>
                <a:latin typeface="Roca Two"/>
              </a:rPr>
              <a:t>EU AI Act (Art. 13) requires high-risk systems to provide explanations in human-understandable terms.</a:t>
            </a:r>
          </a:p>
        </p:txBody>
      </p:sp>
      <p:pic>
        <p:nvPicPr>
          <p:cNvPr id="1173" name="Picture 1172" descr="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94560"/>
            <a:ext cx="502920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172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117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17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175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117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117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178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117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118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181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118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118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184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118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118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187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118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118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1199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22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AI-Powered Recommendation Systems Around Us</a:t>
            </a:r>
          </a:p>
        </p:txBody>
      </p:sp>
      <p:sp>
        <p:nvSpPr>
          <p:cNvPr name="Freeform 30" id="1200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1201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202" name="TextBox 1201"/>
          <p:cNvSpPr txBox="1"/>
          <p:nvPr/>
        </p:nvSpPr>
        <p:spPr>
          <a:xfrm>
            <a:off x="640080" y="2103120"/>
            <a:ext cx="576072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AI recommendation mediates what billions see, buy and listen to every day: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Streaming &amp; video: Netflix, Prime Video, YouTube.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Music: Spotify, YouTube Music, Deezer.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Shopping &amp; e-commerce: Amazon, AliExpress, Noon.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Social &amp; feeds: TikTok, Instagram, LinkedIn.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Maps, ads, search: Google Maps, Uber, Google Ads.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Accurate yet opaque — the very gap our thesis targets.</a:t>
            </a:r>
          </a:p>
        </p:txBody>
      </p:sp>
      <p:pic>
        <p:nvPicPr>
          <p:cNvPr id="1203" name="Picture 1202" descr="recsys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94560"/>
            <a:ext cx="502920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202"/>
          <p:cNvGrpSpPr/>
          <p:nvPr/>
        </p:nvGrpSpPr>
        <p:grpSpPr>
          <a:xfrm rot="0">
            <a:off x="0" y="5321413"/>
            <a:ext cx="18288000" cy="4965587"/>
            <a:chOff x="0" y="0"/>
            <a:chExt cx="4816593" cy="1307809"/>
          </a:xfrm>
        </p:grpSpPr>
        <p:sp>
          <p:nvSpPr>
            <p:cNvPr name="Freeform 3" id="1203"/>
            <p:cNvSpPr/>
            <p:nvPr/>
          </p:nvSpPr>
          <p:spPr>
            <a:xfrm flipH="false" flipV="false" rot="0">
              <a:off x="0" y="0"/>
              <a:ext cx="4816592" cy="1307809"/>
            </a:xfrm>
            <a:custGeom>
              <a:avLst/>
              <a:gdLst/>
              <a:ahLst/>
              <a:cxnLst/>
              <a:rect r="r" b="b" t="t" l="l"/>
              <a:pathLst>
                <a:path h="1307809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1307809"/>
                  </a:lnTo>
                  <a:lnTo>
                    <a:pt x="0" y="1307809"/>
                  </a:ln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204"/>
            <p:cNvSpPr txBox="true"/>
            <p:nvPr/>
          </p:nvSpPr>
          <p:spPr>
            <a:xfrm>
              <a:off x="0" y="-38100"/>
              <a:ext cx="4816593" cy="13459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11" id="1211"/>
          <p:cNvSpPr txBox="true"/>
          <p:nvPr/>
        </p:nvSpPr>
        <p:spPr>
          <a:xfrm rot="0">
            <a:off x="1028700" y="2635383"/>
            <a:ext cx="15730026" cy="268603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9713"/>
              </a:lnSpc>
            </a:pPr>
            <a:r>
              <a:rPr lang="en-US" sz="3000" spc="-1242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Context &amp; Problematic</a:t>
            </a:r>
          </a:p>
        </p:txBody>
      </p:sp>
      <p:grpSp>
        <p:nvGrpSpPr>
          <p:cNvPr name="Group 12" id="1212"/>
          <p:cNvGrpSpPr/>
          <p:nvPr/>
        </p:nvGrpSpPr>
        <p:grpSpPr>
          <a:xfrm rot="0">
            <a:off x="16258151" y="3265231"/>
            <a:ext cx="1001149" cy="1001149"/>
            <a:chOff x="0" y="0"/>
            <a:chExt cx="812800" cy="812800"/>
          </a:xfrm>
        </p:grpSpPr>
        <p:sp>
          <p:nvSpPr>
            <p:cNvPr name="Freeform 13" id="12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CC665"/>
            </a:solidFill>
          </p:spPr>
          <p:txBody>
            <a:bodyPr/>
            <a:p/>
          </p:txBody>
        </p:sp>
        <p:sp>
          <p:nvSpPr>
            <p:cNvPr name="TextBox 14" id="1214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5" id="1215"/>
          <p:cNvSpPr/>
          <p:nvPr/>
        </p:nvSpPr>
        <p:spPr>
          <a:xfrm flipH="true" flipV="false" rot="-5400000">
            <a:off x="16564092" y="3571172"/>
            <a:ext cx="389267" cy="389267"/>
          </a:xfrm>
          <a:custGeom>
            <a:avLst/>
            <a:gdLst/>
            <a:ahLst/>
            <a:cxnLst/>
            <a:rect r="r" b="b" t="t" l="l"/>
            <a:pathLst>
              <a:path h="389267" w="389267">
                <a:moveTo>
                  <a:pt x="389267" y="0"/>
                </a:moveTo>
                <a:lnTo>
                  <a:pt x="0" y="0"/>
                </a:lnTo>
                <a:lnTo>
                  <a:pt x="0" y="389267"/>
                </a:lnTo>
                <a:lnTo>
                  <a:pt x="389267" y="389267"/>
                </a:lnTo>
                <a:lnTo>
                  <a:pt x="38926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216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121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21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219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122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122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222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122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122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225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122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122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228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122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123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231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123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123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1243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26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Recommendation &amp; Clustering Paradigms</a:t>
            </a:r>
          </a:p>
        </p:txBody>
      </p:sp>
      <p:sp>
        <p:nvSpPr>
          <p:cNvPr name="Freeform 30" id="1244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1245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246" name="TextBox 1245"/>
          <p:cNvSpPr txBox="1"/>
          <p:nvPr/>
        </p:nvSpPr>
        <p:spPr>
          <a:xfrm>
            <a:off x="640080" y="2103120"/>
            <a:ext cx="576072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Collaborative filtering – users who behaved similarly will value similar items (user-/item-based).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Content-based – recommends items sharing attributes with a user profile.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Hybrid – combines collaborative and content signals.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Matrix factorisation – R ≈ PQᵀ: compact but opaque latent factors.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Graph-based – interaction graph with neighbourhood propagation (LightGCN, hypergraph).</a:t>
            </a:r>
          </a:p>
        </p:txBody>
      </p:sp>
      <p:pic>
        <p:nvPicPr>
          <p:cNvPr id="1247" name="Picture 1246" descr="content_ba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94560"/>
            <a:ext cx="5029200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246"/>
          <p:cNvGrpSpPr/>
          <p:nvPr/>
        </p:nvGrpSpPr>
        <p:grpSpPr>
          <a:xfrm rot="0">
            <a:off x="1028700" y="6198504"/>
            <a:ext cx="7975559" cy="3059796"/>
            <a:chOff x="0" y="0"/>
            <a:chExt cx="2100559" cy="805872"/>
          </a:xfrm>
        </p:grpSpPr>
        <p:sp>
          <p:nvSpPr>
            <p:cNvPr name="Freeform 3" id="1247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248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249"/>
          <p:cNvGrpSpPr/>
          <p:nvPr/>
        </p:nvGrpSpPr>
        <p:grpSpPr>
          <a:xfrm rot="0">
            <a:off x="1595752" y="5758566"/>
            <a:ext cx="3204081" cy="776582"/>
            <a:chOff x="0" y="0"/>
            <a:chExt cx="843873" cy="204532"/>
          </a:xfrm>
        </p:grpSpPr>
        <p:sp>
          <p:nvSpPr>
            <p:cNvPr name="Freeform 6" id="1250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1251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252"/>
          <p:cNvGrpSpPr/>
          <p:nvPr/>
        </p:nvGrpSpPr>
        <p:grpSpPr>
          <a:xfrm rot="0">
            <a:off x="9283741" y="6198504"/>
            <a:ext cx="7975559" cy="3059796"/>
            <a:chOff x="0" y="0"/>
            <a:chExt cx="2100559" cy="805872"/>
          </a:xfrm>
        </p:grpSpPr>
        <p:sp>
          <p:nvSpPr>
            <p:cNvPr name="Freeform 9" id="1253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1254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255"/>
          <p:cNvGrpSpPr/>
          <p:nvPr/>
        </p:nvGrpSpPr>
        <p:grpSpPr>
          <a:xfrm rot="0">
            <a:off x="9850793" y="5758566"/>
            <a:ext cx="3204081" cy="776582"/>
            <a:chOff x="0" y="0"/>
            <a:chExt cx="843873" cy="204532"/>
          </a:xfrm>
        </p:grpSpPr>
        <p:sp>
          <p:nvSpPr>
            <p:cNvPr name="Freeform 12" id="1256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1257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258"/>
          <p:cNvGrpSpPr/>
          <p:nvPr/>
        </p:nvGrpSpPr>
        <p:grpSpPr>
          <a:xfrm rot="0">
            <a:off x="9850793" y="1561357"/>
            <a:ext cx="9713181" cy="3999197"/>
            <a:chOff x="0" y="0"/>
            <a:chExt cx="3055296" cy="1257954"/>
          </a:xfrm>
        </p:grpSpPr>
        <p:sp>
          <p:nvSpPr>
            <p:cNvPr name="Freeform 15" id="1259"/>
            <p:cNvSpPr/>
            <p:nvPr/>
          </p:nvSpPr>
          <p:spPr>
            <a:xfrm flipH="false" flipV="false" rot="0">
              <a:off x="0" y="0"/>
              <a:ext cx="3055296" cy="1257954"/>
            </a:xfrm>
            <a:custGeom>
              <a:avLst/>
              <a:gdLst/>
              <a:ahLst/>
              <a:cxnLst/>
              <a:rect r="r" b="b" t="t" l="l"/>
              <a:pathLst>
                <a:path h="1257954" w="3055296">
                  <a:moveTo>
                    <a:pt x="52605" y="0"/>
                  </a:moveTo>
                  <a:lnTo>
                    <a:pt x="3002691" y="0"/>
                  </a:lnTo>
                  <a:cubicBezTo>
                    <a:pt x="3031744" y="0"/>
                    <a:pt x="3055296" y="23552"/>
                    <a:pt x="3055296" y="52605"/>
                  </a:cubicBezTo>
                  <a:lnTo>
                    <a:pt x="3055296" y="1205348"/>
                  </a:lnTo>
                  <a:cubicBezTo>
                    <a:pt x="3055296" y="1219300"/>
                    <a:pt x="3049754" y="1232680"/>
                    <a:pt x="3039888" y="1242546"/>
                  </a:cubicBezTo>
                  <a:cubicBezTo>
                    <a:pt x="3030023" y="1252411"/>
                    <a:pt x="3016642" y="1257954"/>
                    <a:pt x="3002691" y="1257954"/>
                  </a:cubicBezTo>
                  <a:lnTo>
                    <a:pt x="52605" y="1257954"/>
                  </a:lnTo>
                  <a:cubicBezTo>
                    <a:pt x="23552" y="1257954"/>
                    <a:pt x="0" y="1234401"/>
                    <a:pt x="0" y="1205348"/>
                  </a:cubicBezTo>
                  <a:lnTo>
                    <a:pt x="0" y="52605"/>
                  </a:lnTo>
                  <a:cubicBezTo>
                    <a:pt x="0" y="23552"/>
                    <a:pt x="23552" y="0"/>
                    <a:pt x="52605" y="0"/>
                  </a:cubicBezTo>
                  <a:close/>
                </a:path>
              </a:pathLst>
            </a:custGeom>
            <a:blipFill>
              <a:blip r:embed="rId2"/>
              <a:stretch>
                <a:fillRect l="-27365" t="-26874" r="0" b="-79354"/>
              </a:stretch>
            </a:blipFill>
          </p:spPr>
          <p:txBody>
            <a:bodyPr/>
            <a:p/>
          </p:txBody>
        </p:sp>
      </p:grpSp>
      <p:sp>
        <p:nvSpPr>
          <p:cNvPr name="Freeform 16" id="1260"/>
          <p:cNvSpPr/>
          <p:nvPr/>
        </p:nvSpPr>
        <p:spPr>
          <a:xfrm flipH="false" flipV="false" rot="2916010">
            <a:off x="8566222" y="4850595"/>
            <a:ext cx="599295" cy="585811"/>
          </a:xfrm>
          <a:custGeom>
            <a:avLst/>
            <a:gdLst/>
            <a:ahLst/>
            <a:cxnLst/>
            <a:rect r="r" b="b" t="t" l="l"/>
            <a:pathLst>
              <a:path h="585811" w="599295">
                <a:moveTo>
                  <a:pt x="0" y="0"/>
                </a:moveTo>
                <a:lnTo>
                  <a:pt x="599295" y="0"/>
                </a:lnTo>
                <a:lnTo>
                  <a:pt x="599295" y="585810"/>
                </a:lnTo>
                <a:lnTo>
                  <a:pt x="0" y="5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1261"/>
          <p:cNvSpPr/>
          <p:nvPr/>
        </p:nvSpPr>
        <p:spPr>
          <a:xfrm flipH="false" flipV="false" rot="-1166207">
            <a:off x="616105" y="1721563"/>
            <a:ext cx="509290" cy="503560"/>
          </a:xfrm>
          <a:custGeom>
            <a:avLst/>
            <a:gdLst/>
            <a:ahLst/>
            <a:cxnLst/>
            <a:rect r="r" b="b" t="t" l="l"/>
            <a:pathLst>
              <a:path h="503560" w="509290">
                <a:moveTo>
                  <a:pt x="0" y="0"/>
                </a:moveTo>
                <a:lnTo>
                  <a:pt x="509290" y="0"/>
                </a:lnTo>
                <a:lnTo>
                  <a:pt x="509290" y="503560"/>
                </a:lnTo>
                <a:lnTo>
                  <a:pt x="0" y="5035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5" id="1269"/>
          <p:cNvSpPr txBox="true"/>
          <p:nvPr/>
        </p:nvSpPr>
        <p:spPr>
          <a:xfrm rot="0">
            <a:off x="1028700" y="2504394"/>
            <a:ext cx="7819856" cy="179361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22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Limitations of Classical Recommenders &amp; Unsupervised Models</a:t>
            </a:r>
          </a:p>
        </p:txBody>
      </p:sp>
      <p:sp>
        <p:nvSpPr>
          <p:cNvPr id="1270" name="TextBox 1269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900" b="0">
                <a:solidFill>
                  <a:srgbClr val="22303C"/>
                </a:solidFill>
                <a:latin typeface="Roca Two"/>
              </a:rPr>
              <a:t>Data sparsity &amp; scalability — the user–item matrix is overwhelmingly empty.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900" b="0">
                <a:solidFill>
                  <a:srgbClr val="22303C"/>
                </a:solidFill>
                <a:latin typeface="Roca Two"/>
              </a:rPr>
              <a:t>Cold-start — new users and items are structurally disadvantaged.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900" b="0">
                <a:solidFill>
                  <a:srgbClr val="22303C"/>
                </a:solidFill>
                <a:latin typeface="Roca Two"/>
              </a:rPr>
              <a:t>Popularity bias &amp; lack of diversity — exposure begets interaction, begets exposure.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900" b="1">
                <a:solidFill>
                  <a:srgbClr val="22303C"/>
                </a:solidFill>
                <a:latin typeface="Roca Two"/>
              </a:rPr>
              <a:t>Absence of interpretability — the most fundamental limit.</a:t>
            </a:r>
          </a:p>
          <a:p>
            <a:pPr lvl="1">
              <a:lnSpc>
                <a:spcPct val="105000"/>
              </a:lnSpc>
              <a:spcAft>
                <a:spcPts val="900"/>
              </a:spcAft>
            </a:pPr>
            <a:r>
              <a:rPr sz="1800">
                <a:solidFill>
                  <a:srgbClr val="4F81BD"/>
                </a:solidFill>
                <a:latin typeface="Roca Two"/>
              </a:rPr>
              <a:t>–  </a:t>
            </a:r>
            <a:r>
              <a:rPr sz="1800" b="0">
                <a:solidFill>
                  <a:srgbClr val="22303C"/>
                </a:solidFill>
                <a:latin typeface="Roca Two"/>
              </a:rPr>
              <a:t>For clustering: methods favour local OR global explanation, not both; struggle to scale; explanations rarely stay coherent across resolutions.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270"/>
          <p:cNvGrpSpPr/>
          <p:nvPr/>
        </p:nvGrpSpPr>
        <p:grpSpPr>
          <a:xfrm rot="0">
            <a:off x="1028700" y="6198504"/>
            <a:ext cx="7975559" cy="3059796"/>
            <a:chOff x="0" y="0"/>
            <a:chExt cx="2100559" cy="805872"/>
          </a:xfrm>
        </p:grpSpPr>
        <p:sp>
          <p:nvSpPr>
            <p:cNvPr name="Freeform 3" id="1271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272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273"/>
          <p:cNvGrpSpPr/>
          <p:nvPr/>
        </p:nvGrpSpPr>
        <p:grpSpPr>
          <a:xfrm rot="0">
            <a:off x="1595752" y="5758566"/>
            <a:ext cx="3204081" cy="776582"/>
            <a:chOff x="0" y="0"/>
            <a:chExt cx="843873" cy="204532"/>
          </a:xfrm>
        </p:grpSpPr>
        <p:sp>
          <p:nvSpPr>
            <p:cNvPr name="Freeform 6" id="1274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1275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276"/>
          <p:cNvGrpSpPr/>
          <p:nvPr/>
        </p:nvGrpSpPr>
        <p:grpSpPr>
          <a:xfrm rot="0">
            <a:off x="9283741" y="6198504"/>
            <a:ext cx="7975559" cy="3059796"/>
            <a:chOff x="0" y="0"/>
            <a:chExt cx="2100559" cy="805872"/>
          </a:xfrm>
        </p:grpSpPr>
        <p:sp>
          <p:nvSpPr>
            <p:cNvPr name="Freeform 9" id="1277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1278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279"/>
          <p:cNvGrpSpPr/>
          <p:nvPr/>
        </p:nvGrpSpPr>
        <p:grpSpPr>
          <a:xfrm rot="0">
            <a:off x="9850793" y="5758566"/>
            <a:ext cx="3204081" cy="776582"/>
            <a:chOff x="0" y="0"/>
            <a:chExt cx="843873" cy="204532"/>
          </a:xfrm>
        </p:grpSpPr>
        <p:sp>
          <p:nvSpPr>
            <p:cNvPr name="Freeform 12" id="1280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1281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282"/>
          <p:cNvGrpSpPr/>
          <p:nvPr/>
        </p:nvGrpSpPr>
        <p:grpSpPr>
          <a:xfrm rot="0">
            <a:off x="9850793" y="1561357"/>
            <a:ext cx="9713181" cy="3999197"/>
            <a:chOff x="0" y="0"/>
            <a:chExt cx="3055296" cy="1257954"/>
          </a:xfrm>
        </p:grpSpPr>
        <p:sp>
          <p:nvSpPr>
            <p:cNvPr name="Freeform 15" id="1283"/>
            <p:cNvSpPr/>
            <p:nvPr/>
          </p:nvSpPr>
          <p:spPr>
            <a:xfrm flipH="false" flipV="false" rot="0">
              <a:off x="0" y="0"/>
              <a:ext cx="3055296" cy="1257954"/>
            </a:xfrm>
            <a:custGeom>
              <a:avLst/>
              <a:gdLst/>
              <a:ahLst/>
              <a:cxnLst/>
              <a:rect r="r" b="b" t="t" l="l"/>
              <a:pathLst>
                <a:path h="1257954" w="3055296">
                  <a:moveTo>
                    <a:pt x="52605" y="0"/>
                  </a:moveTo>
                  <a:lnTo>
                    <a:pt x="3002691" y="0"/>
                  </a:lnTo>
                  <a:cubicBezTo>
                    <a:pt x="3031744" y="0"/>
                    <a:pt x="3055296" y="23552"/>
                    <a:pt x="3055296" y="52605"/>
                  </a:cubicBezTo>
                  <a:lnTo>
                    <a:pt x="3055296" y="1205348"/>
                  </a:lnTo>
                  <a:cubicBezTo>
                    <a:pt x="3055296" y="1219300"/>
                    <a:pt x="3049754" y="1232680"/>
                    <a:pt x="3039888" y="1242546"/>
                  </a:cubicBezTo>
                  <a:cubicBezTo>
                    <a:pt x="3030023" y="1252411"/>
                    <a:pt x="3016642" y="1257954"/>
                    <a:pt x="3002691" y="1257954"/>
                  </a:cubicBezTo>
                  <a:lnTo>
                    <a:pt x="52605" y="1257954"/>
                  </a:lnTo>
                  <a:cubicBezTo>
                    <a:pt x="23552" y="1257954"/>
                    <a:pt x="0" y="1234401"/>
                    <a:pt x="0" y="1205348"/>
                  </a:cubicBezTo>
                  <a:lnTo>
                    <a:pt x="0" y="52605"/>
                  </a:lnTo>
                  <a:cubicBezTo>
                    <a:pt x="0" y="23552"/>
                    <a:pt x="23552" y="0"/>
                    <a:pt x="52605" y="0"/>
                  </a:cubicBezTo>
                  <a:close/>
                </a:path>
              </a:pathLst>
            </a:custGeom>
            <a:blipFill>
              <a:blip r:embed="rId2"/>
              <a:stretch>
                <a:fillRect l="-27365" t="-26874" r="0" b="-79354"/>
              </a:stretch>
            </a:blipFill>
          </p:spPr>
          <p:txBody>
            <a:bodyPr/>
            <a:p/>
          </p:txBody>
        </p:sp>
      </p:grpSp>
      <p:sp>
        <p:nvSpPr>
          <p:cNvPr name="Freeform 16" id="1284"/>
          <p:cNvSpPr/>
          <p:nvPr/>
        </p:nvSpPr>
        <p:spPr>
          <a:xfrm flipH="false" flipV="false" rot="2916010">
            <a:off x="8566222" y="4850595"/>
            <a:ext cx="599295" cy="585811"/>
          </a:xfrm>
          <a:custGeom>
            <a:avLst/>
            <a:gdLst/>
            <a:ahLst/>
            <a:cxnLst/>
            <a:rect r="r" b="b" t="t" l="l"/>
            <a:pathLst>
              <a:path h="585811" w="599295">
                <a:moveTo>
                  <a:pt x="0" y="0"/>
                </a:moveTo>
                <a:lnTo>
                  <a:pt x="599295" y="0"/>
                </a:lnTo>
                <a:lnTo>
                  <a:pt x="599295" y="585810"/>
                </a:lnTo>
                <a:lnTo>
                  <a:pt x="0" y="5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1285"/>
          <p:cNvSpPr/>
          <p:nvPr/>
        </p:nvSpPr>
        <p:spPr>
          <a:xfrm flipH="false" flipV="false" rot="-1166207">
            <a:off x="616105" y="1721563"/>
            <a:ext cx="509290" cy="503560"/>
          </a:xfrm>
          <a:custGeom>
            <a:avLst/>
            <a:gdLst/>
            <a:ahLst/>
            <a:cxnLst/>
            <a:rect r="r" b="b" t="t" l="l"/>
            <a:pathLst>
              <a:path h="503560" w="509290">
                <a:moveTo>
                  <a:pt x="0" y="0"/>
                </a:moveTo>
                <a:lnTo>
                  <a:pt x="509290" y="0"/>
                </a:lnTo>
                <a:lnTo>
                  <a:pt x="509290" y="503560"/>
                </a:lnTo>
                <a:lnTo>
                  <a:pt x="0" y="5035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5" id="1293"/>
          <p:cNvSpPr txBox="true"/>
          <p:nvPr/>
        </p:nvSpPr>
        <p:spPr>
          <a:xfrm rot="0">
            <a:off x="1028700" y="2504394"/>
            <a:ext cx="7819856" cy="179361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22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Three Structuring Limitations (Problem Statement)</a:t>
            </a:r>
          </a:p>
        </p:txBody>
      </p:sp>
      <p:sp>
        <p:nvSpPr>
          <p:cNvPr id="1294" name="TextBox 1293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900" b="1">
                <a:solidFill>
                  <a:srgbClr val="22303C"/>
                </a:solidFill>
                <a:latin typeface="Roca Two"/>
              </a:rPr>
              <a:t>1. Lack of explainability — complex models remain hard to interpret faithfully and actionably.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900" b="1">
                <a:solidFill>
                  <a:srgbClr val="22303C"/>
                </a:solidFill>
                <a:latin typeface="Roca Two"/>
              </a:rPr>
              <a:t>2. Difficulty of scaling — local explanations do not transfer naturally to hierarchical structures or large datasets.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9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900" b="1">
                <a:solidFill>
                  <a:srgbClr val="22303C"/>
                </a:solidFill>
                <a:latin typeface="Roca Two"/>
              </a:rPr>
              <a:t>3. Weak integration into learning — most explanations stay post-hoc and do not shape model dynamics or the accuracy–diversity–context trade-off.</a:t>
            </a:r>
          </a:p>
          <a:p>
            <a:pPr lvl="1">
              <a:lnSpc>
                <a:spcPct val="105000"/>
              </a:lnSpc>
              <a:spcAft>
                <a:spcPts val="900"/>
              </a:spcAft>
            </a:pPr>
            <a:r>
              <a:rPr sz="1800">
                <a:solidFill>
                  <a:srgbClr val="4F81BD"/>
                </a:solidFill>
                <a:latin typeface="Roca Two"/>
              </a:rPr>
              <a:t>–  </a:t>
            </a:r>
            <a:r>
              <a:rPr sz="1800" b="1">
                <a:solidFill>
                  <a:srgbClr val="22303C"/>
                </a:solidFill>
                <a:latin typeface="Roca Two"/>
              </a:rPr>
              <a:t>Thesis gap: the literature still lacks a single cooperative-attribution framework that explains clustering faithfully, stays coherent under hierarchy, and operates as an in-training signal in recommendation.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1294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22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Research Questions (RQ1–RQ5) and Overall Aim</a:t>
            </a:r>
          </a:p>
        </p:txBody>
      </p:sp>
      <p:grpSp>
        <p:nvGrpSpPr>
          <p:cNvPr name="Group 3" id="1295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1296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1297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1298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1299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300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1301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302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303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1304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1305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306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1307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1308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309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1310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1311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1312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1313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1314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1315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1316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317" name="TextBox 1316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Aim: develop, justify and evaluate a cooperative-game-theoretic perspective for XAI in clustering and recommendation.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RQ1 · How can Shapley values explain black-box clustering faithfully at instance and cluster level?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RQ2 · How can this extend to large-scale, hierarchical clustering without losing tractability or consistency?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RQ3 · Can cooperative attribution move beyond post-hoc and enter the learning dynamics of graph recommenders?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RQ4 · Can a recommender jointly optimise ranking accuracy, context and diversity when importance is estimated by a cooperative-game utility?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RQ5 · What emerges when clustering explanation and recommendation learning are two stages of one cooperative-game perspective?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1325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3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The Three Contributions</a:t>
            </a:r>
          </a:p>
        </p:txBody>
      </p:sp>
      <p:grpSp>
        <p:nvGrpSpPr>
          <p:cNvPr name="Group 3" id="1326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1327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1328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132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133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331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133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33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334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133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133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337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133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133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340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1341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1342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1343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1344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1345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1346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1347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348" name="TextBox 1347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C1 – Explainable black-box clustering: PCA–KMeans–LightGBM–TreeSHAP pipeline.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→ Wine Quality: faithful instance- and cluster-level feature attribution.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C2 – Enhanced multi-level XAI for large-scale clustering with cross-level SHAP aggregation.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→ Beijing Air Quality: hierarchical attribution consistency under scale.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C3 – DyHuCoG: Dynamic Hypergraph Cooperative Game for preference-aware recommendation.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→ MovieLens-1M &amp; Amazon-Book: preference-aware Monte Carlo Shapley as an in-training signal.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1">
                <a:solidFill>
                  <a:srgbClr val="22303C"/>
                </a:solidFill>
                <a:latin typeface="Roca Two"/>
              </a:rPr>
              <a:t>Thesis claim: cooperative game theory functions as a shared attribution perspective for explanation, optimisation and intervention.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356"/>
          <p:cNvGrpSpPr/>
          <p:nvPr/>
        </p:nvGrpSpPr>
        <p:grpSpPr>
          <a:xfrm rot="0">
            <a:off x="0" y="5321413"/>
            <a:ext cx="18288000" cy="4965587"/>
            <a:chOff x="0" y="0"/>
            <a:chExt cx="4816593" cy="1307809"/>
          </a:xfrm>
        </p:grpSpPr>
        <p:sp>
          <p:nvSpPr>
            <p:cNvPr name="Freeform 3" id="1357"/>
            <p:cNvSpPr/>
            <p:nvPr/>
          </p:nvSpPr>
          <p:spPr>
            <a:xfrm flipH="false" flipV="false" rot="0">
              <a:off x="0" y="0"/>
              <a:ext cx="4816592" cy="1307809"/>
            </a:xfrm>
            <a:custGeom>
              <a:avLst/>
              <a:gdLst/>
              <a:ahLst/>
              <a:cxnLst/>
              <a:rect r="r" b="b" t="t" l="l"/>
              <a:pathLst>
                <a:path h="1307809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1307809"/>
                  </a:lnTo>
                  <a:lnTo>
                    <a:pt x="0" y="1307809"/>
                  </a:ln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358"/>
            <p:cNvSpPr txBox="true"/>
            <p:nvPr/>
          </p:nvSpPr>
          <p:spPr>
            <a:xfrm>
              <a:off x="0" y="-38100"/>
              <a:ext cx="4816593" cy="13459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11" id="1365"/>
          <p:cNvSpPr txBox="true"/>
          <p:nvPr/>
        </p:nvSpPr>
        <p:spPr>
          <a:xfrm rot="0">
            <a:off x="1028700" y="2635383"/>
            <a:ext cx="15730026" cy="268603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9713"/>
              </a:lnSpc>
            </a:pPr>
            <a:r>
              <a:rPr lang="en-US" sz="3000" spc="-1242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Experimental Protocol</a:t>
            </a:r>
          </a:p>
        </p:txBody>
      </p:sp>
      <p:grpSp>
        <p:nvGrpSpPr>
          <p:cNvPr name="Group 12" id="1366"/>
          <p:cNvGrpSpPr/>
          <p:nvPr/>
        </p:nvGrpSpPr>
        <p:grpSpPr>
          <a:xfrm rot="0">
            <a:off x="16258151" y="3265231"/>
            <a:ext cx="1001149" cy="1001149"/>
            <a:chOff x="0" y="0"/>
            <a:chExt cx="812800" cy="812800"/>
          </a:xfrm>
        </p:grpSpPr>
        <p:sp>
          <p:nvSpPr>
            <p:cNvPr name="Freeform 13" id="136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CC665"/>
            </a:solidFill>
          </p:spPr>
          <p:txBody>
            <a:bodyPr/>
            <a:p/>
          </p:txBody>
        </p:sp>
        <p:sp>
          <p:nvSpPr>
            <p:cNvPr name="TextBox 14" id="1368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5" id="1369"/>
          <p:cNvSpPr/>
          <p:nvPr/>
        </p:nvSpPr>
        <p:spPr>
          <a:xfrm flipH="true" flipV="false" rot="-5400000">
            <a:off x="16564092" y="3571172"/>
            <a:ext cx="389267" cy="389267"/>
          </a:xfrm>
          <a:custGeom>
            <a:avLst/>
            <a:gdLst/>
            <a:ahLst/>
            <a:cxnLst/>
            <a:rect r="r" b="b" t="t" l="l"/>
            <a:pathLst>
              <a:path h="389267" w="389267">
                <a:moveTo>
                  <a:pt x="389267" y="0"/>
                </a:moveTo>
                <a:lnTo>
                  <a:pt x="0" y="0"/>
                </a:lnTo>
                <a:lnTo>
                  <a:pt x="0" y="389267"/>
                </a:lnTo>
                <a:lnTo>
                  <a:pt x="389267" y="389267"/>
                </a:lnTo>
                <a:lnTo>
                  <a:pt x="38926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370"/>
          <p:cNvGrpSpPr/>
          <p:nvPr/>
        </p:nvGrpSpPr>
        <p:grpSpPr>
          <a:xfrm rot="0">
            <a:off x="0" y="1837763"/>
            <a:ext cx="7510728" cy="8449237"/>
            <a:chOff x="0" y="0"/>
            <a:chExt cx="2918292" cy="3282950"/>
          </a:xfrm>
        </p:grpSpPr>
        <p:sp>
          <p:nvSpPr>
            <p:cNvPr name="Freeform 3" id="1371"/>
            <p:cNvSpPr/>
            <p:nvPr/>
          </p:nvSpPr>
          <p:spPr>
            <a:xfrm flipH="false" flipV="false" rot="0">
              <a:off x="0" y="0"/>
              <a:ext cx="2918292" cy="3282950"/>
            </a:xfrm>
            <a:custGeom>
              <a:avLst/>
              <a:gdLst/>
              <a:ahLst/>
              <a:cxnLst/>
              <a:rect r="r" b="b" t="t" l="l"/>
              <a:pathLst>
                <a:path h="3282950" w="2918292">
                  <a:moveTo>
                    <a:pt x="0" y="0"/>
                  </a:moveTo>
                  <a:lnTo>
                    <a:pt x="2251093" y="0"/>
                  </a:lnTo>
                  <a:cubicBezTo>
                    <a:pt x="2619125" y="0"/>
                    <a:pt x="2918292" y="336550"/>
                    <a:pt x="2918292" y="750570"/>
                  </a:cubicBezTo>
                  <a:lnTo>
                    <a:pt x="2918292" y="3282950"/>
                  </a:lnTo>
                  <a:lnTo>
                    <a:pt x="0" y="3282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6669" r="0" b="-16669"/>
              </a:stretch>
            </a:blipFill>
          </p:spPr>
          <p:txBody>
            <a:bodyPr/>
            <a:p/>
          </p:txBody>
        </p:sp>
      </p:grpSp>
      <p:sp>
        <p:nvSpPr>
          <p:cNvPr name="Freeform 4" id="1372"/>
          <p:cNvSpPr/>
          <p:nvPr/>
        </p:nvSpPr>
        <p:spPr>
          <a:xfrm flipH="false" flipV="false" rot="-1161225">
            <a:off x="16229390" y="8693137"/>
            <a:ext cx="1216650" cy="667637"/>
          </a:xfrm>
          <a:custGeom>
            <a:avLst/>
            <a:gdLst/>
            <a:ahLst/>
            <a:cxnLst/>
            <a:rect r="r" b="b" t="t" l="l"/>
            <a:pathLst>
              <a:path h="667637" w="1216650">
                <a:moveTo>
                  <a:pt x="0" y="0"/>
                </a:moveTo>
                <a:lnTo>
                  <a:pt x="1216650" y="0"/>
                </a:lnTo>
                <a:lnTo>
                  <a:pt x="1216650" y="667637"/>
                </a:lnTo>
                <a:lnTo>
                  <a:pt x="0" y="66763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1373"/>
          <p:cNvSpPr/>
          <p:nvPr/>
        </p:nvSpPr>
        <p:spPr>
          <a:xfrm flipH="false" flipV="false" rot="2700000">
            <a:off x="7912917" y="2469423"/>
            <a:ext cx="1002870" cy="799789"/>
          </a:xfrm>
          <a:custGeom>
            <a:avLst/>
            <a:gdLst/>
            <a:ahLst/>
            <a:cxnLst/>
            <a:rect r="r" b="b" t="t" l="l"/>
            <a:pathLst>
              <a:path h="799789" w="1002870">
                <a:moveTo>
                  <a:pt x="0" y="0"/>
                </a:moveTo>
                <a:lnTo>
                  <a:pt x="1002870" y="0"/>
                </a:lnTo>
                <a:lnTo>
                  <a:pt x="1002870" y="799789"/>
                </a:lnTo>
                <a:lnTo>
                  <a:pt x="0" y="79978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1374"/>
          <p:cNvSpPr txBox="true"/>
          <p:nvPr/>
        </p:nvSpPr>
        <p:spPr>
          <a:xfrm rot="0">
            <a:off x="8401165" y="4078153"/>
            <a:ext cx="9013745" cy="171936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2573"/>
              </a:lnSpc>
            </a:pPr>
            <a:r>
              <a:rPr lang="en-US" sz="2600" spc="-792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Datasets Used Throughout the Thesis</a:t>
            </a:r>
          </a:p>
        </p:txBody>
      </p:sp>
      <p:graphicFrame>
        <p:nvGraphicFramePr>
          <p:cNvPr id="1375" name="Table 1374"/>
          <p:cNvGraphicFramePr>
            <a:graphicFrameLocks noGrp="1"/>
          </p:cNvGraphicFramePr>
          <p:nvPr/>
        </p:nvGraphicFramePr>
        <p:xfrm>
          <a:off x="640080" y="2103120"/>
          <a:ext cx="10881359" cy="3566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00425"/>
                <a:gridCol w="2210276"/>
                <a:gridCol w="2380297"/>
                <a:gridCol w="2890361"/>
              </a:tblGrid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Dataset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Scale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Type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Role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Wine Quality (vinho verde)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4,898 × 11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Tabular, numeric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C1 – single-level clustering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Beijing Multi-Site Air Quality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383,585 × 11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Tabular, pollutant + meteorology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C2 – multi-level clustering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MovieLens-1M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6,040 u / 3,706 i / 1.0M int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Implicit feedback (0.0447)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C3 – DyHuCoG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Amazon-Book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52,643 u / 91,599 i / 3.0M int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Implicit feedback (0.0006)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C3 – DyHuCoG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379"/>
          <p:cNvGrpSpPr/>
          <p:nvPr/>
        </p:nvGrpSpPr>
        <p:grpSpPr>
          <a:xfrm rot="0">
            <a:off x="0" y="1837763"/>
            <a:ext cx="7510728" cy="8449237"/>
            <a:chOff x="0" y="0"/>
            <a:chExt cx="2918292" cy="3282950"/>
          </a:xfrm>
        </p:grpSpPr>
        <p:sp>
          <p:nvSpPr>
            <p:cNvPr name="Freeform 3" id="1380"/>
            <p:cNvSpPr/>
            <p:nvPr/>
          </p:nvSpPr>
          <p:spPr>
            <a:xfrm flipH="false" flipV="false" rot="0">
              <a:off x="0" y="0"/>
              <a:ext cx="2918292" cy="3282950"/>
            </a:xfrm>
            <a:custGeom>
              <a:avLst/>
              <a:gdLst/>
              <a:ahLst/>
              <a:cxnLst/>
              <a:rect r="r" b="b" t="t" l="l"/>
              <a:pathLst>
                <a:path h="3282950" w="2918292">
                  <a:moveTo>
                    <a:pt x="0" y="0"/>
                  </a:moveTo>
                  <a:lnTo>
                    <a:pt x="2251093" y="0"/>
                  </a:lnTo>
                  <a:cubicBezTo>
                    <a:pt x="2619125" y="0"/>
                    <a:pt x="2918292" y="336550"/>
                    <a:pt x="2918292" y="750570"/>
                  </a:cubicBezTo>
                  <a:lnTo>
                    <a:pt x="2918292" y="3282950"/>
                  </a:lnTo>
                  <a:lnTo>
                    <a:pt x="0" y="3282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6669" r="0" b="-16669"/>
              </a:stretch>
            </a:blipFill>
          </p:spPr>
          <p:txBody>
            <a:bodyPr/>
            <a:p/>
          </p:txBody>
        </p:sp>
      </p:grpSp>
      <p:sp>
        <p:nvSpPr>
          <p:cNvPr name="Freeform 4" id="1381"/>
          <p:cNvSpPr/>
          <p:nvPr/>
        </p:nvSpPr>
        <p:spPr>
          <a:xfrm flipH="false" flipV="false" rot="-1161225">
            <a:off x="16229390" y="8693137"/>
            <a:ext cx="1216650" cy="667637"/>
          </a:xfrm>
          <a:custGeom>
            <a:avLst/>
            <a:gdLst/>
            <a:ahLst/>
            <a:cxnLst/>
            <a:rect r="r" b="b" t="t" l="l"/>
            <a:pathLst>
              <a:path h="667637" w="1216650">
                <a:moveTo>
                  <a:pt x="0" y="0"/>
                </a:moveTo>
                <a:lnTo>
                  <a:pt x="1216650" y="0"/>
                </a:lnTo>
                <a:lnTo>
                  <a:pt x="1216650" y="667637"/>
                </a:lnTo>
                <a:lnTo>
                  <a:pt x="0" y="66763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1382"/>
          <p:cNvSpPr/>
          <p:nvPr/>
        </p:nvSpPr>
        <p:spPr>
          <a:xfrm flipH="false" flipV="false" rot="2700000">
            <a:off x="7912917" y="2469423"/>
            <a:ext cx="1002870" cy="799789"/>
          </a:xfrm>
          <a:custGeom>
            <a:avLst/>
            <a:gdLst/>
            <a:ahLst/>
            <a:cxnLst/>
            <a:rect r="r" b="b" t="t" l="l"/>
            <a:pathLst>
              <a:path h="799789" w="1002870">
                <a:moveTo>
                  <a:pt x="0" y="0"/>
                </a:moveTo>
                <a:lnTo>
                  <a:pt x="1002870" y="0"/>
                </a:lnTo>
                <a:lnTo>
                  <a:pt x="1002870" y="799789"/>
                </a:lnTo>
                <a:lnTo>
                  <a:pt x="0" y="79978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1383"/>
          <p:cNvSpPr txBox="true"/>
          <p:nvPr/>
        </p:nvSpPr>
        <p:spPr>
          <a:xfrm rot="0">
            <a:off x="8401165" y="4078153"/>
            <a:ext cx="9013745" cy="171936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2573"/>
              </a:lnSpc>
            </a:pPr>
            <a:r>
              <a:rPr lang="en-US" sz="2200" spc="-792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Dataset Characteristics &amp; Why Each Was Chosen</a:t>
            </a:r>
          </a:p>
        </p:txBody>
      </p:sp>
      <p:sp>
        <p:nvSpPr>
          <p:cNvPr id="1384" name="TextBox 1383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Wine Quality – 11 interpretable physicochemical features; small, dense, chemically correlated → tests attribution in a trusted semantic space.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Beijing Air Quality – 11 pollutant + meteorological variables, 383,585 hourly records → tests scale, noise and temporal structure.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MovieLens-1M – ~1.0M interactions, density 0.0447 → benchmark-standard recommendation with established baselines.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Amazon-Book – ~3.0M interactions, density 0.0006 → deliberately sparse to stress-test Shapley weighting when signal is weak.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The 0.0447 vs 0.0006 density contrast is intentional: gains are largest where data are weakest.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388"/>
          <p:cNvGrpSpPr/>
          <p:nvPr/>
        </p:nvGrpSpPr>
        <p:grpSpPr>
          <a:xfrm rot="0">
            <a:off x="0" y="1837763"/>
            <a:ext cx="7510728" cy="8449237"/>
            <a:chOff x="0" y="0"/>
            <a:chExt cx="2918292" cy="3282950"/>
          </a:xfrm>
        </p:grpSpPr>
        <p:sp>
          <p:nvSpPr>
            <p:cNvPr name="Freeform 3" id="1389"/>
            <p:cNvSpPr/>
            <p:nvPr/>
          </p:nvSpPr>
          <p:spPr>
            <a:xfrm flipH="false" flipV="false" rot="0">
              <a:off x="0" y="0"/>
              <a:ext cx="2918292" cy="3282950"/>
            </a:xfrm>
            <a:custGeom>
              <a:avLst/>
              <a:gdLst/>
              <a:ahLst/>
              <a:cxnLst/>
              <a:rect r="r" b="b" t="t" l="l"/>
              <a:pathLst>
                <a:path h="3282950" w="2918292">
                  <a:moveTo>
                    <a:pt x="0" y="0"/>
                  </a:moveTo>
                  <a:lnTo>
                    <a:pt x="2251093" y="0"/>
                  </a:lnTo>
                  <a:cubicBezTo>
                    <a:pt x="2619125" y="0"/>
                    <a:pt x="2918292" y="336550"/>
                    <a:pt x="2918292" y="750570"/>
                  </a:cubicBezTo>
                  <a:lnTo>
                    <a:pt x="2918292" y="3282950"/>
                  </a:lnTo>
                  <a:lnTo>
                    <a:pt x="0" y="3282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6669" r="0" b="-16669"/>
              </a:stretch>
            </a:blipFill>
          </p:spPr>
          <p:txBody>
            <a:bodyPr/>
            <a:p/>
          </p:txBody>
        </p:sp>
      </p:grpSp>
      <p:sp>
        <p:nvSpPr>
          <p:cNvPr name="Freeform 4" id="1390"/>
          <p:cNvSpPr/>
          <p:nvPr/>
        </p:nvSpPr>
        <p:spPr>
          <a:xfrm flipH="false" flipV="false" rot="-1161225">
            <a:off x="16229390" y="8693137"/>
            <a:ext cx="1216650" cy="667637"/>
          </a:xfrm>
          <a:custGeom>
            <a:avLst/>
            <a:gdLst/>
            <a:ahLst/>
            <a:cxnLst/>
            <a:rect r="r" b="b" t="t" l="l"/>
            <a:pathLst>
              <a:path h="667637" w="1216650">
                <a:moveTo>
                  <a:pt x="0" y="0"/>
                </a:moveTo>
                <a:lnTo>
                  <a:pt x="1216650" y="0"/>
                </a:lnTo>
                <a:lnTo>
                  <a:pt x="1216650" y="667637"/>
                </a:lnTo>
                <a:lnTo>
                  <a:pt x="0" y="66763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1391"/>
          <p:cNvSpPr/>
          <p:nvPr/>
        </p:nvSpPr>
        <p:spPr>
          <a:xfrm flipH="false" flipV="false" rot="2700000">
            <a:off x="7912917" y="2469423"/>
            <a:ext cx="1002870" cy="799789"/>
          </a:xfrm>
          <a:custGeom>
            <a:avLst/>
            <a:gdLst/>
            <a:ahLst/>
            <a:cxnLst/>
            <a:rect r="r" b="b" t="t" l="l"/>
            <a:pathLst>
              <a:path h="799789" w="1002870">
                <a:moveTo>
                  <a:pt x="0" y="0"/>
                </a:moveTo>
                <a:lnTo>
                  <a:pt x="1002870" y="0"/>
                </a:lnTo>
                <a:lnTo>
                  <a:pt x="1002870" y="799789"/>
                </a:lnTo>
                <a:lnTo>
                  <a:pt x="0" y="79978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1392"/>
          <p:cNvSpPr txBox="true"/>
          <p:nvPr/>
        </p:nvSpPr>
        <p:spPr>
          <a:xfrm rot="0">
            <a:off x="8401165" y="4078153"/>
            <a:ext cx="9013745" cy="171936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2573"/>
              </a:lnSpc>
            </a:pPr>
            <a:r>
              <a:rPr lang="en-US" sz="2600" spc="-792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Data Splitting &amp; Preprocessing</a:t>
            </a:r>
          </a:p>
        </p:txBody>
      </p:sp>
      <p:sp>
        <p:nvSpPr>
          <p:cNvPr id="1393" name="TextBox 1392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Clustering: five-fold cross-validation for surrogate/attribution stability.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Recommendation: user-level, temporal split — 70% train / 10% val / 20% test.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Leave-one-out: the latest test positive per user is the target, ranked against negatives.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Implicit conversion: MovieLens-1M ratings &gt; 3 treated as positive.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Popularity-aware negative sampling: q(i) ∝ f_i^η for harder contrasts.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Reproducibility: seeds {42,43,44,45,46}; early-stopping patience 20.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397"/>
          <p:cNvGrpSpPr/>
          <p:nvPr/>
        </p:nvGrpSpPr>
        <p:grpSpPr>
          <a:xfrm rot="0">
            <a:off x="0" y="1837763"/>
            <a:ext cx="7510728" cy="8449237"/>
            <a:chOff x="0" y="0"/>
            <a:chExt cx="2918292" cy="3282950"/>
          </a:xfrm>
        </p:grpSpPr>
        <p:sp>
          <p:nvSpPr>
            <p:cNvPr name="Freeform 3" id="1398"/>
            <p:cNvSpPr/>
            <p:nvPr/>
          </p:nvSpPr>
          <p:spPr>
            <a:xfrm flipH="false" flipV="false" rot="0">
              <a:off x="0" y="0"/>
              <a:ext cx="2918292" cy="3282950"/>
            </a:xfrm>
            <a:custGeom>
              <a:avLst/>
              <a:gdLst/>
              <a:ahLst/>
              <a:cxnLst/>
              <a:rect r="r" b="b" t="t" l="l"/>
              <a:pathLst>
                <a:path h="3282950" w="2918292">
                  <a:moveTo>
                    <a:pt x="0" y="0"/>
                  </a:moveTo>
                  <a:lnTo>
                    <a:pt x="2251093" y="0"/>
                  </a:lnTo>
                  <a:cubicBezTo>
                    <a:pt x="2619125" y="0"/>
                    <a:pt x="2918292" y="336550"/>
                    <a:pt x="2918292" y="750570"/>
                  </a:cubicBezTo>
                  <a:lnTo>
                    <a:pt x="2918292" y="3282950"/>
                  </a:lnTo>
                  <a:lnTo>
                    <a:pt x="0" y="3282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6669" r="0" b="-16669"/>
              </a:stretch>
            </a:blipFill>
          </p:spPr>
          <p:txBody>
            <a:bodyPr/>
            <a:p/>
          </p:txBody>
        </p:sp>
      </p:grpSp>
      <p:sp>
        <p:nvSpPr>
          <p:cNvPr name="Freeform 4" id="1399"/>
          <p:cNvSpPr/>
          <p:nvPr/>
        </p:nvSpPr>
        <p:spPr>
          <a:xfrm flipH="false" flipV="false" rot="-1161225">
            <a:off x="16229390" y="8693137"/>
            <a:ext cx="1216650" cy="667637"/>
          </a:xfrm>
          <a:custGeom>
            <a:avLst/>
            <a:gdLst/>
            <a:ahLst/>
            <a:cxnLst/>
            <a:rect r="r" b="b" t="t" l="l"/>
            <a:pathLst>
              <a:path h="667637" w="1216650">
                <a:moveTo>
                  <a:pt x="0" y="0"/>
                </a:moveTo>
                <a:lnTo>
                  <a:pt x="1216650" y="0"/>
                </a:lnTo>
                <a:lnTo>
                  <a:pt x="1216650" y="667637"/>
                </a:lnTo>
                <a:lnTo>
                  <a:pt x="0" y="66763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1400"/>
          <p:cNvSpPr/>
          <p:nvPr/>
        </p:nvSpPr>
        <p:spPr>
          <a:xfrm flipH="false" flipV="false" rot="2700000">
            <a:off x="7912917" y="2469423"/>
            <a:ext cx="1002870" cy="799789"/>
          </a:xfrm>
          <a:custGeom>
            <a:avLst/>
            <a:gdLst/>
            <a:ahLst/>
            <a:cxnLst/>
            <a:rect r="r" b="b" t="t" l="l"/>
            <a:pathLst>
              <a:path h="799789" w="1002870">
                <a:moveTo>
                  <a:pt x="0" y="0"/>
                </a:moveTo>
                <a:lnTo>
                  <a:pt x="1002870" y="0"/>
                </a:lnTo>
                <a:lnTo>
                  <a:pt x="1002870" y="799789"/>
                </a:lnTo>
                <a:lnTo>
                  <a:pt x="0" y="79978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1401"/>
          <p:cNvSpPr txBox="true"/>
          <p:nvPr/>
        </p:nvSpPr>
        <p:spPr>
          <a:xfrm rot="0">
            <a:off x="8401165" y="4078153"/>
            <a:ext cx="9013745" cy="171936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2573"/>
              </a:lnSpc>
            </a:pPr>
            <a:r>
              <a:rPr lang="en-US" sz="2600" spc="-792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Baselines &amp; Evaluation Metrics</a:t>
            </a:r>
          </a:p>
        </p:txBody>
      </p:sp>
      <p:sp>
        <p:nvSpPr>
          <p:cNvPr id="1402" name="TextBox 1401"/>
          <p:cNvSpPr txBox="1"/>
          <p:nvPr/>
        </p:nvSpPr>
        <p:spPr>
          <a:xfrm>
            <a:off x="640080" y="2103120"/>
            <a:ext cx="576072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Clustering benchmark: LIME-based surrogate explanation pipeline.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Recommendation benchmarks: MF, NCF, LightGCN, RecDCL, HCCF, HPCF (strongest reference).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Ranking: Precision@K, Recall@K, NDCG@20 (principal).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Beyond-accuracy: Coverage, ILD, Novelty, Fairness.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Clustering quality: Silhouette, Davies–Bouldin.</a:t>
            </a:r>
          </a:p>
        </p:txBody>
      </p:sp>
      <p:pic>
        <p:nvPicPr>
          <p:cNvPr id="1403" name="Picture 1402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94560"/>
            <a:ext cx="502920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406"/>
          <p:cNvGrpSpPr/>
          <p:nvPr/>
        </p:nvGrpSpPr>
        <p:grpSpPr>
          <a:xfrm rot="0">
            <a:off x="0" y="1837763"/>
            <a:ext cx="7510728" cy="8449237"/>
            <a:chOff x="0" y="0"/>
            <a:chExt cx="2918292" cy="3282950"/>
          </a:xfrm>
        </p:grpSpPr>
        <p:sp>
          <p:nvSpPr>
            <p:cNvPr name="Freeform 3" id="1407"/>
            <p:cNvSpPr/>
            <p:nvPr/>
          </p:nvSpPr>
          <p:spPr>
            <a:xfrm flipH="false" flipV="false" rot="0">
              <a:off x="0" y="0"/>
              <a:ext cx="2918292" cy="3282950"/>
            </a:xfrm>
            <a:custGeom>
              <a:avLst/>
              <a:gdLst/>
              <a:ahLst/>
              <a:cxnLst/>
              <a:rect r="r" b="b" t="t" l="l"/>
              <a:pathLst>
                <a:path h="3282950" w="2918292">
                  <a:moveTo>
                    <a:pt x="0" y="0"/>
                  </a:moveTo>
                  <a:lnTo>
                    <a:pt x="2251093" y="0"/>
                  </a:lnTo>
                  <a:cubicBezTo>
                    <a:pt x="2619125" y="0"/>
                    <a:pt x="2918292" y="336550"/>
                    <a:pt x="2918292" y="750570"/>
                  </a:cubicBezTo>
                  <a:lnTo>
                    <a:pt x="2918292" y="3282950"/>
                  </a:lnTo>
                  <a:lnTo>
                    <a:pt x="0" y="3282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6669" r="0" b="-16669"/>
              </a:stretch>
            </a:blipFill>
          </p:spPr>
          <p:txBody>
            <a:bodyPr/>
            <a:p/>
          </p:txBody>
        </p:sp>
      </p:grpSp>
      <p:sp>
        <p:nvSpPr>
          <p:cNvPr name="Freeform 4" id="1408"/>
          <p:cNvSpPr/>
          <p:nvPr/>
        </p:nvSpPr>
        <p:spPr>
          <a:xfrm flipH="false" flipV="false" rot="-1161225">
            <a:off x="16229390" y="8693137"/>
            <a:ext cx="1216650" cy="667637"/>
          </a:xfrm>
          <a:custGeom>
            <a:avLst/>
            <a:gdLst/>
            <a:ahLst/>
            <a:cxnLst/>
            <a:rect r="r" b="b" t="t" l="l"/>
            <a:pathLst>
              <a:path h="667637" w="1216650">
                <a:moveTo>
                  <a:pt x="0" y="0"/>
                </a:moveTo>
                <a:lnTo>
                  <a:pt x="1216650" y="0"/>
                </a:lnTo>
                <a:lnTo>
                  <a:pt x="1216650" y="667637"/>
                </a:lnTo>
                <a:lnTo>
                  <a:pt x="0" y="66763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1409"/>
          <p:cNvSpPr/>
          <p:nvPr/>
        </p:nvSpPr>
        <p:spPr>
          <a:xfrm flipH="false" flipV="false" rot="2700000">
            <a:off x="7912917" y="2469423"/>
            <a:ext cx="1002870" cy="799789"/>
          </a:xfrm>
          <a:custGeom>
            <a:avLst/>
            <a:gdLst/>
            <a:ahLst/>
            <a:cxnLst/>
            <a:rect r="r" b="b" t="t" l="l"/>
            <a:pathLst>
              <a:path h="799789" w="1002870">
                <a:moveTo>
                  <a:pt x="0" y="0"/>
                </a:moveTo>
                <a:lnTo>
                  <a:pt x="1002870" y="0"/>
                </a:lnTo>
                <a:lnTo>
                  <a:pt x="1002870" y="799789"/>
                </a:lnTo>
                <a:lnTo>
                  <a:pt x="0" y="79978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1410"/>
          <p:cNvSpPr txBox="true"/>
          <p:nvPr/>
        </p:nvSpPr>
        <p:spPr>
          <a:xfrm rot="0">
            <a:off x="8401165" y="4078153"/>
            <a:ext cx="9013745" cy="171936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2573"/>
              </a:lnSpc>
            </a:pPr>
            <a:r>
              <a:rPr lang="en-US" sz="3000" spc="-792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Hardware &amp; Software</a:t>
            </a:r>
          </a:p>
        </p:txBody>
      </p:sp>
      <p:sp>
        <p:nvSpPr>
          <p:cNvPr id="1411" name="TextBox 1410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CPU: Intel Core i9-14900K, 24 cores — clustering, preprocessing, data loading.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GPU: NVIDIA GeForce RTX 4090, 24 GB — DyHuCoG training &amp; inference.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RAM: 48 GB; Storage: 2 TB SSD.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Python 3.8; scikit-learn, LightGBM, SHAP, PyTorch 2.0.1, NumPy/SciPy/pandas.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Altair for interactive SHAP visualisation; metrics at K ∈ {5, 10, 20}.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415"/>
          <p:cNvGrpSpPr/>
          <p:nvPr/>
        </p:nvGrpSpPr>
        <p:grpSpPr>
          <a:xfrm rot="0">
            <a:off x="0" y="5321413"/>
            <a:ext cx="18288000" cy="4965587"/>
            <a:chOff x="0" y="0"/>
            <a:chExt cx="4816593" cy="1307809"/>
          </a:xfrm>
        </p:grpSpPr>
        <p:sp>
          <p:nvSpPr>
            <p:cNvPr name="Freeform 3" id="1416"/>
            <p:cNvSpPr/>
            <p:nvPr/>
          </p:nvSpPr>
          <p:spPr>
            <a:xfrm flipH="false" flipV="false" rot="0">
              <a:off x="0" y="0"/>
              <a:ext cx="4816592" cy="1307809"/>
            </a:xfrm>
            <a:custGeom>
              <a:avLst/>
              <a:gdLst/>
              <a:ahLst/>
              <a:cxnLst/>
              <a:rect r="r" b="b" t="t" l="l"/>
              <a:pathLst>
                <a:path h="1307809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1307809"/>
                  </a:lnTo>
                  <a:lnTo>
                    <a:pt x="0" y="1307809"/>
                  </a:ln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417"/>
            <p:cNvSpPr txBox="true"/>
            <p:nvPr/>
          </p:nvSpPr>
          <p:spPr>
            <a:xfrm>
              <a:off x="0" y="-38100"/>
              <a:ext cx="4816593" cy="13459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11" id="1424"/>
          <p:cNvSpPr txBox="true"/>
          <p:nvPr/>
        </p:nvSpPr>
        <p:spPr>
          <a:xfrm rot="0">
            <a:off x="1028700" y="2635383"/>
            <a:ext cx="15730026" cy="268603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9713"/>
              </a:lnSpc>
            </a:pPr>
            <a:r>
              <a:rPr lang="en-US" sz="2200" spc="-1242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 — Explainable Black-Box Clustering</a:t>
            </a:r>
          </a:p>
        </p:txBody>
      </p:sp>
      <p:grpSp>
        <p:nvGrpSpPr>
          <p:cNvPr name="Group 12" id="1425"/>
          <p:cNvGrpSpPr/>
          <p:nvPr/>
        </p:nvGrpSpPr>
        <p:grpSpPr>
          <a:xfrm rot="0">
            <a:off x="16258151" y="3265231"/>
            <a:ext cx="1001149" cy="1001149"/>
            <a:chOff x="0" y="0"/>
            <a:chExt cx="812800" cy="812800"/>
          </a:xfrm>
        </p:grpSpPr>
        <p:sp>
          <p:nvSpPr>
            <p:cNvPr name="Freeform 13" id="142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CC665"/>
            </a:solidFill>
          </p:spPr>
          <p:txBody>
            <a:bodyPr/>
            <a:p/>
          </p:txBody>
        </p:sp>
        <p:sp>
          <p:nvSpPr>
            <p:cNvPr name="TextBox 14" id="1427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5" id="1428"/>
          <p:cNvSpPr/>
          <p:nvPr/>
        </p:nvSpPr>
        <p:spPr>
          <a:xfrm flipH="true" flipV="false" rot="-5400000">
            <a:off x="16564092" y="3571172"/>
            <a:ext cx="389267" cy="389267"/>
          </a:xfrm>
          <a:custGeom>
            <a:avLst/>
            <a:gdLst/>
            <a:ahLst/>
            <a:cxnLst/>
            <a:rect r="r" b="b" t="t" l="l"/>
            <a:pathLst>
              <a:path h="389267" w="389267">
                <a:moveTo>
                  <a:pt x="389267" y="0"/>
                </a:moveTo>
                <a:lnTo>
                  <a:pt x="0" y="0"/>
                </a:lnTo>
                <a:lnTo>
                  <a:pt x="0" y="389267"/>
                </a:lnTo>
                <a:lnTo>
                  <a:pt x="389267" y="389267"/>
                </a:lnTo>
                <a:lnTo>
                  <a:pt x="38926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1429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3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 — Objectives</a:t>
            </a:r>
          </a:p>
        </p:txBody>
      </p:sp>
      <p:grpSp>
        <p:nvGrpSpPr>
          <p:cNvPr name="Group 3" id="1430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1431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1432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143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143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435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143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43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438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143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144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441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144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144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444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144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144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1447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144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144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1450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1451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452" name="TextBox 1451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Gap: Shapley explanation is dominant in supervised tasks, but clustering remains comparatively under-explained.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Existing clustering-interpretability methods privilege local or global explanation, not both.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They often fail to scale or preserve coherence across clusters.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Objectives: build a pipeline yielding cluster-level explanation while preserving feature-level attribution.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Preserve the semantics of the original feature space; justify why Shapley is better than LIME.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1460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22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 — Research Question &amp; Objectives</a:t>
            </a:r>
          </a:p>
        </p:txBody>
      </p:sp>
      <p:grpSp>
        <p:nvGrpSpPr>
          <p:cNvPr name="Group 3" id="1461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1462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1463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1464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1465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466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1467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468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469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1470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1471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472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1473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1474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475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1476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1477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1478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1479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1480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1481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1482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483" name="TextBox 1482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RQ1 · How can Shapley values explain black-box clustering faithfully at instance and cluster level?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Objective O1 · A pipeline that yields cluster-level explanation while keeping feature-level attribution.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Objective O2 · Preserve the semantics of the original feature space, not a reduced latent space.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Objective O3 · Justify Shapley over an ad-hoc surrogate such as LIME.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491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1492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493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494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1495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1496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497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1498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1499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500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1501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1502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503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1504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1505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506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1507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1508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1518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22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 — Value Function (Cooperative Game)</a:t>
            </a:r>
          </a:p>
        </p:txBody>
      </p:sp>
      <p:sp>
        <p:nvSpPr>
          <p:cNvPr name="Freeform 30" id="1519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1520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521" name="TextBox 1520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Player set N = F — each feature is a player.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Value function v(S) = Silhouette( KMeans(X_S, k*) ) — how well data cluster using only features in 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A feature's Shapley value = its expected marginal contribution to clustering quality over all coalition orders.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Why Silhouette: bounded, normalised, semantically intuitive.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Direct evaluation for every coalition is intractable → we need a bridge.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521"/>
          <p:cNvGrpSpPr/>
          <p:nvPr/>
        </p:nvGrpSpPr>
        <p:grpSpPr>
          <a:xfrm rot="0">
            <a:off x="1028700" y="6198504"/>
            <a:ext cx="7975559" cy="3059796"/>
            <a:chOff x="0" y="0"/>
            <a:chExt cx="2100559" cy="805872"/>
          </a:xfrm>
        </p:grpSpPr>
        <p:sp>
          <p:nvSpPr>
            <p:cNvPr name="Freeform 3" id="1522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523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524"/>
          <p:cNvGrpSpPr/>
          <p:nvPr/>
        </p:nvGrpSpPr>
        <p:grpSpPr>
          <a:xfrm rot="0">
            <a:off x="1595752" y="5758566"/>
            <a:ext cx="3204081" cy="776582"/>
            <a:chOff x="0" y="0"/>
            <a:chExt cx="843873" cy="204532"/>
          </a:xfrm>
        </p:grpSpPr>
        <p:sp>
          <p:nvSpPr>
            <p:cNvPr name="Freeform 6" id="1525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1526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527"/>
          <p:cNvGrpSpPr/>
          <p:nvPr/>
        </p:nvGrpSpPr>
        <p:grpSpPr>
          <a:xfrm rot="0">
            <a:off x="9283741" y="6198504"/>
            <a:ext cx="7975559" cy="3059796"/>
            <a:chOff x="0" y="0"/>
            <a:chExt cx="2100559" cy="805872"/>
          </a:xfrm>
        </p:grpSpPr>
        <p:sp>
          <p:nvSpPr>
            <p:cNvPr name="Freeform 9" id="1528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1529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530"/>
          <p:cNvGrpSpPr/>
          <p:nvPr/>
        </p:nvGrpSpPr>
        <p:grpSpPr>
          <a:xfrm rot="0">
            <a:off x="9850793" y="5758566"/>
            <a:ext cx="3204081" cy="776582"/>
            <a:chOff x="0" y="0"/>
            <a:chExt cx="843873" cy="204532"/>
          </a:xfrm>
        </p:grpSpPr>
        <p:sp>
          <p:nvSpPr>
            <p:cNvPr name="Freeform 12" id="1531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1532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533"/>
          <p:cNvGrpSpPr/>
          <p:nvPr/>
        </p:nvGrpSpPr>
        <p:grpSpPr>
          <a:xfrm rot="0">
            <a:off x="9850793" y="1561357"/>
            <a:ext cx="9713181" cy="3999197"/>
            <a:chOff x="0" y="0"/>
            <a:chExt cx="3055296" cy="1257954"/>
          </a:xfrm>
        </p:grpSpPr>
        <p:sp>
          <p:nvSpPr>
            <p:cNvPr name="Freeform 15" id="1534"/>
            <p:cNvSpPr/>
            <p:nvPr/>
          </p:nvSpPr>
          <p:spPr>
            <a:xfrm flipH="false" flipV="false" rot="0">
              <a:off x="0" y="0"/>
              <a:ext cx="3055296" cy="1257954"/>
            </a:xfrm>
            <a:custGeom>
              <a:avLst/>
              <a:gdLst/>
              <a:ahLst/>
              <a:cxnLst/>
              <a:rect r="r" b="b" t="t" l="l"/>
              <a:pathLst>
                <a:path h="1257954" w="3055296">
                  <a:moveTo>
                    <a:pt x="52605" y="0"/>
                  </a:moveTo>
                  <a:lnTo>
                    <a:pt x="3002691" y="0"/>
                  </a:lnTo>
                  <a:cubicBezTo>
                    <a:pt x="3031744" y="0"/>
                    <a:pt x="3055296" y="23552"/>
                    <a:pt x="3055296" y="52605"/>
                  </a:cubicBezTo>
                  <a:lnTo>
                    <a:pt x="3055296" y="1205348"/>
                  </a:lnTo>
                  <a:cubicBezTo>
                    <a:pt x="3055296" y="1219300"/>
                    <a:pt x="3049754" y="1232680"/>
                    <a:pt x="3039888" y="1242546"/>
                  </a:cubicBezTo>
                  <a:cubicBezTo>
                    <a:pt x="3030023" y="1252411"/>
                    <a:pt x="3016642" y="1257954"/>
                    <a:pt x="3002691" y="1257954"/>
                  </a:cubicBezTo>
                  <a:lnTo>
                    <a:pt x="52605" y="1257954"/>
                  </a:lnTo>
                  <a:cubicBezTo>
                    <a:pt x="23552" y="1257954"/>
                    <a:pt x="0" y="1234401"/>
                    <a:pt x="0" y="1205348"/>
                  </a:cubicBezTo>
                  <a:lnTo>
                    <a:pt x="0" y="52605"/>
                  </a:lnTo>
                  <a:cubicBezTo>
                    <a:pt x="0" y="23552"/>
                    <a:pt x="23552" y="0"/>
                    <a:pt x="52605" y="0"/>
                  </a:cubicBezTo>
                  <a:close/>
                </a:path>
              </a:pathLst>
            </a:custGeom>
            <a:blipFill>
              <a:blip r:embed="rId2"/>
              <a:stretch>
                <a:fillRect l="-27365" t="-26874" r="0" b="-79354"/>
              </a:stretch>
            </a:blipFill>
          </p:spPr>
          <p:txBody>
            <a:bodyPr/>
            <a:p/>
          </p:txBody>
        </p:sp>
      </p:grpSp>
      <p:sp>
        <p:nvSpPr>
          <p:cNvPr name="Freeform 16" id="1535"/>
          <p:cNvSpPr/>
          <p:nvPr/>
        </p:nvSpPr>
        <p:spPr>
          <a:xfrm flipH="false" flipV="false" rot="2916010">
            <a:off x="8566222" y="4850595"/>
            <a:ext cx="599295" cy="585811"/>
          </a:xfrm>
          <a:custGeom>
            <a:avLst/>
            <a:gdLst/>
            <a:ahLst/>
            <a:cxnLst/>
            <a:rect r="r" b="b" t="t" l="l"/>
            <a:pathLst>
              <a:path h="585811" w="599295">
                <a:moveTo>
                  <a:pt x="0" y="0"/>
                </a:moveTo>
                <a:lnTo>
                  <a:pt x="599295" y="0"/>
                </a:lnTo>
                <a:lnTo>
                  <a:pt x="599295" y="585810"/>
                </a:lnTo>
                <a:lnTo>
                  <a:pt x="0" y="5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1536"/>
          <p:cNvSpPr/>
          <p:nvPr/>
        </p:nvSpPr>
        <p:spPr>
          <a:xfrm flipH="false" flipV="false" rot="-1166207">
            <a:off x="616105" y="1721563"/>
            <a:ext cx="509290" cy="503560"/>
          </a:xfrm>
          <a:custGeom>
            <a:avLst/>
            <a:gdLst/>
            <a:ahLst/>
            <a:cxnLst/>
            <a:rect r="r" b="b" t="t" l="l"/>
            <a:pathLst>
              <a:path h="503560" w="509290">
                <a:moveTo>
                  <a:pt x="0" y="0"/>
                </a:moveTo>
                <a:lnTo>
                  <a:pt x="509290" y="0"/>
                </a:lnTo>
                <a:lnTo>
                  <a:pt x="509290" y="503560"/>
                </a:lnTo>
                <a:lnTo>
                  <a:pt x="0" y="5035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5" id="1544"/>
          <p:cNvSpPr txBox="true"/>
          <p:nvPr/>
        </p:nvSpPr>
        <p:spPr>
          <a:xfrm rot="0">
            <a:off x="1028700" y="2504394"/>
            <a:ext cx="7819856" cy="179361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26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 — Surrogate + TreeSHAP</a:t>
            </a:r>
          </a:p>
        </p:txBody>
      </p:sp>
      <p:sp>
        <p:nvSpPr>
          <p:cNvPr id="1545" name="TextBox 1544"/>
          <p:cNvSpPr txBox="1"/>
          <p:nvPr/>
        </p:nvSpPr>
        <p:spPr>
          <a:xfrm>
            <a:off x="640080" y="2103120"/>
            <a:ext cx="576072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Once K-Means produces cluster labels, train a LightGBM multiclass surrogate to predict them from original features.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Apply TreeSHAP to the surrogate — fast, exact tree-based attribution in the original semantic feature space.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Direct TreeSHAP on K-Means is impossible (it explains tree models, not centroids).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1">
                <a:solidFill>
                  <a:srgbClr val="22303C"/>
                </a:solidFill>
                <a:latin typeface="Roca Two"/>
              </a:rPr>
              <a:t>Validity condition: surrogate fidelity is high (macro-F1 ≈ 0.82).</a:t>
            </a:r>
          </a:p>
        </p:txBody>
      </p:sp>
      <p:pic>
        <p:nvPicPr>
          <p:cNvPr id="1546" name="Picture 1545" descr="c1_pipeline_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94560"/>
            <a:ext cx="493776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545"/>
          <p:cNvGrpSpPr/>
          <p:nvPr/>
        </p:nvGrpSpPr>
        <p:grpSpPr>
          <a:xfrm rot="0">
            <a:off x="1028700" y="6198504"/>
            <a:ext cx="7975559" cy="3059796"/>
            <a:chOff x="0" y="0"/>
            <a:chExt cx="2100559" cy="805872"/>
          </a:xfrm>
        </p:grpSpPr>
        <p:sp>
          <p:nvSpPr>
            <p:cNvPr name="Freeform 3" id="1546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547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548"/>
          <p:cNvGrpSpPr/>
          <p:nvPr/>
        </p:nvGrpSpPr>
        <p:grpSpPr>
          <a:xfrm rot="0">
            <a:off x="1595752" y="5758566"/>
            <a:ext cx="3204081" cy="776582"/>
            <a:chOff x="0" y="0"/>
            <a:chExt cx="843873" cy="204532"/>
          </a:xfrm>
        </p:grpSpPr>
        <p:sp>
          <p:nvSpPr>
            <p:cNvPr name="Freeform 6" id="1549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1550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551"/>
          <p:cNvGrpSpPr/>
          <p:nvPr/>
        </p:nvGrpSpPr>
        <p:grpSpPr>
          <a:xfrm rot="0">
            <a:off x="9283741" y="6198504"/>
            <a:ext cx="7975559" cy="3059796"/>
            <a:chOff x="0" y="0"/>
            <a:chExt cx="2100559" cy="805872"/>
          </a:xfrm>
        </p:grpSpPr>
        <p:sp>
          <p:nvSpPr>
            <p:cNvPr name="Freeform 9" id="1552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1553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554"/>
          <p:cNvGrpSpPr/>
          <p:nvPr/>
        </p:nvGrpSpPr>
        <p:grpSpPr>
          <a:xfrm rot="0">
            <a:off x="9850793" y="5758566"/>
            <a:ext cx="3204081" cy="776582"/>
            <a:chOff x="0" y="0"/>
            <a:chExt cx="843873" cy="204532"/>
          </a:xfrm>
        </p:grpSpPr>
        <p:sp>
          <p:nvSpPr>
            <p:cNvPr name="Freeform 12" id="1555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1556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557"/>
          <p:cNvGrpSpPr/>
          <p:nvPr/>
        </p:nvGrpSpPr>
        <p:grpSpPr>
          <a:xfrm rot="0">
            <a:off x="9850793" y="1561357"/>
            <a:ext cx="9713181" cy="3999197"/>
            <a:chOff x="0" y="0"/>
            <a:chExt cx="3055296" cy="1257954"/>
          </a:xfrm>
        </p:grpSpPr>
        <p:sp>
          <p:nvSpPr>
            <p:cNvPr name="Freeform 15" id="1558"/>
            <p:cNvSpPr/>
            <p:nvPr/>
          </p:nvSpPr>
          <p:spPr>
            <a:xfrm flipH="false" flipV="false" rot="0">
              <a:off x="0" y="0"/>
              <a:ext cx="3055296" cy="1257954"/>
            </a:xfrm>
            <a:custGeom>
              <a:avLst/>
              <a:gdLst/>
              <a:ahLst/>
              <a:cxnLst/>
              <a:rect r="r" b="b" t="t" l="l"/>
              <a:pathLst>
                <a:path h="1257954" w="3055296">
                  <a:moveTo>
                    <a:pt x="52605" y="0"/>
                  </a:moveTo>
                  <a:lnTo>
                    <a:pt x="3002691" y="0"/>
                  </a:lnTo>
                  <a:cubicBezTo>
                    <a:pt x="3031744" y="0"/>
                    <a:pt x="3055296" y="23552"/>
                    <a:pt x="3055296" y="52605"/>
                  </a:cubicBezTo>
                  <a:lnTo>
                    <a:pt x="3055296" y="1205348"/>
                  </a:lnTo>
                  <a:cubicBezTo>
                    <a:pt x="3055296" y="1219300"/>
                    <a:pt x="3049754" y="1232680"/>
                    <a:pt x="3039888" y="1242546"/>
                  </a:cubicBezTo>
                  <a:cubicBezTo>
                    <a:pt x="3030023" y="1252411"/>
                    <a:pt x="3016642" y="1257954"/>
                    <a:pt x="3002691" y="1257954"/>
                  </a:cubicBezTo>
                  <a:lnTo>
                    <a:pt x="52605" y="1257954"/>
                  </a:lnTo>
                  <a:cubicBezTo>
                    <a:pt x="23552" y="1257954"/>
                    <a:pt x="0" y="1234401"/>
                    <a:pt x="0" y="1205348"/>
                  </a:cubicBezTo>
                  <a:lnTo>
                    <a:pt x="0" y="52605"/>
                  </a:lnTo>
                  <a:cubicBezTo>
                    <a:pt x="0" y="23552"/>
                    <a:pt x="23552" y="0"/>
                    <a:pt x="52605" y="0"/>
                  </a:cubicBezTo>
                  <a:close/>
                </a:path>
              </a:pathLst>
            </a:custGeom>
            <a:blipFill>
              <a:blip r:embed="rId2"/>
              <a:stretch>
                <a:fillRect l="-27365" t="-26874" r="0" b="-79354"/>
              </a:stretch>
            </a:blipFill>
          </p:spPr>
          <p:txBody>
            <a:bodyPr/>
            <a:p/>
          </p:txBody>
        </p:sp>
      </p:grpSp>
      <p:sp>
        <p:nvSpPr>
          <p:cNvPr name="Freeform 16" id="1559"/>
          <p:cNvSpPr/>
          <p:nvPr/>
        </p:nvSpPr>
        <p:spPr>
          <a:xfrm flipH="false" flipV="false" rot="2916010">
            <a:off x="8566222" y="4850595"/>
            <a:ext cx="599295" cy="585811"/>
          </a:xfrm>
          <a:custGeom>
            <a:avLst/>
            <a:gdLst/>
            <a:ahLst/>
            <a:cxnLst/>
            <a:rect r="r" b="b" t="t" l="l"/>
            <a:pathLst>
              <a:path h="585811" w="599295">
                <a:moveTo>
                  <a:pt x="0" y="0"/>
                </a:moveTo>
                <a:lnTo>
                  <a:pt x="599295" y="0"/>
                </a:lnTo>
                <a:lnTo>
                  <a:pt x="599295" y="585810"/>
                </a:lnTo>
                <a:lnTo>
                  <a:pt x="0" y="5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1560"/>
          <p:cNvSpPr/>
          <p:nvPr/>
        </p:nvSpPr>
        <p:spPr>
          <a:xfrm flipH="false" flipV="false" rot="-1166207">
            <a:off x="616105" y="1721563"/>
            <a:ext cx="509290" cy="503560"/>
          </a:xfrm>
          <a:custGeom>
            <a:avLst/>
            <a:gdLst/>
            <a:ahLst/>
            <a:cxnLst/>
            <a:rect r="r" b="b" t="t" l="l"/>
            <a:pathLst>
              <a:path h="503560" w="509290">
                <a:moveTo>
                  <a:pt x="0" y="0"/>
                </a:moveTo>
                <a:lnTo>
                  <a:pt x="509290" y="0"/>
                </a:lnTo>
                <a:lnTo>
                  <a:pt x="509290" y="503560"/>
                </a:lnTo>
                <a:lnTo>
                  <a:pt x="0" y="5035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5" id="1568"/>
          <p:cNvSpPr txBox="true"/>
          <p:nvPr/>
        </p:nvSpPr>
        <p:spPr>
          <a:xfrm rot="0">
            <a:off x="1028700" y="2504394"/>
            <a:ext cx="7819856" cy="179361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26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 — Pipeline (5 stages)</a:t>
            </a:r>
          </a:p>
        </p:txBody>
      </p:sp>
      <p:sp>
        <p:nvSpPr>
          <p:cNvPr id="1569" name="TextBox 1568"/>
          <p:cNvSpPr txBox="1"/>
          <p:nvPr/>
        </p:nvSpPr>
        <p:spPr>
          <a:xfrm>
            <a:off x="640080" y="2103120"/>
            <a:ext cx="576072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Stage 1 – PCA: stabilise geometry + visual diagnostic (NOT the explanatory space).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Stage 2 – K-Means++ with multi-criteria k selection (elbow, Silhouette, Davies–Bouldin).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Stage 3 – LightGBM surrogate trained on original features to predict cluster labels.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Stage 4 – TreeSHAP attribution in the original feature space.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Stage 5 – Global importance, cluster-specific profiles, local force plots.</a:t>
            </a:r>
          </a:p>
        </p:txBody>
      </p:sp>
      <p:pic>
        <p:nvPicPr>
          <p:cNvPr id="1570" name="Picture 1569" descr="c1_pipeline_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94560"/>
            <a:ext cx="493776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569"/>
          <p:cNvGrpSpPr/>
          <p:nvPr/>
        </p:nvGrpSpPr>
        <p:grpSpPr>
          <a:xfrm rot="0">
            <a:off x="1028700" y="6198504"/>
            <a:ext cx="7975559" cy="3059796"/>
            <a:chOff x="0" y="0"/>
            <a:chExt cx="2100559" cy="805872"/>
          </a:xfrm>
        </p:grpSpPr>
        <p:sp>
          <p:nvSpPr>
            <p:cNvPr name="Freeform 3" id="1570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571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572"/>
          <p:cNvGrpSpPr/>
          <p:nvPr/>
        </p:nvGrpSpPr>
        <p:grpSpPr>
          <a:xfrm rot="0">
            <a:off x="1595752" y="5758566"/>
            <a:ext cx="3204081" cy="776582"/>
            <a:chOff x="0" y="0"/>
            <a:chExt cx="843873" cy="204532"/>
          </a:xfrm>
        </p:grpSpPr>
        <p:sp>
          <p:nvSpPr>
            <p:cNvPr name="Freeform 6" id="1573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1574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575"/>
          <p:cNvGrpSpPr/>
          <p:nvPr/>
        </p:nvGrpSpPr>
        <p:grpSpPr>
          <a:xfrm rot="0">
            <a:off x="9283741" y="6198504"/>
            <a:ext cx="7975559" cy="3059796"/>
            <a:chOff x="0" y="0"/>
            <a:chExt cx="2100559" cy="805872"/>
          </a:xfrm>
        </p:grpSpPr>
        <p:sp>
          <p:nvSpPr>
            <p:cNvPr name="Freeform 9" id="1576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1577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578"/>
          <p:cNvGrpSpPr/>
          <p:nvPr/>
        </p:nvGrpSpPr>
        <p:grpSpPr>
          <a:xfrm rot="0">
            <a:off x="9850793" y="5758566"/>
            <a:ext cx="3204081" cy="776582"/>
            <a:chOff x="0" y="0"/>
            <a:chExt cx="843873" cy="204532"/>
          </a:xfrm>
        </p:grpSpPr>
        <p:sp>
          <p:nvSpPr>
            <p:cNvPr name="Freeform 12" id="1579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1580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581"/>
          <p:cNvGrpSpPr/>
          <p:nvPr/>
        </p:nvGrpSpPr>
        <p:grpSpPr>
          <a:xfrm rot="0">
            <a:off x="9850793" y="1561357"/>
            <a:ext cx="9713181" cy="3999197"/>
            <a:chOff x="0" y="0"/>
            <a:chExt cx="3055296" cy="1257954"/>
          </a:xfrm>
        </p:grpSpPr>
        <p:sp>
          <p:nvSpPr>
            <p:cNvPr name="Freeform 15" id="1582"/>
            <p:cNvSpPr/>
            <p:nvPr/>
          </p:nvSpPr>
          <p:spPr>
            <a:xfrm flipH="false" flipV="false" rot="0">
              <a:off x="0" y="0"/>
              <a:ext cx="3055296" cy="1257954"/>
            </a:xfrm>
            <a:custGeom>
              <a:avLst/>
              <a:gdLst/>
              <a:ahLst/>
              <a:cxnLst/>
              <a:rect r="r" b="b" t="t" l="l"/>
              <a:pathLst>
                <a:path h="1257954" w="3055296">
                  <a:moveTo>
                    <a:pt x="52605" y="0"/>
                  </a:moveTo>
                  <a:lnTo>
                    <a:pt x="3002691" y="0"/>
                  </a:lnTo>
                  <a:cubicBezTo>
                    <a:pt x="3031744" y="0"/>
                    <a:pt x="3055296" y="23552"/>
                    <a:pt x="3055296" y="52605"/>
                  </a:cubicBezTo>
                  <a:lnTo>
                    <a:pt x="3055296" y="1205348"/>
                  </a:lnTo>
                  <a:cubicBezTo>
                    <a:pt x="3055296" y="1219300"/>
                    <a:pt x="3049754" y="1232680"/>
                    <a:pt x="3039888" y="1242546"/>
                  </a:cubicBezTo>
                  <a:cubicBezTo>
                    <a:pt x="3030023" y="1252411"/>
                    <a:pt x="3016642" y="1257954"/>
                    <a:pt x="3002691" y="1257954"/>
                  </a:cubicBezTo>
                  <a:lnTo>
                    <a:pt x="52605" y="1257954"/>
                  </a:lnTo>
                  <a:cubicBezTo>
                    <a:pt x="23552" y="1257954"/>
                    <a:pt x="0" y="1234401"/>
                    <a:pt x="0" y="1205348"/>
                  </a:cubicBezTo>
                  <a:lnTo>
                    <a:pt x="0" y="52605"/>
                  </a:lnTo>
                  <a:cubicBezTo>
                    <a:pt x="0" y="23552"/>
                    <a:pt x="23552" y="0"/>
                    <a:pt x="52605" y="0"/>
                  </a:cubicBezTo>
                  <a:close/>
                </a:path>
              </a:pathLst>
            </a:custGeom>
            <a:blipFill>
              <a:blip r:embed="rId2"/>
              <a:stretch>
                <a:fillRect l="-27365" t="-26874" r="0" b="-79354"/>
              </a:stretch>
            </a:blipFill>
          </p:spPr>
          <p:txBody>
            <a:bodyPr/>
            <a:p/>
          </p:txBody>
        </p:sp>
      </p:grpSp>
      <p:sp>
        <p:nvSpPr>
          <p:cNvPr name="Freeform 16" id="1583"/>
          <p:cNvSpPr/>
          <p:nvPr/>
        </p:nvSpPr>
        <p:spPr>
          <a:xfrm flipH="false" flipV="false" rot="2916010">
            <a:off x="8566222" y="4850595"/>
            <a:ext cx="599295" cy="585811"/>
          </a:xfrm>
          <a:custGeom>
            <a:avLst/>
            <a:gdLst/>
            <a:ahLst/>
            <a:cxnLst/>
            <a:rect r="r" b="b" t="t" l="l"/>
            <a:pathLst>
              <a:path h="585811" w="599295">
                <a:moveTo>
                  <a:pt x="0" y="0"/>
                </a:moveTo>
                <a:lnTo>
                  <a:pt x="599295" y="0"/>
                </a:lnTo>
                <a:lnTo>
                  <a:pt x="599295" y="585810"/>
                </a:lnTo>
                <a:lnTo>
                  <a:pt x="0" y="5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1584"/>
          <p:cNvSpPr/>
          <p:nvPr/>
        </p:nvSpPr>
        <p:spPr>
          <a:xfrm flipH="false" flipV="false" rot="-1166207">
            <a:off x="616105" y="1721563"/>
            <a:ext cx="509290" cy="503560"/>
          </a:xfrm>
          <a:custGeom>
            <a:avLst/>
            <a:gdLst/>
            <a:ahLst/>
            <a:cxnLst/>
            <a:rect r="r" b="b" t="t" l="l"/>
            <a:pathLst>
              <a:path h="503560" w="509290">
                <a:moveTo>
                  <a:pt x="0" y="0"/>
                </a:moveTo>
                <a:lnTo>
                  <a:pt x="509290" y="0"/>
                </a:lnTo>
                <a:lnTo>
                  <a:pt x="509290" y="503560"/>
                </a:lnTo>
                <a:lnTo>
                  <a:pt x="0" y="5035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5" id="1592"/>
          <p:cNvSpPr txBox="true"/>
          <p:nvPr/>
        </p:nvSpPr>
        <p:spPr>
          <a:xfrm rot="0">
            <a:off x="1028700" y="2504394"/>
            <a:ext cx="7819856" cy="179361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30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 — Choosing k</a:t>
            </a:r>
          </a:p>
        </p:txBody>
      </p:sp>
      <p:sp>
        <p:nvSpPr>
          <p:cNvPr id="1593" name="TextBox 1592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Multi-criteria evaluation across k ∈ {2..10} using elbow, Silhouette, Davies–Bouldin.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We select k* = 3 — even though it is NOT geometrically optimal: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k = 2: Silhouette 0.214, Davies–Bouldin 1.775 (better separation).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k = 3: Silhouette 0.144, Davies–Bouldin 2.097 (weaker separation).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1">
                <a:solidFill>
                  <a:srgbClr val="22303C"/>
                </a:solidFill>
                <a:latin typeface="Roca Two"/>
              </a:rPr>
              <a:t>Why: three clusters give a semantically richer oenological partition → more actionable.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Note: the Silhouette ~0.63 belongs to Beijing (C2), not this wine partition.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593"/>
          <p:cNvGrpSpPr/>
          <p:nvPr/>
        </p:nvGrpSpPr>
        <p:grpSpPr>
          <a:xfrm rot="0">
            <a:off x="1028700" y="6198504"/>
            <a:ext cx="7975559" cy="3059796"/>
            <a:chOff x="0" y="0"/>
            <a:chExt cx="2100559" cy="805872"/>
          </a:xfrm>
        </p:grpSpPr>
        <p:sp>
          <p:nvSpPr>
            <p:cNvPr name="Freeform 3" id="1594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595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596"/>
          <p:cNvGrpSpPr/>
          <p:nvPr/>
        </p:nvGrpSpPr>
        <p:grpSpPr>
          <a:xfrm rot="0">
            <a:off x="1595752" y="5758566"/>
            <a:ext cx="3204081" cy="776582"/>
            <a:chOff x="0" y="0"/>
            <a:chExt cx="843873" cy="204532"/>
          </a:xfrm>
        </p:grpSpPr>
        <p:sp>
          <p:nvSpPr>
            <p:cNvPr name="Freeform 6" id="1597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1598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599"/>
          <p:cNvGrpSpPr/>
          <p:nvPr/>
        </p:nvGrpSpPr>
        <p:grpSpPr>
          <a:xfrm rot="0">
            <a:off x="9283741" y="6198504"/>
            <a:ext cx="7975559" cy="3059796"/>
            <a:chOff x="0" y="0"/>
            <a:chExt cx="2100559" cy="805872"/>
          </a:xfrm>
        </p:grpSpPr>
        <p:sp>
          <p:nvSpPr>
            <p:cNvPr name="Freeform 9" id="1600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1601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602"/>
          <p:cNvGrpSpPr/>
          <p:nvPr/>
        </p:nvGrpSpPr>
        <p:grpSpPr>
          <a:xfrm rot="0">
            <a:off x="9850793" y="5758566"/>
            <a:ext cx="3204081" cy="776582"/>
            <a:chOff x="0" y="0"/>
            <a:chExt cx="843873" cy="204532"/>
          </a:xfrm>
        </p:grpSpPr>
        <p:sp>
          <p:nvSpPr>
            <p:cNvPr name="Freeform 12" id="1603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1604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605"/>
          <p:cNvGrpSpPr/>
          <p:nvPr/>
        </p:nvGrpSpPr>
        <p:grpSpPr>
          <a:xfrm rot="0">
            <a:off x="9850793" y="1561357"/>
            <a:ext cx="9713181" cy="3999197"/>
            <a:chOff x="0" y="0"/>
            <a:chExt cx="3055296" cy="1257954"/>
          </a:xfrm>
        </p:grpSpPr>
        <p:sp>
          <p:nvSpPr>
            <p:cNvPr name="Freeform 15" id="1606"/>
            <p:cNvSpPr/>
            <p:nvPr/>
          </p:nvSpPr>
          <p:spPr>
            <a:xfrm flipH="false" flipV="false" rot="0">
              <a:off x="0" y="0"/>
              <a:ext cx="3055296" cy="1257954"/>
            </a:xfrm>
            <a:custGeom>
              <a:avLst/>
              <a:gdLst/>
              <a:ahLst/>
              <a:cxnLst/>
              <a:rect r="r" b="b" t="t" l="l"/>
              <a:pathLst>
                <a:path h="1257954" w="3055296">
                  <a:moveTo>
                    <a:pt x="52605" y="0"/>
                  </a:moveTo>
                  <a:lnTo>
                    <a:pt x="3002691" y="0"/>
                  </a:lnTo>
                  <a:cubicBezTo>
                    <a:pt x="3031744" y="0"/>
                    <a:pt x="3055296" y="23552"/>
                    <a:pt x="3055296" y="52605"/>
                  </a:cubicBezTo>
                  <a:lnTo>
                    <a:pt x="3055296" y="1205348"/>
                  </a:lnTo>
                  <a:cubicBezTo>
                    <a:pt x="3055296" y="1219300"/>
                    <a:pt x="3049754" y="1232680"/>
                    <a:pt x="3039888" y="1242546"/>
                  </a:cubicBezTo>
                  <a:cubicBezTo>
                    <a:pt x="3030023" y="1252411"/>
                    <a:pt x="3016642" y="1257954"/>
                    <a:pt x="3002691" y="1257954"/>
                  </a:cubicBezTo>
                  <a:lnTo>
                    <a:pt x="52605" y="1257954"/>
                  </a:lnTo>
                  <a:cubicBezTo>
                    <a:pt x="23552" y="1257954"/>
                    <a:pt x="0" y="1234401"/>
                    <a:pt x="0" y="1205348"/>
                  </a:cubicBezTo>
                  <a:lnTo>
                    <a:pt x="0" y="52605"/>
                  </a:lnTo>
                  <a:cubicBezTo>
                    <a:pt x="0" y="23552"/>
                    <a:pt x="23552" y="0"/>
                    <a:pt x="52605" y="0"/>
                  </a:cubicBezTo>
                  <a:close/>
                </a:path>
              </a:pathLst>
            </a:custGeom>
            <a:blipFill>
              <a:blip r:embed="rId2"/>
              <a:stretch>
                <a:fillRect l="-27365" t="-26874" r="0" b="-79354"/>
              </a:stretch>
            </a:blipFill>
          </p:spPr>
          <p:txBody>
            <a:bodyPr/>
            <a:p/>
          </p:txBody>
        </p:sp>
      </p:grpSp>
      <p:sp>
        <p:nvSpPr>
          <p:cNvPr name="Freeform 16" id="1607"/>
          <p:cNvSpPr/>
          <p:nvPr/>
        </p:nvSpPr>
        <p:spPr>
          <a:xfrm flipH="false" flipV="false" rot="2916010">
            <a:off x="8566222" y="4850595"/>
            <a:ext cx="599295" cy="585811"/>
          </a:xfrm>
          <a:custGeom>
            <a:avLst/>
            <a:gdLst/>
            <a:ahLst/>
            <a:cxnLst/>
            <a:rect r="r" b="b" t="t" l="l"/>
            <a:pathLst>
              <a:path h="585811" w="599295">
                <a:moveTo>
                  <a:pt x="0" y="0"/>
                </a:moveTo>
                <a:lnTo>
                  <a:pt x="599295" y="0"/>
                </a:lnTo>
                <a:lnTo>
                  <a:pt x="599295" y="585810"/>
                </a:lnTo>
                <a:lnTo>
                  <a:pt x="0" y="5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1608"/>
          <p:cNvSpPr/>
          <p:nvPr/>
        </p:nvSpPr>
        <p:spPr>
          <a:xfrm flipH="false" flipV="false" rot="-1166207">
            <a:off x="616105" y="1721563"/>
            <a:ext cx="509290" cy="503560"/>
          </a:xfrm>
          <a:custGeom>
            <a:avLst/>
            <a:gdLst/>
            <a:ahLst/>
            <a:cxnLst/>
            <a:rect r="r" b="b" t="t" l="l"/>
            <a:pathLst>
              <a:path h="503560" w="509290">
                <a:moveTo>
                  <a:pt x="0" y="0"/>
                </a:moveTo>
                <a:lnTo>
                  <a:pt x="509290" y="0"/>
                </a:lnTo>
                <a:lnTo>
                  <a:pt x="509290" y="503560"/>
                </a:lnTo>
                <a:lnTo>
                  <a:pt x="0" y="5035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5" id="1616"/>
          <p:cNvSpPr txBox="true"/>
          <p:nvPr/>
        </p:nvSpPr>
        <p:spPr>
          <a:xfrm rot="0">
            <a:off x="1028700" y="2504394"/>
            <a:ext cx="7819856" cy="179361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22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 — Global SHAP Ranking (Wine)</a:t>
            </a:r>
          </a:p>
        </p:txBody>
      </p:sp>
      <p:sp>
        <p:nvSpPr>
          <p:cNvPr id="1617" name="TextBox 1616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Global SHAP ranking (high → low):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density → pH → fixed acidity → sulfur-dioxide → alcohol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Dominant drivers relate to structure, preservation, and sensory balance.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1">
                <a:solidFill>
                  <a:srgbClr val="22303C"/>
                </a:solidFill>
                <a:latin typeface="Roca Two"/>
              </a:rPr>
              <a:t>This is NOT an arbitrary classifier artefact — it recovers a chemically interpretable hierarchy.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617"/>
          <p:cNvGrpSpPr/>
          <p:nvPr/>
        </p:nvGrpSpPr>
        <p:grpSpPr>
          <a:xfrm rot="0">
            <a:off x="1028700" y="6198504"/>
            <a:ext cx="7975559" cy="3059796"/>
            <a:chOff x="0" y="0"/>
            <a:chExt cx="2100559" cy="805872"/>
          </a:xfrm>
        </p:grpSpPr>
        <p:sp>
          <p:nvSpPr>
            <p:cNvPr name="Freeform 3" id="1618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619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620"/>
          <p:cNvGrpSpPr/>
          <p:nvPr/>
        </p:nvGrpSpPr>
        <p:grpSpPr>
          <a:xfrm rot="0">
            <a:off x="1595752" y="5758566"/>
            <a:ext cx="3204081" cy="776582"/>
            <a:chOff x="0" y="0"/>
            <a:chExt cx="843873" cy="204532"/>
          </a:xfrm>
        </p:grpSpPr>
        <p:sp>
          <p:nvSpPr>
            <p:cNvPr name="Freeform 6" id="1621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1622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623"/>
          <p:cNvGrpSpPr/>
          <p:nvPr/>
        </p:nvGrpSpPr>
        <p:grpSpPr>
          <a:xfrm rot="0">
            <a:off x="9283741" y="6198504"/>
            <a:ext cx="7975559" cy="3059796"/>
            <a:chOff x="0" y="0"/>
            <a:chExt cx="2100559" cy="805872"/>
          </a:xfrm>
        </p:grpSpPr>
        <p:sp>
          <p:nvSpPr>
            <p:cNvPr name="Freeform 9" id="1624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1625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626"/>
          <p:cNvGrpSpPr/>
          <p:nvPr/>
        </p:nvGrpSpPr>
        <p:grpSpPr>
          <a:xfrm rot="0">
            <a:off x="9850793" y="5758566"/>
            <a:ext cx="3204081" cy="776582"/>
            <a:chOff x="0" y="0"/>
            <a:chExt cx="843873" cy="204532"/>
          </a:xfrm>
        </p:grpSpPr>
        <p:sp>
          <p:nvSpPr>
            <p:cNvPr name="Freeform 12" id="1627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1628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629"/>
          <p:cNvGrpSpPr/>
          <p:nvPr/>
        </p:nvGrpSpPr>
        <p:grpSpPr>
          <a:xfrm rot="0">
            <a:off x="9850793" y="1561357"/>
            <a:ext cx="9713181" cy="3999197"/>
            <a:chOff x="0" y="0"/>
            <a:chExt cx="3055296" cy="1257954"/>
          </a:xfrm>
        </p:grpSpPr>
        <p:sp>
          <p:nvSpPr>
            <p:cNvPr name="Freeform 15" id="1630"/>
            <p:cNvSpPr/>
            <p:nvPr/>
          </p:nvSpPr>
          <p:spPr>
            <a:xfrm flipH="false" flipV="false" rot="0">
              <a:off x="0" y="0"/>
              <a:ext cx="3055296" cy="1257954"/>
            </a:xfrm>
            <a:custGeom>
              <a:avLst/>
              <a:gdLst/>
              <a:ahLst/>
              <a:cxnLst/>
              <a:rect r="r" b="b" t="t" l="l"/>
              <a:pathLst>
                <a:path h="1257954" w="3055296">
                  <a:moveTo>
                    <a:pt x="52605" y="0"/>
                  </a:moveTo>
                  <a:lnTo>
                    <a:pt x="3002691" y="0"/>
                  </a:lnTo>
                  <a:cubicBezTo>
                    <a:pt x="3031744" y="0"/>
                    <a:pt x="3055296" y="23552"/>
                    <a:pt x="3055296" y="52605"/>
                  </a:cubicBezTo>
                  <a:lnTo>
                    <a:pt x="3055296" y="1205348"/>
                  </a:lnTo>
                  <a:cubicBezTo>
                    <a:pt x="3055296" y="1219300"/>
                    <a:pt x="3049754" y="1232680"/>
                    <a:pt x="3039888" y="1242546"/>
                  </a:cubicBezTo>
                  <a:cubicBezTo>
                    <a:pt x="3030023" y="1252411"/>
                    <a:pt x="3016642" y="1257954"/>
                    <a:pt x="3002691" y="1257954"/>
                  </a:cubicBezTo>
                  <a:lnTo>
                    <a:pt x="52605" y="1257954"/>
                  </a:lnTo>
                  <a:cubicBezTo>
                    <a:pt x="23552" y="1257954"/>
                    <a:pt x="0" y="1234401"/>
                    <a:pt x="0" y="1205348"/>
                  </a:cubicBezTo>
                  <a:lnTo>
                    <a:pt x="0" y="52605"/>
                  </a:lnTo>
                  <a:cubicBezTo>
                    <a:pt x="0" y="23552"/>
                    <a:pt x="23552" y="0"/>
                    <a:pt x="52605" y="0"/>
                  </a:cubicBezTo>
                  <a:close/>
                </a:path>
              </a:pathLst>
            </a:custGeom>
            <a:blipFill>
              <a:blip r:embed="rId2"/>
              <a:stretch>
                <a:fillRect l="-27365" t="-26874" r="0" b="-79354"/>
              </a:stretch>
            </a:blipFill>
          </p:spPr>
          <p:txBody>
            <a:bodyPr/>
            <a:p/>
          </p:txBody>
        </p:sp>
      </p:grpSp>
      <p:sp>
        <p:nvSpPr>
          <p:cNvPr name="Freeform 16" id="1631"/>
          <p:cNvSpPr/>
          <p:nvPr/>
        </p:nvSpPr>
        <p:spPr>
          <a:xfrm flipH="false" flipV="false" rot="2916010">
            <a:off x="8566222" y="4850595"/>
            <a:ext cx="599295" cy="585811"/>
          </a:xfrm>
          <a:custGeom>
            <a:avLst/>
            <a:gdLst/>
            <a:ahLst/>
            <a:cxnLst/>
            <a:rect r="r" b="b" t="t" l="l"/>
            <a:pathLst>
              <a:path h="585811" w="599295">
                <a:moveTo>
                  <a:pt x="0" y="0"/>
                </a:moveTo>
                <a:lnTo>
                  <a:pt x="599295" y="0"/>
                </a:lnTo>
                <a:lnTo>
                  <a:pt x="599295" y="585810"/>
                </a:lnTo>
                <a:lnTo>
                  <a:pt x="0" y="5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1632"/>
          <p:cNvSpPr/>
          <p:nvPr/>
        </p:nvSpPr>
        <p:spPr>
          <a:xfrm flipH="false" flipV="false" rot="-1166207">
            <a:off x="616105" y="1721563"/>
            <a:ext cx="509290" cy="503560"/>
          </a:xfrm>
          <a:custGeom>
            <a:avLst/>
            <a:gdLst/>
            <a:ahLst/>
            <a:cxnLst/>
            <a:rect r="r" b="b" t="t" l="l"/>
            <a:pathLst>
              <a:path h="503560" w="509290">
                <a:moveTo>
                  <a:pt x="0" y="0"/>
                </a:moveTo>
                <a:lnTo>
                  <a:pt x="509290" y="0"/>
                </a:lnTo>
                <a:lnTo>
                  <a:pt x="509290" y="503560"/>
                </a:lnTo>
                <a:lnTo>
                  <a:pt x="0" y="5035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5" id="1640"/>
          <p:cNvSpPr txBox="true"/>
          <p:nvPr/>
        </p:nvSpPr>
        <p:spPr>
          <a:xfrm rot="0">
            <a:off x="1028700" y="2504394"/>
            <a:ext cx="7819856" cy="179361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26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 — Cluster-Specific Profiles</a:t>
            </a:r>
          </a:p>
        </p:txBody>
      </p:sp>
      <p:sp>
        <p:nvSpPr>
          <p:cNvPr id="1641" name="TextBox 1640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Three clusters show distinct explanatory signatures.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Cluster 0 – density + sulfur-dioxide-related variables.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Cluster 1 – acidity and pH-related effects.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Cluster 2 – a different balance of acidity, alcohol, and related chemical attributes.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The same small set of variables recurs across clusters, with different relative weights within each.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641"/>
          <p:cNvGrpSpPr/>
          <p:nvPr/>
        </p:nvGrpSpPr>
        <p:grpSpPr>
          <a:xfrm rot="0">
            <a:off x="0" y="1837763"/>
            <a:ext cx="7510728" cy="8449237"/>
            <a:chOff x="0" y="0"/>
            <a:chExt cx="2918292" cy="3282950"/>
          </a:xfrm>
        </p:grpSpPr>
        <p:sp>
          <p:nvSpPr>
            <p:cNvPr name="Freeform 3" id="1642"/>
            <p:cNvSpPr/>
            <p:nvPr/>
          </p:nvSpPr>
          <p:spPr>
            <a:xfrm flipH="false" flipV="false" rot="0">
              <a:off x="0" y="0"/>
              <a:ext cx="2918292" cy="3282950"/>
            </a:xfrm>
            <a:custGeom>
              <a:avLst/>
              <a:gdLst/>
              <a:ahLst/>
              <a:cxnLst/>
              <a:rect r="r" b="b" t="t" l="l"/>
              <a:pathLst>
                <a:path h="3282950" w="2918292">
                  <a:moveTo>
                    <a:pt x="0" y="0"/>
                  </a:moveTo>
                  <a:lnTo>
                    <a:pt x="2251093" y="0"/>
                  </a:lnTo>
                  <a:cubicBezTo>
                    <a:pt x="2619125" y="0"/>
                    <a:pt x="2918292" y="336550"/>
                    <a:pt x="2918292" y="750570"/>
                  </a:cubicBezTo>
                  <a:lnTo>
                    <a:pt x="2918292" y="3282950"/>
                  </a:lnTo>
                  <a:lnTo>
                    <a:pt x="0" y="3282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6669" r="0" b="-16669"/>
              </a:stretch>
            </a:blipFill>
          </p:spPr>
          <p:txBody>
            <a:bodyPr/>
            <a:p/>
          </p:txBody>
        </p:sp>
      </p:grpSp>
      <p:sp>
        <p:nvSpPr>
          <p:cNvPr name="Freeform 4" id="1643"/>
          <p:cNvSpPr/>
          <p:nvPr/>
        </p:nvSpPr>
        <p:spPr>
          <a:xfrm flipH="false" flipV="false" rot="-1161225">
            <a:off x="16229390" y="8693137"/>
            <a:ext cx="1216650" cy="667637"/>
          </a:xfrm>
          <a:custGeom>
            <a:avLst/>
            <a:gdLst/>
            <a:ahLst/>
            <a:cxnLst/>
            <a:rect r="r" b="b" t="t" l="l"/>
            <a:pathLst>
              <a:path h="667637" w="1216650">
                <a:moveTo>
                  <a:pt x="0" y="0"/>
                </a:moveTo>
                <a:lnTo>
                  <a:pt x="1216650" y="0"/>
                </a:lnTo>
                <a:lnTo>
                  <a:pt x="1216650" y="667637"/>
                </a:lnTo>
                <a:lnTo>
                  <a:pt x="0" y="66763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1644"/>
          <p:cNvSpPr/>
          <p:nvPr/>
        </p:nvSpPr>
        <p:spPr>
          <a:xfrm flipH="false" flipV="false" rot="2700000">
            <a:off x="7912917" y="2469423"/>
            <a:ext cx="1002870" cy="799789"/>
          </a:xfrm>
          <a:custGeom>
            <a:avLst/>
            <a:gdLst/>
            <a:ahLst/>
            <a:cxnLst/>
            <a:rect r="r" b="b" t="t" l="l"/>
            <a:pathLst>
              <a:path h="799789" w="1002870">
                <a:moveTo>
                  <a:pt x="0" y="0"/>
                </a:moveTo>
                <a:lnTo>
                  <a:pt x="1002870" y="0"/>
                </a:lnTo>
                <a:lnTo>
                  <a:pt x="1002870" y="799789"/>
                </a:lnTo>
                <a:lnTo>
                  <a:pt x="0" y="79978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1645"/>
          <p:cNvSpPr txBox="true"/>
          <p:nvPr/>
        </p:nvSpPr>
        <p:spPr>
          <a:xfrm rot="0">
            <a:off x="8401165" y="4078153"/>
            <a:ext cx="9013745" cy="171936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2573"/>
              </a:lnSpc>
            </a:pPr>
            <a:r>
              <a:rPr lang="en-US" sz="2600" spc="-792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 — SHAP vs LIME</a:t>
            </a:r>
          </a:p>
        </p:txBody>
      </p:sp>
      <p:graphicFrame>
        <p:nvGraphicFramePr>
          <p:cNvPr id="1646" name="Table 1645"/>
          <p:cNvGraphicFramePr>
            <a:graphicFrameLocks noGrp="1"/>
          </p:cNvGraphicFramePr>
          <p:nvPr/>
        </p:nvGraphicFramePr>
        <p:xfrm>
          <a:off x="640080" y="2103120"/>
          <a:ext cx="10881359" cy="3474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66447"/>
                <a:gridCol w="4057456"/>
                <a:gridCol w="4057456"/>
              </a:tblGrid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Criterion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SHAP (cooperative)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LIME (local surrogate)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Basis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Cooperative-game marginal contribution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Local surrogate approximation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Local / global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Both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Primarily local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Theoretical guarantee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Efficiency, symmetry, null player, additivity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None equivalent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Stability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Higher when surrogate faithful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Sensitive to perturbation design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Cluster comparison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Strong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Limited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1650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3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 — Answers</a:t>
            </a:r>
          </a:p>
        </p:txBody>
      </p:sp>
      <p:grpSp>
        <p:nvGrpSpPr>
          <p:cNvPr name="Group 3" id="1651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1652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1653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1654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1655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656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1657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658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659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1660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1661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662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1663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1664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665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1666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1667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1668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1669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1670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1671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1672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673" name="TextBox 1672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Answers to the questions and objectives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RQ1 answered in the affirmative — faithful, coherent cluster-level explanation from Shapley values.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O1 met · cluster-level explanation while preserving feature-level attribution.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O2 met · attribution returned to the original chemical variables.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O3 met · Shapley grounded in four axioms; LIME has no equivalent guarantee.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1681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26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 — Key Findings</a:t>
            </a:r>
          </a:p>
        </p:txBody>
      </p:sp>
      <p:grpSp>
        <p:nvGrpSpPr>
          <p:cNvPr name="Group 3" id="1682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1683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1684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168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168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687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168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68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690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1691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1692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693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1694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1695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696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169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169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1699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170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170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1702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1703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704" name="TextBox 1703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Key findings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Cluster-level explanation anchored to individual feature contributions.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Explanations returned to the original chemical variables, not a latent space.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Theoretically grounded case for Shapley over LIME.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Recovers an oenologically interpretable ranking — density, pH, acidity, sulfur dioxide, alcohol.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1712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3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 — Limitations</a:t>
            </a:r>
          </a:p>
        </p:txBody>
      </p:sp>
      <p:grpSp>
        <p:nvGrpSpPr>
          <p:cNvPr name="Group 3" id="1713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1714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1715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1716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1717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718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1719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720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721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1722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1723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724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1725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1726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727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1728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1729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1730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1731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1732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1733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1734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735" name="TextBox 1734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Limitations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Fidelity depends on the LightGBM surrogate — not a direct mechanism of the K-Means geometry.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Confined to tabular data; no structured, graph, or image input.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Single-level structure: cannot explain how importance reconfigures between a partition and its sub-partitions.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The surrogate approximation compresses observation-level variation.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1743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3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 — Takeaways</a:t>
            </a:r>
          </a:p>
        </p:txBody>
      </p:sp>
      <p:grpSp>
        <p:nvGrpSpPr>
          <p:cNvPr name="Group 3" id="1744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1745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1746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174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174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749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175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75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752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175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175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755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175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175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758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175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176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1761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176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176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1764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1765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766" name="TextBox 1765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Takeaways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Shapley attribution is a single, principled lens for explaining an unsupervised partition.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Keeping attribution in the original feature space is what makes it actionable.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1">
                <a:solidFill>
                  <a:srgbClr val="22303C"/>
                </a:solidFill>
                <a:latin typeface="Roca Two"/>
              </a:rPr>
              <a:t>But real data are rarely single-level: broad regimes contain nested sub-groups.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So the next question is whether this logic survives scale and hierarchy.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774"/>
          <p:cNvGrpSpPr/>
          <p:nvPr/>
        </p:nvGrpSpPr>
        <p:grpSpPr>
          <a:xfrm rot="0">
            <a:off x="0" y="5321413"/>
            <a:ext cx="18288000" cy="4965587"/>
            <a:chOff x="0" y="0"/>
            <a:chExt cx="4816593" cy="1307809"/>
          </a:xfrm>
        </p:grpSpPr>
        <p:sp>
          <p:nvSpPr>
            <p:cNvPr name="Freeform 3" id="1775"/>
            <p:cNvSpPr/>
            <p:nvPr/>
          </p:nvSpPr>
          <p:spPr>
            <a:xfrm flipH="false" flipV="false" rot="0">
              <a:off x="0" y="0"/>
              <a:ext cx="4816592" cy="1307809"/>
            </a:xfrm>
            <a:custGeom>
              <a:avLst/>
              <a:gdLst/>
              <a:ahLst/>
              <a:cxnLst/>
              <a:rect r="r" b="b" t="t" l="l"/>
              <a:pathLst>
                <a:path h="1307809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1307809"/>
                  </a:lnTo>
                  <a:lnTo>
                    <a:pt x="0" y="1307809"/>
                  </a:ln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776"/>
            <p:cNvSpPr txBox="true"/>
            <p:nvPr/>
          </p:nvSpPr>
          <p:spPr>
            <a:xfrm>
              <a:off x="0" y="-38100"/>
              <a:ext cx="4816593" cy="13459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11" id="1783"/>
          <p:cNvSpPr txBox="true"/>
          <p:nvPr/>
        </p:nvSpPr>
        <p:spPr>
          <a:xfrm rot="0">
            <a:off x="1028700" y="2635383"/>
            <a:ext cx="15730026" cy="268603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9713"/>
              </a:lnSpc>
            </a:pPr>
            <a:r>
              <a:rPr lang="en-US" sz="1800" spc="-1242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 — Enhanced Multi-Level XAI for Large-Scale Clustering</a:t>
            </a:r>
          </a:p>
        </p:txBody>
      </p:sp>
      <p:grpSp>
        <p:nvGrpSpPr>
          <p:cNvPr name="Group 12" id="1784"/>
          <p:cNvGrpSpPr/>
          <p:nvPr/>
        </p:nvGrpSpPr>
        <p:grpSpPr>
          <a:xfrm rot="0">
            <a:off x="16258151" y="3265231"/>
            <a:ext cx="1001149" cy="1001149"/>
            <a:chOff x="0" y="0"/>
            <a:chExt cx="812800" cy="812800"/>
          </a:xfrm>
        </p:grpSpPr>
        <p:sp>
          <p:nvSpPr>
            <p:cNvPr name="Freeform 13" id="178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CC665"/>
            </a:solidFill>
          </p:spPr>
          <p:txBody>
            <a:bodyPr/>
            <a:p/>
          </p:txBody>
        </p:sp>
        <p:sp>
          <p:nvSpPr>
            <p:cNvPr name="TextBox 14" id="1786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5" id="1787"/>
          <p:cNvSpPr/>
          <p:nvPr/>
        </p:nvSpPr>
        <p:spPr>
          <a:xfrm flipH="true" flipV="false" rot="-5400000">
            <a:off x="16564092" y="3571172"/>
            <a:ext cx="389267" cy="389267"/>
          </a:xfrm>
          <a:custGeom>
            <a:avLst/>
            <a:gdLst/>
            <a:ahLst/>
            <a:cxnLst/>
            <a:rect r="r" b="b" t="t" l="l"/>
            <a:pathLst>
              <a:path h="389267" w="389267">
                <a:moveTo>
                  <a:pt x="389267" y="0"/>
                </a:moveTo>
                <a:lnTo>
                  <a:pt x="0" y="0"/>
                </a:lnTo>
                <a:lnTo>
                  <a:pt x="0" y="389267"/>
                </a:lnTo>
                <a:lnTo>
                  <a:pt x="389267" y="389267"/>
                </a:lnTo>
                <a:lnTo>
                  <a:pt x="38926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1788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3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 — Objectives</a:t>
            </a:r>
          </a:p>
        </p:txBody>
      </p:sp>
      <p:grpSp>
        <p:nvGrpSpPr>
          <p:cNvPr name="Group 3" id="1789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1790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1791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1792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1793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794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1795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796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797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1798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1799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800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1801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1802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803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1804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1805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1806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1807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1808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1809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1810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811" name="TextBox 1810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Gap: once clustering is multi-level, feature importance must stay interpretable within a cluster, across sub-clusters, and across the hierarchy.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Large-scale data make exact explanation computationally burdensome.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Flat explanation may be true yet incomplete — it cannot show how importance changes inside a cluster.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Objectives: a genuinely multi-level workflow; a formal cross-level consistency argument (Prop. 6.1); validation on a structurally different large-scale dataset.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1819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22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 — Research Question &amp; Objectives</a:t>
            </a:r>
          </a:p>
        </p:txBody>
      </p:sp>
      <p:grpSp>
        <p:nvGrpSpPr>
          <p:cNvPr name="Group 3" id="1820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1821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1822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182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182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825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182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182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828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182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183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831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183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183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834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183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183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1837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183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183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1840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1841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842" name="TextBox 1841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RQ2 · How can this extend to large-scale, hierarchical clustering without losing tractability or consistency?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Objective O1 · A genuinely multi-level workflow, not a rerun of the single-level pipeline.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Objective O2 · A formal cross-level consistency argument (Proposition 6.1).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Objective O3 · Validation on a structurally different large-scale dataset.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850"/>
          <p:cNvGrpSpPr/>
          <p:nvPr/>
        </p:nvGrpSpPr>
        <p:grpSpPr>
          <a:xfrm rot="0">
            <a:off x="1028700" y="6198504"/>
            <a:ext cx="7975559" cy="3059796"/>
            <a:chOff x="0" y="0"/>
            <a:chExt cx="2100559" cy="805872"/>
          </a:xfrm>
        </p:grpSpPr>
        <p:sp>
          <p:nvSpPr>
            <p:cNvPr name="Freeform 3" id="1851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852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853"/>
          <p:cNvGrpSpPr/>
          <p:nvPr/>
        </p:nvGrpSpPr>
        <p:grpSpPr>
          <a:xfrm rot="0">
            <a:off x="1595752" y="5758566"/>
            <a:ext cx="3204081" cy="776582"/>
            <a:chOff x="0" y="0"/>
            <a:chExt cx="843873" cy="204532"/>
          </a:xfrm>
        </p:grpSpPr>
        <p:sp>
          <p:nvSpPr>
            <p:cNvPr name="Freeform 6" id="1854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1855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856"/>
          <p:cNvGrpSpPr/>
          <p:nvPr/>
        </p:nvGrpSpPr>
        <p:grpSpPr>
          <a:xfrm rot="0">
            <a:off x="9283741" y="6198504"/>
            <a:ext cx="7975559" cy="3059796"/>
            <a:chOff x="0" y="0"/>
            <a:chExt cx="2100559" cy="805872"/>
          </a:xfrm>
        </p:grpSpPr>
        <p:sp>
          <p:nvSpPr>
            <p:cNvPr name="Freeform 9" id="1857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1858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859"/>
          <p:cNvGrpSpPr/>
          <p:nvPr/>
        </p:nvGrpSpPr>
        <p:grpSpPr>
          <a:xfrm rot="0">
            <a:off x="9850793" y="5758566"/>
            <a:ext cx="3204081" cy="776582"/>
            <a:chOff x="0" y="0"/>
            <a:chExt cx="843873" cy="204532"/>
          </a:xfrm>
        </p:grpSpPr>
        <p:sp>
          <p:nvSpPr>
            <p:cNvPr name="Freeform 12" id="1860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1861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862"/>
          <p:cNvGrpSpPr/>
          <p:nvPr/>
        </p:nvGrpSpPr>
        <p:grpSpPr>
          <a:xfrm rot="0">
            <a:off x="9850793" y="1561357"/>
            <a:ext cx="9713181" cy="3999197"/>
            <a:chOff x="0" y="0"/>
            <a:chExt cx="3055296" cy="1257954"/>
          </a:xfrm>
        </p:grpSpPr>
        <p:sp>
          <p:nvSpPr>
            <p:cNvPr name="Freeform 15" id="1863"/>
            <p:cNvSpPr/>
            <p:nvPr/>
          </p:nvSpPr>
          <p:spPr>
            <a:xfrm flipH="false" flipV="false" rot="0">
              <a:off x="0" y="0"/>
              <a:ext cx="3055296" cy="1257954"/>
            </a:xfrm>
            <a:custGeom>
              <a:avLst/>
              <a:gdLst/>
              <a:ahLst/>
              <a:cxnLst/>
              <a:rect r="r" b="b" t="t" l="l"/>
              <a:pathLst>
                <a:path h="1257954" w="3055296">
                  <a:moveTo>
                    <a:pt x="52605" y="0"/>
                  </a:moveTo>
                  <a:lnTo>
                    <a:pt x="3002691" y="0"/>
                  </a:lnTo>
                  <a:cubicBezTo>
                    <a:pt x="3031744" y="0"/>
                    <a:pt x="3055296" y="23552"/>
                    <a:pt x="3055296" y="52605"/>
                  </a:cubicBezTo>
                  <a:lnTo>
                    <a:pt x="3055296" y="1205348"/>
                  </a:lnTo>
                  <a:cubicBezTo>
                    <a:pt x="3055296" y="1219300"/>
                    <a:pt x="3049754" y="1232680"/>
                    <a:pt x="3039888" y="1242546"/>
                  </a:cubicBezTo>
                  <a:cubicBezTo>
                    <a:pt x="3030023" y="1252411"/>
                    <a:pt x="3016642" y="1257954"/>
                    <a:pt x="3002691" y="1257954"/>
                  </a:cubicBezTo>
                  <a:lnTo>
                    <a:pt x="52605" y="1257954"/>
                  </a:lnTo>
                  <a:cubicBezTo>
                    <a:pt x="23552" y="1257954"/>
                    <a:pt x="0" y="1234401"/>
                    <a:pt x="0" y="1205348"/>
                  </a:cubicBezTo>
                  <a:lnTo>
                    <a:pt x="0" y="52605"/>
                  </a:lnTo>
                  <a:cubicBezTo>
                    <a:pt x="0" y="23552"/>
                    <a:pt x="23552" y="0"/>
                    <a:pt x="52605" y="0"/>
                  </a:cubicBezTo>
                  <a:close/>
                </a:path>
              </a:pathLst>
            </a:custGeom>
            <a:blipFill>
              <a:blip r:embed="rId2"/>
              <a:stretch>
                <a:fillRect l="-27365" t="-26874" r="0" b="-79354"/>
              </a:stretch>
            </a:blipFill>
          </p:spPr>
          <p:txBody>
            <a:bodyPr/>
            <a:p/>
          </p:txBody>
        </p:sp>
      </p:grpSp>
      <p:sp>
        <p:nvSpPr>
          <p:cNvPr name="Freeform 16" id="1864"/>
          <p:cNvSpPr/>
          <p:nvPr/>
        </p:nvSpPr>
        <p:spPr>
          <a:xfrm flipH="false" flipV="false" rot="2916010">
            <a:off x="8566222" y="4850595"/>
            <a:ext cx="599295" cy="585811"/>
          </a:xfrm>
          <a:custGeom>
            <a:avLst/>
            <a:gdLst/>
            <a:ahLst/>
            <a:cxnLst/>
            <a:rect r="r" b="b" t="t" l="l"/>
            <a:pathLst>
              <a:path h="585811" w="599295">
                <a:moveTo>
                  <a:pt x="0" y="0"/>
                </a:moveTo>
                <a:lnTo>
                  <a:pt x="599295" y="0"/>
                </a:lnTo>
                <a:lnTo>
                  <a:pt x="599295" y="585810"/>
                </a:lnTo>
                <a:lnTo>
                  <a:pt x="0" y="5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1865"/>
          <p:cNvSpPr/>
          <p:nvPr/>
        </p:nvSpPr>
        <p:spPr>
          <a:xfrm flipH="false" flipV="false" rot="-1166207">
            <a:off x="616105" y="1721563"/>
            <a:ext cx="509290" cy="503560"/>
          </a:xfrm>
          <a:custGeom>
            <a:avLst/>
            <a:gdLst/>
            <a:ahLst/>
            <a:cxnLst/>
            <a:rect r="r" b="b" t="t" l="l"/>
            <a:pathLst>
              <a:path h="503560" w="509290">
                <a:moveTo>
                  <a:pt x="0" y="0"/>
                </a:moveTo>
                <a:lnTo>
                  <a:pt x="509290" y="0"/>
                </a:lnTo>
                <a:lnTo>
                  <a:pt x="509290" y="503560"/>
                </a:lnTo>
                <a:lnTo>
                  <a:pt x="0" y="5035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5" id="1873"/>
          <p:cNvSpPr txBox="true"/>
          <p:nvPr/>
        </p:nvSpPr>
        <p:spPr>
          <a:xfrm rot="0">
            <a:off x="1028700" y="2504394"/>
            <a:ext cx="7819856" cy="179361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26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 — Multi-Level Architecture</a:t>
            </a:r>
          </a:p>
        </p:txBody>
      </p:sp>
      <p:sp>
        <p:nvSpPr>
          <p:cNvPr id="1874" name="TextBox 1873"/>
          <p:cNvSpPr txBox="1"/>
          <p:nvPr/>
        </p:nvSpPr>
        <p:spPr>
          <a:xfrm>
            <a:off x="640080" y="2103120"/>
            <a:ext cx="576072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Recursive/nested: coarse clustering on the full dataset, then subdivide each cluster.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For each level, train a level-specific surrogate and compute SHAP in the SAME original feature space.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Cross-level aggregation is NOT a naive average — it respects cluster size and nesting structure.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Parent-level attribution = an expectation over the explanatory structure of its descendants.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The hierarchy is a pragmatic analytical device, not a claim of true ontological hierarchy.</a:t>
            </a:r>
          </a:p>
        </p:txBody>
      </p:sp>
      <p:pic>
        <p:nvPicPr>
          <p:cNvPr id="1875" name="Picture 1874" descr="c2_hierarc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94560"/>
            <a:ext cx="5029200" cy="1477327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874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187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87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877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187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187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880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1881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1882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883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1884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1885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886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188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188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889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189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189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1901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26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 — Proposition 6.1</a:t>
            </a:r>
          </a:p>
        </p:txBody>
      </p:sp>
      <p:sp>
        <p:nvSpPr>
          <p:cNvPr name="Freeform 30" id="1902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1903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904" name="TextBox 1903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Let Φ^(l,c)_j = E_{x~c}[|φ_j^(l)(x)|] be expected absolute SHAP importance of feature j at level l in cluster c.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Let w_c' = |c'| / |c| be the relative size of child c' within parent c.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For a strict nested hierarchy on a consistent feature space: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1">
                <a:solidFill>
                  <a:srgbClr val="22303C"/>
                </a:solidFill>
                <a:latin typeface="Roca Two"/>
              </a:rPr>
              <a:t>Φ^(l,c)_j = Σ_{c'\u2208child(c)} w_c' · Φ^(l+1,c')_j + ε_j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ε_j vanishes under perfect surrogate fidelity. Derived via law of total expectation.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Does NOT imply explanations are identical across levels — differences can be interpreted, not dismissed.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904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190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90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907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190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190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910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1911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1912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913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1914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1915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916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191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191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919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192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192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1931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26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 — Convergence &amp; Stability</a:t>
            </a:r>
          </a:p>
        </p:txBody>
      </p:sp>
      <p:sp>
        <p:nvSpPr>
          <p:cNvPr name="Freeform 30" id="1932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1933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934" name="TextBox 1933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Full dataset, k = 3 (strong convergence on multi-criteria evaluation).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Silhouette ≈ 0.63 — materially stronger separation than wine.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Davies–Bouldin ≈ 0.55 — low between-cluster ambiguity.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PCA projection (2 components) used only for visual inspection.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Sensitivity: robust to modest variation in k, projection dim, surrogate depth; only low-ranked variables shift.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934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193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93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937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193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193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940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1941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1942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943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1944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1945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946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194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194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949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195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195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1961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26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 — Global Ranking (Beijing)</a:t>
            </a:r>
          </a:p>
        </p:txBody>
      </p:sp>
      <p:sp>
        <p:nvSpPr>
          <p:cNvPr name="Freeform 30" id="1962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1963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964" name="TextBox 1963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Global SHAP ranking (high → low):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temperature → dew point → pressure → CO → NO2 → PM10 → PM2.5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It is NOT simply pollutant concentrations that matter — meteorological variables play a structurally central role.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Temperature, dew point and pressure condition dispersion, trapping, and photochemical behaviour.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This is the kind of insight flat descriptive summaries often fail to make explicit.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964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196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96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967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196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196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1970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1971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1972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1973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1974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1975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1976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197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197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1979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198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198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1991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30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 — Regimes</a:t>
            </a:r>
          </a:p>
        </p:txBody>
      </p:sp>
      <p:sp>
        <p:nvSpPr>
          <p:cNvPr name="Freeform 30" id="1992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1993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1994" name="TextBox 1993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Regime A – warm photochemical: ozone, temperature, dew point prominent (summer photochemical smog).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Regime B – wintertime smog: CO, SO2, PM dominate; low wind speed suppresses dispersion.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Regime C – comparatively clean air: favourable meteorology, weak pollutant pushes.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1">
                <a:solidFill>
                  <a:srgbClr val="22303C"/>
                </a:solidFill>
                <a:latin typeface="Roca Two"/>
              </a:rPr>
              <a:t>The framework shows not only that these regimes exist, but which variable combinations define them.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1994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199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199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1997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199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199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000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2001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2002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003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2004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2005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006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200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200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009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201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201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2021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26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 — Cross-Level Story</a:t>
            </a:r>
          </a:p>
        </p:txBody>
      </p:sp>
      <p:sp>
        <p:nvSpPr>
          <p:cNvPr name="Freeform 30" id="2022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2023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024" name="TextBox 2023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At the coarse level, temperature and dew point dominate — they differentiate broad atmospheric regimes.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Within individual clusters, CO, SO2, PM10, wind speed, pressure, or ozone become more discriminative.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This change is NOT contradictory — it is exactly what a multi-level explanation should reveal.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Parent-level story = regime selection. Cluster-level story = variation within a regime.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A variable can be globally important yet locally uninformative within a sub-cluster.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024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202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02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2027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202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202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030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2031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2032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033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2034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2035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036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203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203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039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204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204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2051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26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 — Generalisation</a:t>
            </a:r>
          </a:p>
        </p:txBody>
      </p:sp>
      <p:sp>
        <p:nvSpPr>
          <p:cNvPr name="Freeform 30" id="2052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2053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054" name="TextBox 2053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Wine: small, dense, chemically correlated. Beijing: large, noisy, temporally and meteorologically variable.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The same explanatory logic remains productive in both → not tied to one domain-specific peculiarity.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vs SHAP-based clustering literature: Beijing Silhouette ≈ 0.63 vs Gramegna &amp; Giudici credit-risk 0.37.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LIME comparator: weaker structural coherence, less stable local narratives for hierarchical reasoning.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2054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3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 — Answers</a:t>
            </a:r>
          </a:p>
        </p:txBody>
      </p:sp>
      <p:grpSp>
        <p:nvGrpSpPr>
          <p:cNvPr name="Group 3" id="2055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2056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2057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2058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2059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060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2061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2062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063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2064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2065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066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2067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2068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069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2070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2071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2072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2073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2074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2075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2076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077" name="TextBox 2076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Answers to the questions and objectives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RQ2 answered in the affirmative, with bounds — coherence retained under scale and hierarchy.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O1 met · a multi-granular explanation that does not collapse into a single flat summary.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O2 met · Proposition 6.1 provides a formal cross-level consistency argument.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O3 met · validated on a structurally different large-scale dataset (Beijing air quality).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2085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26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 — Key Findings</a:t>
            </a:r>
          </a:p>
        </p:txBody>
      </p:sp>
      <p:grpSp>
        <p:nvGrpSpPr>
          <p:cNvPr name="Group 3" id="2086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2087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2088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208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209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091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209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209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094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209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209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097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209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209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100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2101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2102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2103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2104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2105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2106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2107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108" name="TextBox 2107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Key findings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Scalable, multi-granular explanation that does not collapse into a single flat summary.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Formal cross-level consistency argument (Proposition 6.1).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Validated on a structurally different large-scale dataset (Beijing air quality).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Differences across levels are interpretable, not dismissed as inconsistency.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2116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26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 — Limitations</a:t>
            </a:r>
          </a:p>
        </p:txBody>
      </p:sp>
      <p:grpSp>
        <p:nvGrpSpPr>
          <p:cNvPr name="Group 3" id="2117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2118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2119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2120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2121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122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2123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2124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125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2126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2127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128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2129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2130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131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2132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2133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2134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2135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2136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2137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2138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139" name="TextBox 2138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Limitations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Clustering remains static, even though the Beijing data are temporal.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Surrogate-based SHAP plus representative-instance reporting compress observation-level variation.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Confined to tabular data.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1">
                <a:solidFill>
                  <a:srgbClr val="22303C"/>
                </a:solidFill>
                <a:latin typeface="Roca Two"/>
              </a:rPr>
              <a:t>Still an explanation of a pre-computed partition — it does not influence learning.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2147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3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 — Takeaways</a:t>
            </a:r>
          </a:p>
        </p:txBody>
      </p:sp>
      <p:grpSp>
        <p:nvGrpSpPr>
          <p:cNvPr name="Group 3" id="2148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2149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2150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2151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2152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153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2154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2155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156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215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215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159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216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216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162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216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216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2165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216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216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2168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2169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170" name="TextBox 2169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Takeaways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Shapley attribution stays coherent across granularity — when the hierarchy is explicit.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Explanations become interpretable against scale, not just against a single flat partition.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1">
                <a:solidFill>
                  <a:srgbClr val="22303C"/>
                </a:solidFill>
                <a:latin typeface="Roca Two"/>
              </a:rPr>
              <a:t>But the attribution is still post-hoc: it explains a partition that was already computed.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So the next step is to let attribution shape the learning itself.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178"/>
          <p:cNvGrpSpPr/>
          <p:nvPr/>
        </p:nvGrpSpPr>
        <p:grpSpPr>
          <a:xfrm rot="0">
            <a:off x="0" y="5321413"/>
            <a:ext cx="18288000" cy="4965587"/>
            <a:chOff x="0" y="0"/>
            <a:chExt cx="4816593" cy="1307809"/>
          </a:xfrm>
        </p:grpSpPr>
        <p:sp>
          <p:nvSpPr>
            <p:cNvPr name="Freeform 3" id="2179"/>
            <p:cNvSpPr/>
            <p:nvPr/>
          </p:nvSpPr>
          <p:spPr>
            <a:xfrm flipH="false" flipV="false" rot="0">
              <a:off x="0" y="0"/>
              <a:ext cx="4816592" cy="1307809"/>
            </a:xfrm>
            <a:custGeom>
              <a:avLst/>
              <a:gdLst/>
              <a:ahLst/>
              <a:cxnLst/>
              <a:rect r="r" b="b" t="t" l="l"/>
              <a:pathLst>
                <a:path h="1307809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1307809"/>
                  </a:lnTo>
                  <a:lnTo>
                    <a:pt x="0" y="1307809"/>
                  </a:ln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180"/>
            <p:cNvSpPr txBox="true"/>
            <p:nvPr/>
          </p:nvSpPr>
          <p:spPr>
            <a:xfrm>
              <a:off x="0" y="-38100"/>
              <a:ext cx="4816593" cy="13459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11" id="2187"/>
          <p:cNvSpPr txBox="true"/>
          <p:nvPr/>
        </p:nvSpPr>
        <p:spPr>
          <a:xfrm rot="0">
            <a:off x="1028700" y="2635383"/>
            <a:ext cx="15730026" cy="268603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9713"/>
              </a:lnSpc>
            </a:pPr>
            <a:r>
              <a:rPr lang="en-US" sz="1800" spc="-1242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DyHuCoG: A Dynamic Hypergraph Cooperative Game</a:t>
            </a:r>
          </a:p>
        </p:txBody>
      </p:sp>
      <p:grpSp>
        <p:nvGrpSpPr>
          <p:cNvPr name="Group 12" id="2188"/>
          <p:cNvGrpSpPr/>
          <p:nvPr/>
        </p:nvGrpSpPr>
        <p:grpSpPr>
          <a:xfrm rot="0">
            <a:off x="16258151" y="3265231"/>
            <a:ext cx="1001149" cy="1001149"/>
            <a:chOff x="0" y="0"/>
            <a:chExt cx="812800" cy="812800"/>
          </a:xfrm>
        </p:grpSpPr>
        <p:sp>
          <p:nvSpPr>
            <p:cNvPr name="Freeform 13" id="218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CC665"/>
            </a:solidFill>
          </p:spPr>
          <p:txBody>
            <a:bodyPr/>
            <a:p/>
          </p:txBody>
        </p:sp>
        <p:sp>
          <p:nvSpPr>
            <p:cNvPr name="TextBox 14" id="2190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5" id="2191"/>
          <p:cNvSpPr/>
          <p:nvPr/>
        </p:nvSpPr>
        <p:spPr>
          <a:xfrm flipH="true" flipV="false" rot="-5400000">
            <a:off x="16564092" y="3571172"/>
            <a:ext cx="389267" cy="389267"/>
          </a:xfrm>
          <a:custGeom>
            <a:avLst/>
            <a:gdLst/>
            <a:ahLst/>
            <a:cxnLst/>
            <a:rect r="r" b="b" t="t" l="l"/>
            <a:pathLst>
              <a:path h="389267" w="389267">
                <a:moveTo>
                  <a:pt x="389267" y="0"/>
                </a:moveTo>
                <a:lnTo>
                  <a:pt x="0" y="0"/>
                </a:lnTo>
                <a:lnTo>
                  <a:pt x="0" y="389267"/>
                </a:lnTo>
                <a:lnTo>
                  <a:pt x="389267" y="389267"/>
                </a:lnTo>
                <a:lnTo>
                  <a:pt x="38926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2192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26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Objectives</a:t>
            </a:r>
          </a:p>
        </p:txBody>
      </p:sp>
      <p:grpSp>
        <p:nvGrpSpPr>
          <p:cNvPr name="Group 3" id="2193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2194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2195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2196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2197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198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2199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2200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201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2202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2203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204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2205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2206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207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2208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2209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2210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2211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2212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2213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2214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215" name="TextBox 2214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Gap: graph and hypergraph recommenders treat message importance as uniform or attention-weighted, without a principled marginal-contribution account.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Diversity is often a secondary objective or a re-ranking heuristic.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Interpretability is added after prediction, not integrated into the learning objective.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Objectives: formulate recommendation as a cooperative game; embed preference-aware Monte Carlo Shapley into message passing; improve ranking, coverage, and diversity jointly.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2223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22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Research Questions &amp; Objectives</a:t>
            </a:r>
          </a:p>
        </p:txBody>
      </p:sp>
      <p:grpSp>
        <p:nvGrpSpPr>
          <p:cNvPr name="Group 3" id="2224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2225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2226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222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222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229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223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223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232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223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223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235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223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223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238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223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224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2241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224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224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2244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2245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246" name="TextBox 2245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RQ3 · Can cooperative attribution move beyond post-hoc and enter the learning dynamics of graph recommenders?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RQ4 · Can a recommender jointly optimise ranking accuracy, context and diversity when importance is estimated by a cooperative-game utility?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Objective O1 · Formulate recommendation as a cooperative game with users, items and contexts as players.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Objective O2 · Embed preference-aware Monte Carlo Shapley into hypergraph message passing.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Objective O3 · Improve ranking, coverage and diversity jointly.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254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225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25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2257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225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225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260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2261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2262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263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2264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2265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266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226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226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269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227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227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2281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22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Players, Hypergraph &amp; Coalition Value</a:t>
            </a:r>
          </a:p>
        </p:txBody>
      </p:sp>
      <p:sp>
        <p:nvSpPr>
          <p:cNvPr name="Freeform 30" id="2282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2283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284" name="TextBox 2283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Player set N = U ∪ I ∪ C (users, items, contexts).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Hypergraph H = (V, E, W); V = U ∪ I ∪ C; W = dynamic edge weights from Shapley estimates.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Coalition S ⊆ N represents entities participating in a recommendation episode.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Coalition value v(S) measures the quality of the recommendation outcome achievable by 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Top-N task: produce a ranked list L_u balancing relevance, diversity, and contextual fit.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284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228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28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2287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228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228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290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2291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2292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293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2294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2295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296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229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229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299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230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230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2311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26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Coalition Utility</a:t>
            </a:r>
          </a:p>
        </p:txBody>
      </p:sp>
      <p:sp>
        <p:nvSpPr>
          <p:cNvPr name="Freeform 30" id="2312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2313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314" name="TextBox 2313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v(S) = α · NDCG@20(S) + β · Diversity(S) + γ · ContextScore(S), with α + β + γ = 1.</a:t>
            </a:r>
          </a:p>
          <a:p>
            <a:pPr lvl="1">
              <a:lnSpc>
                <a:spcPct val="105000"/>
              </a:lnSpc>
              <a:spcAft>
                <a:spcPts val="5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The same trade-off the recommender must satisfy is the trade-off from which attribution is computed — explanatory game and predictive objective aligned by design.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Preference-weighted: v_pref(S) = v(S) + λ_pref · Σ_{(u,i)∈S} sim(u,i).</a:t>
            </a:r>
          </a:p>
          <a:p>
            <a:pPr lvl="1">
              <a:lnSpc>
                <a:spcPct val="105000"/>
              </a:lnSpc>
              <a:spcAft>
                <a:spcPts val="5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α = 0.60, β = 0.25, γ = 0.15; λ_pref = 0.20 — grid-searched, stable (&lt;1.5% variance in NDCG@20).</a:t>
            </a:r>
          </a:p>
          <a:p>
            <a:pPr lvl="1">
              <a:lnSpc>
                <a:spcPct val="105000"/>
              </a:lnSpc>
              <a:spcAft>
                <a:spcPts val="5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Coalition evaluation scoped to the interaction episode (a few dozen players), not the full catalogue.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314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231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31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2317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231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231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320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2321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2322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323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2324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2325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326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232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232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329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233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233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2341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26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Monte Carlo Shapley</a:t>
            </a:r>
          </a:p>
        </p:txBody>
      </p:sp>
      <p:sp>
        <p:nvSpPr>
          <p:cNvPr name="Freeform 30" id="2342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2343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344" name="TextBox 2343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Exact Shapley is combinatorial and infeasible for realistic systems.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Monte Carlo estimator: φ̂_j = (1/M) Σ_m [ v(S_m ∪ {j}) − v(S_m) ].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Preference-aware: φ̂_j^pref = (1/M) Σ_m [ v_pref(S_m ∪ {j}) − v_pref(S_m) ].</a:t>
            </a:r>
          </a:p>
          <a:p>
            <a:pPr lvl="1">
              <a:lnSpc>
                <a:spcPct val="105000"/>
              </a:lnSpc>
              <a:spcAft>
                <a:spcPts val="5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Unbiased; variance = σ²/M → MSE decays O(1/M), absolute error O(1/√M).</a:t>
            </a:r>
          </a:p>
          <a:p>
            <a:pPr lvl="1">
              <a:lnSpc>
                <a:spcPct val="105000"/>
              </a:lnSpc>
              <a:spcAft>
                <a:spcPts val="5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1">
                <a:solidFill>
                  <a:srgbClr val="22303C"/>
                </a:solidFill>
                <a:latin typeface="Roca Two"/>
              </a:rPr>
              <a:t>M = 50 selected: MSE ≈ 1.4×10⁻⁵, ~99% accuracy on MovieLens-1M.</a:t>
            </a:r>
          </a:p>
          <a:p>
            <a:pPr lvl="1">
              <a:lnSpc>
                <a:spcPct val="105000"/>
              </a:lnSpc>
              <a:spcAft>
                <a:spcPts val="5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Refreshed every 10 batches (~49 updates/epoch), smoothed by exponential moving average.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344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234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34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2347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234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234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350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2351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2352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353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2354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2355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356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235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235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359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236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236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2371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26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DyHuCoG Architecture</a:t>
            </a:r>
          </a:p>
        </p:txBody>
      </p:sp>
      <p:sp>
        <p:nvSpPr>
          <p:cNvPr name="Freeform 30" id="2372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2373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374" name="TextBox 2373"/>
          <p:cNvSpPr txBox="1"/>
          <p:nvPr/>
        </p:nvSpPr>
        <p:spPr>
          <a:xfrm>
            <a:off x="640080" y="2103120"/>
            <a:ext cx="576072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7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700" b="0">
                <a:solidFill>
                  <a:srgbClr val="22303C"/>
                </a:solidFill>
                <a:latin typeface="Roca Two"/>
              </a:rPr>
              <a:t>Base propagation: e^(l+1) = σ( D^-1/2 A D^-1/2 e^(l) 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7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700" b="1">
                <a:solidFill>
                  <a:srgbClr val="22303C"/>
                </a:solidFill>
                <a:latin typeface="Roca Two"/>
              </a:rPr>
              <a:t>Shapley-weighted: e_j^(l+1) = σ( W^(l) e_j^(l) + Σ_{k∈N(j)} w_jk e_k^(l) 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7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700" b="1">
                <a:solidFill>
                  <a:srgbClr val="22303C"/>
                </a:solidFill>
                <a:latin typeface="Roca Two"/>
              </a:rPr>
              <a:t>Normalised weights: w_jk = φ̂_jk / Σ_{k'∈N(j)} φ̂_jk'.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600">
                <a:solidFill>
                  <a:srgbClr val="4F81BD"/>
                </a:solidFill>
                <a:latin typeface="Roca Two"/>
              </a:rPr>
              <a:t>–  </a:t>
            </a:r>
            <a:r>
              <a:rPr sz="1600" b="0">
                <a:solidFill>
                  <a:srgbClr val="22303C"/>
                </a:solidFill>
                <a:latin typeface="Roca Two"/>
              </a:rPr>
              <a:t>Clipped + exponentially smoothed before normalisation (stabilises sparse regimes).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600">
                <a:solidFill>
                  <a:srgbClr val="4F81BD"/>
                </a:solidFill>
                <a:latin typeface="Roca Two"/>
              </a:rPr>
              <a:t>–  </a:t>
            </a:r>
            <a:r>
              <a:rPr sz="1600" b="0">
                <a:solidFill>
                  <a:srgbClr val="22303C"/>
                </a:solidFill>
                <a:latin typeface="Roca Two"/>
              </a:rPr>
              <a:t>Attention gate: a_ui = σ( W_a[ e_u, e_i, l_i ] ); y_ui = (1 + a_ui) ⟨e_u, e_i⟩.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600">
                <a:solidFill>
                  <a:srgbClr val="4F81BD"/>
                </a:solidFill>
                <a:latin typeface="Roca Two"/>
              </a:rPr>
              <a:t>–  </a:t>
            </a:r>
            <a:r>
              <a:rPr sz="1600" b="0">
                <a:solidFill>
                  <a:srgbClr val="22303C"/>
                </a:solidFill>
                <a:latin typeface="Roca Two"/>
              </a:rPr>
              <a:t>Context-aware score: f(u,i,c) = y_ui + λ_c ⟨g(c_ui), e_cui⟩.</a:t>
            </a:r>
          </a:p>
        </p:txBody>
      </p:sp>
      <p:pic>
        <p:nvPicPr>
          <p:cNvPr id="2375" name="Picture 2374" descr="c3_architecture_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94560"/>
            <a:ext cx="5029200" cy="1212671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374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237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37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2377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237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237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380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2381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2382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383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2384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2385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386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238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238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389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239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239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2401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26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Composite Loss</a:t>
            </a:r>
          </a:p>
        </p:txBody>
      </p:sp>
      <p:sp>
        <p:nvSpPr>
          <p:cNvPr name="Freeform 30" id="2402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2403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404" name="TextBox 2403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L = L_rec + λ_div L_div + λ_ctx L_ctx + λ_reg L_reg.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L_rec – Bayesian Personalised Ranking (pairwise, implicit feedback).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L_div – Intra-List Diversity regulariser: penalises redundant ranked lists.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L_ctx – Context alignment: match context embedding to context-node representation.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L_reg – L2 weight decay.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1">
                <a:solidFill>
                  <a:srgbClr val="22303C"/>
                </a:solidFill>
                <a:latin typeface="Roca Two"/>
              </a:rPr>
              <a:t>The learning objective and coalition value are aligned: DyHuCoG trains to optimise the same balance that later determines attribution.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404"/>
          <p:cNvGrpSpPr/>
          <p:nvPr/>
        </p:nvGrpSpPr>
        <p:grpSpPr>
          <a:xfrm rot="0">
            <a:off x="0" y="1837763"/>
            <a:ext cx="7510728" cy="8449237"/>
            <a:chOff x="0" y="0"/>
            <a:chExt cx="2918292" cy="3282950"/>
          </a:xfrm>
        </p:grpSpPr>
        <p:sp>
          <p:nvSpPr>
            <p:cNvPr name="Freeform 3" id="2405"/>
            <p:cNvSpPr/>
            <p:nvPr/>
          </p:nvSpPr>
          <p:spPr>
            <a:xfrm flipH="false" flipV="false" rot="0">
              <a:off x="0" y="0"/>
              <a:ext cx="2918292" cy="3282950"/>
            </a:xfrm>
            <a:custGeom>
              <a:avLst/>
              <a:gdLst/>
              <a:ahLst/>
              <a:cxnLst/>
              <a:rect r="r" b="b" t="t" l="l"/>
              <a:pathLst>
                <a:path h="3282950" w="2918292">
                  <a:moveTo>
                    <a:pt x="0" y="0"/>
                  </a:moveTo>
                  <a:lnTo>
                    <a:pt x="2251093" y="0"/>
                  </a:lnTo>
                  <a:cubicBezTo>
                    <a:pt x="2619125" y="0"/>
                    <a:pt x="2918292" y="336550"/>
                    <a:pt x="2918292" y="750570"/>
                  </a:cubicBezTo>
                  <a:lnTo>
                    <a:pt x="2918292" y="3282950"/>
                  </a:lnTo>
                  <a:lnTo>
                    <a:pt x="0" y="3282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6669" r="0" b="-16669"/>
              </a:stretch>
            </a:blipFill>
          </p:spPr>
          <p:txBody>
            <a:bodyPr/>
            <a:p/>
          </p:txBody>
        </p:sp>
      </p:grpSp>
      <p:sp>
        <p:nvSpPr>
          <p:cNvPr name="Freeform 4" id="2406"/>
          <p:cNvSpPr/>
          <p:nvPr/>
        </p:nvSpPr>
        <p:spPr>
          <a:xfrm flipH="false" flipV="false" rot="-1161225">
            <a:off x="16229390" y="8693137"/>
            <a:ext cx="1216650" cy="667637"/>
          </a:xfrm>
          <a:custGeom>
            <a:avLst/>
            <a:gdLst/>
            <a:ahLst/>
            <a:cxnLst/>
            <a:rect r="r" b="b" t="t" l="l"/>
            <a:pathLst>
              <a:path h="667637" w="1216650">
                <a:moveTo>
                  <a:pt x="0" y="0"/>
                </a:moveTo>
                <a:lnTo>
                  <a:pt x="1216650" y="0"/>
                </a:lnTo>
                <a:lnTo>
                  <a:pt x="1216650" y="667637"/>
                </a:lnTo>
                <a:lnTo>
                  <a:pt x="0" y="66763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2407"/>
          <p:cNvSpPr/>
          <p:nvPr/>
        </p:nvSpPr>
        <p:spPr>
          <a:xfrm flipH="false" flipV="false" rot="2700000">
            <a:off x="7912917" y="2469423"/>
            <a:ext cx="1002870" cy="799789"/>
          </a:xfrm>
          <a:custGeom>
            <a:avLst/>
            <a:gdLst/>
            <a:ahLst/>
            <a:cxnLst/>
            <a:rect r="r" b="b" t="t" l="l"/>
            <a:pathLst>
              <a:path h="799789" w="1002870">
                <a:moveTo>
                  <a:pt x="0" y="0"/>
                </a:moveTo>
                <a:lnTo>
                  <a:pt x="1002870" y="0"/>
                </a:lnTo>
                <a:lnTo>
                  <a:pt x="1002870" y="799789"/>
                </a:lnTo>
                <a:lnTo>
                  <a:pt x="0" y="79978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2408"/>
          <p:cNvSpPr txBox="true"/>
          <p:nvPr/>
        </p:nvSpPr>
        <p:spPr>
          <a:xfrm rot="0">
            <a:off x="8401165" y="4078153"/>
            <a:ext cx="9013745" cy="171936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2573"/>
              </a:lnSpc>
            </a:pPr>
            <a:r>
              <a:rPr lang="en-US" sz="2600" spc="-792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Headline Results</a:t>
            </a:r>
          </a:p>
        </p:txBody>
      </p:sp>
      <p:graphicFrame>
        <p:nvGraphicFramePr>
          <p:cNvPr id="2409" name="Table 2408"/>
          <p:cNvGraphicFramePr>
            <a:graphicFrameLocks noGrp="1"/>
          </p:cNvGraphicFramePr>
          <p:nvPr/>
        </p:nvGraphicFramePr>
        <p:xfrm>
          <a:off x="640080" y="2103120"/>
          <a:ext cx="10881360" cy="3566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87168"/>
                <a:gridCol w="1554480"/>
                <a:gridCol w="1709928"/>
                <a:gridCol w="1709928"/>
                <a:gridCol w="1709928"/>
                <a:gridCol w="1709928"/>
              </a:tblGrid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Dataset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Model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NDCG@20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Recall@20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Coverage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Diversity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MovieLens-1M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HPCF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0.2528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0.2098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0.342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0.461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MovieLens-1M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DyHuCoG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0.2775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0.2362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0.397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0.516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Amazon-Book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HPCF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0.0270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0.0359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0.259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0.535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Amazon-Book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DyHuCoG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0.0306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0.0417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0.336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0.602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413"/>
          <p:cNvGrpSpPr/>
          <p:nvPr/>
        </p:nvGrpSpPr>
        <p:grpSpPr>
          <a:xfrm rot="0">
            <a:off x="0" y="1837763"/>
            <a:ext cx="7510728" cy="8449237"/>
            <a:chOff x="0" y="0"/>
            <a:chExt cx="2918292" cy="3282950"/>
          </a:xfrm>
        </p:grpSpPr>
        <p:sp>
          <p:nvSpPr>
            <p:cNvPr name="Freeform 3" id="2414"/>
            <p:cNvSpPr/>
            <p:nvPr/>
          </p:nvSpPr>
          <p:spPr>
            <a:xfrm flipH="false" flipV="false" rot="0">
              <a:off x="0" y="0"/>
              <a:ext cx="2918292" cy="3282950"/>
            </a:xfrm>
            <a:custGeom>
              <a:avLst/>
              <a:gdLst/>
              <a:ahLst/>
              <a:cxnLst/>
              <a:rect r="r" b="b" t="t" l="l"/>
              <a:pathLst>
                <a:path h="3282950" w="2918292">
                  <a:moveTo>
                    <a:pt x="0" y="0"/>
                  </a:moveTo>
                  <a:lnTo>
                    <a:pt x="2251093" y="0"/>
                  </a:lnTo>
                  <a:cubicBezTo>
                    <a:pt x="2619125" y="0"/>
                    <a:pt x="2918292" y="336550"/>
                    <a:pt x="2918292" y="750570"/>
                  </a:cubicBezTo>
                  <a:lnTo>
                    <a:pt x="2918292" y="3282950"/>
                  </a:lnTo>
                  <a:lnTo>
                    <a:pt x="0" y="3282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6669" r="0" b="-16669"/>
              </a:stretch>
            </a:blipFill>
          </p:spPr>
          <p:txBody>
            <a:bodyPr/>
            <a:p/>
          </p:txBody>
        </p:sp>
      </p:grpSp>
      <p:sp>
        <p:nvSpPr>
          <p:cNvPr name="Freeform 4" id="2415"/>
          <p:cNvSpPr/>
          <p:nvPr/>
        </p:nvSpPr>
        <p:spPr>
          <a:xfrm flipH="false" flipV="false" rot="-1161225">
            <a:off x="16229390" y="8693137"/>
            <a:ext cx="1216650" cy="667637"/>
          </a:xfrm>
          <a:custGeom>
            <a:avLst/>
            <a:gdLst/>
            <a:ahLst/>
            <a:cxnLst/>
            <a:rect r="r" b="b" t="t" l="l"/>
            <a:pathLst>
              <a:path h="667637" w="1216650">
                <a:moveTo>
                  <a:pt x="0" y="0"/>
                </a:moveTo>
                <a:lnTo>
                  <a:pt x="1216650" y="0"/>
                </a:lnTo>
                <a:lnTo>
                  <a:pt x="1216650" y="667637"/>
                </a:lnTo>
                <a:lnTo>
                  <a:pt x="0" y="66763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2416"/>
          <p:cNvSpPr/>
          <p:nvPr/>
        </p:nvSpPr>
        <p:spPr>
          <a:xfrm flipH="false" flipV="false" rot="2700000">
            <a:off x="7912917" y="2469423"/>
            <a:ext cx="1002870" cy="799789"/>
          </a:xfrm>
          <a:custGeom>
            <a:avLst/>
            <a:gdLst/>
            <a:ahLst/>
            <a:cxnLst/>
            <a:rect r="r" b="b" t="t" l="l"/>
            <a:pathLst>
              <a:path h="799789" w="1002870">
                <a:moveTo>
                  <a:pt x="0" y="0"/>
                </a:moveTo>
                <a:lnTo>
                  <a:pt x="1002870" y="0"/>
                </a:lnTo>
                <a:lnTo>
                  <a:pt x="1002870" y="799789"/>
                </a:lnTo>
                <a:lnTo>
                  <a:pt x="0" y="79978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2417"/>
          <p:cNvSpPr txBox="true"/>
          <p:nvPr/>
        </p:nvSpPr>
        <p:spPr>
          <a:xfrm rot="0">
            <a:off x="8401165" y="4078153"/>
            <a:ext cx="9013745" cy="171936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2573"/>
              </a:lnSpc>
            </a:pPr>
            <a:r>
              <a:rPr lang="en-US" sz="2600" spc="-792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Relative Gains</a:t>
            </a:r>
          </a:p>
        </p:txBody>
      </p:sp>
      <p:graphicFrame>
        <p:nvGraphicFramePr>
          <p:cNvPr id="2418" name="Table 2417"/>
          <p:cNvGraphicFramePr>
            <a:graphicFrameLocks noGrp="1"/>
          </p:cNvGraphicFramePr>
          <p:nvPr/>
        </p:nvGraphicFramePr>
        <p:xfrm>
          <a:off x="640080" y="2103120"/>
          <a:ext cx="10789919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49969"/>
                <a:gridCol w="3319975"/>
                <a:gridCol w="3319975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Metric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MovieLens-1M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Amazon-Book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NDCG@20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+9.77%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+13.33%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Recall@20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+12.58%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+16.16%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Coverage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+16.1%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+29.7%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Intra-List Diversity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+11.9%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+12.5%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422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242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42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2425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242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242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428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242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243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431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243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243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434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243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243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437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243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243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2449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26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Diversity Gains</a:t>
            </a:r>
          </a:p>
        </p:txBody>
      </p:sp>
      <p:sp>
        <p:nvSpPr>
          <p:cNvPr name="Freeform 30" id="2450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2451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452" name="TextBox 2451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MovieLens-1M: Coverage 0.342 → 0.397 (+16.1%); ILD 0.461 → 0.516 (+11.9%).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Amazon-Book: Coverage 0.259 → 0.336 (+29.7%); ILD 0.535 → 0.602 (+12.5%).</a:t>
            </a:r>
          </a:p>
          <a:p>
            <a:pPr lvl="1">
              <a:lnSpc>
                <a:spcPct val="105000"/>
              </a:lnSpc>
              <a:spcAft>
                <a:spcPts val="9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Reduced filter-bubble effect and greater discovery opportunity — while NDCG/Recall also improve.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452"/>
          <p:cNvGrpSpPr/>
          <p:nvPr/>
        </p:nvGrpSpPr>
        <p:grpSpPr>
          <a:xfrm rot="0">
            <a:off x="0" y="1837763"/>
            <a:ext cx="7510728" cy="8449237"/>
            <a:chOff x="0" y="0"/>
            <a:chExt cx="2918292" cy="3282950"/>
          </a:xfrm>
        </p:grpSpPr>
        <p:sp>
          <p:nvSpPr>
            <p:cNvPr name="Freeform 3" id="2453"/>
            <p:cNvSpPr/>
            <p:nvPr/>
          </p:nvSpPr>
          <p:spPr>
            <a:xfrm flipH="false" flipV="false" rot="0">
              <a:off x="0" y="0"/>
              <a:ext cx="2918292" cy="3282950"/>
            </a:xfrm>
            <a:custGeom>
              <a:avLst/>
              <a:gdLst/>
              <a:ahLst/>
              <a:cxnLst/>
              <a:rect r="r" b="b" t="t" l="l"/>
              <a:pathLst>
                <a:path h="3282950" w="2918292">
                  <a:moveTo>
                    <a:pt x="0" y="0"/>
                  </a:moveTo>
                  <a:lnTo>
                    <a:pt x="2251093" y="0"/>
                  </a:lnTo>
                  <a:cubicBezTo>
                    <a:pt x="2619125" y="0"/>
                    <a:pt x="2918292" y="336550"/>
                    <a:pt x="2918292" y="750570"/>
                  </a:cubicBezTo>
                  <a:lnTo>
                    <a:pt x="2918292" y="3282950"/>
                  </a:lnTo>
                  <a:lnTo>
                    <a:pt x="0" y="3282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6669" r="0" b="-16669"/>
              </a:stretch>
            </a:blipFill>
          </p:spPr>
          <p:txBody>
            <a:bodyPr/>
            <a:p/>
          </p:txBody>
        </p:sp>
      </p:grpSp>
      <p:sp>
        <p:nvSpPr>
          <p:cNvPr name="Freeform 4" id="2454"/>
          <p:cNvSpPr/>
          <p:nvPr/>
        </p:nvSpPr>
        <p:spPr>
          <a:xfrm flipH="false" flipV="false" rot="-1161225">
            <a:off x="16229390" y="8693137"/>
            <a:ext cx="1216650" cy="667637"/>
          </a:xfrm>
          <a:custGeom>
            <a:avLst/>
            <a:gdLst/>
            <a:ahLst/>
            <a:cxnLst/>
            <a:rect r="r" b="b" t="t" l="l"/>
            <a:pathLst>
              <a:path h="667637" w="1216650">
                <a:moveTo>
                  <a:pt x="0" y="0"/>
                </a:moveTo>
                <a:lnTo>
                  <a:pt x="1216650" y="0"/>
                </a:lnTo>
                <a:lnTo>
                  <a:pt x="1216650" y="667637"/>
                </a:lnTo>
                <a:lnTo>
                  <a:pt x="0" y="66763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2455"/>
          <p:cNvSpPr/>
          <p:nvPr/>
        </p:nvSpPr>
        <p:spPr>
          <a:xfrm flipH="false" flipV="false" rot="2700000">
            <a:off x="7912917" y="2469423"/>
            <a:ext cx="1002870" cy="799789"/>
          </a:xfrm>
          <a:custGeom>
            <a:avLst/>
            <a:gdLst/>
            <a:ahLst/>
            <a:cxnLst/>
            <a:rect r="r" b="b" t="t" l="l"/>
            <a:pathLst>
              <a:path h="799789" w="1002870">
                <a:moveTo>
                  <a:pt x="0" y="0"/>
                </a:moveTo>
                <a:lnTo>
                  <a:pt x="1002870" y="0"/>
                </a:lnTo>
                <a:lnTo>
                  <a:pt x="1002870" y="799789"/>
                </a:lnTo>
                <a:lnTo>
                  <a:pt x="0" y="79978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2456"/>
          <p:cNvSpPr txBox="true"/>
          <p:nvPr/>
        </p:nvSpPr>
        <p:spPr>
          <a:xfrm rot="0">
            <a:off x="8401165" y="4078153"/>
            <a:ext cx="9013745" cy="171936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2573"/>
              </a:lnSpc>
            </a:pPr>
            <a:r>
              <a:rPr lang="en-US" sz="3000" spc="-792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Ablation</a:t>
            </a:r>
          </a:p>
        </p:txBody>
      </p:sp>
      <p:graphicFrame>
        <p:nvGraphicFramePr>
          <p:cNvPr id="2457" name="Table 2456"/>
          <p:cNvGraphicFramePr>
            <a:graphicFrameLocks noGrp="1"/>
          </p:cNvGraphicFramePr>
          <p:nvPr/>
        </p:nvGraphicFramePr>
        <p:xfrm>
          <a:off x="640080" y="2103120"/>
          <a:ext cx="10881360" cy="356615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64408"/>
                <a:gridCol w="2176272"/>
                <a:gridCol w="1632204"/>
                <a:gridCol w="2176272"/>
                <a:gridCol w="1632204"/>
              </a:tblGrid>
              <a:tr h="509451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Variant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ML-1M NDCG@20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% Drop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Amazon NDCG@20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% Drop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Full DyHuCoG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0.2775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0.0306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w/o Shapley Value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0.2647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4.6%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0.0287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6.1%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w/o Hypergraph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0.2586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6.8%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0.0279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8.9%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w/o Attention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0.2678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3.5%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0.0295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3.5%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w/o Context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0.2547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8.2%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0.0272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11.0%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w/o Diversity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0.2614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5.8%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0.0288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5.8%</a:t>
                      </a:r>
                    </a:p>
                  </a:txBody>
                  <a:tcPr anchor="ctr" marL="54864" marR="54864" marT="18288" marB="18288">
                    <a:solidFill>
                      <a:srgbClr val="0A5F5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461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2462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463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2464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2465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2466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467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2468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2469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470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2471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2472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473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2474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2475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476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2477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2478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2488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26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Computational Cost</a:t>
            </a:r>
          </a:p>
        </p:txBody>
      </p:sp>
      <p:sp>
        <p:nvSpPr>
          <p:cNvPr name="Freeform 30" id="2489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2490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491" name="TextBox 2490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Training: DyHuCoG ~2000 s vs HPCF ~1125 s on MovieLens-1M (≈ 1.78×).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Inference: 1.84 ms/query (ML-1M), 8.52 ms (Amazon) — suitable for real-time deployment.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Memory: 4.4 vs 4.1 GB (ML-1M); 17.9 vs 16.8 GB (Amazon).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Per-epoch cost: O((L+1)md) + O((M/f)m).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Shapley convergence: M=50 → MSE 1.4×10⁻⁵, ~99% accuracy; M=100 → MSE 3.5×10⁻⁶ (diminishing returns).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491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2492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493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2494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2495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2496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497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2498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2499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500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2501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2502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503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2504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2505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506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2507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2508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2518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22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Statistical Significance</a:t>
            </a:r>
          </a:p>
        </p:txBody>
      </p:sp>
      <p:sp>
        <p:nvSpPr>
          <p:cNvPr name="Freeform 30" id="2519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2520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521" name="TextBox 2520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Paired t-tests on per-user NDCG@20 (n = 6,040 users; df = 6,039).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DyHuCoG outperforms every baseline with extremely small p-values after Holm–Bonferroni correction.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1">
                <a:solidFill>
                  <a:srgbClr val="22303C"/>
                </a:solidFill>
                <a:latin typeface="Roca Two"/>
              </a:rPr>
              <a:t>vs HPCF: t = 46.38, Cohen’s d_z = 1.3345, p = 1.81×10⁻²⁷⁰.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Wilcoxon signed-rank test also significant (p &lt; 0.001).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Effect sizes are large — improvements are substantively meaningful, not merely statistically visible.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521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3" id="2522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523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2524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6" id="2525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2526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527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9" id="2528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2529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530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2" id="2531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2532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533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5" id="2534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6" id="2535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536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18" id="2537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9" id="2538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29" id="2548"/>
          <p:cNvSpPr txBox="true"/>
          <p:nvPr/>
        </p:nvSpPr>
        <p:spPr>
          <a:xfrm rot="0">
            <a:off x="1028700" y="2795288"/>
            <a:ext cx="7819856" cy="345225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22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Cold-Start &amp; Interpretability</a:t>
            </a:r>
          </a:p>
        </p:txBody>
      </p:sp>
      <p:sp>
        <p:nvSpPr>
          <p:cNvPr name="Freeform 30" id="2549"/>
          <p:cNvSpPr/>
          <p:nvPr/>
        </p:nvSpPr>
        <p:spPr>
          <a:xfrm flipH="false" flipV="false" rot="-2700000">
            <a:off x="7446589" y="7712342"/>
            <a:ext cx="691787" cy="603585"/>
          </a:xfrm>
          <a:custGeom>
            <a:avLst/>
            <a:gdLst/>
            <a:ahLst/>
            <a:cxnLst/>
            <a:rect r="r" b="b" t="t" l="l"/>
            <a:pathLst>
              <a:path h="603585" w="691787">
                <a:moveTo>
                  <a:pt x="0" y="0"/>
                </a:moveTo>
                <a:lnTo>
                  <a:pt x="691788" y="0"/>
                </a:lnTo>
                <a:lnTo>
                  <a:pt x="691788" y="603584"/>
                </a:lnTo>
                <a:lnTo>
                  <a:pt x="0" y="603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1" id="2550"/>
          <p:cNvSpPr/>
          <p:nvPr/>
        </p:nvSpPr>
        <p:spPr>
          <a:xfrm flipH="false" flipV="false" rot="2112978">
            <a:off x="7370300" y="2136415"/>
            <a:ext cx="843170" cy="462689"/>
          </a:xfrm>
          <a:custGeom>
            <a:avLst/>
            <a:gdLst/>
            <a:ahLst/>
            <a:cxnLst/>
            <a:rect r="r" b="b" t="t" l="l"/>
            <a:pathLst>
              <a:path h="462689" w="843170">
                <a:moveTo>
                  <a:pt x="0" y="0"/>
                </a:moveTo>
                <a:lnTo>
                  <a:pt x="843170" y="0"/>
                </a:lnTo>
                <a:lnTo>
                  <a:pt x="843170" y="462689"/>
                </a:lnTo>
                <a:lnTo>
                  <a:pt x="0" y="4626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551" name="TextBox 2550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Cold-start (5 or fewer interactions): NDCG@20 ≈ 0.061 (user) and 0.057 (item), improving over HPCF by ~10%.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Cross-dataset: MovieLens +9.9%, Amazon +14.8%, Yelp2018 +11.8%.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Interpretability: a SHAP waterfall decomposes a recommendation into ranking, diversity, context and preference contributions.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Popularity bias: Shapley measures marginal utility, not raw frequency — weak but informative interactions retain influence.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2551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3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Answers</a:t>
            </a:r>
          </a:p>
        </p:txBody>
      </p:sp>
      <p:grpSp>
        <p:nvGrpSpPr>
          <p:cNvPr name="Group 3" id="2552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2553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2554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2555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2556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557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2558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2559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560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2561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2562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563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2564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2565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566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256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256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2569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257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257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2572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2573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574" name="TextBox 2573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Answers to the questions and objectives</a:t>
            </a:r>
          </a:p>
          <a:p>
            <a:pPr lvl="1">
              <a:lnSpc>
                <a:spcPct val="105000"/>
              </a:lnSpc>
              <a:spcAft>
                <a:spcPts val="5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RQ3 answered in the affirmative — attribution becomes an in-training signal, not a post-hoc diagnostic.</a:t>
            </a:r>
          </a:p>
          <a:p>
            <a:pPr lvl="1">
              <a:lnSpc>
                <a:spcPct val="105000"/>
              </a:lnSpc>
              <a:spcAft>
                <a:spcPts val="5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RQ4 answered in the affirmative — ranking, coverage and diversity improve together.</a:t>
            </a:r>
          </a:p>
          <a:p>
            <a:pPr lvl="1">
              <a:lnSpc>
                <a:spcPct val="105000"/>
              </a:lnSpc>
              <a:spcAft>
                <a:spcPts val="5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O1 met · recommendation formulated as a cooperative game over users, items and contexts.</a:t>
            </a:r>
          </a:p>
          <a:p>
            <a:pPr lvl="1">
              <a:lnSpc>
                <a:spcPct val="105000"/>
              </a:lnSpc>
              <a:spcAft>
                <a:spcPts val="5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O2 met · preference-aware Monte Carlo Shapley embedded in message passing.</a:t>
            </a:r>
          </a:p>
          <a:p>
            <a:pPr lvl="1">
              <a:lnSpc>
                <a:spcPct val="105000"/>
              </a:lnSpc>
              <a:spcAft>
                <a:spcPts val="5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O3 met · +9.9% (MovieLens) / +14.8% (Amazon) NDCG, with higher coverage and diversity.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2582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26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Key Findings</a:t>
            </a:r>
          </a:p>
        </p:txBody>
      </p:sp>
      <p:grpSp>
        <p:nvGrpSpPr>
          <p:cNvPr name="Group 3" id="2583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2584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2585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2586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2587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588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2589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2590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591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2592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2593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594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2595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2596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597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2598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2599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2600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2601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2602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2603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2604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605" name="TextBox 2604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Key findings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Cooperative attribution used as an in-training signal — a stronger claim than the clustering chapters.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The accuracy–diversity–context trade-off is not structurally fixed.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NDCG, recall, coverage and diversity improve together on both datasets.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Largest gains on the sparsest data (Amazon-Book), consistent with Shapley weighting helping when signal is weak.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2613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26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Limitations</a:t>
            </a:r>
          </a:p>
        </p:txBody>
      </p:sp>
      <p:grpSp>
        <p:nvGrpSpPr>
          <p:cNvPr name="Group 3" id="2614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2615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2616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2617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2618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619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2620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2621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622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2623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2624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625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2626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2627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628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2629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2630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2631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2632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2633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2634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2635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636" name="TextBox 2635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Limitations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Measurable computational overhead — roughly 1.78× training time over HPCF.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Depends on availability of meaningful context.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Monte Carlo Shapley could be improved by variance reduction.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Ablation is component-wise, so it does not test factorial interactions.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Baselines finalised through early 2026, so superiority is claimed only against the tested baselines.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TextBox 2" id="2644"/>
          <p:cNvSpPr txBox="true"/>
          <p:nvPr/>
        </p:nvSpPr>
        <p:spPr>
          <a:xfrm rot="0">
            <a:off x="1028700" y="2148030"/>
            <a:ext cx="8739851" cy="1860099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653"/>
              </a:lnSpc>
            </a:pPr>
            <a:r>
              <a:rPr lang="en-US" sz="3000" spc="-860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Contribution III — Takeaways</a:t>
            </a:r>
          </a:p>
        </p:txBody>
      </p:sp>
      <p:grpSp>
        <p:nvGrpSpPr>
          <p:cNvPr name="Group 3" id="2645"/>
          <p:cNvGrpSpPr/>
          <p:nvPr/>
        </p:nvGrpSpPr>
        <p:grpSpPr>
          <a:xfrm rot="0">
            <a:off x="1028700" y="5793554"/>
            <a:ext cx="8444110" cy="5057745"/>
            <a:chOff x="0" y="0"/>
            <a:chExt cx="1308214" cy="783577"/>
          </a:xfrm>
        </p:grpSpPr>
        <p:sp>
          <p:nvSpPr>
            <p:cNvPr name="Freeform 4" id="2646"/>
            <p:cNvSpPr/>
            <p:nvPr/>
          </p:nvSpPr>
          <p:spPr>
            <a:xfrm flipH="false" flipV="false" rot="0">
              <a:off x="0" y="0"/>
              <a:ext cx="1308214" cy="783577"/>
            </a:xfrm>
            <a:custGeom>
              <a:avLst/>
              <a:gdLst/>
              <a:ahLst/>
              <a:cxnLst/>
              <a:rect r="r" b="b" t="t" l="l"/>
              <a:pathLst>
                <a:path h="783577" w="1308214">
                  <a:moveTo>
                    <a:pt x="60512" y="0"/>
                  </a:moveTo>
                  <a:lnTo>
                    <a:pt x="1247702" y="0"/>
                  </a:lnTo>
                  <a:cubicBezTo>
                    <a:pt x="1281122" y="0"/>
                    <a:pt x="1308214" y="27092"/>
                    <a:pt x="1308214" y="60512"/>
                  </a:cubicBezTo>
                  <a:lnTo>
                    <a:pt x="1308214" y="723065"/>
                  </a:lnTo>
                  <a:cubicBezTo>
                    <a:pt x="1308214" y="756485"/>
                    <a:pt x="1281122" y="783577"/>
                    <a:pt x="1247702" y="783577"/>
                  </a:cubicBezTo>
                  <a:lnTo>
                    <a:pt x="60512" y="783577"/>
                  </a:lnTo>
                  <a:cubicBezTo>
                    <a:pt x="27092" y="783577"/>
                    <a:pt x="0" y="756485"/>
                    <a:pt x="0" y="723065"/>
                  </a:cubicBezTo>
                  <a:lnTo>
                    <a:pt x="0" y="60512"/>
                  </a:lnTo>
                  <a:cubicBezTo>
                    <a:pt x="0" y="27092"/>
                    <a:pt x="27092" y="0"/>
                    <a:pt x="60512" y="0"/>
                  </a:cubicBezTo>
                  <a:close/>
                </a:path>
              </a:pathLst>
            </a:custGeom>
            <a:blipFill>
              <a:blip r:embed="rId2"/>
              <a:stretch>
                <a:fillRect l="-33658" t="-32512" r="0" b="-16252"/>
              </a:stretch>
            </a:blipFill>
          </p:spPr>
          <p:txBody>
            <a:bodyPr/>
            <a:p/>
          </p:txBody>
        </p:sp>
      </p:grpSp>
      <p:grpSp>
        <p:nvGrpSpPr>
          <p:cNvPr name="Group 5" id="2647"/>
          <p:cNvGrpSpPr/>
          <p:nvPr/>
        </p:nvGrpSpPr>
        <p:grpSpPr>
          <a:xfrm rot="0">
            <a:off x="10260416" y="7045838"/>
            <a:ext cx="6998884" cy="2212462"/>
            <a:chOff x="0" y="0"/>
            <a:chExt cx="2100559" cy="664021"/>
          </a:xfrm>
        </p:grpSpPr>
        <p:sp>
          <p:nvSpPr>
            <p:cNvPr name="Freeform 6" id="2648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2649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650"/>
          <p:cNvGrpSpPr/>
          <p:nvPr/>
        </p:nvGrpSpPr>
        <p:grpSpPr>
          <a:xfrm rot="0">
            <a:off x="10758027" y="6659774"/>
            <a:ext cx="3375488" cy="681483"/>
            <a:chOff x="0" y="0"/>
            <a:chExt cx="1013077" cy="204532"/>
          </a:xfrm>
        </p:grpSpPr>
        <p:sp>
          <p:nvSpPr>
            <p:cNvPr name="Freeform 9" id="2651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0" id="2652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653"/>
          <p:cNvGrpSpPr/>
          <p:nvPr/>
        </p:nvGrpSpPr>
        <p:grpSpPr>
          <a:xfrm rot="0">
            <a:off x="10260416" y="4229989"/>
            <a:ext cx="6998884" cy="2212462"/>
            <a:chOff x="0" y="0"/>
            <a:chExt cx="2100559" cy="664021"/>
          </a:xfrm>
        </p:grpSpPr>
        <p:sp>
          <p:nvSpPr>
            <p:cNvPr name="Freeform 12" id="2654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3" id="2655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656"/>
          <p:cNvGrpSpPr/>
          <p:nvPr/>
        </p:nvGrpSpPr>
        <p:grpSpPr>
          <a:xfrm rot="0">
            <a:off x="10758027" y="3843925"/>
            <a:ext cx="3375488" cy="681483"/>
            <a:chOff x="0" y="0"/>
            <a:chExt cx="1013077" cy="204532"/>
          </a:xfrm>
        </p:grpSpPr>
        <p:sp>
          <p:nvSpPr>
            <p:cNvPr name="Freeform 15" id="2657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6" id="2658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7" id="2659"/>
          <p:cNvGrpSpPr/>
          <p:nvPr/>
        </p:nvGrpSpPr>
        <p:grpSpPr>
          <a:xfrm rot="0">
            <a:off x="10239805" y="1414764"/>
            <a:ext cx="6998884" cy="2212462"/>
            <a:chOff x="0" y="0"/>
            <a:chExt cx="2100559" cy="664021"/>
          </a:xfrm>
        </p:grpSpPr>
        <p:sp>
          <p:nvSpPr>
            <p:cNvPr name="Freeform 18" id="2660"/>
            <p:cNvSpPr/>
            <p:nvPr/>
          </p:nvSpPr>
          <p:spPr>
            <a:xfrm flipH="false" flipV="false" rot="0">
              <a:off x="0" y="0"/>
              <a:ext cx="2100559" cy="664021"/>
            </a:xfrm>
            <a:custGeom>
              <a:avLst/>
              <a:gdLst/>
              <a:ahLst/>
              <a:cxnLst/>
              <a:rect r="r" b="b" t="t" l="l"/>
              <a:pathLst>
                <a:path h="664021" w="2100559">
                  <a:moveTo>
                    <a:pt x="48671" y="0"/>
                  </a:moveTo>
                  <a:lnTo>
                    <a:pt x="2051888" y="0"/>
                  </a:lnTo>
                  <a:cubicBezTo>
                    <a:pt x="2064796" y="0"/>
                    <a:pt x="2077176" y="5128"/>
                    <a:pt x="2086303" y="14255"/>
                  </a:cubicBezTo>
                  <a:cubicBezTo>
                    <a:pt x="2095431" y="23383"/>
                    <a:pt x="2100559" y="35763"/>
                    <a:pt x="2100559" y="48671"/>
                  </a:cubicBezTo>
                  <a:lnTo>
                    <a:pt x="2100559" y="615350"/>
                  </a:lnTo>
                  <a:cubicBezTo>
                    <a:pt x="2100559" y="642230"/>
                    <a:pt x="2078768" y="664021"/>
                    <a:pt x="2051888" y="664021"/>
                  </a:cubicBezTo>
                  <a:lnTo>
                    <a:pt x="48671" y="664021"/>
                  </a:lnTo>
                  <a:cubicBezTo>
                    <a:pt x="35763" y="664021"/>
                    <a:pt x="23383" y="658893"/>
                    <a:pt x="14255" y="649766"/>
                  </a:cubicBezTo>
                  <a:cubicBezTo>
                    <a:pt x="5128" y="640638"/>
                    <a:pt x="0" y="628258"/>
                    <a:pt x="0" y="615350"/>
                  </a:cubicBezTo>
                  <a:lnTo>
                    <a:pt x="0" y="48671"/>
                  </a:lnTo>
                  <a:cubicBezTo>
                    <a:pt x="0" y="35763"/>
                    <a:pt x="5128" y="23383"/>
                    <a:pt x="14255" y="14255"/>
                  </a:cubicBezTo>
                  <a:cubicBezTo>
                    <a:pt x="23383" y="5128"/>
                    <a:pt x="35763" y="0"/>
                    <a:pt x="48671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9" id="2661"/>
            <p:cNvSpPr txBox="true"/>
            <p:nvPr/>
          </p:nvSpPr>
          <p:spPr>
            <a:xfrm>
              <a:off x="0" y="-38100"/>
              <a:ext cx="2100559" cy="702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20" id="2662"/>
          <p:cNvGrpSpPr/>
          <p:nvPr/>
        </p:nvGrpSpPr>
        <p:grpSpPr>
          <a:xfrm rot="0">
            <a:off x="10737416" y="1028700"/>
            <a:ext cx="3375488" cy="681483"/>
            <a:chOff x="0" y="0"/>
            <a:chExt cx="1013077" cy="204532"/>
          </a:xfrm>
        </p:grpSpPr>
        <p:sp>
          <p:nvSpPr>
            <p:cNvPr name="Freeform 21" id="2663"/>
            <p:cNvSpPr/>
            <p:nvPr/>
          </p:nvSpPr>
          <p:spPr>
            <a:xfrm flipH="false" flipV="false" rot="0">
              <a:off x="0" y="0"/>
              <a:ext cx="1013077" cy="204532"/>
            </a:xfrm>
            <a:custGeom>
              <a:avLst/>
              <a:gdLst/>
              <a:ahLst/>
              <a:cxnLst/>
              <a:rect r="r" b="b" t="t" l="l"/>
              <a:pathLst>
                <a:path h="204532" w="1013077">
                  <a:moveTo>
                    <a:pt x="102266" y="0"/>
                  </a:moveTo>
                  <a:lnTo>
                    <a:pt x="910811" y="0"/>
                  </a:lnTo>
                  <a:cubicBezTo>
                    <a:pt x="967291" y="0"/>
                    <a:pt x="1013077" y="45786"/>
                    <a:pt x="1013077" y="102266"/>
                  </a:cubicBezTo>
                  <a:lnTo>
                    <a:pt x="1013077" y="102266"/>
                  </a:lnTo>
                  <a:cubicBezTo>
                    <a:pt x="1013077" y="129389"/>
                    <a:pt x="1002303" y="155400"/>
                    <a:pt x="983124" y="174579"/>
                  </a:cubicBezTo>
                  <a:cubicBezTo>
                    <a:pt x="963946" y="193757"/>
                    <a:pt x="937934" y="204532"/>
                    <a:pt x="910811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22" id="2664"/>
            <p:cNvSpPr txBox="true"/>
            <p:nvPr/>
          </p:nvSpPr>
          <p:spPr>
            <a:xfrm>
              <a:off x="0" y="-38100"/>
              <a:ext cx="1013077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Freeform 23" id="2665"/>
          <p:cNvSpPr/>
          <p:nvPr/>
        </p:nvSpPr>
        <p:spPr>
          <a:xfrm flipH="false" flipV="false" rot="0">
            <a:off x="8919836" y="1153807"/>
            <a:ext cx="848716" cy="771270"/>
          </a:xfrm>
          <a:custGeom>
            <a:avLst/>
            <a:gdLst/>
            <a:ahLst/>
            <a:cxnLst/>
            <a:rect r="r" b="b" t="t" l="l"/>
            <a:pathLst>
              <a:path h="771270" w="848716">
                <a:moveTo>
                  <a:pt x="0" y="0"/>
                </a:moveTo>
                <a:lnTo>
                  <a:pt x="848715" y="0"/>
                </a:lnTo>
                <a:lnTo>
                  <a:pt x="848715" y="771270"/>
                </a:lnTo>
                <a:lnTo>
                  <a:pt x="0" y="7712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2666"/>
          <p:cNvSpPr/>
          <p:nvPr/>
        </p:nvSpPr>
        <p:spPr>
          <a:xfrm flipH="false" flipV="false" rot="0">
            <a:off x="17072058" y="9135033"/>
            <a:ext cx="1028036" cy="960357"/>
          </a:xfrm>
          <a:custGeom>
            <a:avLst/>
            <a:gdLst/>
            <a:ahLst/>
            <a:cxnLst/>
            <a:rect r="r" b="b" t="t" l="l"/>
            <a:pathLst>
              <a:path h="960357" w="1028036">
                <a:moveTo>
                  <a:pt x="0" y="0"/>
                </a:moveTo>
                <a:lnTo>
                  <a:pt x="1028037" y="0"/>
                </a:lnTo>
                <a:lnTo>
                  <a:pt x="1028037" y="960357"/>
                </a:lnTo>
                <a:lnTo>
                  <a:pt x="0" y="9603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id="2667" name="TextBox 2666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Takeaways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Attribution is a first-class part of the learning objective, not a post-hoc diagnostic.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The explanation is a direct read-out of the objective the model already optimises.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1">
                <a:solidFill>
                  <a:srgbClr val="22303C"/>
                </a:solidFill>
                <a:latin typeface="Roca Two"/>
              </a:rPr>
              <a:t>This makes the explanation structurally faithful rather than an external approximation.</a:t>
            </a:r>
          </a:p>
          <a:p>
            <a:pPr lvl="1">
              <a:lnSpc>
                <a:spcPct val="105000"/>
              </a:lnSpc>
              <a:spcAft>
                <a:spcPts val="7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Built on a principled, axiomatic basis — aligned with trustworthy-AI expectations.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675"/>
          <p:cNvGrpSpPr/>
          <p:nvPr/>
        </p:nvGrpSpPr>
        <p:grpSpPr>
          <a:xfrm rot="0">
            <a:off x="0" y="5321413"/>
            <a:ext cx="18288000" cy="4965587"/>
            <a:chOff x="0" y="0"/>
            <a:chExt cx="4816593" cy="1307809"/>
          </a:xfrm>
        </p:grpSpPr>
        <p:sp>
          <p:nvSpPr>
            <p:cNvPr name="Freeform 3" id="2676"/>
            <p:cNvSpPr/>
            <p:nvPr/>
          </p:nvSpPr>
          <p:spPr>
            <a:xfrm flipH="false" flipV="false" rot="0">
              <a:off x="0" y="0"/>
              <a:ext cx="4816592" cy="1307809"/>
            </a:xfrm>
            <a:custGeom>
              <a:avLst/>
              <a:gdLst/>
              <a:ahLst/>
              <a:cxnLst/>
              <a:rect r="r" b="b" t="t" l="l"/>
              <a:pathLst>
                <a:path h="1307809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1307809"/>
                  </a:lnTo>
                  <a:lnTo>
                    <a:pt x="0" y="1307809"/>
                  </a:ln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677"/>
            <p:cNvSpPr txBox="true"/>
            <p:nvPr/>
          </p:nvSpPr>
          <p:spPr>
            <a:xfrm>
              <a:off x="0" y="-38100"/>
              <a:ext cx="4816593" cy="13459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sp>
        <p:nvSpPr>
          <p:cNvPr name="TextBox 11" id="2684"/>
          <p:cNvSpPr txBox="true"/>
          <p:nvPr/>
        </p:nvSpPr>
        <p:spPr>
          <a:xfrm rot="0">
            <a:off x="1028700" y="2635383"/>
            <a:ext cx="15730026" cy="268603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9713"/>
              </a:lnSpc>
            </a:pPr>
            <a:r>
              <a:rPr lang="en-US" sz="3000" spc="-1242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Conclusion &amp; Perspectives</a:t>
            </a:r>
          </a:p>
        </p:txBody>
      </p:sp>
      <p:grpSp>
        <p:nvGrpSpPr>
          <p:cNvPr name="Group 12" id="2685"/>
          <p:cNvGrpSpPr/>
          <p:nvPr/>
        </p:nvGrpSpPr>
        <p:grpSpPr>
          <a:xfrm rot="0">
            <a:off x="16258151" y="3265231"/>
            <a:ext cx="1001149" cy="1001149"/>
            <a:chOff x="0" y="0"/>
            <a:chExt cx="812800" cy="812800"/>
          </a:xfrm>
        </p:grpSpPr>
        <p:sp>
          <p:nvSpPr>
            <p:cNvPr name="Freeform 13" id="268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CC665"/>
            </a:solidFill>
          </p:spPr>
          <p:txBody>
            <a:bodyPr/>
            <a:p/>
          </p:txBody>
        </p:sp>
        <p:sp>
          <p:nvSpPr>
            <p:cNvPr name="TextBox 14" id="2687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5" id="2688"/>
          <p:cNvSpPr/>
          <p:nvPr/>
        </p:nvSpPr>
        <p:spPr>
          <a:xfrm flipH="true" flipV="false" rot="-5400000">
            <a:off x="16564092" y="3571172"/>
            <a:ext cx="389267" cy="389267"/>
          </a:xfrm>
          <a:custGeom>
            <a:avLst/>
            <a:gdLst/>
            <a:ahLst/>
            <a:cxnLst/>
            <a:rect r="r" b="b" t="t" l="l"/>
            <a:pathLst>
              <a:path h="389267" w="389267">
                <a:moveTo>
                  <a:pt x="389267" y="0"/>
                </a:moveTo>
                <a:lnTo>
                  <a:pt x="0" y="0"/>
                </a:lnTo>
                <a:lnTo>
                  <a:pt x="0" y="389267"/>
                </a:lnTo>
                <a:lnTo>
                  <a:pt x="389267" y="389267"/>
                </a:lnTo>
                <a:lnTo>
                  <a:pt x="38926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689"/>
          <p:cNvGrpSpPr/>
          <p:nvPr/>
        </p:nvGrpSpPr>
        <p:grpSpPr>
          <a:xfrm rot="0">
            <a:off x="0" y="1837763"/>
            <a:ext cx="7510728" cy="8449237"/>
            <a:chOff x="0" y="0"/>
            <a:chExt cx="2918292" cy="3282950"/>
          </a:xfrm>
        </p:grpSpPr>
        <p:sp>
          <p:nvSpPr>
            <p:cNvPr name="Freeform 3" id="2690"/>
            <p:cNvSpPr/>
            <p:nvPr/>
          </p:nvSpPr>
          <p:spPr>
            <a:xfrm flipH="false" flipV="false" rot="0">
              <a:off x="0" y="0"/>
              <a:ext cx="2918292" cy="3282950"/>
            </a:xfrm>
            <a:custGeom>
              <a:avLst/>
              <a:gdLst/>
              <a:ahLst/>
              <a:cxnLst/>
              <a:rect r="r" b="b" t="t" l="l"/>
              <a:pathLst>
                <a:path h="3282950" w="2918292">
                  <a:moveTo>
                    <a:pt x="0" y="0"/>
                  </a:moveTo>
                  <a:lnTo>
                    <a:pt x="2251093" y="0"/>
                  </a:lnTo>
                  <a:cubicBezTo>
                    <a:pt x="2619125" y="0"/>
                    <a:pt x="2918292" y="336550"/>
                    <a:pt x="2918292" y="750570"/>
                  </a:cubicBezTo>
                  <a:lnTo>
                    <a:pt x="2918292" y="3282950"/>
                  </a:lnTo>
                  <a:lnTo>
                    <a:pt x="0" y="3282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6669" r="0" b="-16669"/>
              </a:stretch>
            </a:blipFill>
          </p:spPr>
          <p:txBody>
            <a:bodyPr/>
            <a:p/>
          </p:txBody>
        </p:sp>
      </p:grpSp>
      <p:sp>
        <p:nvSpPr>
          <p:cNvPr name="Freeform 4" id="2691"/>
          <p:cNvSpPr/>
          <p:nvPr/>
        </p:nvSpPr>
        <p:spPr>
          <a:xfrm flipH="false" flipV="false" rot="-1161225">
            <a:off x="16229390" y="8693137"/>
            <a:ext cx="1216650" cy="667637"/>
          </a:xfrm>
          <a:custGeom>
            <a:avLst/>
            <a:gdLst/>
            <a:ahLst/>
            <a:cxnLst/>
            <a:rect r="r" b="b" t="t" l="l"/>
            <a:pathLst>
              <a:path h="667637" w="1216650">
                <a:moveTo>
                  <a:pt x="0" y="0"/>
                </a:moveTo>
                <a:lnTo>
                  <a:pt x="1216650" y="0"/>
                </a:lnTo>
                <a:lnTo>
                  <a:pt x="1216650" y="667637"/>
                </a:lnTo>
                <a:lnTo>
                  <a:pt x="0" y="66763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2692"/>
          <p:cNvSpPr/>
          <p:nvPr/>
        </p:nvSpPr>
        <p:spPr>
          <a:xfrm flipH="false" flipV="false" rot="2700000">
            <a:off x="7912917" y="2469423"/>
            <a:ext cx="1002870" cy="799789"/>
          </a:xfrm>
          <a:custGeom>
            <a:avLst/>
            <a:gdLst/>
            <a:ahLst/>
            <a:cxnLst/>
            <a:rect r="r" b="b" t="t" l="l"/>
            <a:pathLst>
              <a:path h="799789" w="1002870">
                <a:moveTo>
                  <a:pt x="0" y="0"/>
                </a:moveTo>
                <a:lnTo>
                  <a:pt x="1002870" y="0"/>
                </a:lnTo>
                <a:lnTo>
                  <a:pt x="1002870" y="799789"/>
                </a:lnTo>
                <a:lnTo>
                  <a:pt x="0" y="79978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2693"/>
          <p:cNvSpPr txBox="true"/>
          <p:nvPr/>
        </p:nvSpPr>
        <p:spPr>
          <a:xfrm rot="0">
            <a:off x="8401165" y="4078153"/>
            <a:ext cx="9013745" cy="171936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2573"/>
              </a:lnSpc>
            </a:pPr>
            <a:r>
              <a:rPr lang="en-US" sz="3000" spc="-792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Conclusion — Synthesis</a:t>
            </a:r>
          </a:p>
        </p:txBody>
      </p:sp>
      <p:graphicFrame>
        <p:nvGraphicFramePr>
          <p:cNvPr id="2694" name="Table 2693"/>
          <p:cNvGraphicFramePr>
            <a:graphicFrameLocks noGrp="1"/>
          </p:cNvGraphicFramePr>
          <p:nvPr/>
        </p:nvGraphicFramePr>
        <p:xfrm>
          <a:off x="640080" y="2103120"/>
          <a:ext cx="10881358" cy="3566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0678"/>
                <a:gridCol w="3046780"/>
                <a:gridCol w="3046780"/>
                <a:gridCol w="3627120"/>
              </a:tblGrid>
              <a:tr h="89154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Contribution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Main idea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Achievement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Key finding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C1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Explain black-box clustering via Shapley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PCA–KMeans–LightGBM–TreeSHAP pipeline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Faithful, chemistry-consistent cluster attribution (wine)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C2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Multi-level, large-scale clustering XAI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Cross-level SHAP aggregation + Prop. 6.1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Coherent under hierarchy; interprets differences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C3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DyHuCoG hypergraph cooperative game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Preference-aware Shapley as in-training signal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Accuracy + coverage + diversity improve together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698"/>
          <p:cNvGrpSpPr/>
          <p:nvPr/>
        </p:nvGrpSpPr>
        <p:grpSpPr>
          <a:xfrm rot="0">
            <a:off x="0" y="1837763"/>
            <a:ext cx="7510728" cy="8449237"/>
            <a:chOff x="0" y="0"/>
            <a:chExt cx="2918292" cy="3282950"/>
          </a:xfrm>
        </p:grpSpPr>
        <p:sp>
          <p:nvSpPr>
            <p:cNvPr name="Freeform 3" id="2699"/>
            <p:cNvSpPr/>
            <p:nvPr/>
          </p:nvSpPr>
          <p:spPr>
            <a:xfrm flipH="false" flipV="false" rot="0">
              <a:off x="0" y="0"/>
              <a:ext cx="2918292" cy="3282950"/>
            </a:xfrm>
            <a:custGeom>
              <a:avLst/>
              <a:gdLst/>
              <a:ahLst/>
              <a:cxnLst/>
              <a:rect r="r" b="b" t="t" l="l"/>
              <a:pathLst>
                <a:path h="3282950" w="2918292">
                  <a:moveTo>
                    <a:pt x="0" y="0"/>
                  </a:moveTo>
                  <a:lnTo>
                    <a:pt x="2251093" y="0"/>
                  </a:lnTo>
                  <a:cubicBezTo>
                    <a:pt x="2619125" y="0"/>
                    <a:pt x="2918292" y="336550"/>
                    <a:pt x="2918292" y="750570"/>
                  </a:cubicBezTo>
                  <a:lnTo>
                    <a:pt x="2918292" y="3282950"/>
                  </a:lnTo>
                  <a:lnTo>
                    <a:pt x="0" y="3282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6669" r="0" b="-16669"/>
              </a:stretch>
            </a:blipFill>
          </p:spPr>
          <p:txBody>
            <a:bodyPr/>
            <a:p/>
          </p:txBody>
        </p:sp>
      </p:grpSp>
      <p:sp>
        <p:nvSpPr>
          <p:cNvPr name="Freeform 4" id="2700"/>
          <p:cNvSpPr/>
          <p:nvPr/>
        </p:nvSpPr>
        <p:spPr>
          <a:xfrm flipH="false" flipV="false" rot="-1161225">
            <a:off x="16229390" y="8693137"/>
            <a:ext cx="1216650" cy="667637"/>
          </a:xfrm>
          <a:custGeom>
            <a:avLst/>
            <a:gdLst/>
            <a:ahLst/>
            <a:cxnLst/>
            <a:rect r="r" b="b" t="t" l="l"/>
            <a:pathLst>
              <a:path h="667637" w="1216650">
                <a:moveTo>
                  <a:pt x="0" y="0"/>
                </a:moveTo>
                <a:lnTo>
                  <a:pt x="1216650" y="0"/>
                </a:lnTo>
                <a:lnTo>
                  <a:pt x="1216650" y="667637"/>
                </a:lnTo>
                <a:lnTo>
                  <a:pt x="0" y="66763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2701"/>
          <p:cNvSpPr/>
          <p:nvPr/>
        </p:nvSpPr>
        <p:spPr>
          <a:xfrm flipH="false" flipV="false" rot="2700000">
            <a:off x="7912917" y="2469423"/>
            <a:ext cx="1002870" cy="799789"/>
          </a:xfrm>
          <a:custGeom>
            <a:avLst/>
            <a:gdLst/>
            <a:ahLst/>
            <a:cxnLst/>
            <a:rect r="r" b="b" t="t" l="l"/>
            <a:pathLst>
              <a:path h="799789" w="1002870">
                <a:moveTo>
                  <a:pt x="0" y="0"/>
                </a:moveTo>
                <a:lnTo>
                  <a:pt x="1002870" y="0"/>
                </a:lnTo>
                <a:lnTo>
                  <a:pt x="1002870" y="799789"/>
                </a:lnTo>
                <a:lnTo>
                  <a:pt x="0" y="79978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2702"/>
          <p:cNvSpPr txBox="true"/>
          <p:nvPr/>
        </p:nvSpPr>
        <p:spPr>
          <a:xfrm rot="0">
            <a:off x="8401165" y="4078153"/>
            <a:ext cx="9013745" cy="171936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2573"/>
              </a:lnSpc>
            </a:pPr>
            <a:r>
              <a:rPr lang="en-US" sz="3000" spc="-792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Conclusion — Publications</a:t>
            </a:r>
          </a:p>
        </p:txBody>
      </p:sp>
      <p:graphicFrame>
        <p:nvGraphicFramePr>
          <p:cNvPr id="2703" name="Table 2702"/>
          <p:cNvGraphicFramePr>
            <a:graphicFrameLocks noGrp="1"/>
          </p:cNvGraphicFramePr>
          <p:nvPr/>
        </p:nvGraphicFramePr>
        <p:xfrm>
          <a:off x="640080" y="2103120"/>
          <a:ext cx="10881360" cy="3566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6800"/>
                <a:gridCol w="5569200"/>
                <a:gridCol w="2741760"/>
                <a:gridCol w="1713600"/>
              </a:tblGrid>
              <a:tr h="89154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No.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Title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Venue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ontserrat Medium"/>
                        </a:rPr>
                        <a:t>Status</a:t>
                      </a:r>
                    </a:p>
                  </a:txBody>
                  <a:tcPr anchor="ctr" marL="54864" marR="54864" marT="18288" marB="18288">
                    <a:solidFill>
                      <a:srgbClr val="4F81BD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I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Shapley Values for Explaining the Black Box Nature of ML Model Clustering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Procedia Computer Science 220, 806–811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Published, 2023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II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Game Theory Meets Explainable AI: An Enhanced Approach to Understanding Black Box Models Through Shapley Values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IJACSA 16(7), 716–725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Published, 2025</a:t>
                      </a:r>
                    </a:p>
                  </a:txBody>
                  <a:tcPr anchor="ctr" marL="54864" marR="54864" marT="18288" marB="18288">
                    <a:solidFill>
                      <a:srgbClr val="F0F4FB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III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DyHuCoG: A Dynamic Hypergraph Cooperative Game for Preference-aware Recommendation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IJIES 19(2), 887–902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F3B49"/>
                          </a:solidFill>
                          <a:latin typeface="Montserrat"/>
                        </a:rPr>
                        <a:t>Published, 2026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707"/>
          <p:cNvGrpSpPr/>
          <p:nvPr/>
        </p:nvGrpSpPr>
        <p:grpSpPr>
          <a:xfrm rot="0">
            <a:off x="1028700" y="6198504"/>
            <a:ext cx="7975559" cy="3059796"/>
            <a:chOff x="0" y="0"/>
            <a:chExt cx="2100559" cy="805872"/>
          </a:xfrm>
        </p:grpSpPr>
        <p:sp>
          <p:nvSpPr>
            <p:cNvPr name="Freeform 3" id="2708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709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2710"/>
          <p:cNvGrpSpPr/>
          <p:nvPr/>
        </p:nvGrpSpPr>
        <p:grpSpPr>
          <a:xfrm rot="0">
            <a:off x="1595752" y="5758566"/>
            <a:ext cx="3204081" cy="776582"/>
            <a:chOff x="0" y="0"/>
            <a:chExt cx="843873" cy="204532"/>
          </a:xfrm>
        </p:grpSpPr>
        <p:sp>
          <p:nvSpPr>
            <p:cNvPr name="Freeform 6" id="2711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2712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713"/>
          <p:cNvGrpSpPr/>
          <p:nvPr/>
        </p:nvGrpSpPr>
        <p:grpSpPr>
          <a:xfrm rot="0">
            <a:off x="9283741" y="6198504"/>
            <a:ext cx="7975559" cy="3059796"/>
            <a:chOff x="0" y="0"/>
            <a:chExt cx="2100559" cy="805872"/>
          </a:xfrm>
        </p:grpSpPr>
        <p:sp>
          <p:nvSpPr>
            <p:cNvPr name="Freeform 9" id="2714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2715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716"/>
          <p:cNvGrpSpPr/>
          <p:nvPr/>
        </p:nvGrpSpPr>
        <p:grpSpPr>
          <a:xfrm rot="0">
            <a:off x="9850793" y="5758566"/>
            <a:ext cx="3204081" cy="776582"/>
            <a:chOff x="0" y="0"/>
            <a:chExt cx="843873" cy="204532"/>
          </a:xfrm>
        </p:grpSpPr>
        <p:sp>
          <p:nvSpPr>
            <p:cNvPr name="Freeform 12" id="2717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2718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719"/>
          <p:cNvGrpSpPr/>
          <p:nvPr/>
        </p:nvGrpSpPr>
        <p:grpSpPr>
          <a:xfrm rot="0">
            <a:off x="9850793" y="1561357"/>
            <a:ext cx="9713181" cy="3999197"/>
            <a:chOff x="0" y="0"/>
            <a:chExt cx="3055296" cy="1257954"/>
          </a:xfrm>
        </p:grpSpPr>
        <p:sp>
          <p:nvSpPr>
            <p:cNvPr name="Freeform 15" id="2720"/>
            <p:cNvSpPr/>
            <p:nvPr/>
          </p:nvSpPr>
          <p:spPr>
            <a:xfrm flipH="false" flipV="false" rot="0">
              <a:off x="0" y="0"/>
              <a:ext cx="3055296" cy="1257954"/>
            </a:xfrm>
            <a:custGeom>
              <a:avLst/>
              <a:gdLst/>
              <a:ahLst/>
              <a:cxnLst/>
              <a:rect r="r" b="b" t="t" l="l"/>
              <a:pathLst>
                <a:path h="1257954" w="3055296">
                  <a:moveTo>
                    <a:pt x="52605" y="0"/>
                  </a:moveTo>
                  <a:lnTo>
                    <a:pt x="3002691" y="0"/>
                  </a:lnTo>
                  <a:cubicBezTo>
                    <a:pt x="3031744" y="0"/>
                    <a:pt x="3055296" y="23552"/>
                    <a:pt x="3055296" y="52605"/>
                  </a:cubicBezTo>
                  <a:lnTo>
                    <a:pt x="3055296" y="1205348"/>
                  </a:lnTo>
                  <a:cubicBezTo>
                    <a:pt x="3055296" y="1219300"/>
                    <a:pt x="3049754" y="1232680"/>
                    <a:pt x="3039888" y="1242546"/>
                  </a:cubicBezTo>
                  <a:cubicBezTo>
                    <a:pt x="3030023" y="1252411"/>
                    <a:pt x="3016642" y="1257954"/>
                    <a:pt x="3002691" y="1257954"/>
                  </a:cubicBezTo>
                  <a:lnTo>
                    <a:pt x="52605" y="1257954"/>
                  </a:lnTo>
                  <a:cubicBezTo>
                    <a:pt x="23552" y="1257954"/>
                    <a:pt x="0" y="1234401"/>
                    <a:pt x="0" y="1205348"/>
                  </a:cubicBezTo>
                  <a:lnTo>
                    <a:pt x="0" y="52605"/>
                  </a:lnTo>
                  <a:cubicBezTo>
                    <a:pt x="0" y="23552"/>
                    <a:pt x="23552" y="0"/>
                    <a:pt x="52605" y="0"/>
                  </a:cubicBezTo>
                  <a:close/>
                </a:path>
              </a:pathLst>
            </a:custGeom>
            <a:blipFill>
              <a:blip r:embed="rId2"/>
              <a:stretch>
                <a:fillRect l="-27365" t="-26874" r="0" b="-79354"/>
              </a:stretch>
            </a:blipFill>
          </p:spPr>
          <p:txBody>
            <a:bodyPr/>
            <a:p/>
          </p:txBody>
        </p:sp>
      </p:grpSp>
      <p:sp>
        <p:nvSpPr>
          <p:cNvPr name="Freeform 16" id="2721"/>
          <p:cNvSpPr/>
          <p:nvPr/>
        </p:nvSpPr>
        <p:spPr>
          <a:xfrm flipH="false" flipV="false" rot="2916010">
            <a:off x="8566222" y="4850595"/>
            <a:ext cx="599295" cy="585811"/>
          </a:xfrm>
          <a:custGeom>
            <a:avLst/>
            <a:gdLst/>
            <a:ahLst/>
            <a:cxnLst/>
            <a:rect r="r" b="b" t="t" l="l"/>
            <a:pathLst>
              <a:path h="585811" w="599295">
                <a:moveTo>
                  <a:pt x="0" y="0"/>
                </a:moveTo>
                <a:lnTo>
                  <a:pt x="599295" y="0"/>
                </a:lnTo>
                <a:lnTo>
                  <a:pt x="599295" y="585810"/>
                </a:lnTo>
                <a:lnTo>
                  <a:pt x="0" y="5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2722"/>
          <p:cNvSpPr/>
          <p:nvPr/>
        </p:nvSpPr>
        <p:spPr>
          <a:xfrm flipH="false" flipV="false" rot="-1166207">
            <a:off x="616105" y="1721563"/>
            <a:ext cx="509290" cy="503560"/>
          </a:xfrm>
          <a:custGeom>
            <a:avLst/>
            <a:gdLst/>
            <a:ahLst/>
            <a:cxnLst/>
            <a:rect r="r" b="b" t="t" l="l"/>
            <a:pathLst>
              <a:path h="503560" w="509290">
                <a:moveTo>
                  <a:pt x="0" y="0"/>
                </a:moveTo>
                <a:lnTo>
                  <a:pt x="509290" y="0"/>
                </a:lnTo>
                <a:lnTo>
                  <a:pt x="509290" y="503560"/>
                </a:lnTo>
                <a:lnTo>
                  <a:pt x="0" y="5035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5" id="2730"/>
          <p:cNvSpPr txBox="true"/>
          <p:nvPr/>
        </p:nvSpPr>
        <p:spPr>
          <a:xfrm rot="0">
            <a:off x="1028700" y="2504394"/>
            <a:ext cx="7819856" cy="179361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30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Conclusion — Limitations</a:t>
            </a:r>
          </a:p>
        </p:txBody>
      </p:sp>
      <p:sp>
        <p:nvSpPr>
          <p:cNvPr id="2731" name="TextBox 2730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Computational – exact Shapley is intractable; every contribution relies on approximation, surrogates, or restricted reporting.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Methodological – clustering depends on surrogate fidelity; recommendation depends on stable approximate contributions and adequate context.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Empirical – tabular clustering + benchmark recommendation; no multimodal, sequential, or online deployment; no dedicated human-subject actionability study.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Claim scope – a coherent and productive perspective, not one fully unified framework eliminating all tension.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731"/>
          <p:cNvGrpSpPr/>
          <p:nvPr/>
        </p:nvGrpSpPr>
        <p:grpSpPr>
          <a:xfrm rot="0">
            <a:off x="1028700" y="6198504"/>
            <a:ext cx="7975559" cy="3059796"/>
            <a:chOff x="0" y="0"/>
            <a:chExt cx="2100559" cy="805872"/>
          </a:xfrm>
        </p:grpSpPr>
        <p:sp>
          <p:nvSpPr>
            <p:cNvPr name="Freeform 3" id="2732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733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2734"/>
          <p:cNvGrpSpPr/>
          <p:nvPr/>
        </p:nvGrpSpPr>
        <p:grpSpPr>
          <a:xfrm rot="0">
            <a:off x="1595752" y="5758566"/>
            <a:ext cx="3204081" cy="776582"/>
            <a:chOff x="0" y="0"/>
            <a:chExt cx="843873" cy="204532"/>
          </a:xfrm>
        </p:grpSpPr>
        <p:sp>
          <p:nvSpPr>
            <p:cNvPr name="Freeform 6" id="2735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2736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737"/>
          <p:cNvGrpSpPr/>
          <p:nvPr/>
        </p:nvGrpSpPr>
        <p:grpSpPr>
          <a:xfrm rot="0">
            <a:off x="9283741" y="6198504"/>
            <a:ext cx="7975559" cy="3059796"/>
            <a:chOff x="0" y="0"/>
            <a:chExt cx="2100559" cy="805872"/>
          </a:xfrm>
        </p:grpSpPr>
        <p:sp>
          <p:nvSpPr>
            <p:cNvPr name="Freeform 9" id="2738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2739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740"/>
          <p:cNvGrpSpPr/>
          <p:nvPr/>
        </p:nvGrpSpPr>
        <p:grpSpPr>
          <a:xfrm rot="0">
            <a:off x="9850793" y="5758566"/>
            <a:ext cx="3204081" cy="776582"/>
            <a:chOff x="0" y="0"/>
            <a:chExt cx="843873" cy="204532"/>
          </a:xfrm>
        </p:grpSpPr>
        <p:sp>
          <p:nvSpPr>
            <p:cNvPr name="Freeform 12" id="2741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2742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743"/>
          <p:cNvGrpSpPr/>
          <p:nvPr/>
        </p:nvGrpSpPr>
        <p:grpSpPr>
          <a:xfrm rot="0">
            <a:off x="9850793" y="1561357"/>
            <a:ext cx="9713181" cy="3999197"/>
            <a:chOff x="0" y="0"/>
            <a:chExt cx="3055296" cy="1257954"/>
          </a:xfrm>
        </p:grpSpPr>
        <p:sp>
          <p:nvSpPr>
            <p:cNvPr name="Freeform 15" id="2744"/>
            <p:cNvSpPr/>
            <p:nvPr/>
          </p:nvSpPr>
          <p:spPr>
            <a:xfrm flipH="false" flipV="false" rot="0">
              <a:off x="0" y="0"/>
              <a:ext cx="3055296" cy="1257954"/>
            </a:xfrm>
            <a:custGeom>
              <a:avLst/>
              <a:gdLst/>
              <a:ahLst/>
              <a:cxnLst/>
              <a:rect r="r" b="b" t="t" l="l"/>
              <a:pathLst>
                <a:path h="1257954" w="3055296">
                  <a:moveTo>
                    <a:pt x="52605" y="0"/>
                  </a:moveTo>
                  <a:lnTo>
                    <a:pt x="3002691" y="0"/>
                  </a:lnTo>
                  <a:cubicBezTo>
                    <a:pt x="3031744" y="0"/>
                    <a:pt x="3055296" y="23552"/>
                    <a:pt x="3055296" y="52605"/>
                  </a:cubicBezTo>
                  <a:lnTo>
                    <a:pt x="3055296" y="1205348"/>
                  </a:lnTo>
                  <a:cubicBezTo>
                    <a:pt x="3055296" y="1219300"/>
                    <a:pt x="3049754" y="1232680"/>
                    <a:pt x="3039888" y="1242546"/>
                  </a:cubicBezTo>
                  <a:cubicBezTo>
                    <a:pt x="3030023" y="1252411"/>
                    <a:pt x="3016642" y="1257954"/>
                    <a:pt x="3002691" y="1257954"/>
                  </a:cubicBezTo>
                  <a:lnTo>
                    <a:pt x="52605" y="1257954"/>
                  </a:lnTo>
                  <a:cubicBezTo>
                    <a:pt x="23552" y="1257954"/>
                    <a:pt x="0" y="1234401"/>
                    <a:pt x="0" y="1205348"/>
                  </a:cubicBezTo>
                  <a:lnTo>
                    <a:pt x="0" y="52605"/>
                  </a:lnTo>
                  <a:cubicBezTo>
                    <a:pt x="0" y="23552"/>
                    <a:pt x="23552" y="0"/>
                    <a:pt x="52605" y="0"/>
                  </a:cubicBezTo>
                  <a:close/>
                </a:path>
              </a:pathLst>
            </a:custGeom>
            <a:blipFill>
              <a:blip r:embed="rId2"/>
              <a:stretch>
                <a:fillRect l="-27365" t="-26874" r="0" b="-79354"/>
              </a:stretch>
            </a:blipFill>
          </p:spPr>
          <p:txBody>
            <a:bodyPr/>
            <a:p/>
          </p:txBody>
        </p:sp>
      </p:grpSp>
      <p:sp>
        <p:nvSpPr>
          <p:cNvPr name="Freeform 16" id="2745"/>
          <p:cNvSpPr/>
          <p:nvPr/>
        </p:nvSpPr>
        <p:spPr>
          <a:xfrm flipH="false" flipV="false" rot="2916010">
            <a:off x="8566222" y="4850595"/>
            <a:ext cx="599295" cy="585811"/>
          </a:xfrm>
          <a:custGeom>
            <a:avLst/>
            <a:gdLst/>
            <a:ahLst/>
            <a:cxnLst/>
            <a:rect r="r" b="b" t="t" l="l"/>
            <a:pathLst>
              <a:path h="585811" w="599295">
                <a:moveTo>
                  <a:pt x="0" y="0"/>
                </a:moveTo>
                <a:lnTo>
                  <a:pt x="599295" y="0"/>
                </a:lnTo>
                <a:lnTo>
                  <a:pt x="599295" y="585810"/>
                </a:lnTo>
                <a:lnTo>
                  <a:pt x="0" y="5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2746"/>
          <p:cNvSpPr/>
          <p:nvPr/>
        </p:nvSpPr>
        <p:spPr>
          <a:xfrm flipH="false" flipV="false" rot="-1166207">
            <a:off x="616105" y="1721563"/>
            <a:ext cx="509290" cy="503560"/>
          </a:xfrm>
          <a:custGeom>
            <a:avLst/>
            <a:gdLst/>
            <a:ahLst/>
            <a:cxnLst/>
            <a:rect r="r" b="b" t="t" l="l"/>
            <a:pathLst>
              <a:path h="503560" w="509290">
                <a:moveTo>
                  <a:pt x="0" y="0"/>
                </a:moveTo>
                <a:lnTo>
                  <a:pt x="509290" y="0"/>
                </a:lnTo>
                <a:lnTo>
                  <a:pt x="509290" y="503560"/>
                </a:lnTo>
                <a:lnTo>
                  <a:pt x="0" y="5035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5" id="2754"/>
          <p:cNvSpPr txBox="true"/>
          <p:nvPr/>
        </p:nvSpPr>
        <p:spPr>
          <a:xfrm rot="0">
            <a:off x="1028700" y="2504394"/>
            <a:ext cx="7819856" cy="179361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30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Perspectives &amp; Future Work</a:t>
            </a:r>
          </a:p>
        </p:txBody>
      </p:sp>
      <p:sp>
        <p:nvSpPr>
          <p:cNvPr id="2755" name="TextBox 2754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Scalable cooperative attribution – lower-variance Shapley, learned proposal distributions, adaptive refresh policies.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Online / streaming recommendation – truly incremental settings with evolving graphs and delayed feedback.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Richer human-centred evaluation – do explanations measurably improve analyst judgement, user trust, intervention quality, or perceived fairness?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0">
                <a:solidFill>
                  <a:srgbClr val="22303C"/>
                </a:solidFill>
                <a:latin typeface="Roca Two"/>
              </a:rPr>
              <a:t>Broader trustworthy-AI evaluation – exposure fairness, transparency requirements, governance-oriented auditing.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755"/>
          <p:cNvGrpSpPr/>
          <p:nvPr/>
        </p:nvGrpSpPr>
        <p:grpSpPr>
          <a:xfrm rot="0">
            <a:off x="1028700" y="6198504"/>
            <a:ext cx="7975559" cy="3059796"/>
            <a:chOff x="0" y="0"/>
            <a:chExt cx="2100559" cy="805872"/>
          </a:xfrm>
        </p:grpSpPr>
        <p:sp>
          <p:nvSpPr>
            <p:cNvPr name="Freeform 3" id="2756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4" id="2757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5" id="2758"/>
          <p:cNvGrpSpPr/>
          <p:nvPr/>
        </p:nvGrpSpPr>
        <p:grpSpPr>
          <a:xfrm rot="0">
            <a:off x="1595752" y="5758566"/>
            <a:ext cx="3204081" cy="776582"/>
            <a:chOff x="0" y="0"/>
            <a:chExt cx="843873" cy="204532"/>
          </a:xfrm>
        </p:grpSpPr>
        <p:sp>
          <p:nvSpPr>
            <p:cNvPr name="Freeform 6" id="2759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7" id="2760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8" id="2761"/>
          <p:cNvGrpSpPr/>
          <p:nvPr/>
        </p:nvGrpSpPr>
        <p:grpSpPr>
          <a:xfrm rot="0">
            <a:off x="9283741" y="6198504"/>
            <a:ext cx="7975559" cy="3059796"/>
            <a:chOff x="0" y="0"/>
            <a:chExt cx="2100559" cy="805872"/>
          </a:xfrm>
        </p:grpSpPr>
        <p:sp>
          <p:nvSpPr>
            <p:cNvPr name="Freeform 9" id="2762"/>
            <p:cNvSpPr/>
            <p:nvPr/>
          </p:nvSpPr>
          <p:spPr>
            <a:xfrm flipH="false" flipV="false" rot="0">
              <a:off x="0" y="0"/>
              <a:ext cx="2100559" cy="805872"/>
            </a:xfrm>
            <a:custGeom>
              <a:avLst/>
              <a:gdLst/>
              <a:ahLst/>
              <a:cxnLst/>
              <a:rect r="r" b="b" t="t" l="l"/>
              <a:pathLst>
                <a:path h="805872" w="2100559">
                  <a:moveTo>
                    <a:pt x="64067" y="0"/>
                  </a:moveTo>
                  <a:lnTo>
                    <a:pt x="2036492" y="0"/>
                  </a:lnTo>
                  <a:cubicBezTo>
                    <a:pt x="2053484" y="0"/>
                    <a:pt x="2069779" y="6750"/>
                    <a:pt x="2081794" y="18765"/>
                  </a:cubicBezTo>
                  <a:cubicBezTo>
                    <a:pt x="2093809" y="30779"/>
                    <a:pt x="2100559" y="47075"/>
                    <a:pt x="2100559" y="64067"/>
                  </a:cubicBezTo>
                  <a:lnTo>
                    <a:pt x="2100559" y="741806"/>
                  </a:lnTo>
                  <a:cubicBezTo>
                    <a:pt x="2100559" y="777189"/>
                    <a:pt x="2071875" y="805872"/>
                    <a:pt x="2036492" y="805872"/>
                  </a:cubicBezTo>
                  <a:lnTo>
                    <a:pt x="64067" y="805872"/>
                  </a:lnTo>
                  <a:cubicBezTo>
                    <a:pt x="47075" y="805872"/>
                    <a:pt x="30779" y="799122"/>
                    <a:pt x="18765" y="787107"/>
                  </a:cubicBezTo>
                  <a:cubicBezTo>
                    <a:pt x="6750" y="775093"/>
                    <a:pt x="0" y="758797"/>
                    <a:pt x="0" y="741806"/>
                  </a:cubicBezTo>
                  <a:lnTo>
                    <a:pt x="0" y="64067"/>
                  </a:lnTo>
                  <a:cubicBezTo>
                    <a:pt x="0" y="28684"/>
                    <a:pt x="28684" y="0"/>
                    <a:pt x="64067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10" id="2763"/>
            <p:cNvSpPr txBox="true"/>
            <p:nvPr/>
          </p:nvSpPr>
          <p:spPr>
            <a:xfrm>
              <a:off x="0" y="-38100"/>
              <a:ext cx="2100559" cy="8439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1" id="2764"/>
          <p:cNvGrpSpPr/>
          <p:nvPr/>
        </p:nvGrpSpPr>
        <p:grpSpPr>
          <a:xfrm rot="0">
            <a:off x="9850793" y="5758566"/>
            <a:ext cx="3204081" cy="776582"/>
            <a:chOff x="0" y="0"/>
            <a:chExt cx="843873" cy="204532"/>
          </a:xfrm>
        </p:grpSpPr>
        <p:sp>
          <p:nvSpPr>
            <p:cNvPr name="Freeform 12" id="2765"/>
            <p:cNvSpPr/>
            <p:nvPr/>
          </p:nvSpPr>
          <p:spPr>
            <a:xfrm flipH="false" flipV="false" rot="0">
              <a:off x="0" y="0"/>
              <a:ext cx="843873" cy="204532"/>
            </a:xfrm>
            <a:custGeom>
              <a:avLst/>
              <a:gdLst/>
              <a:ahLst/>
              <a:cxnLst/>
              <a:rect r="r" b="b" t="t" l="l"/>
              <a:pathLst>
                <a:path h="204532" w="843873">
                  <a:moveTo>
                    <a:pt x="102266" y="0"/>
                  </a:moveTo>
                  <a:lnTo>
                    <a:pt x="741607" y="0"/>
                  </a:lnTo>
                  <a:cubicBezTo>
                    <a:pt x="768730" y="0"/>
                    <a:pt x="794742" y="10774"/>
                    <a:pt x="813920" y="29953"/>
                  </a:cubicBezTo>
                  <a:cubicBezTo>
                    <a:pt x="833099" y="49132"/>
                    <a:pt x="843873" y="75143"/>
                    <a:pt x="843873" y="102266"/>
                  </a:cubicBezTo>
                  <a:lnTo>
                    <a:pt x="843873" y="102266"/>
                  </a:lnTo>
                  <a:cubicBezTo>
                    <a:pt x="843873" y="158746"/>
                    <a:pt x="798087" y="204532"/>
                    <a:pt x="741607" y="204532"/>
                  </a:cubicBezTo>
                  <a:lnTo>
                    <a:pt x="102266" y="204532"/>
                  </a:lnTo>
                  <a:cubicBezTo>
                    <a:pt x="45786" y="204532"/>
                    <a:pt x="0" y="158746"/>
                    <a:pt x="0" y="102266"/>
                  </a:cubicBezTo>
                  <a:lnTo>
                    <a:pt x="0" y="102266"/>
                  </a:lnTo>
                  <a:cubicBezTo>
                    <a:pt x="0" y="45786"/>
                    <a:pt x="45786" y="0"/>
                    <a:pt x="102266" y="0"/>
                  </a:cubicBezTo>
                  <a:close/>
                </a:path>
              </a:pathLst>
            </a:custGeom>
            <a:solidFill>
              <a:srgbClr val="FFFFFF"/>
            </a:solid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p/>
          </p:txBody>
        </p:sp>
        <p:sp>
          <p:nvSpPr>
            <p:cNvPr name="TextBox 13" id="2766"/>
            <p:cNvSpPr txBox="true"/>
            <p:nvPr/>
          </p:nvSpPr>
          <p:spPr>
            <a:xfrm>
              <a:off x="0" y="-38100"/>
              <a:ext cx="843873" cy="2426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80"/>
                </a:lnSpc>
              </a:pPr>
            </a:p>
          </p:txBody>
        </p:sp>
      </p:grpSp>
      <p:grpSp>
        <p:nvGrpSpPr>
          <p:cNvPr name="Group 14" id="2767"/>
          <p:cNvGrpSpPr/>
          <p:nvPr/>
        </p:nvGrpSpPr>
        <p:grpSpPr>
          <a:xfrm rot="0">
            <a:off x="9850793" y="1561357"/>
            <a:ext cx="9713181" cy="3999197"/>
            <a:chOff x="0" y="0"/>
            <a:chExt cx="3055296" cy="1257954"/>
          </a:xfrm>
        </p:grpSpPr>
        <p:sp>
          <p:nvSpPr>
            <p:cNvPr name="Freeform 15" id="2768"/>
            <p:cNvSpPr/>
            <p:nvPr/>
          </p:nvSpPr>
          <p:spPr>
            <a:xfrm flipH="false" flipV="false" rot="0">
              <a:off x="0" y="0"/>
              <a:ext cx="3055296" cy="1257954"/>
            </a:xfrm>
            <a:custGeom>
              <a:avLst/>
              <a:gdLst/>
              <a:ahLst/>
              <a:cxnLst/>
              <a:rect r="r" b="b" t="t" l="l"/>
              <a:pathLst>
                <a:path h="1257954" w="3055296">
                  <a:moveTo>
                    <a:pt x="52605" y="0"/>
                  </a:moveTo>
                  <a:lnTo>
                    <a:pt x="3002691" y="0"/>
                  </a:lnTo>
                  <a:cubicBezTo>
                    <a:pt x="3031744" y="0"/>
                    <a:pt x="3055296" y="23552"/>
                    <a:pt x="3055296" y="52605"/>
                  </a:cubicBezTo>
                  <a:lnTo>
                    <a:pt x="3055296" y="1205348"/>
                  </a:lnTo>
                  <a:cubicBezTo>
                    <a:pt x="3055296" y="1219300"/>
                    <a:pt x="3049754" y="1232680"/>
                    <a:pt x="3039888" y="1242546"/>
                  </a:cubicBezTo>
                  <a:cubicBezTo>
                    <a:pt x="3030023" y="1252411"/>
                    <a:pt x="3016642" y="1257954"/>
                    <a:pt x="3002691" y="1257954"/>
                  </a:cubicBezTo>
                  <a:lnTo>
                    <a:pt x="52605" y="1257954"/>
                  </a:lnTo>
                  <a:cubicBezTo>
                    <a:pt x="23552" y="1257954"/>
                    <a:pt x="0" y="1234401"/>
                    <a:pt x="0" y="1205348"/>
                  </a:cubicBezTo>
                  <a:lnTo>
                    <a:pt x="0" y="52605"/>
                  </a:lnTo>
                  <a:cubicBezTo>
                    <a:pt x="0" y="23552"/>
                    <a:pt x="23552" y="0"/>
                    <a:pt x="52605" y="0"/>
                  </a:cubicBezTo>
                  <a:close/>
                </a:path>
              </a:pathLst>
            </a:custGeom>
            <a:blipFill>
              <a:blip r:embed="rId2"/>
              <a:stretch>
                <a:fillRect l="-27365" t="-26874" r="0" b="-79354"/>
              </a:stretch>
            </a:blipFill>
          </p:spPr>
          <p:txBody>
            <a:bodyPr/>
            <a:p/>
          </p:txBody>
        </p:sp>
      </p:grpSp>
      <p:sp>
        <p:nvSpPr>
          <p:cNvPr name="Freeform 16" id="2769"/>
          <p:cNvSpPr/>
          <p:nvPr/>
        </p:nvSpPr>
        <p:spPr>
          <a:xfrm flipH="false" flipV="false" rot="2916010">
            <a:off x="8566222" y="4850595"/>
            <a:ext cx="599295" cy="585811"/>
          </a:xfrm>
          <a:custGeom>
            <a:avLst/>
            <a:gdLst/>
            <a:ahLst/>
            <a:cxnLst/>
            <a:rect r="r" b="b" t="t" l="l"/>
            <a:pathLst>
              <a:path h="585811" w="599295">
                <a:moveTo>
                  <a:pt x="0" y="0"/>
                </a:moveTo>
                <a:lnTo>
                  <a:pt x="599295" y="0"/>
                </a:lnTo>
                <a:lnTo>
                  <a:pt x="599295" y="585810"/>
                </a:lnTo>
                <a:lnTo>
                  <a:pt x="0" y="5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2770"/>
          <p:cNvSpPr/>
          <p:nvPr/>
        </p:nvSpPr>
        <p:spPr>
          <a:xfrm flipH="false" flipV="false" rot="-1166207">
            <a:off x="616105" y="1721563"/>
            <a:ext cx="509290" cy="503560"/>
          </a:xfrm>
          <a:custGeom>
            <a:avLst/>
            <a:gdLst/>
            <a:ahLst/>
            <a:cxnLst/>
            <a:rect r="r" b="b" t="t" l="l"/>
            <a:pathLst>
              <a:path h="503560" w="509290">
                <a:moveTo>
                  <a:pt x="0" y="0"/>
                </a:moveTo>
                <a:lnTo>
                  <a:pt x="509290" y="0"/>
                </a:lnTo>
                <a:lnTo>
                  <a:pt x="509290" y="503560"/>
                </a:lnTo>
                <a:lnTo>
                  <a:pt x="0" y="5035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5" id="2778"/>
          <p:cNvSpPr txBox="true"/>
          <p:nvPr/>
        </p:nvSpPr>
        <p:spPr>
          <a:xfrm rot="0">
            <a:off x="1028700" y="2504394"/>
            <a:ext cx="7819856" cy="1793610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3102"/>
              </a:lnSpc>
            </a:pPr>
            <a:r>
              <a:rPr lang="en-US" sz="3000" spc="-826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Conclusion — Thesis Answer</a:t>
            </a:r>
          </a:p>
        </p:txBody>
      </p:sp>
      <p:sp>
        <p:nvSpPr>
          <p:cNvPr id="2779" name="TextBox 2778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800" b="1">
                <a:solidFill>
                  <a:srgbClr val="22303C"/>
                </a:solidFill>
                <a:latin typeface="Roca Two"/>
              </a:rPr>
              <a:t>Thesis answer: cooperative game theory can function as a shared methodological perspective for actionable explanation across clustering and recommendation.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Shapley attribution as a common formal language for feature, interaction, and context importance allocation.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Faithful clustering explanation, hierarchical explanatory coherence, and contribution-aware recommendation learning.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Explanation as method, not commentary — from post-hoc description to in-training guidance.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700">
                <a:solidFill>
                  <a:srgbClr val="4F81BD"/>
                </a:solidFill>
                <a:latin typeface="Roca Two"/>
              </a:rPr>
              <a:t>–  </a:t>
            </a:r>
            <a:r>
              <a:rPr sz="1700" b="0">
                <a:solidFill>
                  <a:srgbClr val="22303C"/>
                </a:solidFill>
                <a:latin typeface="Roca Two"/>
              </a:rPr>
              <a:t>Aligned with trustworthy-AI requirements (EU AI Act, OECD principles, GDPR).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779"/>
          <p:cNvGrpSpPr/>
          <p:nvPr/>
        </p:nvGrpSpPr>
        <p:grpSpPr>
          <a:xfrm rot="0">
            <a:off x="0" y="1837763"/>
            <a:ext cx="7510728" cy="8449237"/>
            <a:chOff x="0" y="0"/>
            <a:chExt cx="2918292" cy="3282950"/>
          </a:xfrm>
        </p:grpSpPr>
        <p:sp>
          <p:nvSpPr>
            <p:cNvPr name="Freeform 3" id="2780"/>
            <p:cNvSpPr/>
            <p:nvPr/>
          </p:nvSpPr>
          <p:spPr>
            <a:xfrm flipH="false" flipV="false" rot="0">
              <a:off x="0" y="0"/>
              <a:ext cx="2918292" cy="3282950"/>
            </a:xfrm>
            <a:custGeom>
              <a:avLst/>
              <a:gdLst/>
              <a:ahLst/>
              <a:cxnLst/>
              <a:rect r="r" b="b" t="t" l="l"/>
              <a:pathLst>
                <a:path h="3282950" w="2918292">
                  <a:moveTo>
                    <a:pt x="0" y="0"/>
                  </a:moveTo>
                  <a:lnTo>
                    <a:pt x="2251093" y="0"/>
                  </a:lnTo>
                  <a:cubicBezTo>
                    <a:pt x="2619125" y="0"/>
                    <a:pt x="2918292" y="336550"/>
                    <a:pt x="2918292" y="750570"/>
                  </a:cubicBezTo>
                  <a:lnTo>
                    <a:pt x="2918292" y="3282950"/>
                  </a:lnTo>
                  <a:lnTo>
                    <a:pt x="0" y="3282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6669" r="0" b="-16669"/>
              </a:stretch>
            </a:blipFill>
          </p:spPr>
          <p:txBody>
            <a:bodyPr/>
            <a:p/>
          </p:txBody>
        </p:sp>
      </p:grpSp>
      <p:sp>
        <p:nvSpPr>
          <p:cNvPr name="Freeform 4" id="2781"/>
          <p:cNvSpPr/>
          <p:nvPr/>
        </p:nvSpPr>
        <p:spPr>
          <a:xfrm flipH="false" flipV="false" rot="-1161225">
            <a:off x="16229390" y="8693137"/>
            <a:ext cx="1216650" cy="667637"/>
          </a:xfrm>
          <a:custGeom>
            <a:avLst/>
            <a:gdLst/>
            <a:ahLst/>
            <a:cxnLst/>
            <a:rect r="r" b="b" t="t" l="l"/>
            <a:pathLst>
              <a:path h="667637" w="1216650">
                <a:moveTo>
                  <a:pt x="0" y="0"/>
                </a:moveTo>
                <a:lnTo>
                  <a:pt x="1216650" y="0"/>
                </a:lnTo>
                <a:lnTo>
                  <a:pt x="1216650" y="667637"/>
                </a:lnTo>
                <a:lnTo>
                  <a:pt x="0" y="66763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2782"/>
          <p:cNvSpPr/>
          <p:nvPr/>
        </p:nvSpPr>
        <p:spPr>
          <a:xfrm flipH="false" flipV="false" rot="2700000">
            <a:off x="7912917" y="2469423"/>
            <a:ext cx="1002870" cy="799789"/>
          </a:xfrm>
          <a:custGeom>
            <a:avLst/>
            <a:gdLst/>
            <a:ahLst/>
            <a:cxnLst/>
            <a:rect r="r" b="b" t="t" l="l"/>
            <a:pathLst>
              <a:path h="799789" w="1002870">
                <a:moveTo>
                  <a:pt x="0" y="0"/>
                </a:moveTo>
                <a:lnTo>
                  <a:pt x="1002870" y="0"/>
                </a:lnTo>
                <a:lnTo>
                  <a:pt x="1002870" y="799789"/>
                </a:lnTo>
                <a:lnTo>
                  <a:pt x="0" y="79978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2783"/>
          <p:cNvSpPr txBox="true"/>
          <p:nvPr/>
        </p:nvSpPr>
        <p:spPr>
          <a:xfrm rot="0">
            <a:off x="8401165" y="4078153"/>
            <a:ext cx="9013745" cy="1719361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l">
              <a:lnSpc>
                <a:spcPts val="12573"/>
              </a:lnSpc>
            </a:pPr>
            <a:r>
              <a:rPr lang="en-US" sz="3600" spc="-792" b="1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References</a:t>
            </a:r>
          </a:p>
        </p:txBody>
      </p:sp>
      <p:sp>
        <p:nvSpPr>
          <p:cNvPr id="2784" name="TextBox 2783"/>
          <p:cNvSpPr txBox="1"/>
          <p:nvPr/>
        </p:nvSpPr>
        <p:spPr>
          <a:xfrm>
            <a:off x="640080" y="2103120"/>
            <a:ext cx="108813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500" b="0">
                <a:solidFill>
                  <a:srgbClr val="22303C"/>
                </a:solidFill>
                <a:latin typeface="Roca Two"/>
              </a:rPr>
              <a:t>[R1] Louhichi, M. &amp; Lazaar, M. Shapley Values for Explaining the Black Box Nature of ML Model Clustering. Procedia Computer Science 220, 806–811 (2023).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500" b="0">
                <a:solidFill>
                  <a:srgbClr val="22303C"/>
                </a:solidFill>
                <a:latin typeface="Roca Two"/>
              </a:rPr>
              <a:t>[R2] Louhichi, M. &amp; Lazaar, M. Game Theory Meets Explainable AI. IJACSA 16(7), 716–725 (2025).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500" b="0">
                <a:solidFill>
                  <a:srgbClr val="22303C"/>
                </a:solidFill>
                <a:latin typeface="Roca Two"/>
              </a:rPr>
              <a:t>[R3] Louhichi, M. &amp; Lazaar, M. DyHuCoG. IJIES 19(2), 887–902 (2026).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500" b="0">
                <a:solidFill>
                  <a:srgbClr val="22303C"/>
                </a:solidFill>
                <a:latin typeface="Roca Two"/>
              </a:rPr>
              <a:t>[R4] Lundberg, S.M. &amp; Lee, S.-I. A Unified Approach to Interpreting Model Predictions (SHAP). NeurIPS 30 (2017).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500" b="0">
                <a:solidFill>
                  <a:srgbClr val="22303C"/>
                </a:solidFill>
                <a:latin typeface="Roca Two"/>
              </a:rPr>
              <a:t>[R5] Shapley, L.S. A Value for n-Person Games. Contributions to the Theory of Games II (1953).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500" b="0">
                <a:solidFill>
                  <a:srgbClr val="22303C"/>
                </a:solidFill>
                <a:latin typeface="Roca Two"/>
              </a:rPr>
              <a:t>[R6] Wang, X. et al. Hypergraph Learning: Methods and Practices. IEEE TPAMI 44(5) (2022).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4F81BD"/>
                </a:solidFill>
                <a:latin typeface="Roca Two"/>
              </a:rPr>
              <a:t>•  </a:t>
            </a:r>
            <a:r>
              <a:rPr sz="1500" b="0">
                <a:solidFill>
                  <a:srgbClr val="22303C"/>
                </a:solidFill>
                <a:latin typeface="Roca Two"/>
              </a:rPr>
              <a:t>[R7] European Commission. Proposal for a Regulation on Artificial Intelligence (EU AI Act). COM(2021) 206 final (2021).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788"/>
          <p:cNvSpPr/>
          <p:nvPr/>
        </p:nvSpPr>
        <p:spPr>
          <a:xfrm flipH="false" flipV="false" rot="0">
            <a:off x="9144000" y="0"/>
            <a:ext cx="10287000" cy="10287000"/>
          </a:xfrm>
          <a:custGeom>
            <a:avLst/>
            <a:gdLst/>
            <a:ahLst/>
            <a:cxnLst/>
            <a:rect r="r" b="b" t="t" l="l"/>
            <a:pathLst>
              <a:path h="10287000" w="10287000">
                <a:moveTo>
                  <a:pt x="0" y="0"/>
                </a:moveTo>
                <a:lnTo>
                  <a:pt x="10287000" y="0"/>
                </a:lnTo>
                <a:lnTo>
                  <a:pt x="10287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2789"/>
          <p:cNvSpPr/>
          <p:nvPr/>
        </p:nvSpPr>
        <p:spPr>
          <a:xfrm flipH="false" flipV="false" rot="0">
            <a:off x="-1143000" y="0"/>
            <a:ext cx="10287000" cy="10287000"/>
          </a:xfrm>
          <a:custGeom>
            <a:avLst/>
            <a:gdLst/>
            <a:ahLst/>
            <a:cxnLst/>
            <a:rect r="r" b="b" t="t" l="l"/>
            <a:pathLst>
              <a:path h="10287000" w="10287000">
                <a:moveTo>
                  <a:pt x="0" y="0"/>
                </a:moveTo>
                <a:lnTo>
                  <a:pt x="10287000" y="0"/>
                </a:lnTo>
                <a:lnTo>
                  <a:pt x="10287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1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" id="2790"/>
          <p:cNvSpPr txBox="true"/>
          <p:nvPr/>
        </p:nvSpPr>
        <p:spPr>
          <a:xfrm rot="0">
            <a:off x="3301798" y="2960113"/>
            <a:ext cx="11684404" cy="4365192"/>
          </a:xfrm>
          <a:prstGeom prst="rect">
            <a:avLst/>
          </a:prstGeom>
        </p:spPr>
        <p:txBody>
          <a:bodyPr anchor="t" rtlCol="false" tIns="0" lIns="0" bIns="0" rIns="0" wrap="square">
            <a:spAutoFit/>
          </a:bodyPr>
          <a:lstStyle/>
          <a:p>
            <a:pPr algn="ctr">
              <a:lnSpc>
                <a:spcPts val="16581"/>
              </a:lnSpc>
            </a:pPr>
            <a:r>
              <a:rPr lang="en-US" b="1" sz="3600" spc="-1045">
                <a:solidFill>
                  <a:srgbClr val="111111"/>
                </a:solidFill>
                <a:latin typeface="Roca Two Bold"/>
                <a:ea typeface="Roca Two Bold"/>
                <a:cs typeface="Roca Two Bold"/>
                <a:sym typeface="Roca Two Bold"/>
              </a:rPr>
              <a:t>Thank You</a:t>
            </a:r>
          </a:p>
        </p:txBody>
      </p:sp>
      <p:grpSp>
        <p:nvGrpSpPr>
          <p:cNvPr name="Group 5" id="2791"/>
          <p:cNvGrpSpPr/>
          <p:nvPr/>
        </p:nvGrpSpPr>
        <p:grpSpPr>
          <a:xfrm rot="0">
            <a:off x="16758726" y="6188943"/>
            <a:ext cx="1001149" cy="1001149"/>
            <a:chOff x="0" y="0"/>
            <a:chExt cx="812800" cy="812800"/>
          </a:xfrm>
        </p:grpSpPr>
        <p:sp>
          <p:nvSpPr>
            <p:cNvPr name="Freeform 6" id="279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124944"/>
            </a:solidFill>
          </p:spPr>
          <p:txBody>
            <a:bodyPr/>
            <a:p/>
          </p:txBody>
        </p:sp>
        <p:sp>
          <p:nvSpPr>
            <p:cNvPr name="TextBox 7" id="2793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8" id="2794"/>
          <p:cNvSpPr/>
          <p:nvPr/>
        </p:nvSpPr>
        <p:spPr>
          <a:xfrm flipH="true" flipV="false" rot="0">
            <a:off x="17064667" y="6494884"/>
            <a:ext cx="389267" cy="389267"/>
          </a:xfrm>
          <a:custGeom>
            <a:avLst/>
            <a:gdLst/>
            <a:ahLst/>
            <a:cxnLst/>
            <a:rect r="r" b="b" t="t" l="l"/>
            <a:pathLst>
              <a:path h="389267" w="389267">
                <a:moveTo>
                  <a:pt x="389266" y="0"/>
                </a:moveTo>
                <a:lnTo>
                  <a:pt x="0" y="0"/>
                </a:lnTo>
                <a:lnTo>
                  <a:pt x="0" y="389267"/>
                </a:lnTo>
                <a:lnTo>
                  <a:pt x="389266" y="389267"/>
                </a:lnTo>
                <a:lnTo>
                  <a:pt x="389266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9" id="2795"/>
          <p:cNvSpPr/>
          <p:nvPr/>
        </p:nvSpPr>
        <p:spPr>
          <a:xfrm flipH="false" flipV="false" rot="-4928122">
            <a:off x="3021989" y="5341060"/>
            <a:ext cx="671786" cy="906288"/>
          </a:xfrm>
          <a:custGeom>
            <a:avLst/>
            <a:gdLst/>
            <a:ahLst/>
            <a:cxnLst/>
            <a:rect r="r" b="b" t="t" l="l"/>
            <a:pathLst>
              <a:path h="906288" w="671786">
                <a:moveTo>
                  <a:pt x="0" y="0"/>
                </a:moveTo>
                <a:lnTo>
                  <a:pt x="671786" y="0"/>
                </a:lnTo>
                <a:lnTo>
                  <a:pt x="671786" y="906288"/>
                </a:lnTo>
                <a:lnTo>
                  <a:pt x="0" y="9062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0" id="2796"/>
          <p:cNvSpPr/>
          <p:nvPr/>
        </p:nvSpPr>
        <p:spPr>
          <a:xfrm flipH="false" flipV="false" rot="0">
            <a:off x="14872635" y="2474338"/>
            <a:ext cx="1021269" cy="928078"/>
          </a:xfrm>
          <a:custGeom>
            <a:avLst/>
            <a:gdLst/>
            <a:ahLst/>
            <a:cxnLst/>
            <a:rect r="r" b="b" t="t" l="l"/>
            <a:pathLst>
              <a:path h="928078" w="1021269">
                <a:moveTo>
                  <a:pt x="0" y="0"/>
                </a:moveTo>
                <a:lnTo>
                  <a:pt x="1021269" y="0"/>
                </a:lnTo>
                <a:lnTo>
                  <a:pt x="1021269" y="928078"/>
                </a:lnTo>
                <a:lnTo>
                  <a:pt x="0" y="92807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1" id="2797"/>
          <p:cNvSpPr txBox="true"/>
          <p:nvPr/>
        </p:nvSpPr>
        <p:spPr>
          <a:xfrm rot="0">
            <a:off x="1028700" y="990600"/>
            <a:ext cx="2566690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t>ENSIAS, Mohammed V University, Rabat</a:t>
            </a:r>
          </a:p>
        </p:txBody>
      </p:sp>
      <p:sp>
        <p:nvSpPr>
          <p:cNvPr name="TextBox 12" id="2798"/>
          <p:cNvSpPr txBox="true"/>
          <p:nvPr/>
        </p:nvSpPr>
        <p:spPr>
          <a:xfrm rot="0">
            <a:off x="13227260" y="990600"/>
            <a:ext cx="4032040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t>Mouad LOUHICHI</a:t>
            </a:r>
          </a:p>
        </p:txBody>
      </p:sp>
      <p:sp>
        <p:nvSpPr>
          <p:cNvPr name="TextBox 14" id="2800"/>
          <p:cNvSpPr txBox="true"/>
          <p:nvPr/>
        </p:nvSpPr>
        <p:spPr>
          <a:xfrm rot="0">
            <a:off x="13590621" y="8878570"/>
            <a:ext cx="3668679" cy="3797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t>mouad.louhichi@um5.ac.ma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DAHULJvrdH8</dc:identifier>
  <dcterms:modified xsi:type="dcterms:W3CDTF">2011-08-01T06:04:30Z</dcterms:modified>
  <cp:revision>1</cp:revision>
  <dc:title>Beige Green Modern Illustrative Playful Thesis Defense Presentation</dc:title>
</cp:coreProperties>
</file>