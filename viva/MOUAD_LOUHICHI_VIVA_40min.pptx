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71" r:id="rId25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  <p:sldId id="294" r:id="rId49"/>
    <p:sldId id="295" r:id="rId50"/>
    <p:sldId id="296" r:id="rId51"/>
    <p:sldId id="297" r:id="rId52"/>
    <p:sldId id="298" r:id="rId53"/>
    <p:sldId id="299" r:id="rId54"/>
    <p:sldId id="300" r:id="rId55"/>
    <p:sldId id="301" r:id="rId56"/>
    <p:sldId id="302" r:id="rId57"/>
    <p:sldId id="303" r:id="rId58"/>
    <p:sldId id="304" r:id="rId59"/>
    <p:sldId id="305" r:id="rId60"/>
    <p:sldId id="306" r:id="rId61"/>
    <p:sldId id="307" r:id="rId62"/>
    <p:sldId id="308" r:id="rId63"/>
    <p:sldId id="309" r:id="rId64"/>
    <p:sldId id="310" r:id="rId65"/>
    <p:sldId id="311" r:id="rId66"/>
    <p:sldId id="312" r:id="rId67"/>
    <p:sldId id="313" r:id="rId68"/>
    <p:sldId id="314" r:id="rId69"/>
    <p:sldId id="315" r:id="rId70"/>
    <p:sldId id="316" r:id="rId71"/>
    <p:sldId id="317" r:id="rId72"/>
    <p:sldId id="318" r:id="rId73"/>
    <p:sldId id="319" r:id="rId74"/>
    <p:sldId id="320" r:id="rId75"/>
    <p:sldId id="321" r:id="rId76"/>
    <p:sldId id="322" r:id="rId77"/>
    <p:sldId id="323" r:id="rId78"/>
    <p:sldId id="324" r:id="rId79"/>
    <p:sldId id="325" r:id="rId80"/>
    <p:sldId id="326" r:id="rId81"/>
    <p:sldId id="327" r:id="rId82"/>
    <p:sldId id="328" r:id="rId83"/>
    <p:sldId id="329" r:id="rId84"/>
    <p:sldId id="330" r:id="rId85"/>
    <p:sldId id="331" r:id="rId86"/>
    <p:sldId id="332" r:id="rId87"/>
    <p:sldId id="333" r:id="rId88"/>
    <p:sldId id="334" r:id="rId89"/>
    <p:sldId id="335" r:id="rId90"/>
    <p:sldId id="336" r:id="rId91"/>
    <p:sldId id="337" r:id="rId92"/>
    <p:sldId id="338" r:id="rId93"/>
    <p:sldId id="339" r:id="rId94"/>
    <p:sldId id="340" r:id="rId95"/>
    <p:sldId id="341" r:id="rId96"/>
    <p:sldId id="342" r:id="rId97"/>
    <p:sldId id="343" r:id="rId98"/>
    <p:sldId id="344" r:id="rId99"/>
    <p:sldId id="345" r:id="rId100"/>
  </p:sldIdLst>
  <p:sldSz cx="18288000" cy="10287000"/>
  <p:notesSz cx="6858000" cy="9144000"/>
  <p:embeddedFontLst>
    <p:embeddedFont>
      <p:font typeface="Roca Two Bold" charset="1" panose="00000800000000000000"/>
      <p:regular r:id="rId21"/>
    </p:embeddedFont>
    <p:embeddedFont>
      <p:font typeface="Nunito Semi-Bold" charset="1" panose="00000000000000000000"/>
      <p:regular r:id="rId22"/>
    </p:embeddedFont>
    <p:embeddedFont>
      <p:font typeface="Nunito Bold" charset="1" panose="00000000000000000000"/>
      <p:regular r:id="rId23"/>
    </p:embeddedFont>
    <p:embeddedFont>
      <p:font typeface="Nunito Ultra-Bold" charset="1" panose="0000000000000000000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font" Target="fonts/font24.fntdata"/><Relationship Id="rId25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95" Type="http://schemas.openxmlformats.org/officeDocument/2006/relationships/slide" Target="slides/slide85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Relationship Id="rId99" Type="http://schemas.openxmlformats.org/officeDocument/2006/relationships/slide" Target="slides/slide89.xml"/><Relationship Id="rId100" Type="http://schemas.openxmlformats.org/officeDocument/2006/relationships/slide" Target="slides/slide9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Thank you for the time to present and discuss my thesis. My thesis is titled Cooperative Game Theory for Explainable AI in Recommendation Systems: A Shapley Framework for Actionable Insight, supervised by Professor Mohamed Lazaar. It advances one idea: that Shapley-value attribution is not just a post-hoc explanation, but a single formal mechanism that explains black-box clustering, stays coherent under hierarchical scale, and finally acts as an in-training signal inside a recommender.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one-paragraph version: accurate but opaque recommenders meet trustworthy-AI requirements; Shapley values provide one principled attribution language for both explaining clustering and learning recommendations.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will walk through five parts: introduction, context and problematic, the shared experimental protocol, the three contributions, and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us begin with the introduction: why explainability is a first-class requirement for recommender systems, and what I mean by an actionable insight.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questions frame the work: ubiquity, the black box, and trust. The core tension is that expressive power trades away transparency.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frame the whole thesis around actionable insight: an explanation that identifies a modifiable, semantically meaningful driver supports intervention, not just description.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context is the progression from simple to hypergraph recommenders; each step raised expressiveness while lowering transparency, which regulation now penalises.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 is infrastructure for everyday decisions; its ubiquity plus opacity is what makes explainability a first-class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problem this thesis addresses: the paradigm landscape, the structuring limitations, the research questions, and how the three contributions map to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orientation: collaborative, content-based, hybrid, matrix factorisation, and graph/hypergraph methods — each strengthens modelling but complicates interpretation in a specific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classical limitations; the most fundamental — and the one this thesis targets — is the absence of interpretability.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structuring problems; the thesis gap is a single cooperative-attribution framework spanning explanation, hierarchy and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overall aim is a cooperative-game-theoretic perspective for XAI in clustering and recommendation; five research questions form the spine.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contributions, one thread: C1 establishes Shapley explanation for clustering; C2 scales it to hierarchy; C3 turns it into an in-training signal. The thesis claim is that cooperative game theory is a shared attribution perspective.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the contributions, the shared experimental setup: datasets, splitting, baselines, metrics,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clustering datasets and two recommendation datasets, each chosen so attribution lands in a vocabulary a domain expert can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dataset was chosen so attribution lands in a vocabulary a domain expert can act on; the density contrast isolates whether cooperative attribution helps most when interaction data are scarce.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Splitting is designed against leakage; recommendation uses a user-level temporal holdout with leave-one-out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Baselines span classical, neural, graph and hypergraph methods; metrics cover ranking, beyond-accuracy and clustering validity. ILD is built into the DyHuCoG coalition utility.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hardware explains some runtime figures; everything stays within ordinary academic compute.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I explains black-box clustering with Shapley values. It answers RQ1 in four steps: objectives, methodology, results,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start with clustering? It is the hardest test bed for attribution because the model creates its own structure. Objectives: cluster-level + feature-level explanation, in the original semantics, justified vs LIME.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RQ1 and its three objectives: pipeline, semantics, and a justificatory argument for Shapley over LIME.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Features are players; the value of a coalition is the Silhouette of K-Means on that feature subset. A feature's Shapley value is its expected marginal contribution, but evaluating every subset is intractable.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bridge: a LightGBM surrogate predicts cluster labels from original features, then TreeSHAP attributes in the original semantic space. Fidelity (macro-F1 ~0.82) is the validity condition.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stages; PCA is only a visual/computational diagnostic, not the explanatory space. TreeSHAP scales with tree count, not exponentially in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select k=3 deliberately though it is not geometrically optimal, because three clusters support three distinct chemically meaningful narratives — far more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global ranking is dominated by density, pH, fixed acidity, sulfur dioxide and alcohol — precisely the variables an oenologist would point to. This is the strongest evidence the pipeline is faithful.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cluster exhibits a distinct signature; the same drivers re-weigh differently. This is the actionable insight: a cluster is a distinct, domain-meaningful combination of drivers.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SHAP grounds attribution in a cooperative-game allocation rule satisfying efficiency, symmetry, null-player and additivity; LIME has no equivalent guarantee and is sensitive to perturbation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RQ1 is answered yes; each objective is met. Efficiency holds with respect to the LightGBM output, which is why surrogate fidelity is the critical validity condition.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C1 answers RQ1: Shapley explains the black-box partition at cluster and instance level, in the original chemical variables, grounded in axioms.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C1 is single-level and surrogate-dependent; these limits define the departure to Contribution 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Shapley attribution works as a single principled lens; but real data are hierarchical, motivating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II scales the explanation logic to multi-level, large-scale clustering. It answers RQ2; the central concern is multi-granularity, not merely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asks whether the C1 logic survives scale and hierarchy. It adds a multi-level workflow, a formal cross-level consistency argument, and validation on Beijing air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RQ2 and its three objectives: multi-level workflow, Proposition 6.1, and a generality check on Beijing.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Recursive coarse-to-fine clustering; per-level surrogate + SHAP; cross-level aggregation respects size and nesting. Proposition 6.1 makes differences interpretable, not inconsistent.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Proposition 6.1: parent expected absolute importance equals the size-weighted sum of children's, plus a residual from surrogate mismatch. It makes hierarchical explanation self-consistent and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Beijing the partition converges strongly: Silhouette ~0.63, Davies-Bouldin ~0.55. This is where the 0.63 figure belongs — not the wine partition.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dominant features are temperature, dew point and pressure, then pollutants — meteorology sets the regime. Attribution in the original variable space reveals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Force plots reveal three regimes; the interpretation is which variable combinations define each — actionable for an air-quality analyst.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the coarse level temperature/dew point dominate; within clusters the discriminative variables shift. Proposition 6.1 lets us interpret these shifts as meaningful structure,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logic works on both a small correlated dataset and a large noisy one; vs the SHAP-clustering literature, Beijing's Silhouette ~0.63 beats credit-risk ~0.37.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RQ2 answered yes with bounds; O1/O2/O3 met. The honest bound: the model is still an explanation of a pre-computed partition, not yet influencing learning — the bridge to C3.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answers RQ2: scalable, coherent, multi-granular explanation, formalised by Proposition 6.1.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is still static and post-hoc; that motivates Contribution III.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shows Shapley attribution stays coherent across granularity, but remains post-hoc — motivating C3.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III introduces DyHuCoG, a Dynamic Hypergraph Cooperative Game, where Shapley attribution becomes an in-training signal. It answers RQ3 and RQ4.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C3 is the flagship: formulate recommendation as a cooperative game, embed Shapley into message passing, and improve ranking, coverage and diversity jointly.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C3 answers RQ3 and RQ4: cooperative attribution becomes an in-training signal; ranking, coverage and diversity improve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Users, items and contexts are players; the hypergraph's dynamic edge weights come from Shapley estimates; the coalition value measures recommendation quality. The parallelism with clustering is deliberate.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coalition utility combines ranking, diversity and context; this is the same trade-off the recommender optimises and from which attribution is computed, so explanation and objective are aligned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 Shapley is infeasible; the Monte Carlo estimator is unbiased with variance decaying as 1/M. M=50 gives ~99% accuracy, refreshed every 10 batches.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decisive move: Shapley-weighted message passing, normalised and smoothed, plus an attention gate and a context-aware score. Attribution directly governs how information propagates.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loss combines BPR ranking, intra-list diversity and context alignment. The objective and the coalition value are aligned, so the explanation is a direct read-out of what the model optimises.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DyHuCoG improves NDCG, recall, coverage and diversity together vs the strongest baseline HPCF. The sparser the data, the larger the gain — Shapley-driven weighting helps most when signal is weak.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DyHuCoG improves ranking accuracy, coverage and diversity simultaneously — it does not sacrifice one for the others. The largest gains appear on the sparser Amazon-Book.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diversity metrics improve while NDCG/recall also improve — so we are not trading accuracy for diversity. The model surfaces more of the catalogue and recommends less redundant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component contributes. Removing Shapley drops NDCG by 4.6% (ML-1M) / 6.1% (Amazon); context removal causes the largest single loss. Shapley weighting is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attribution cost is proportionate: ~1.78× training time, milliseconds per query at inference. M=50 is the right operating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Improvements are statistically significant (p ~10^-270) with large effect sizes, so they are not a large-sample artefact. Tabulated paired tests apply to MovieLens-1M; Amazon remains descriptive.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DyHuCoG also improves cold-start and produces a SHAP waterfall that decomposes a recommendation into the same components used during training — structurally faithful, not an external approximation.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RQ3 and RQ4 answered yes: attribution becomes an in-training signal; accuracy, coverage and diversity improve together. The strongest claim is that the explanation is structurally faithful.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C3 answers RQ3 and RQ4, making the strongest claim of the thesis: attribution is an in-training signal and the accuracy–diversity trade-off is 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Limitations are honest: computational overhead, dependence on context, and component-wise ablation.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takeaway is the conceptual shift: attribution is part of the modelling logic itself, which makes it structurally faithful and aligned with trustworthy-AI regulation.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bring everything together: a synthesis of the three contributions, the published papers, the honest limitations, the future directions, and a clear statement of the thesis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contributions, one thread: C1 makes hidden structure intelligible; C2 keeps explanation coherent under scale and hierarchy; C3 carries the same logic inside the learning dynamics. A shared attribution perspective.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thesis synthesises three peer-reviewed publications, mapped to the chapters. What it adds is the multi-level formalisation, cross-chapter comparisons, and the explicit mapping to the five research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limitations: computational approximation, surrogate/context dependence, tabular+benchmark scope, and a coherent perspective rather than one framework eliminating all 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Future work turns limitations into an agenda: scalable attribution, online recommendation, human-centred evaluation, and broader trustworthy-AI/fairness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thesis answer: cooperative game theory is a shared methodological perspective for actionable explanation; explanation moves from commentary to method, aligned with trustworthy-AI regulation.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References underpinning the thesis: my three peer-reviewed papers, the SHAP and Shapley foundations, the hypergraph-learning literature, and the regulation that motivates actionable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very much for your attention. I am now happy to take your questions and comments.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1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1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2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2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3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5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001"/>
          <p:cNvSpPr txBox="true"/>
          <p:nvPr/>
        </p:nvSpPr>
        <p:spPr>
          <a:xfrm rot="0">
            <a:off x="1028700" y="5810954"/>
            <a:ext cx="16230600" cy="436519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6581"/>
              </a:lnSpc>
            </a:pPr>
            <a:r>
              <a:rPr lang="en-US" sz="2800" spc="-1045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Cooperative Game Theory for Explainable AI in Recommendation Systems:
A Shapley Framework for Actionable Insight</a:t>
            </a:r>
          </a:p>
        </p:txBody>
      </p:sp>
      <p:grpSp>
        <p:nvGrpSpPr>
          <p:cNvPr name="Group 3" id="1002"/>
          <p:cNvGrpSpPr/>
          <p:nvPr/>
        </p:nvGrpSpPr>
        <p:grpSpPr>
          <a:xfrm rot="0">
            <a:off x="16258151" y="8257151"/>
            <a:ext cx="1001149" cy="1001149"/>
            <a:chOff x="0" y="0"/>
            <a:chExt cx="812800" cy="812800"/>
          </a:xfrm>
        </p:grpSpPr>
        <p:sp>
          <p:nvSpPr>
            <p:cNvPr name="Freeform 4" id="100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CC665"/>
            </a:solidFill>
          </p:spPr>
          <p:txBody>
            <a:bodyPr/>
            <a:p/>
          </p:txBody>
        </p:sp>
        <p:sp>
          <p:nvSpPr>
            <p:cNvPr name="TextBox 5" id="100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1005"/>
          <p:cNvSpPr/>
          <p:nvPr/>
        </p:nvSpPr>
        <p:spPr>
          <a:xfrm flipH="true" flipV="false" rot="0">
            <a:off x="16564092" y="8563092"/>
            <a:ext cx="389267" cy="389267"/>
          </a:xfrm>
          <a:custGeom>
            <a:avLst/>
            <a:gdLst/>
            <a:ahLst/>
            <a:cxnLst/>
            <a:rect r="r" b="b" t="t" l="l"/>
            <a:pathLst>
              <a:path h="389267" w="389267">
                <a:moveTo>
                  <a:pt x="389267" y="0"/>
                </a:moveTo>
                <a:lnTo>
                  <a:pt x="0" y="0"/>
                </a:lnTo>
                <a:lnTo>
                  <a:pt x="0" y="389267"/>
                </a:lnTo>
                <a:lnTo>
                  <a:pt x="389267" y="389267"/>
                </a:lnTo>
                <a:lnTo>
                  <a:pt x="38926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7" id="1006"/>
          <p:cNvGrpSpPr/>
          <p:nvPr/>
        </p:nvGrpSpPr>
        <p:grpSpPr>
          <a:xfrm rot="0">
            <a:off x="1028700" y="2913924"/>
            <a:ext cx="3532312" cy="1506220"/>
            <a:chOff x="0" y="0"/>
            <a:chExt cx="7198814" cy="3069660"/>
          </a:xfrm>
        </p:grpSpPr>
        <p:sp>
          <p:nvSpPr>
            <p:cNvPr name="Freeform 8" id="1007"/>
            <p:cNvSpPr/>
            <p:nvPr/>
          </p:nvSpPr>
          <p:spPr>
            <a:xfrm flipH="false" flipV="false" rot="0">
              <a:off x="0" y="0"/>
              <a:ext cx="7198815" cy="3069660"/>
            </a:xfrm>
            <a:custGeom>
              <a:avLst/>
              <a:gdLst/>
              <a:ahLst/>
              <a:cxnLst/>
              <a:rect r="r" b="b" t="t" l="l"/>
              <a:pathLst>
                <a:path h="3069660" w="7198815">
                  <a:moveTo>
                    <a:pt x="0" y="1534830"/>
                  </a:moveTo>
                  <a:cubicBezTo>
                    <a:pt x="0" y="687604"/>
                    <a:pt x="645014" y="0"/>
                    <a:pt x="1439763" y="0"/>
                  </a:cubicBezTo>
                  <a:lnTo>
                    <a:pt x="5759052" y="0"/>
                  </a:lnTo>
                  <a:cubicBezTo>
                    <a:pt x="6553801" y="0"/>
                    <a:pt x="7198815" y="687604"/>
                    <a:pt x="7198815" y="1534830"/>
                  </a:cubicBezTo>
                  <a:cubicBezTo>
                    <a:pt x="7198815" y="2382056"/>
                    <a:pt x="6553801" y="3069660"/>
                    <a:pt x="5759052" y="3069660"/>
                  </a:cubicBezTo>
                  <a:lnTo>
                    <a:pt x="1439763" y="3069660"/>
                  </a:lnTo>
                  <a:cubicBezTo>
                    <a:pt x="645014" y="3069660"/>
                    <a:pt x="0" y="2382056"/>
                    <a:pt x="0" y="1534830"/>
                  </a:cubicBezTo>
                  <a:close/>
                </a:path>
              </a:pathLst>
            </a:custGeom>
            <a:blipFill>
              <a:blip r:embed="rId4"/>
              <a:stretch>
                <a:fillRect l="-29171" t="-40389" r="0" b="-61561"/>
              </a:stretch>
            </a:blipFill>
          </p:spPr>
          <p:txBody>
            <a:bodyPr/>
            <a:p/>
          </p:txBody>
        </p:sp>
      </p:grpSp>
      <p:sp>
        <p:nvSpPr>
          <p:cNvPr name="TextBox 9" id="1008"/>
          <p:cNvSpPr txBox="true"/>
          <p:nvPr/>
        </p:nvSpPr>
        <p:spPr>
          <a:xfrm rot="0">
            <a:off x="10923149" y="2875824"/>
            <a:ext cx="6336151" cy="154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Supervisor: Pr. Mohamed LAZAAR</a:t>
            </a:r>
          </a:p>
        </p:txBody>
      </p:sp>
      <p:sp>
        <p:nvSpPr>
          <p:cNvPr name="TextBox 10" id="1009"/>
          <p:cNvSpPr txBox="true"/>
          <p:nvPr/>
        </p:nvSpPr>
        <p:spPr>
          <a:xfrm rot="0">
            <a:off x="1028700" y="990600"/>
            <a:ext cx="256669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ENSIAS, Mohammed V University, Rabat</a:t>
            </a:r>
          </a:p>
        </p:txBody>
      </p:sp>
      <p:sp>
        <p:nvSpPr>
          <p:cNvPr name="TextBox 11" id="1010"/>
          <p:cNvSpPr txBox="true"/>
          <p:nvPr/>
        </p:nvSpPr>
        <p:spPr>
          <a:xfrm rot="0">
            <a:off x="13227260" y="990600"/>
            <a:ext cx="403204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PhD Viva — Presented by Mouad LOUHICHI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011"/>
          <p:cNvGrpSpPr/>
          <p:nvPr/>
        </p:nvGrpSpPr>
        <p:grpSpPr>
          <a:xfrm rot="0">
            <a:off x="1028700" y="5844840"/>
            <a:ext cx="16230600" cy="5449194"/>
            <a:chOff x="0" y="0"/>
            <a:chExt cx="2514545" cy="844223"/>
          </a:xfrm>
        </p:grpSpPr>
        <p:sp>
          <p:nvSpPr>
            <p:cNvPr name="Freeform 3" id="1012"/>
            <p:cNvSpPr/>
            <p:nvPr/>
          </p:nvSpPr>
          <p:spPr>
            <a:xfrm flipH="false" flipV="false" rot="0">
              <a:off x="0" y="0"/>
              <a:ext cx="2514545" cy="844223"/>
            </a:xfrm>
            <a:custGeom>
              <a:avLst/>
              <a:gdLst/>
              <a:ahLst/>
              <a:cxnLst/>
              <a:rect r="r" b="b" t="t" l="l"/>
              <a:pathLst>
                <a:path h="844223" w="2514545">
                  <a:moveTo>
                    <a:pt x="31482" y="0"/>
                  </a:moveTo>
                  <a:lnTo>
                    <a:pt x="2483063" y="0"/>
                  </a:lnTo>
                  <a:cubicBezTo>
                    <a:pt x="2491412" y="0"/>
                    <a:pt x="2499420" y="3317"/>
                    <a:pt x="2505324" y="9221"/>
                  </a:cubicBezTo>
                  <a:cubicBezTo>
                    <a:pt x="2511228" y="15125"/>
                    <a:pt x="2514545" y="23132"/>
                    <a:pt x="2514545" y="31482"/>
                  </a:cubicBezTo>
                  <a:lnTo>
                    <a:pt x="2514545" y="812741"/>
                  </a:lnTo>
                  <a:cubicBezTo>
                    <a:pt x="2514545" y="821090"/>
                    <a:pt x="2511228" y="829098"/>
                    <a:pt x="2505324" y="835002"/>
                  </a:cubicBezTo>
                  <a:cubicBezTo>
                    <a:pt x="2499420" y="840906"/>
                    <a:pt x="2491412" y="844223"/>
                    <a:pt x="2483063" y="844223"/>
                  </a:cubicBezTo>
                  <a:lnTo>
                    <a:pt x="31482" y="844223"/>
                  </a:lnTo>
                  <a:cubicBezTo>
                    <a:pt x="14095" y="844223"/>
                    <a:pt x="0" y="830128"/>
                    <a:pt x="0" y="812741"/>
                  </a:cubicBezTo>
                  <a:lnTo>
                    <a:pt x="0" y="31482"/>
                  </a:lnTo>
                  <a:cubicBezTo>
                    <a:pt x="0" y="14095"/>
                    <a:pt x="14095" y="0"/>
                    <a:pt x="31482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44159" r="0" b="-54409"/>
              </a:stretch>
            </a:blipFill>
          </p:spPr>
          <p:txBody>
            <a:bodyPr/>
            <a:p/>
          </p:txBody>
        </p:sp>
      </p:grpSp>
      <p:sp>
        <p:nvSpPr>
          <p:cNvPr name="Freeform 4" id="1013"/>
          <p:cNvSpPr/>
          <p:nvPr/>
        </p:nvSpPr>
        <p:spPr>
          <a:xfrm flipH="false" flipV="false" rot="0">
            <a:off x="6327864" y="4710867"/>
            <a:ext cx="590731" cy="536827"/>
          </a:xfrm>
          <a:custGeom>
            <a:avLst/>
            <a:gdLst/>
            <a:ahLst/>
            <a:cxnLst/>
            <a:rect r="r" b="b" t="t" l="l"/>
            <a:pathLst>
              <a:path h="536827" w="590731">
                <a:moveTo>
                  <a:pt x="0" y="0"/>
                </a:moveTo>
                <a:lnTo>
                  <a:pt x="590732" y="0"/>
                </a:lnTo>
                <a:lnTo>
                  <a:pt x="590732" y="536827"/>
                </a:lnTo>
                <a:lnTo>
                  <a:pt x="0" y="53682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1014"/>
          <p:cNvSpPr/>
          <p:nvPr/>
        </p:nvSpPr>
        <p:spPr>
          <a:xfrm flipH="false" flipV="false" rot="-1476951">
            <a:off x="681893" y="2036317"/>
            <a:ext cx="693615" cy="422238"/>
          </a:xfrm>
          <a:custGeom>
            <a:avLst/>
            <a:gdLst/>
            <a:ahLst/>
            <a:cxnLst/>
            <a:rect r="r" b="b" t="t" l="l"/>
            <a:pathLst>
              <a:path h="422238" w="693615">
                <a:moveTo>
                  <a:pt x="0" y="0"/>
                </a:moveTo>
                <a:lnTo>
                  <a:pt x="693614" y="0"/>
                </a:lnTo>
                <a:lnTo>
                  <a:pt x="693614" y="422238"/>
                </a:lnTo>
                <a:lnTo>
                  <a:pt x="0" y="4222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1017"/>
          <p:cNvSpPr txBox="true"/>
          <p:nvPr/>
        </p:nvSpPr>
        <p:spPr>
          <a:xfrm rot="0">
            <a:off x="1028700" y="3025327"/>
            <a:ext cx="6527931" cy="168554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2311"/>
              </a:lnSpc>
            </a:pPr>
            <a:r>
              <a:rPr lang="en-US" sz="4000" spc="-77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Abstract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22303C"/>
                </a:solidFill>
                <a:latin typeface="Roca Two"/>
              </a:rPr>
              <a:t>Modern recommenders and clustering pipelines have grown remarkably accurate yet remain opaque, which collides with trust, debugging and regulation (EU AI Act, OECD, GDPR).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22303C"/>
                </a:solidFill>
                <a:latin typeface="Roca Two"/>
              </a:rPr>
              <a:t>This thesis proposes cooperative game theory — Shapley values — as a single, shared attribution perspective spanning clustering explanation and recommendation learning.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22303C"/>
                </a:solidFill>
                <a:latin typeface="Roca Two"/>
              </a:rPr>
              <a:t>C1 explains black-box clustering faithfully (PCA–KMeans–LightGBM–TreeSHAP); C2 scales it to multi-level, large-scale clustering with cross-level consistency; C3 (DyHuCoG) turns attribution into an in-training signal inside a hypergraph recommender.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22303C"/>
                </a:solidFill>
                <a:latin typeface="Roca Two"/>
              </a:rPr>
              <a:t>Across wine, Beijing air quality, MovieLens-1M and Amazon-Book, ranking, coverage and diversity improve together — evidence that the accuracy–diversity trade-off is negotiable when attribution is part of the modelling logic.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020"/>
          <p:cNvGrpSpPr/>
          <p:nvPr/>
        </p:nvGrpSpPr>
        <p:grpSpPr>
          <a:xfrm rot="0">
            <a:off x="1028700" y="5498391"/>
            <a:ext cx="3842414" cy="933710"/>
            <a:chOff x="0" y="0"/>
            <a:chExt cx="1011994" cy="245915"/>
          </a:xfrm>
        </p:grpSpPr>
        <p:sp>
          <p:nvSpPr>
            <p:cNvPr name="Freeform 3" id="1021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ln w="28575" cap="rnd">
              <a:solidFill>
                <a:srgbClr val="124944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4" id="1022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023"/>
          <p:cNvGrpSpPr/>
          <p:nvPr/>
        </p:nvGrpSpPr>
        <p:grpSpPr>
          <a:xfrm rot="0">
            <a:off x="5159274" y="5498391"/>
            <a:ext cx="3842414" cy="933710"/>
            <a:chOff x="0" y="0"/>
            <a:chExt cx="1011994" cy="245915"/>
          </a:xfrm>
        </p:grpSpPr>
        <p:sp>
          <p:nvSpPr>
            <p:cNvPr name="Freeform 6" id="1024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025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026"/>
          <p:cNvGrpSpPr/>
          <p:nvPr/>
        </p:nvGrpSpPr>
        <p:grpSpPr>
          <a:xfrm rot="0">
            <a:off x="9286312" y="5498391"/>
            <a:ext cx="3842414" cy="933710"/>
            <a:chOff x="0" y="0"/>
            <a:chExt cx="1011994" cy="245915"/>
          </a:xfrm>
        </p:grpSpPr>
        <p:sp>
          <p:nvSpPr>
            <p:cNvPr name="Freeform 9" id="1027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ln w="28575" cap="rnd">
              <a:solidFill>
                <a:srgbClr val="124944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028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029"/>
          <p:cNvGrpSpPr/>
          <p:nvPr/>
        </p:nvGrpSpPr>
        <p:grpSpPr>
          <a:xfrm rot="0">
            <a:off x="13416886" y="5498391"/>
            <a:ext cx="3842414" cy="933710"/>
            <a:chOff x="0" y="0"/>
            <a:chExt cx="1011994" cy="245915"/>
          </a:xfrm>
        </p:grpSpPr>
        <p:sp>
          <p:nvSpPr>
            <p:cNvPr name="Freeform 12" id="1030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031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032"/>
          <p:cNvGrpSpPr/>
          <p:nvPr/>
        </p:nvGrpSpPr>
        <p:grpSpPr>
          <a:xfrm rot="0">
            <a:off x="1028700" y="6811391"/>
            <a:ext cx="3842414" cy="933710"/>
            <a:chOff x="0" y="0"/>
            <a:chExt cx="1011994" cy="245915"/>
          </a:xfrm>
        </p:grpSpPr>
        <p:sp>
          <p:nvSpPr>
            <p:cNvPr name="Freeform 15" id="1033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1034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035"/>
          <p:cNvGrpSpPr/>
          <p:nvPr/>
        </p:nvGrpSpPr>
        <p:grpSpPr>
          <a:xfrm rot="0">
            <a:off x="5159274" y="6811391"/>
            <a:ext cx="3842414" cy="933710"/>
            <a:chOff x="0" y="0"/>
            <a:chExt cx="1011994" cy="245915"/>
          </a:xfrm>
        </p:grpSpPr>
        <p:sp>
          <p:nvSpPr>
            <p:cNvPr name="Freeform 18" id="1036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ln w="28575" cap="rnd">
              <a:solidFill>
                <a:srgbClr val="124944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1037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038"/>
          <p:cNvGrpSpPr/>
          <p:nvPr/>
        </p:nvGrpSpPr>
        <p:grpSpPr>
          <a:xfrm rot="0">
            <a:off x="9286312" y="6811391"/>
            <a:ext cx="3842414" cy="933710"/>
            <a:chOff x="0" y="0"/>
            <a:chExt cx="1011994" cy="245915"/>
          </a:xfrm>
        </p:grpSpPr>
        <p:sp>
          <p:nvSpPr>
            <p:cNvPr name="Freeform 21" id="1039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22" id="1040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3" id="1041"/>
          <p:cNvGrpSpPr/>
          <p:nvPr/>
        </p:nvGrpSpPr>
        <p:grpSpPr>
          <a:xfrm rot="0">
            <a:off x="13416886" y="6811391"/>
            <a:ext cx="3842414" cy="933710"/>
            <a:chOff x="0" y="0"/>
            <a:chExt cx="1011994" cy="245915"/>
          </a:xfrm>
        </p:grpSpPr>
        <p:sp>
          <p:nvSpPr>
            <p:cNvPr name="Freeform 24" id="1042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ln w="28575" cap="rnd">
              <a:solidFill>
                <a:srgbClr val="124944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5" id="1043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6" id="1044"/>
          <p:cNvGrpSpPr/>
          <p:nvPr/>
        </p:nvGrpSpPr>
        <p:grpSpPr>
          <a:xfrm rot="0">
            <a:off x="1028700" y="8126101"/>
            <a:ext cx="3842414" cy="933710"/>
            <a:chOff x="0" y="0"/>
            <a:chExt cx="1011994" cy="245915"/>
          </a:xfrm>
        </p:grpSpPr>
        <p:sp>
          <p:nvSpPr>
            <p:cNvPr name="Freeform 27" id="1045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ln w="28575" cap="rnd">
              <a:solidFill>
                <a:srgbClr val="124944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8" id="1046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9" id="1047"/>
          <p:cNvGrpSpPr/>
          <p:nvPr/>
        </p:nvGrpSpPr>
        <p:grpSpPr>
          <a:xfrm rot="0">
            <a:off x="5159274" y="8126101"/>
            <a:ext cx="3842414" cy="933710"/>
            <a:chOff x="0" y="0"/>
            <a:chExt cx="1011994" cy="245915"/>
          </a:xfrm>
        </p:grpSpPr>
        <p:sp>
          <p:nvSpPr>
            <p:cNvPr name="Freeform 30" id="1048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31" id="1049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32" id="1050"/>
          <p:cNvGrpSpPr/>
          <p:nvPr/>
        </p:nvGrpSpPr>
        <p:grpSpPr>
          <a:xfrm rot="0">
            <a:off x="9286312" y="8126101"/>
            <a:ext cx="3842414" cy="933710"/>
            <a:chOff x="0" y="0"/>
            <a:chExt cx="1011994" cy="245915"/>
          </a:xfrm>
        </p:grpSpPr>
        <p:sp>
          <p:nvSpPr>
            <p:cNvPr name="Freeform 33" id="1051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ln w="28575" cap="rnd">
              <a:solidFill>
                <a:srgbClr val="124944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34" id="1052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35" id="1053"/>
          <p:cNvGrpSpPr/>
          <p:nvPr/>
        </p:nvGrpSpPr>
        <p:grpSpPr>
          <a:xfrm rot="0">
            <a:off x="13416886" y="8126101"/>
            <a:ext cx="3842414" cy="933710"/>
            <a:chOff x="0" y="0"/>
            <a:chExt cx="1011994" cy="245915"/>
          </a:xfrm>
        </p:grpSpPr>
        <p:sp>
          <p:nvSpPr>
            <p:cNvPr name="Freeform 36" id="1054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37" id="1055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38" id="1056"/>
          <p:cNvSpPr/>
          <p:nvPr/>
        </p:nvSpPr>
        <p:spPr>
          <a:xfrm flipH="false" flipV="false" rot="1546136">
            <a:off x="4735921" y="4227727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1" id="1059"/>
          <p:cNvSpPr txBox="true"/>
          <p:nvPr/>
        </p:nvSpPr>
        <p:spPr>
          <a:xfrm rot="0">
            <a:off x="1820641" y="5722041"/>
            <a:ext cx="2258533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2.  Context &amp; Problematic</a:t>
            </a:r>
          </a:p>
        </p:txBody>
      </p:sp>
      <p:sp>
        <p:nvSpPr>
          <p:cNvPr name="TextBox 42" id="1060"/>
          <p:cNvSpPr txBox="true"/>
          <p:nvPr/>
        </p:nvSpPr>
        <p:spPr>
          <a:xfrm rot="0">
            <a:off x="5482626" y="572204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3.  Experimental Protocol</a:t>
            </a:r>
          </a:p>
        </p:txBody>
      </p:sp>
      <p:sp>
        <p:nvSpPr>
          <p:cNvPr name="TextBox 43" id="1061"/>
          <p:cNvSpPr txBox="true"/>
          <p:nvPr/>
        </p:nvSpPr>
        <p:spPr>
          <a:xfrm rot="0">
            <a:off x="9609663" y="572204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4.  Contribution I — Explainable Clustering</a:t>
            </a:r>
          </a:p>
        </p:txBody>
      </p:sp>
      <p:sp>
        <p:nvSpPr>
          <p:cNvPr name="TextBox 44" id="1062"/>
          <p:cNvSpPr txBox="true"/>
          <p:nvPr/>
        </p:nvSpPr>
        <p:spPr>
          <a:xfrm rot="0">
            <a:off x="13738326" y="572204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5.  Contribution II — Multi-level XAI</a:t>
            </a:r>
          </a:p>
        </p:txBody>
      </p:sp>
      <p:sp>
        <p:nvSpPr>
          <p:cNvPr name="TextBox 45" id="1063"/>
          <p:cNvSpPr txBox="true"/>
          <p:nvPr/>
        </p:nvSpPr>
        <p:spPr>
          <a:xfrm rot="0">
            <a:off x="1352051" y="705155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46" id="1064"/>
          <p:cNvSpPr txBox="true"/>
          <p:nvPr/>
        </p:nvSpPr>
        <p:spPr>
          <a:xfrm rot="0">
            <a:off x="5482626" y="703504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6.  Contribution III — DyHuCoG</a:t>
            </a:r>
          </a:p>
        </p:txBody>
      </p:sp>
      <p:sp>
        <p:nvSpPr>
          <p:cNvPr name="TextBox 47" id="1065"/>
          <p:cNvSpPr txBox="true"/>
          <p:nvPr/>
        </p:nvSpPr>
        <p:spPr>
          <a:xfrm rot="0">
            <a:off x="9609663" y="703504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7.  Conclusion &amp; Perspectives</a:t>
            </a:r>
          </a:p>
        </p:txBody>
      </p:sp>
      <p:sp>
        <p:nvSpPr>
          <p:cNvPr name="TextBox 48" id="1066"/>
          <p:cNvSpPr txBox="true"/>
          <p:nvPr/>
        </p:nvSpPr>
        <p:spPr>
          <a:xfrm rot="0">
            <a:off x="13738326" y="703504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49" id="1067"/>
          <p:cNvSpPr txBox="true"/>
          <p:nvPr/>
        </p:nvSpPr>
        <p:spPr>
          <a:xfrm rot="0">
            <a:off x="1711642" y="8349751"/>
            <a:ext cx="2476530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50" id="1068"/>
          <p:cNvSpPr txBox="true"/>
          <p:nvPr/>
        </p:nvSpPr>
        <p:spPr>
          <a:xfrm rot="0">
            <a:off x="5482626" y="834975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51" id="1069"/>
          <p:cNvSpPr txBox="true"/>
          <p:nvPr/>
        </p:nvSpPr>
        <p:spPr>
          <a:xfrm rot="0">
            <a:off x="9609663" y="834975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52" id="1070"/>
          <p:cNvSpPr txBox="true"/>
          <p:nvPr/>
        </p:nvSpPr>
        <p:spPr>
          <a:xfrm rot="0">
            <a:off x="13738326" y="834975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53" id="1071"/>
          <p:cNvSpPr txBox="true"/>
          <p:nvPr/>
        </p:nvSpPr>
        <p:spPr>
          <a:xfrm rot="0">
            <a:off x="5157506" y="3259471"/>
            <a:ext cx="7972988" cy="1685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1.  Introduction</a:t>
            </a:r>
          </a:p>
        </p:txBody>
      </p:sp>
      <p:sp>
        <p:nvSpPr>
          <p:cNvPr name="Freeform 54" id="1072"/>
          <p:cNvSpPr/>
          <p:nvPr/>
        </p:nvSpPr>
        <p:spPr>
          <a:xfrm flipH="false" flipV="false" rot="-7614865">
            <a:off x="12708909" y="2828874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90"/>
                </a:lnTo>
                <a:lnTo>
                  <a:pt x="0" y="4626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073"/>
          <p:cNvGrpSpPr/>
          <p:nvPr/>
        </p:nvGrpSpPr>
        <p:grpSpPr>
          <a:xfrm rot="0">
            <a:off x="0" y="5321413"/>
            <a:ext cx="18288000" cy="4965587"/>
            <a:chOff x="0" y="0"/>
            <a:chExt cx="4816593" cy="1307809"/>
          </a:xfrm>
        </p:grpSpPr>
        <p:sp>
          <p:nvSpPr>
            <p:cNvPr name="Freeform 3" id="1074"/>
            <p:cNvSpPr/>
            <p:nvPr/>
          </p:nvSpPr>
          <p:spPr>
            <a:xfrm flipH="false" flipV="false" rot="0">
              <a:off x="0" y="0"/>
              <a:ext cx="4816592" cy="1307809"/>
            </a:xfrm>
            <a:custGeom>
              <a:avLst/>
              <a:gdLst/>
              <a:ahLst/>
              <a:cxnLst/>
              <a:rect r="r" b="b" t="t" l="l"/>
              <a:pathLst>
                <a:path h="1307809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307809"/>
                  </a:lnTo>
                  <a:lnTo>
                    <a:pt x="0" y="1307809"/>
                  </a:ln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075"/>
            <p:cNvSpPr txBox="true"/>
            <p:nvPr/>
          </p:nvSpPr>
          <p:spPr>
            <a:xfrm>
              <a:off x="0" y="-38100"/>
              <a:ext cx="4816593" cy="13459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11" id="1082"/>
          <p:cNvSpPr txBox="true"/>
          <p:nvPr/>
        </p:nvSpPr>
        <p:spPr>
          <a:xfrm rot="0">
            <a:off x="1028700" y="2635383"/>
            <a:ext cx="15730026" cy="268603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9713"/>
              </a:lnSpc>
            </a:pPr>
            <a:r>
              <a:rPr lang="en-US" sz="4000" spc="-124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Introduction</a:t>
            </a:r>
          </a:p>
        </p:txBody>
      </p:sp>
      <p:grpSp>
        <p:nvGrpSpPr>
          <p:cNvPr name="Group 12" id="1083"/>
          <p:cNvGrpSpPr/>
          <p:nvPr/>
        </p:nvGrpSpPr>
        <p:grpSpPr>
          <a:xfrm rot="0">
            <a:off x="16258151" y="3265231"/>
            <a:ext cx="1001149" cy="1001149"/>
            <a:chOff x="0" y="0"/>
            <a:chExt cx="812800" cy="812800"/>
          </a:xfrm>
        </p:grpSpPr>
        <p:sp>
          <p:nvSpPr>
            <p:cNvPr name="Freeform 13" id="108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CC665"/>
            </a:solidFill>
          </p:spPr>
          <p:txBody>
            <a:bodyPr/>
            <a:p/>
          </p:txBody>
        </p:sp>
        <p:sp>
          <p:nvSpPr>
            <p:cNvPr name="TextBox 14" id="1085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086"/>
          <p:cNvSpPr/>
          <p:nvPr/>
        </p:nvSpPr>
        <p:spPr>
          <a:xfrm flipH="true" flipV="false" rot="-5400000">
            <a:off x="16564092" y="3571172"/>
            <a:ext cx="389267" cy="389267"/>
          </a:xfrm>
          <a:custGeom>
            <a:avLst/>
            <a:gdLst/>
            <a:ahLst/>
            <a:cxnLst/>
            <a:rect r="r" b="b" t="t" l="l"/>
            <a:pathLst>
              <a:path h="389267" w="389267">
                <a:moveTo>
                  <a:pt x="389267" y="0"/>
                </a:moveTo>
                <a:lnTo>
                  <a:pt x="0" y="0"/>
                </a:lnTo>
                <a:lnTo>
                  <a:pt x="0" y="389267"/>
                </a:lnTo>
                <a:lnTo>
                  <a:pt x="389267" y="389267"/>
                </a:lnTo>
                <a:lnTo>
                  <a:pt x="38926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087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Motivation: Three Questions</a:t>
            </a:r>
          </a:p>
        </p:txBody>
      </p:sp>
      <p:grpSp>
        <p:nvGrpSpPr>
          <p:cNvPr name="Group 3" id="1088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089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090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09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09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093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09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09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096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09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09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099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10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10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102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10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10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105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10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10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108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109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110" name="TextBox 1109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1">
                <a:solidFill>
                  <a:srgbClr val="22303C"/>
                </a:solidFill>
                <a:latin typeface="Roca Two"/>
              </a:rPr>
              <a:t>Ubiquity — how do opaque AI systems shape what billions of users see, buy and watch every day?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1">
                <a:solidFill>
                  <a:srgbClr val="22303C"/>
                </a:solidFill>
                <a:latin typeface="Roca Two"/>
              </a:rPr>
              <a:t>The Black Box — why do state-of-the-art recommenders and clustering pipelines remain opaque to users and designers?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1">
                <a:solidFill>
                  <a:srgbClr val="22303C"/>
                </a:solidFill>
                <a:latin typeface="Roca Two"/>
              </a:rPr>
              <a:t>Toward Trust — how can transparency be built into the model, instead of being bolted on afterwards?</a:t>
            </a:r>
          </a:p>
          <a:p>
            <a:pPr lvl="1">
              <a:lnSpc>
                <a:spcPct val="105000"/>
              </a:lnSpc>
              <a:spcAft>
                <a:spcPts val="900"/>
              </a:spcAft>
            </a:pPr>
            <a:r>
              <a:rPr sz="1800">
                <a:solidFill>
                  <a:srgbClr val="4F81BD"/>
                </a:solidFill>
                <a:latin typeface="Roca Two"/>
              </a:rPr>
              <a:t>–  </a:t>
            </a:r>
            <a:r>
              <a:rPr sz="1800" b="1">
                <a:solidFill>
                  <a:srgbClr val="22303C"/>
                </a:solidFill>
                <a:latin typeface="Roca Two"/>
              </a:rPr>
              <a:t>Core tension: as models gain expressive power, they lose the transparency needed for trustworthy deployment.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118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1119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120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121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1122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123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124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1125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126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127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1128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129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130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1131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1132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133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1141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Actionable Insight — the Definition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1005840" y="4572324"/>
            <a:ext cx="4279392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Definition 1.1 (Actionable insight)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An explanation is actionable when it identifies at least one modifiable factor whose change is associated with a specifiable change in model output…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… and that factor is expressible in the semantic vocabulary of the task domain.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Accessibility means the domain's own terms: a physicochemical variable, a pollution indicator, or a preference signal — not an opaque latent code.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Why: an explanation that identifies a modifiable driver supports intervention, not merely description.</a:t>
            </a:r>
          </a:p>
        </p:txBody>
      </p:sp>
      <p:pic>
        <p:nvPicPr>
          <p:cNvPr id="1143" name="Picture 1142" descr="action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4572324"/>
            <a:ext cx="3621024" cy="237012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142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114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14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145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114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14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148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114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15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151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115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15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154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115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115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157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115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115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1169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Research Context</a:t>
            </a:r>
          </a:p>
        </p:txBody>
      </p:sp>
      <p:sp>
        <p:nvSpPr>
          <p:cNvPr name="Freeform 30" id="1170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1171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172" name="TextBox 1171"/>
          <p:cNvSpPr txBox="1"/>
          <p:nvPr/>
        </p:nvSpPr>
        <p:spPr>
          <a:xfrm>
            <a:off x="1005840" y="4754880"/>
            <a:ext cx="4279392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Recommenders evolved from similarity filters to complex representation learning on sparse, high-dimensional, dynamic data.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→ MF → neural CF → graph CNNs → hypergraph: each step improved ranking but intensified the interpretability deficit.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Undermines user trust; constrains debugging; collides with EU AI Act, OECD, GDPR.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EU AI Act (Art. 13) requires high-risk systems to provide explanations in human-understandable terms.</a:t>
            </a:r>
          </a:p>
        </p:txBody>
      </p:sp>
      <p:pic>
        <p:nvPicPr>
          <p:cNvPr id="1173" name="Picture 1172" descr="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4754880"/>
            <a:ext cx="3621024" cy="237012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172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117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17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175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117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17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178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117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18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181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118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18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184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118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118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187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118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118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1199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AI-Powered Recommendation Systems Around Us</a:t>
            </a:r>
          </a:p>
        </p:txBody>
      </p:sp>
      <p:sp>
        <p:nvSpPr>
          <p:cNvPr name="Freeform 30" id="1200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1201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202" name="TextBox 1201"/>
          <p:cNvSpPr txBox="1"/>
          <p:nvPr/>
        </p:nvSpPr>
        <p:spPr>
          <a:xfrm>
            <a:off x="1005840" y="4754880"/>
            <a:ext cx="4279392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AI recommendation mediates what billions see, buy and listen to every day: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Streaming &amp; video: Netflix, Prime Video, YouTube.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Music: Spotify, YouTube Music, Deezer.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Shopping &amp; e-commerce: Amazon, AliExpress, Noon.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Social &amp; feeds: TikTok, Instagram, LinkedIn.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Maps, ads, search: Google Maps, Uber, Google Ads.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Accurate yet opaque — the very gap our thesis targets.</a:t>
            </a:r>
          </a:p>
        </p:txBody>
      </p:sp>
      <p:pic>
        <p:nvPicPr>
          <p:cNvPr id="1203" name="Picture 1202" descr="recsys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4754880"/>
            <a:ext cx="3621024" cy="21726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202"/>
          <p:cNvGrpSpPr/>
          <p:nvPr/>
        </p:nvGrpSpPr>
        <p:grpSpPr>
          <a:xfrm rot="0">
            <a:off x="0" y="5321413"/>
            <a:ext cx="18288000" cy="4965587"/>
            <a:chOff x="0" y="0"/>
            <a:chExt cx="4816593" cy="1307809"/>
          </a:xfrm>
        </p:grpSpPr>
        <p:sp>
          <p:nvSpPr>
            <p:cNvPr name="Freeform 3" id="1203"/>
            <p:cNvSpPr/>
            <p:nvPr/>
          </p:nvSpPr>
          <p:spPr>
            <a:xfrm flipH="false" flipV="false" rot="0">
              <a:off x="0" y="0"/>
              <a:ext cx="4816592" cy="1307809"/>
            </a:xfrm>
            <a:custGeom>
              <a:avLst/>
              <a:gdLst/>
              <a:ahLst/>
              <a:cxnLst/>
              <a:rect r="r" b="b" t="t" l="l"/>
              <a:pathLst>
                <a:path h="1307809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307809"/>
                  </a:lnTo>
                  <a:lnTo>
                    <a:pt x="0" y="1307809"/>
                  </a:ln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204"/>
            <p:cNvSpPr txBox="true"/>
            <p:nvPr/>
          </p:nvSpPr>
          <p:spPr>
            <a:xfrm>
              <a:off x="0" y="-38100"/>
              <a:ext cx="4816593" cy="13459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11" id="1211"/>
          <p:cNvSpPr txBox="true"/>
          <p:nvPr/>
        </p:nvSpPr>
        <p:spPr>
          <a:xfrm rot="0">
            <a:off x="1028700" y="2635383"/>
            <a:ext cx="15730026" cy="268603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9713"/>
              </a:lnSpc>
            </a:pPr>
            <a:r>
              <a:rPr lang="en-US" sz="4000" spc="-124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Context &amp; Problematic</a:t>
            </a:r>
          </a:p>
        </p:txBody>
      </p:sp>
      <p:grpSp>
        <p:nvGrpSpPr>
          <p:cNvPr name="Group 12" id="1212"/>
          <p:cNvGrpSpPr/>
          <p:nvPr/>
        </p:nvGrpSpPr>
        <p:grpSpPr>
          <a:xfrm rot="0">
            <a:off x="16258151" y="3265231"/>
            <a:ext cx="1001149" cy="1001149"/>
            <a:chOff x="0" y="0"/>
            <a:chExt cx="812800" cy="812800"/>
          </a:xfrm>
        </p:grpSpPr>
        <p:sp>
          <p:nvSpPr>
            <p:cNvPr name="Freeform 13" id="12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CC665"/>
            </a:solidFill>
          </p:spPr>
          <p:txBody>
            <a:bodyPr/>
            <a:p/>
          </p:txBody>
        </p:sp>
        <p:sp>
          <p:nvSpPr>
            <p:cNvPr name="TextBox 14" id="121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215"/>
          <p:cNvSpPr/>
          <p:nvPr/>
        </p:nvSpPr>
        <p:spPr>
          <a:xfrm flipH="true" flipV="false" rot="-5400000">
            <a:off x="16564092" y="3571172"/>
            <a:ext cx="389267" cy="389267"/>
          </a:xfrm>
          <a:custGeom>
            <a:avLst/>
            <a:gdLst/>
            <a:ahLst/>
            <a:cxnLst/>
            <a:rect r="r" b="b" t="t" l="l"/>
            <a:pathLst>
              <a:path h="389267" w="389267">
                <a:moveTo>
                  <a:pt x="389267" y="0"/>
                </a:moveTo>
                <a:lnTo>
                  <a:pt x="0" y="0"/>
                </a:lnTo>
                <a:lnTo>
                  <a:pt x="0" y="389267"/>
                </a:lnTo>
                <a:lnTo>
                  <a:pt x="389267" y="389267"/>
                </a:lnTo>
                <a:lnTo>
                  <a:pt x="38926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216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121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21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219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122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22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222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122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22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225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122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22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228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122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123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231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123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123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1243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Recommendation &amp; Clustering Paradigms</a:t>
            </a:r>
          </a:p>
        </p:txBody>
      </p:sp>
      <p:sp>
        <p:nvSpPr>
          <p:cNvPr name="Freeform 30" id="1244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1245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246" name="TextBox 1245"/>
          <p:cNvSpPr txBox="1"/>
          <p:nvPr/>
        </p:nvSpPr>
        <p:spPr>
          <a:xfrm>
            <a:off x="1005840" y="4754880"/>
            <a:ext cx="4279392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Collaborative filtering – users who behaved similarly will value similar items (user-/item-based).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Content-based – recommends items sharing attributes with a user profile.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Hybrid – combines collaborative and content signals.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Matrix factorisation – R ≈ PQᵀ: compact but opaque latent factors.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Graph-based – interaction graph with neighbourhood propagation (LightGCN, hypergraph).</a:t>
            </a:r>
          </a:p>
        </p:txBody>
      </p:sp>
      <p:pic>
        <p:nvPicPr>
          <p:cNvPr id="1247" name="Picture 1246" descr="content_ba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4754880"/>
            <a:ext cx="3621024" cy="20409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246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1247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248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249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1250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251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252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1253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254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255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1256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257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258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1259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1260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261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1269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34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Limitations of Classical Recommenders &amp; Unsupervised Models</a:t>
            </a:r>
          </a:p>
        </p:txBody>
      </p:sp>
      <p:sp>
        <p:nvSpPr>
          <p:cNvPr id="1270" name="TextBox 1269"/>
          <p:cNvSpPr txBox="1"/>
          <p:nvPr/>
        </p:nvSpPr>
        <p:spPr>
          <a:xfrm>
            <a:off x="1005840" y="4572324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0">
                <a:solidFill>
                  <a:srgbClr val="22303C"/>
                </a:solidFill>
                <a:latin typeface="Roca Two"/>
              </a:rPr>
              <a:t>Data sparsity &amp; scalability — the user–item matrix is overwhelmingly empty.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0">
                <a:solidFill>
                  <a:srgbClr val="22303C"/>
                </a:solidFill>
                <a:latin typeface="Roca Two"/>
              </a:rPr>
              <a:t>Cold-start — new users and items are structurally disadvantaged.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0">
                <a:solidFill>
                  <a:srgbClr val="22303C"/>
                </a:solidFill>
                <a:latin typeface="Roca Two"/>
              </a:rPr>
              <a:t>Popularity bias &amp; lack of diversity — exposure begets interaction, begets exposure.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1">
                <a:solidFill>
                  <a:srgbClr val="22303C"/>
                </a:solidFill>
                <a:latin typeface="Roca Two"/>
              </a:rPr>
              <a:t>Absence of interpretability — the most fundamental limit.</a:t>
            </a:r>
          </a:p>
          <a:p>
            <a:pPr lvl="1">
              <a:lnSpc>
                <a:spcPct val="105000"/>
              </a:lnSpc>
              <a:spcAft>
                <a:spcPts val="900"/>
              </a:spcAft>
            </a:pPr>
            <a:r>
              <a:rPr sz="1800">
                <a:solidFill>
                  <a:srgbClr val="4F81BD"/>
                </a:solidFill>
                <a:latin typeface="Roca Two"/>
              </a:rPr>
              <a:t>–  </a:t>
            </a:r>
            <a:r>
              <a:rPr sz="1800" b="0">
                <a:solidFill>
                  <a:srgbClr val="22303C"/>
                </a:solidFill>
                <a:latin typeface="Roca Two"/>
              </a:rPr>
              <a:t>For clustering: methods favour local OR global explanation, not both; struggle to scale; explanations rarely stay coherent across resolutions.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270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1271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272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273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1274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275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276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1277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278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279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1280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281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282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1283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1284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285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1293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34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Three Structuring Limitations (Problem Statement)</a:t>
            </a:r>
          </a:p>
        </p:txBody>
      </p:sp>
      <p:sp>
        <p:nvSpPr>
          <p:cNvPr id="1294" name="TextBox 1293"/>
          <p:cNvSpPr txBox="1"/>
          <p:nvPr/>
        </p:nvSpPr>
        <p:spPr>
          <a:xfrm>
            <a:off x="1005840" y="4572324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1">
                <a:solidFill>
                  <a:srgbClr val="22303C"/>
                </a:solidFill>
                <a:latin typeface="Roca Two"/>
              </a:rPr>
              <a:t>1. Lack of explainability — complex models remain hard to interpret faithfully and actionably.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1">
                <a:solidFill>
                  <a:srgbClr val="22303C"/>
                </a:solidFill>
                <a:latin typeface="Roca Two"/>
              </a:rPr>
              <a:t>2. Difficulty of scaling — local explanations do not transfer naturally to hierarchical structures or large datasets.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1">
                <a:solidFill>
                  <a:srgbClr val="22303C"/>
                </a:solidFill>
                <a:latin typeface="Roca Two"/>
              </a:rPr>
              <a:t>3. Weak integration into learning — most explanations stay post-hoc and do not shape model dynamics or the accuracy–diversity–context trade-off.</a:t>
            </a:r>
          </a:p>
          <a:p>
            <a:pPr lvl="1">
              <a:lnSpc>
                <a:spcPct val="105000"/>
              </a:lnSpc>
              <a:spcAft>
                <a:spcPts val="900"/>
              </a:spcAft>
            </a:pPr>
            <a:r>
              <a:rPr sz="1800">
                <a:solidFill>
                  <a:srgbClr val="4F81BD"/>
                </a:solidFill>
                <a:latin typeface="Roca Two"/>
              </a:rPr>
              <a:t>–  </a:t>
            </a:r>
            <a:r>
              <a:rPr sz="1800" b="1">
                <a:solidFill>
                  <a:srgbClr val="22303C"/>
                </a:solidFill>
                <a:latin typeface="Roca Two"/>
              </a:rPr>
              <a:t>Thesis gap: the literature still lacks a single cooperative-attribution framework that explains clustering faithfully, stays coherent under hierarchy, and operates as an in-training signal in recommendation.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294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Research Questions (RQ1–RQ5) and Overall Aim</a:t>
            </a:r>
          </a:p>
        </p:txBody>
      </p:sp>
      <p:grpSp>
        <p:nvGrpSpPr>
          <p:cNvPr name="Group 3" id="1295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296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297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29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29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300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30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30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303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30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30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306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30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30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309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31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31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312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31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31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315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316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317" name="TextBox 1316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Aim: develop, justify and evaluate a cooperative-game-theoretic perspective for XAI in clustering and recommendation.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RQ1 · How can Shapley values explain black-box clustering faithfully at instance and cluster level?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RQ2 · How can this extend to large-scale, hierarchical clustering without losing tractability or consistency?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RQ3 · Can cooperative attribution move beyond post-hoc and enter the learning dynamics of graph recommenders?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RQ4 · Can a recommender jointly optimise ranking accuracy, context and diversity when importance is estimated by a cooperative-game utility?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RQ5 · What emerges when clustering explanation and recommendation learning are two stages of one cooperative-game perspective?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325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The Three Contributions</a:t>
            </a:r>
          </a:p>
        </p:txBody>
      </p:sp>
      <p:grpSp>
        <p:nvGrpSpPr>
          <p:cNvPr name="Group 3" id="1326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327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328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32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33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331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33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33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334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33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33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337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33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33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340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34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34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343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34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34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346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347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348" name="TextBox 1347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C1 – Explainable black-box clustering: PCA–KMeans–LightGBM–TreeSHAP pipeline.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→ Wine Quality: faithful instance- and cluster-level feature attribution.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C2 – Enhanced multi-level XAI for large-scale clustering with cross-level SHAP aggregation.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→ Beijing Air Quality: hierarchical attribution consistency under scale.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C3 – DyHuCoG: Dynamic Hypergraph Cooperative Game for preference-aware recommendation.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→ MovieLens-1M &amp; Amazon-Book: preference-aware Monte Carlo Shapley as an in-training signal.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Thesis claim: cooperative game theory functions as a shared attribution perspective for explanation, optimisation and intervention.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356"/>
          <p:cNvGrpSpPr/>
          <p:nvPr/>
        </p:nvGrpSpPr>
        <p:grpSpPr>
          <a:xfrm rot="0">
            <a:off x="0" y="5321413"/>
            <a:ext cx="18288000" cy="4965587"/>
            <a:chOff x="0" y="0"/>
            <a:chExt cx="4816593" cy="1307809"/>
          </a:xfrm>
        </p:grpSpPr>
        <p:sp>
          <p:nvSpPr>
            <p:cNvPr name="Freeform 3" id="1357"/>
            <p:cNvSpPr/>
            <p:nvPr/>
          </p:nvSpPr>
          <p:spPr>
            <a:xfrm flipH="false" flipV="false" rot="0">
              <a:off x="0" y="0"/>
              <a:ext cx="4816592" cy="1307809"/>
            </a:xfrm>
            <a:custGeom>
              <a:avLst/>
              <a:gdLst/>
              <a:ahLst/>
              <a:cxnLst/>
              <a:rect r="r" b="b" t="t" l="l"/>
              <a:pathLst>
                <a:path h="1307809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307809"/>
                  </a:lnTo>
                  <a:lnTo>
                    <a:pt x="0" y="1307809"/>
                  </a:ln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358"/>
            <p:cNvSpPr txBox="true"/>
            <p:nvPr/>
          </p:nvSpPr>
          <p:spPr>
            <a:xfrm>
              <a:off x="0" y="-38100"/>
              <a:ext cx="4816593" cy="13459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11" id="1365"/>
          <p:cNvSpPr txBox="true"/>
          <p:nvPr/>
        </p:nvSpPr>
        <p:spPr>
          <a:xfrm rot="0">
            <a:off x="1028700" y="2635383"/>
            <a:ext cx="15730026" cy="268603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9713"/>
              </a:lnSpc>
            </a:pPr>
            <a:r>
              <a:rPr lang="en-US" sz="4000" spc="-124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Experimental Protocol</a:t>
            </a:r>
          </a:p>
        </p:txBody>
      </p:sp>
      <p:grpSp>
        <p:nvGrpSpPr>
          <p:cNvPr name="Group 12" id="1366"/>
          <p:cNvGrpSpPr/>
          <p:nvPr/>
        </p:nvGrpSpPr>
        <p:grpSpPr>
          <a:xfrm rot="0">
            <a:off x="16258151" y="3265231"/>
            <a:ext cx="1001149" cy="1001149"/>
            <a:chOff x="0" y="0"/>
            <a:chExt cx="812800" cy="812800"/>
          </a:xfrm>
        </p:grpSpPr>
        <p:sp>
          <p:nvSpPr>
            <p:cNvPr name="Freeform 13" id="136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CC665"/>
            </a:solidFill>
          </p:spPr>
          <p:txBody>
            <a:bodyPr/>
            <a:p/>
          </p:txBody>
        </p:sp>
        <p:sp>
          <p:nvSpPr>
            <p:cNvPr name="TextBox 14" id="136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369"/>
          <p:cNvSpPr/>
          <p:nvPr/>
        </p:nvSpPr>
        <p:spPr>
          <a:xfrm flipH="true" flipV="false" rot="-5400000">
            <a:off x="16564092" y="3571172"/>
            <a:ext cx="389267" cy="389267"/>
          </a:xfrm>
          <a:custGeom>
            <a:avLst/>
            <a:gdLst/>
            <a:ahLst/>
            <a:cxnLst/>
            <a:rect r="r" b="b" t="t" l="l"/>
            <a:pathLst>
              <a:path h="389267" w="389267">
                <a:moveTo>
                  <a:pt x="389267" y="0"/>
                </a:moveTo>
                <a:lnTo>
                  <a:pt x="0" y="0"/>
                </a:lnTo>
                <a:lnTo>
                  <a:pt x="0" y="389267"/>
                </a:lnTo>
                <a:lnTo>
                  <a:pt x="389267" y="389267"/>
                </a:lnTo>
                <a:lnTo>
                  <a:pt x="38926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370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Datasets Used Throughout the Thesis</a:t>
            </a:r>
          </a:p>
        </p:txBody>
      </p:sp>
      <p:grpSp>
        <p:nvGrpSpPr>
          <p:cNvPr name="Group 3" id="1371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372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373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37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37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376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37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37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379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38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38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382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38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38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385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386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387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388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389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390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391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392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aphicFrame>
        <p:nvGraphicFramePr>
          <p:cNvPr id="1393" name="Table 1392"/>
          <p:cNvGraphicFramePr>
            <a:graphicFrameLocks noGrp="1"/>
          </p:cNvGraphicFramePr>
          <p:nvPr/>
        </p:nvGraphicFramePr>
        <p:xfrm>
          <a:off x="1005840" y="4282449"/>
          <a:ext cx="8229599" cy="4626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71750"/>
                <a:gridCol w="1671637"/>
                <a:gridCol w="1800225"/>
                <a:gridCol w="2185987"/>
              </a:tblGrid>
              <a:tr h="92537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Dataset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Scale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Type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Role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</a:tr>
              <a:tr h="9253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Wine Quality (vinho verde)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4,898 × 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Tabular, numeric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C1 – single-level clustering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9253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Beijing Multi-Site Air Quality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383,585 × 11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Tabular, pollutant + meteorology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C2 – multi-level clustering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</a:tr>
              <a:tr h="9253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MovieLens-1M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6,040 u / 3,706 i / 1.0M int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Implicit feedback (0.0447)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C3 – DyHuCoG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9253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Amazon-Book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52,643 u / 91,599 i / 3.0M int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Implicit feedback (0.0006)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C3 – DyHuCoG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401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Dataset Characteristics &amp; Why Each Was Chosen</a:t>
            </a:r>
          </a:p>
        </p:txBody>
      </p:sp>
      <p:grpSp>
        <p:nvGrpSpPr>
          <p:cNvPr name="Group 3" id="1402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403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404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40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40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407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40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40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410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41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41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413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41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41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416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41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41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419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42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42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422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423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424" name="TextBox 1423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Wine Quality – 11 interpretable physicochemical features; small, dense, chemically correlated → tests attribution in a trusted semantic space.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Beijing Air Quality – 11 pollutant + meteorological variables, 383,585 hourly records → tests scale, noise and temporal structure.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MovieLens-1M – ~1.0M interactions, density 0.0447 → benchmark-standard recommendation with established baselines.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Amazon-Book – ~3.0M interactions, density 0.0006 → deliberately sparse to stress-test Shapley weighting when signal is weak.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The 0.0447 vs 0.0006 density contrast is intentional: gains are largest where data are weakest.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432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Data Splitting &amp; Preprocessing</a:t>
            </a:r>
          </a:p>
        </p:txBody>
      </p:sp>
      <p:grpSp>
        <p:nvGrpSpPr>
          <p:cNvPr name="Group 3" id="1433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434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435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436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437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438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439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440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441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44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44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444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44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44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447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44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44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450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45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45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453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454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455" name="TextBox 1454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Clustering: five-fold cross-validation for surrogate/attribution stability.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Recommendation: user-level, temporal split — 70% train / 10% val / 20% test.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Leave-one-out: the latest test positive per user is the target, ranked against negatives.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Implicit conversion: MovieLens-1M ratings &gt; 3 treated as positive.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Popularity-aware negative sampling: q(i) ∝ f_i^η for harder contrasts.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Reproducibility: seeds {42,43,44,45,46}; early-stopping patience 20.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463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Baselines &amp; Evaluation Metrics</a:t>
            </a:r>
          </a:p>
        </p:txBody>
      </p:sp>
      <p:grpSp>
        <p:nvGrpSpPr>
          <p:cNvPr name="Group 3" id="1464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465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466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46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46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469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47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47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472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47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47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475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47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47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478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47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48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481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48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48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484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485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486" name="TextBox 1485"/>
          <p:cNvSpPr txBox="1"/>
          <p:nvPr/>
        </p:nvSpPr>
        <p:spPr>
          <a:xfrm>
            <a:off x="1005840" y="4282449"/>
            <a:ext cx="4279392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Clustering benchmark: LIME-based surrogate explanation pipeline.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Recommendation benchmarks: MF, NCF, LightGCN, RecDCL, HCCF, HPCF (strongest reference).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Ranking: Precision@K, Recall@K, NDCG@20 (principal).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Beyond-accuracy: Coverage, ILD, Novelty, Fairness.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Clustering quality: Silhouette, Davies–Bouldin.</a:t>
            </a:r>
          </a:p>
        </p:txBody>
      </p:sp>
      <p:pic>
        <p:nvPicPr>
          <p:cNvPr id="1487" name="Picture 1486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4282449"/>
            <a:ext cx="3621024" cy="237012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494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Hardware &amp; Software</a:t>
            </a:r>
          </a:p>
        </p:txBody>
      </p:sp>
      <p:grpSp>
        <p:nvGrpSpPr>
          <p:cNvPr name="Group 3" id="1495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496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497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49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49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500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50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50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503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50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50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506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50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50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509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51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51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512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51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51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515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516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517" name="TextBox 1516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CPU: Intel Core i9-14900K, 24 cores — clustering, preprocessing, data loading.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GPU: NVIDIA GeForce RTX 4090, 24 GB — DyHuCoG training &amp; inference.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RAM: 48 GB; Storage: 2 TB SSD.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Python 3.8; scikit-learn, LightGBM, SHAP, PyTorch 2.0.1, NumPy/SciPy/pandas.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Altair for interactive SHAP visualisation; metrics at K ∈ {5, 10, 20}.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525"/>
          <p:cNvGrpSpPr/>
          <p:nvPr/>
        </p:nvGrpSpPr>
        <p:grpSpPr>
          <a:xfrm rot="0">
            <a:off x="0" y="5321413"/>
            <a:ext cx="18288000" cy="4965587"/>
            <a:chOff x="0" y="0"/>
            <a:chExt cx="4816593" cy="1307809"/>
          </a:xfrm>
        </p:grpSpPr>
        <p:sp>
          <p:nvSpPr>
            <p:cNvPr name="Freeform 3" id="1526"/>
            <p:cNvSpPr/>
            <p:nvPr/>
          </p:nvSpPr>
          <p:spPr>
            <a:xfrm flipH="false" flipV="false" rot="0">
              <a:off x="0" y="0"/>
              <a:ext cx="4816592" cy="1307809"/>
            </a:xfrm>
            <a:custGeom>
              <a:avLst/>
              <a:gdLst/>
              <a:ahLst/>
              <a:cxnLst/>
              <a:rect r="r" b="b" t="t" l="l"/>
              <a:pathLst>
                <a:path h="1307809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307809"/>
                  </a:lnTo>
                  <a:lnTo>
                    <a:pt x="0" y="1307809"/>
                  </a:ln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527"/>
            <p:cNvSpPr txBox="true"/>
            <p:nvPr/>
          </p:nvSpPr>
          <p:spPr>
            <a:xfrm>
              <a:off x="0" y="-38100"/>
              <a:ext cx="4816593" cy="13459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11" id="1534"/>
          <p:cNvSpPr txBox="true"/>
          <p:nvPr/>
        </p:nvSpPr>
        <p:spPr>
          <a:xfrm rot="0">
            <a:off x="1028700" y="2635383"/>
            <a:ext cx="15730026" cy="268603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9713"/>
              </a:lnSpc>
            </a:pPr>
            <a:r>
              <a:rPr lang="en-US" sz="3400" spc="-124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Explainable Black-Box Clustering</a:t>
            </a:r>
          </a:p>
        </p:txBody>
      </p:sp>
      <p:grpSp>
        <p:nvGrpSpPr>
          <p:cNvPr name="Group 12" id="1535"/>
          <p:cNvGrpSpPr/>
          <p:nvPr/>
        </p:nvGrpSpPr>
        <p:grpSpPr>
          <a:xfrm rot="0">
            <a:off x="16258151" y="3265231"/>
            <a:ext cx="1001149" cy="1001149"/>
            <a:chOff x="0" y="0"/>
            <a:chExt cx="812800" cy="812800"/>
          </a:xfrm>
        </p:grpSpPr>
        <p:sp>
          <p:nvSpPr>
            <p:cNvPr name="Freeform 13" id="153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CC665"/>
            </a:solidFill>
          </p:spPr>
          <p:txBody>
            <a:bodyPr/>
            <a:p/>
          </p:txBody>
        </p:sp>
        <p:sp>
          <p:nvSpPr>
            <p:cNvPr name="TextBox 14" id="153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538"/>
          <p:cNvSpPr/>
          <p:nvPr/>
        </p:nvSpPr>
        <p:spPr>
          <a:xfrm flipH="true" flipV="false" rot="-5400000">
            <a:off x="16564092" y="3571172"/>
            <a:ext cx="389267" cy="389267"/>
          </a:xfrm>
          <a:custGeom>
            <a:avLst/>
            <a:gdLst/>
            <a:ahLst/>
            <a:cxnLst/>
            <a:rect r="r" b="b" t="t" l="l"/>
            <a:pathLst>
              <a:path h="389267" w="389267">
                <a:moveTo>
                  <a:pt x="389267" y="0"/>
                </a:moveTo>
                <a:lnTo>
                  <a:pt x="0" y="0"/>
                </a:lnTo>
                <a:lnTo>
                  <a:pt x="0" y="389267"/>
                </a:lnTo>
                <a:lnTo>
                  <a:pt x="389267" y="389267"/>
                </a:lnTo>
                <a:lnTo>
                  <a:pt x="38926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539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Objectives</a:t>
            </a:r>
          </a:p>
        </p:txBody>
      </p:sp>
      <p:grpSp>
        <p:nvGrpSpPr>
          <p:cNvPr name="Group 3" id="1540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541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542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54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54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545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54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54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548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54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55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551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55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55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554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55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55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557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55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55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560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561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562" name="TextBox 1561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Gap: Shapley explanation is dominant in supervised tasks, but clustering remains comparatively under-explained.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Existing clustering-interpretability methods privilege local or global explanation, not both.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They often fail to scale or preserve coherence across clusters.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Objectives: build a pipeline yielding cluster-level explanation while preserving feature-level attribution.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Preserve the semantics of the original feature space; justify why Shapley is better than LIME.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570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34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Research Question &amp; Objectives</a:t>
            </a:r>
          </a:p>
        </p:txBody>
      </p:sp>
      <p:grpSp>
        <p:nvGrpSpPr>
          <p:cNvPr name="Group 3" id="1571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572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573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57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57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576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57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57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579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58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58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582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58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58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585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586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587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588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589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590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591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592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593" name="TextBox 1592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RQ1 · How can Shapley values explain black-box clustering faithfully at instance and cluster level?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Objective O1 · A pipeline that yields cluster-level explanation while keeping feature-level attribution.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Objective O2 · Preserve the semantics of the original feature space, not a reduced latent space.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Objective O3 · Justify Shapley over an ad-hoc surrogate such as LIME.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601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160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60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604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160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60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607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160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60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610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161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61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613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161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161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616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161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161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1628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34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Value Function (Cooperative Game)</a:t>
            </a:r>
          </a:p>
        </p:txBody>
      </p:sp>
      <p:sp>
        <p:nvSpPr>
          <p:cNvPr name="Freeform 30" id="1629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1630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631" name="TextBox 1630"/>
          <p:cNvSpPr txBox="1"/>
          <p:nvPr/>
        </p:nvSpPr>
        <p:spPr>
          <a:xfrm>
            <a:off x="1005840" y="4754880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Player set N = F — each feature is a player.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Value function v(S) = Silhouette( KMeans(X_S, k*) ) — how well data cluster using only features in 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A feature's Shapley value = its expected marginal contribution to clustering quality over all coalition orders.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Why Silhouette: bounded, normalised, semantically intuitive.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Direct evaluation for every coalition is intractable → we need a bridge.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631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1632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633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634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1635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636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637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1638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639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640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1641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642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643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1644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1645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646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1654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Surrogate + TreeSHAP</a:t>
            </a:r>
          </a:p>
        </p:txBody>
      </p:sp>
      <p:sp>
        <p:nvSpPr>
          <p:cNvPr id="1655" name="TextBox 1654"/>
          <p:cNvSpPr txBox="1"/>
          <p:nvPr/>
        </p:nvSpPr>
        <p:spPr>
          <a:xfrm>
            <a:off x="1005840" y="4572324"/>
            <a:ext cx="4279392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Once K-Means produces cluster labels, train a LightGBM multiclass surrogate to predict them from original features.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Apply TreeSHAP to the surrogate — fast, exact tree-based attribution in the original semantic feature space.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Direct TreeSHAP on K-Means is impossible (it explains tree models, not centroids).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Validity condition: surrogate fidelity is high (macro-F1 ≈ 0.82).</a:t>
            </a:r>
          </a:p>
        </p:txBody>
      </p:sp>
      <p:pic>
        <p:nvPicPr>
          <p:cNvPr id="1656" name="Picture 1655" descr="c1_pipeline_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4572324"/>
            <a:ext cx="3621024" cy="3621023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655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1656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657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658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1659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660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661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1662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663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664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1665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666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667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1668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1669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670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1678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Pipeline (5 stages)</a:t>
            </a:r>
          </a:p>
        </p:txBody>
      </p:sp>
      <p:sp>
        <p:nvSpPr>
          <p:cNvPr id="1679" name="TextBox 1678"/>
          <p:cNvSpPr txBox="1"/>
          <p:nvPr/>
        </p:nvSpPr>
        <p:spPr>
          <a:xfrm>
            <a:off x="1005840" y="4572324"/>
            <a:ext cx="4279392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Stage 1 – PCA: stabilise geometry + visual diagnostic (NOT the explanatory space).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Stage 2 – K-Means++ with multi-criteria k selection (elbow, Silhouette, Davies–Bouldin).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Stage 3 – LightGBM surrogate trained on original features to predict cluster labels.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Stage 4 – TreeSHAP attribution in the original feature space.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Stage 5 – Global importance, cluster-specific profiles, local force plots.</a:t>
            </a:r>
          </a:p>
        </p:txBody>
      </p:sp>
      <p:pic>
        <p:nvPicPr>
          <p:cNvPr id="1680" name="Picture 1679" descr="c1_pipeline_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4572324"/>
            <a:ext cx="3621024" cy="3621023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679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1680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681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682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1683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684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685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1686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687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688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1689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690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691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1692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1693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694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1702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Choosing k</a:t>
            </a:r>
          </a:p>
        </p:txBody>
      </p:sp>
      <p:sp>
        <p:nvSpPr>
          <p:cNvPr id="1703" name="TextBox 1702"/>
          <p:cNvSpPr txBox="1"/>
          <p:nvPr/>
        </p:nvSpPr>
        <p:spPr>
          <a:xfrm>
            <a:off x="1005840" y="4572324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Multi-criteria evaluation across k ∈ {2..10} using elbow, Silhouette, Davies–Bouldin.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We select k* = 3 — even though it is NOT geometrically optimal: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k = 2: Silhouette 0.214, Davies–Bouldin 1.775 (better separation).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k = 3: Silhouette 0.144, Davies–Bouldin 2.097 (weaker separation).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Why: three clusters give a semantically richer oenological partition → more actionable.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Note: the Silhouette ~0.63 belongs to Beijing (C2), not this wine partition.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703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1704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705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706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1707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708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709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1710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711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712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1713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714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715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1716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1717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718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1726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Global SHAP Ranking (Wine)</a:t>
            </a:r>
          </a:p>
        </p:txBody>
      </p:sp>
      <p:sp>
        <p:nvSpPr>
          <p:cNvPr id="1727" name="TextBox 1726"/>
          <p:cNvSpPr txBox="1"/>
          <p:nvPr/>
        </p:nvSpPr>
        <p:spPr>
          <a:xfrm>
            <a:off x="1005840" y="4572324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Global SHAP ranking (high → low):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density → pH → fixed acidity → sulfur-dioxide → alcohol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Dominant drivers relate to structure, preservation, and sensory balance.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This is NOT an arbitrary classifier artefact — it recovers a chemically interpretable hierarchy.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727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1728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729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730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1731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732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733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1734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735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736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1737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738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739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1740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1741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742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1750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Cluster-Specific Profiles</a:t>
            </a:r>
          </a:p>
        </p:txBody>
      </p:sp>
      <p:sp>
        <p:nvSpPr>
          <p:cNvPr id="1751" name="TextBox 1750"/>
          <p:cNvSpPr txBox="1"/>
          <p:nvPr/>
        </p:nvSpPr>
        <p:spPr>
          <a:xfrm>
            <a:off x="1005840" y="4572324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Three clusters show distinct explanatory signatures.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Cluster 0 – density + sulfur-dioxide-related variables.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Cluster 1 – acidity and pH-related effects.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Cluster 2 – a different balance of acidity, alcohol, and related chemical attributes.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The same small set of variables recurs across clusters, with different relative weights within each.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751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SHAP vs LIME</a:t>
            </a:r>
          </a:p>
        </p:txBody>
      </p:sp>
      <p:grpSp>
        <p:nvGrpSpPr>
          <p:cNvPr name="Group 3" id="1752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753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754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75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75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757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75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75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760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76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76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763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76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76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766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76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76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769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77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77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772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773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aphicFrame>
        <p:nvGraphicFramePr>
          <p:cNvPr id="1774" name="Table 1773"/>
          <p:cNvGraphicFramePr>
            <a:graphicFrameLocks noGrp="1"/>
          </p:cNvGraphicFramePr>
          <p:nvPr/>
        </p:nvGraphicFramePr>
        <p:xfrm>
          <a:off x="640080" y="2103120"/>
          <a:ext cx="10881359" cy="3474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66447"/>
                <a:gridCol w="4057456"/>
                <a:gridCol w="4057456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Criterion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SHAP (cooperative)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LIME (local surrogate)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Basis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Cooperative-game marginal contribution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Local surrogate approximation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Local / global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Both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Primarily local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Theoretical guarantee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Efficiency, symmetry, null player, additivity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None equivalent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Stability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Higher when surrogate faithful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Sensitive to perturbation design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Cluster comparison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Strong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Limited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782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Answers</a:t>
            </a:r>
          </a:p>
        </p:txBody>
      </p:sp>
      <p:grpSp>
        <p:nvGrpSpPr>
          <p:cNvPr name="Group 3" id="1783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784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785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786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787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788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789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790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791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79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79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794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79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79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797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79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79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800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80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80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803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804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805" name="TextBox 1804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Answers to the questions and objectives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RQ1 answered in the affirmative — faithful, coherent cluster-level explanation from Shapley values.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O1 met · cluster-level explanation while preserving feature-level attribution.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O2 met · attribution returned to the original chemical variables.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O3 met · Shapley grounded in four axioms; LIME has no equivalent guarantee.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813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Key Findings</a:t>
            </a:r>
          </a:p>
        </p:txBody>
      </p:sp>
      <p:grpSp>
        <p:nvGrpSpPr>
          <p:cNvPr name="Group 3" id="1814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815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816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81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81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819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82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82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822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82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82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825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82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82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828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82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83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831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83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83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834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835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836" name="TextBox 1835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Key findings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Cluster-level explanation anchored to individual feature contributions.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Explanations returned to the original chemical variables, not a latent space.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Theoretically grounded case for Shapley over LIME.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Recovers an oenologically interpretable ranking — density, pH, acidity, sulfur dioxide, alcohol.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844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Limitations</a:t>
            </a:r>
          </a:p>
        </p:txBody>
      </p:sp>
      <p:grpSp>
        <p:nvGrpSpPr>
          <p:cNvPr name="Group 3" id="1845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846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847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84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84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850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85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85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853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85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85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856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85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85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859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86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86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862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86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86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865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866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867" name="TextBox 1866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Limitations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Fidelity depends on the LightGBM surrogate — not a direct mechanism of the K-Means geometry.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Confined to tabular data; no structured, graph, or image input.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Single-level structure: cannot explain how importance reconfigures between a partition and its sub-partitions.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The surrogate approximation compresses observation-level variation.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875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Takeaways</a:t>
            </a:r>
          </a:p>
        </p:txBody>
      </p:sp>
      <p:grpSp>
        <p:nvGrpSpPr>
          <p:cNvPr name="Group 3" id="1876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877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878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87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88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881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88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88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884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88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88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887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88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88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890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89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89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893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89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89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896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897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898" name="TextBox 1897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Takeaways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Shapley attribution is a single, principled lens for explaining an unsupervised partition.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Keeping attribution in the original feature space is what makes it actionable.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But real data are rarely single-level: broad regimes contain nested sub-groups.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So the next question is whether this logic survives scale and hierarchy.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906"/>
          <p:cNvGrpSpPr/>
          <p:nvPr/>
        </p:nvGrpSpPr>
        <p:grpSpPr>
          <a:xfrm rot="0">
            <a:off x="0" y="5321413"/>
            <a:ext cx="18288000" cy="4965587"/>
            <a:chOff x="0" y="0"/>
            <a:chExt cx="4816593" cy="1307809"/>
          </a:xfrm>
        </p:grpSpPr>
        <p:sp>
          <p:nvSpPr>
            <p:cNvPr name="Freeform 3" id="1907"/>
            <p:cNvSpPr/>
            <p:nvPr/>
          </p:nvSpPr>
          <p:spPr>
            <a:xfrm flipH="false" flipV="false" rot="0">
              <a:off x="0" y="0"/>
              <a:ext cx="4816592" cy="1307809"/>
            </a:xfrm>
            <a:custGeom>
              <a:avLst/>
              <a:gdLst/>
              <a:ahLst/>
              <a:cxnLst/>
              <a:rect r="r" b="b" t="t" l="l"/>
              <a:pathLst>
                <a:path h="1307809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307809"/>
                  </a:lnTo>
                  <a:lnTo>
                    <a:pt x="0" y="1307809"/>
                  </a:ln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908"/>
            <p:cNvSpPr txBox="true"/>
            <p:nvPr/>
          </p:nvSpPr>
          <p:spPr>
            <a:xfrm>
              <a:off x="0" y="-38100"/>
              <a:ext cx="4816593" cy="13459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11" id="1915"/>
          <p:cNvSpPr txBox="true"/>
          <p:nvPr/>
        </p:nvSpPr>
        <p:spPr>
          <a:xfrm rot="0">
            <a:off x="1028700" y="2635383"/>
            <a:ext cx="15730026" cy="268603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9713"/>
              </a:lnSpc>
            </a:pPr>
            <a:r>
              <a:rPr lang="en-US" sz="2800" spc="-124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Enhanced Multi-Level XAI for Large-Scale Clustering</a:t>
            </a:r>
          </a:p>
        </p:txBody>
      </p:sp>
      <p:grpSp>
        <p:nvGrpSpPr>
          <p:cNvPr name="Group 12" id="1916"/>
          <p:cNvGrpSpPr/>
          <p:nvPr/>
        </p:nvGrpSpPr>
        <p:grpSpPr>
          <a:xfrm rot="0">
            <a:off x="16258151" y="3265231"/>
            <a:ext cx="1001149" cy="1001149"/>
            <a:chOff x="0" y="0"/>
            <a:chExt cx="812800" cy="812800"/>
          </a:xfrm>
        </p:grpSpPr>
        <p:sp>
          <p:nvSpPr>
            <p:cNvPr name="Freeform 13" id="19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CC665"/>
            </a:solidFill>
          </p:spPr>
          <p:txBody>
            <a:bodyPr/>
            <a:p/>
          </p:txBody>
        </p:sp>
        <p:sp>
          <p:nvSpPr>
            <p:cNvPr name="TextBox 14" id="191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919"/>
          <p:cNvSpPr/>
          <p:nvPr/>
        </p:nvSpPr>
        <p:spPr>
          <a:xfrm flipH="true" flipV="false" rot="-5400000">
            <a:off x="16564092" y="3571172"/>
            <a:ext cx="389267" cy="389267"/>
          </a:xfrm>
          <a:custGeom>
            <a:avLst/>
            <a:gdLst/>
            <a:ahLst/>
            <a:cxnLst/>
            <a:rect r="r" b="b" t="t" l="l"/>
            <a:pathLst>
              <a:path h="389267" w="389267">
                <a:moveTo>
                  <a:pt x="389267" y="0"/>
                </a:moveTo>
                <a:lnTo>
                  <a:pt x="0" y="0"/>
                </a:lnTo>
                <a:lnTo>
                  <a:pt x="0" y="389267"/>
                </a:lnTo>
                <a:lnTo>
                  <a:pt x="389267" y="389267"/>
                </a:lnTo>
                <a:lnTo>
                  <a:pt x="38926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920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Objectives</a:t>
            </a:r>
          </a:p>
        </p:txBody>
      </p:sp>
      <p:grpSp>
        <p:nvGrpSpPr>
          <p:cNvPr name="Group 3" id="1921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922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923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92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92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926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92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92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929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93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93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932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93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93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935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936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937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938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939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940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941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942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943" name="TextBox 1942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Gap: once clustering is multi-level, feature importance must stay interpretable within a cluster, across sub-clusters, and across the hierarchy.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Large-scale data make exact explanation computationally burdensome.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Flat explanation may be true yet incomplete — it cannot show how importance changes inside a cluster.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Objectives: a genuinely multi-level workflow; a formal cross-level consistency argument (Prop. 6.1); validation on a structurally different large-scale dataset.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951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34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Research Question &amp; Objectives</a:t>
            </a:r>
          </a:p>
        </p:txBody>
      </p:sp>
      <p:grpSp>
        <p:nvGrpSpPr>
          <p:cNvPr name="Group 3" id="1952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953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954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95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95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957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95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95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960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96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96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963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96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96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966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96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96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969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97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97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972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973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974" name="TextBox 1973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RQ2 · How can this extend to large-scale, hierarchical clustering without losing tractability or consistency?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Objective O1 · A genuinely multi-level workflow, not a rerun of the single-level pipeline.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Objective O2 · A formal cross-level consistency argument (Proposition 6.1).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Objective O3 · Validation on a structurally different large-scale dataset.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982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1983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984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985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1986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987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988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1989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990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991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1992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993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994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1995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1996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997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2005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Multi-Level Architecture</a:t>
            </a:r>
          </a:p>
        </p:txBody>
      </p:sp>
      <p:sp>
        <p:nvSpPr>
          <p:cNvPr id="2006" name="TextBox 2005"/>
          <p:cNvSpPr txBox="1"/>
          <p:nvPr/>
        </p:nvSpPr>
        <p:spPr>
          <a:xfrm>
            <a:off x="1005840" y="4572324"/>
            <a:ext cx="4279392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Recursive/nested: coarse clustering on the full dataset, then subdivide each cluster.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For each level, train a level-specific surrogate and compute SHAP in the SAME original feature space.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Cross-level aggregation is NOT a naive average — it respects cluster size and nesting structure.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Parent-level attribution = an expectation over the explanatory structure of its descendants.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The hierarchy is a pragmatic analytical device, not a claim of true ontological hierarchy.</a:t>
            </a:r>
          </a:p>
        </p:txBody>
      </p:sp>
      <p:pic>
        <p:nvPicPr>
          <p:cNvPr id="2007" name="Picture 2006" descr="c2_hierarc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4572324"/>
            <a:ext cx="3621024" cy="106367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006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00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00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009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01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01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012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01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01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015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01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01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018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01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02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021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02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02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033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Proposition 6.1</a:t>
            </a:r>
          </a:p>
        </p:txBody>
      </p:sp>
      <p:sp>
        <p:nvSpPr>
          <p:cNvPr name="Freeform 30" id="2034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035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036" name="TextBox 2035"/>
          <p:cNvSpPr txBox="1"/>
          <p:nvPr/>
        </p:nvSpPr>
        <p:spPr>
          <a:xfrm>
            <a:off x="1005840" y="4754880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Let Φ^(l,c)_j = E_{x~c}[|φ_j^(l)(x)|] be expected absolute SHAP importance of feature j at level l in cluster c.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Let w_c' = |c'| / |c| be the relative size of child c' within parent c.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For a strict nested hierarchy on a consistent feature space: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Φ^(l,c)_j = Σ_{c'\u2208child(c)} w_c' · Φ^(l+1,c')_j + ε_j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ε_j vanishes under perfect surrogate fidelity. Derived via law of total expectation.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Does NOT imply explanations are identical across levels — differences can be interpreted, not dismissed.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036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03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03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039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04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04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042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04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04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045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04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04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048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04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05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051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05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05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063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Convergence &amp; Stability</a:t>
            </a:r>
          </a:p>
        </p:txBody>
      </p:sp>
      <p:sp>
        <p:nvSpPr>
          <p:cNvPr name="Freeform 30" id="2064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065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066" name="TextBox 2065"/>
          <p:cNvSpPr txBox="1"/>
          <p:nvPr/>
        </p:nvSpPr>
        <p:spPr>
          <a:xfrm>
            <a:off x="1005840" y="4754880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Full dataset, k = 3 (strong convergence on multi-criteria evaluation).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Silhouette ≈ 0.63 — materially stronger separation than wine.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Davies–Bouldin ≈ 0.55 — low between-cluster ambiguity.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PCA projection (2 components) used only for visual inspection.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Sensitivity: robust to modest variation in k, projection dim, surrogate depth; only low-ranked variables shift.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066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06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06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069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07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07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072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07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07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075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07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07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078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07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08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081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08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08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093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Global Ranking (Beijing)</a:t>
            </a:r>
          </a:p>
        </p:txBody>
      </p:sp>
      <p:sp>
        <p:nvSpPr>
          <p:cNvPr name="Freeform 30" id="2094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095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096" name="TextBox 2095"/>
          <p:cNvSpPr txBox="1"/>
          <p:nvPr/>
        </p:nvSpPr>
        <p:spPr>
          <a:xfrm>
            <a:off x="1005840" y="4754880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Global SHAP ranking (high → low):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temperature → dew point → pressure → CO → NO2 → PM10 → PM2.5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It is NOT simply pollutant concentrations that matter — meteorological variables play a structurally central role.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Temperature, dew point and pressure condition dispersion, trapping, and photochemical behaviour.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This is the kind of insight flat descriptive summaries often fail to make explicit.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096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09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09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099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10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10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102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10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10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105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10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10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108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10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11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111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11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11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123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Regimes</a:t>
            </a:r>
          </a:p>
        </p:txBody>
      </p:sp>
      <p:sp>
        <p:nvSpPr>
          <p:cNvPr name="Freeform 30" id="2124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125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126" name="TextBox 2125"/>
          <p:cNvSpPr txBox="1"/>
          <p:nvPr/>
        </p:nvSpPr>
        <p:spPr>
          <a:xfrm>
            <a:off x="1005840" y="4754880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Regime A – warm photochemical: ozone, temperature, dew point prominent (summer photochemical smog).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Regime B – wintertime smog: CO, SO2, PM dominate; low wind speed suppresses dispersion.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Regime C – comparatively clean air: favourable meteorology, weak pollutant pushes.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The framework shows not only that these regimes exist, but which variable combinations define them.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126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12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12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129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13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13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132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13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13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135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13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13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138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13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14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141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14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14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153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Cross-Level Story</a:t>
            </a:r>
          </a:p>
        </p:txBody>
      </p:sp>
      <p:sp>
        <p:nvSpPr>
          <p:cNvPr name="Freeform 30" id="2154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155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156" name="TextBox 2155"/>
          <p:cNvSpPr txBox="1"/>
          <p:nvPr/>
        </p:nvSpPr>
        <p:spPr>
          <a:xfrm>
            <a:off x="1005840" y="4754880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At the coarse level, temperature and dew point dominate — they differentiate broad atmospheric regimes.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Within individual clusters, CO, SO2, PM10, wind speed, pressure, or ozone become more discriminative.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This change is NOT contradictory — it is exactly what a multi-level explanation should reveal.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Parent-level story = regime selection. Cluster-level story = variation within a regime.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A variable can be globally important yet locally uninformative within a sub-cluster.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156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15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15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159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16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16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162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16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16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165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16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16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168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16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17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171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17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17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183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Generalisation</a:t>
            </a:r>
          </a:p>
        </p:txBody>
      </p:sp>
      <p:sp>
        <p:nvSpPr>
          <p:cNvPr name="Freeform 30" id="2184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185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186" name="TextBox 2185"/>
          <p:cNvSpPr txBox="1"/>
          <p:nvPr/>
        </p:nvSpPr>
        <p:spPr>
          <a:xfrm>
            <a:off x="1005840" y="4754880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Wine: small, dense, chemically correlated. Beijing: large, noisy, temporally and meteorologically variable.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The same explanatory logic remains productive in both → not tied to one domain-specific peculiarity.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vs SHAP-based clustering literature: Beijing Silhouette ≈ 0.63 vs Gramegna &amp; Giudici credit-risk 0.37.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LIME comparator: weaker structural coherence, less stable local narratives for hierarchical reasoning.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186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Answers</a:t>
            </a:r>
          </a:p>
        </p:txBody>
      </p:sp>
      <p:grpSp>
        <p:nvGrpSpPr>
          <p:cNvPr name="Group 3" id="2187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188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189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19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19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192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19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19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195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196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197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198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199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200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201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20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20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204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20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20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207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208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209" name="TextBox 2208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Answers to the questions and objectives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RQ2 answered in the affirmative, with bounds — coherence retained under scale and hierarchy.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O1 met · a multi-granular explanation that does not collapse into a single flat summary.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O2 met · Proposition 6.1 provides a formal cross-level consistency argument.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O3 met · validated on a structurally different large-scale dataset (Beijing air quality).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217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Key Findings</a:t>
            </a:r>
          </a:p>
        </p:txBody>
      </p:sp>
      <p:grpSp>
        <p:nvGrpSpPr>
          <p:cNvPr name="Group 3" id="2218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219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220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22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22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223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22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22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226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22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22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229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23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23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232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23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23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235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23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23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238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239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240" name="TextBox 2239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Key findings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Scalable, multi-granular explanation that does not collapse into a single flat summary.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Formal cross-level consistency argument (Proposition 6.1).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Validated on a structurally different large-scale dataset (Beijing air quality).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Differences across levels are interpretable, not dismissed as inconsistency.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248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Limitations</a:t>
            </a:r>
          </a:p>
        </p:txBody>
      </p:sp>
      <p:grpSp>
        <p:nvGrpSpPr>
          <p:cNvPr name="Group 3" id="2249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250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251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25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25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254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25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25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257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25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25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260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26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26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263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26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26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266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26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26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269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270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271" name="TextBox 2270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Limitations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Clustering remains static, even though the Beijing data are temporal.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Surrogate-based SHAP plus representative-instance reporting compress observation-level variation.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Confined to tabular data.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Still an explanation of a pre-computed partition — it does not influence learning.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279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Takeaways</a:t>
            </a:r>
          </a:p>
        </p:txBody>
      </p:sp>
      <p:grpSp>
        <p:nvGrpSpPr>
          <p:cNvPr name="Group 3" id="2280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281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282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28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28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285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28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28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288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28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29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291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29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29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294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29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29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297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29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29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300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301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302" name="TextBox 2301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Takeaways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Shapley attribution stays coherent across granularity — when the hierarchy is explicit.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Explanations become interpretable against scale, not just against a single flat partition.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But the attribution is still post-hoc: it explains a partition that was already computed.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So the next step is to let attribution shape the learning itself.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310"/>
          <p:cNvGrpSpPr/>
          <p:nvPr/>
        </p:nvGrpSpPr>
        <p:grpSpPr>
          <a:xfrm rot="0">
            <a:off x="0" y="5321413"/>
            <a:ext cx="18288000" cy="4965587"/>
            <a:chOff x="0" y="0"/>
            <a:chExt cx="4816593" cy="1307809"/>
          </a:xfrm>
        </p:grpSpPr>
        <p:sp>
          <p:nvSpPr>
            <p:cNvPr name="Freeform 3" id="2311"/>
            <p:cNvSpPr/>
            <p:nvPr/>
          </p:nvSpPr>
          <p:spPr>
            <a:xfrm flipH="false" flipV="false" rot="0">
              <a:off x="0" y="0"/>
              <a:ext cx="4816592" cy="1307809"/>
            </a:xfrm>
            <a:custGeom>
              <a:avLst/>
              <a:gdLst/>
              <a:ahLst/>
              <a:cxnLst/>
              <a:rect r="r" b="b" t="t" l="l"/>
              <a:pathLst>
                <a:path h="1307809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307809"/>
                  </a:lnTo>
                  <a:lnTo>
                    <a:pt x="0" y="1307809"/>
                  </a:ln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312"/>
            <p:cNvSpPr txBox="true"/>
            <p:nvPr/>
          </p:nvSpPr>
          <p:spPr>
            <a:xfrm>
              <a:off x="0" y="-38100"/>
              <a:ext cx="4816593" cy="13459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11" id="2319"/>
          <p:cNvSpPr txBox="true"/>
          <p:nvPr/>
        </p:nvSpPr>
        <p:spPr>
          <a:xfrm rot="0">
            <a:off x="1028700" y="2635383"/>
            <a:ext cx="15730026" cy="268603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9713"/>
              </a:lnSpc>
            </a:pPr>
            <a:r>
              <a:rPr lang="en-US" sz="2800" spc="-124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DyHuCoG: A Dynamic Hypergraph Cooperative Game</a:t>
            </a:r>
          </a:p>
        </p:txBody>
      </p:sp>
      <p:grpSp>
        <p:nvGrpSpPr>
          <p:cNvPr name="Group 12" id="2320"/>
          <p:cNvGrpSpPr/>
          <p:nvPr/>
        </p:nvGrpSpPr>
        <p:grpSpPr>
          <a:xfrm rot="0">
            <a:off x="16258151" y="3265231"/>
            <a:ext cx="1001149" cy="1001149"/>
            <a:chOff x="0" y="0"/>
            <a:chExt cx="812800" cy="812800"/>
          </a:xfrm>
        </p:grpSpPr>
        <p:sp>
          <p:nvSpPr>
            <p:cNvPr name="Freeform 13" id="23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CC665"/>
            </a:solidFill>
          </p:spPr>
          <p:txBody>
            <a:bodyPr/>
            <a:p/>
          </p:txBody>
        </p:sp>
        <p:sp>
          <p:nvSpPr>
            <p:cNvPr name="TextBox 14" id="2322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2323"/>
          <p:cNvSpPr/>
          <p:nvPr/>
        </p:nvSpPr>
        <p:spPr>
          <a:xfrm flipH="true" flipV="false" rot="-5400000">
            <a:off x="16564092" y="3571172"/>
            <a:ext cx="389267" cy="389267"/>
          </a:xfrm>
          <a:custGeom>
            <a:avLst/>
            <a:gdLst/>
            <a:ahLst/>
            <a:cxnLst/>
            <a:rect r="r" b="b" t="t" l="l"/>
            <a:pathLst>
              <a:path h="389267" w="389267">
                <a:moveTo>
                  <a:pt x="389267" y="0"/>
                </a:moveTo>
                <a:lnTo>
                  <a:pt x="0" y="0"/>
                </a:lnTo>
                <a:lnTo>
                  <a:pt x="0" y="389267"/>
                </a:lnTo>
                <a:lnTo>
                  <a:pt x="389267" y="389267"/>
                </a:lnTo>
                <a:lnTo>
                  <a:pt x="38926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324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Objectives</a:t>
            </a:r>
          </a:p>
        </p:txBody>
      </p:sp>
      <p:grpSp>
        <p:nvGrpSpPr>
          <p:cNvPr name="Group 3" id="2325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326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327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32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32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330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33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33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333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33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33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336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33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33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339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34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34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342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34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34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345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346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347" name="TextBox 2346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Gap: graph and hypergraph recommenders treat message importance as uniform or attention-weighted, without a principled marginal-contribution account.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Diversity is often a secondary objective or a re-ranking heuristic.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Interpretability is added after prediction, not integrated into the learning objective.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Objectives: formulate recommendation as a cooperative game; embed preference-aware Monte Carlo Shapley into message passing; improve ranking, coverage, and diversity jointly.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355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34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Research Questions &amp; Objectives</a:t>
            </a:r>
          </a:p>
        </p:txBody>
      </p:sp>
      <p:grpSp>
        <p:nvGrpSpPr>
          <p:cNvPr name="Group 3" id="2356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357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358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35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36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361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36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36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364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36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36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367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36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36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370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37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37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373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37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37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376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377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378" name="TextBox 2377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RQ3 · Can cooperative attribution move beyond post-hoc and enter the learning dynamics of graph recommenders?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RQ4 · Can a recommender jointly optimise ranking accuracy, context and diversity when importance is estimated by a cooperative-game utility?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Objective O1 · Formulate recommendation as a cooperative game with users, items and contexts as players.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Objective O2 · Embed preference-aware Monte Carlo Shapley into hypergraph message passing.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Objective O3 · Improve ranking, coverage and diversity jointly.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386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38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38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389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39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39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392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39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39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395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39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39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398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39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40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401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40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40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413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34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Players, Hypergraph &amp; Coalition Value</a:t>
            </a:r>
          </a:p>
        </p:txBody>
      </p:sp>
      <p:sp>
        <p:nvSpPr>
          <p:cNvPr name="Freeform 30" id="2414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415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416" name="TextBox 2415"/>
          <p:cNvSpPr txBox="1"/>
          <p:nvPr/>
        </p:nvSpPr>
        <p:spPr>
          <a:xfrm>
            <a:off x="1005840" y="4754880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Player set N = U ∪ I ∪ C (users, items, contexts).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Hypergraph H = (V, E, W); V = U ∪ I ∪ C; W = dynamic edge weights from Shapley estimates.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Coalition S ⊆ N represents entities participating in a recommendation episode.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Coalition value v(S) measures the quality of the recommendation outcome achievable by 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Top-N task: produce a ranked list L_u balancing relevance, diversity, and contextual fit.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416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41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41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419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42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42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422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42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42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425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42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42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428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42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43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431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43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43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443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Coalition Utility</a:t>
            </a:r>
          </a:p>
        </p:txBody>
      </p:sp>
      <p:sp>
        <p:nvSpPr>
          <p:cNvPr name="Freeform 30" id="2444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445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446" name="TextBox 2445"/>
          <p:cNvSpPr txBox="1"/>
          <p:nvPr/>
        </p:nvSpPr>
        <p:spPr>
          <a:xfrm>
            <a:off x="1005840" y="4754880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v(S) = α · NDCG@20(S) + β · Diversity(S) + γ · ContextScore(S), with α + β + γ = 1.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The same trade-off the recommender must satisfy is the trade-off from which attribution is computed — explanatory game and predictive objective aligned by design.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Preference-weighted: v_pref(S) = v(S) + λ_pref · Σ_{(u,i)∈S} sim(u,i).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α = 0.60, β = 0.25, γ = 0.15; λ_pref = 0.20 — grid-searched, stable (&lt;1.5% variance in NDCG@20).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Coalition evaluation scoped to the interaction episode (a few dozen players), not the full catalogue.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446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44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44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449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45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45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452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45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45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455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45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45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458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45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46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461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46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46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473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Monte Carlo Shapley</a:t>
            </a:r>
          </a:p>
        </p:txBody>
      </p:sp>
      <p:sp>
        <p:nvSpPr>
          <p:cNvPr name="Freeform 30" id="2474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475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476" name="TextBox 2475"/>
          <p:cNvSpPr txBox="1"/>
          <p:nvPr/>
        </p:nvSpPr>
        <p:spPr>
          <a:xfrm>
            <a:off x="1005840" y="4754880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Exact Shapley is combinatorial and infeasible for realistic systems.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Monte Carlo estimator: φ̂_j = (1/M) Σ_m [ v(S_m ∪ {j}) − v(S_m) ].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Preference-aware: φ̂_j^pref = (1/M) Σ_m [ v_pref(S_m ∪ {j}) − v_pref(S_m) ].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Unbiased; variance = σ²/M → MSE decays O(1/M), absolute error O(1/√M).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M = 50 selected: MSE ≈ 1.4×10⁻⁵, ~99% accuracy on MovieLens-1M.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Refreshed every 10 batches (~49 updates/epoch), smoothed by exponential moving average.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476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47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47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479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48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48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482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48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48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485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48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48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488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48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49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491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49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49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503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DyHuCoG Architecture</a:t>
            </a:r>
          </a:p>
        </p:txBody>
      </p:sp>
      <p:sp>
        <p:nvSpPr>
          <p:cNvPr name="Freeform 30" id="2504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505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506" name="TextBox 2505"/>
          <p:cNvSpPr txBox="1"/>
          <p:nvPr/>
        </p:nvSpPr>
        <p:spPr>
          <a:xfrm>
            <a:off x="1005840" y="4754880"/>
            <a:ext cx="4279392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700" b="0">
                <a:solidFill>
                  <a:srgbClr val="22303C"/>
                </a:solidFill>
                <a:latin typeface="Roca Two"/>
              </a:rPr>
              <a:t>Base propagation: e^(l+1) = σ( D^-1/2 A D^-1/2 e^(l) 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700" b="1">
                <a:solidFill>
                  <a:srgbClr val="22303C"/>
                </a:solidFill>
                <a:latin typeface="Roca Two"/>
              </a:rPr>
              <a:t>Shapley-weighted: e_j^(l+1) = σ( W^(l) e_j^(l) + Σ_{k∈N(j)} w_jk e_k^(l) 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700" b="1">
                <a:solidFill>
                  <a:srgbClr val="22303C"/>
                </a:solidFill>
                <a:latin typeface="Roca Two"/>
              </a:rPr>
              <a:t>Normalised weights: w_jk = φ̂_jk / Σ_{k'∈N(j)} φ̂_jk'.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600">
                <a:solidFill>
                  <a:srgbClr val="4F81BD"/>
                </a:solidFill>
                <a:latin typeface="Roca Two"/>
              </a:rPr>
              <a:t>–  </a:t>
            </a:r>
            <a:r>
              <a:rPr sz="1600" b="0">
                <a:solidFill>
                  <a:srgbClr val="22303C"/>
                </a:solidFill>
                <a:latin typeface="Roca Two"/>
              </a:rPr>
              <a:t>Clipped + exponentially smoothed before normalisation (stabilises sparse regimes).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600">
                <a:solidFill>
                  <a:srgbClr val="4F81BD"/>
                </a:solidFill>
                <a:latin typeface="Roca Two"/>
              </a:rPr>
              <a:t>–  </a:t>
            </a:r>
            <a:r>
              <a:rPr sz="1600" b="0">
                <a:solidFill>
                  <a:srgbClr val="22303C"/>
                </a:solidFill>
                <a:latin typeface="Roca Two"/>
              </a:rPr>
              <a:t>Attention gate: a_ui = σ( W_a[ e_u, e_i, l_i ] ); y_ui = (1 + a_ui) ⟨e_u, e_i⟩.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600">
                <a:solidFill>
                  <a:srgbClr val="4F81BD"/>
                </a:solidFill>
                <a:latin typeface="Roca Two"/>
              </a:rPr>
              <a:t>–  </a:t>
            </a:r>
            <a:r>
              <a:rPr sz="1600" b="0">
                <a:solidFill>
                  <a:srgbClr val="22303C"/>
                </a:solidFill>
                <a:latin typeface="Roca Two"/>
              </a:rPr>
              <a:t>Context-aware score: f(u,i,c) = y_ui + λ_c ⟨g(c_ui), e_cui⟩.</a:t>
            </a:r>
          </a:p>
        </p:txBody>
      </p:sp>
      <p:pic>
        <p:nvPicPr>
          <p:cNvPr id="2507" name="Picture 2506" descr="c3_architecture_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4754880"/>
            <a:ext cx="3621024" cy="873123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506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50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50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509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51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51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512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51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51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515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51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51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518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51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52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521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52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52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533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Composite Loss</a:t>
            </a:r>
          </a:p>
        </p:txBody>
      </p:sp>
      <p:sp>
        <p:nvSpPr>
          <p:cNvPr name="Freeform 30" id="2534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535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536" name="TextBox 2535"/>
          <p:cNvSpPr txBox="1"/>
          <p:nvPr/>
        </p:nvSpPr>
        <p:spPr>
          <a:xfrm>
            <a:off x="1005840" y="4754880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L = L_rec + λ_div L_div + λ_ctx L_ctx + λ_reg L_reg.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L_rec – Bayesian Personalised Ranking (pairwise, implicit feedback).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L_div – Intra-List Diversity regulariser: penalises redundant ranked lists.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L_ctx – Context alignment: match context embedding to context-node representation.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L_reg – L2 weight decay.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The learning objective and coalition value are aligned: DyHuCoG trains to optimise the same balance that later determines attribution.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536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Headline Results</a:t>
            </a:r>
          </a:p>
        </p:txBody>
      </p:sp>
      <p:grpSp>
        <p:nvGrpSpPr>
          <p:cNvPr name="Group 3" id="2537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538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539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54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54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542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54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54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545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546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547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548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549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550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551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55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55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554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55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55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557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558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aphicFrame>
        <p:nvGraphicFramePr>
          <p:cNvPr id="2559" name="Table 2558"/>
          <p:cNvGraphicFramePr>
            <a:graphicFrameLocks noGrp="1"/>
          </p:cNvGraphicFramePr>
          <p:nvPr/>
        </p:nvGraphicFramePr>
        <p:xfrm>
          <a:off x="1005840" y="4282449"/>
          <a:ext cx="8229596" cy="4626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81051"/>
                <a:gridCol w="1175657"/>
                <a:gridCol w="1293222"/>
                <a:gridCol w="1293222"/>
                <a:gridCol w="1293222"/>
                <a:gridCol w="1293222"/>
              </a:tblGrid>
              <a:tr h="92537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Dataset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NDCG@20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Recall@20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Coverage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Diversity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</a:tr>
              <a:tr h="9253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MovieLens-1M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HPCF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0.2528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0.2098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0.342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0.461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9253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MovieLens-1M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DyHuCoG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0.2775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0.2362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0.397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0.516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</a:tr>
              <a:tr h="9253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Amazon-Book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HPCF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0.0270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0.0359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0.259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0.535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9253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Amazon-Book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DyHuCoG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0.0306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0.0417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0.336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0.602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567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Relative Gains</a:t>
            </a:r>
          </a:p>
        </p:txBody>
      </p:sp>
      <p:grpSp>
        <p:nvGrpSpPr>
          <p:cNvPr name="Group 3" id="2568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569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570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57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57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573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57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57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576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57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57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579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58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58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582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58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58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585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58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58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588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589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aphicFrame>
        <p:nvGraphicFramePr>
          <p:cNvPr id="2590" name="Table 2589"/>
          <p:cNvGraphicFramePr>
            <a:graphicFrameLocks noGrp="1"/>
          </p:cNvGraphicFramePr>
          <p:nvPr/>
        </p:nvGraphicFramePr>
        <p:xfrm>
          <a:off x="1005840" y="4282449"/>
          <a:ext cx="8229598" cy="42748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65230"/>
                <a:gridCol w="2532184"/>
                <a:gridCol w="2532184"/>
              </a:tblGrid>
              <a:tr h="8549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Metric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MovieLens-1M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Amazon-Book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NDCG@20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+9.77%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+13.33%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Recall@20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+12.58%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+16.16%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Coverage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+16.1%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+29.7%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Intra-List Diversity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+11.9%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+12.5%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598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59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60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601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60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60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604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60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60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607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60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60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610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61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61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613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61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61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625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Diversity Gains</a:t>
            </a:r>
          </a:p>
        </p:txBody>
      </p:sp>
      <p:sp>
        <p:nvSpPr>
          <p:cNvPr name="Freeform 30" id="2626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627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628" name="TextBox 2627"/>
          <p:cNvSpPr txBox="1"/>
          <p:nvPr/>
        </p:nvSpPr>
        <p:spPr>
          <a:xfrm>
            <a:off x="1005840" y="4754880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MovieLens-1M: Coverage 0.342 → 0.397 (+16.1%); ILD 0.461 → 0.516 (+11.9%).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Amazon-Book: Coverage 0.259 → 0.336 (+29.7%); ILD 0.535 → 0.602 (+12.5%).</a:t>
            </a:r>
          </a:p>
          <a:p>
            <a:pPr lvl="1">
              <a:lnSpc>
                <a:spcPct val="105000"/>
              </a:lnSpc>
              <a:spcAft>
                <a:spcPts val="9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Reduced filter-bubble effect and greater discovery opportunity — while NDCG/Recall also improve.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628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Ablation</a:t>
            </a:r>
          </a:p>
        </p:txBody>
      </p:sp>
      <p:grpSp>
        <p:nvGrpSpPr>
          <p:cNvPr name="Group 3" id="2629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630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631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63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63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634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63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63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637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63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63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640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64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64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643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64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64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646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64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64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649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650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aphicFrame>
        <p:nvGraphicFramePr>
          <p:cNvPr id="2651" name="Table 2650"/>
          <p:cNvGraphicFramePr>
            <a:graphicFrameLocks noGrp="1"/>
          </p:cNvGraphicFramePr>
          <p:nvPr/>
        </p:nvGraphicFramePr>
        <p:xfrm>
          <a:off x="1005840" y="4282449"/>
          <a:ext cx="8229595" cy="4626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79"/>
                <a:gridCol w="1645919"/>
                <a:gridCol w="1234439"/>
                <a:gridCol w="1645919"/>
                <a:gridCol w="1234439"/>
              </a:tblGrid>
              <a:tr h="6609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Variant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ML-1M NDCG@20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% Drop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Amazon NDCG@20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% Drop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</a:tr>
              <a:tr h="6609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Full DyHuCoG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0.2775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0.0306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6609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w/o Shapley Value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0.2647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4.6%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0.0287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6.1%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</a:tr>
              <a:tr h="6609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w/o Hypergraph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0.2586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6.8%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0.0279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8.9%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6609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w/o Attention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0.2678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3.5%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0.0295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3.5%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</a:tr>
              <a:tr h="6609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w/o Context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0.2547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8.2%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0.0272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11.0%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6609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w/o Diversity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0.2614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5.8%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0.0288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5.8%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659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66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66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662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66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66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665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666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667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668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669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670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671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67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67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674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67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67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686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Computational Cost</a:t>
            </a:r>
          </a:p>
        </p:txBody>
      </p:sp>
      <p:sp>
        <p:nvSpPr>
          <p:cNvPr name="Freeform 30" id="2687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688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689" name="TextBox 2688"/>
          <p:cNvSpPr txBox="1"/>
          <p:nvPr/>
        </p:nvSpPr>
        <p:spPr>
          <a:xfrm>
            <a:off x="1005840" y="4754880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Training: DyHuCoG ~2000 s vs HPCF ~1125 s on MovieLens-1M (≈ 1.78×).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Inference: 1.84 ms/query (ML-1M), 8.52 ms (Amazon) — suitable for real-time deployment.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Memory: 4.4 vs 4.1 GB (ML-1M); 17.9 vs 16.8 GB (Amazon).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Per-epoch cost: O((L+1)md) + O((M/f)m).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Shapley convergence: M=50 → MSE 1.4×10⁻⁵, ~99% accuracy; M=100 → MSE 3.5×10⁻⁶ (diminishing returns).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689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69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69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692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69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69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695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696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697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698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699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700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701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70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70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704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70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70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716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Statistical Significance</a:t>
            </a:r>
          </a:p>
        </p:txBody>
      </p:sp>
      <p:sp>
        <p:nvSpPr>
          <p:cNvPr name="Freeform 30" id="2717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718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719" name="TextBox 2718"/>
          <p:cNvSpPr txBox="1"/>
          <p:nvPr/>
        </p:nvSpPr>
        <p:spPr>
          <a:xfrm>
            <a:off x="1005840" y="4754880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Paired t-tests on per-user NDCG@20 (n = 6,040 users; df = 6,039).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DyHuCoG outperforms every baseline with extremely small p-values after Holm–Bonferroni correction.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vs HPCF: t = 46.38, Cohen’s d_z = 1.3345, p = 1.81×10⁻²⁷⁰.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Wilcoxon signed-rank test also significant (p &lt; 0.001).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Effect sizes are large — improvements are substantively meaningful, not merely statistically visible.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719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72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72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722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72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72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725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726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727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728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729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730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731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73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73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734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73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73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746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34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Cold-Start &amp; Interpretability</a:t>
            </a:r>
          </a:p>
        </p:txBody>
      </p:sp>
      <p:sp>
        <p:nvSpPr>
          <p:cNvPr name="Freeform 30" id="2747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748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749" name="TextBox 2748"/>
          <p:cNvSpPr txBox="1"/>
          <p:nvPr/>
        </p:nvSpPr>
        <p:spPr>
          <a:xfrm>
            <a:off x="1005840" y="4754880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Cold-start (5 or fewer interactions): NDCG@20 ≈ 0.061 (user) and 0.057 (item), improving over HPCF by ~10%.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Cross-dataset: MovieLens +9.9%, Amazon +14.8%, Yelp2018 +11.8%.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Interpretability: a SHAP waterfall decomposes a recommendation into ranking, diversity, context and preference contributions.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Popularity bias: Shapley measures marginal utility, not raw frequency — weak but informative interactions retain influence.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749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Answers</a:t>
            </a:r>
          </a:p>
        </p:txBody>
      </p:sp>
      <p:grpSp>
        <p:nvGrpSpPr>
          <p:cNvPr name="Group 3" id="2750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751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752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75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75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755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75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75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758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75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76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761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76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76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764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76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76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767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76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76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770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771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772" name="TextBox 2771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Answers to the questions and objectives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RQ3 answered in the affirmative — attribution becomes an in-training signal, not a post-hoc diagnostic.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RQ4 answered in the affirmative — ranking, coverage and diversity improve together.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O1 met · recommendation formulated as a cooperative game over users, items and contexts.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O2 met · preference-aware Monte Carlo Shapley embedded in message passing.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O3 met · +9.9% (MovieLens) / +14.8% (Amazon) NDCG, with higher coverage and diversity.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780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Key Findings</a:t>
            </a:r>
          </a:p>
        </p:txBody>
      </p:sp>
      <p:grpSp>
        <p:nvGrpSpPr>
          <p:cNvPr name="Group 3" id="2781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782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783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78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78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786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78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78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789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79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79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792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79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79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795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796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797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798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799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800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801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802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803" name="TextBox 2802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Key findings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Cooperative attribution used as an in-training signal — a stronger claim than the clustering chapters.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The accuracy–diversity–context trade-off is not structurally fixed.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NDCG, recall, coverage and diversity improve together on both datasets.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Largest gains on the sparsest data (Amazon-Book), consistent with Shapley weighting helping when signal is weak.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811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Limitations</a:t>
            </a:r>
          </a:p>
        </p:txBody>
      </p:sp>
      <p:grpSp>
        <p:nvGrpSpPr>
          <p:cNvPr name="Group 3" id="2812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813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814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81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81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817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81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81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820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82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82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823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82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82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826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82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82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829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83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83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832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833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834" name="TextBox 2833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Limitations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Measurable computational overhead — roughly 1.78× training time over HPCF.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Depends on availability of meaningful context.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Monte Carlo Shapley could be improved by variance reduction.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Ablation is component-wise, so it does not test factorial interactions.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Baselines finalised through early 2026, so superiority is claimed only against the tested baselines.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842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Takeaways</a:t>
            </a:r>
          </a:p>
        </p:txBody>
      </p:sp>
      <p:grpSp>
        <p:nvGrpSpPr>
          <p:cNvPr name="Group 3" id="2843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844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845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846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847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848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849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850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851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85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85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854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85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85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857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85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85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860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86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86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863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864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865" name="TextBox 2864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Takeaways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Attribution is a first-class part of the learning objective, not a post-hoc diagnostic.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The explanation is a direct read-out of the objective the model already optimises.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This makes the explanation structurally faithful rather than an external approximation.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Built on a principled, axiomatic basis — aligned with trustworthy-AI expectations.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873"/>
          <p:cNvGrpSpPr/>
          <p:nvPr/>
        </p:nvGrpSpPr>
        <p:grpSpPr>
          <a:xfrm rot="0">
            <a:off x="0" y="5321413"/>
            <a:ext cx="18288000" cy="4965587"/>
            <a:chOff x="0" y="0"/>
            <a:chExt cx="4816593" cy="1307809"/>
          </a:xfrm>
        </p:grpSpPr>
        <p:sp>
          <p:nvSpPr>
            <p:cNvPr name="Freeform 3" id="2874"/>
            <p:cNvSpPr/>
            <p:nvPr/>
          </p:nvSpPr>
          <p:spPr>
            <a:xfrm flipH="false" flipV="false" rot="0">
              <a:off x="0" y="0"/>
              <a:ext cx="4816592" cy="1307809"/>
            </a:xfrm>
            <a:custGeom>
              <a:avLst/>
              <a:gdLst/>
              <a:ahLst/>
              <a:cxnLst/>
              <a:rect r="r" b="b" t="t" l="l"/>
              <a:pathLst>
                <a:path h="1307809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307809"/>
                  </a:lnTo>
                  <a:lnTo>
                    <a:pt x="0" y="1307809"/>
                  </a:ln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875"/>
            <p:cNvSpPr txBox="true"/>
            <p:nvPr/>
          </p:nvSpPr>
          <p:spPr>
            <a:xfrm>
              <a:off x="0" y="-38100"/>
              <a:ext cx="4816593" cy="13459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11" id="2882"/>
          <p:cNvSpPr txBox="true"/>
          <p:nvPr/>
        </p:nvSpPr>
        <p:spPr>
          <a:xfrm rot="0">
            <a:off x="1028700" y="2635383"/>
            <a:ext cx="15730026" cy="268603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9713"/>
              </a:lnSpc>
            </a:pPr>
            <a:r>
              <a:rPr lang="en-US" sz="4000" spc="-124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Conclusion &amp; Perspectives</a:t>
            </a:r>
          </a:p>
        </p:txBody>
      </p:sp>
      <p:grpSp>
        <p:nvGrpSpPr>
          <p:cNvPr name="Group 12" id="2883"/>
          <p:cNvGrpSpPr/>
          <p:nvPr/>
        </p:nvGrpSpPr>
        <p:grpSpPr>
          <a:xfrm rot="0">
            <a:off x="16258151" y="3265231"/>
            <a:ext cx="1001149" cy="1001149"/>
            <a:chOff x="0" y="0"/>
            <a:chExt cx="812800" cy="812800"/>
          </a:xfrm>
        </p:grpSpPr>
        <p:sp>
          <p:nvSpPr>
            <p:cNvPr name="Freeform 13" id="288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CC665"/>
            </a:solidFill>
          </p:spPr>
          <p:txBody>
            <a:bodyPr/>
            <a:p/>
          </p:txBody>
        </p:sp>
        <p:sp>
          <p:nvSpPr>
            <p:cNvPr name="TextBox 14" id="2885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2886"/>
          <p:cNvSpPr/>
          <p:nvPr/>
        </p:nvSpPr>
        <p:spPr>
          <a:xfrm flipH="true" flipV="false" rot="-5400000">
            <a:off x="16564092" y="3571172"/>
            <a:ext cx="389267" cy="389267"/>
          </a:xfrm>
          <a:custGeom>
            <a:avLst/>
            <a:gdLst/>
            <a:ahLst/>
            <a:cxnLst/>
            <a:rect r="r" b="b" t="t" l="l"/>
            <a:pathLst>
              <a:path h="389267" w="389267">
                <a:moveTo>
                  <a:pt x="389267" y="0"/>
                </a:moveTo>
                <a:lnTo>
                  <a:pt x="0" y="0"/>
                </a:lnTo>
                <a:lnTo>
                  <a:pt x="0" y="389267"/>
                </a:lnTo>
                <a:lnTo>
                  <a:pt x="389267" y="389267"/>
                </a:lnTo>
                <a:lnTo>
                  <a:pt x="38926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887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Conclusion — Synthesis</a:t>
            </a:r>
          </a:p>
        </p:txBody>
      </p:sp>
      <p:grpSp>
        <p:nvGrpSpPr>
          <p:cNvPr name="Group 3" id="2888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889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890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89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89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893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89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89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896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89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89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899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90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90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902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90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90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905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90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90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908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909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aphicFrame>
        <p:nvGraphicFramePr>
          <p:cNvPr id="2910" name="Table 2909"/>
          <p:cNvGraphicFramePr>
            <a:graphicFrameLocks noGrp="1"/>
          </p:cNvGraphicFramePr>
          <p:nvPr/>
        </p:nvGraphicFramePr>
        <p:xfrm>
          <a:off x="1005840" y="4282449"/>
          <a:ext cx="8229600" cy="46268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77824"/>
                <a:gridCol w="2304288"/>
                <a:gridCol w="2304288"/>
                <a:gridCol w="2743200"/>
              </a:tblGrid>
              <a:tr h="11567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Contribution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Main idea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Achievement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Key finding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</a:tr>
              <a:tr h="115671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Explain black-box clustering via Shapley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PCA–KMeans–LightGBM–TreeSHAP pipeline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Faithful, chemistry-consistent cluster attribution (wine)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15671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C2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Multi-level, large-scale clustering XAI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Cross-level SHAP aggregation + Prop. 6.1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Coherent under hierarchy; interprets differences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</a:tr>
              <a:tr h="115671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DyHuCoG hypergraph cooperative game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Preference-aware Shapley as in-training signal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Accuracy + coverage + diversity improve together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918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Conclusion — Publications</a:t>
            </a:r>
          </a:p>
        </p:txBody>
      </p:sp>
      <p:grpSp>
        <p:nvGrpSpPr>
          <p:cNvPr name="Group 3" id="2919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920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921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92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92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924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92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92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927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92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92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930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93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93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933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93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93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936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93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93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939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940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aphicFrame>
        <p:nvGraphicFramePr>
          <p:cNvPr id="2941" name="Table 2940"/>
          <p:cNvGraphicFramePr>
            <a:graphicFrameLocks noGrp="1"/>
          </p:cNvGraphicFramePr>
          <p:nvPr/>
        </p:nvGraphicFramePr>
        <p:xfrm>
          <a:off x="1005840" y="4282449"/>
          <a:ext cx="8229600" cy="46268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8000"/>
                <a:gridCol w="4212000"/>
                <a:gridCol w="2073600"/>
                <a:gridCol w="1296000"/>
              </a:tblGrid>
              <a:tr h="11567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No.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Title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Venue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Status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</a:tr>
              <a:tr h="115671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I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Shapley Values for Explaining the Black Box Nature of ML Model Clustering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Procedia Computer Science 220, 806–811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Published, 2023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15671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II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Game Theory Meets Explainable AI: An Enhanced Approach to Understanding Black Box Models Through Shapley Values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IJACSA 16(7), 716–725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Published, 2025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</a:tr>
              <a:tr h="115671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III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DyHuCoG: A Dynamic Hypergraph Cooperative Game for Preference-aware Recommendation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IJIES 19(2), 887–902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Published, 2026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949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2950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951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952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2953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954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955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2956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957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958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2959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960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961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2962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2963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2964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2972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Conclusion — Limitations</a:t>
            </a:r>
          </a:p>
        </p:txBody>
      </p:sp>
      <p:sp>
        <p:nvSpPr>
          <p:cNvPr id="2973" name="TextBox 2972"/>
          <p:cNvSpPr txBox="1"/>
          <p:nvPr/>
        </p:nvSpPr>
        <p:spPr>
          <a:xfrm>
            <a:off x="1005840" y="4572324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Computational – exact Shapley is intractable; every contribution relies on approximation, surrogates, or restricted reporting.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Methodological – clustering depends on surrogate fidelity; recommendation depends on stable approximate contributions and adequate context.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Empirical – tabular clustering + benchmark recommendation; no multimodal, sequential, or online deployment; no dedicated human-subject actionability study.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Claim scope – a coherent and productive perspective, not one fully unified framework eliminating all tension.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973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2974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975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976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2977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978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979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2980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981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982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2983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984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985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2986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2987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2988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2996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Perspectives &amp; Future Work</a:t>
            </a:r>
          </a:p>
        </p:txBody>
      </p:sp>
      <p:sp>
        <p:nvSpPr>
          <p:cNvPr id="2997" name="TextBox 2996"/>
          <p:cNvSpPr txBox="1"/>
          <p:nvPr/>
        </p:nvSpPr>
        <p:spPr>
          <a:xfrm>
            <a:off x="1005840" y="4572324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Scalable cooperative attribution – lower-variance Shapley, learned proposal distributions, adaptive refresh policies.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Online / streaming recommendation – truly incremental settings with evolving graphs and delayed feedback.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Richer human-centred evaluation – do explanations measurably improve analyst judgement, user trust, intervention quality, or perceived fairness?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Broader trustworthy-AI evaluation – exposure fairness, transparency requirements, governance-oriented auditing.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997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2998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999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3000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3001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3002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3003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3004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3005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3006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3007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3008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3009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3010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3011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3012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3020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4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Conclusion — Thesis Answer</a:t>
            </a:r>
          </a:p>
        </p:txBody>
      </p:sp>
      <p:sp>
        <p:nvSpPr>
          <p:cNvPr id="3021" name="TextBox 3020"/>
          <p:cNvSpPr txBox="1"/>
          <p:nvPr/>
        </p:nvSpPr>
        <p:spPr>
          <a:xfrm>
            <a:off x="1005840" y="4572324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Thesis answer: cooperative game theory can function as a shared methodological perspective for actionable explanation across clustering and recommendation.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Shapley attribution as a common formal language for feature, interaction, and context importance allocation.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Faithful clustering explanation, hierarchical explanatory coherence, and contribution-aware recommendation learning.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Explanation as method, not commentary — from post-hoc description to in-training guidance.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Aligned with trustworthy-AI requirements (EU AI Act, OECD principles, GDPR).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3021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4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References</a:t>
            </a:r>
          </a:p>
        </p:txBody>
      </p:sp>
      <p:grpSp>
        <p:nvGrpSpPr>
          <p:cNvPr name="Group 3" id="3022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3023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3024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302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302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3027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302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302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3030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303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303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3033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303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303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3036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303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303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3039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304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304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3042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3043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3044" name="TextBox 3043"/>
          <p:cNvSpPr txBox="1"/>
          <p:nvPr/>
        </p:nvSpPr>
        <p:spPr>
          <a:xfrm>
            <a:off x="1005840" y="4282449"/>
            <a:ext cx="822960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500" b="0">
                <a:solidFill>
                  <a:srgbClr val="22303C"/>
                </a:solidFill>
                <a:latin typeface="Roca Two"/>
              </a:rPr>
              <a:t>[R1] Louhichi, M. &amp; Lazaar, M. Shapley Values for Explaining the Black Box Nature of ML Model Clustering. Procedia Computer Science 220, 806–811 (2023).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500" b="0">
                <a:solidFill>
                  <a:srgbClr val="22303C"/>
                </a:solidFill>
                <a:latin typeface="Roca Two"/>
              </a:rPr>
              <a:t>[R2] Louhichi, M. &amp; Lazaar, M. Game Theory Meets Explainable AI. IJACSA 16(7), 716–725 (2025).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500" b="0">
                <a:solidFill>
                  <a:srgbClr val="22303C"/>
                </a:solidFill>
                <a:latin typeface="Roca Two"/>
              </a:rPr>
              <a:t>[R3] Louhichi, M. &amp; Lazaar, M. DyHuCoG. IJIES 19(2), 887–902 (2026).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500" b="0">
                <a:solidFill>
                  <a:srgbClr val="22303C"/>
                </a:solidFill>
                <a:latin typeface="Roca Two"/>
              </a:rPr>
              <a:t>[R4] Lundberg, S.M. &amp; Lee, S.-I. A Unified Approach to Interpreting Model Predictions (SHAP). NeurIPS 30 (2017).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500" b="0">
                <a:solidFill>
                  <a:srgbClr val="22303C"/>
                </a:solidFill>
                <a:latin typeface="Roca Two"/>
              </a:rPr>
              <a:t>[R5] Shapley, L.S. A Value for n-Person Games. Contributions to the Theory of Games II (1953).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500" b="0">
                <a:solidFill>
                  <a:srgbClr val="22303C"/>
                </a:solidFill>
                <a:latin typeface="Roca Two"/>
              </a:rPr>
              <a:t>[R6] Wang, X. et al. Hypergraph Learning: Methods and Practices. IEEE TPAMI 44(5) (2022).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500" b="0">
                <a:solidFill>
                  <a:srgbClr val="22303C"/>
                </a:solidFill>
                <a:latin typeface="Roca Two"/>
              </a:rPr>
              <a:t>[R7] European Commission. Proposal for a Regulation on Artificial Intelligence (EU AI Act). COM(2021) 206 final (2021).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3052"/>
          <p:cNvSpPr/>
          <p:nvPr/>
        </p:nvSpPr>
        <p:spPr>
          <a:xfrm flipH="false" flipV="false" rot="0">
            <a:off x="9144000" y="0"/>
            <a:ext cx="10287000" cy="10287000"/>
          </a:xfrm>
          <a:custGeom>
            <a:avLst/>
            <a:gdLst/>
            <a:ahLst/>
            <a:cxnLst/>
            <a:rect r="r" b="b" t="t" l="l"/>
            <a:pathLst>
              <a:path h="10287000" w="10287000">
                <a:moveTo>
                  <a:pt x="0" y="0"/>
                </a:moveTo>
                <a:lnTo>
                  <a:pt x="10287000" y="0"/>
                </a:lnTo>
                <a:lnTo>
                  <a:pt x="10287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053"/>
          <p:cNvSpPr/>
          <p:nvPr/>
        </p:nvSpPr>
        <p:spPr>
          <a:xfrm flipH="false" flipV="false" rot="0">
            <a:off x="-1143000" y="0"/>
            <a:ext cx="10287000" cy="10287000"/>
          </a:xfrm>
          <a:custGeom>
            <a:avLst/>
            <a:gdLst/>
            <a:ahLst/>
            <a:cxnLst/>
            <a:rect r="r" b="b" t="t" l="l"/>
            <a:pathLst>
              <a:path h="10287000" w="10287000">
                <a:moveTo>
                  <a:pt x="0" y="0"/>
                </a:moveTo>
                <a:lnTo>
                  <a:pt x="10287000" y="0"/>
                </a:lnTo>
                <a:lnTo>
                  <a:pt x="10287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3054"/>
          <p:cNvSpPr txBox="true"/>
          <p:nvPr/>
        </p:nvSpPr>
        <p:spPr>
          <a:xfrm rot="0">
            <a:off x="3301798" y="2960113"/>
            <a:ext cx="11684404" cy="436519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ctr">
              <a:lnSpc>
                <a:spcPts val="16581"/>
              </a:lnSpc>
            </a:pPr>
            <a:r>
              <a:rPr lang="en-US" b="1" sz="4000" spc="-1045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Thank You</a:t>
            </a:r>
          </a:p>
        </p:txBody>
      </p:sp>
      <p:grpSp>
        <p:nvGrpSpPr>
          <p:cNvPr name="Group 5" id="3055"/>
          <p:cNvGrpSpPr/>
          <p:nvPr/>
        </p:nvGrpSpPr>
        <p:grpSpPr>
          <a:xfrm rot="0">
            <a:off x="16758726" y="6188943"/>
            <a:ext cx="1001149" cy="1001149"/>
            <a:chOff x="0" y="0"/>
            <a:chExt cx="812800" cy="812800"/>
          </a:xfrm>
        </p:grpSpPr>
        <p:sp>
          <p:nvSpPr>
            <p:cNvPr name="Freeform 6" id="305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305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3058"/>
          <p:cNvSpPr/>
          <p:nvPr/>
        </p:nvSpPr>
        <p:spPr>
          <a:xfrm flipH="true" flipV="false" rot="0">
            <a:off x="17064667" y="6494884"/>
            <a:ext cx="389267" cy="389267"/>
          </a:xfrm>
          <a:custGeom>
            <a:avLst/>
            <a:gdLst/>
            <a:ahLst/>
            <a:cxnLst/>
            <a:rect r="r" b="b" t="t" l="l"/>
            <a:pathLst>
              <a:path h="389267" w="389267">
                <a:moveTo>
                  <a:pt x="389266" y="0"/>
                </a:moveTo>
                <a:lnTo>
                  <a:pt x="0" y="0"/>
                </a:lnTo>
                <a:lnTo>
                  <a:pt x="0" y="389267"/>
                </a:lnTo>
                <a:lnTo>
                  <a:pt x="389266" y="389267"/>
                </a:lnTo>
                <a:lnTo>
                  <a:pt x="389266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9" id="3059"/>
          <p:cNvSpPr/>
          <p:nvPr/>
        </p:nvSpPr>
        <p:spPr>
          <a:xfrm flipH="false" flipV="false" rot="-4928122">
            <a:off x="3021989" y="5341060"/>
            <a:ext cx="671786" cy="906288"/>
          </a:xfrm>
          <a:custGeom>
            <a:avLst/>
            <a:gdLst/>
            <a:ahLst/>
            <a:cxnLst/>
            <a:rect r="r" b="b" t="t" l="l"/>
            <a:pathLst>
              <a:path h="906288" w="671786">
                <a:moveTo>
                  <a:pt x="0" y="0"/>
                </a:moveTo>
                <a:lnTo>
                  <a:pt x="671786" y="0"/>
                </a:lnTo>
                <a:lnTo>
                  <a:pt x="671786" y="906288"/>
                </a:lnTo>
                <a:lnTo>
                  <a:pt x="0" y="9062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0" id="3060"/>
          <p:cNvSpPr/>
          <p:nvPr/>
        </p:nvSpPr>
        <p:spPr>
          <a:xfrm flipH="false" flipV="false" rot="0">
            <a:off x="14872635" y="2474338"/>
            <a:ext cx="1021269" cy="928078"/>
          </a:xfrm>
          <a:custGeom>
            <a:avLst/>
            <a:gdLst/>
            <a:ahLst/>
            <a:cxnLst/>
            <a:rect r="r" b="b" t="t" l="l"/>
            <a:pathLst>
              <a:path h="928078" w="1021269">
                <a:moveTo>
                  <a:pt x="0" y="0"/>
                </a:moveTo>
                <a:lnTo>
                  <a:pt x="1021269" y="0"/>
                </a:lnTo>
                <a:lnTo>
                  <a:pt x="1021269" y="928078"/>
                </a:lnTo>
                <a:lnTo>
                  <a:pt x="0" y="92807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3061"/>
          <p:cNvSpPr txBox="true"/>
          <p:nvPr/>
        </p:nvSpPr>
        <p:spPr>
          <a:xfrm rot="0">
            <a:off x="1028700" y="990600"/>
            <a:ext cx="256669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ENSIAS, Mohammed V University, Rabat</a:t>
            </a:r>
          </a:p>
        </p:txBody>
      </p:sp>
      <p:sp>
        <p:nvSpPr>
          <p:cNvPr name="TextBox 12" id="3062"/>
          <p:cNvSpPr txBox="true"/>
          <p:nvPr/>
        </p:nvSpPr>
        <p:spPr>
          <a:xfrm rot="0">
            <a:off x="13227260" y="990600"/>
            <a:ext cx="403204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Mouad LOUHICHI</a:t>
            </a:r>
          </a:p>
        </p:txBody>
      </p:sp>
      <p:sp>
        <p:nvSpPr>
          <p:cNvPr name="TextBox 14" id="3064"/>
          <p:cNvSpPr txBox="true"/>
          <p:nvPr/>
        </p:nvSpPr>
        <p:spPr>
          <a:xfrm rot="0">
            <a:off x="13590621" y="8878570"/>
            <a:ext cx="3668679" cy="379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mouad.louhichi@um5.ac.ma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DAHULJvrdH8</dc:identifier>
  <dcterms:modified xsi:type="dcterms:W3CDTF">2011-08-01T06:04:30Z</dcterms:modified>
  <cp:revision>1</cp:revision>
  <dc:title>Beige Green Modern Illustrative Playful Thesis Defense Presentation</dc:title>
</cp:coreProperties>
</file>