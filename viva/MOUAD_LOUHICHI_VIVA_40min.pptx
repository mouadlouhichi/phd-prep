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 id="411" r:id="rId147"/>
    <p:sldId id="412" r:id="rId148"/>
    <p:sldId id="413" r:id="rId149"/>
    <p:sldId id="414" r:id="rId150"/>
    <p:sldId id="415" r:id="rId151"/>
    <p:sldId id="416" r:id="rId152"/>
    <p:sldId id="417" r:id="rId153"/>
    <p:sldId id="418" r:id="rId154"/>
    <p:sldId id="419" r:id="rId155"/>
    <p:sldId id="420" r:id="rId156"/>
    <p:sldId id="421" r:id="rId157"/>
    <p:sldId id="422" r:id="rId158"/>
    <p:sldId id="423" r:id="rId159"/>
    <p:sldId id="424" r:id="rId1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scale, each dataset was chosen so that attribution lands in a vocabulary a domain expert can act on. Wine and Beijing give semantically interpretable features (chemistry, pollution); the two recommenders give a density contrast that isolates whether cooperative attribution helps most when interaction data are scarce. That is why the same explanatory logic can be validated across tabular clustering and recommendation without changing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asks how Shapley values can explain black-box clustering faithfully at both instance and cluster level, and it decomposes into three objectives. O1 is a pipeline that produces a cluster-level explanation while preserving feature-level attribution, so the explanation is coherent rather than a single summary number. O2 requires that attribution stays in the original feature space — density, pH, acidity, sulfur dioxide, alcohol — because that is what makes it actionable for a domain expert. O3 is a justificatory objective: we must show why Shapley is the right allocation rule rather than an ad-hoc surrogate such as LIME. The next methodology slide shows how these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RQ1 directly: yes. Shapley values explain a black-box partition faithfully, provided the surrogate is high-fidelity, and coherently at cluster level. Each objective is met. O1 is met because the pipeline yields both a global reading — density, pH, acidity, sulfur dioxide, alcohol — and a per-cluster reading where the same drivers re-weigh differently. O2 is met because attribution is returned to the original chemical variables, which is what makes it actionable. O3 is met because Shapley satisfies efficiency, symmetry, the null-player property and additivity, whereas LIME has no equivalent guarantee. The honest caveat is that efficiency holds with respect to the surrogate output, not directly to the Silhouette-based game — which is why surrogate fidelity is the critical validity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 answers RQ1 in the affirmative. The key findings are fourfold. Shapley values explain the black-box partition at both cluster level and instance level, anchoring each cluster's meaning to individual feature contributions. They return attribution to the original chemical variables — density, pH, fixed acidity, sulfur dioxide, alcohol — rather than to a reduced or latent space, which is what makes the explanation actionable. Because the surrogate reproduces the partition from the original variables, the recovered ranking is chemically interpretable and faithful. And the approach is theoretically grounded: SHAP satisfies efficiency, symmetry, the null-player property and additivity, which LIME does not.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the scope.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And the surrogate plus representative-instance reporting compresses some observation-level variation. These limits define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works as a single, principled lens for explaining an unsupervised partition, and that keeping attribution in the original feature space is what makes it actionable. But real data are rarely single-level: broad regimes contain nested sub-groups, and a variable can be globally important yet locally uninformative. That flat limitation directly motivates Contribution II: can the explanation logic be scaled to multi-level, large-scale clustering without losing coherence?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asks whether the C1 logic survives scale and hierarchy without losing tractability or consistency, and it decomposes into three objectives. O1 is a genuinely multi-level workflow: coarse clustering at the top and nested sub-groups within, so that attribution stays interpretable inside a cluster, across sub-clusters, and across the hierarchy. O2 is a formal cross-level consistency argument, Proposition 6.1, so that differences across levels can be interpreted rather than dismissed as inconsistency. O3 is an empirical check on generality: validation on a structurally different large-scale dataset, Beijing air quality, rather than the small, chemically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RQ2 directly: yes, with bounds. Shapley-based clustering explanation can scale to hierarchical, large-scale settings without losing interpretive coherence, provided the hierarchy is modelled explicitly and the approximation is transparent. O1 is met: we obtain a multi-granular explanation that does not collapse into a single flat summary. O2 is met: Proposition 6.1 gives a formal cross-level consistency argument, so regime-level and cluster-level stories are not at odds. O3 is met: the approach validates on Beijing air quality, a large, noisy, temporally variable dataset, which supports generality. The honest bound is that the model is still an explanation of a pre-computed partition; it does not yet influence learning itself. That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The key findings are fourfold. The explanation scales to a multi-granular structure without collapsing into a single flat summary, because the hierarchy is modelled explicitly rather than flattened. Proposition 6.1 provides a formal cross-level consistency argument, so that differences across levels can be interpreted as meaningful structure rather than dismissed as noise. The approach generalises to a structurally different large-scale dataset, Beijing air quality, which is far noisier and more temporally variable than the small correlated wine data. And the method produces parent-level regime-selection stories alongside cluster-level within-regime variation.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equally clear. The clustering remains static even though the Beijing data are temporal, so the dynamics are not exploited. The surrogate-based SHAP plus representative-instance reporting compresses observation-level variation, so some richness is lost. The whole approach is confined to tabular data. And, most importantly for what follows, the model is still an explanation of a pre-computed partition: it does not yet influence learning itself. This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stays coherent across granularity, provided the hierarchy is made explicit. Explanations become interpretable against scale, not just against a single flat partition, which is precisely where the literature was weakest. But the attribution is still post-hoc: it explains a partition that was already computed, and it never influences how the model learns. That is the limit that motivates Contribution III — can cooperative attribution move beyond explanation and enter the learning dynamics of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together, and it is the conceptual shift of the thesis. RQ3 asks whether cooperative attribution can move beyond post-hoc explanation and enter the learning dynamics of a graph recommender. RQ4 asks whether a recommender can jointly optimise ranking accuracy, context and diversity when importance is estimated by a cooperative-game utility. Both map to three objectives. O1 is to formulate recommendation as a cooperative game in which users, items and contexts are players. O2 is to embed preference-aware Monte Carlo Shapley estimates into hypergraph message passing, so attribution directly shapes how information flows. O3 is to improve ranking, coverage and intra-list diversity jointly — not at the expense of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RQ3 and RQ4 directly: yes. RQ3 is answered in the affirmative because attribution is no longer a post-hoc diagnostic but an in-training signal that directly shapes message passing. RQ4 is answered in the affirmative because ranking, coverage and diversity improve together rather than trading against one another. Each objective is met. O1: recommendation is formulated as a cooperative game with users, items and contexts as players. O2: preference-aware Monte Carlo Shapley is embedded into hypergraph message passing. O3: we gain about nine point nine percent on MovieLens and fourteen point eight percent on Amazon, with higher coverage and diversity. The strongest claim is that the explanation is structurally faithful, because it reads out the same components the model already optimises. Within the stated edges — computational overhead, dependence on context, and the early-2026 baseline set —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key findings are that ranking, coverage and diversity improve together — NDCG, recall, coverage and intra-list diversity all rise on both datasets — so the accuracy-diversity trade-off is not structurally fixed. The largest gains appear on the sparsest data, Amazon-Book, precisely the regime where Shapley-driven weighting is most valuable, and the improvement is statistically large against the strongest baseline.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must be stated honestly. There is a measurable computational overhead, roughly one point seven eight times the training time of the strongest baseline, HPCF. The method depends on the availability of meaningful context. The Monte Carlo Shapley estimator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diagnostic, and the explanation is a direct read-out of the objective the model already optimises. That is what makes it structurally faithful rather than an external approximation. And because Shapley values rest on an axiomatic, normative basis, the perspective is well aligned with the transparency and accountability requirements of emerging AI regulation. This is the central claim worth defending: explanation should be part of the modelling logic itself.</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underpinning the thesis: my three peer-reviewed papers (R1–R3), the SHAP and Shapley foundations (R4–R6), the closest clustering-explanation and hypergraph-learning literature (R7–R8), and the regulation that motivates actionable explanation (R9). I kept the list short and solid rather than exhaustive, so each entry is one I can defend in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 Id="rId12" Type="http://schemas.openxmlformats.org/officeDocument/2006/relationships/image" Target="../media/image5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4.png"/><Relationship Id="rId13" Type="http://schemas.openxmlformats.org/officeDocument/2006/relationships/image" Target="../media/image12.png"/><Relationship Id="rId14" Type="http://schemas.openxmlformats.org/officeDocument/2006/relationships/notesSlide" Target="../notesSlides/notesSlide84.xml"/><Relationship Id="rId15"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5.png"/><Relationship Id="rId13" Type="http://schemas.openxmlformats.org/officeDocument/2006/relationships/image" Target="../media/image12.png"/><Relationship Id="rId14" Type="http://schemas.openxmlformats.org/officeDocument/2006/relationships/notesSlide" Target="../notesSlides/notesSlide85.xml"/><Relationship Id="rId15"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7.xml"/><Relationship Id="rId14"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8.xml"/><Relationship Id="rId14"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9.xml"/><Relationship Id="rId14"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56.png"/><Relationship Id="rId13" Type="http://schemas.openxmlformats.org/officeDocument/2006/relationships/notesSlide" Target="../notesSlides/notesSlide96.xml"/><Relationship Id="rId14"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7.xml"/><Relationship Id="rId13" Type="http://schemas.openxmlformats.org/officeDocument/2006/relationships/image" Target="../media/image2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8.xml"/><Relationship Id="rId7" Type="http://schemas.openxmlformats.org/officeDocument/2006/relationships/image" Target="../media/image10.png"/><Relationship Id="rId8"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9.xml"/><Relationship Id="rId14" Type="http://schemas.openxmlformats.org/officeDocument/2006/relationships/image" Target="../media/image5.png"/><Relationship Id="rId15"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0.xml"/><Relationship Id="rId14"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1.xml"/><Relationship Id="rId14"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2.xml"/><Relationship Id="rId14" Type="http://schemas.openxmlformats.org/officeDocument/2006/relationships/image" Target="../media/image5.png"/><Relationship Id="rId15"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7.png"/><Relationship Id="rId13" Type="http://schemas.openxmlformats.org/officeDocument/2006/relationships/image" Target="../media/image14.png"/><Relationship Id="rId14" Type="http://schemas.openxmlformats.org/officeDocument/2006/relationships/notesSlide" Target="../notesSlides/notesSlide103.xml"/><Relationship Id="rId15"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4.xml"/><Relationship Id="rId14"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5.xml"/><Relationship Id="rId14" Type="http://schemas.openxmlformats.org/officeDocument/2006/relationships/image" Target="../media/image5.png"/><Relationship Id="rId15"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6.xml"/><Relationship Id="rId14" Type="http://schemas.openxmlformats.org/officeDocument/2006/relationships/image" Target="../media/image5.png"/><Relationship Id="rId15"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7.xml"/><Relationship Id="rId14" Type="http://schemas.openxmlformats.org/officeDocument/2006/relationships/image" Target="../media/image5.png"/><Relationship Id="rId15"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8.xml"/><Relationship Id="rId14" Type="http://schemas.openxmlformats.org/officeDocument/2006/relationships/image" Target="../media/image5.png"/><Relationship Id="rId15"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9.xml"/><Relationship Id="rId14" Type="http://schemas.openxmlformats.org/officeDocument/2006/relationships/image" Target="../media/image7.png"/><Relationship Id="rId15"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10.xml"/><Relationship Id="rId14"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11.xml"/><Relationship Id="rId14" Type="http://schemas.openxmlformats.org/officeDocument/2006/relationships/image" Target="../media/image7.png"/><Relationship Id="rId15"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12.xml"/><Relationship Id="rId7"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4.xml"/><Relationship Id="rId13"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8.png"/><Relationship Id="rId13" Type="http://schemas.openxmlformats.org/officeDocument/2006/relationships/notesSlide" Target="../notesSlides/notesSlide115.xml"/><Relationship Id="rId14" Type="http://schemas.openxmlformats.org/officeDocument/2006/relationships/image" Target="../media/image7.png"/><Relationship Id="rId15"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7.xml"/><Relationship Id="rId13" Type="http://schemas.openxmlformats.org/officeDocument/2006/relationships/image" Target="../media/image7.png"/><Relationship Id="rId14"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8.xml"/><Relationship Id="rId13" Type="http://schemas.openxmlformats.org/officeDocument/2006/relationships/image" Target="../media/image7.png"/><Relationship Id="rId14"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9.xml"/><Relationship Id="rId13"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1.xml"/><Relationship Id="rId13"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2.xml"/><Relationship Id="rId13"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5.xml"/><Relationship Id="rId1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26.xml"/><Relationship Id="rId7" Type="http://schemas.openxmlformats.org/officeDocument/2006/relationships/image" Target="../media/image8.png"/><Relationship Id="rId8"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7.xml"/><Relationship Id="rId15"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8.xml"/><Relationship Id="rId15"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9.xml"/><Relationship Id="rId15"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1.xml"/><Relationship Id="rId15"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9.png"/><Relationship Id="rId13" Type="http://schemas.openxmlformats.org/officeDocument/2006/relationships/image" Target="../media/image14.png"/><Relationship Id="rId14" Type="http://schemas.openxmlformats.org/officeDocument/2006/relationships/image" Target="../media/image22.png"/><Relationship Id="rId15" Type="http://schemas.openxmlformats.org/officeDocument/2006/relationships/notesSlide" Target="../notesSlides/notesSlide132.xml"/><Relationship Id="rId16"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6.xml"/><Relationship Id="rId15" Type="http://schemas.openxmlformats.org/officeDocument/2006/relationships/image" Target="../media/image24.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7.xml"/><Relationship Id="rId15"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8.xml"/><Relationship Id="rId15" Type="http://schemas.openxmlformats.org/officeDocument/2006/relationships/image" Target="../media/image3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9.xml"/><Relationship Id="rId15" Type="http://schemas.openxmlformats.org/officeDocument/2006/relationships/image" Target="../media/image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1.xml"/><Relationship Id="rId15" Type="http://schemas.openxmlformats.org/officeDocument/2006/relationships/image" Target="../media/image5.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2.xml"/><Relationship Id="rId15" Type="http://schemas.openxmlformats.org/officeDocument/2006/relationships/image" Target="../media/image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4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6.xml"/><Relationship Id="rId15"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7.xml"/><Relationship Id="rId15" Type="http://schemas.openxmlformats.org/officeDocument/2006/relationships/image" Target="../media/image22.png"/><Relationship Id="rId16" Type="http://schemas.openxmlformats.org/officeDocument/2006/relationships/image" Target="../media/image25.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8.xml"/><Relationship Id="rId15" Type="http://schemas.openxmlformats.org/officeDocument/2006/relationships/image" Target="../media/image22.png"/><Relationship Id="rId16" Type="http://schemas.openxmlformats.org/officeDocument/2006/relationships/image" Target="../media/image3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9.xml"/><Relationship Id="rId15" Type="http://schemas.openxmlformats.org/officeDocument/2006/relationships/image" Target="../media/image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5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image" Target="../media/image24.png"/><Relationship Id="rId14" Type="http://schemas.openxmlformats.org/officeDocument/2006/relationships/notesSlide" Target="../notesSlides/notesSlide15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52.xml"/><Relationship Id="rId6" Type="http://schemas.openxmlformats.org/officeDocument/2006/relationships/image" Target="../media/image7.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2F3B49"/>
                          </a:solidFill>
                          <a:latin typeface="Montserrat"/>
                        </a:rPr>
                        <a:t>President</a:t>
                      </a:r>
                    </a:p>
                  </a:txBody>
                  <a:tcPr/>
                </a:tc>
                <a:tc>
                  <a:txBody>
                    <a:bodyPr/>
                    <a:lstStyle/>
                    <a:p>
                      <a:pPr algn="l"/>
                      <a:r>
                        <a:rPr sz="1000" b="0">
                          <a:solidFill>
                            <a:srgbClr val="2F3B49"/>
                          </a:solidFill>
                          <a:latin typeface="Montserrat"/>
                        </a:rPr>
                        <a:t>[President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22303C"/>
                          </a:solidFill>
                          <a:latin typeface="Montserrat"/>
                        </a:rPr>
                        <a:t>Supervisor</a:t>
                      </a:r>
                    </a:p>
                  </a:txBody>
                  <a:tcPr/>
                </a:tc>
                <a:tc>
                  <a:txBody>
                    <a:bodyPr/>
                    <a:lstStyle/>
                    <a:p>
                      <a:pPr algn="l"/>
                      <a:r>
                        <a:rPr sz="1000" b="0">
                          <a:solidFill>
                            <a:srgbClr val="22303C"/>
                          </a:solidFill>
                          <a:latin typeface="Montserrat"/>
                        </a:rPr>
                        <a:t>Pr. Mohamed LAZAAR</a:t>
                      </a:r>
                    </a:p>
                  </a:txBody>
                  <a:tcPr/>
                </a:tc>
                <a:tc>
                  <a:txBody>
                    <a:bodyPr/>
                    <a:lstStyle/>
                    <a:p>
                      <a:pPr algn="ctr"/>
                      <a:r>
                        <a:rPr sz="1000" b="0">
                          <a:solidFill>
                            <a:srgbClr val="22303C"/>
                          </a:solidFill>
                          <a:latin typeface="Montserrat"/>
                        </a:rPr>
                        <a:t>PES</a:t>
                      </a:r>
                    </a:p>
                  </a:txBody>
                  <a:tcPr/>
                </a:tc>
                <a:tc>
                  <a:txBody>
                    <a:bodyPr/>
                    <a:lstStyle/>
                    <a:p>
                      <a:pPr algn="ctr"/>
                      <a:r>
                        <a:rPr sz="1000" b="0">
                          <a:solidFill>
                            <a:srgbClr val="22303C"/>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2F3B49"/>
                          </a:solidFill>
                          <a:latin typeface="Montserrat"/>
                        </a:rPr>
                        <a:t>Guest</a:t>
                      </a:r>
                    </a:p>
                  </a:txBody>
                  <a:tcPr/>
                </a:tc>
                <a:tc>
                  <a:txBody>
                    <a:bodyPr/>
                    <a:lstStyle/>
                    <a:p>
                      <a:pPr algn="l"/>
                      <a:r>
                        <a:rPr sz="1000" b="0">
                          <a:solidFill>
                            <a:srgbClr val="2F3B49"/>
                          </a:solidFill>
                          <a:latin typeface="Montserrat"/>
                        </a:rPr>
                        <a:t>[Guest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Actionable Insight</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Motivation</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pic>
        <p:nvPicPr>
          <p:cNvPr id="65" name="Picture 64" descr="motivation.png"/>
          <p:cNvPicPr>
            <a:picLocks noChangeAspect="1"/>
          </p:cNvPicPr>
          <p:nvPr/>
        </p:nvPicPr>
        <p:blipFill>
          <a:blip r:embed="rId12"/>
          <a:stretch>
            <a:fillRect/>
          </a:stretch>
        </p:blipFill>
        <p:spPr>
          <a:xfrm>
            <a:off x="274320" y="3291840"/>
            <a:ext cx="11612880" cy="2974683"/>
          </a:xfrm>
          <a:prstGeom prst="rect">
            <a:avLst/>
          </a:prstGeom>
        </p:spPr>
      </p:pic>
      <p:pic>
        <p:nvPicPr>
          <p:cNvPr id="66" name="Picture 6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Definition 1.1 (Actionable insight)</a:t>
            </a:r>
          </a:p>
          <a:p>
            <a:pPr lvl="1">
              <a:lnSpc>
                <a:spcPct val="105000"/>
              </a:lnSpc>
              <a:spcAft>
                <a:spcPts val="600"/>
              </a:spcAft>
            </a:pPr>
            <a:r>
              <a:rPr sz="1600">
                <a:solidFill>
                  <a:srgbClr val="0E7C7B"/>
                </a:solidFill>
                <a:latin typeface="Montserrat"/>
              </a:rPr>
              <a:t>–  </a:t>
            </a:r>
            <a:r>
              <a:rPr sz="1600" b="0">
                <a:solidFill>
                  <a:srgbClr val="2F3B49"/>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 and that factor is expressible in the semantic vocabulary of the task domain.</a:t>
            </a:r>
          </a:p>
          <a:p>
            <a:pPr>
              <a:lnSpc>
                <a:spcPct val="105000"/>
              </a:lnSpc>
              <a:spcAft>
                <a:spcPts val="900"/>
              </a:spcAft>
            </a:pPr>
            <a:r>
              <a:rPr sz="1700">
                <a:solidFill>
                  <a:srgbClr val="0E7C7B"/>
                </a:solidFill>
                <a:latin typeface="Wingdings"/>
              </a:rPr>
              <a:t>§  </a:t>
            </a:r>
            <a:r>
              <a:rPr sz="1700" b="0">
                <a:solidFill>
                  <a:srgbClr val="2F3B49"/>
                </a:solidFill>
                <a:latin typeface="Montserrat"/>
              </a:rPr>
              <a:t>Accessibility means the domain's own terms: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physicochemical variable (wine), a pollution indicator (air quality), or a preference signal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 an opaque latent code.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Why: an explanation that identifies a modifiable driver supports intervention, not merely description.</a:t>
            </a:r>
          </a:p>
        </p:txBody>
      </p:sp>
      <p:pic>
        <p:nvPicPr>
          <p:cNvPr id="56" name="Picture 55" descr="actionable.png"/>
          <p:cNvPicPr>
            <a:picLocks noChangeAspect="1"/>
          </p:cNvPicPr>
          <p:nvPr/>
        </p:nvPicPr>
        <p:blipFill>
          <a:blip r:embed="rId12"/>
          <a:stretch>
            <a:fillRect/>
          </a:stretch>
        </p:blipFill>
        <p:spPr>
          <a:xfrm>
            <a:off x="6309360" y="2011680"/>
            <a:ext cx="5212080" cy="3411543"/>
          </a:xfrm>
          <a:prstGeom prst="rect">
            <a:avLst/>
          </a:prstGeom>
        </p:spPr>
      </p:pic>
      <p:pic>
        <p:nvPicPr>
          <p:cNvPr id="57" name="Picture 56"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MF → neural CF → graph CNNs → hypergraph: each step improved ranking but intensified the interpretability deficit.</a:t>
            </a:r>
          </a:p>
          <a:p>
            <a:pPr>
              <a:lnSpc>
                <a:spcPct val="105000"/>
              </a:lnSpc>
              <a:spcAft>
                <a:spcPts val="900"/>
              </a:spcAft>
            </a:pPr>
            <a:r>
              <a:rPr sz="1700">
                <a:solidFill>
                  <a:srgbClr val="0E7C7B"/>
                </a:solidFill>
                <a:latin typeface="Wingdings"/>
              </a:rPr>
              <a:t>§  </a:t>
            </a:r>
            <a:r>
              <a:rPr sz="1700" b="0">
                <a:solidFill>
                  <a:srgbClr val="2F3B49"/>
                </a:solidFill>
                <a:latin typeface="Montserrat"/>
              </a:rPr>
              <a:t>Why the deficit matters: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Undermines user trust.</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Constrains debugging and scientific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Collides with regulatory expectations (EU AI Act, OECD principles, GDPR).</a:t>
            </a:r>
          </a:p>
          <a:p>
            <a:pPr lvl="1">
              <a:lnSpc>
                <a:spcPct val="105000"/>
              </a:lnSpc>
              <a:spcAft>
                <a:spcPts val="600"/>
              </a:spcAft>
            </a:pPr>
            <a:r>
              <a:rPr sz="1600">
                <a:solidFill>
                  <a:srgbClr val="0E7C7B"/>
                </a:solidFill>
                <a:latin typeface="Montserrat"/>
              </a:rPr>
              <a:t>–  </a:t>
            </a:r>
            <a:r>
              <a:rPr sz="1600" b="0">
                <a:solidFill>
                  <a:srgbClr val="2F3B49"/>
                </a:solidFill>
                <a:latin typeface="Montserrat"/>
              </a:rPr>
              <a:t>EU AI Act (Art. 13) requires high-risk systems to provide explanations in human-understandable terms.</a:t>
            </a:r>
          </a:p>
        </p:txBody>
      </p:sp>
      <p:pic>
        <p:nvPicPr>
          <p:cNvPr id="56" name="Picture 55" descr="evolution.png"/>
          <p:cNvPicPr>
            <a:picLocks noChangeAspect="1"/>
          </p:cNvPicPr>
          <p:nvPr/>
        </p:nvPicPr>
        <p:blipFill>
          <a:blip r:embed="rId12"/>
          <a:stretch>
            <a:fillRect/>
          </a:stretch>
        </p:blipFill>
        <p:spPr>
          <a:xfrm>
            <a:off x="6309360" y="2011680"/>
            <a:ext cx="5212080" cy="3411543"/>
          </a:xfrm>
          <a:prstGeom prst="rect">
            <a:avLst/>
          </a:prstGeom>
        </p:spPr>
      </p:pic>
      <p:pic>
        <p:nvPicPr>
          <p:cNvPr id="57" name="Picture 56"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Collaborative filtering – users who behaved similarly will value similar items (user-/item-based).</a:t>
            </a:r>
          </a:p>
          <a:p>
            <a:pPr>
              <a:lnSpc>
                <a:spcPct val="105000"/>
              </a:lnSpc>
              <a:spcAft>
                <a:spcPts val="900"/>
              </a:spcAft>
            </a:pPr>
            <a:r>
              <a:rPr sz="1700">
                <a:solidFill>
                  <a:srgbClr val="0E7C7B"/>
                </a:solidFill>
                <a:latin typeface="Wingdings"/>
              </a:rPr>
              <a:t>§  </a:t>
            </a:r>
            <a:r>
              <a:rPr sz="1700" b="0">
                <a:solidFill>
                  <a:srgbClr val="2F3B49"/>
                </a:solidFill>
                <a:latin typeface="Montserrat"/>
              </a:rPr>
              <a:t>Content-based – recommends items sharing attributes with a user profile.</a:t>
            </a:r>
          </a:p>
          <a:p>
            <a:pPr>
              <a:lnSpc>
                <a:spcPct val="105000"/>
              </a:lnSpc>
              <a:spcAft>
                <a:spcPts val="900"/>
              </a:spcAft>
            </a:pPr>
            <a:r>
              <a:rPr sz="1700">
                <a:solidFill>
                  <a:srgbClr val="0E7C7B"/>
                </a:solidFill>
                <a:latin typeface="Wingdings"/>
              </a:rPr>
              <a:t>§  </a:t>
            </a:r>
            <a:r>
              <a:rPr sz="1700" b="0">
                <a:solidFill>
                  <a:srgbClr val="2F3B49"/>
                </a:solidFill>
                <a:latin typeface="Montserrat"/>
              </a:rPr>
              <a:t>Hybrid – combines collaborative and content signals.</a:t>
            </a:r>
          </a:p>
          <a:p>
            <a:pPr>
              <a:lnSpc>
                <a:spcPct val="105000"/>
              </a:lnSpc>
              <a:spcAft>
                <a:spcPts val="900"/>
              </a:spcAft>
            </a:pPr>
            <a:r>
              <a:rPr sz="1700">
                <a:solidFill>
                  <a:srgbClr val="0E7C7B"/>
                </a:solidFill>
                <a:latin typeface="Wingdings"/>
              </a:rPr>
              <a:t>§  </a:t>
            </a:r>
            <a:r>
              <a:rPr sz="1700" b="0">
                <a:solidFill>
                  <a:srgbClr val="2F3B49"/>
                </a:solidFill>
                <a:latin typeface="Montserrat"/>
              </a:rPr>
              <a:t>Matrix factorisation – R ≈ PQᵀ: compact but opaque latent factors.</a:t>
            </a:r>
          </a:p>
          <a:p>
            <a:pPr>
              <a:lnSpc>
                <a:spcPct val="105000"/>
              </a:lnSpc>
              <a:spcAft>
                <a:spcPts val="900"/>
              </a:spcAft>
            </a:pPr>
            <a:r>
              <a:rPr sz="1700">
                <a:solidFill>
                  <a:srgbClr val="0E7C7B"/>
                </a:solidFill>
                <a:latin typeface="Wingdings"/>
              </a:rPr>
              <a:t>§  </a:t>
            </a:r>
            <a:r>
              <a:rPr sz="1700" b="0">
                <a:solidFill>
                  <a:srgbClr val="2F3B49"/>
                </a:solidFill>
                <a:latin typeface="Montserrat"/>
              </a:rPr>
              <a:t>Graph-based – interaction graph with neighbourhood propagation (LightGCN, hypergraph).</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Data sparsity &amp; scalability – the user–item matrix is overwhelmingly empty.</a:t>
            </a:r>
          </a:p>
          <a:p>
            <a:pPr>
              <a:lnSpc>
                <a:spcPct val="105000"/>
              </a:lnSpc>
              <a:spcAft>
                <a:spcPts val="900"/>
              </a:spcAft>
            </a:pPr>
            <a:r>
              <a:rPr sz="1700">
                <a:solidFill>
                  <a:srgbClr val="0E7C7B"/>
                </a:solidFill>
                <a:latin typeface="Wingdings"/>
              </a:rPr>
              <a:t>§  </a:t>
            </a:r>
            <a:r>
              <a:rPr sz="1700" b="0">
                <a:solidFill>
                  <a:srgbClr val="2F3B49"/>
                </a:solidFill>
                <a:latin typeface="Montserrat"/>
              </a:rPr>
              <a:t>Cold-start – new users and items are structurally disadvantaged.</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 bias &amp; lack of diversity – exposure begets interaction, begets exposure.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Absence of interpretability – the most fundamental limit.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 clustering: methods favour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1. Lack of explainability – complex models remain hard to interpret faithfully and actionably.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RQ1 · How can Shapley values explain black-box clustering faithfully at instance and cluster level?</a:t>
            </a:r>
          </a:p>
          <a:p>
            <a:pPr>
              <a:lnSpc>
                <a:spcPct val="105000"/>
              </a:lnSpc>
              <a:spcAft>
                <a:spcPts val="900"/>
              </a:spcAft>
            </a:pPr>
            <a:r>
              <a:rPr sz="1700">
                <a:solidFill>
                  <a:srgbClr val="0E7C7B"/>
                </a:solidFill>
                <a:latin typeface="Wingdings"/>
              </a:rPr>
              <a:t>§  </a:t>
            </a:r>
            <a:r>
              <a:rPr sz="1700" b="0">
                <a:solidFill>
                  <a:srgbClr val="2F3B49"/>
                </a:solidFill>
                <a:latin typeface="Montserrat"/>
              </a:rPr>
              <a:t>RQ2 · How can this extend to large-scale, hierarchical clustering without losing tractability or consistency?</a:t>
            </a:r>
          </a:p>
          <a:p>
            <a:pPr>
              <a:lnSpc>
                <a:spcPct val="105000"/>
              </a:lnSpc>
              <a:spcAft>
                <a:spcPts val="900"/>
              </a:spcAft>
            </a:pPr>
            <a:r>
              <a:rPr sz="1700">
                <a:solidFill>
                  <a:srgbClr val="0E7C7B"/>
                </a:solidFill>
                <a:latin typeface="Wingdings"/>
              </a:rPr>
              <a:t>§  </a:t>
            </a:r>
            <a:r>
              <a:rPr sz="1700" b="0">
                <a:solidFill>
                  <a:srgbClr val="2F3B49"/>
                </a:solidFill>
                <a:latin typeface="Montserrat"/>
              </a:rPr>
              <a:t>RQ3 · Can cooperative attribution move beyond post-hoc and enter the learning dynamics of graph recommenders?</a:t>
            </a:r>
          </a:p>
          <a:p>
            <a:pPr>
              <a:lnSpc>
                <a:spcPct val="105000"/>
              </a:lnSpc>
              <a:spcAft>
                <a:spcPts val="900"/>
              </a:spcAft>
            </a:pPr>
            <a:r>
              <a:rPr sz="1700">
                <a:solidFill>
                  <a:srgbClr val="0E7C7B"/>
                </a:solidFill>
                <a:latin typeface="Wingdings"/>
              </a:rPr>
              <a:t>§  </a:t>
            </a:r>
            <a:r>
              <a:rPr sz="1700" b="0">
                <a:solidFill>
                  <a:srgbClr val="2F3B49"/>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C1 – Explainable black-box clustering: PCA–K-Means–LightGBM–TreeSHAP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 Wine Quality: faithful instance- and cluster-level feature attribution.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C2 – Enhanced multi-level XAI for large-scale clustering with cross-level SHAP aggregation.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Beijing Air Quality: hierarchical attribution consistency under scale.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C3 – DyHuCoG: Dynamic Hypergraph Cooperative Game for preference-aware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MovieLens-1M &amp; Amazon-Book: preference-aware Monte Carlo Shapley as an in-training signal.</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Scale</a:t>
                      </a:r>
                    </a:p>
                  </a:txBody>
                  <a:tcPr anchor="ctr" marL="54864" marR="54864" marT="18288" marB="18288">
                    <a:solidFill>
                      <a:srgbClr val="0E7C7B"/>
                    </a:solidFill>
                  </a:tcPr>
                </a:tc>
                <a:tc>
                  <a:txBody>
                    <a:bodyPr/>
                    <a:lstStyle/>
                    <a:p>
                      <a:pPr algn="ctr"/>
                      <a:r>
                        <a:rPr sz="1200" b="1">
                          <a:solidFill>
                            <a:srgbClr val="FFFFFF"/>
                          </a:solidFill>
                          <a:latin typeface="Montserrat Medium"/>
                        </a:rPr>
                        <a:t>Type</a:t>
                      </a:r>
                    </a:p>
                  </a:txBody>
                  <a:tcPr anchor="ctr" marL="54864" marR="54864" marT="18288" marB="18288">
                    <a:solidFill>
                      <a:srgbClr val="0E7C7B"/>
                    </a:solidFill>
                  </a:tcPr>
                </a:tc>
                <a:tc>
                  <a:txBody>
                    <a:bodyPr/>
                    <a:lstStyle/>
                    <a:p>
                      <a:pPr algn="ctr"/>
                      <a:r>
                        <a:rPr sz="1200" b="1">
                          <a:solidFill>
                            <a:srgbClr val="FFFFFF"/>
                          </a:solidFill>
                          <a:latin typeface="Montserrat Medium"/>
                        </a:rPr>
                        <a:t>Role</a:t>
                      </a:r>
                    </a:p>
                  </a:txBody>
                  <a:tcPr anchor="ctr" marL="54864" marR="54864" marT="18288" marB="18288">
                    <a:solidFill>
                      <a:srgbClr val="0E7C7B"/>
                    </a:solidFill>
                  </a:tcPr>
                </a:tc>
              </a:tr>
              <a:tr h="713232">
                <a:tc>
                  <a:txBody>
                    <a:bodyPr/>
                    <a:lstStyle/>
                    <a:p>
                      <a:pPr algn="l"/>
                      <a:r>
                        <a:rPr sz="1200" b="0">
                          <a:solidFill>
                            <a:srgbClr val="2F3B49"/>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2F3B49"/>
                          </a:solidFill>
                          <a:latin typeface="Montserrat"/>
                        </a:rPr>
                        <a:t>4,898 × 11</a:t>
                      </a:r>
                    </a:p>
                  </a:txBody>
                  <a:tcPr anchor="ctr" marL="54864" marR="54864" marT="18288" marB="18288">
                    <a:solidFill>
                      <a:srgbClr val="FFFFFF"/>
                    </a:solidFill>
                  </a:tcPr>
                </a:tc>
                <a:tc>
                  <a:txBody>
                    <a:bodyPr/>
                    <a:lstStyle/>
                    <a:p>
                      <a:pPr algn="ctr"/>
                      <a:r>
                        <a:rPr sz="1200" b="0">
                          <a:solidFill>
                            <a:srgbClr val="2F3B49"/>
                          </a:solidFill>
                          <a:latin typeface="Montserrat"/>
                        </a:rPr>
                        <a:t>Tabular, numeric</a:t>
                      </a:r>
                    </a:p>
                  </a:txBody>
                  <a:tcPr anchor="ctr" marL="54864" marR="54864" marT="18288" marB="18288">
                    <a:solidFill>
                      <a:srgbClr val="FFFFFF"/>
                    </a:solidFill>
                  </a:tcPr>
                </a:tc>
                <a:tc>
                  <a:txBody>
                    <a:bodyPr/>
                    <a:lstStyle/>
                    <a:p>
                      <a:pPr algn="ctr"/>
                      <a:r>
                        <a:rPr sz="1200" b="0">
                          <a:solidFill>
                            <a:srgbClr val="2F3B49"/>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2F3B49"/>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2F3B49"/>
                          </a:solidFill>
                          <a:latin typeface="Montserrat"/>
                        </a:rPr>
                        <a:t>383,585 × 11</a:t>
                      </a:r>
                    </a:p>
                  </a:txBody>
                  <a:tcPr anchor="ctr" marL="54864" marR="54864" marT="18288" marB="18288">
                    <a:solidFill>
                      <a:srgbClr val="F0F4FB"/>
                    </a:solidFill>
                  </a:tcPr>
                </a:tc>
                <a:tc>
                  <a:txBody>
                    <a:bodyPr/>
                    <a:lstStyle/>
                    <a:p>
                      <a:pPr algn="ctr"/>
                      <a:r>
                        <a:rPr sz="1200" b="0">
                          <a:solidFill>
                            <a:srgbClr val="2F3B49"/>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2F3B49"/>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6,040 u / 3,706 i / 1.0M int</a:t>
                      </a:r>
                    </a:p>
                  </a:txBody>
                  <a:tcPr anchor="ctr" marL="54864" marR="54864" marT="18288" marB="18288">
                    <a:solidFill>
                      <a:srgbClr val="FFFFFF"/>
                    </a:solidFill>
                  </a:tcPr>
                </a:tc>
                <a:tc>
                  <a:txBody>
                    <a:bodyPr/>
                    <a:lstStyle/>
                    <a:p>
                      <a:pPr algn="ctr"/>
                      <a:r>
                        <a:rPr sz="1200" b="0">
                          <a:solidFill>
                            <a:srgbClr val="2F3B49"/>
                          </a:solidFill>
                          <a:latin typeface="Montserrat"/>
                        </a:rPr>
                        <a:t>Implicit feedback (0.0447)</a:t>
                      </a:r>
                    </a:p>
                  </a:txBody>
                  <a:tcPr anchor="ctr" marL="54864" marR="54864" marT="18288" marB="18288">
                    <a:solidFill>
                      <a:srgbClr val="FFFFFF"/>
                    </a:solidFill>
                  </a:tcPr>
                </a:tc>
                <a:tc>
                  <a:txBody>
                    <a:bodyPr/>
                    <a:lstStyle/>
                    <a:p>
                      <a:pPr algn="ctr"/>
                      <a:r>
                        <a:rPr sz="1200" b="0">
                          <a:solidFill>
                            <a:srgbClr val="2F3B49"/>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0F4FB"/>
                    </a:solidFill>
                  </a:tcPr>
                </a:tc>
                <a:tc>
                  <a:txBody>
                    <a:bodyPr/>
                    <a:lstStyle/>
                    <a:p>
                      <a:pPr algn="ctr"/>
                      <a:r>
                        <a:rPr sz="1200" b="0">
                          <a:solidFill>
                            <a:srgbClr val="2F3B49"/>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2F3B49"/>
                          </a:solidFill>
                          <a:latin typeface="Montserrat"/>
                        </a:rPr>
                        <a:t>Implicit feedback (0.0006)</a:t>
                      </a:r>
                    </a:p>
                  </a:txBody>
                  <a:tcPr anchor="ctr" marL="54864" marR="54864" marT="18288" marB="18288">
                    <a:solidFill>
                      <a:srgbClr val="F0F4FB"/>
                    </a:solidFill>
                  </a:tcPr>
                </a:tc>
                <a:tc>
                  <a:txBody>
                    <a:bodyPr/>
                    <a:lstStyle/>
                    <a:p>
                      <a:pPr algn="ctr"/>
                      <a:r>
                        <a:rPr sz="1200" b="0">
                          <a:solidFill>
                            <a:srgbClr val="2F3B49"/>
                          </a:solidFill>
                          <a:latin typeface="Montserrat"/>
                        </a:rPr>
                        <a:t>C3 – DyHuCoG</a:t>
                      </a:r>
                    </a:p>
                  </a:txBody>
                  <a:tcPr anchor="ctr" marL="54864" marR="54864" marT="18288" marB="18288">
                    <a:solidFill>
                      <a:srgbClr val="F0F4FB"/>
                    </a:solidFill>
                  </a:tcPr>
                </a:tc>
              </a:tr>
            </a:tbl>
          </a:graphicData>
        </a:graphic>
      </p:graphicFrame>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 Characteristics &amp; Why Each Was Chosen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Quality – 11 interpretable physicochemical features; small, dense, chemically correlated → tests attribution in a trusted semantic space.</a:t>
            </a:r>
          </a:p>
          <a:p>
            <a:pPr>
              <a:lnSpc>
                <a:spcPct val="105000"/>
              </a:lnSpc>
              <a:spcAft>
                <a:spcPts val="900"/>
              </a:spcAft>
            </a:pPr>
            <a:r>
              <a:rPr sz="1700">
                <a:solidFill>
                  <a:srgbClr val="0E7C7B"/>
                </a:solidFill>
                <a:latin typeface="Wingdings"/>
              </a:rPr>
              <a:t>§  </a:t>
            </a:r>
            <a:r>
              <a:rPr sz="1700" b="0">
                <a:solidFill>
                  <a:srgbClr val="2F3B49"/>
                </a:solidFill>
                <a:latin typeface="Montserrat"/>
              </a:rPr>
              <a:t>Beijing Air Quality – 11 pollutant + meteorological variables, 383,585 hourly records → tests scale, noise and temporal/meteorological structure.</a:t>
            </a:r>
          </a:p>
          <a:p>
            <a:pPr>
              <a:lnSpc>
                <a:spcPct val="105000"/>
              </a:lnSpc>
              <a:spcAft>
                <a:spcPts val="900"/>
              </a:spcAft>
            </a:pPr>
            <a:r>
              <a:rPr sz="1700">
                <a:solidFill>
                  <a:srgbClr val="0E7C7B"/>
                </a:solidFill>
                <a:latin typeface="Wingdings"/>
              </a:rPr>
              <a:t>§  </a:t>
            </a:r>
            <a:r>
              <a:rPr sz="1700" b="0">
                <a:solidFill>
                  <a:srgbClr val="2F3B49"/>
                </a:solidFill>
                <a:latin typeface="Montserrat"/>
              </a:rPr>
              <a:t>MovieLens-1M – ~1.0M interactions, density 0.0447 → benchmark-standard recommendation with established baselines.</a:t>
            </a:r>
          </a:p>
          <a:p>
            <a:pPr>
              <a:lnSpc>
                <a:spcPct val="105000"/>
              </a:lnSpc>
              <a:spcAft>
                <a:spcPts val="900"/>
              </a:spcAft>
            </a:pPr>
            <a:r>
              <a:rPr sz="1700">
                <a:solidFill>
                  <a:srgbClr val="0E7C7B"/>
                </a:solidFill>
                <a:latin typeface="Wingdings"/>
              </a:rPr>
              <a:t>§  </a:t>
            </a:r>
            <a:r>
              <a:rPr sz="1700" b="0">
                <a:solidFill>
                  <a:srgbClr val="2F3B49"/>
                </a:solidFill>
                <a:latin typeface="Montserrat"/>
              </a:rPr>
              <a:t>Amazon-Book – ~3.0M interactions, density 0.0006 → deliberately sparse to stress-test Shapley weighting when signal is weak.</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0.0447 vs 0.0006 density contrast is intentional: the claim is that gains are largest where data are weakest.</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Clustering: five-fold cross-validation for surrogate/attribution stability.</a:t>
            </a:r>
          </a:p>
          <a:p>
            <a:pPr>
              <a:lnSpc>
                <a:spcPct val="105000"/>
              </a:lnSpc>
              <a:spcAft>
                <a:spcPts val="900"/>
              </a:spcAft>
            </a:pPr>
            <a:r>
              <a:rPr sz="1700">
                <a:solidFill>
                  <a:srgbClr val="0E7C7B"/>
                </a:solidFill>
                <a:latin typeface="Wingdings"/>
              </a:rPr>
              <a:t>§  </a:t>
            </a:r>
            <a:r>
              <a:rPr sz="1700" b="0">
                <a:solidFill>
                  <a:srgbClr val="2F3B49"/>
                </a:solidFill>
                <a:latin typeface="Montserrat"/>
              </a:rPr>
              <a:t>Recommendation: user-level, temporal split — 70% train / 10% val / 20% test.</a:t>
            </a:r>
          </a:p>
          <a:p>
            <a:pPr>
              <a:lnSpc>
                <a:spcPct val="105000"/>
              </a:lnSpc>
              <a:spcAft>
                <a:spcPts val="900"/>
              </a:spcAft>
            </a:pPr>
            <a:r>
              <a:rPr sz="1700">
                <a:solidFill>
                  <a:srgbClr val="0E7C7B"/>
                </a:solidFill>
                <a:latin typeface="Wingdings"/>
              </a:rPr>
              <a:t>§  </a:t>
            </a:r>
            <a:r>
              <a:rPr sz="1700" b="0">
                <a:solidFill>
                  <a:srgbClr val="2F3B49"/>
                </a:solidFill>
                <a:latin typeface="Montserrat"/>
              </a:rPr>
              <a:t>Leave-one-out: the latest test positive per user is the target, ranked against negatives.</a:t>
            </a:r>
          </a:p>
          <a:p>
            <a:pPr>
              <a:lnSpc>
                <a:spcPct val="105000"/>
              </a:lnSpc>
              <a:spcAft>
                <a:spcPts val="900"/>
              </a:spcAft>
            </a:pPr>
            <a:r>
              <a:rPr sz="1700">
                <a:solidFill>
                  <a:srgbClr val="0E7C7B"/>
                </a:solidFill>
                <a:latin typeface="Wingdings"/>
              </a:rPr>
              <a:t>§  </a:t>
            </a:r>
            <a:r>
              <a:rPr sz="1700" b="0">
                <a:solidFill>
                  <a:srgbClr val="2F3B49"/>
                </a:solidFill>
                <a:latin typeface="Montserrat"/>
              </a:rPr>
              <a:t>Implicit conversion: MovieLens-1M ratings &gt; 3 treated as positive.</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Popularity-aware negative sampling: q(i) ∝ f_i^η for harder contrasts.</a:t>
            </a:r>
          </a:p>
          <a:p>
            <a:pPr>
              <a:lnSpc>
                <a:spcPct val="105000"/>
              </a:lnSpc>
              <a:spcAft>
                <a:spcPts val="900"/>
              </a:spcAft>
            </a:pPr>
            <a:r>
              <a:rPr sz="1700">
                <a:solidFill>
                  <a:srgbClr val="0E7C7B"/>
                </a:solidFill>
                <a:latin typeface="Wingdings"/>
              </a:rPr>
              <a:t>§  </a:t>
            </a:r>
            <a:r>
              <a:rPr sz="1700" b="0">
                <a:solidFill>
                  <a:srgbClr val="2F3B49"/>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Clustering benchmark: LIME-based surrogate explanation pipeline.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Recommendation benchmarks: MF, NCF, LightGCN, RecDCL, HCCF, HPCF (strongest reference).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Ranking: Precision@K, Recall@K, NDCG@20 (principal).</a:t>
            </a:r>
          </a:p>
          <a:p>
            <a:pPr>
              <a:lnSpc>
                <a:spcPct val="105000"/>
              </a:lnSpc>
              <a:spcAft>
                <a:spcPts val="900"/>
              </a:spcAft>
            </a:pPr>
            <a:r>
              <a:rPr sz="1700">
                <a:solidFill>
                  <a:srgbClr val="0E7C7B"/>
                </a:solidFill>
                <a:latin typeface="Wingdings"/>
              </a:rPr>
              <a:t>§  </a:t>
            </a:r>
            <a:r>
              <a:rPr sz="1700" b="0">
                <a:solidFill>
                  <a:srgbClr val="2F3B49"/>
                </a:solidFill>
                <a:latin typeface="Montserrat"/>
              </a:rPr>
              <a:t>System diversity: Catalogue Coverage = |⋃ R_u| / |I|.</a:t>
            </a:r>
          </a:p>
          <a:p>
            <a:pPr>
              <a:lnSpc>
                <a:spcPct val="105000"/>
              </a:lnSpc>
              <a:spcAft>
                <a:spcPts val="900"/>
              </a:spcAft>
            </a:pPr>
            <a:r>
              <a:rPr sz="1700">
                <a:solidFill>
                  <a:srgbClr val="0E7C7B"/>
                </a:solidFill>
                <a:latin typeface="Wingdings"/>
              </a:rPr>
              <a:t>§  </a:t>
            </a:r>
            <a:r>
              <a:rPr sz="1700" b="0">
                <a:solidFill>
                  <a:srgbClr val="2F3B49"/>
                </a:solidFill>
                <a:latin typeface="Montserrat"/>
              </a:rPr>
              <a:t>List diversity: Intra-List Diversity (ILD), built into the coalition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Clustering quality: Silhouette, Davies–Bouldin.</a:t>
            </a:r>
          </a:p>
        </p:txBody>
      </p:sp>
      <p:pic>
        <p:nvPicPr>
          <p:cNvPr id="56" name="Picture 55" descr="metrics.png"/>
          <p:cNvPicPr>
            <a:picLocks noChangeAspect="1"/>
          </p:cNvPicPr>
          <p:nvPr/>
        </p:nvPicPr>
        <p:blipFill>
          <a:blip r:embed="rId12"/>
          <a:stretch>
            <a:fillRect/>
          </a:stretch>
        </p:blipFill>
        <p:spPr>
          <a:xfrm>
            <a:off x="6309360" y="2011680"/>
            <a:ext cx="5212080" cy="3411543"/>
          </a:xfrm>
          <a:prstGeom prst="rect">
            <a:avLst/>
          </a:prstGeom>
        </p:spPr>
      </p:pic>
      <p:pic>
        <p:nvPicPr>
          <p:cNvPr id="57" name="Picture 56" descr="image.png"/>
          <p:cNvPicPr>
            <a:picLocks noChangeAspect="1"/>
          </p:cNvPicPr>
          <p:nvPr/>
        </p:nvPicPr>
        <p:blipFill>
          <a:blip r:embed="rId10"/>
          <a:stretch>
            <a:fillRect/>
          </a:stretch>
        </p:blipFill>
        <p:spPr>
          <a:xfrm>
            <a:off x="11431828" y="6400800"/>
            <a:ext cx="384048" cy="384048"/>
          </a:xfrm>
          <a:prstGeom prst="rect">
            <a:avLst/>
          </a:prstGeom>
        </p:spPr>
      </p:pic>
      <p:pic>
        <p:nvPicPr>
          <p:cNvPr id="58" name="Picture 57"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CPU: Intel Core i9-14900K, 24 cores — clustering, preprocessing, data loading.</a:t>
            </a:r>
          </a:p>
          <a:p>
            <a:pPr>
              <a:lnSpc>
                <a:spcPct val="105000"/>
              </a:lnSpc>
              <a:spcAft>
                <a:spcPts val="900"/>
              </a:spcAft>
            </a:pPr>
            <a:r>
              <a:rPr sz="1700">
                <a:solidFill>
                  <a:srgbClr val="0E7C7B"/>
                </a:solidFill>
                <a:latin typeface="Wingdings"/>
              </a:rPr>
              <a:t>§  </a:t>
            </a:r>
            <a:r>
              <a:rPr sz="1700" b="0">
                <a:solidFill>
                  <a:srgbClr val="2F3B49"/>
                </a:solidFill>
                <a:latin typeface="Montserrat"/>
              </a:rPr>
              <a:t>GPU: NVIDIA GeForce RTX 4090, 24 GB — DyHuCoG training &amp; inference.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RAM: 48 GB; Storage: 2 TB SSD.</a:t>
            </a:r>
          </a:p>
          <a:p>
            <a:pPr>
              <a:lnSpc>
                <a:spcPct val="105000"/>
              </a:lnSpc>
              <a:spcAft>
                <a:spcPts val="900"/>
              </a:spcAft>
            </a:pPr>
            <a:r>
              <a:rPr sz="1700">
                <a:solidFill>
                  <a:srgbClr val="0E7C7B"/>
                </a:solidFill>
                <a:latin typeface="Wingdings"/>
              </a:rPr>
              <a:t>§  </a:t>
            </a:r>
            <a:r>
              <a:rPr sz="1700" b="0">
                <a:solidFill>
                  <a:srgbClr val="2F3B49"/>
                </a:solidFill>
                <a:latin typeface="Montserrat"/>
              </a:rPr>
              <a:t>Python 3.8; scikit-learn, LightGBM, SHAP, PyTorch 2.0.1, NumPy/SciPy/pandas.</a:t>
            </a:r>
          </a:p>
          <a:p>
            <a:pPr>
              <a:lnSpc>
                <a:spcPct val="105000"/>
              </a:lnSpc>
              <a:spcAft>
                <a:spcPts val="900"/>
              </a:spcAft>
            </a:pPr>
            <a:r>
              <a:rPr sz="1700">
                <a:solidFill>
                  <a:srgbClr val="0E7C7B"/>
                </a:solidFill>
                <a:latin typeface="Wingdings"/>
              </a:rPr>
              <a:t>§  </a:t>
            </a:r>
            <a:r>
              <a:rPr sz="1700" b="0">
                <a:solidFill>
                  <a:srgbClr val="2F3B49"/>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Existing clustering-interpretability methods privilege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often fail to scale or preserve coherence across clusters.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RQ1 · How can Shapley values explain black-box clustering faithfully at instance and cluster level?</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Build a pipeline that yields cluster-level explanation while keeping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Preserve the semantics of the original feature space, not a reduced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Justify Shapley over an ad-hoc surrogate such as LIME.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F — each feature is a player.</a:t>
            </a:r>
          </a:p>
          <a:p>
            <a:pPr>
              <a:lnSpc>
                <a:spcPct val="105000"/>
              </a:lnSpc>
              <a:spcAft>
                <a:spcPts val="900"/>
              </a:spcAft>
            </a:pPr>
            <a:r>
              <a:rPr sz="1700">
                <a:solidFill>
                  <a:srgbClr val="0E7C7B"/>
                </a:solidFill>
                <a:latin typeface="Wingdings"/>
              </a:rPr>
              <a:t>§  </a:t>
            </a:r>
            <a:r>
              <a:rPr sz="1700" b="0">
                <a:solidFill>
                  <a:srgbClr val="2F3B49"/>
                </a:solidFill>
                <a:latin typeface="Montserrat"/>
              </a:rPr>
              <a:t>Value function v(S) = Silhouette( KMeans(X_S, k*) ) — how well data cluster using only features in S.</a:t>
            </a:r>
          </a:p>
          <a:p>
            <a:pPr>
              <a:lnSpc>
                <a:spcPct val="105000"/>
              </a:lnSpc>
              <a:spcAft>
                <a:spcPts val="900"/>
              </a:spcAft>
            </a:pPr>
            <a:r>
              <a:rPr sz="1700">
                <a:solidFill>
                  <a:srgbClr val="0E7C7B"/>
                </a:solidFill>
                <a:latin typeface="Wingdings"/>
              </a:rPr>
              <a:t>§  </a:t>
            </a:r>
            <a:r>
              <a:rPr sz="1700" b="0">
                <a:solidFill>
                  <a:srgbClr val="2F3B49"/>
                </a:solidFill>
                <a:latin typeface="Montserrat"/>
              </a:rPr>
              <a:t>A feature's Shapley value = its expected marginal contribution to clustering quality over all coalition orders.</a:t>
            </a:r>
          </a:p>
          <a:p>
            <a:pPr>
              <a:lnSpc>
                <a:spcPct val="105000"/>
              </a:lnSpc>
              <a:spcAft>
                <a:spcPts val="900"/>
              </a:spcAft>
            </a:pPr>
            <a:r>
              <a:rPr sz="1700">
                <a:solidFill>
                  <a:srgbClr val="0E7C7B"/>
                </a:solidFill>
                <a:latin typeface="Wingdings"/>
              </a:rPr>
              <a:t>§  </a:t>
            </a:r>
            <a:r>
              <a:rPr sz="1700" b="0">
                <a:solidFill>
                  <a:srgbClr val="2F3B49"/>
                </a:solidFill>
                <a:latin typeface="Montserrat"/>
              </a:rPr>
              <a:t>Why Silhouette: bounded, normalised, semantically intuitive.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0E7C7B"/>
                </a:solidFill>
                <a:latin typeface="Wingdings"/>
              </a:rPr>
              <a:t>§  </a:t>
            </a:r>
            <a:r>
              <a:rPr sz="1700" b="0">
                <a:solidFill>
                  <a:srgbClr val="2F3B49"/>
                </a:solidFill>
                <a:latin typeface="Montserrat"/>
              </a:rPr>
              <a:t>Apply TreeSHAP to the surrogate — fast, exact tree-based attribution in the original semantic feature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Direct TreeSHAP on K-Means is impossible (it explains tree models, not centroids).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preserves the chemistry/pollution vocabulary that makes the analysis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Validity condition: surrogate fidelity is high (macro-F1 ≈ 0.82).</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576072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Stage 1 – PCA: stabilise geometry + visual diagnostic. NOT the explanatory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2 – K-Means++ with multi-criteria k selection (elbow, Silhouette, Davies–Bouldin).</a:t>
            </a:r>
          </a:p>
          <a:p>
            <a:pPr>
              <a:lnSpc>
                <a:spcPct val="105000"/>
              </a:lnSpc>
              <a:spcAft>
                <a:spcPts val="900"/>
              </a:spcAft>
            </a:pPr>
            <a:r>
              <a:rPr sz="1700">
                <a:solidFill>
                  <a:srgbClr val="0E7C7B"/>
                </a:solidFill>
                <a:latin typeface="Wingdings"/>
              </a:rPr>
              <a:t>§  </a:t>
            </a:r>
            <a:r>
              <a:rPr sz="1700" b="0">
                <a:solidFill>
                  <a:srgbClr val="2F3B49"/>
                </a:solidFill>
                <a:latin typeface="Montserrat"/>
              </a:rPr>
              <a:t>Stage 3 – LightGBM surrogate trained on original features to predict cluster labels.</a:t>
            </a:r>
          </a:p>
          <a:p>
            <a:pPr>
              <a:lnSpc>
                <a:spcPct val="105000"/>
              </a:lnSpc>
              <a:spcAft>
                <a:spcPts val="900"/>
              </a:spcAft>
            </a:pPr>
            <a:r>
              <a:rPr sz="1700">
                <a:solidFill>
                  <a:srgbClr val="0E7C7B"/>
                </a:solidFill>
                <a:latin typeface="Wingdings"/>
              </a:rPr>
              <a:t>§  </a:t>
            </a:r>
            <a:r>
              <a:rPr sz="1700" b="0">
                <a:solidFill>
                  <a:srgbClr val="2F3B49"/>
                </a:solidFill>
                <a:latin typeface="Montserrat"/>
              </a:rPr>
              <a:t>Stage 4 – TreeSHAP attribution in the original feature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5 – Aggregate into global importance, cluster-specific profiles, and local force plots.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Complexity: dominated by PCA and repeated K-Means; TreeSHAP scales with tree count, not exponentially in features.</a:t>
            </a:r>
          </a:p>
        </p:txBody>
      </p:sp>
      <p:pic>
        <p:nvPicPr>
          <p:cNvPr id="49" name="Picture 48" descr="c1_pipeline_paper.png"/>
          <p:cNvPicPr>
            <a:picLocks noChangeAspect="1"/>
          </p:cNvPicPr>
          <p:nvPr/>
        </p:nvPicPr>
        <p:blipFill>
          <a:blip r:embed="rId12"/>
          <a:stretch>
            <a:fillRect/>
          </a:stretch>
        </p:blipFill>
        <p:spPr>
          <a:xfrm>
            <a:off x="6400800" y="2011680"/>
            <a:ext cx="4114800" cy="4114800"/>
          </a:xfrm>
          <a:prstGeom prst="rect">
            <a:avLst/>
          </a:prstGeom>
        </p:spPr>
      </p:pic>
      <p:pic>
        <p:nvPicPr>
          <p:cNvPr id="50" name="Picture 49" descr="image.png"/>
          <p:cNvPicPr>
            <a:picLocks noChangeAspect="1"/>
          </p:cNvPicPr>
          <p:nvPr/>
        </p:nvPicPr>
        <p:blipFill>
          <a:blip r:embed="rId15"/>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Multi-criteria evaluation across k ∈ {2..10} using elbow, Silhouette, Davies–Bouldin.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We select k* = 3 — even though it is NOT geometrically optimal: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2: Silhouette 0.214, Davies–Bouldin 1.775 (better separation).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3: Silhouette 0.144, Davies–Bouldin 2.097 (weaker separation).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Why: three clusters give a semantically richer oenological partition → more actionable.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density → pH → fixed acidity → sulfur-dioxide → alcohol</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Dominant drivers relate to structure, preservation, and sensory balance.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Three clusters show distinct explanatory signatures.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0 – density + sulfur-dioxide-related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1 – acidity and pH-related effects.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2 – a different balance of acidity, alcohol, and related chemical attributes.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0E7C7B"/>
                    </a:solidFill>
                  </a:tcPr>
                </a:tc>
                <a:tc>
                  <a:txBody>
                    <a:bodyPr/>
                    <a:lstStyle/>
                    <a:p>
                      <a:pPr algn="ctr"/>
                      <a:r>
                        <a:rPr sz="1200" b="1">
                          <a:solidFill>
                            <a:srgbClr val="FFFFFF"/>
                          </a:solidFill>
                          <a:latin typeface="Montserrat Medium"/>
                        </a:rPr>
                        <a:t>SHAP (cooperative)</a:t>
                      </a:r>
                    </a:p>
                  </a:txBody>
                  <a:tcPr anchor="ctr" marL="54864" marR="54864" marT="18288" marB="18288">
                    <a:solidFill>
                      <a:srgbClr val="0E7C7B"/>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0E7C7B"/>
                    </a:solidFill>
                  </a:tcPr>
                </a:tc>
              </a:tr>
              <a:tr h="579120">
                <a:tc>
                  <a:txBody>
                    <a:bodyPr/>
                    <a:lstStyle/>
                    <a:p>
                      <a:pPr algn="l"/>
                      <a:r>
                        <a:rPr sz="1200" b="0">
                          <a:solidFill>
                            <a:srgbClr val="2F3B49"/>
                          </a:solidFill>
                          <a:latin typeface="Montserrat"/>
                        </a:rPr>
                        <a:t>Basis</a:t>
                      </a:r>
                    </a:p>
                  </a:txBody>
                  <a:tcPr anchor="ctr" marL="54864" marR="54864" marT="18288" marB="18288">
                    <a:solidFill>
                      <a:srgbClr val="FFFFFF"/>
                    </a:solidFill>
                  </a:tcPr>
                </a:tc>
                <a:tc>
                  <a:txBody>
                    <a:bodyPr/>
                    <a:lstStyle/>
                    <a:p>
                      <a:pPr algn="ctr"/>
                      <a:r>
                        <a:rPr sz="1200" b="0">
                          <a:solidFill>
                            <a:srgbClr val="2F3B49"/>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2F3B49"/>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2F3B49"/>
                          </a:solidFill>
                          <a:latin typeface="Montserrat"/>
                        </a:rPr>
                        <a:t>Local / global</a:t>
                      </a:r>
                    </a:p>
                  </a:txBody>
                  <a:tcPr anchor="ctr" marL="54864" marR="54864" marT="18288" marB="18288">
                    <a:solidFill>
                      <a:srgbClr val="F0F4FB"/>
                    </a:solidFill>
                  </a:tcPr>
                </a:tc>
                <a:tc>
                  <a:txBody>
                    <a:bodyPr/>
                    <a:lstStyle/>
                    <a:p>
                      <a:pPr algn="ctr"/>
                      <a:r>
                        <a:rPr sz="1200" b="0">
                          <a:solidFill>
                            <a:srgbClr val="2F3B49"/>
                          </a:solidFill>
                          <a:latin typeface="Montserrat"/>
                        </a:rPr>
                        <a:t>Both</a:t>
                      </a:r>
                    </a:p>
                  </a:txBody>
                  <a:tcPr anchor="ctr" marL="54864" marR="54864" marT="18288" marB="18288">
                    <a:solidFill>
                      <a:srgbClr val="F0F4FB"/>
                    </a:solidFill>
                  </a:tcPr>
                </a:tc>
                <a:tc>
                  <a:txBody>
                    <a:bodyPr/>
                    <a:lstStyle/>
                    <a:p>
                      <a:pPr algn="ctr"/>
                      <a:r>
                        <a:rPr sz="1200" b="0">
                          <a:solidFill>
                            <a:srgbClr val="2F3B49"/>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2F3B49"/>
                          </a:solidFill>
                          <a:latin typeface="Montserrat"/>
                        </a:rPr>
                        <a:t>Theoretical guarantee</a:t>
                      </a:r>
                    </a:p>
                  </a:txBody>
                  <a:tcPr anchor="ctr" marL="54864" marR="54864" marT="18288" marB="18288">
                    <a:solidFill>
                      <a:srgbClr val="FFFFFF"/>
                    </a:solidFill>
                  </a:tcPr>
                </a:tc>
                <a:tc>
                  <a:txBody>
                    <a:bodyPr/>
                    <a:lstStyle/>
                    <a:p>
                      <a:pPr algn="ctr"/>
                      <a:r>
                        <a:rPr sz="1200" b="0">
                          <a:solidFill>
                            <a:srgbClr val="2F3B49"/>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2F3B49"/>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2F3B49"/>
                          </a:solidFill>
                          <a:latin typeface="Montserrat"/>
                        </a:rPr>
                        <a:t>Stability</a:t>
                      </a:r>
                    </a:p>
                  </a:txBody>
                  <a:tcPr anchor="ctr" marL="54864" marR="54864" marT="18288" marB="18288">
                    <a:solidFill>
                      <a:srgbClr val="F0F4FB"/>
                    </a:solidFill>
                  </a:tcPr>
                </a:tc>
                <a:tc>
                  <a:txBody>
                    <a:bodyPr/>
                    <a:lstStyle/>
                    <a:p>
                      <a:pPr algn="ctr"/>
                      <a:r>
                        <a:rPr sz="1200" b="0">
                          <a:solidFill>
                            <a:srgbClr val="2F3B49"/>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2F3B49"/>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2F3B49"/>
                          </a:solidFill>
                          <a:latin typeface="Montserrat"/>
                        </a:rPr>
                        <a:t>Cluster comparison</a:t>
                      </a:r>
                    </a:p>
                  </a:txBody>
                  <a:tcPr anchor="ctr" marL="54864" marR="54864" marT="18288" marB="18288">
                    <a:solidFill>
                      <a:srgbClr val="FFFFFF"/>
                    </a:solidFill>
                  </a:tcPr>
                </a:tc>
                <a:tc>
                  <a:txBody>
                    <a:bodyPr/>
                    <a:lstStyle/>
                    <a:p>
                      <a:pPr algn="ctr"/>
                      <a:r>
                        <a:rPr sz="1200" b="0">
                          <a:solidFill>
                            <a:srgbClr val="2F3B49"/>
                          </a:solidFill>
                          <a:latin typeface="Montserrat"/>
                        </a:rPr>
                        <a:t>Strong</a:t>
                      </a:r>
                    </a:p>
                  </a:txBody>
                  <a:tcPr anchor="ctr" marL="54864" marR="54864" marT="18288" marB="18288">
                    <a:solidFill>
                      <a:srgbClr val="FFFFFF"/>
                    </a:solidFill>
                  </a:tcPr>
                </a:tc>
                <a:tc>
                  <a:txBody>
                    <a:bodyPr/>
                    <a:lstStyle/>
                    <a:p>
                      <a:pPr algn="ctr"/>
                      <a:r>
                        <a:rPr sz="1200" b="0">
                          <a:solidFill>
                            <a:srgbClr val="2F3B49"/>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RQ1 answered in the affirmative — faithful, coherent cluster-level explanation from Shapley values.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attribution returned to the original chemical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Shapley grounded in four axioms; LIME has no equivalent guarantee.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Cluster-level explanation anchored to individual feature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returned to the original chemical variables, not a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Theoretically grounded case for Shapley over LIME (efficiency, symmetry, null player, additivity).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Recovers an oenologically interpretable ranking — density, pH, acidity, sulfur dioxide, alcohol.</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Fidelity depends on the LightGBM surrogate — not a direct mechanism of the K-Means geometry.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 no structured, graph, or image input.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Single-level structure: cannot explain how importance reconfigures between a partition and its sub-partitions.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approximation compresses observation-level variation.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is a single, principled lens for explaining an unsupervised partition.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Keeping attribution in the original feature space is what makes it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real data are rarely single-level: broad regimes contain nested sub-groups.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question is whether this logic survives scale and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Large-scale data make exact explanation computationally burdensome.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Flat explanation may be true yet incomplete — it cannot show how importance changes inside a cluster.</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RQ2 · How can this extend to large-scale, hierarchical clustering without losing tractability or consistency?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A genuinely multi-level workflow, not a rerun of the single-level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A 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Recursive/nested: coarse clustering on the full dataset, then subdivide each cluster.</a:t>
            </a:r>
          </a:p>
          <a:p>
            <a:pPr>
              <a:lnSpc>
                <a:spcPct val="105000"/>
              </a:lnSpc>
              <a:spcAft>
                <a:spcPts val="900"/>
              </a:spcAft>
            </a:pPr>
            <a:r>
              <a:rPr sz="1700">
                <a:solidFill>
                  <a:srgbClr val="0E7C7B"/>
                </a:solidFill>
                <a:latin typeface="Wingdings"/>
              </a:rPr>
              <a:t>§  </a:t>
            </a:r>
            <a:r>
              <a:rPr sz="1700" b="0">
                <a:solidFill>
                  <a:srgbClr val="2F3B49"/>
                </a:solidFill>
                <a:latin typeface="Montserrat"/>
              </a:rPr>
              <a:t>For each level, train a level-specific surrogate and compute SHAP in the SAME original feature space.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Cross-level aggregation is NOT a naive average — it respects cluster size and nesting structure.</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attribution = an expectation over the explanatory structure of its descendants.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hierarchy is a pragmatic analytical device, not a claim of true ontological hierarchy.</a:t>
            </a:r>
          </a:p>
        </p:txBody>
      </p:sp>
      <p:pic>
        <p:nvPicPr>
          <p:cNvPr id="49" name="Picture 48" descr="c2_hierarchy.png"/>
          <p:cNvPicPr>
            <a:picLocks noChangeAspect="1"/>
          </p:cNvPicPr>
          <p:nvPr/>
        </p:nvPicPr>
        <p:blipFill>
          <a:blip r:embed="rId12"/>
          <a:stretch>
            <a:fillRect/>
          </a:stretch>
        </p:blipFill>
        <p:spPr>
          <a:xfrm>
            <a:off x="1463040" y="3429000"/>
            <a:ext cx="9235440" cy="2712910"/>
          </a:xfrm>
          <a:prstGeom prst="rect">
            <a:avLst/>
          </a:prstGeom>
        </p:spPr>
      </p:pic>
      <p:pic>
        <p:nvPicPr>
          <p:cNvPr id="50" name="Picture 49" descr="image.png"/>
          <p:cNvPicPr>
            <a:picLocks noChangeAspect="1"/>
          </p:cNvPicPr>
          <p:nvPr/>
        </p:nvPicPr>
        <p:blipFill>
          <a:blip r:embed="rId14"/>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Let Φ^(l,c)_j = E_{x~c}[|φ_j^(l)(x)|] be the expected absolute SHAP importance of feature j at level l in cluster c.</a:t>
            </a:r>
          </a:p>
          <a:p>
            <a:pPr>
              <a:lnSpc>
                <a:spcPct val="105000"/>
              </a:lnSpc>
              <a:spcAft>
                <a:spcPts val="900"/>
              </a:spcAft>
            </a:pPr>
            <a:r>
              <a:rPr sz="1700">
                <a:solidFill>
                  <a:srgbClr val="0E7C7B"/>
                </a:solidFill>
                <a:latin typeface="Wingdings"/>
              </a:rPr>
              <a:t>§  </a:t>
            </a:r>
            <a:r>
              <a:rPr sz="1700" b="0">
                <a:solidFill>
                  <a:srgbClr val="2F3B49"/>
                </a:solidFill>
                <a:latin typeface="Montserrat"/>
              </a:rPr>
              <a:t>Let w_c' = |c'| / |c| be the relative size of child c' within parent c.</a:t>
            </a:r>
          </a:p>
          <a:p>
            <a:pPr>
              <a:lnSpc>
                <a:spcPct val="105000"/>
              </a:lnSpc>
              <a:spcAft>
                <a:spcPts val="900"/>
              </a:spcAft>
            </a:pPr>
            <a:r>
              <a:rPr sz="1700">
                <a:solidFill>
                  <a:srgbClr val="0E7C7B"/>
                </a:solidFill>
                <a:latin typeface="Wingdings"/>
              </a:rPr>
              <a:t>§  </a:t>
            </a:r>
            <a:r>
              <a:rPr sz="1700" b="1">
                <a:solidFill>
                  <a:srgbClr val="2F3B49"/>
                </a:solidFill>
                <a:latin typeface="Montserrat Medium"/>
              </a:rPr>
              <a:t>For a strict nested hierarchy on a consistent feature space: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Φ^(l,c)_j = Σ_{c'∈child(c)} w_c' · Φ^(l+1,c')_j + ε_j</a:t>
            </a:r>
          </a:p>
          <a:p>
            <a:pPr lvl="1">
              <a:lnSpc>
                <a:spcPct val="105000"/>
              </a:lnSpc>
              <a:spcAft>
                <a:spcPts val="600"/>
              </a:spcAft>
            </a:pPr>
            <a:r>
              <a:rPr sz="1600">
                <a:solidFill>
                  <a:srgbClr val="0E7C7B"/>
                </a:solidFill>
                <a:latin typeface="Montserrat"/>
              </a:rPr>
              <a:t>–  </a:t>
            </a:r>
            <a:r>
              <a:rPr sz="1600" b="0">
                <a:solidFill>
                  <a:srgbClr val="2F3B49"/>
                </a:solidFill>
                <a:latin typeface="Montserrat"/>
              </a:rPr>
              <a:t>ε_j is a residual from surrogate mismatch, vanishing under perfect fidelity.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Derived via law of total expectation (children partition the parent).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Full dataset, k = 3 (strong convergence on multi-criteria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Silhouette ≈ 0.63 — materially stronger separation than wine.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Davies–Bouldin ≈ 0.55 — low between-cluster ambiguity.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PCA projection (2 components) used only for visual inspection.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 dew point → pressure → CO → NO2 → PM10 → PM2.5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dew point and pressure condition dispersion, trapping, and photochemical behaviour.</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Regime A – warm photochemical: ozone, temperature, dew point prominent (summer photochemical smog).</a:t>
            </a:r>
          </a:p>
          <a:p>
            <a:pPr>
              <a:lnSpc>
                <a:spcPct val="105000"/>
              </a:lnSpc>
              <a:spcAft>
                <a:spcPts val="900"/>
              </a:spcAft>
            </a:pPr>
            <a:r>
              <a:rPr sz="1700">
                <a:solidFill>
                  <a:srgbClr val="0E7C7B"/>
                </a:solidFill>
                <a:latin typeface="Wingdings"/>
              </a:rPr>
              <a:t>§  </a:t>
            </a:r>
            <a:r>
              <a:rPr sz="1700" b="0">
                <a:solidFill>
                  <a:srgbClr val="2F3B49"/>
                </a:solidFill>
                <a:latin typeface="Montserrat"/>
              </a:rPr>
              <a:t>Regime B – wintertime smog: CO, SO2, PM dominate; low wind speed suppresses dispersion.</a:t>
            </a:r>
          </a:p>
          <a:p>
            <a:pPr>
              <a:lnSpc>
                <a:spcPct val="105000"/>
              </a:lnSpc>
              <a:spcAft>
                <a:spcPts val="900"/>
              </a:spcAft>
            </a:pPr>
            <a:r>
              <a:rPr sz="1700">
                <a:solidFill>
                  <a:srgbClr val="0E7C7B"/>
                </a:solidFill>
                <a:latin typeface="Wingdings"/>
              </a:rPr>
              <a:t>§  </a:t>
            </a:r>
            <a:r>
              <a:rPr sz="1700" b="0">
                <a:solidFill>
                  <a:srgbClr val="2F3B49"/>
                </a:solidFill>
                <a:latin typeface="Montserrat"/>
              </a:rPr>
              <a:t>Regime C – comparatively clean air: favourable meteorology, weak pollutant pushes.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At the coarse level, temperature and dew point dominate — they differentiate broad atmospheric regimes.</a:t>
            </a:r>
          </a:p>
          <a:p>
            <a:pPr>
              <a:lnSpc>
                <a:spcPct val="105000"/>
              </a:lnSpc>
              <a:spcAft>
                <a:spcPts val="900"/>
              </a:spcAft>
            </a:pPr>
            <a:r>
              <a:rPr sz="1700">
                <a:solidFill>
                  <a:srgbClr val="0E7C7B"/>
                </a:solidFill>
                <a:latin typeface="Wingdings"/>
              </a:rPr>
              <a:t>§  </a:t>
            </a:r>
            <a:r>
              <a:rPr sz="1700" b="0">
                <a:solidFill>
                  <a:srgbClr val="2F3B49"/>
                </a:solidFill>
                <a:latin typeface="Montserrat"/>
              </a:rPr>
              <a:t>Within individual clusters, CO, SO2, PM10, wind speed, pressure, or ozone become more discriminative.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This change is NOT contradictory — it is exactly what a multi-level explanation should reveal.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story = regime selection. Cluster-level story = variation within a regime.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small, dense, chemically correlated. Beijing: large, noisy, temporally and meteorologically variable.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same explanatory logic remains productive in both → not tied to one domain-specific peculiarity.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vs SHAP-based clustering literature: Beijing Silhouette ≈ 0.63 vs Gramegna &amp; Giudici credit-risk 0.37.</a:t>
            </a:r>
          </a:p>
          <a:p>
            <a:pPr lvl="1">
              <a:lnSpc>
                <a:spcPct val="105000"/>
              </a:lnSpc>
              <a:spcAft>
                <a:spcPts val="600"/>
              </a:spcAft>
            </a:pPr>
            <a:r>
              <a:rPr sz="1600">
                <a:solidFill>
                  <a:srgbClr val="0E7C7B"/>
                </a:solidFill>
                <a:latin typeface="Montserrat"/>
              </a:rPr>
              <a:t>–  </a:t>
            </a:r>
            <a:r>
              <a:rPr sz="1600" b="0">
                <a:solidFill>
                  <a:srgbClr val="2F3B49"/>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RQ2 answered in the affirmative, with bounds — coherence retained under scale and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a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Proposition 6.1 provides a formal cross-level consistency argument.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validated on a structurally different large-scale dataset (Beijing air quality).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Scalable,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Validated on a structurally different large-scale dataset (Beijing air quality).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Differences across levels are interpretable, not dismissed as inconsistency.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Clustering remains static, even though the Beijing data are temporal.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Surrogate-based SHAP plus representative-instance reporting compress observation-level variation.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a:t>
            </a:r>
          </a:p>
          <a:p>
            <a:pPr lvl="1">
              <a:lnSpc>
                <a:spcPct val="105000"/>
              </a:lnSpc>
              <a:spcAft>
                <a:spcPts val="600"/>
              </a:spcAft>
            </a:pPr>
            <a:r>
              <a:rPr sz="1600">
                <a:solidFill>
                  <a:srgbClr val="0E7C7B"/>
                </a:solidFill>
                <a:latin typeface="Montserrat"/>
              </a:rPr>
              <a:t>–  </a:t>
            </a:r>
            <a:r>
              <a:rPr sz="1600" b="1">
                <a:solidFill>
                  <a:srgbClr val="2F3B49"/>
                </a:solidFill>
                <a:latin typeface="Montserrat"/>
              </a:rPr>
              <a:t>Still an explanation of a pre-computed partition — it does not influence learning.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stays coherent across granularity — when the hierarchy is explicit.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become interpretable against scale, not just against a single flat partition.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the attribution is still post-hoc: it explains a partition that was already computed.</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step is to let attribution shape the learning itself.</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Diversity is often a secondary objective or a re-ranking heuristic.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Interpretability is added after prediction, not integrated into the learning objective.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RQ3 · Can cooperative attribution move beyond post-hoc and enter the learning dynamics of graph recommenders?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 Can a recommender jointly optimise ranking accuracy, context and diversity when importance is estimated by a cooperative-game utility?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Formulate recommendation as a cooperative game with users, items and contexts as players.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Embed preference-aware Monte Carlo Shapley into hypergraph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U ∪ I ∪ C (users, items, contexts).</a:t>
            </a:r>
          </a:p>
          <a:p>
            <a:pPr>
              <a:lnSpc>
                <a:spcPct val="105000"/>
              </a:lnSpc>
              <a:spcAft>
                <a:spcPts val="900"/>
              </a:spcAft>
            </a:pPr>
            <a:r>
              <a:rPr sz="1700">
                <a:solidFill>
                  <a:srgbClr val="0E7C7B"/>
                </a:solidFill>
                <a:latin typeface="Wingdings"/>
              </a:rPr>
              <a:t>§  </a:t>
            </a:r>
            <a:r>
              <a:rPr sz="1700" b="0">
                <a:solidFill>
                  <a:srgbClr val="2F3B49"/>
                </a:solidFill>
                <a:latin typeface="Montserrat"/>
              </a:rPr>
              <a:t>Hypergraph H = (V, E, W); V = U ∪ I ∪ C; W = dynamic edge weights from Shapley estimates.</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S ⊆ N represents entities participating in a recommendation episode.</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value v(S) measures the quality of the recommendation outcome achievable by S.</a:t>
            </a:r>
          </a:p>
          <a:p>
            <a:pPr>
              <a:lnSpc>
                <a:spcPct val="105000"/>
              </a:lnSpc>
              <a:spcAft>
                <a:spcPts val="900"/>
              </a:spcAft>
            </a:pPr>
            <a:r>
              <a:rPr sz="1700">
                <a:solidFill>
                  <a:srgbClr val="0E7C7B"/>
                </a:solidFill>
                <a:latin typeface="Wingdings"/>
              </a:rPr>
              <a:t>§  </a:t>
            </a:r>
            <a:r>
              <a:rPr sz="1700" b="0">
                <a:solidFill>
                  <a:srgbClr val="2F3B49"/>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v(S) = α · NDCG@20(S) + β · Diversity(S) + γ · ContextScore(S), with α + β + γ = 1.</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Preference-weighted: v_pref(S) = v(S) + λ_pref · Σ_{(u,i)∈S} sim(u,i).</a:t>
            </a:r>
          </a:p>
          <a:p>
            <a:pPr lvl="1">
              <a:lnSpc>
                <a:spcPct val="105000"/>
              </a:lnSpc>
              <a:spcAft>
                <a:spcPts val="600"/>
              </a:spcAft>
            </a:pPr>
            <a:r>
              <a:rPr sz="1600">
                <a:solidFill>
                  <a:srgbClr val="0E7C7B"/>
                </a:solidFill>
                <a:latin typeface="Montserrat"/>
              </a:rPr>
              <a:t>–  </a:t>
            </a:r>
            <a:r>
              <a:rPr sz="1600" b="0">
                <a:solidFill>
                  <a:srgbClr val="2F3B49"/>
                </a:solidFill>
                <a:latin typeface="Montserrat"/>
              </a:rPr>
              <a:t>α = 0.60, β = 0.25, γ = 0.15; λ_pref = 0.20 — grid-searched, stable (&lt;1.5% variance in NDCG@20).</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Exact Shapley is combinatorial and infeasible for realistic systems.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Monte Carlo estimator: φ̂_j = (1/M) Σ_m [ v(S_m ∪ {j}) − v(S_m)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Preference-aware: φ̂_j^pref = (1/M) Σ_m [ v_pref(S_m ∪ {j}) − v_pref(S_m) ].</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Unbiased; variance = σ²/M → MSE decays O(1/M), absolute error O(1/√M).</a:t>
            </a:r>
          </a:p>
          <a:p>
            <a:pPr lvl="1">
              <a:lnSpc>
                <a:spcPct val="105000"/>
              </a:lnSpc>
              <a:spcAft>
                <a:spcPts val="600"/>
              </a:spcAft>
            </a:pPr>
            <a:r>
              <a:rPr sz="1600">
                <a:solidFill>
                  <a:srgbClr val="0E7C7B"/>
                </a:solidFill>
                <a:latin typeface="Montserrat"/>
              </a:rPr>
              <a:t>–  </a:t>
            </a:r>
            <a:r>
              <a:rPr sz="1600" b="1">
                <a:solidFill>
                  <a:srgbClr val="2F3B49"/>
                </a:solidFill>
                <a:latin typeface="Montserrat"/>
              </a:rPr>
              <a:t>M = 50 selected: MSE ≈ 1.4×10⁻⁵, ~99% accuracy on MovieLens-1M.</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Base propagation: e^(l+1) = σ( D^-1/2 A D^-1/2 e^(l)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Shapley-weighted: e_j^(l+1) = σ( W^(l) e_j^(l) + Σ_{k∈N(j)} w_jk e_k^(l)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Normalised weights: w_jk = φ̂_jk / Σ_{k'∈N(j)} φ̂_jk'.</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Clipped + exponentially smoothed before normalisation (stabilises sparse regimes).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Attention gate: a_ui = σ( W_a[ e_u, e_i, l_i ] ); y_ui = (1 + a_ui) ⟨e_u, e_i⟩.</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Context-aware score: f(u,i,c) = y_ui + λ_c ⟨g(c_ui), e_cui⟩.</a:t>
            </a:r>
          </a:p>
        </p:txBody>
      </p:sp>
      <p:pic>
        <p:nvPicPr>
          <p:cNvPr id="49" name="Picture 48" descr="c3_architecture_paper.png"/>
          <p:cNvPicPr>
            <a:picLocks noChangeAspect="1"/>
          </p:cNvPicPr>
          <p:nvPr/>
        </p:nvPicPr>
        <p:blipFill>
          <a:blip r:embed="rId12"/>
          <a:stretch>
            <a:fillRect/>
          </a:stretch>
        </p:blipFill>
        <p:spPr>
          <a:xfrm>
            <a:off x="914400" y="3383280"/>
            <a:ext cx="10332720" cy="2491488"/>
          </a:xfrm>
          <a:prstGeom prst="rect">
            <a:avLst/>
          </a:prstGeom>
        </p:spPr>
      </p:pic>
      <p:pic>
        <p:nvPicPr>
          <p:cNvPr id="50" name="Picture 49" descr="image.png"/>
          <p:cNvPicPr>
            <a:picLocks noChangeAspect="1"/>
          </p:cNvPicPr>
          <p:nvPr/>
        </p:nvPicPr>
        <p:blipFill>
          <a:blip r:embed="rId7"/>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 = L_rec + λ_div L_div + λ_ctx L_ctx + λ_reg L_reg.</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L_rec – Bayesian Personalised Ranking (pairwise, implicit feedback).</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L_div – Intra-List Diversity regulariser: penalises redundant ranked lists.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L_ctx – Context alignment: match context embedding to context-node representation.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L_reg – L2 weight decay.</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Model</a:t>
                      </a:r>
                    </a:p>
                  </a:txBody>
                  <a:tcPr anchor="ctr" marL="54864" marR="54864" marT="18288" marB="18288">
                    <a:solidFill>
                      <a:srgbClr val="0E7C7B"/>
                    </a:solidFill>
                  </a:tcPr>
                </a:tc>
                <a:tc>
                  <a:txBody>
                    <a:bodyPr/>
                    <a:lstStyle/>
                    <a:p>
                      <a:pPr algn="ctr"/>
                      <a:r>
                        <a:rPr sz="1200" b="1">
                          <a:solidFill>
                            <a:srgbClr val="FFFFFF"/>
                          </a:solidFill>
                          <a:latin typeface="Montserrat Medium"/>
                        </a:rPr>
                        <a:t>NDCG@20</a:t>
                      </a:r>
                    </a:p>
                  </a:txBody>
                  <a:tcPr anchor="ctr" marL="54864" marR="54864" marT="18288" marB="18288">
                    <a:solidFill>
                      <a:srgbClr val="0E7C7B"/>
                    </a:solidFill>
                  </a:tcPr>
                </a:tc>
                <a:tc>
                  <a:txBody>
                    <a:bodyPr/>
                    <a:lstStyle/>
                    <a:p>
                      <a:pPr algn="ctr"/>
                      <a:r>
                        <a:rPr sz="1200" b="1">
                          <a:solidFill>
                            <a:srgbClr val="FFFFFF"/>
                          </a:solidFill>
                          <a:latin typeface="Montserrat Medium"/>
                        </a:rPr>
                        <a:t>Recall@20</a:t>
                      </a:r>
                    </a:p>
                  </a:txBody>
                  <a:tcPr anchor="ctr" marL="54864" marR="54864" marT="18288" marB="18288">
                    <a:solidFill>
                      <a:srgbClr val="0E7C7B"/>
                    </a:solidFill>
                  </a:tcPr>
                </a:tc>
                <a:tc>
                  <a:txBody>
                    <a:bodyPr/>
                    <a:lstStyle/>
                    <a:p>
                      <a:pPr algn="ctr"/>
                      <a:r>
                        <a:rPr sz="1200" b="1">
                          <a:solidFill>
                            <a:srgbClr val="FFFFFF"/>
                          </a:solidFill>
                          <a:latin typeface="Montserrat Medium"/>
                        </a:rPr>
                        <a:t>Coverage</a:t>
                      </a:r>
                    </a:p>
                  </a:txBody>
                  <a:tcPr anchor="ctr" marL="54864" marR="54864" marT="18288" marB="18288">
                    <a:solidFill>
                      <a:srgbClr val="0E7C7B"/>
                    </a:solidFill>
                  </a:tcPr>
                </a:tc>
                <a:tc>
                  <a:txBody>
                    <a:bodyPr/>
                    <a:lstStyle/>
                    <a:p>
                      <a:pPr algn="ctr"/>
                      <a:r>
                        <a:rPr sz="1200" b="1">
                          <a:solidFill>
                            <a:srgbClr val="FFFFFF"/>
                          </a:solidFill>
                          <a:latin typeface="Montserrat Medium"/>
                        </a:rPr>
                        <a:t>Diversity</a:t>
                      </a:r>
                    </a:p>
                  </a:txBody>
                  <a:tcPr anchor="ctr" marL="54864" marR="54864" marT="18288" marB="18288">
                    <a:solidFill>
                      <a:srgbClr val="0E7C7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0.2528</a:t>
                      </a:r>
                    </a:p>
                  </a:txBody>
                  <a:tcPr anchor="ctr" marL="54864" marR="54864" marT="18288" marB="18288">
                    <a:solidFill>
                      <a:srgbClr val="FFFFFF"/>
                    </a:solidFill>
                  </a:tcPr>
                </a:tc>
                <a:tc>
                  <a:txBody>
                    <a:bodyPr/>
                    <a:lstStyle/>
                    <a:p>
                      <a:pPr algn="ctr"/>
                      <a:r>
                        <a:rPr sz="1200" b="0">
                          <a:solidFill>
                            <a:srgbClr val="2F3B49"/>
                          </a:solidFill>
                          <a:latin typeface="Montserrat"/>
                        </a:rPr>
                        <a:t>0.2098</a:t>
                      </a:r>
                    </a:p>
                  </a:txBody>
                  <a:tcPr anchor="ctr" marL="54864" marR="54864" marT="18288" marB="18288">
                    <a:solidFill>
                      <a:srgbClr val="FFFFFF"/>
                    </a:solidFill>
                  </a:tcPr>
                </a:tc>
                <a:tc>
                  <a:txBody>
                    <a:bodyPr/>
                    <a:lstStyle/>
                    <a:p>
                      <a:pPr algn="ctr"/>
                      <a:r>
                        <a:rPr sz="1200" b="0">
                          <a:solidFill>
                            <a:srgbClr val="2F3B49"/>
                          </a:solidFill>
                          <a:latin typeface="Montserrat"/>
                        </a:rPr>
                        <a:t>0.342</a:t>
                      </a:r>
                    </a:p>
                  </a:txBody>
                  <a:tcPr anchor="ctr" marL="54864" marR="54864" marT="18288" marB="18288">
                    <a:solidFill>
                      <a:srgbClr val="FFFFFF"/>
                    </a:solidFill>
                  </a:tcPr>
                </a:tc>
                <a:tc>
                  <a:txBody>
                    <a:bodyPr/>
                    <a:lstStyle/>
                    <a:p>
                      <a:pPr algn="ctr"/>
                      <a:r>
                        <a:rPr sz="1200" b="0">
                          <a:solidFill>
                            <a:srgbClr val="2F3B49"/>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0.2775</a:t>
                      </a:r>
                    </a:p>
                  </a:txBody>
                  <a:tcPr anchor="ctr" marL="54864" marR="54864" marT="18288" marB="18288">
                    <a:solidFill>
                      <a:srgbClr val="0A5F5E"/>
                    </a:solidFill>
                  </a:tcPr>
                </a:tc>
                <a:tc>
                  <a:txBody>
                    <a:bodyPr/>
                    <a:lstStyle/>
                    <a:p>
                      <a:pPr algn="ctr"/>
                      <a:r>
                        <a:rPr sz="1200" b="1">
                          <a:solidFill>
                            <a:srgbClr val="FFFFFF"/>
                          </a:solidFill>
                          <a:latin typeface="Montserrat"/>
                        </a:rPr>
                        <a:t>0.2362</a:t>
                      </a:r>
                    </a:p>
                  </a:txBody>
                  <a:tcPr anchor="ctr" marL="54864" marR="54864" marT="18288" marB="18288">
                    <a:solidFill>
                      <a:srgbClr val="0A5F5E"/>
                    </a:solidFill>
                  </a:tcPr>
                </a:tc>
                <a:tc>
                  <a:txBody>
                    <a:bodyPr/>
                    <a:lstStyle/>
                    <a:p>
                      <a:pPr algn="ctr"/>
                      <a:r>
                        <a:rPr sz="1200" b="1">
                          <a:solidFill>
                            <a:srgbClr val="FFFFFF"/>
                          </a:solidFill>
                          <a:latin typeface="Montserrat"/>
                        </a:rPr>
                        <a:t>0.397</a:t>
                      </a:r>
                    </a:p>
                  </a:txBody>
                  <a:tcPr anchor="ctr" marL="54864" marR="54864" marT="18288" marB="18288">
                    <a:solidFill>
                      <a:srgbClr val="0A5F5E"/>
                    </a:solidFill>
                  </a:tcPr>
                </a:tc>
                <a:tc>
                  <a:txBody>
                    <a:bodyPr/>
                    <a:lstStyle/>
                    <a:p>
                      <a:pPr algn="ctr"/>
                      <a:r>
                        <a:rPr sz="1200" b="1">
                          <a:solidFill>
                            <a:srgbClr val="FFFFFF"/>
                          </a:solidFill>
                          <a:latin typeface="Montserrat"/>
                        </a:rPr>
                        <a:t>0.516</a:t>
                      </a:r>
                    </a:p>
                  </a:txBody>
                  <a:tcPr anchor="ctr" marL="54864" marR="54864" marT="18288" marB="18288">
                    <a:solidFill>
                      <a:srgbClr val="0A5F5E"/>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0.0270</a:t>
                      </a:r>
                    </a:p>
                  </a:txBody>
                  <a:tcPr anchor="ctr" marL="54864" marR="54864" marT="18288" marB="18288">
                    <a:solidFill>
                      <a:srgbClr val="FFFFFF"/>
                    </a:solidFill>
                  </a:tcPr>
                </a:tc>
                <a:tc>
                  <a:txBody>
                    <a:bodyPr/>
                    <a:lstStyle/>
                    <a:p>
                      <a:pPr algn="ctr"/>
                      <a:r>
                        <a:rPr sz="1200" b="0">
                          <a:solidFill>
                            <a:srgbClr val="2F3B49"/>
                          </a:solidFill>
                          <a:latin typeface="Montserrat"/>
                        </a:rPr>
                        <a:t>0.0359</a:t>
                      </a:r>
                    </a:p>
                  </a:txBody>
                  <a:tcPr anchor="ctr" marL="54864" marR="54864" marT="18288" marB="18288">
                    <a:solidFill>
                      <a:srgbClr val="FFFFFF"/>
                    </a:solidFill>
                  </a:tcPr>
                </a:tc>
                <a:tc>
                  <a:txBody>
                    <a:bodyPr/>
                    <a:lstStyle/>
                    <a:p>
                      <a:pPr algn="ctr"/>
                      <a:r>
                        <a:rPr sz="1200" b="0">
                          <a:solidFill>
                            <a:srgbClr val="2F3B49"/>
                          </a:solidFill>
                          <a:latin typeface="Montserrat"/>
                        </a:rPr>
                        <a:t>0.259</a:t>
                      </a:r>
                    </a:p>
                  </a:txBody>
                  <a:tcPr anchor="ctr" marL="54864" marR="54864" marT="18288" marB="18288">
                    <a:solidFill>
                      <a:srgbClr val="FFFFFF"/>
                    </a:solidFill>
                  </a:tcPr>
                </a:tc>
                <a:tc>
                  <a:txBody>
                    <a:bodyPr/>
                    <a:lstStyle/>
                    <a:p>
                      <a:pPr algn="ctr"/>
                      <a:r>
                        <a:rPr sz="1200" b="0">
                          <a:solidFill>
                            <a:srgbClr val="2F3B49"/>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0.0306</a:t>
                      </a:r>
                    </a:p>
                  </a:txBody>
                  <a:tcPr anchor="ctr" marL="54864" marR="54864" marT="18288" marB="18288">
                    <a:solidFill>
                      <a:srgbClr val="0A5F5E"/>
                    </a:solidFill>
                  </a:tcPr>
                </a:tc>
                <a:tc>
                  <a:txBody>
                    <a:bodyPr/>
                    <a:lstStyle/>
                    <a:p>
                      <a:pPr algn="ctr"/>
                      <a:r>
                        <a:rPr sz="1200" b="1">
                          <a:solidFill>
                            <a:srgbClr val="FFFFFF"/>
                          </a:solidFill>
                          <a:latin typeface="Montserrat"/>
                        </a:rPr>
                        <a:t>0.0417</a:t>
                      </a:r>
                    </a:p>
                  </a:txBody>
                  <a:tcPr anchor="ctr" marL="54864" marR="54864" marT="18288" marB="18288">
                    <a:solidFill>
                      <a:srgbClr val="0A5F5E"/>
                    </a:solidFill>
                  </a:tcPr>
                </a:tc>
                <a:tc>
                  <a:txBody>
                    <a:bodyPr/>
                    <a:lstStyle/>
                    <a:p>
                      <a:pPr algn="ctr"/>
                      <a:r>
                        <a:rPr sz="1200" b="1">
                          <a:solidFill>
                            <a:srgbClr val="FFFFFF"/>
                          </a:solidFill>
                          <a:latin typeface="Montserrat"/>
                        </a:rPr>
                        <a:t>0.336</a:t>
                      </a:r>
                    </a:p>
                  </a:txBody>
                  <a:tcPr anchor="ctr" marL="54864" marR="54864" marT="18288" marB="18288">
                    <a:solidFill>
                      <a:srgbClr val="0A5F5E"/>
                    </a:solidFill>
                  </a:tcPr>
                </a:tc>
                <a:tc>
                  <a:txBody>
                    <a:bodyPr/>
                    <a:lstStyle/>
                    <a:p>
                      <a:pPr algn="ctr"/>
                      <a:r>
                        <a:rPr sz="1200" b="1">
                          <a:solidFill>
                            <a:srgbClr val="FFFFFF"/>
                          </a:solidFill>
                          <a:latin typeface="Montserrat"/>
                        </a:rPr>
                        <a:t>0.602</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0E7C7B"/>
                    </a:solidFill>
                  </a:tcPr>
                </a:tc>
                <a:tc>
                  <a:txBody>
                    <a:bodyPr/>
                    <a:lstStyle/>
                    <a:p>
                      <a:pPr algn="ctr"/>
                      <a:r>
                        <a:rPr sz="1200" b="1">
                          <a:solidFill>
                            <a:srgbClr val="FFFFFF"/>
                          </a:solidFill>
                          <a:latin typeface="Montserrat Medium"/>
                        </a:rPr>
                        <a:t>MovieLens-1M</a:t>
                      </a:r>
                    </a:p>
                  </a:txBody>
                  <a:tcPr anchor="ctr" marL="54864" marR="54864" marT="18288" marB="18288">
                    <a:solidFill>
                      <a:srgbClr val="0E7C7B"/>
                    </a:solidFill>
                  </a:tcPr>
                </a:tc>
                <a:tc>
                  <a:txBody>
                    <a:bodyPr/>
                    <a:lstStyle/>
                    <a:p>
                      <a:pPr algn="ctr"/>
                      <a:r>
                        <a:rPr sz="1200" b="1">
                          <a:solidFill>
                            <a:srgbClr val="FFFFFF"/>
                          </a:solidFill>
                          <a:latin typeface="Montserrat Medium"/>
                        </a:rPr>
                        <a:t>Amazon-Book</a:t>
                      </a:r>
                    </a:p>
                  </a:txBody>
                  <a:tcPr anchor="ctr" marL="54864" marR="54864" marT="18288" marB="18288">
                    <a:solidFill>
                      <a:srgbClr val="0E7C7B"/>
                    </a:solidFill>
                  </a:tcPr>
                </a:tc>
              </a:tr>
              <a:tr h="658368">
                <a:tc>
                  <a:txBody>
                    <a:bodyPr/>
                    <a:lstStyle/>
                    <a:p>
                      <a:pPr algn="l"/>
                      <a:r>
                        <a:rPr sz="1200" b="0">
                          <a:solidFill>
                            <a:srgbClr val="2F3B49"/>
                          </a:solidFill>
                          <a:latin typeface="Montserrat"/>
                        </a:rPr>
                        <a:t>NDCG@20</a:t>
                      </a:r>
                    </a:p>
                  </a:txBody>
                  <a:tcPr anchor="ctr" marL="54864" marR="54864" marT="18288" marB="18288">
                    <a:solidFill>
                      <a:srgbClr val="FFFFFF"/>
                    </a:solidFill>
                  </a:tcPr>
                </a:tc>
                <a:tc>
                  <a:txBody>
                    <a:bodyPr/>
                    <a:lstStyle/>
                    <a:p>
                      <a:pPr algn="ctr"/>
                      <a:r>
                        <a:rPr sz="1200" b="0">
                          <a:solidFill>
                            <a:srgbClr val="2F3B49"/>
                          </a:solidFill>
                          <a:latin typeface="Montserrat"/>
                        </a:rPr>
                        <a:t>+9.77%</a:t>
                      </a:r>
                    </a:p>
                  </a:txBody>
                  <a:tcPr anchor="ctr" marL="54864" marR="54864" marT="18288" marB="18288">
                    <a:solidFill>
                      <a:srgbClr val="FFFFFF"/>
                    </a:solidFill>
                  </a:tcPr>
                </a:tc>
                <a:tc>
                  <a:txBody>
                    <a:bodyPr/>
                    <a:lstStyle/>
                    <a:p>
                      <a:pPr algn="ctr"/>
                      <a:r>
                        <a:rPr sz="1200" b="0">
                          <a:solidFill>
                            <a:srgbClr val="2F3B49"/>
                          </a:solidFill>
                          <a:latin typeface="Montserrat"/>
                        </a:rPr>
                        <a:t>+13.33%</a:t>
                      </a:r>
                    </a:p>
                  </a:txBody>
                  <a:tcPr anchor="ctr" marL="54864" marR="54864" marT="18288" marB="18288">
                    <a:solidFill>
                      <a:srgbClr val="FFFFFF"/>
                    </a:solidFill>
                  </a:tcPr>
                </a:tc>
              </a:tr>
              <a:tr h="658368">
                <a:tc>
                  <a:txBody>
                    <a:bodyPr/>
                    <a:lstStyle/>
                    <a:p>
                      <a:pPr algn="l"/>
                      <a:r>
                        <a:rPr sz="1200" b="0">
                          <a:solidFill>
                            <a:srgbClr val="2F3B49"/>
                          </a:solidFill>
                          <a:latin typeface="Montserrat"/>
                        </a:rPr>
                        <a:t>Recall@20</a:t>
                      </a:r>
                    </a:p>
                  </a:txBody>
                  <a:tcPr anchor="ctr" marL="54864" marR="54864" marT="18288" marB="18288">
                    <a:solidFill>
                      <a:srgbClr val="F0F4FB"/>
                    </a:solidFill>
                  </a:tcPr>
                </a:tc>
                <a:tc>
                  <a:txBody>
                    <a:bodyPr/>
                    <a:lstStyle/>
                    <a:p>
                      <a:pPr algn="ctr"/>
                      <a:r>
                        <a:rPr sz="1200" b="0">
                          <a:solidFill>
                            <a:srgbClr val="2F3B49"/>
                          </a:solidFill>
                          <a:latin typeface="Montserrat"/>
                        </a:rPr>
                        <a:t>+12.58%</a:t>
                      </a:r>
                    </a:p>
                  </a:txBody>
                  <a:tcPr anchor="ctr" marL="54864" marR="54864" marT="18288" marB="18288">
                    <a:solidFill>
                      <a:srgbClr val="F0F4FB"/>
                    </a:solidFill>
                  </a:tcPr>
                </a:tc>
                <a:tc>
                  <a:txBody>
                    <a:bodyPr/>
                    <a:lstStyle/>
                    <a:p>
                      <a:pPr algn="ctr"/>
                      <a:r>
                        <a:rPr sz="1200" b="0">
                          <a:solidFill>
                            <a:srgbClr val="2F3B49"/>
                          </a:solidFill>
                          <a:latin typeface="Montserrat"/>
                        </a:rPr>
                        <a:t>+16.16%</a:t>
                      </a:r>
                    </a:p>
                  </a:txBody>
                  <a:tcPr anchor="ctr" marL="54864" marR="54864" marT="18288" marB="18288">
                    <a:solidFill>
                      <a:srgbClr val="F0F4FB"/>
                    </a:solidFill>
                  </a:tcPr>
                </a:tc>
              </a:tr>
              <a:tr h="658368">
                <a:tc>
                  <a:txBody>
                    <a:bodyPr/>
                    <a:lstStyle/>
                    <a:p>
                      <a:pPr algn="l"/>
                      <a:r>
                        <a:rPr sz="1200" b="0">
                          <a:solidFill>
                            <a:srgbClr val="2F3B49"/>
                          </a:solidFill>
                          <a:latin typeface="Montserrat"/>
                        </a:rPr>
                        <a:t>Coverage</a:t>
                      </a:r>
                    </a:p>
                  </a:txBody>
                  <a:tcPr anchor="ctr" marL="54864" marR="54864" marT="18288" marB="18288">
                    <a:solidFill>
                      <a:srgbClr val="FFFFFF"/>
                    </a:solidFill>
                  </a:tcPr>
                </a:tc>
                <a:tc>
                  <a:txBody>
                    <a:bodyPr/>
                    <a:lstStyle/>
                    <a:p>
                      <a:pPr algn="ctr"/>
                      <a:r>
                        <a:rPr sz="1200" b="0">
                          <a:solidFill>
                            <a:srgbClr val="2F3B49"/>
                          </a:solidFill>
                          <a:latin typeface="Montserrat"/>
                        </a:rPr>
                        <a:t>+16.1%</a:t>
                      </a:r>
                    </a:p>
                  </a:txBody>
                  <a:tcPr anchor="ctr" marL="54864" marR="54864" marT="18288" marB="18288">
                    <a:solidFill>
                      <a:srgbClr val="FFFFFF"/>
                    </a:solidFill>
                  </a:tcPr>
                </a:tc>
                <a:tc>
                  <a:txBody>
                    <a:bodyPr/>
                    <a:lstStyle/>
                    <a:p>
                      <a:pPr algn="ctr"/>
                      <a:r>
                        <a:rPr sz="1200" b="0">
                          <a:solidFill>
                            <a:srgbClr val="2F3B49"/>
                          </a:solidFill>
                          <a:latin typeface="Montserrat"/>
                        </a:rPr>
                        <a:t>+29.7%</a:t>
                      </a:r>
                    </a:p>
                  </a:txBody>
                  <a:tcPr anchor="ctr" marL="54864" marR="54864" marT="18288" marB="18288">
                    <a:solidFill>
                      <a:srgbClr val="FFFFFF"/>
                    </a:solidFill>
                  </a:tcPr>
                </a:tc>
              </a:tr>
              <a:tr h="658368">
                <a:tc>
                  <a:txBody>
                    <a:bodyPr/>
                    <a:lstStyle/>
                    <a:p>
                      <a:pPr algn="l"/>
                      <a:r>
                        <a:rPr sz="1200" b="0">
                          <a:solidFill>
                            <a:srgbClr val="2F3B49"/>
                          </a:solidFill>
                          <a:latin typeface="Montserrat"/>
                        </a:rPr>
                        <a:t>Intra-List Diversity</a:t>
                      </a:r>
                    </a:p>
                  </a:txBody>
                  <a:tcPr anchor="ctr" marL="54864" marR="54864" marT="18288" marB="18288">
                    <a:solidFill>
                      <a:srgbClr val="F0F4FB"/>
                    </a:solidFill>
                  </a:tcPr>
                </a:tc>
                <a:tc>
                  <a:txBody>
                    <a:bodyPr/>
                    <a:lstStyle/>
                    <a:p>
                      <a:pPr algn="ctr"/>
                      <a:r>
                        <a:rPr sz="1200" b="0">
                          <a:solidFill>
                            <a:srgbClr val="2F3B49"/>
                          </a:solidFill>
                          <a:latin typeface="Montserrat"/>
                        </a:rPr>
                        <a:t>+11.9%</a:t>
                      </a:r>
                    </a:p>
                  </a:txBody>
                  <a:tcPr anchor="ctr" marL="54864" marR="54864" marT="18288" marB="18288">
                    <a:solidFill>
                      <a:srgbClr val="F0F4FB"/>
                    </a:solidFill>
                  </a:tcPr>
                </a:tc>
                <a:tc>
                  <a:txBody>
                    <a:bodyPr/>
                    <a:lstStyle/>
                    <a:p>
                      <a:pPr algn="ctr"/>
                      <a:r>
                        <a:rPr sz="1200" b="0">
                          <a:solidFill>
                            <a:srgbClr val="2F3B49"/>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MovieLens-1M: Coverage 0.342 → 0.397 (+16.1%); ILD 0.461 → 0.516 (+11.9%).</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Amazon-Book: Coverage 0.259 → 0.336 (+29.7%); ILD 0.535 → 0.602 (+12.5%).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0E7C7B"/>
                    </a:solidFill>
                  </a:tcPr>
                </a:tc>
                <a:tc>
                  <a:txBody>
                    <a:bodyPr/>
                    <a:lstStyle/>
                    <a:p>
                      <a:pPr algn="ctr"/>
                      <a:r>
                        <a:rPr sz="1200" b="1">
                          <a:solidFill>
                            <a:srgbClr val="FFFFFF"/>
                          </a:solidFill>
                          <a:latin typeface="Montserrat Medium"/>
                        </a:rPr>
                        <a:t>ML-1M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c>
                  <a:txBody>
                    <a:bodyPr/>
                    <a:lstStyle/>
                    <a:p>
                      <a:pPr algn="ctr"/>
                      <a:r>
                        <a:rPr sz="1200" b="1">
                          <a:solidFill>
                            <a:srgbClr val="FFFFFF"/>
                          </a:solidFill>
                          <a:latin typeface="Montserrat Medium"/>
                        </a:rPr>
                        <a:t>Amazon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r>
              <a:tr h="509451">
                <a:tc>
                  <a:txBody>
                    <a:bodyPr/>
                    <a:lstStyle/>
                    <a:p>
                      <a:pPr algn="l"/>
                      <a:r>
                        <a:rPr sz="1200" b="0">
                          <a:solidFill>
                            <a:srgbClr val="2F3B49"/>
                          </a:solidFill>
                          <a:latin typeface="Montserrat"/>
                        </a:rPr>
                        <a:t>Full DyHuCoG</a:t>
                      </a:r>
                    </a:p>
                  </a:txBody>
                  <a:tcPr anchor="ctr" marL="54864" marR="54864" marT="18288" marB="18288">
                    <a:solidFill>
                      <a:srgbClr val="FFFFFF"/>
                    </a:solidFill>
                  </a:tcPr>
                </a:tc>
                <a:tc>
                  <a:txBody>
                    <a:bodyPr/>
                    <a:lstStyle/>
                    <a:p>
                      <a:pPr algn="ctr"/>
                      <a:r>
                        <a:rPr sz="1200" b="0">
                          <a:solidFill>
                            <a:srgbClr val="2F3B49"/>
                          </a:solidFill>
                          <a:latin typeface="Montserrat"/>
                        </a:rPr>
                        <a:t>0.2775</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c>
                  <a:txBody>
                    <a:bodyPr/>
                    <a:lstStyle/>
                    <a:p>
                      <a:pPr algn="ctr"/>
                      <a:r>
                        <a:rPr sz="1200" b="0">
                          <a:solidFill>
                            <a:srgbClr val="2F3B49"/>
                          </a:solidFill>
                          <a:latin typeface="Montserrat"/>
                        </a:rPr>
                        <a:t>0.0306</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0A5F5E"/>
                    </a:solidFill>
                  </a:tcPr>
                </a:tc>
                <a:tc>
                  <a:txBody>
                    <a:bodyPr/>
                    <a:lstStyle/>
                    <a:p>
                      <a:pPr algn="ctr"/>
                      <a:r>
                        <a:rPr sz="1200" b="1">
                          <a:solidFill>
                            <a:srgbClr val="FFFFFF"/>
                          </a:solidFill>
                          <a:latin typeface="Montserrat"/>
                        </a:rPr>
                        <a:t>0.2647</a:t>
                      </a:r>
                    </a:p>
                  </a:txBody>
                  <a:tcPr anchor="ctr" marL="54864" marR="54864" marT="18288" marB="18288">
                    <a:solidFill>
                      <a:srgbClr val="0A5F5E"/>
                    </a:solidFill>
                  </a:tcPr>
                </a:tc>
                <a:tc>
                  <a:txBody>
                    <a:bodyPr/>
                    <a:lstStyle/>
                    <a:p>
                      <a:pPr algn="ctr"/>
                      <a:r>
                        <a:rPr sz="1200" b="1">
                          <a:solidFill>
                            <a:srgbClr val="FFFFFF"/>
                          </a:solidFill>
                          <a:latin typeface="Montserrat"/>
                        </a:rPr>
                        <a:t>4.6%</a:t>
                      </a:r>
                    </a:p>
                  </a:txBody>
                  <a:tcPr anchor="ctr" marL="54864" marR="54864" marT="18288" marB="18288">
                    <a:solidFill>
                      <a:srgbClr val="0A5F5E"/>
                    </a:solidFill>
                  </a:tcPr>
                </a:tc>
                <a:tc>
                  <a:txBody>
                    <a:bodyPr/>
                    <a:lstStyle/>
                    <a:p>
                      <a:pPr algn="ctr"/>
                      <a:r>
                        <a:rPr sz="1200" b="1">
                          <a:solidFill>
                            <a:srgbClr val="FFFFFF"/>
                          </a:solidFill>
                          <a:latin typeface="Montserrat"/>
                        </a:rPr>
                        <a:t>0.0287</a:t>
                      </a:r>
                    </a:p>
                  </a:txBody>
                  <a:tcPr anchor="ctr" marL="54864" marR="54864" marT="18288" marB="18288">
                    <a:solidFill>
                      <a:srgbClr val="0A5F5E"/>
                    </a:solidFill>
                  </a:tcPr>
                </a:tc>
                <a:tc>
                  <a:txBody>
                    <a:bodyPr/>
                    <a:lstStyle/>
                    <a:p>
                      <a:pPr algn="ctr"/>
                      <a:r>
                        <a:rPr sz="1200" b="1">
                          <a:solidFill>
                            <a:srgbClr val="FFFFFF"/>
                          </a:solidFill>
                          <a:latin typeface="Montserrat"/>
                        </a:rPr>
                        <a:t>6.1%</a:t>
                      </a:r>
                    </a:p>
                  </a:txBody>
                  <a:tcPr anchor="ctr" marL="54864" marR="54864" marT="18288" marB="18288">
                    <a:solidFill>
                      <a:srgbClr val="0A5F5E"/>
                    </a:solidFill>
                  </a:tcPr>
                </a:tc>
              </a:tr>
              <a:tr h="509451">
                <a:tc>
                  <a:txBody>
                    <a:bodyPr/>
                    <a:lstStyle/>
                    <a:p>
                      <a:pPr algn="l"/>
                      <a:r>
                        <a:rPr sz="1200" b="0">
                          <a:solidFill>
                            <a:srgbClr val="2F3B49"/>
                          </a:solidFill>
                          <a:latin typeface="Montserrat"/>
                        </a:rPr>
                        <a:t>w/o Hypergraph</a:t>
                      </a:r>
                    </a:p>
                  </a:txBody>
                  <a:tcPr anchor="ctr" marL="54864" marR="54864" marT="18288" marB="18288">
                    <a:solidFill>
                      <a:srgbClr val="FFFFFF"/>
                    </a:solidFill>
                  </a:tcPr>
                </a:tc>
                <a:tc>
                  <a:txBody>
                    <a:bodyPr/>
                    <a:lstStyle/>
                    <a:p>
                      <a:pPr algn="ctr"/>
                      <a:r>
                        <a:rPr sz="1200" b="0">
                          <a:solidFill>
                            <a:srgbClr val="2F3B49"/>
                          </a:solidFill>
                          <a:latin typeface="Montserrat"/>
                        </a:rPr>
                        <a:t>0.2586</a:t>
                      </a:r>
                    </a:p>
                  </a:txBody>
                  <a:tcPr anchor="ctr" marL="54864" marR="54864" marT="18288" marB="18288">
                    <a:solidFill>
                      <a:srgbClr val="FFFFFF"/>
                    </a:solidFill>
                  </a:tcPr>
                </a:tc>
                <a:tc>
                  <a:txBody>
                    <a:bodyPr/>
                    <a:lstStyle/>
                    <a:p>
                      <a:pPr algn="ctr"/>
                      <a:r>
                        <a:rPr sz="1200" b="0">
                          <a:solidFill>
                            <a:srgbClr val="2F3B49"/>
                          </a:solidFill>
                          <a:latin typeface="Montserrat"/>
                        </a:rPr>
                        <a:t>6.8%</a:t>
                      </a:r>
                    </a:p>
                  </a:txBody>
                  <a:tcPr anchor="ctr" marL="54864" marR="54864" marT="18288" marB="18288">
                    <a:solidFill>
                      <a:srgbClr val="FFFFFF"/>
                    </a:solidFill>
                  </a:tcPr>
                </a:tc>
                <a:tc>
                  <a:txBody>
                    <a:bodyPr/>
                    <a:lstStyle/>
                    <a:p>
                      <a:pPr algn="ctr"/>
                      <a:r>
                        <a:rPr sz="1200" b="0">
                          <a:solidFill>
                            <a:srgbClr val="2F3B49"/>
                          </a:solidFill>
                          <a:latin typeface="Montserrat"/>
                        </a:rPr>
                        <a:t>0.0279</a:t>
                      </a:r>
                    </a:p>
                  </a:txBody>
                  <a:tcPr anchor="ctr" marL="54864" marR="54864" marT="18288" marB="18288">
                    <a:solidFill>
                      <a:srgbClr val="FFFFFF"/>
                    </a:solidFill>
                  </a:tcPr>
                </a:tc>
                <a:tc>
                  <a:txBody>
                    <a:bodyPr/>
                    <a:lstStyle/>
                    <a:p>
                      <a:pPr algn="ctr"/>
                      <a:r>
                        <a:rPr sz="1200" b="0">
                          <a:solidFill>
                            <a:srgbClr val="2F3B49"/>
                          </a:solidFill>
                          <a:latin typeface="Montserrat"/>
                        </a:rPr>
                        <a:t>8.9%</a:t>
                      </a:r>
                    </a:p>
                  </a:txBody>
                  <a:tcPr anchor="ctr" marL="54864" marR="54864" marT="18288" marB="18288">
                    <a:solidFill>
                      <a:srgbClr val="FFFFFF"/>
                    </a:solidFill>
                  </a:tcPr>
                </a:tc>
              </a:tr>
              <a:tr h="509451">
                <a:tc>
                  <a:txBody>
                    <a:bodyPr/>
                    <a:lstStyle/>
                    <a:p>
                      <a:pPr algn="l"/>
                      <a:r>
                        <a:rPr sz="1200" b="0">
                          <a:solidFill>
                            <a:srgbClr val="2F3B49"/>
                          </a:solidFill>
                          <a:latin typeface="Montserrat"/>
                        </a:rPr>
                        <a:t>w/o Attention</a:t>
                      </a:r>
                    </a:p>
                  </a:txBody>
                  <a:tcPr anchor="ctr" marL="54864" marR="54864" marT="18288" marB="18288">
                    <a:solidFill>
                      <a:srgbClr val="F0F4FB"/>
                    </a:solidFill>
                  </a:tcPr>
                </a:tc>
                <a:tc>
                  <a:txBody>
                    <a:bodyPr/>
                    <a:lstStyle/>
                    <a:p>
                      <a:pPr algn="ctr"/>
                      <a:r>
                        <a:rPr sz="1200" b="0">
                          <a:solidFill>
                            <a:srgbClr val="2F3B49"/>
                          </a:solidFill>
                          <a:latin typeface="Montserrat"/>
                        </a:rPr>
                        <a:t>0.2678</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c>
                  <a:txBody>
                    <a:bodyPr/>
                    <a:lstStyle/>
                    <a:p>
                      <a:pPr algn="ctr"/>
                      <a:r>
                        <a:rPr sz="1200" b="0">
                          <a:solidFill>
                            <a:srgbClr val="2F3B49"/>
                          </a:solidFill>
                          <a:latin typeface="Montserrat"/>
                        </a:rPr>
                        <a:t>0.0295</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r>
              <a:tr h="509451">
                <a:tc>
                  <a:txBody>
                    <a:bodyPr/>
                    <a:lstStyle/>
                    <a:p>
                      <a:pPr algn="l"/>
                      <a:r>
                        <a:rPr sz="1200" b="0">
                          <a:solidFill>
                            <a:srgbClr val="2F3B49"/>
                          </a:solidFill>
                          <a:latin typeface="Montserrat"/>
                        </a:rPr>
                        <a:t>w/o Context</a:t>
                      </a:r>
                    </a:p>
                  </a:txBody>
                  <a:tcPr anchor="ctr" marL="54864" marR="54864" marT="18288" marB="18288">
                    <a:solidFill>
                      <a:srgbClr val="FFFFFF"/>
                    </a:solidFill>
                  </a:tcPr>
                </a:tc>
                <a:tc>
                  <a:txBody>
                    <a:bodyPr/>
                    <a:lstStyle/>
                    <a:p>
                      <a:pPr algn="ctr"/>
                      <a:r>
                        <a:rPr sz="1200" b="0">
                          <a:solidFill>
                            <a:srgbClr val="2F3B49"/>
                          </a:solidFill>
                          <a:latin typeface="Montserrat"/>
                        </a:rPr>
                        <a:t>0.2547</a:t>
                      </a:r>
                    </a:p>
                  </a:txBody>
                  <a:tcPr anchor="ctr" marL="54864" marR="54864" marT="18288" marB="18288">
                    <a:solidFill>
                      <a:srgbClr val="FFFFFF"/>
                    </a:solidFill>
                  </a:tcPr>
                </a:tc>
                <a:tc>
                  <a:txBody>
                    <a:bodyPr/>
                    <a:lstStyle/>
                    <a:p>
                      <a:pPr algn="ctr"/>
                      <a:r>
                        <a:rPr sz="1200" b="0">
                          <a:solidFill>
                            <a:srgbClr val="2F3B49"/>
                          </a:solidFill>
                          <a:latin typeface="Montserrat"/>
                        </a:rPr>
                        <a:t>8.2%</a:t>
                      </a:r>
                    </a:p>
                  </a:txBody>
                  <a:tcPr anchor="ctr" marL="54864" marR="54864" marT="18288" marB="18288">
                    <a:solidFill>
                      <a:srgbClr val="FFFFFF"/>
                    </a:solidFill>
                  </a:tcPr>
                </a:tc>
                <a:tc>
                  <a:txBody>
                    <a:bodyPr/>
                    <a:lstStyle/>
                    <a:p>
                      <a:pPr algn="ctr"/>
                      <a:r>
                        <a:rPr sz="1200" b="0">
                          <a:solidFill>
                            <a:srgbClr val="2F3B49"/>
                          </a:solidFill>
                          <a:latin typeface="Montserrat"/>
                        </a:rPr>
                        <a:t>0.0272</a:t>
                      </a:r>
                    </a:p>
                  </a:txBody>
                  <a:tcPr anchor="ctr" marL="54864" marR="54864" marT="18288" marB="18288">
                    <a:solidFill>
                      <a:srgbClr val="FFFFFF"/>
                    </a:solidFill>
                  </a:tcPr>
                </a:tc>
                <a:tc>
                  <a:txBody>
                    <a:bodyPr/>
                    <a:lstStyle/>
                    <a:p>
                      <a:pPr algn="ctr"/>
                      <a:r>
                        <a:rPr sz="1200" b="0">
                          <a:solidFill>
                            <a:srgbClr val="2F3B49"/>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0A5F5E"/>
                    </a:solidFill>
                  </a:tcPr>
                </a:tc>
                <a:tc>
                  <a:txBody>
                    <a:bodyPr/>
                    <a:lstStyle/>
                    <a:p>
                      <a:pPr algn="ctr"/>
                      <a:r>
                        <a:rPr sz="1200" b="1">
                          <a:solidFill>
                            <a:srgbClr val="FFFFFF"/>
                          </a:solidFill>
                          <a:latin typeface="Montserrat"/>
                        </a:rPr>
                        <a:t>0.2614</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c>
                  <a:txBody>
                    <a:bodyPr/>
                    <a:lstStyle/>
                    <a:p>
                      <a:pPr algn="ctr"/>
                      <a:r>
                        <a:rPr sz="1200" b="1">
                          <a:solidFill>
                            <a:srgbClr val="FFFFFF"/>
                          </a:solidFill>
                          <a:latin typeface="Montserrat"/>
                        </a:rPr>
                        <a:t>0.0288</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Training: DyHuCoG ~2000 s vs HPCF ~1125 s on MovieLens-1M (≈ 1.78×).</a:t>
            </a:r>
          </a:p>
          <a:p>
            <a:pPr>
              <a:lnSpc>
                <a:spcPct val="105000"/>
              </a:lnSpc>
              <a:spcAft>
                <a:spcPts val="900"/>
              </a:spcAft>
            </a:pPr>
            <a:r>
              <a:rPr sz="1700">
                <a:solidFill>
                  <a:srgbClr val="0E7C7B"/>
                </a:solidFill>
                <a:latin typeface="Wingdings"/>
              </a:rPr>
              <a:t>§  </a:t>
            </a:r>
            <a:r>
              <a:rPr sz="1700" b="0">
                <a:solidFill>
                  <a:srgbClr val="2F3B49"/>
                </a:solidFill>
                <a:latin typeface="Montserrat"/>
              </a:rPr>
              <a:t>Inference: 1.84 ms/query (ML-1M), 8.52 ms (Amazon) — suitable for real-time deployment.</a:t>
            </a:r>
          </a:p>
          <a:p>
            <a:pPr>
              <a:lnSpc>
                <a:spcPct val="105000"/>
              </a:lnSpc>
              <a:spcAft>
                <a:spcPts val="900"/>
              </a:spcAft>
            </a:pPr>
            <a:r>
              <a:rPr sz="1700">
                <a:solidFill>
                  <a:srgbClr val="0E7C7B"/>
                </a:solidFill>
                <a:latin typeface="Wingdings"/>
              </a:rPr>
              <a:t>§  </a:t>
            </a:r>
            <a:r>
              <a:rPr sz="1700" b="0">
                <a:solidFill>
                  <a:srgbClr val="2F3B49"/>
                </a:solidFill>
                <a:latin typeface="Montserrat"/>
              </a:rPr>
              <a:t>Memory: 4.4 vs 4.1 GB (ML-1M); 17.9 vs 16.8 GB (Amazon).</a:t>
            </a:r>
          </a:p>
          <a:p>
            <a:pPr>
              <a:lnSpc>
                <a:spcPct val="105000"/>
              </a:lnSpc>
              <a:spcAft>
                <a:spcPts val="900"/>
              </a:spcAft>
            </a:pPr>
            <a:r>
              <a:rPr sz="1700">
                <a:solidFill>
                  <a:srgbClr val="0E7C7B"/>
                </a:solidFill>
                <a:latin typeface="Wingdings"/>
              </a:rPr>
              <a:t>§  </a:t>
            </a:r>
            <a:r>
              <a:rPr sz="1700" b="0">
                <a:solidFill>
                  <a:srgbClr val="2F3B49"/>
                </a:solidFill>
                <a:latin typeface="Montserrat"/>
              </a:rPr>
              <a:t>Per-epoch cost: O((L+1)md) + O((M/f)m).</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Paired t-tests on per-user NDCG@20 (n = 6,040 users; df = 6,039).</a:t>
            </a:r>
          </a:p>
          <a:p>
            <a:pPr>
              <a:lnSpc>
                <a:spcPct val="105000"/>
              </a:lnSpc>
              <a:spcAft>
                <a:spcPts val="900"/>
              </a:spcAft>
            </a:pPr>
            <a:r>
              <a:rPr sz="1700">
                <a:solidFill>
                  <a:srgbClr val="0E7C7B"/>
                </a:solidFill>
                <a:latin typeface="Wingdings"/>
              </a:rPr>
              <a:t>§  </a:t>
            </a:r>
            <a:r>
              <a:rPr sz="1700" b="0">
                <a:solidFill>
                  <a:srgbClr val="2F3B49"/>
                </a:solidFill>
                <a:latin typeface="Montserrat"/>
              </a:rPr>
              <a:t>DyHuCoG outperforms every baseline with extremely small p-values after Holm–Bonferroni correction.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vs HPCF: t = 46.38, Cohen’s d_z = 1.3345, p = 1.81×10⁻²⁷⁰.</a:t>
            </a:r>
          </a:p>
          <a:p>
            <a:pPr lvl="1">
              <a:lnSpc>
                <a:spcPct val="105000"/>
              </a:lnSpc>
              <a:spcAft>
                <a:spcPts val="600"/>
              </a:spcAft>
            </a:pPr>
            <a:r>
              <a:rPr sz="1600">
                <a:solidFill>
                  <a:srgbClr val="0E7C7B"/>
                </a:solidFill>
                <a:latin typeface="Montserrat"/>
              </a:rPr>
              <a:t>–  </a:t>
            </a:r>
            <a:r>
              <a:rPr sz="1600" b="0">
                <a:solidFill>
                  <a:srgbClr val="2F3B49"/>
                </a:solidFill>
                <a:latin typeface="Montserrat"/>
              </a:rPr>
              <a:t>Wilcoxon signed-rank test also significant (p &lt; 0.001).</a:t>
            </a:r>
          </a:p>
          <a:p>
            <a:pPr lvl="1">
              <a:lnSpc>
                <a:spcPct val="105000"/>
              </a:lnSpc>
              <a:spcAft>
                <a:spcPts val="600"/>
              </a:spcAft>
            </a:pPr>
            <a:r>
              <a:rPr sz="1600">
                <a:solidFill>
                  <a:srgbClr val="0E7C7B"/>
                </a:solidFill>
                <a:latin typeface="Montserrat"/>
              </a:rPr>
              <a:t>–  </a:t>
            </a:r>
            <a:r>
              <a:rPr sz="1600" b="0">
                <a:solidFill>
                  <a:srgbClr val="2F3B49"/>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Cold-start (5 or fewer interactions): NDCG@20 ≈ 0.061 (user) and 0.057 (item), improving over HPCF by ~10%.</a:t>
            </a:r>
          </a:p>
          <a:p>
            <a:pPr>
              <a:lnSpc>
                <a:spcPct val="105000"/>
              </a:lnSpc>
              <a:spcAft>
                <a:spcPts val="900"/>
              </a:spcAft>
            </a:pPr>
            <a:r>
              <a:rPr sz="1700">
                <a:solidFill>
                  <a:srgbClr val="0E7C7B"/>
                </a:solidFill>
                <a:latin typeface="Wingdings"/>
              </a:rPr>
              <a:t>§  </a:t>
            </a:r>
            <a:r>
              <a:rPr sz="1700" b="0">
                <a:solidFill>
                  <a:srgbClr val="2F3B49"/>
                </a:solidFill>
                <a:latin typeface="Montserrat"/>
              </a:rPr>
              <a:t>Cross-dataset: MovieLens +9.9%, Amazon +14.8%, Yelp2018 +11.8%.</a:t>
            </a:r>
          </a:p>
          <a:p>
            <a:pPr>
              <a:lnSpc>
                <a:spcPct val="105000"/>
              </a:lnSpc>
              <a:spcAft>
                <a:spcPts val="900"/>
              </a:spcAft>
            </a:pPr>
            <a:r>
              <a:rPr sz="1700">
                <a:solidFill>
                  <a:srgbClr val="0E7C7B"/>
                </a:solidFill>
                <a:latin typeface="Wingdings"/>
              </a:rPr>
              <a:t>§  </a:t>
            </a:r>
            <a:r>
              <a:rPr sz="1700" b="1">
                <a:solidFill>
                  <a:srgbClr val="2F3B49"/>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RQ3 answered in the affirmative — attribution becomes an in-training signal,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answered in the affirmative — ranking, coverage and diversity improve together.</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recommendation formulated as a cooperative game over users, items and contexts.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preference-aware Monte Carlo Shapley embedded in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+9.9% (MovieLens) / +14.8% (Amazon) NDCG, with higher coverage and diversity.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Cooperative attribution used as an in-training signal — a stronger claim than the clustering chapters.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accuracy–diversity–context trade-off is not structurally fixed.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NDCG, recall, coverage and diversity improve together on both datasets.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Largest gains on the sparsest data (Amazon-Book), consistent with Shapley weighting helping when signal is weak.</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Measurable computational overhead — roughly 1.78× training time over HPCF.</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Depends on availability of meaningful context.</a:t>
            </a:r>
          </a:p>
          <a:p>
            <a:pPr lvl="1">
              <a:lnSpc>
                <a:spcPct val="105000"/>
              </a:lnSpc>
              <a:spcAft>
                <a:spcPts val="600"/>
              </a:spcAft>
            </a:pPr>
            <a:r>
              <a:rPr sz="1600">
                <a:solidFill>
                  <a:srgbClr val="0E7C7B"/>
                </a:solidFill>
                <a:latin typeface="Montserrat"/>
              </a:rPr>
              <a:t>–  </a:t>
            </a:r>
            <a:r>
              <a:rPr sz="1600" b="0">
                <a:solidFill>
                  <a:srgbClr val="2F3B49"/>
                </a:solidFill>
                <a:latin typeface="Montserrat"/>
              </a:rPr>
              <a:t>Monte Carlo Shapley could be improved by variance reduction.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Ablation is component-wise, so it does not test factorial interactions.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Baselines finalised through early 2026, so superiority is claimed only against the tested baselines.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Attribution is a first-class part of the learning objective,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explanation is a direct read-out of the objective the model already optimises.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makes the explanation structurally faithful rather than an external approximation.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Built on a principled, axiomatic basis — aligned with trustworthy-AI expectations.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0E7C7B"/>
                    </a:solidFill>
                  </a:tcPr>
                </a:tc>
                <a:tc>
                  <a:txBody>
                    <a:bodyPr/>
                    <a:lstStyle/>
                    <a:p>
                      <a:pPr algn="ctr"/>
                      <a:r>
                        <a:rPr sz="1200" b="1">
                          <a:solidFill>
                            <a:srgbClr val="FFFFFF"/>
                          </a:solidFill>
                          <a:latin typeface="Montserrat Medium"/>
                        </a:rPr>
                        <a:t>Main idea</a:t>
                      </a:r>
                    </a:p>
                  </a:txBody>
                  <a:tcPr anchor="ctr" marL="54864" marR="54864" marT="18288" marB="18288">
                    <a:solidFill>
                      <a:srgbClr val="0E7C7B"/>
                    </a:solidFill>
                  </a:tcPr>
                </a:tc>
                <a:tc>
                  <a:txBody>
                    <a:bodyPr/>
                    <a:lstStyle/>
                    <a:p>
                      <a:pPr algn="ctr"/>
                      <a:r>
                        <a:rPr sz="1200" b="1">
                          <a:solidFill>
                            <a:srgbClr val="FFFFFF"/>
                          </a:solidFill>
                          <a:latin typeface="Montserrat Medium"/>
                        </a:rPr>
                        <a:t>Achievement</a:t>
                      </a:r>
                    </a:p>
                  </a:txBody>
                  <a:tcPr anchor="ctr" marL="54864" marR="54864" marT="18288" marB="18288">
                    <a:solidFill>
                      <a:srgbClr val="0E7C7B"/>
                    </a:solidFill>
                  </a:tcPr>
                </a:tc>
                <a:tc>
                  <a:txBody>
                    <a:bodyPr/>
                    <a:lstStyle/>
                    <a:p>
                      <a:pPr algn="ctr"/>
                      <a:r>
                        <a:rPr sz="1200" b="1">
                          <a:solidFill>
                            <a:srgbClr val="FFFFFF"/>
                          </a:solidFill>
                          <a:latin typeface="Montserrat Medium"/>
                        </a:rPr>
                        <a:t>Key finding</a:t>
                      </a:r>
                    </a:p>
                  </a:txBody>
                  <a:tcPr anchor="ctr" marL="54864" marR="54864" marT="18288" marB="18288">
                    <a:solidFill>
                      <a:srgbClr val="0E7C7B"/>
                    </a:solidFill>
                  </a:tcPr>
                </a:tc>
              </a:tr>
              <a:tr h="891540">
                <a:tc>
                  <a:txBody>
                    <a:bodyPr/>
                    <a:lstStyle/>
                    <a:p>
                      <a:pPr algn="l"/>
                      <a:r>
                        <a:rPr sz="1200" b="0">
                          <a:solidFill>
                            <a:srgbClr val="2F3B49"/>
                          </a:solidFill>
                          <a:latin typeface="Montserrat"/>
                        </a:rPr>
                        <a:t>C1</a:t>
                      </a:r>
                    </a:p>
                  </a:txBody>
                  <a:tcPr anchor="ctr" marL="54864" marR="54864" marT="18288" marB="18288">
                    <a:solidFill>
                      <a:srgbClr val="FFFFFF"/>
                    </a:solidFill>
                  </a:tcPr>
                </a:tc>
                <a:tc>
                  <a:txBody>
                    <a:bodyPr/>
                    <a:lstStyle/>
                    <a:p>
                      <a:pPr algn="ctr"/>
                      <a:r>
                        <a:rPr sz="1200" b="0">
                          <a:solidFill>
                            <a:srgbClr val="2F3B49"/>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2F3B49"/>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2F3B49"/>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2F3B49"/>
                          </a:solidFill>
                          <a:latin typeface="Montserrat"/>
                        </a:rPr>
                        <a:t>C2</a:t>
                      </a:r>
                    </a:p>
                  </a:txBody>
                  <a:tcPr anchor="ctr" marL="54864" marR="54864" marT="18288" marB="18288">
                    <a:solidFill>
                      <a:srgbClr val="F0F4FB"/>
                    </a:solidFill>
                  </a:tcPr>
                </a:tc>
                <a:tc>
                  <a:txBody>
                    <a:bodyPr/>
                    <a:lstStyle/>
                    <a:p>
                      <a:pPr algn="ctr"/>
                      <a:r>
                        <a:rPr sz="1200" b="0">
                          <a:solidFill>
                            <a:srgbClr val="2F3B49"/>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2F3B49"/>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2F3B49"/>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2F3B49"/>
                          </a:solidFill>
                          <a:latin typeface="Montserrat"/>
                        </a:rPr>
                        <a:t>C3</a:t>
                      </a:r>
                    </a:p>
                  </a:txBody>
                  <a:tcPr anchor="ctr" marL="54864" marR="54864" marT="18288" marB="18288">
                    <a:solidFill>
                      <a:srgbClr val="FFFFFF"/>
                    </a:solidFill>
                  </a:tcPr>
                </a:tc>
                <a:tc>
                  <a:txBody>
                    <a:bodyPr/>
                    <a:lstStyle/>
                    <a:p>
                      <a:pPr algn="ctr"/>
                      <a:r>
                        <a:rPr sz="1200" b="0">
                          <a:solidFill>
                            <a:srgbClr val="2F3B49"/>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2F3B49"/>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2F3B49"/>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0E7C7B"/>
                    </a:solidFill>
                  </a:tcPr>
                </a:tc>
                <a:tc>
                  <a:txBody>
                    <a:bodyPr/>
                    <a:lstStyle/>
                    <a:p>
                      <a:pPr algn="ctr"/>
                      <a:r>
                        <a:rPr sz="1200" b="1">
                          <a:solidFill>
                            <a:srgbClr val="FFFFFF"/>
                          </a:solidFill>
                          <a:latin typeface="Montserrat Medium"/>
                        </a:rPr>
                        <a:t>Title</a:t>
                      </a:r>
                    </a:p>
                  </a:txBody>
                  <a:tcPr anchor="ctr" marL="54864" marR="54864" marT="18288" marB="18288">
                    <a:solidFill>
                      <a:srgbClr val="0E7C7B"/>
                    </a:solidFill>
                  </a:tcPr>
                </a:tc>
                <a:tc>
                  <a:txBody>
                    <a:bodyPr/>
                    <a:lstStyle/>
                    <a:p>
                      <a:pPr algn="ctr"/>
                      <a:r>
                        <a:rPr sz="1200" b="1">
                          <a:solidFill>
                            <a:srgbClr val="FFFFFF"/>
                          </a:solidFill>
                          <a:latin typeface="Montserrat Medium"/>
                        </a:rPr>
                        <a:t>Venue</a:t>
                      </a:r>
                    </a:p>
                  </a:txBody>
                  <a:tcPr anchor="ctr" marL="54864" marR="54864" marT="18288" marB="18288">
                    <a:solidFill>
                      <a:srgbClr val="0E7C7B"/>
                    </a:solidFill>
                  </a:tcPr>
                </a:tc>
                <a:tc>
                  <a:txBody>
                    <a:bodyPr/>
                    <a:lstStyle/>
                    <a:p>
                      <a:pPr algn="ctr"/>
                      <a:r>
                        <a:rPr sz="1200" b="1">
                          <a:solidFill>
                            <a:srgbClr val="FFFFFF"/>
                          </a:solidFill>
                          <a:latin typeface="Montserrat Medium"/>
                        </a:rPr>
                        <a:t>Status</a:t>
                      </a:r>
                    </a:p>
                  </a:txBody>
                  <a:tcPr anchor="ctr" marL="54864" marR="54864" marT="18288" marB="18288">
                    <a:solidFill>
                      <a:srgbClr val="0E7C7B"/>
                    </a:solidFill>
                  </a:tcPr>
                </a:tc>
              </a:tr>
              <a:tr h="891540">
                <a:tc>
                  <a:txBody>
                    <a:bodyPr/>
                    <a:lstStyle/>
                    <a:p>
                      <a:pPr algn="l"/>
                      <a:r>
                        <a:rPr sz="1200" b="0">
                          <a:solidFill>
                            <a:srgbClr val="2F3B49"/>
                          </a:solidFill>
                          <a:latin typeface="Montserrat"/>
                        </a:rPr>
                        <a:t>I</a:t>
                      </a:r>
                    </a:p>
                  </a:txBody>
                  <a:tcPr anchor="ctr" marL="54864" marR="54864" marT="18288" marB="18288">
                    <a:solidFill>
                      <a:srgbClr val="FFFFFF"/>
                    </a:solidFill>
                  </a:tcPr>
                </a:tc>
                <a:tc>
                  <a:txBody>
                    <a:bodyPr/>
                    <a:lstStyle/>
                    <a:p>
                      <a:pPr algn="ctr"/>
                      <a:r>
                        <a:rPr sz="1200" b="0">
                          <a:solidFill>
                            <a:srgbClr val="2F3B49"/>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2F3B49"/>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2F3B49"/>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2F3B49"/>
                          </a:solidFill>
                          <a:latin typeface="Montserrat"/>
                        </a:rPr>
                        <a:t>II</a:t>
                      </a:r>
                    </a:p>
                  </a:txBody>
                  <a:tcPr anchor="ctr" marL="54864" marR="54864" marT="18288" marB="18288">
                    <a:solidFill>
                      <a:srgbClr val="F0F4FB"/>
                    </a:solidFill>
                  </a:tcPr>
                </a:tc>
                <a:tc>
                  <a:txBody>
                    <a:bodyPr/>
                    <a:lstStyle/>
                    <a:p>
                      <a:pPr algn="ctr"/>
                      <a:r>
                        <a:rPr sz="1200" b="0">
                          <a:solidFill>
                            <a:srgbClr val="2F3B49"/>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2F3B49"/>
                          </a:solidFill>
                          <a:latin typeface="Montserrat"/>
                        </a:rPr>
                        <a:t>IJACSA 16(7), 716–725</a:t>
                      </a:r>
                    </a:p>
                  </a:txBody>
                  <a:tcPr anchor="ctr" marL="54864" marR="54864" marT="18288" marB="18288">
                    <a:solidFill>
                      <a:srgbClr val="F0F4FB"/>
                    </a:solidFill>
                  </a:tcPr>
                </a:tc>
                <a:tc>
                  <a:txBody>
                    <a:bodyPr/>
                    <a:lstStyle/>
                    <a:p>
                      <a:pPr algn="ctr"/>
                      <a:r>
                        <a:rPr sz="1200" b="0">
                          <a:solidFill>
                            <a:srgbClr val="2F3B49"/>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2F3B49"/>
                          </a:solidFill>
                          <a:latin typeface="Montserrat"/>
                        </a:rPr>
                        <a:t>III</a:t>
                      </a:r>
                    </a:p>
                  </a:txBody>
                  <a:tcPr anchor="ctr" marL="54864" marR="54864" marT="18288" marB="18288">
                    <a:solidFill>
                      <a:srgbClr val="FFFFFF"/>
                    </a:solidFill>
                  </a:tcPr>
                </a:tc>
                <a:tc>
                  <a:txBody>
                    <a:bodyPr/>
                    <a:lstStyle/>
                    <a:p>
                      <a:pPr algn="ctr"/>
                      <a:r>
                        <a:rPr sz="1200" b="0">
                          <a:solidFill>
                            <a:srgbClr val="2F3B49"/>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2F3B49"/>
                          </a:solidFill>
                          <a:latin typeface="Montserrat"/>
                        </a:rPr>
                        <a:t>IJIES 19(2), 887–902</a:t>
                      </a:r>
                    </a:p>
                  </a:txBody>
                  <a:tcPr anchor="ctr" marL="54864" marR="54864" marT="18288" marB="18288">
                    <a:solidFill>
                      <a:srgbClr val="FFFFFF"/>
                    </a:solidFill>
                  </a:tcPr>
                </a:tc>
                <a:tc>
                  <a:txBody>
                    <a:bodyPr/>
                    <a:lstStyle/>
                    <a:p>
                      <a:pPr algn="ctr"/>
                      <a:r>
                        <a:rPr sz="1200" b="0">
                          <a:solidFill>
                            <a:srgbClr val="2F3B49"/>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0E7C7B"/>
                </a:solidFill>
                <a:latin typeface="Wingdings"/>
              </a:rPr>
              <a:t>§  </a:t>
            </a:r>
            <a:r>
              <a:rPr sz="1700" b="0">
                <a:solidFill>
                  <a:srgbClr val="2F3B49"/>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0E7C7B"/>
                </a:solidFill>
                <a:latin typeface="Wingdings"/>
              </a:rPr>
              <a:t>§  </a:t>
            </a:r>
            <a:r>
              <a:rPr sz="1700" b="0">
                <a:solidFill>
                  <a:srgbClr val="2F3B49"/>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0E7C7B"/>
                </a:solidFill>
                <a:latin typeface="Wingdings"/>
              </a:rPr>
              <a:t>§  </a:t>
            </a:r>
            <a:r>
              <a:rPr sz="1700" b="0">
                <a:solidFill>
                  <a:srgbClr val="2F3B49"/>
                </a:solidFill>
                <a:latin typeface="Montserrat"/>
              </a:rPr>
              <a:t>Online / streaming recommendation – truly incremental settings with evolving graphs and delayed feedback.</a:t>
            </a:r>
          </a:p>
          <a:p>
            <a:pPr>
              <a:lnSpc>
                <a:spcPct val="105000"/>
              </a:lnSpc>
              <a:spcAft>
                <a:spcPts val="900"/>
              </a:spcAft>
            </a:pPr>
            <a:r>
              <a:rPr sz="1700">
                <a:solidFill>
                  <a:srgbClr val="0E7C7B"/>
                </a:solidFill>
                <a:latin typeface="Wingdings"/>
              </a:rPr>
              <a:t>§  </a:t>
            </a:r>
            <a:r>
              <a:rPr sz="1700" b="0">
                <a:solidFill>
                  <a:srgbClr val="2F3B49"/>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0E7C7B"/>
                </a:solidFill>
                <a:latin typeface="Wingdings"/>
              </a:rPr>
              <a:t>§  </a:t>
            </a:r>
            <a:r>
              <a:rPr sz="1700" b="0">
                <a:solidFill>
                  <a:srgbClr val="2F3B49"/>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Key outcomes: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as a common formal language for feature, interaction, and context importance allocation.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 as method, not commentary — from post-hoc description to in-training guidance.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Aligned with trustworthy-AI requirements (EU AI Act, OECD principles, GDPR).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References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References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Key sources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Citations</a:t>
            </a:r>
          </a:p>
        </p:txBody>
      </p:sp>
      <p:sp>
        <p:nvSpPr>
          <p:cNvPr id="55" name="TextBox 54"/>
          <p:cNvSpPr txBox="1"/>
          <p:nvPr/>
        </p:nvSpPr>
        <p:spPr>
          <a:xfrm>
            <a:off x="365760" y="1737360"/>
            <a:ext cx="11521440" cy="4297680"/>
          </a:xfrm>
          <a:prstGeom prst="rect">
            <a:avLst/>
          </a:prstGeom>
          <a:noFill/>
        </p:spPr>
        <p:txBody>
          <a:bodyPr wrap="square" anchor="t" lIns="0" rIns="0" tIns="0" bIns="0">
            <a:spAutoFit/>
          </a:bodyPr>
          <a:lstStyle/>
          <a:p>
            <a:pPr>
              <a:lnSpc>
                <a:spcPct val="105000"/>
              </a:lnSpc>
              <a:spcAft>
                <a:spcPts val="900"/>
              </a:spcAft>
            </a:pPr>
            <a:r>
              <a:rPr sz="1500">
                <a:solidFill>
                  <a:srgbClr val="0E7C7B"/>
                </a:solidFill>
                <a:latin typeface="Wingdings"/>
              </a:rPr>
              <a:t>§  </a:t>
            </a:r>
            <a:r>
              <a:rPr sz="1500" b="0">
                <a:solidFill>
                  <a:srgbClr val="2F3B49"/>
                </a:solidFill>
                <a:latin typeface="Montserrat"/>
              </a:rPr>
              <a:t>[R1] Louhichi, M. &amp; Lazaar, M. Shapley Values for Explaining the Black Box Nature of ML Model Clustering. Procedia Computer Science 220, 806–811 (2023).</a:t>
            </a:r>
          </a:p>
          <a:p>
            <a:pPr>
              <a:lnSpc>
                <a:spcPct val="105000"/>
              </a:lnSpc>
              <a:spcAft>
                <a:spcPts val="900"/>
              </a:spcAft>
            </a:pPr>
            <a:r>
              <a:rPr sz="1500">
                <a:solidFill>
                  <a:srgbClr val="0E7C7B"/>
                </a:solidFill>
                <a:latin typeface="Wingdings"/>
              </a:rPr>
              <a:t>§  </a:t>
            </a:r>
            <a:r>
              <a:rPr sz="1500" b="0">
                <a:solidFill>
                  <a:srgbClr val="2F3B49"/>
                </a:solidFill>
                <a:latin typeface="Montserrat"/>
              </a:rPr>
              <a:t>[R2] Louhichi, M. &amp; Lazaar, M. Game Theory Meets Explainable AI: An Enhanced Approach to Understanding Black Box Models Through Shapley Values. IJACSA 16(7), 716–725 (2025).</a:t>
            </a:r>
          </a:p>
          <a:p>
            <a:pPr>
              <a:lnSpc>
                <a:spcPct val="105000"/>
              </a:lnSpc>
              <a:spcAft>
                <a:spcPts val="900"/>
              </a:spcAft>
            </a:pPr>
            <a:r>
              <a:rPr sz="1500">
                <a:solidFill>
                  <a:srgbClr val="0E7C7B"/>
                </a:solidFill>
                <a:latin typeface="Wingdings"/>
              </a:rPr>
              <a:t>§  </a:t>
            </a:r>
            <a:r>
              <a:rPr sz="1500" b="0">
                <a:solidFill>
                  <a:srgbClr val="2F3B49"/>
                </a:solidFill>
                <a:latin typeface="Montserrat"/>
              </a:rPr>
              <a:t>[R3] Louhichi, M. &amp; Lazaar, M. DyHuCoG: A Dynamic Hypergraph Cooperative Game for Preference-aware Recommendation. IJIES 19(2), 887–902 (2026).</a:t>
            </a:r>
          </a:p>
          <a:p>
            <a:pPr>
              <a:lnSpc>
                <a:spcPct val="105000"/>
              </a:lnSpc>
              <a:spcAft>
                <a:spcPts val="900"/>
              </a:spcAft>
            </a:pPr>
            <a:r>
              <a:rPr sz="1500">
                <a:solidFill>
                  <a:srgbClr val="0E7C7B"/>
                </a:solidFill>
                <a:latin typeface="Wingdings"/>
              </a:rPr>
              <a:t>§  </a:t>
            </a:r>
            <a:r>
              <a:rPr sz="1500" b="0">
                <a:solidFill>
                  <a:srgbClr val="2F3B49"/>
                </a:solidFill>
                <a:latin typeface="Montserrat"/>
              </a:rPr>
              <a:t>[R4] Lundberg, S.M. &amp; Lee, S.-I. A Unified Approach to Interpreting Model Predictions (SHAP). NeurIPS 30, 4765–4774 (2017).</a:t>
            </a:r>
          </a:p>
          <a:p>
            <a:pPr>
              <a:lnSpc>
                <a:spcPct val="105000"/>
              </a:lnSpc>
              <a:spcAft>
                <a:spcPts val="900"/>
              </a:spcAft>
            </a:pPr>
            <a:r>
              <a:rPr sz="1500">
                <a:solidFill>
                  <a:srgbClr val="0E7C7B"/>
                </a:solidFill>
                <a:latin typeface="Wingdings"/>
              </a:rPr>
              <a:t>§  </a:t>
            </a:r>
            <a:r>
              <a:rPr sz="1500" b="0">
                <a:solidFill>
                  <a:srgbClr val="2F3B49"/>
                </a:solidFill>
                <a:latin typeface="Montserrat"/>
              </a:rPr>
              <a:t>[R5] Lundberg, S.M. et al. Consistent Individualized Feature Attribution for Tree Ensembles. KDD 2018, 2713–2723 (2018).</a:t>
            </a:r>
          </a:p>
          <a:p>
            <a:pPr>
              <a:lnSpc>
                <a:spcPct val="105000"/>
              </a:lnSpc>
              <a:spcAft>
                <a:spcPts val="900"/>
              </a:spcAft>
            </a:pPr>
            <a:r>
              <a:rPr sz="1500">
                <a:solidFill>
                  <a:srgbClr val="0E7C7B"/>
                </a:solidFill>
                <a:latin typeface="Wingdings"/>
              </a:rPr>
              <a:t>§  </a:t>
            </a:r>
            <a:r>
              <a:rPr sz="1500" b="0">
                <a:solidFill>
                  <a:srgbClr val="2F3B49"/>
                </a:solidFill>
                <a:latin typeface="Montserrat"/>
              </a:rPr>
              <a:t>[R6] Shapley, L.S. A Value for n-Person Games. Contributions to the Theory of Games II, 307–317 (1953).</a:t>
            </a:r>
          </a:p>
          <a:p>
            <a:pPr>
              <a:lnSpc>
                <a:spcPct val="105000"/>
              </a:lnSpc>
              <a:spcAft>
                <a:spcPts val="900"/>
              </a:spcAft>
            </a:pPr>
            <a:r>
              <a:rPr sz="1500">
                <a:solidFill>
                  <a:srgbClr val="0E7C7B"/>
                </a:solidFill>
                <a:latin typeface="Wingdings"/>
              </a:rPr>
              <a:t>§  </a:t>
            </a:r>
            <a:r>
              <a:rPr sz="1500" b="0">
                <a:solidFill>
                  <a:srgbClr val="2F3B49"/>
                </a:solidFill>
                <a:latin typeface="Montserrat"/>
              </a:rPr>
              <a:t>[R7] Gramegna, A. &amp; Giudici, P. SHAP-based Clustering Explanations. Stats 4(4), 938–959 (2021).</a:t>
            </a:r>
          </a:p>
          <a:p>
            <a:pPr>
              <a:lnSpc>
                <a:spcPct val="105000"/>
              </a:lnSpc>
              <a:spcAft>
                <a:spcPts val="900"/>
              </a:spcAft>
            </a:pPr>
            <a:r>
              <a:rPr sz="1500">
                <a:solidFill>
                  <a:srgbClr val="0E7C7B"/>
                </a:solidFill>
                <a:latin typeface="Wingdings"/>
              </a:rPr>
              <a:t>§  </a:t>
            </a:r>
            <a:r>
              <a:rPr sz="1500" b="0">
                <a:solidFill>
                  <a:srgbClr val="2F3B49"/>
                </a:solidFill>
                <a:latin typeface="Montserrat"/>
              </a:rPr>
              <a:t>[R8] Wang, X. et al. Hypergraph Learning: Methods and Practices. IEEE TPAMI 44(5), 2543–2563 (2022).</a:t>
            </a:r>
          </a:p>
          <a:p>
            <a:pPr>
              <a:lnSpc>
                <a:spcPct val="105000"/>
              </a:lnSpc>
              <a:spcAft>
                <a:spcPts val="900"/>
              </a:spcAft>
            </a:pPr>
            <a:r>
              <a:rPr sz="1500">
                <a:solidFill>
                  <a:srgbClr val="0E7C7B"/>
                </a:solidFill>
                <a:latin typeface="Wingdings"/>
              </a:rPr>
              <a:t>§  </a:t>
            </a:r>
            <a:r>
              <a:rPr sz="1500" b="0">
                <a:solidFill>
                  <a:srgbClr val="2F3B49"/>
                </a:solidFill>
                <a:latin typeface="Montserrat"/>
              </a:rPr>
              <a:t>[R9] European Commission. Proposal for a Regulation on Artificial Intelligence (EU AI Act). COM(2021) 206 final (2021).</a:t>
            </a:r>
          </a:p>
        </p:txBody>
      </p:sp>
      <p:pic>
        <p:nvPicPr>
          <p:cNvPr id="56" name="Picture 55" descr="image.png"/>
          <p:cNvPicPr>
            <a:picLocks noChangeAspect="1"/>
          </p:cNvPicPr>
          <p:nvPr/>
        </p:nvPicPr>
        <p:blipFill>
          <a:blip r:embed="rId13"/>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