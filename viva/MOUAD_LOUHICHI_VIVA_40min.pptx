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C1 answers RQ1 in the affirmative: Shapley values can explain black-box clustering faithfully, provided the surrogate is high-fidelity, and coherently at cluster level. It anchors cluster-level explanation to individual feature contributions, it returns explanations to the original variables, and it offers a theoretically grounded argument for Shapley over LIME. But I want to be clear about the scope and limits.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That limitation is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with bounds. Shapley-based clustering explanation can scale to hierarchical, large-scale settings without losing interpretive coherence, provided the hierarchy is modelled explicitly and the approximation is transparent. We achieved a scalable, multi-granular explanation that does not collapse into a single flat summary; a formal cross-level consistency argument in Proposition 6.1; and validation on a structurally different large-scale dataset. The limitations are equally clear: the clustering remains static even though the Beijing data are temporal; the surrogate-based SHAP plus representative-instance reporting compresses observation-level variation; and the whole approach is confined to tabular data. The most important limit, and the bridge to C3, is that the model is still an explanation of a pre-computed partition; it does not yet influence learning itself.</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evidence is that ranking, coverage and diversity improve together, with the largest gains on the sparsest data, and that the improvement is statistically large. The limitations must be stated honestly: measurable computational overhead, roughly one point seven eight times training time; dependence on meaningful context; Monte Carlo Shapley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4.xml"/><Relationship Id="rId13"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5.xml"/><Relationship Id="rId13"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7.xml"/><Relationship Id="rId13"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8.xml"/><Relationship Id="rId13"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89.xml"/><Relationship Id="rId13"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6.xml"/><Relationship Id="rId13"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7.xml"/><Relationship Id="rId7"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98.xml"/><Relationship Id="rId13"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99.xml"/><Relationship Id="rId13" Type="http://schemas.openxmlformats.org/officeDocument/2006/relationships/image" Target="../media/image5.png"/><Relationship Id="rId14"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0.xml"/><Relationship Id="rId13"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1.xml"/><Relationship Id="rId13"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2.xml"/><Relationship Id="rId13" Type="http://schemas.openxmlformats.org/officeDocument/2006/relationships/image" Target="../media/image5.png"/><Relationship Id="rId14"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3.xml"/><Relationship Id="rId13"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4.xml"/><Relationship Id="rId13"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5.xml"/><Relationship Id="rId13" Type="http://schemas.openxmlformats.org/officeDocument/2006/relationships/image" Target="../media/image5.png"/><Relationship Id="rId14"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6.xml"/><Relationship Id="rId13" Type="http://schemas.openxmlformats.org/officeDocument/2006/relationships/image" Target="../media/image5.png"/><Relationship Id="rId14"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07.xml"/><Relationship Id="rId7" Type="http://schemas.openxmlformats.org/officeDocument/2006/relationships/image" Target="../media/image5.png"/><Relationship Id="rId8"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8.xml"/><Relationship Id="rId13" Type="http://schemas.openxmlformats.org/officeDocument/2006/relationships/image" Target="../media/image5.png"/><Relationship Id="rId14"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9.xml"/><Relationship Id="rId13" Type="http://schemas.openxmlformats.org/officeDocument/2006/relationships/image" Target="../media/image7.png"/><Relationship Id="rId14"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0.xml"/><Relationship Id="rId13"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1.xml"/><Relationship Id="rId13" Type="http://schemas.openxmlformats.org/officeDocument/2006/relationships/image" Target="../media/image7.png"/><Relationship Id="rId14"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2.xml"/><Relationship Id="rId13"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4.xml"/><Relationship Id="rId13"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5.xml"/><Relationship Id="rId13" Type="http://schemas.openxmlformats.org/officeDocument/2006/relationships/image" Target="../media/image7.png"/><Relationship Id="rId1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17.xml"/><Relationship Id="rId7"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8.xml"/><Relationship Id="rId13" Type="http://schemas.openxmlformats.org/officeDocument/2006/relationships/image" Target="../media/image7.png"/><Relationship Id="rId14"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9.xml"/><Relationship Id="rId13"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1.xml"/><Relationship Id="rId13"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2.xml"/><Relationship Id="rId13"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5.xml"/><Relationship Id="rId1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6.xml"/><Relationship Id="rId13"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7.xml"/><Relationship Id="rId13"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8.xml"/><Relationship Id="rId13"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9.xml"/><Relationship Id="rId13"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1.xml"/><Relationship Id="rId13"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32.xml"/><Relationship Id="rId7" Type="http://schemas.openxmlformats.org/officeDocument/2006/relationships/image" Target="../media/image9.png"/><Relationship Id="rId8"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5.xml"/><Relationship Id="rId13"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6.xml"/><Relationship Id="rId13" Type="http://schemas.openxmlformats.org/officeDocument/2006/relationships/image" Target="../media/image24.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37.xml"/><Relationship Id="rId13"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38.xml"/><Relationship Id="rId6" Type="http://schemas.openxmlformats.org/officeDocument/2006/relationships/image" Target="../media/image9.png"/><Relationship Id="rId7" Type="http://schemas.openxmlformats.org/officeDocument/2006/relationships/image" Target="../media/image31.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333F50"/>
                          </a:solidFill>
                          <a:latin typeface="Montserrat"/>
                        </a:rPr>
                        <a:t>President</a:t>
                      </a:r>
                    </a:p>
                  </a:txBody>
                  <a:tcPr/>
                </a:tc>
                <a:tc>
                  <a:txBody>
                    <a:bodyPr/>
                    <a:lstStyle/>
                    <a:p>
                      <a:pPr algn="l"/>
                      <a:r>
                        <a:rPr sz="1000" b="0">
                          <a:solidFill>
                            <a:srgbClr val="333F50"/>
                          </a:solidFill>
                          <a:latin typeface="Montserrat"/>
                        </a:rPr>
                        <a:t>[President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1F2A44"/>
                          </a:solidFill>
                          <a:latin typeface="Montserrat"/>
                        </a:rPr>
                        <a:t>Supervisor</a:t>
                      </a:r>
                    </a:p>
                  </a:txBody>
                  <a:tcPr/>
                </a:tc>
                <a:tc>
                  <a:txBody>
                    <a:bodyPr/>
                    <a:lstStyle/>
                    <a:p>
                      <a:pPr algn="l"/>
                      <a:r>
                        <a:rPr sz="1000" b="0">
                          <a:solidFill>
                            <a:srgbClr val="1F2A44"/>
                          </a:solidFill>
                          <a:latin typeface="Montserrat"/>
                        </a:rPr>
                        <a:t>Pr. Mohamed LAZAAR</a:t>
                      </a:r>
                    </a:p>
                  </a:txBody>
                  <a:tcPr/>
                </a:tc>
                <a:tc>
                  <a:txBody>
                    <a:bodyPr/>
                    <a:lstStyle/>
                    <a:p>
                      <a:pPr algn="ctr"/>
                      <a:r>
                        <a:rPr sz="1000" b="0">
                          <a:solidFill>
                            <a:srgbClr val="1F2A44"/>
                          </a:solidFill>
                          <a:latin typeface="Montserrat"/>
                        </a:rPr>
                        <a:t>PES</a:t>
                      </a:r>
                    </a:p>
                  </a:txBody>
                  <a:tcPr/>
                </a:tc>
                <a:tc>
                  <a:txBody>
                    <a:bodyPr/>
                    <a:lstStyle/>
                    <a:p>
                      <a:pPr algn="ctr"/>
                      <a:r>
                        <a:rPr sz="1000" b="0">
                          <a:solidFill>
                            <a:srgbClr val="1F2A44"/>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333F50"/>
                          </a:solidFill>
                          <a:latin typeface="Montserrat"/>
                        </a:rPr>
                        <a:t>Reviewer</a:t>
                      </a:r>
                    </a:p>
                  </a:txBody>
                  <a:tcPr/>
                </a:tc>
                <a:tc>
                  <a:txBody>
                    <a:bodyPr/>
                    <a:lstStyle/>
                    <a:p>
                      <a:pPr algn="l"/>
                      <a:r>
                        <a:rPr sz="1000" b="0">
                          <a:solidFill>
                            <a:srgbClr val="333F50"/>
                          </a:solidFill>
                          <a:latin typeface="Montserrat"/>
                        </a:rPr>
                        <a:t>[Reviewer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333F50"/>
                          </a:solidFill>
                          <a:latin typeface="Montserrat"/>
                        </a:rPr>
                        <a:t>Reviewer</a:t>
                      </a:r>
                    </a:p>
                  </a:txBody>
                  <a:tcPr/>
                </a:tc>
                <a:tc>
                  <a:txBody>
                    <a:bodyPr/>
                    <a:lstStyle/>
                    <a:p>
                      <a:pPr algn="l"/>
                      <a:r>
                        <a:rPr sz="1000" b="0">
                          <a:solidFill>
                            <a:srgbClr val="333F50"/>
                          </a:solidFill>
                          <a:latin typeface="Montserrat"/>
                        </a:rPr>
                        <a:t>[Reviewer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333F50"/>
                          </a:solidFill>
                          <a:latin typeface="Montserrat"/>
                        </a:rPr>
                        <a:t>Reviewer</a:t>
                      </a:r>
                    </a:p>
                  </a:txBody>
                  <a:tcPr/>
                </a:tc>
                <a:tc>
                  <a:txBody>
                    <a:bodyPr/>
                    <a:lstStyle/>
                    <a:p>
                      <a:pPr algn="l"/>
                      <a:r>
                        <a:rPr sz="1000" b="0">
                          <a:solidFill>
                            <a:srgbClr val="333F50"/>
                          </a:solidFill>
                          <a:latin typeface="Montserrat"/>
                        </a:rPr>
                        <a:t>[Reviewer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333F50"/>
                          </a:solidFill>
                          <a:latin typeface="Montserrat"/>
                        </a:rPr>
                        <a:t>Examiner</a:t>
                      </a:r>
                    </a:p>
                  </a:txBody>
                  <a:tcPr/>
                </a:tc>
                <a:tc>
                  <a:txBody>
                    <a:bodyPr/>
                    <a:lstStyle/>
                    <a:p>
                      <a:pPr algn="l"/>
                      <a:r>
                        <a:rPr sz="1000" b="0">
                          <a:solidFill>
                            <a:srgbClr val="333F50"/>
                          </a:solidFill>
                          <a:latin typeface="Montserrat"/>
                        </a:rPr>
                        <a:t>[Examiner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333F50"/>
                          </a:solidFill>
                          <a:latin typeface="Montserrat"/>
                        </a:rPr>
                        <a:t>Examiner</a:t>
                      </a:r>
                    </a:p>
                  </a:txBody>
                  <a:tcPr/>
                </a:tc>
                <a:tc>
                  <a:txBody>
                    <a:bodyPr/>
                    <a:lstStyle/>
                    <a:p>
                      <a:pPr algn="l"/>
                      <a:r>
                        <a:rPr sz="1000" b="0">
                          <a:solidFill>
                            <a:srgbClr val="333F50"/>
                          </a:solidFill>
                          <a:latin typeface="Montserrat"/>
                        </a:rPr>
                        <a:t>[Examiner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333F50"/>
                          </a:solidFill>
                          <a:latin typeface="Montserrat"/>
                        </a:rPr>
                        <a:t>Examiner</a:t>
                      </a:r>
                    </a:p>
                  </a:txBody>
                  <a:tcPr/>
                </a:tc>
                <a:tc>
                  <a:txBody>
                    <a:bodyPr/>
                    <a:lstStyle/>
                    <a:p>
                      <a:pPr algn="l"/>
                      <a:r>
                        <a:rPr sz="1000" b="0">
                          <a:solidFill>
                            <a:srgbClr val="333F50"/>
                          </a:solidFill>
                          <a:latin typeface="Montserrat"/>
                        </a:rPr>
                        <a:t>[Examiner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333F50"/>
                          </a:solidFill>
                          <a:latin typeface="Montserrat"/>
                        </a:rPr>
                        <a:t>Guest</a:t>
                      </a:r>
                    </a:p>
                  </a:txBody>
                  <a:tcPr/>
                </a:tc>
                <a:tc>
                  <a:txBody>
                    <a:bodyPr/>
                    <a:lstStyle/>
                    <a:p>
                      <a:pPr algn="l"/>
                      <a:r>
                        <a:rPr sz="1000" b="0">
                          <a:solidFill>
                            <a:srgbClr val="333F50"/>
                          </a:solidFill>
                          <a:latin typeface="Montserrat"/>
                        </a:rPr>
                        <a:t>[Guest to complete]</a:t>
                      </a:r>
                    </a:p>
                  </a:txBody>
                  <a:tcPr/>
                </a:tc>
                <a:tc>
                  <a:txBody>
                    <a:bodyPr/>
                    <a:lstStyle/>
                    <a:p>
                      <a:pPr algn="ctr"/>
                    </a:p>
                  </a:txBody>
                  <a:tcPr/>
                </a:tc>
                <a:tc>
                  <a:txBody>
                    <a:bodyPr/>
                    <a:lstStyle/>
                    <a:p>
                      <a:pPr algn="ctr"/>
                      <a:r>
                        <a:rPr sz="1000" b="0">
                          <a:solidFill>
                            <a:srgbClr val="333F50"/>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Central Question</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General Context</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D2222A"/>
                </a:solidFill>
                <a:latin typeface="Montserrat Medium"/>
              </a:rPr>
              <a:t>Core tension: as models gain expressive power, they lose the transparency needed for trustworthy deployment.</a:t>
            </a:r>
          </a:p>
        </p:txBody>
      </p:sp>
      <p:pic>
        <p:nvPicPr>
          <p:cNvPr id="66" name="Picture 6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Definition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Why it matters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Definition 1.1 (Actionable insight)</a:t>
            </a:r>
          </a:p>
          <a:p>
            <a:pPr lvl="1">
              <a:lnSpc>
                <a:spcPct val="105000"/>
              </a:lnSpc>
              <a:spcAft>
                <a:spcPts val="600"/>
              </a:spcAft>
            </a:pPr>
            <a:r>
              <a:rPr sz="1600">
                <a:solidFill>
                  <a:srgbClr val="D2222A"/>
                </a:solidFill>
                <a:latin typeface="Montserrat"/>
              </a:rPr>
              <a:t>–  </a:t>
            </a:r>
            <a:r>
              <a:rPr sz="1600" b="0">
                <a:solidFill>
                  <a:srgbClr val="333F50"/>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D2222A"/>
                </a:solidFill>
                <a:latin typeface="Montserrat"/>
              </a:rPr>
              <a:t>–  </a:t>
            </a:r>
            <a:r>
              <a:rPr sz="1600" b="0">
                <a:solidFill>
                  <a:srgbClr val="333F50"/>
                </a:solidFill>
                <a:latin typeface="Montserrat"/>
              </a:rPr>
              <a:t>… and that factor is expressible in the semantic vocabulary of the task domain.</a:t>
            </a:r>
          </a:p>
          <a:p>
            <a:pPr>
              <a:lnSpc>
                <a:spcPct val="105000"/>
              </a:lnSpc>
              <a:spcAft>
                <a:spcPts val="900"/>
              </a:spcAft>
            </a:pPr>
            <a:r>
              <a:rPr sz="1700">
                <a:solidFill>
                  <a:srgbClr val="D2222A"/>
                </a:solidFill>
                <a:latin typeface="Wingdings"/>
              </a:rPr>
              <a:t>§  </a:t>
            </a:r>
            <a:r>
              <a:rPr sz="1700" b="0">
                <a:solidFill>
                  <a:srgbClr val="333F50"/>
                </a:solidFill>
                <a:latin typeface="Montserrat"/>
              </a:rPr>
              <a:t>Accessibility means the domain's own terms:</a:t>
            </a:r>
          </a:p>
          <a:p>
            <a:pPr lvl="1">
              <a:lnSpc>
                <a:spcPct val="105000"/>
              </a:lnSpc>
              <a:spcAft>
                <a:spcPts val="600"/>
              </a:spcAft>
            </a:pPr>
            <a:r>
              <a:rPr sz="1600">
                <a:solidFill>
                  <a:srgbClr val="D2222A"/>
                </a:solidFill>
                <a:latin typeface="Montserrat"/>
              </a:rPr>
              <a:t>–  </a:t>
            </a:r>
            <a:r>
              <a:rPr sz="1600" b="0">
                <a:solidFill>
                  <a:srgbClr val="333F50"/>
                </a:solidFill>
                <a:latin typeface="Montserrat"/>
              </a:rPr>
              <a:t>a physicochemical variable (wine), a pollution indicator (air quality), or a preference signal (recommendation).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not an opaque latent code.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Why: an explanation that identifies a modifiable driver supports intervention, not merely description.</a:t>
            </a:r>
          </a:p>
        </p:txBody>
      </p:sp>
      <p:pic>
        <p:nvPicPr>
          <p:cNvPr id="56" name="Picture 55"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Overview</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Evolution</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Why it matters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D2222A"/>
                </a:solidFill>
                <a:latin typeface="Montserrat"/>
              </a:rPr>
              <a:t>–  </a:t>
            </a:r>
            <a:r>
              <a:rPr sz="1600" b="0">
                <a:solidFill>
                  <a:srgbClr val="333F50"/>
                </a:solidFill>
                <a:latin typeface="Montserrat"/>
              </a:rPr>
              <a:t>→ MF → neural CF → graph CNNs → hypergraph: each step improved ranking but intensified the interpretability deficit.</a:t>
            </a:r>
          </a:p>
          <a:p>
            <a:pPr>
              <a:lnSpc>
                <a:spcPct val="105000"/>
              </a:lnSpc>
              <a:spcAft>
                <a:spcPts val="900"/>
              </a:spcAft>
            </a:pPr>
            <a:r>
              <a:rPr sz="1700">
                <a:solidFill>
                  <a:srgbClr val="D2222A"/>
                </a:solidFill>
                <a:latin typeface="Wingdings"/>
              </a:rPr>
              <a:t>§  </a:t>
            </a:r>
            <a:r>
              <a:rPr sz="1700" b="0">
                <a:solidFill>
                  <a:srgbClr val="333F50"/>
                </a:solidFill>
                <a:latin typeface="Montserrat"/>
              </a:rPr>
              <a:t>Why the deficit matters:</a:t>
            </a:r>
          </a:p>
          <a:p>
            <a:pPr lvl="1">
              <a:lnSpc>
                <a:spcPct val="105000"/>
              </a:lnSpc>
              <a:spcAft>
                <a:spcPts val="600"/>
              </a:spcAft>
            </a:pPr>
            <a:r>
              <a:rPr sz="1600">
                <a:solidFill>
                  <a:srgbClr val="D2222A"/>
                </a:solidFill>
                <a:latin typeface="Montserrat"/>
              </a:rPr>
              <a:t>–  </a:t>
            </a:r>
            <a:r>
              <a:rPr sz="1600" b="0">
                <a:solidFill>
                  <a:srgbClr val="333F50"/>
                </a:solidFill>
                <a:latin typeface="Montserrat"/>
              </a:rPr>
              <a:t>Undermines user trust.</a:t>
            </a:r>
          </a:p>
          <a:p>
            <a:pPr lvl="1">
              <a:lnSpc>
                <a:spcPct val="105000"/>
              </a:lnSpc>
              <a:spcAft>
                <a:spcPts val="600"/>
              </a:spcAft>
            </a:pPr>
            <a:r>
              <a:rPr sz="1600">
                <a:solidFill>
                  <a:srgbClr val="D2222A"/>
                </a:solidFill>
                <a:latin typeface="Montserrat"/>
              </a:rPr>
              <a:t>–  </a:t>
            </a:r>
            <a:r>
              <a:rPr sz="1600" b="0">
                <a:solidFill>
                  <a:srgbClr val="333F50"/>
                </a:solidFill>
                <a:latin typeface="Montserrat"/>
              </a:rPr>
              <a:t>Constrains debugging and scientific learning.</a:t>
            </a:r>
          </a:p>
          <a:p>
            <a:pPr lvl="1">
              <a:lnSpc>
                <a:spcPct val="105000"/>
              </a:lnSpc>
              <a:spcAft>
                <a:spcPts val="600"/>
              </a:spcAft>
            </a:pPr>
            <a:r>
              <a:rPr sz="1600">
                <a:solidFill>
                  <a:srgbClr val="D2222A"/>
                </a:solidFill>
                <a:latin typeface="Montserrat"/>
              </a:rPr>
              <a:t>–  </a:t>
            </a:r>
            <a:r>
              <a:rPr sz="1600" b="0">
                <a:solidFill>
                  <a:srgbClr val="333F50"/>
                </a:solidFill>
                <a:latin typeface="Montserrat"/>
              </a:rPr>
              <a:t>Collides with regulatory expectations (EU AI Act, OECD principles, GDPR).</a:t>
            </a:r>
          </a:p>
        </p:txBody>
      </p:sp>
      <p:pic>
        <p:nvPicPr>
          <p:cNvPr id="56" name="Picture 55"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Gap</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Collaborative filtering – users who behaved similarly will value similar items (user-/item-based).</a:t>
            </a:r>
          </a:p>
          <a:p>
            <a:pPr>
              <a:lnSpc>
                <a:spcPct val="105000"/>
              </a:lnSpc>
              <a:spcAft>
                <a:spcPts val="900"/>
              </a:spcAft>
            </a:pPr>
            <a:r>
              <a:rPr sz="1700">
                <a:solidFill>
                  <a:srgbClr val="D2222A"/>
                </a:solidFill>
                <a:latin typeface="Wingdings"/>
              </a:rPr>
              <a:t>§  </a:t>
            </a:r>
            <a:r>
              <a:rPr sz="1700" b="0">
                <a:solidFill>
                  <a:srgbClr val="333F50"/>
                </a:solidFill>
                <a:latin typeface="Montserrat"/>
              </a:rPr>
              <a:t>Content-based – recommends items sharing attributes with a user profile.</a:t>
            </a:r>
          </a:p>
          <a:p>
            <a:pPr>
              <a:lnSpc>
                <a:spcPct val="105000"/>
              </a:lnSpc>
              <a:spcAft>
                <a:spcPts val="900"/>
              </a:spcAft>
            </a:pPr>
            <a:r>
              <a:rPr sz="1700">
                <a:solidFill>
                  <a:srgbClr val="D2222A"/>
                </a:solidFill>
                <a:latin typeface="Wingdings"/>
              </a:rPr>
              <a:t>§  </a:t>
            </a:r>
            <a:r>
              <a:rPr sz="1700" b="0">
                <a:solidFill>
                  <a:srgbClr val="333F50"/>
                </a:solidFill>
                <a:latin typeface="Montserrat"/>
              </a:rPr>
              <a:t>Hybrid – combines collaborative and content signals.</a:t>
            </a:r>
          </a:p>
          <a:p>
            <a:pPr>
              <a:lnSpc>
                <a:spcPct val="105000"/>
              </a:lnSpc>
              <a:spcAft>
                <a:spcPts val="900"/>
              </a:spcAft>
            </a:pPr>
            <a:r>
              <a:rPr sz="1700">
                <a:solidFill>
                  <a:srgbClr val="D2222A"/>
                </a:solidFill>
                <a:latin typeface="Wingdings"/>
              </a:rPr>
              <a:t>§  </a:t>
            </a:r>
            <a:r>
              <a:rPr sz="1700" b="0">
                <a:solidFill>
                  <a:srgbClr val="333F50"/>
                </a:solidFill>
                <a:latin typeface="Montserrat"/>
              </a:rPr>
              <a:t>Matrix factorisation – R ≈ PQᵀ: compact but opaque latent factors.</a:t>
            </a:r>
          </a:p>
          <a:p>
            <a:pPr>
              <a:lnSpc>
                <a:spcPct val="105000"/>
              </a:lnSpc>
              <a:spcAft>
                <a:spcPts val="900"/>
              </a:spcAft>
            </a:pPr>
            <a:r>
              <a:rPr sz="1700">
                <a:solidFill>
                  <a:srgbClr val="D2222A"/>
                </a:solidFill>
                <a:latin typeface="Wingdings"/>
              </a:rPr>
              <a:t>§  </a:t>
            </a:r>
            <a:r>
              <a:rPr sz="1700" b="0">
                <a:solidFill>
                  <a:srgbClr val="333F50"/>
                </a:solidFill>
                <a:latin typeface="Montserrat"/>
              </a:rPr>
              <a:t>Graph-based – interaction graph with neighbourhood propagation (LightGCN, hypergraph).</a:t>
            </a:r>
          </a:p>
        </p:txBody>
      </p:sp>
      <p:pic>
        <p:nvPicPr>
          <p:cNvPr id="56" name="Picture 55"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 &amp; scale</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Interpretability</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The gap</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Data sparsity &amp; scalability – the user–item matrix is overwhelmingly empty.</a:t>
            </a:r>
          </a:p>
          <a:p>
            <a:pPr>
              <a:lnSpc>
                <a:spcPct val="105000"/>
              </a:lnSpc>
              <a:spcAft>
                <a:spcPts val="900"/>
              </a:spcAft>
            </a:pPr>
            <a:r>
              <a:rPr sz="1700">
                <a:solidFill>
                  <a:srgbClr val="D2222A"/>
                </a:solidFill>
                <a:latin typeface="Wingdings"/>
              </a:rPr>
              <a:t>§  </a:t>
            </a:r>
            <a:r>
              <a:rPr sz="1700" b="0">
                <a:solidFill>
                  <a:srgbClr val="333F50"/>
                </a:solidFill>
                <a:latin typeface="Montserrat"/>
              </a:rPr>
              <a:t>Cold-start – new users and items are structurally disadvantaged.</a:t>
            </a:r>
          </a:p>
          <a:p>
            <a:pPr>
              <a:lnSpc>
                <a:spcPct val="105000"/>
              </a:lnSpc>
              <a:spcAft>
                <a:spcPts val="900"/>
              </a:spcAft>
            </a:pPr>
            <a:r>
              <a:rPr sz="1700">
                <a:solidFill>
                  <a:srgbClr val="D2222A"/>
                </a:solidFill>
                <a:latin typeface="Wingdings"/>
              </a:rPr>
              <a:t>§  </a:t>
            </a:r>
            <a:r>
              <a:rPr sz="1700" b="0">
                <a:solidFill>
                  <a:srgbClr val="333F50"/>
                </a:solidFill>
                <a:latin typeface="Montserrat"/>
              </a:rPr>
              <a:t>Popularity bias &amp; lack of diversity – exposure begets interaction, begets exposure.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Absence of interpretability – the most fundamental limit.</a:t>
            </a:r>
          </a:p>
          <a:p>
            <a:pPr lvl="1">
              <a:lnSpc>
                <a:spcPct val="105000"/>
              </a:lnSpc>
              <a:spcAft>
                <a:spcPts val="600"/>
              </a:spcAft>
            </a:pPr>
            <a:r>
              <a:rPr sz="1600">
                <a:solidFill>
                  <a:srgbClr val="D2222A"/>
                </a:solidFill>
                <a:latin typeface="Montserrat"/>
              </a:rPr>
              <a:t>–  </a:t>
            </a:r>
            <a:r>
              <a:rPr sz="1600" b="0">
                <a:solidFill>
                  <a:srgbClr val="333F50"/>
                </a:solidFill>
                <a:latin typeface="Montserrat"/>
              </a:rPr>
              <a:t>For clustering: methods favour local OR global explanation, not both.</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L1</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L2</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L3</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1. Lack of explainability – complex models remain hard to interpret faithfully and actionably.</a:t>
            </a:r>
          </a:p>
          <a:p>
            <a:pPr>
              <a:lnSpc>
                <a:spcPct val="105000"/>
              </a:lnSpc>
              <a:spcAft>
                <a:spcPts val="900"/>
              </a:spcAft>
            </a:pPr>
            <a:r>
              <a:rPr sz="1700">
                <a:solidFill>
                  <a:srgbClr val="D2222A"/>
                </a:solidFill>
                <a:latin typeface="Wingdings"/>
              </a:rPr>
              <a:t>§  </a:t>
            </a:r>
            <a:r>
              <a:rPr sz="1700" b="1">
                <a:solidFill>
                  <a:srgbClr val="333F50"/>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D2222A"/>
                </a:solidFill>
                <a:latin typeface="Wingdings"/>
              </a:rPr>
              <a:t>§  </a:t>
            </a:r>
            <a:r>
              <a:rPr sz="1700" b="1">
                <a:solidFill>
                  <a:srgbClr val="333F50"/>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D2222A"/>
                </a:solidFill>
                <a:latin typeface="Montserrat"/>
              </a:rPr>
              <a:t>–  </a:t>
            </a:r>
            <a:r>
              <a:rPr sz="1600" b="1">
                <a:solidFill>
                  <a:srgbClr val="333F50"/>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Aim</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RQ1</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RQ2</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D2222A"/>
                </a:solidFill>
                <a:latin typeface="Wingdings"/>
              </a:rPr>
              <a:t>§  </a:t>
            </a:r>
            <a:r>
              <a:rPr sz="1700" b="0">
                <a:solidFill>
                  <a:srgbClr val="333F50"/>
                </a:solidFill>
                <a:latin typeface="Montserrat"/>
              </a:rPr>
              <a:t>RQ1 · How can Shapley values explain black-box clustering faithfully at instance and cluster level?</a:t>
            </a:r>
          </a:p>
          <a:p>
            <a:pPr>
              <a:lnSpc>
                <a:spcPct val="105000"/>
              </a:lnSpc>
              <a:spcAft>
                <a:spcPts val="900"/>
              </a:spcAft>
            </a:pPr>
            <a:r>
              <a:rPr sz="1700">
                <a:solidFill>
                  <a:srgbClr val="D2222A"/>
                </a:solidFill>
                <a:latin typeface="Wingdings"/>
              </a:rPr>
              <a:t>§  </a:t>
            </a:r>
            <a:r>
              <a:rPr sz="1700" b="0">
                <a:solidFill>
                  <a:srgbClr val="333F50"/>
                </a:solidFill>
                <a:latin typeface="Montserrat"/>
              </a:rPr>
              <a:t>RQ2 · How can this extend to large-scale, hierarchical clustering without losing tractability or consistency?</a:t>
            </a:r>
          </a:p>
          <a:p>
            <a:pPr>
              <a:lnSpc>
                <a:spcPct val="105000"/>
              </a:lnSpc>
              <a:spcAft>
                <a:spcPts val="900"/>
              </a:spcAft>
            </a:pPr>
            <a:r>
              <a:rPr sz="1700">
                <a:solidFill>
                  <a:srgbClr val="D2222A"/>
                </a:solidFill>
                <a:latin typeface="Wingdings"/>
              </a:rPr>
              <a:t>§  </a:t>
            </a:r>
            <a:r>
              <a:rPr sz="1700" b="0">
                <a:solidFill>
                  <a:srgbClr val="333F50"/>
                </a:solidFill>
                <a:latin typeface="Montserrat"/>
              </a:rPr>
              <a:t>RQ3 · Can cooperative attribution move beyond post-hoc and enter the learning dynamics of graph recommenders?</a:t>
            </a:r>
          </a:p>
          <a:p>
            <a:pPr>
              <a:lnSpc>
                <a:spcPct val="105000"/>
              </a:lnSpc>
              <a:spcAft>
                <a:spcPts val="900"/>
              </a:spcAft>
            </a:pPr>
            <a:r>
              <a:rPr sz="1700">
                <a:solidFill>
                  <a:srgbClr val="D2222A"/>
                </a:solidFill>
                <a:latin typeface="Wingdings"/>
              </a:rPr>
              <a:t>§  </a:t>
            </a:r>
            <a:r>
              <a:rPr sz="1700" b="0">
                <a:solidFill>
                  <a:srgbClr val="333F50"/>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D2222A"/>
                </a:solidFill>
                <a:latin typeface="Wingdings"/>
              </a:rPr>
              <a:t>§  </a:t>
            </a:r>
            <a:r>
              <a:rPr sz="1700" b="0">
                <a:solidFill>
                  <a:srgbClr val="333F50"/>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C1</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C2</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C3</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C1 – Explainable black-box clustering: PCA–K-Means–LightGBM–TreeSHAP pipeline.</a:t>
            </a:r>
          </a:p>
          <a:p>
            <a:pPr lvl="1">
              <a:lnSpc>
                <a:spcPct val="105000"/>
              </a:lnSpc>
              <a:spcAft>
                <a:spcPts val="600"/>
              </a:spcAft>
            </a:pPr>
            <a:r>
              <a:rPr sz="1600">
                <a:solidFill>
                  <a:srgbClr val="D2222A"/>
                </a:solidFill>
                <a:latin typeface="Montserrat"/>
              </a:rPr>
              <a:t>–  </a:t>
            </a:r>
            <a:r>
              <a:rPr sz="1600" b="0">
                <a:solidFill>
                  <a:srgbClr val="333F50"/>
                </a:solidFill>
                <a:latin typeface="Montserrat"/>
              </a:rPr>
              <a:t>→ Wine Quality: faithful instance- and cluster-level feature attribution.</a:t>
            </a:r>
          </a:p>
          <a:p>
            <a:pPr>
              <a:lnSpc>
                <a:spcPct val="105000"/>
              </a:lnSpc>
              <a:spcAft>
                <a:spcPts val="900"/>
              </a:spcAft>
            </a:pPr>
            <a:r>
              <a:rPr sz="1700">
                <a:solidFill>
                  <a:srgbClr val="D2222A"/>
                </a:solidFill>
                <a:latin typeface="Wingdings"/>
              </a:rPr>
              <a:t>§  </a:t>
            </a:r>
            <a:r>
              <a:rPr sz="1700" b="1">
                <a:solidFill>
                  <a:srgbClr val="333F50"/>
                </a:solidFill>
                <a:latin typeface="Montserrat Medium"/>
              </a:rPr>
              <a:t>C2 – Enhanced multi-level XAI for large-scale clustering with cross-level SHAP aggregation.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 Beijing Air Quality: hierarchical attribution consistency under scale.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C3 – DyHuCoG: Dynamic Hypergraph Cooperative Game for preference-aware recommendation.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 MovieLens-1M &amp; Amazon-Book: preference-aware Monte Carlo Shapley as an in-training signal.</a:t>
            </a:r>
          </a:p>
          <a:p>
            <a:pPr lvl="1">
              <a:lnSpc>
                <a:spcPct val="105000"/>
              </a:lnSpc>
              <a:spcAft>
                <a:spcPts val="600"/>
              </a:spcAft>
            </a:pPr>
            <a:r>
              <a:rPr sz="1600">
                <a:solidFill>
                  <a:srgbClr val="D2222A"/>
                </a:solidFill>
                <a:latin typeface="Montserrat"/>
              </a:rPr>
              <a:t>–  </a:t>
            </a:r>
            <a:r>
              <a:rPr sz="1600" b="1">
                <a:solidFill>
                  <a:srgbClr val="333F50"/>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Type</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Role</a:t>
            </a:r>
          </a:p>
        </p:txBody>
      </p:sp>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D2222A"/>
                    </a:solidFill>
                  </a:tcPr>
                </a:tc>
                <a:tc>
                  <a:txBody>
                    <a:bodyPr/>
                    <a:lstStyle/>
                    <a:p>
                      <a:pPr algn="ctr"/>
                      <a:r>
                        <a:rPr sz="1200" b="1">
                          <a:solidFill>
                            <a:srgbClr val="FFFFFF"/>
                          </a:solidFill>
                          <a:latin typeface="Montserrat Medium"/>
                        </a:rPr>
                        <a:t>Scale</a:t>
                      </a:r>
                    </a:p>
                  </a:txBody>
                  <a:tcPr anchor="ctr" marL="54864" marR="54864" marT="18288" marB="18288">
                    <a:solidFill>
                      <a:srgbClr val="D2222A"/>
                    </a:solidFill>
                  </a:tcPr>
                </a:tc>
                <a:tc>
                  <a:txBody>
                    <a:bodyPr/>
                    <a:lstStyle/>
                    <a:p>
                      <a:pPr algn="ctr"/>
                      <a:r>
                        <a:rPr sz="1200" b="1">
                          <a:solidFill>
                            <a:srgbClr val="FFFFFF"/>
                          </a:solidFill>
                          <a:latin typeface="Montserrat Medium"/>
                        </a:rPr>
                        <a:t>Type</a:t>
                      </a:r>
                    </a:p>
                  </a:txBody>
                  <a:tcPr anchor="ctr" marL="54864" marR="54864" marT="18288" marB="18288">
                    <a:solidFill>
                      <a:srgbClr val="D2222A"/>
                    </a:solidFill>
                  </a:tcPr>
                </a:tc>
                <a:tc>
                  <a:txBody>
                    <a:bodyPr/>
                    <a:lstStyle/>
                    <a:p>
                      <a:pPr algn="ctr"/>
                      <a:r>
                        <a:rPr sz="1200" b="1">
                          <a:solidFill>
                            <a:srgbClr val="FFFFFF"/>
                          </a:solidFill>
                          <a:latin typeface="Montserrat Medium"/>
                        </a:rPr>
                        <a:t>Role</a:t>
                      </a:r>
                    </a:p>
                  </a:txBody>
                  <a:tcPr anchor="ctr" marL="54864" marR="54864" marT="18288" marB="18288">
                    <a:solidFill>
                      <a:srgbClr val="D2222A"/>
                    </a:solidFill>
                  </a:tcPr>
                </a:tc>
              </a:tr>
              <a:tr h="713232">
                <a:tc>
                  <a:txBody>
                    <a:bodyPr/>
                    <a:lstStyle/>
                    <a:p>
                      <a:pPr algn="l"/>
                      <a:r>
                        <a:rPr sz="1200" b="0">
                          <a:solidFill>
                            <a:srgbClr val="333F50"/>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333F50"/>
                          </a:solidFill>
                          <a:latin typeface="Montserrat"/>
                        </a:rPr>
                        <a:t>4,898 × 11</a:t>
                      </a:r>
                    </a:p>
                  </a:txBody>
                  <a:tcPr anchor="ctr" marL="54864" marR="54864" marT="18288" marB="18288">
                    <a:solidFill>
                      <a:srgbClr val="FFFFFF"/>
                    </a:solidFill>
                  </a:tcPr>
                </a:tc>
                <a:tc>
                  <a:txBody>
                    <a:bodyPr/>
                    <a:lstStyle/>
                    <a:p>
                      <a:pPr algn="ctr"/>
                      <a:r>
                        <a:rPr sz="1200" b="0">
                          <a:solidFill>
                            <a:srgbClr val="333F50"/>
                          </a:solidFill>
                          <a:latin typeface="Montserrat"/>
                        </a:rPr>
                        <a:t>Tabular, numeric</a:t>
                      </a:r>
                    </a:p>
                  </a:txBody>
                  <a:tcPr anchor="ctr" marL="54864" marR="54864" marT="18288" marB="18288">
                    <a:solidFill>
                      <a:srgbClr val="FFFFFF"/>
                    </a:solidFill>
                  </a:tcPr>
                </a:tc>
                <a:tc>
                  <a:txBody>
                    <a:bodyPr/>
                    <a:lstStyle/>
                    <a:p>
                      <a:pPr algn="ctr"/>
                      <a:r>
                        <a:rPr sz="1200" b="0">
                          <a:solidFill>
                            <a:srgbClr val="333F50"/>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333F50"/>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333F50"/>
                          </a:solidFill>
                          <a:latin typeface="Montserrat"/>
                        </a:rPr>
                        <a:t>383,585 × 11</a:t>
                      </a:r>
                    </a:p>
                  </a:txBody>
                  <a:tcPr anchor="ctr" marL="54864" marR="54864" marT="18288" marB="18288">
                    <a:solidFill>
                      <a:srgbClr val="F0F4FB"/>
                    </a:solidFill>
                  </a:tcPr>
                </a:tc>
                <a:tc>
                  <a:txBody>
                    <a:bodyPr/>
                    <a:lstStyle/>
                    <a:p>
                      <a:pPr algn="ctr"/>
                      <a:r>
                        <a:rPr sz="1200" b="0">
                          <a:solidFill>
                            <a:srgbClr val="333F50"/>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333F50"/>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333F50"/>
                          </a:solidFill>
                          <a:latin typeface="Montserrat"/>
                        </a:rPr>
                        <a:t>MovieLens-1M</a:t>
                      </a:r>
                    </a:p>
                  </a:txBody>
                  <a:tcPr anchor="ctr" marL="54864" marR="54864" marT="18288" marB="18288">
                    <a:solidFill>
                      <a:srgbClr val="FFFFFF"/>
                    </a:solidFill>
                  </a:tcPr>
                </a:tc>
                <a:tc>
                  <a:txBody>
                    <a:bodyPr/>
                    <a:lstStyle/>
                    <a:p>
                      <a:pPr algn="ctr"/>
                      <a:r>
                        <a:rPr sz="1200" b="0">
                          <a:solidFill>
                            <a:srgbClr val="333F50"/>
                          </a:solidFill>
                          <a:latin typeface="Montserrat"/>
                        </a:rPr>
                        <a:t>6,040 u / 3,706 i / 1.0M int</a:t>
                      </a:r>
                    </a:p>
                  </a:txBody>
                  <a:tcPr anchor="ctr" marL="54864" marR="54864" marT="18288" marB="18288">
                    <a:solidFill>
                      <a:srgbClr val="FFFFFF"/>
                    </a:solidFill>
                  </a:tcPr>
                </a:tc>
                <a:tc>
                  <a:txBody>
                    <a:bodyPr/>
                    <a:lstStyle/>
                    <a:p>
                      <a:pPr algn="ctr"/>
                      <a:r>
                        <a:rPr sz="1200" b="0">
                          <a:solidFill>
                            <a:srgbClr val="333F50"/>
                          </a:solidFill>
                          <a:latin typeface="Montserrat"/>
                        </a:rPr>
                        <a:t>Implicit feedback (0.0447)</a:t>
                      </a:r>
                    </a:p>
                  </a:txBody>
                  <a:tcPr anchor="ctr" marL="54864" marR="54864" marT="18288" marB="18288">
                    <a:solidFill>
                      <a:srgbClr val="FFFFFF"/>
                    </a:solidFill>
                  </a:tcPr>
                </a:tc>
                <a:tc>
                  <a:txBody>
                    <a:bodyPr/>
                    <a:lstStyle/>
                    <a:p>
                      <a:pPr algn="ctr"/>
                      <a:r>
                        <a:rPr sz="1200" b="0">
                          <a:solidFill>
                            <a:srgbClr val="333F50"/>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333F50"/>
                          </a:solidFill>
                          <a:latin typeface="Montserrat"/>
                        </a:rPr>
                        <a:t>Amazon-Book</a:t>
                      </a:r>
                    </a:p>
                  </a:txBody>
                  <a:tcPr anchor="ctr" marL="54864" marR="54864" marT="18288" marB="18288">
                    <a:solidFill>
                      <a:srgbClr val="F0F4FB"/>
                    </a:solidFill>
                  </a:tcPr>
                </a:tc>
                <a:tc>
                  <a:txBody>
                    <a:bodyPr/>
                    <a:lstStyle/>
                    <a:p>
                      <a:pPr algn="ctr"/>
                      <a:r>
                        <a:rPr sz="1200" b="0">
                          <a:solidFill>
                            <a:srgbClr val="333F50"/>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333F50"/>
                          </a:solidFill>
                          <a:latin typeface="Montserrat"/>
                        </a:rPr>
                        <a:t>Implicit feedback (0.0006)</a:t>
                      </a:r>
                    </a:p>
                  </a:txBody>
                  <a:tcPr anchor="ctr" marL="54864" marR="54864" marT="18288" marB="18288">
                    <a:solidFill>
                      <a:srgbClr val="F0F4FB"/>
                    </a:solidFill>
                  </a:tcPr>
                </a:tc>
                <a:tc>
                  <a:txBody>
                    <a:bodyPr/>
                    <a:lstStyle/>
                    <a:p>
                      <a:pPr algn="ctr"/>
                      <a:r>
                        <a:rPr sz="1200" b="0">
                          <a:solidFill>
                            <a:srgbClr val="333F50"/>
                          </a:solidFill>
                          <a:latin typeface="Montserrat"/>
                        </a:rPr>
                        <a:t>C3 – DyHuCoG</a:t>
                      </a:r>
                    </a:p>
                  </a:txBody>
                  <a:tcPr anchor="ctr" marL="54864" marR="54864" marT="18288" marB="18288">
                    <a:solidFill>
                      <a:srgbClr val="F0F4FB"/>
                    </a:solidFill>
                  </a:tcPr>
                </a:tc>
              </a:tr>
            </a:tbl>
          </a:graphicData>
        </a:graphic>
      </p:graphicFrame>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Clustering</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Recommendation</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Reproducibility</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Clustering: five-fold cross-validation for surrogate/attribution stability.</a:t>
            </a:r>
          </a:p>
          <a:p>
            <a:pPr>
              <a:lnSpc>
                <a:spcPct val="105000"/>
              </a:lnSpc>
              <a:spcAft>
                <a:spcPts val="900"/>
              </a:spcAft>
            </a:pPr>
            <a:r>
              <a:rPr sz="1700">
                <a:solidFill>
                  <a:srgbClr val="D2222A"/>
                </a:solidFill>
                <a:latin typeface="Wingdings"/>
              </a:rPr>
              <a:t>§  </a:t>
            </a:r>
            <a:r>
              <a:rPr sz="1700" b="0">
                <a:solidFill>
                  <a:srgbClr val="333F50"/>
                </a:solidFill>
                <a:latin typeface="Montserrat"/>
              </a:rPr>
              <a:t>Recommendation: user-level, temporal split — 70% train / 10% val / 20% test.</a:t>
            </a:r>
          </a:p>
          <a:p>
            <a:pPr>
              <a:lnSpc>
                <a:spcPct val="105000"/>
              </a:lnSpc>
              <a:spcAft>
                <a:spcPts val="900"/>
              </a:spcAft>
            </a:pPr>
            <a:r>
              <a:rPr sz="1700">
                <a:solidFill>
                  <a:srgbClr val="D2222A"/>
                </a:solidFill>
                <a:latin typeface="Wingdings"/>
              </a:rPr>
              <a:t>§  </a:t>
            </a:r>
            <a:r>
              <a:rPr sz="1700" b="0">
                <a:solidFill>
                  <a:srgbClr val="333F50"/>
                </a:solidFill>
                <a:latin typeface="Montserrat"/>
              </a:rPr>
              <a:t>Leave-one-out: the latest test positive per user is the target, ranked against negatives.</a:t>
            </a:r>
          </a:p>
          <a:p>
            <a:pPr>
              <a:lnSpc>
                <a:spcPct val="105000"/>
              </a:lnSpc>
              <a:spcAft>
                <a:spcPts val="900"/>
              </a:spcAft>
            </a:pPr>
            <a:r>
              <a:rPr sz="1700">
                <a:solidFill>
                  <a:srgbClr val="D2222A"/>
                </a:solidFill>
                <a:latin typeface="Wingdings"/>
              </a:rPr>
              <a:t>§  </a:t>
            </a:r>
            <a:r>
              <a:rPr sz="1700" b="0">
                <a:solidFill>
                  <a:srgbClr val="333F50"/>
                </a:solidFill>
                <a:latin typeface="Montserrat"/>
              </a:rPr>
              <a:t>Implicit conversion: MovieLens-1M ratings &gt; 3 treated as positive.</a:t>
            </a:r>
          </a:p>
          <a:p>
            <a:pPr>
              <a:lnSpc>
                <a:spcPct val="105000"/>
              </a:lnSpc>
              <a:spcAft>
                <a:spcPts val="900"/>
              </a:spcAft>
            </a:pPr>
            <a:r>
              <a:rPr sz="1700">
                <a:solidFill>
                  <a:srgbClr val="D2222A"/>
                </a:solidFill>
                <a:latin typeface="Wingdings"/>
              </a:rPr>
              <a:t>§  </a:t>
            </a:r>
            <a:r>
              <a:rPr sz="1700" b="0">
                <a:solidFill>
                  <a:srgbClr val="333F50"/>
                </a:solidFill>
                <a:latin typeface="Montserrat"/>
              </a:rPr>
              <a:t>Popularity-aware negative sampling: q(i) ∝ f_i^η for harder contrasts.</a:t>
            </a:r>
          </a:p>
          <a:p>
            <a:pPr>
              <a:lnSpc>
                <a:spcPct val="105000"/>
              </a:lnSpc>
              <a:spcAft>
                <a:spcPts val="900"/>
              </a:spcAft>
            </a:pPr>
            <a:r>
              <a:rPr sz="1700">
                <a:solidFill>
                  <a:srgbClr val="D2222A"/>
                </a:solidFill>
                <a:latin typeface="Wingdings"/>
              </a:rPr>
              <a:t>§  </a:t>
            </a:r>
            <a:r>
              <a:rPr sz="1700" b="0">
                <a:solidFill>
                  <a:srgbClr val="333F50"/>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Baselines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Ranking</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Diversity</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Clustering benchmark: LIME-based surrogate explanation pipeline.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Recommendation benchmarks: MF, NCF, LightGCN, RecDCL, HCCF, HPCF (strongest reference).</a:t>
            </a:r>
          </a:p>
          <a:p>
            <a:pPr>
              <a:lnSpc>
                <a:spcPct val="105000"/>
              </a:lnSpc>
              <a:spcAft>
                <a:spcPts val="900"/>
              </a:spcAft>
            </a:pPr>
            <a:r>
              <a:rPr sz="1700">
                <a:solidFill>
                  <a:srgbClr val="D2222A"/>
                </a:solidFill>
                <a:latin typeface="Wingdings"/>
              </a:rPr>
              <a:t>§  </a:t>
            </a:r>
            <a:r>
              <a:rPr sz="1700" b="0">
                <a:solidFill>
                  <a:srgbClr val="333F50"/>
                </a:solidFill>
                <a:latin typeface="Montserrat"/>
              </a:rPr>
              <a:t>Ranking: Precision@K, Recall@K, NDCG@20 (principal).</a:t>
            </a:r>
          </a:p>
          <a:p>
            <a:pPr>
              <a:lnSpc>
                <a:spcPct val="105000"/>
              </a:lnSpc>
              <a:spcAft>
                <a:spcPts val="900"/>
              </a:spcAft>
            </a:pPr>
            <a:r>
              <a:rPr sz="1700">
                <a:solidFill>
                  <a:srgbClr val="D2222A"/>
                </a:solidFill>
                <a:latin typeface="Wingdings"/>
              </a:rPr>
              <a:t>§  </a:t>
            </a:r>
            <a:r>
              <a:rPr sz="1700" b="0">
                <a:solidFill>
                  <a:srgbClr val="333F50"/>
                </a:solidFill>
                <a:latin typeface="Montserrat"/>
              </a:rPr>
              <a:t>System diversity: Catalogue Coverage = |⋃ R_u| / |I|.</a:t>
            </a:r>
          </a:p>
          <a:p>
            <a:pPr>
              <a:lnSpc>
                <a:spcPct val="105000"/>
              </a:lnSpc>
              <a:spcAft>
                <a:spcPts val="900"/>
              </a:spcAft>
            </a:pPr>
            <a:r>
              <a:rPr sz="1700">
                <a:solidFill>
                  <a:srgbClr val="D2222A"/>
                </a:solidFill>
                <a:latin typeface="Wingdings"/>
              </a:rPr>
              <a:t>§  </a:t>
            </a:r>
            <a:r>
              <a:rPr sz="1700" b="0">
                <a:solidFill>
                  <a:srgbClr val="333F50"/>
                </a:solidFill>
                <a:latin typeface="Montserrat"/>
              </a:rPr>
              <a:t>List diversity: Intra-List Diversity (ILD), built into the coalition utility.</a:t>
            </a:r>
          </a:p>
          <a:p>
            <a:pPr>
              <a:lnSpc>
                <a:spcPct val="105000"/>
              </a:lnSpc>
              <a:spcAft>
                <a:spcPts val="900"/>
              </a:spcAft>
            </a:pPr>
            <a:r>
              <a:rPr sz="1700">
                <a:solidFill>
                  <a:srgbClr val="D2222A"/>
                </a:solidFill>
                <a:latin typeface="Wingdings"/>
              </a:rPr>
              <a:t>§  </a:t>
            </a:r>
            <a:r>
              <a:rPr sz="1700" b="0">
                <a:solidFill>
                  <a:srgbClr val="333F50"/>
                </a:solidFill>
                <a:latin typeface="Montserrat"/>
              </a:rPr>
              <a:t>Clustering quality: Silhouette, Davies–Bouldin.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Compute</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Stack</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Reproducibility</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CPU: Intel Core i9-14900K, 24 cores — clustering, preprocessing, data loading.</a:t>
            </a:r>
          </a:p>
          <a:p>
            <a:pPr>
              <a:lnSpc>
                <a:spcPct val="105000"/>
              </a:lnSpc>
              <a:spcAft>
                <a:spcPts val="900"/>
              </a:spcAft>
            </a:pPr>
            <a:r>
              <a:rPr sz="1700">
                <a:solidFill>
                  <a:srgbClr val="D2222A"/>
                </a:solidFill>
                <a:latin typeface="Wingdings"/>
              </a:rPr>
              <a:t>§  </a:t>
            </a:r>
            <a:r>
              <a:rPr sz="1700" b="0">
                <a:solidFill>
                  <a:srgbClr val="333F50"/>
                </a:solidFill>
                <a:latin typeface="Montserrat"/>
              </a:rPr>
              <a:t>GPU: NVIDIA GeForce RTX 4090, 24 GB — DyHuCoG training &amp; inference.</a:t>
            </a:r>
          </a:p>
          <a:p>
            <a:pPr>
              <a:lnSpc>
                <a:spcPct val="105000"/>
              </a:lnSpc>
              <a:spcAft>
                <a:spcPts val="900"/>
              </a:spcAft>
            </a:pPr>
            <a:r>
              <a:rPr sz="1700">
                <a:solidFill>
                  <a:srgbClr val="D2222A"/>
                </a:solidFill>
                <a:latin typeface="Wingdings"/>
              </a:rPr>
              <a:t>§  </a:t>
            </a:r>
            <a:r>
              <a:rPr sz="1700" b="0">
                <a:solidFill>
                  <a:srgbClr val="333F50"/>
                </a:solidFill>
                <a:latin typeface="Montserrat"/>
              </a:rPr>
              <a:t>RAM: 48 GB; Storage: 2 TB SSD.</a:t>
            </a:r>
          </a:p>
          <a:p>
            <a:pPr>
              <a:lnSpc>
                <a:spcPct val="105000"/>
              </a:lnSpc>
              <a:spcAft>
                <a:spcPts val="900"/>
              </a:spcAft>
            </a:pPr>
            <a:r>
              <a:rPr sz="1700">
                <a:solidFill>
                  <a:srgbClr val="D2222A"/>
                </a:solidFill>
                <a:latin typeface="Wingdings"/>
              </a:rPr>
              <a:t>§  </a:t>
            </a:r>
            <a:r>
              <a:rPr sz="1700" b="0">
                <a:solidFill>
                  <a:srgbClr val="333F50"/>
                </a:solidFill>
                <a:latin typeface="Montserrat"/>
              </a:rPr>
              <a:t>Python 3.8; scikit-learn, LightGBM, SHAP, PyTorch 2.0.1, NumPy/SciPy/pandas.</a:t>
            </a:r>
          </a:p>
          <a:p>
            <a:pPr>
              <a:lnSpc>
                <a:spcPct val="105000"/>
              </a:lnSpc>
              <a:spcAft>
                <a:spcPts val="900"/>
              </a:spcAft>
            </a:pPr>
            <a:r>
              <a:rPr sz="1700">
                <a:solidFill>
                  <a:srgbClr val="D2222A"/>
                </a:solidFill>
                <a:latin typeface="Wingdings"/>
              </a:rPr>
              <a:t>§  </a:t>
            </a:r>
            <a:r>
              <a:rPr sz="1700" b="0">
                <a:solidFill>
                  <a:srgbClr val="333F50"/>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5"/>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D2222A"/>
                </a:solidFill>
                <a:latin typeface="Montserrat"/>
              </a:rPr>
              <a:t>–  </a:t>
            </a:r>
            <a:r>
              <a:rPr sz="1600" b="0">
                <a:solidFill>
                  <a:srgbClr val="333F50"/>
                </a:solidFill>
                <a:latin typeface="Montserrat"/>
              </a:rPr>
              <a:t>Existing clustering-interpretability methods privilege local or global explanation, not both.</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They often fail to scale or preserve coherence across clusters.</a:t>
            </a:r>
          </a:p>
          <a:p>
            <a:pPr>
              <a:lnSpc>
                <a:spcPct val="105000"/>
              </a:lnSpc>
              <a:spcAft>
                <a:spcPts val="900"/>
              </a:spcAft>
            </a:pPr>
            <a:r>
              <a:rPr sz="1700">
                <a:solidFill>
                  <a:srgbClr val="D2222A"/>
                </a:solidFill>
                <a:latin typeface="Wingdings"/>
              </a:rPr>
              <a:t>§  </a:t>
            </a:r>
            <a:r>
              <a:rPr sz="1700" b="1">
                <a:solidFill>
                  <a:srgbClr val="333F50"/>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0"/>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Player set N = F — each feature is a player.</a:t>
            </a:r>
          </a:p>
          <a:p>
            <a:pPr>
              <a:lnSpc>
                <a:spcPct val="105000"/>
              </a:lnSpc>
              <a:spcAft>
                <a:spcPts val="900"/>
              </a:spcAft>
            </a:pPr>
            <a:r>
              <a:rPr sz="1700">
                <a:solidFill>
                  <a:srgbClr val="D2222A"/>
                </a:solidFill>
                <a:latin typeface="Wingdings"/>
              </a:rPr>
              <a:t>§  </a:t>
            </a:r>
            <a:r>
              <a:rPr sz="1700" b="0">
                <a:solidFill>
                  <a:srgbClr val="333F50"/>
                </a:solidFill>
                <a:latin typeface="Montserrat"/>
              </a:rPr>
              <a:t>Value function v(S) = Silhouette( KMeans(X_S, k*) ) — how well data cluster using only features in S.</a:t>
            </a:r>
          </a:p>
          <a:p>
            <a:pPr>
              <a:lnSpc>
                <a:spcPct val="105000"/>
              </a:lnSpc>
              <a:spcAft>
                <a:spcPts val="900"/>
              </a:spcAft>
            </a:pPr>
            <a:r>
              <a:rPr sz="1700">
                <a:solidFill>
                  <a:srgbClr val="D2222A"/>
                </a:solidFill>
                <a:latin typeface="Wingdings"/>
              </a:rPr>
              <a:t>§  </a:t>
            </a:r>
            <a:r>
              <a:rPr sz="1700" b="0">
                <a:solidFill>
                  <a:srgbClr val="333F50"/>
                </a:solidFill>
                <a:latin typeface="Montserrat"/>
              </a:rPr>
              <a:t>A feature's Shapley value = its expected marginal contribution to clustering quality over all coalition orders.</a:t>
            </a:r>
          </a:p>
          <a:p>
            <a:pPr>
              <a:lnSpc>
                <a:spcPct val="105000"/>
              </a:lnSpc>
              <a:spcAft>
                <a:spcPts val="900"/>
              </a:spcAft>
            </a:pPr>
            <a:r>
              <a:rPr sz="1700">
                <a:solidFill>
                  <a:srgbClr val="D2222A"/>
                </a:solidFill>
                <a:latin typeface="Wingdings"/>
              </a:rPr>
              <a:t>§  </a:t>
            </a:r>
            <a:r>
              <a:rPr sz="1700" b="0">
                <a:solidFill>
                  <a:srgbClr val="333F50"/>
                </a:solidFill>
                <a:latin typeface="Montserrat"/>
              </a:rPr>
              <a:t>Why Silhouette: bounded, normalised, semantically intuitive.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D2222A"/>
                </a:solidFill>
                <a:latin typeface="Wingdings"/>
              </a:rPr>
              <a:t>§  </a:t>
            </a:r>
            <a:r>
              <a:rPr sz="1700" b="0">
                <a:solidFill>
                  <a:srgbClr val="333F50"/>
                </a:solidFill>
                <a:latin typeface="Montserrat"/>
              </a:rPr>
              <a:t>Apply TreeSHAP to the surrogate — fast, exact tree-based attribution in the original semantic feature space.</a:t>
            </a:r>
          </a:p>
          <a:p>
            <a:pPr lvl="1">
              <a:lnSpc>
                <a:spcPct val="105000"/>
              </a:lnSpc>
              <a:spcAft>
                <a:spcPts val="600"/>
              </a:spcAft>
            </a:pPr>
            <a:r>
              <a:rPr sz="1600">
                <a:solidFill>
                  <a:srgbClr val="D2222A"/>
                </a:solidFill>
                <a:latin typeface="Montserrat"/>
              </a:rPr>
              <a:t>–  </a:t>
            </a:r>
            <a:r>
              <a:rPr sz="1600" b="0">
                <a:solidFill>
                  <a:srgbClr val="333F50"/>
                </a:solidFill>
                <a:latin typeface="Montserrat"/>
              </a:rPr>
              <a:t>Direct TreeSHAP on K-Means is impossible (it explains tree models, not centroids).</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The surrogate preserves the chemistry/pollution vocabulary that makes the analysis actionable.</a:t>
            </a:r>
          </a:p>
          <a:p>
            <a:pPr lvl="1">
              <a:lnSpc>
                <a:spcPct val="105000"/>
              </a:lnSpc>
              <a:spcAft>
                <a:spcPts val="600"/>
              </a:spcAft>
            </a:pPr>
            <a:r>
              <a:rPr sz="1600">
                <a:solidFill>
                  <a:srgbClr val="D2222A"/>
                </a:solidFill>
                <a:latin typeface="Montserrat"/>
              </a:rPr>
              <a:t>–  </a:t>
            </a:r>
            <a:r>
              <a:rPr sz="1600" b="1">
                <a:solidFill>
                  <a:srgbClr val="333F50"/>
                </a:solidFill>
                <a:latin typeface="Montserrat"/>
              </a:rPr>
              <a:t>Validity condition: surrogate fidelity is high (macro-F1 ≈ 0.82).</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Stage 1 – PCA: stabilise geometry + visual diagnostic. NOT the explanatory space.</a:t>
            </a:r>
          </a:p>
          <a:p>
            <a:pPr>
              <a:lnSpc>
                <a:spcPct val="105000"/>
              </a:lnSpc>
              <a:spcAft>
                <a:spcPts val="900"/>
              </a:spcAft>
            </a:pPr>
            <a:r>
              <a:rPr sz="1700">
                <a:solidFill>
                  <a:srgbClr val="D2222A"/>
                </a:solidFill>
                <a:latin typeface="Wingdings"/>
              </a:rPr>
              <a:t>§  </a:t>
            </a:r>
            <a:r>
              <a:rPr sz="1700" b="0">
                <a:solidFill>
                  <a:srgbClr val="333F50"/>
                </a:solidFill>
                <a:latin typeface="Montserrat"/>
              </a:rPr>
              <a:t>Stage 2 – K-Means++ with multi-criteria k selection (elbow, Silhouette, Davies–Bouldin).</a:t>
            </a:r>
          </a:p>
          <a:p>
            <a:pPr>
              <a:lnSpc>
                <a:spcPct val="105000"/>
              </a:lnSpc>
              <a:spcAft>
                <a:spcPts val="900"/>
              </a:spcAft>
            </a:pPr>
            <a:r>
              <a:rPr sz="1700">
                <a:solidFill>
                  <a:srgbClr val="D2222A"/>
                </a:solidFill>
                <a:latin typeface="Wingdings"/>
              </a:rPr>
              <a:t>§  </a:t>
            </a:r>
            <a:r>
              <a:rPr sz="1700" b="0">
                <a:solidFill>
                  <a:srgbClr val="333F50"/>
                </a:solidFill>
                <a:latin typeface="Montserrat"/>
              </a:rPr>
              <a:t>Stage 3 – LightGBM surrogate trained on original features to predict cluster labels.</a:t>
            </a:r>
          </a:p>
          <a:p>
            <a:pPr>
              <a:lnSpc>
                <a:spcPct val="105000"/>
              </a:lnSpc>
              <a:spcAft>
                <a:spcPts val="900"/>
              </a:spcAft>
            </a:pPr>
            <a:r>
              <a:rPr sz="1700">
                <a:solidFill>
                  <a:srgbClr val="D2222A"/>
                </a:solidFill>
                <a:latin typeface="Wingdings"/>
              </a:rPr>
              <a:t>§  </a:t>
            </a:r>
            <a:r>
              <a:rPr sz="1700" b="0">
                <a:solidFill>
                  <a:srgbClr val="333F50"/>
                </a:solidFill>
                <a:latin typeface="Montserrat"/>
              </a:rPr>
              <a:t>Stage 4 – TreeSHAP attribution in the original feature space.</a:t>
            </a:r>
          </a:p>
          <a:p>
            <a:pPr>
              <a:lnSpc>
                <a:spcPct val="105000"/>
              </a:lnSpc>
              <a:spcAft>
                <a:spcPts val="900"/>
              </a:spcAft>
            </a:pPr>
            <a:r>
              <a:rPr sz="1700">
                <a:solidFill>
                  <a:srgbClr val="D2222A"/>
                </a:solidFill>
                <a:latin typeface="Wingdings"/>
              </a:rPr>
              <a:t>§  </a:t>
            </a:r>
            <a:r>
              <a:rPr sz="1700" b="0">
                <a:solidFill>
                  <a:srgbClr val="333F50"/>
                </a:solidFill>
                <a:latin typeface="Montserrat"/>
              </a:rPr>
              <a:t>Stage 5 – Aggregate into global importance, cluster-specific profiles, and local force plots.</a:t>
            </a:r>
          </a:p>
          <a:p>
            <a:pPr lvl="1">
              <a:lnSpc>
                <a:spcPct val="105000"/>
              </a:lnSpc>
              <a:spcAft>
                <a:spcPts val="600"/>
              </a:spcAft>
            </a:pPr>
            <a:r>
              <a:rPr sz="1600">
                <a:solidFill>
                  <a:srgbClr val="D2222A"/>
                </a:solidFill>
                <a:latin typeface="Montserrat"/>
              </a:rPr>
              <a:t>–  </a:t>
            </a:r>
            <a:r>
              <a:rPr sz="1600" b="0">
                <a:solidFill>
                  <a:srgbClr val="333F50"/>
                </a:solidFill>
                <a:latin typeface="Montserrat"/>
              </a:rPr>
              <a:t>Complexity: dominated by PCA and repeated K-Means; TreeSHAP scales with tree count, not exponentially in features.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Multi-criteria evaluation across k ∈ {2..10} using elbow, Silhouette, Davies–Bouldin.</a:t>
            </a:r>
          </a:p>
          <a:p>
            <a:pPr>
              <a:lnSpc>
                <a:spcPct val="105000"/>
              </a:lnSpc>
              <a:spcAft>
                <a:spcPts val="900"/>
              </a:spcAft>
            </a:pPr>
            <a:r>
              <a:rPr sz="1700">
                <a:solidFill>
                  <a:srgbClr val="D2222A"/>
                </a:solidFill>
                <a:latin typeface="Wingdings"/>
              </a:rPr>
              <a:t>§  </a:t>
            </a:r>
            <a:r>
              <a:rPr sz="1700" b="1">
                <a:solidFill>
                  <a:srgbClr val="333F50"/>
                </a:solidFill>
                <a:latin typeface="Montserrat Medium"/>
              </a:rPr>
              <a:t>We select k* = 3 — even though it is NOT geometrically optimal:</a:t>
            </a:r>
          </a:p>
          <a:p>
            <a:pPr lvl="1">
              <a:lnSpc>
                <a:spcPct val="105000"/>
              </a:lnSpc>
              <a:spcAft>
                <a:spcPts val="600"/>
              </a:spcAft>
            </a:pPr>
            <a:r>
              <a:rPr sz="1600">
                <a:solidFill>
                  <a:srgbClr val="D2222A"/>
                </a:solidFill>
                <a:latin typeface="Montserrat"/>
              </a:rPr>
              <a:t>–  </a:t>
            </a:r>
            <a:r>
              <a:rPr sz="1600" b="0">
                <a:solidFill>
                  <a:srgbClr val="333F50"/>
                </a:solidFill>
                <a:latin typeface="Montserrat"/>
              </a:rPr>
              <a:t>k = 2: Silhouette 0.214, Davies–Bouldin 1.775 (better separation).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k = 3: Silhouette 0.144, Davies–Bouldin 2.097 (weaker separation).</a:t>
            </a:r>
          </a:p>
          <a:p>
            <a:pPr lvl="1">
              <a:lnSpc>
                <a:spcPct val="105000"/>
              </a:lnSpc>
              <a:spcAft>
                <a:spcPts val="600"/>
              </a:spcAft>
            </a:pPr>
            <a:r>
              <a:rPr sz="1600">
                <a:solidFill>
                  <a:srgbClr val="D2222A"/>
                </a:solidFill>
                <a:latin typeface="Montserrat"/>
              </a:rPr>
              <a:t>–  </a:t>
            </a:r>
            <a:r>
              <a:rPr sz="1600" b="1">
                <a:solidFill>
                  <a:srgbClr val="333F50"/>
                </a:solidFill>
                <a:latin typeface="Montserrat"/>
              </a:rPr>
              <a:t>Why: three clusters give a semantically richer oenological partition → more actionable.</a:t>
            </a:r>
          </a:p>
          <a:p>
            <a:pPr lvl="1">
              <a:lnSpc>
                <a:spcPct val="105000"/>
              </a:lnSpc>
              <a:spcAft>
                <a:spcPts val="600"/>
              </a:spcAft>
            </a:pPr>
            <a:r>
              <a:rPr sz="1600">
                <a:solidFill>
                  <a:srgbClr val="D2222A"/>
                </a:solidFill>
                <a:latin typeface="Montserrat"/>
              </a:rPr>
              <a:t>–  </a:t>
            </a:r>
            <a:r>
              <a:rPr sz="1600" b="0">
                <a:solidFill>
                  <a:srgbClr val="333F50"/>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Global SHAP ranking (high → low):</a:t>
            </a:r>
          </a:p>
          <a:p>
            <a:pPr lvl="1">
              <a:lnSpc>
                <a:spcPct val="105000"/>
              </a:lnSpc>
              <a:spcAft>
                <a:spcPts val="600"/>
              </a:spcAft>
            </a:pPr>
            <a:r>
              <a:rPr sz="1600">
                <a:solidFill>
                  <a:srgbClr val="D2222A"/>
                </a:solidFill>
                <a:latin typeface="Montserrat"/>
              </a:rPr>
              <a:t>–  </a:t>
            </a:r>
            <a:r>
              <a:rPr sz="1600" b="0">
                <a:solidFill>
                  <a:srgbClr val="333F50"/>
                </a:solidFill>
                <a:latin typeface="Montserrat"/>
              </a:rPr>
              <a:t>density → pH → fixed acidity → sulfur-dioxide → alcohol</a:t>
            </a:r>
          </a:p>
          <a:p>
            <a:pPr lvl="1">
              <a:lnSpc>
                <a:spcPct val="105000"/>
              </a:lnSpc>
              <a:spcAft>
                <a:spcPts val="600"/>
              </a:spcAft>
            </a:pPr>
            <a:r>
              <a:rPr sz="1600">
                <a:solidFill>
                  <a:srgbClr val="D2222A"/>
                </a:solidFill>
                <a:latin typeface="Montserrat"/>
              </a:rPr>
              <a:t>–  </a:t>
            </a:r>
            <a:r>
              <a:rPr sz="1600" b="0">
                <a:solidFill>
                  <a:srgbClr val="333F50"/>
                </a:solidFill>
                <a:latin typeface="Montserrat"/>
              </a:rPr>
              <a:t>Dominant drivers relate to structure, preservation, and sensory balance.</a:t>
            </a:r>
          </a:p>
          <a:p>
            <a:pPr lvl="1">
              <a:lnSpc>
                <a:spcPct val="105000"/>
              </a:lnSpc>
              <a:spcAft>
                <a:spcPts val="600"/>
              </a:spcAft>
            </a:pPr>
            <a:r>
              <a:rPr sz="1600">
                <a:solidFill>
                  <a:srgbClr val="D2222A"/>
                </a:solidFill>
                <a:latin typeface="Montserrat"/>
              </a:rPr>
              <a:t>–  </a:t>
            </a:r>
            <a:r>
              <a:rPr sz="1600" b="1">
                <a:solidFill>
                  <a:srgbClr val="333F50"/>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Three clusters show distinct explanatory signatures.</a:t>
            </a:r>
          </a:p>
          <a:p>
            <a:pPr lvl="1">
              <a:lnSpc>
                <a:spcPct val="105000"/>
              </a:lnSpc>
              <a:spcAft>
                <a:spcPts val="600"/>
              </a:spcAft>
            </a:pPr>
            <a:r>
              <a:rPr sz="1600">
                <a:solidFill>
                  <a:srgbClr val="D2222A"/>
                </a:solidFill>
                <a:latin typeface="Montserrat"/>
              </a:rPr>
              <a:t>–  </a:t>
            </a:r>
            <a:r>
              <a:rPr sz="1600" b="0">
                <a:solidFill>
                  <a:srgbClr val="333F50"/>
                </a:solidFill>
                <a:latin typeface="Montserrat"/>
              </a:rPr>
              <a:t>Cluster 0 – density + sulfur-dioxide-related variables.</a:t>
            </a:r>
          </a:p>
          <a:p>
            <a:pPr lvl="1">
              <a:lnSpc>
                <a:spcPct val="105000"/>
              </a:lnSpc>
              <a:spcAft>
                <a:spcPts val="600"/>
              </a:spcAft>
            </a:pPr>
            <a:r>
              <a:rPr sz="1600">
                <a:solidFill>
                  <a:srgbClr val="D2222A"/>
                </a:solidFill>
                <a:latin typeface="Montserrat"/>
              </a:rPr>
              <a:t>–  </a:t>
            </a:r>
            <a:r>
              <a:rPr sz="1600" b="0">
                <a:solidFill>
                  <a:srgbClr val="333F50"/>
                </a:solidFill>
                <a:latin typeface="Montserrat"/>
              </a:rPr>
              <a:t>Cluster 1 – acidity and pH-related effects.</a:t>
            </a:r>
          </a:p>
          <a:p>
            <a:pPr lvl="1">
              <a:lnSpc>
                <a:spcPct val="105000"/>
              </a:lnSpc>
              <a:spcAft>
                <a:spcPts val="600"/>
              </a:spcAft>
            </a:pPr>
            <a:r>
              <a:rPr sz="1600">
                <a:solidFill>
                  <a:srgbClr val="D2222A"/>
                </a:solidFill>
                <a:latin typeface="Montserrat"/>
              </a:rPr>
              <a:t>–  </a:t>
            </a:r>
            <a:r>
              <a:rPr sz="1600" b="0">
                <a:solidFill>
                  <a:srgbClr val="333F50"/>
                </a:solidFill>
                <a:latin typeface="Montserrat"/>
              </a:rPr>
              <a:t>Cluster 2 – a different balance of acidity, alcohol, and related chemical attributes.</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D2222A"/>
                    </a:solidFill>
                  </a:tcPr>
                </a:tc>
                <a:tc>
                  <a:txBody>
                    <a:bodyPr/>
                    <a:lstStyle/>
                    <a:p>
                      <a:pPr algn="ctr"/>
                      <a:r>
                        <a:rPr sz="1200" b="1">
                          <a:solidFill>
                            <a:srgbClr val="FFFFFF"/>
                          </a:solidFill>
                          <a:latin typeface="Montserrat Medium"/>
                        </a:rPr>
                        <a:t>SHAP (cooperative)</a:t>
                      </a:r>
                    </a:p>
                  </a:txBody>
                  <a:tcPr anchor="ctr" marL="54864" marR="54864" marT="18288" marB="18288">
                    <a:solidFill>
                      <a:srgbClr val="D2222A"/>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D2222A"/>
                    </a:solidFill>
                  </a:tcPr>
                </a:tc>
              </a:tr>
              <a:tr h="579120">
                <a:tc>
                  <a:txBody>
                    <a:bodyPr/>
                    <a:lstStyle/>
                    <a:p>
                      <a:pPr algn="l"/>
                      <a:r>
                        <a:rPr sz="1200" b="0">
                          <a:solidFill>
                            <a:srgbClr val="333F50"/>
                          </a:solidFill>
                          <a:latin typeface="Montserrat"/>
                        </a:rPr>
                        <a:t>Basis</a:t>
                      </a:r>
                    </a:p>
                  </a:txBody>
                  <a:tcPr anchor="ctr" marL="54864" marR="54864" marT="18288" marB="18288">
                    <a:solidFill>
                      <a:srgbClr val="FFFFFF"/>
                    </a:solidFill>
                  </a:tcPr>
                </a:tc>
                <a:tc>
                  <a:txBody>
                    <a:bodyPr/>
                    <a:lstStyle/>
                    <a:p>
                      <a:pPr algn="ctr"/>
                      <a:r>
                        <a:rPr sz="1200" b="0">
                          <a:solidFill>
                            <a:srgbClr val="333F50"/>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333F50"/>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333F50"/>
                          </a:solidFill>
                          <a:latin typeface="Montserrat"/>
                        </a:rPr>
                        <a:t>Local / global</a:t>
                      </a:r>
                    </a:p>
                  </a:txBody>
                  <a:tcPr anchor="ctr" marL="54864" marR="54864" marT="18288" marB="18288">
                    <a:solidFill>
                      <a:srgbClr val="F0F4FB"/>
                    </a:solidFill>
                  </a:tcPr>
                </a:tc>
                <a:tc>
                  <a:txBody>
                    <a:bodyPr/>
                    <a:lstStyle/>
                    <a:p>
                      <a:pPr algn="ctr"/>
                      <a:r>
                        <a:rPr sz="1200" b="0">
                          <a:solidFill>
                            <a:srgbClr val="333F50"/>
                          </a:solidFill>
                          <a:latin typeface="Montserrat"/>
                        </a:rPr>
                        <a:t>Both</a:t>
                      </a:r>
                    </a:p>
                  </a:txBody>
                  <a:tcPr anchor="ctr" marL="54864" marR="54864" marT="18288" marB="18288">
                    <a:solidFill>
                      <a:srgbClr val="F0F4FB"/>
                    </a:solidFill>
                  </a:tcPr>
                </a:tc>
                <a:tc>
                  <a:txBody>
                    <a:bodyPr/>
                    <a:lstStyle/>
                    <a:p>
                      <a:pPr algn="ctr"/>
                      <a:r>
                        <a:rPr sz="1200" b="0">
                          <a:solidFill>
                            <a:srgbClr val="333F50"/>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333F50"/>
                          </a:solidFill>
                          <a:latin typeface="Montserrat"/>
                        </a:rPr>
                        <a:t>Theoretical guarantee</a:t>
                      </a:r>
                    </a:p>
                  </a:txBody>
                  <a:tcPr anchor="ctr" marL="54864" marR="54864" marT="18288" marB="18288">
                    <a:solidFill>
                      <a:srgbClr val="FFFFFF"/>
                    </a:solidFill>
                  </a:tcPr>
                </a:tc>
                <a:tc>
                  <a:txBody>
                    <a:bodyPr/>
                    <a:lstStyle/>
                    <a:p>
                      <a:pPr algn="ctr"/>
                      <a:r>
                        <a:rPr sz="1200" b="0">
                          <a:solidFill>
                            <a:srgbClr val="333F50"/>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333F50"/>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333F50"/>
                          </a:solidFill>
                          <a:latin typeface="Montserrat"/>
                        </a:rPr>
                        <a:t>Stability</a:t>
                      </a:r>
                    </a:p>
                  </a:txBody>
                  <a:tcPr anchor="ctr" marL="54864" marR="54864" marT="18288" marB="18288">
                    <a:solidFill>
                      <a:srgbClr val="F0F4FB"/>
                    </a:solidFill>
                  </a:tcPr>
                </a:tc>
                <a:tc>
                  <a:txBody>
                    <a:bodyPr/>
                    <a:lstStyle/>
                    <a:p>
                      <a:pPr algn="ctr"/>
                      <a:r>
                        <a:rPr sz="1200" b="0">
                          <a:solidFill>
                            <a:srgbClr val="333F50"/>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333F50"/>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333F50"/>
                          </a:solidFill>
                          <a:latin typeface="Montserrat"/>
                        </a:rPr>
                        <a:t>Cluster comparison</a:t>
                      </a:r>
                    </a:p>
                  </a:txBody>
                  <a:tcPr anchor="ctr" marL="54864" marR="54864" marT="18288" marB="18288">
                    <a:solidFill>
                      <a:srgbClr val="FFFFFF"/>
                    </a:solidFill>
                  </a:tcPr>
                </a:tc>
                <a:tc>
                  <a:txBody>
                    <a:bodyPr/>
                    <a:lstStyle/>
                    <a:p>
                      <a:pPr algn="ctr"/>
                      <a:r>
                        <a:rPr sz="1200" b="0">
                          <a:solidFill>
                            <a:srgbClr val="333F50"/>
                          </a:solidFill>
                          <a:latin typeface="Montserrat"/>
                        </a:rPr>
                        <a:t>Strong</a:t>
                      </a:r>
                    </a:p>
                  </a:txBody>
                  <a:tcPr anchor="ctr" marL="54864" marR="54864" marT="18288" marB="18288">
                    <a:solidFill>
                      <a:srgbClr val="FFFFFF"/>
                    </a:solidFill>
                  </a:tcPr>
                </a:tc>
                <a:tc>
                  <a:txBody>
                    <a:bodyPr/>
                    <a:lstStyle/>
                    <a:p>
                      <a:pPr algn="ctr"/>
                      <a:r>
                        <a:rPr sz="1200" b="0">
                          <a:solidFill>
                            <a:srgbClr val="333F50"/>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Achieved: cluster-level explanation anchored to individual feature contributions; explanations returned to original variables; theoretically-grounded case for Shapley over LIME.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Limitations: fidelity depends on the LightGBM surrogate; tabular data only; single-level structure.</a:t>
            </a:r>
          </a:p>
          <a:p>
            <a:pPr lvl="1">
              <a:lnSpc>
                <a:spcPct val="105000"/>
              </a:lnSpc>
              <a:spcAft>
                <a:spcPts val="600"/>
              </a:spcAft>
            </a:pPr>
            <a:r>
              <a:rPr sz="1600">
                <a:solidFill>
                  <a:srgbClr val="D2222A"/>
                </a:solidFill>
                <a:latin typeface="Montserrat"/>
              </a:rPr>
              <a:t>–  </a:t>
            </a:r>
            <a:r>
              <a:rPr sz="1600" b="1">
                <a:solidFill>
                  <a:srgbClr val="333F50"/>
                </a:solidFill>
                <a:latin typeface="Montserrat"/>
              </a:rPr>
              <a:t>Cannot yet address hierarchical coherence — that is C2's point of departure.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D2222A"/>
                </a:solidFill>
                <a:latin typeface="Montserrat"/>
              </a:rPr>
              <a:t>–  </a:t>
            </a:r>
            <a:r>
              <a:rPr sz="1600" b="0">
                <a:solidFill>
                  <a:srgbClr val="333F50"/>
                </a:solidFill>
                <a:latin typeface="Montserrat"/>
              </a:rPr>
              <a:t>Large-scale data make exact explanation computationally burdensome.</a:t>
            </a:r>
          </a:p>
          <a:p>
            <a:pPr lvl="1">
              <a:lnSpc>
                <a:spcPct val="105000"/>
              </a:lnSpc>
              <a:spcAft>
                <a:spcPts val="600"/>
              </a:spcAft>
            </a:pPr>
            <a:r>
              <a:rPr sz="1600">
                <a:solidFill>
                  <a:srgbClr val="D2222A"/>
                </a:solidFill>
                <a:latin typeface="Montserrat"/>
              </a:rPr>
              <a:t>–  </a:t>
            </a:r>
            <a:r>
              <a:rPr sz="1600" b="0">
                <a:solidFill>
                  <a:srgbClr val="333F50"/>
                </a:solidFill>
                <a:latin typeface="Montserrat"/>
              </a:rPr>
              <a:t>Flat explanation may be true yet incomplete — it cannot show how importance changes inside a cluster.</a:t>
            </a:r>
          </a:p>
          <a:p>
            <a:pPr>
              <a:lnSpc>
                <a:spcPct val="105000"/>
              </a:lnSpc>
              <a:spcAft>
                <a:spcPts val="900"/>
              </a:spcAft>
            </a:pPr>
            <a:r>
              <a:rPr sz="1700">
                <a:solidFill>
                  <a:srgbClr val="D2222A"/>
                </a:solidFill>
                <a:latin typeface="Wingdings"/>
              </a:rPr>
              <a:t>§  </a:t>
            </a:r>
            <a:r>
              <a:rPr sz="1700" b="1">
                <a:solidFill>
                  <a:srgbClr val="333F50"/>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Recursive/nested: coarse clustering on the full dataset, then subdivide each cluster.</a:t>
            </a:r>
          </a:p>
          <a:p>
            <a:pPr>
              <a:lnSpc>
                <a:spcPct val="105000"/>
              </a:lnSpc>
              <a:spcAft>
                <a:spcPts val="900"/>
              </a:spcAft>
            </a:pPr>
            <a:r>
              <a:rPr sz="1700">
                <a:solidFill>
                  <a:srgbClr val="D2222A"/>
                </a:solidFill>
                <a:latin typeface="Wingdings"/>
              </a:rPr>
              <a:t>§  </a:t>
            </a:r>
            <a:r>
              <a:rPr sz="1700" b="0">
                <a:solidFill>
                  <a:srgbClr val="333F50"/>
                </a:solidFill>
                <a:latin typeface="Montserrat"/>
              </a:rPr>
              <a:t>For each level, train a level-specific surrogate and compute SHAP in the SAME original feature space.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Cross-level aggregation is NOT a naive average — it respects cluster size and nesting structure.</a:t>
            </a:r>
          </a:p>
          <a:p>
            <a:pPr lvl="1">
              <a:lnSpc>
                <a:spcPct val="105000"/>
              </a:lnSpc>
              <a:spcAft>
                <a:spcPts val="600"/>
              </a:spcAft>
            </a:pPr>
            <a:r>
              <a:rPr sz="1600">
                <a:solidFill>
                  <a:srgbClr val="D2222A"/>
                </a:solidFill>
                <a:latin typeface="Montserrat"/>
              </a:rPr>
              <a:t>–  </a:t>
            </a:r>
            <a:r>
              <a:rPr sz="1600" b="0">
                <a:solidFill>
                  <a:srgbClr val="333F50"/>
                </a:solidFill>
                <a:latin typeface="Montserrat"/>
              </a:rPr>
              <a:t>Parent-level attribution = an expectation over the explanatory structure of its descendants.</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The hierarchy is a pragmatic analytical device, not a claim of true ontological hierarchy.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Let Φ^(l,c)_j = E_{x~c}[|φ_j^(l)(x)|] be the expected absolute SHAP importance of feature j at level l in cluster c.</a:t>
            </a:r>
          </a:p>
          <a:p>
            <a:pPr>
              <a:lnSpc>
                <a:spcPct val="105000"/>
              </a:lnSpc>
              <a:spcAft>
                <a:spcPts val="900"/>
              </a:spcAft>
            </a:pPr>
            <a:r>
              <a:rPr sz="1700">
                <a:solidFill>
                  <a:srgbClr val="D2222A"/>
                </a:solidFill>
                <a:latin typeface="Wingdings"/>
              </a:rPr>
              <a:t>§  </a:t>
            </a:r>
            <a:r>
              <a:rPr sz="1700" b="0">
                <a:solidFill>
                  <a:srgbClr val="333F50"/>
                </a:solidFill>
                <a:latin typeface="Montserrat"/>
              </a:rPr>
              <a:t>Let w_c' = |c'| / |c| be the relative size of child c' within parent c.</a:t>
            </a:r>
          </a:p>
          <a:p>
            <a:pPr>
              <a:lnSpc>
                <a:spcPct val="105000"/>
              </a:lnSpc>
              <a:spcAft>
                <a:spcPts val="900"/>
              </a:spcAft>
            </a:pPr>
            <a:r>
              <a:rPr sz="1700">
                <a:solidFill>
                  <a:srgbClr val="D2222A"/>
                </a:solidFill>
                <a:latin typeface="Wingdings"/>
              </a:rPr>
              <a:t>§  </a:t>
            </a:r>
            <a:r>
              <a:rPr sz="1700" b="1">
                <a:solidFill>
                  <a:srgbClr val="333F50"/>
                </a:solidFill>
                <a:latin typeface="Montserrat Medium"/>
              </a:rPr>
              <a:t>For a strict nested hierarchy on a consistent feature space:</a:t>
            </a:r>
          </a:p>
          <a:p>
            <a:pPr lvl="1">
              <a:lnSpc>
                <a:spcPct val="105000"/>
              </a:lnSpc>
              <a:spcAft>
                <a:spcPts val="600"/>
              </a:spcAft>
            </a:pPr>
            <a:r>
              <a:rPr sz="1600">
                <a:solidFill>
                  <a:srgbClr val="D2222A"/>
                </a:solidFill>
                <a:latin typeface="Montserrat"/>
              </a:rPr>
              <a:t>–  </a:t>
            </a:r>
            <a:r>
              <a:rPr sz="1600" b="1">
                <a:solidFill>
                  <a:srgbClr val="333F50"/>
                </a:solidFill>
                <a:latin typeface="Montserrat"/>
              </a:rPr>
              <a:t>Φ^(l,c)_j = Σ_{c'∈child(c)} w_c' · Φ^(l+1,c')_j + ε_j</a:t>
            </a:r>
          </a:p>
          <a:p>
            <a:pPr lvl="1">
              <a:lnSpc>
                <a:spcPct val="105000"/>
              </a:lnSpc>
              <a:spcAft>
                <a:spcPts val="600"/>
              </a:spcAft>
            </a:pPr>
            <a:r>
              <a:rPr sz="1600">
                <a:solidFill>
                  <a:srgbClr val="D2222A"/>
                </a:solidFill>
                <a:latin typeface="Montserrat"/>
              </a:rPr>
              <a:t>–  </a:t>
            </a:r>
            <a:r>
              <a:rPr sz="1600" b="0">
                <a:solidFill>
                  <a:srgbClr val="333F50"/>
                </a:solidFill>
                <a:latin typeface="Montserrat"/>
              </a:rPr>
              <a:t>ε_j is a residual from surrogate mismatch, vanishing under perfect fidelity.</a:t>
            </a:r>
          </a:p>
          <a:p>
            <a:pPr lvl="1">
              <a:lnSpc>
                <a:spcPct val="105000"/>
              </a:lnSpc>
              <a:spcAft>
                <a:spcPts val="600"/>
              </a:spcAft>
            </a:pPr>
            <a:r>
              <a:rPr sz="1600">
                <a:solidFill>
                  <a:srgbClr val="D2222A"/>
                </a:solidFill>
                <a:latin typeface="Montserrat"/>
              </a:rPr>
              <a:t>–  </a:t>
            </a:r>
            <a:r>
              <a:rPr sz="1600" b="0">
                <a:solidFill>
                  <a:srgbClr val="333F50"/>
                </a:solidFill>
                <a:latin typeface="Montserrat"/>
              </a:rPr>
              <a:t>Derived via law of total expectation (children partition the parent).</a:t>
            </a:r>
          </a:p>
          <a:p>
            <a:pPr lvl="1">
              <a:lnSpc>
                <a:spcPct val="105000"/>
              </a:lnSpc>
              <a:spcAft>
                <a:spcPts val="600"/>
              </a:spcAft>
            </a:pPr>
            <a:r>
              <a:rPr sz="1600">
                <a:solidFill>
                  <a:srgbClr val="D2222A"/>
                </a:solidFill>
                <a:latin typeface="Montserrat"/>
              </a:rPr>
              <a:t>–  </a:t>
            </a:r>
            <a:r>
              <a:rPr sz="1600" b="0">
                <a:solidFill>
                  <a:srgbClr val="333F50"/>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Full dataset, k = 3 (strong convergence on multi-criteria evaluation).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Silhouette ≈ 0.63 — materially stronger separation than wine.</a:t>
            </a:r>
          </a:p>
          <a:p>
            <a:pPr lvl="1">
              <a:lnSpc>
                <a:spcPct val="105000"/>
              </a:lnSpc>
              <a:spcAft>
                <a:spcPts val="600"/>
              </a:spcAft>
            </a:pPr>
            <a:r>
              <a:rPr sz="1600">
                <a:solidFill>
                  <a:srgbClr val="D2222A"/>
                </a:solidFill>
                <a:latin typeface="Montserrat"/>
              </a:rPr>
              <a:t>–  </a:t>
            </a:r>
            <a:r>
              <a:rPr sz="1600" b="0">
                <a:solidFill>
                  <a:srgbClr val="333F50"/>
                </a:solidFill>
                <a:latin typeface="Montserrat"/>
              </a:rPr>
              <a:t>Davies–Bouldin ≈ 0.55 — low between-cluster ambiguity.</a:t>
            </a:r>
          </a:p>
          <a:p>
            <a:pPr lvl="1">
              <a:lnSpc>
                <a:spcPct val="105000"/>
              </a:lnSpc>
              <a:spcAft>
                <a:spcPts val="600"/>
              </a:spcAft>
            </a:pPr>
            <a:r>
              <a:rPr sz="1600">
                <a:solidFill>
                  <a:srgbClr val="D2222A"/>
                </a:solidFill>
                <a:latin typeface="Montserrat"/>
              </a:rPr>
              <a:t>–  </a:t>
            </a:r>
            <a:r>
              <a:rPr sz="1600" b="0">
                <a:solidFill>
                  <a:srgbClr val="333F50"/>
                </a:solidFill>
                <a:latin typeface="Montserrat"/>
              </a:rPr>
              <a:t>PCA projection (2 components) used only for visual inspection.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Global SHAP ranking (high → low):</a:t>
            </a:r>
          </a:p>
          <a:p>
            <a:pPr lvl="1">
              <a:lnSpc>
                <a:spcPct val="105000"/>
              </a:lnSpc>
              <a:spcAft>
                <a:spcPts val="600"/>
              </a:spcAft>
            </a:pPr>
            <a:r>
              <a:rPr sz="1600">
                <a:solidFill>
                  <a:srgbClr val="D2222A"/>
                </a:solidFill>
                <a:latin typeface="Montserrat"/>
              </a:rPr>
              <a:t>–  </a:t>
            </a:r>
            <a:r>
              <a:rPr sz="1600" b="0">
                <a:solidFill>
                  <a:srgbClr val="333F50"/>
                </a:solidFill>
                <a:latin typeface="Montserrat"/>
              </a:rPr>
              <a:t>temperature → dew point → pressure → CO → NO2 → PM10 → PM2.5</a:t>
            </a:r>
          </a:p>
          <a:p>
            <a:pPr lvl="1">
              <a:lnSpc>
                <a:spcPct val="105000"/>
              </a:lnSpc>
              <a:spcAft>
                <a:spcPts val="600"/>
              </a:spcAft>
            </a:pPr>
            <a:r>
              <a:rPr sz="1600">
                <a:solidFill>
                  <a:srgbClr val="D2222A"/>
                </a:solidFill>
                <a:latin typeface="Montserrat"/>
              </a:rPr>
              <a:t>–  </a:t>
            </a:r>
            <a:r>
              <a:rPr sz="1600" b="0">
                <a:solidFill>
                  <a:srgbClr val="333F50"/>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D2222A"/>
                </a:solidFill>
                <a:latin typeface="Montserrat"/>
              </a:rPr>
              <a:t>–  </a:t>
            </a:r>
            <a:r>
              <a:rPr sz="1600" b="0">
                <a:solidFill>
                  <a:srgbClr val="333F50"/>
                </a:solidFill>
                <a:latin typeface="Montserrat"/>
              </a:rPr>
              <a:t>Temperature, dew point and pressure condition dispersion, trapping, and photochemical behaviour.</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Regime A – warm photochemical: ozone, temperature, dew point prominent (summer photochemical smog).</a:t>
            </a:r>
          </a:p>
          <a:p>
            <a:pPr>
              <a:lnSpc>
                <a:spcPct val="105000"/>
              </a:lnSpc>
              <a:spcAft>
                <a:spcPts val="900"/>
              </a:spcAft>
            </a:pPr>
            <a:r>
              <a:rPr sz="1700">
                <a:solidFill>
                  <a:srgbClr val="D2222A"/>
                </a:solidFill>
                <a:latin typeface="Wingdings"/>
              </a:rPr>
              <a:t>§  </a:t>
            </a:r>
            <a:r>
              <a:rPr sz="1700" b="0">
                <a:solidFill>
                  <a:srgbClr val="333F50"/>
                </a:solidFill>
                <a:latin typeface="Montserrat"/>
              </a:rPr>
              <a:t>Regime B – wintertime smog: CO, SO2, PM dominate; low wind speed suppresses dispersion.</a:t>
            </a:r>
          </a:p>
          <a:p>
            <a:pPr>
              <a:lnSpc>
                <a:spcPct val="105000"/>
              </a:lnSpc>
              <a:spcAft>
                <a:spcPts val="900"/>
              </a:spcAft>
            </a:pPr>
            <a:r>
              <a:rPr sz="1700">
                <a:solidFill>
                  <a:srgbClr val="D2222A"/>
                </a:solidFill>
                <a:latin typeface="Wingdings"/>
              </a:rPr>
              <a:t>§  </a:t>
            </a:r>
            <a:r>
              <a:rPr sz="1700" b="0">
                <a:solidFill>
                  <a:srgbClr val="333F50"/>
                </a:solidFill>
                <a:latin typeface="Montserrat"/>
              </a:rPr>
              <a:t>Regime C – comparatively clean air: favourable meteorology, weak pollutant pushes.</a:t>
            </a:r>
          </a:p>
          <a:p>
            <a:pPr lvl="1">
              <a:lnSpc>
                <a:spcPct val="105000"/>
              </a:lnSpc>
              <a:spcAft>
                <a:spcPts val="600"/>
              </a:spcAft>
            </a:pPr>
            <a:r>
              <a:rPr sz="1600">
                <a:solidFill>
                  <a:srgbClr val="D2222A"/>
                </a:solidFill>
                <a:latin typeface="Montserrat"/>
              </a:rPr>
              <a:t>–  </a:t>
            </a:r>
            <a:r>
              <a:rPr sz="1600" b="1">
                <a:solidFill>
                  <a:srgbClr val="333F50"/>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At the coarse level, temperature and dew point dominate — they differentiate broad atmospheric regimes.</a:t>
            </a:r>
          </a:p>
          <a:p>
            <a:pPr>
              <a:lnSpc>
                <a:spcPct val="105000"/>
              </a:lnSpc>
              <a:spcAft>
                <a:spcPts val="900"/>
              </a:spcAft>
            </a:pPr>
            <a:r>
              <a:rPr sz="1700">
                <a:solidFill>
                  <a:srgbClr val="D2222A"/>
                </a:solidFill>
                <a:latin typeface="Wingdings"/>
              </a:rPr>
              <a:t>§  </a:t>
            </a:r>
            <a:r>
              <a:rPr sz="1700" b="0">
                <a:solidFill>
                  <a:srgbClr val="333F50"/>
                </a:solidFill>
                <a:latin typeface="Montserrat"/>
              </a:rPr>
              <a:t>Within individual clusters, CO, SO2, PM10, wind speed, pressure, or ozone become more discriminative.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This change is NOT contradictory — it is exactly what a multi-level explanation should reveal.</a:t>
            </a:r>
          </a:p>
          <a:p>
            <a:pPr lvl="1">
              <a:lnSpc>
                <a:spcPct val="105000"/>
              </a:lnSpc>
              <a:spcAft>
                <a:spcPts val="600"/>
              </a:spcAft>
            </a:pPr>
            <a:r>
              <a:rPr sz="1600">
                <a:solidFill>
                  <a:srgbClr val="D2222A"/>
                </a:solidFill>
                <a:latin typeface="Montserrat"/>
              </a:rPr>
              <a:t>–  </a:t>
            </a:r>
            <a:r>
              <a:rPr sz="1600" b="0">
                <a:solidFill>
                  <a:srgbClr val="333F50"/>
                </a:solidFill>
                <a:latin typeface="Montserrat"/>
              </a:rPr>
              <a:t>Parent-level story = regime selection. Cluster-level story = variation within a regime.</a:t>
            </a:r>
          </a:p>
          <a:p>
            <a:pPr lvl="1">
              <a:lnSpc>
                <a:spcPct val="105000"/>
              </a:lnSpc>
              <a:spcAft>
                <a:spcPts val="600"/>
              </a:spcAft>
            </a:pPr>
            <a:r>
              <a:rPr sz="1600">
                <a:solidFill>
                  <a:srgbClr val="D2222A"/>
                </a:solidFill>
                <a:latin typeface="Montserrat"/>
              </a:rPr>
              <a:t>–  </a:t>
            </a:r>
            <a:r>
              <a:rPr sz="1600" b="0">
                <a:solidFill>
                  <a:srgbClr val="333F50"/>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Wine: small, dense, chemically correlated. Beijing: large, noisy, temporally and meteorologically variable.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The same explanatory logic remains productive in both → not tied to one domain-specific peculiarity.</a:t>
            </a:r>
          </a:p>
          <a:p>
            <a:pPr lvl="1">
              <a:lnSpc>
                <a:spcPct val="105000"/>
              </a:lnSpc>
              <a:spcAft>
                <a:spcPts val="600"/>
              </a:spcAft>
            </a:pPr>
            <a:r>
              <a:rPr sz="1600">
                <a:solidFill>
                  <a:srgbClr val="D2222A"/>
                </a:solidFill>
                <a:latin typeface="Montserrat"/>
              </a:rPr>
              <a:t>–  </a:t>
            </a:r>
            <a:r>
              <a:rPr sz="1600" b="0">
                <a:solidFill>
                  <a:srgbClr val="333F50"/>
                </a:solidFill>
                <a:latin typeface="Montserrat"/>
              </a:rPr>
              <a:t>vs SHAP-based clustering literature: Beijing Silhouette ≈ 0.63 vs Gramegna &amp; Giudici credit-risk 0.37.</a:t>
            </a:r>
          </a:p>
          <a:p>
            <a:pPr lvl="1">
              <a:lnSpc>
                <a:spcPct val="105000"/>
              </a:lnSpc>
              <a:spcAft>
                <a:spcPts val="600"/>
              </a:spcAft>
            </a:pPr>
            <a:r>
              <a:rPr sz="1600">
                <a:solidFill>
                  <a:srgbClr val="D2222A"/>
                </a:solidFill>
                <a:latin typeface="Montserrat"/>
              </a:rPr>
              <a:t>–  </a:t>
            </a:r>
            <a:r>
              <a:rPr sz="1600" b="0">
                <a:solidFill>
                  <a:srgbClr val="333F50"/>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Achieved: scalable, multi-granular explanation without collapsing into a single flat summary; formal consistency argument; validation on a structurally different dataset.</a:t>
            </a:r>
          </a:p>
          <a:p>
            <a:pPr>
              <a:lnSpc>
                <a:spcPct val="105000"/>
              </a:lnSpc>
              <a:spcAft>
                <a:spcPts val="900"/>
              </a:spcAft>
            </a:pPr>
            <a:r>
              <a:rPr sz="1700">
                <a:solidFill>
                  <a:srgbClr val="D2222A"/>
                </a:solidFill>
                <a:latin typeface="Wingdings"/>
              </a:rPr>
              <a:t>§  </a:t>
            </a:r>
            <a:r>
              <a:rPr sz="1700" b="1">
                <a:solidFill>
                  <a:srgbClr val="333F50"/>
                </a:solidFill>
                <a:latin typeface="Montserrat Medium"/>
              </a:rPr>
              <a:t>Limitations: still static clustering (despite temporal Beijing data); surrogate-based SHAP + representative-instance reporting compress variation; tabular only.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5"/>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D2222A"/>
                </a:solidFill>
                <a:latin typeface="Montserrat"/>
              </a:rPr>
              <a:t>–  </a:t>
            </a:r>
            <a:r>
              <a:rPr sz="1600" b="0">
                <a:solidFill>
                  <a:srgbClr val="333F50"/>
                </a:solidFill>
                <a:latin typeface="Montserrat"/>
              </a:rPr>
              <a:t>Diversity is often a secondary objective or a re-ranking heuristic.</a:t>
            </a:r>
          </a:p>
          <a:p>
            <a:pPr lvl="1">
              <a:lnSpc>
                <a:spcPct val="105000"/>
              </a:lnSpc>
              <a:spcAft>
                <a:spcPts val="600"/>
              </a:spcAft>
            </a:pPr>
            <a:r>
              <a:rPr sz="1600">
                <a:solidFill>
                  <a:srgbClr val="D2222A"/>
                </a:solidFill>
                <a:latin typeface="Montserrat"/>
              </a:rPr>
              <a:t>–  </a:t>
            </a:r>
            <a:r>
              <a:rPr sz="1600" b="0">
                <a:solidFill>
                  <a:srgbClr val="333F50"/>
                </a:solidFill>
                <a:latin typeface="Montserrat"/>
              </a:rPr>
              <a:t>Interpretability is added after prediction, not integrated into the learning objective.</a:t>
            </a:r>
          </a:p>
          <a:p>
            <a:pPr>
              <a:lnSpc>
                <a:spcPct val="105000"/>
              </a:lnSpc>
              <a:spcAft>
                <a:spcPts val="900"/>
              </a:spcAft>
            </a:pPr>
            <a:r>
              <a:rPr sz="1700">
                <a:solidFill>
                  <a:srgbClr val="D2222A"/>
                </a:solidFill>
                <a:latin typeface="Wingdings"/>
              </a:rPr>
              <a:t>§  </a:t>
            </a:r>
            <a:r>
              <a:rPr sz="1700" b="1">
                <a:solidFill>
                  <a:srgbClr val="333F50"/>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Player set N = U ∪ I ∪ C (users, items, contexts).</a:t>
            </a:r>
          </a:p>
          <a:p>
            <a:pPr>
              <a:lnSpc>
                <a:spcPct val="105000"/>
              </a:lnSpc>
              <a:spcAft>
                <a:spcPts val="900"/>
              </a:spcAft>
            </a:pPr>
            <a:r>
              <a:rPr sz="1700">
                <a:solidFill>
                  <a:srgbClr val="D2222A"/>
                </a:solidFill>
                <a:latin typeface="Wingdings"/>
              </a:rPr>
              <a:t>§  </a:t>
            </a:r>
            <a:r>
              <a:rPr sz="1700" b="0">
                <a:solidFill>
                  <a:srgbClr val="333F50"/>
                </a:solidFill>
                <a:latin typeface="Montserrat"/>
              </a:rPr>
              <a:t>Hypergraph H = (V, E, W); V = U ∪ I ∪ C; W = dynamic edge weights from Shapley estimates.</a:t>
            </a:r>
          </a:p>
          <a:p>
            <a:pPr>
              <a:lnSpc>
                <a:spcPct val="105000"/>
              </a:lnSpc>
              <a:spcAft>
                <a:spcPts val="900"/>
              </a:spcAft>
            </a:pPr>
            <a:r>
              <a:rPr sz="1700">
                <a:solidFill>
                  <a:srgbClr val="D2222A"/>
                </a:solidFill>
                <a:latin typeface="Wingdings"/>
              </a:rPr>
              <a:t>§  </a:t>
            </a:r>
            <a:r>
              <a:rPr sz="1700" b="0">
                <a:solidFill>
                  <a:srgbClr val="333F50"/>
                </a:solidFill>
                <a:latin typeface="Montserrat"/>
              </a:rPr>
              <a:t>Coalition S ⊆ N represents entities participating in a recommendation episode.</a:t>
            </a:r>
          </a:p>
          <a:p>
            <a:pPr>
              <a:lnSpc>
                <a:spcPct val="105000"/>
              </a:lnSpc>
              <a:spcAft>
                <a:spcPts val="900"/>
              </a:spcAft>
            </a:pPr>
            <a:r>
              <a:rPr sz="1700">
                <a:solidFill>
                  <a:srgbClr val="D2222A"/>
                </a:solidFill>
                <a:latin typeface="Wingdings"/>
              </a:rPr>
              <a:t>§  </a:t>
            </a:r>
            <a:r>
              <a:rPr sz="1700" b="0">
                <a:solidFill>
                  <a:srgbClr val="333F50"/>
                </a:solidFill>
                <a:latin typeface="Montserrat"/>
              </a:rPr>
              <a:t>Coalition value v(S) measures the quality of the recommendation outcome achievable by S.</a:t>
            </a:r>
          </a:p>
          <a:p>
            <a:pPr>
              <a:lnSpc>
                <a:spcPct val="105000"/>
              </a:lnSpc>
              <a:spcAft>
                <a:spcPts val="900"/>
              </a:spcAft>
            </a:pPr>
            <a:r>
              <a:rPr sz="1700">
                <a:solidFill>
                  <a:srgbClr val="D2222A"/>
                </a:solidFill>
                <a:latin typeface="Wingdings"/>
              </a:rPr>
              <a:t>§  </a:t>
            </a:r>
            <a:r>
              <a:rPr sz="1700" b="0">
                <a:solidFill>
                  <a:srgbClr val="333F50"/>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v(S) = α · NDCG@20(S) + β · Diversity(S) + γ · ContextScore(S), with α + β + γ = 1.</a:t>
            </a:r>
          </a:p>
          <a:p>
            <a:pPr lvl="1">
              <a:lnSpc>
                <a:spcPct val="105000"/>
              </a:lnSpc>
              <a:spcAft>
                <a:spcPts val="600"/>
              </a:spcAft>
            </a:pPr>
            <a:r>
              <a:rPr sz="1600">
                <a:solidFill>
                  <a:srgbClr val="D2222A"/>
                </a:solidFill>
                <a:latin typeface="Montserrat"/>
              </a:rPr>
              <a:t>–  </a:t>
            </a:r>
            <a:r>
              <a:rPr sz="1600" b="0">
                <a:solidFill>
                  <a:srgbClr val="333F50"/>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D2222A"/>
                </a:solidFill>
                <a:latin typeface="Wingdings"/>
              </a:rPr>
              <a:t>§  </a:t>
            </a:r>
            <a:r>
              <a:rPr sz="1700" b="1">
                <a:solidFill>
                  <a:srgbClr val="333F50"/>
                </a:solidFill>
                <a:latin typeface="Montserrat Medium"/>
              </a:rPr>
              <a:t>Preference-weighted: v_pref(S) = v(S) + λ_pref · Σ_{(u,i)∈S} sim(u,i).</a:t>
            </a:r>
          </a:p>
          <a:p>
            <a:pPr lvl="1">
              <a:lnSpc>
                <a:spcPct val="105000"/>
              </a:lnSpc>
              <a:spcAft>
                <a:spcPts val="600"/>
              </a:spcAft>
            </a:pPr>
            <a:r>
              <a:rPr sz="1600">
                <a:solidFill>
                  <a:srgbClr val="D2222A"/>
                </a:solidFill>
                <a:latin typeface="Montserrat"/>
              </a:rPr>
              <a:t>–  </a:t>
            </a:r>
            <a:r>
              <a:rPr sz="1600" b="0">
                <a:solidFill>
                  <a:srgbClr val="333F50"/>
                </a:solidFill>
                <a:latin typeface="Montserrat"/>
              </a:rPr>
              <a:t>α = 0.60, β = 0.25, γ = 0.15; λ_pref = 0.20 — grid-searched, stable (&lt;1.5% variance in NDCG@20).</a:t>
            </a:r>
          </a:p>
          <a:p>
            <a:pPr lvl="1">
              <a:lnSpc>
                <a:spcPct val="105000"/>
              </a:lnSpc>
              <a:spcAft>
                <a:spcPts val="600"/>
              </a:spcAft>
            </a:pPr>
            <a:r>
              <a:rPr sz="1600">
                <a:solidFill>
                  <a:srgbClr val="D2222A"/>
                </a:solidFill>
                <a:latin typeface="Montserrat"/>
              </a:rPr>
              <a:t>–  </a:t>
            </a:r>
            <a:r>
              <a:rPr sz="1600" b="0">
                <a:solidFill>
                  <a:srgbClr val="333F50"/>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Exact Shapley is combinatorial and infeasible for realistic systems.</a:t>
            </a:r>
          </a:p>
          <a:p>
            <a:pPr>
              <a:lnSpc>
                <a:spcPct val="105000"/>
              </a:lnSpc>
              <a:spcAft>
                <a:spcPts val="900"/>
              </a:spcAft>
            </a:pPr>
            <a:r>
              <a:rPr sz="1700">
                <a:solidFill>
                  <a:srgbClr val="D2222A"/>
                </a:solidFill>
                <a:latin typeface="Wingdings"/>
              </a:rPr>
              <a:t>§  </a:t>
            </a:r>
            <a:r>
              <a:rPr sz="1700" b="1">
                <a:solidFill>
                  <a:srgbClr val="333F50"/>
                </a:solidFill>
                <a:latin typeface="Montserrat Medium"/>
              </a:rPr>
              <a:t>Monte Carlo estimator: φ̂_j = (1/M) Σ_m [ v(S_m ∪ {j}) − v(S_m) ].</a:t>
            </a:r>
          </a:p>
          <a:p>
            <a:pPr>
              <a:lnSpc>
                <a:spcPct val="105000"/>
              </a:lnSpc>
              <a:spcAft>
                <a:spcPts val="900"/>
              </a:spcAft>
            </a:pPr>
            <a:r>
              <a:rPr sz="1700">
                <a:solidFill>
                  <a:srgbClr val="D2222A"/>
                </a:solidFill>
                <a:latin typeface="Wingdings"/>
              </a:rPr>
              <a:t>§  </a:t>
            </a:r>
            <a:r>
              <a:rPr sz="1700" b="1">
                <a:solidFill>
                  <a:srgbClr val="333F50"/>
                </a:solidFill>
                <a:latin typeface="Montserrat Medium"/>
              </a:rPr>
              <a:t>Preference-aware: φ̂_j^pref = (1/M) Σ_m [ v_pref(S_m ∪ {j}) − v_pref(S_m) ].</a:t>
            </a:r>
          </a:p>
          <a:p>
            <a:pPr lvl="1">
              <a:lnSpc>
                <a:spcPct val="105000"/>
              </a:lnSpc>
              <a:spcAft>
                <a:spcPts val="600"/>
              </a:spcAft>
            </a:pPr>
            <a:r>
              <a:rPr sz="1600">
                <a:solidFill>
                  <a:srgbClr val="D2222A"/>
                </a:solidFill>
                <a:latin typeface="Montserrat"/>
              </a:rPr>
              <a:t>–  </a:t>
            </a:r>
            <a:r>
              <a:rPr sz="1600" b="0">
                <a:solidFill>
                  <a:srgbClr val="333F50"/>
                </a:solidFill>
                <a:latin typeface="Montserrat"/>
              </a:rPr>
              <a:t>Unbiased; variance = σ²/M → MSE decays O(1/M), absolute error O(1/√M).</a:t>
            </a:r>
          </a:p>
          <a:p>
            <a:pPr lvl="1">
              <a:lnSpc>
                <a:spcPct val="105000"/>
              </a:lnSpc>
              <a:spcAft>
                <a:spcPts val="600"/>
              </a:spcAft>
            </a:pPr>
            <a:r>
              <a:rPr sz="1600">
                <a:solidFill>
                  <a:srgbClr val="D2222A"/>
                </a:solidFill>
                <a:latin typeface="Montserrat"/>
              </a:rPr>
              <a:t>–  </a:t>
            </a:r>
            <a:r>
              <a:rPr sz="1600" b="1">
                <a:solidFill>
                  <a:srgbClr val="333F50"/>
                </a:solidFill>
                <a:latin typeface="Montserrat"/>
              </a:rPr>
              <a:t>M = 50 selected: MSE ≈ 1.4×10⁻⁵, ~99% accuracy on MovieLens-1M.</a:t>
            </a:r>
          </a:p>
          <a:p>
            <a:pPr lvl="1">
              <a:lnSpc>
                <a:spcPct val="105000"/>
              </a:lnSpc>
              <a:spcAft>
                <a:spcPts val="600"/>
              </a:spcAft>
            </a:pPr>
            <a:r>
              <a:rPr sz="1600">
                <a:solidFill>
                  <a:srgbClr val="D2222A"/>
                </a:solidFill>
                <a:latin typeface="Montserrat"/>
              </a:rPr>
              <a:t>–  </a:t>
            </a:r>
            <a:r>
              <a:rPr sz="1600" b="0">
                <a:solidFill>
                  <a:srgbClr val="333F50"/>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Base propagation: e^(l+1) = σ( D^-1/2 A D^-1/2 e^(l) ).</a:t>
            </a:r>
          </a:p>
          <a:p>
            <a:pPr>
              <a:lnSpc>
                <a:spcPct val="105000"/>
              </a:lnSpc>
              <a:spcAft>
                <a:spcPts val="900"/>
              </a:spcAft>
            </a:pPr>
            <a:r>
              <a:rPr sz="1700">
                <a:solidFill>
                  <a:srgbClr val="D2222A"/>
                </a:solidFill>
                <a:latin typeface="Wingdings"/>
              </a:rPr>
              <a:t>§  </a:t>
            </a:r>
            <a:r>
              <a:rPr sz="1700" b="1">
                <a:solidFill>
                  <a:srgbClr val="333F50"/>
                </a:solidFill>
                <a:latin typeface="Montserrat Medium"/>
              </a:rPr>
              <a:t>Shapley-weighted: e_j^(l+1) = σ( W^(l) e_j^(l) + Σ_{k∈N(j)} w_jk e_k^(l) ).</a:t>
            </a:r>
          </a:p>
          <a:p>
            <a:pPr>
              <a:lnSpc>
                <a:spcPct val="105000"/>
              </a:lnSpc>
              <a:spcAft>
                <a:spcPts val="900"/>
              </a:spcAft>
            </a:pPr>
            <a:r>
              <a:rPr sz="1700">
                <a:solidFill>
                  <a:srgbClr val="D2222A"/>
                </a:solidFill>
                <a:latin typeface="Wingdings"/>
              </a:rPr>
              <a:t>§  </a:t>
            </a:r>
            <a:r>
              <a:rPr sz="1700" b="1">
                <a:solidFill>
                  <a:srgbClr val="333F50"/>
                </a:solidFill>
                <a:latin typeface="Montserrat Medium"/>
              </a:rPr>
              <a:t>Normalised weights: w_jk = φ̂_jk / Σ_{k'∈N(j)} φ̂_jk'.</a:t>
            </a:r>
          </a:p>
          <a:p>
            <a:pPr lvl="1">
              <a:lnSpc>
                <a:spcPct val="105000"/>
              </a:lnSpc>
              <a:spcAft>
                <a:spcPts val="600"/>
              </a:spcAft>
            </a:pPr>
            <a:r>
              <a:rPr sz="1600">
                <a:solidFill>
                  <a:srgbClr val="D2222A"/>
                </a:solidFill>
                <a:latin typeface="Montserrat"/>
              </a:rPr>
              <a:t>–  </a:t>
            </a:r>
            <a:r>
              <a:rPr sz="1600" b="0">
                <a:solidFill>
                  <a:srgbClr val="333F50"/>
                </a:solidFill>
                <a:latin typeface="Montserrat"/>
              </a:rPr>
              <a:t>Clipped + exponentially smoothed before normalisation (stabilises sparse regimes).</a:t>
            </a:r>
          </a:p>
          <a:p>
            <a:pPr lvl="1">
              <a:lnSpc>
                <a:spcPct val="105000"/>
              </a:lnSpc>
              <a:spcAft>
                <a:spcPts val="600"/>
              </a:spcAft>
            </a:pPr>
            <a:r>
              <a:rPr sz="1600">
                <a:solidFill>
                  <a:srgbClr val="D2222A"/>
                </a:solidFill>
                <a:latin typeface="Montserrat"/>
              </a:rPr>
              <a:t>–  </a:t>
            </a:r>
            <a:r>
              <a:rPr sz="1600" b="0">
                <a:solidFill>
                  <a:srgbClr val="333F50"/>
                </a:solidFill>
                <a:latin typeface="Montserrat"/>
              </a:rPr>
              <a:t>Attention gate: a_ui = σ( W_a[ e_u, e_i, l_i ] ); y_ui = (1 + a_ui) ⟨e_u, e_i⟩.</a:t>
            </a:r>
          </a:p>
          <a:p>
            <a:pPr lvl="1">
              <a:lnSpc>
                <a:spcPct val="105000"/>
              </a:lnSpc>
              <a:spcAft>
                <a:spcPts val="600"/>
              </a:spcAft>
            </a:pPr>
            <a:r>
              <a:rPr sz="1600">
                <a:solidFill>
                  <a:srgbClr val="D2222A"/>
                </a:solidFill>
                <a:latin typeface="Montserrat"/>
              </a:rPr>
              <a:t>–  </a:t>
            </a:r>
            <a:r>
              <a:rPr sz="1600" b="0">
                <a:solidFill>
                  <a:srgbClr val="333F50"/>
                </a:solidFill>
                <a:latin typeface="Montserrat"/>
              </a:rPr>
              <a:t>Context-aware score: f(u,i,c) = y_ui + λ_c ⟨g(c_ui), e_cui⟩.</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L = L_rec + λ_div L_div + λ_ctx L_ctx + λ_reg L_reg.</a:t>
            </a:r>
          </a:p>
          <a:p>
            <a:pPr lvl="1">
              <a:lnSpc>
                <a:spcPct val="105000"/>
              </a:lnSpc>
              <a:spcAft>
                <a:spcPts val="600"/>
              </a:spcAft>
            </a:pPr>
            <a:r>
              <a:rPr sz="1600">
                <a:solidFill>
                  <a:srgbClr val="D2222A"/>
                </a:solidFill>
                <a:latin typeface="Montserrat"/>
              </a:rPr>
              <a:t>–  </a:t>
            </a:r>
            <a:r>
              <a:rPr sz="1600" b="0">
                <a:solidFill>
                  <a:srgbClr val="333F50"/>
                </a:solidFill>
                <a:latin typeface="Montserrat"/>
              </a:rPr>
              <a:t>L_rec – Bayesian Personalised Ranking (pairwise, implicit feedback).</a:t>
            </a:r>
          </a:p>
          <a:p>
            <a:pPr lvl="1">
              <a:lnSpc>
                <a:spcPct val="105000"/>
              </a:lnSpc>
              <a:spcAft>
                <a:spcPts val="600"/>
              </a:spcAft>
            </a:pPr>
            <a:r>
              <a:rPr sz="1600">
                <a:solidFill>
                  <a:srgbClr val="D2222A"/>
                </a:solidFill>
                <a:latin typeface="Montserrat"/>
              </a:rPr>
              <a:t>–  </a:t>
            </a:r>
            <a:r>
              <a:rPr sz="1600" b="0">
                <a:solidFill>
                  <a:srgbClr val="333F50"/>
                </a:solidFill>
                <a:latin typeface="Montserrat"/>
              </a:rPr>
              <a:t>L_div – Intra-List Diversity regulariser: penalises redundant ranked lists.</a:t>
            </a:r>
          </a:p>
          <a:p>
            <a:pPr lvl="1">
              <a:lnSpc>
                <a:spcPct val="105000"/>
              </a:lnSpc>
              <a:spcAft>
                <a:spcPts val="600"/>
              </a:spcAft>
            </a:pPr>
            <a:r>
              <a:rPr sz="1600">
                <a:solidFill>
                  <a:srgbClr val="D2222A"/>
                </a:solidFill>
                <a:latin typeface="Montserrat"/>
              </a:rPr>
              <a:t>–  </a:t>
            </a:r>
            <a:r>
              <a:rPr sz="1600" b="0">
                <a:solidFill>
                  <a:srgbClr val="333F50"/>
                </a:solidFill>
                <a:latin typeface="Montserrat"/>
              </a:rPr>
              <a:t>L_ctx – Context alignment: match context embedding to context-node representation.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L_reg – L2 weight decay.</a:t>
            </a:r>
          </a:p>
          <a:p>
            <a:pPr lvl="1">
              <a:lnSpc>
                <a:spcPct val="105000"/>
              </a:lnSpc>
              <a:spcAft>
                <a:spcPts val="600"/>
              </a:spcAft>
            </a:pPr>
            <a:r>
              <a:rPr sz="1600">
                <a:solidFill>
                  <a:srgbClr val="D2222A"/>
                </a:solidFill>
                <a:latin typeface="Montserrat"/>
              </a:rPr>
              <a:t>–  </a:t>
            </a:r>
            <a:r>
              <a:rPr sz="1600" b="1">
                <a:solidFill>
                  <a:srgbClr val="333F50"/>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D2222A"/>
                    </a:solidFill>
                  </a:tcPr>
                </a:tc>
                <a:tc>
                  <a:txBody>
                    <a:bodyPr/>
                    <a:lstStyle/>
                    <a:p>
                      <a:pPr algn="ctr"/>
                      <a:r>
                        <a:rPr sz="1200" b="1">
                          <a:solidFill>
                            <a:srgbClr val="FFFFFF"/>
                          </a:solidFill>
                          <a:latin typeface="Montserrat Medium"/>
                        </a:rPr>
                        <a:t>Model</a:t>
                      </a:r>
                    </a:p>
                  </a:txBody>
                  <a:tcPr anchor="ctr" marL="54864" marR="54864" marT="18288" marB="18288">
                    <a:solidFill>
                      <a:srgbClr val="D2222A"/>
                    </a:solidFill>
                  </a:tcPr>
                </a:tc>
                <a:tc>
                  <a:txBody>
                    <a:bodyPr/>
                    <a:lstStyle/>
                    <a:p>
                      <a:pPr algn="ctr"/>
                      <a:r>
                        <a:rPr sz="1200" b="1">
                          <a:solidFill>
                            <a:srgbClr val="FFFFFF"/>
                          </a:solidFill>
                          <a:latin typeface="Montserrat Medium"/>
                        </a:rPr>
                        <a:t>NDCG@20</a:t>
                      </a:r>
                    </a:p>
                  </a:txBody>
                  <a:tcPr anchor="ctr" marL="54864" marR="54864" marT="18288" marB="18288">
                    <a:solidFill>
                      <a:srgbClr val="D2222A"/>
                    </a:solidFill>
                  </a:tcPr>
                </a:tc>
                <a:tc>
                  <a:txBody>
                    <a:bodyPr/>
                    <a:lstStyle/>
                    <a:p>
                      <a:pPr algn="ctr"/>
                      <a:r>
                        <a:rPr sz="1200" b="1">
                          <a:solidFill>
                            <a:srgbClr val="FFFFFF"/>
                          </a:solidFill>
                          <a:latin typeface="Montserrat Medium"/>
                        </a:rPr>
                        <a:t>Recall@20</a:t>
                      </a:r>
                    </a:p>
                  </a:txBody>
                  <a:tcPr anchor="ctr" marL="54864" marR="54864" marT="18288" marB="18288">
                    <a:solidFill>
                      <a:srgbClr val="D2222A"/>
                    </a:solidFill>
                  </a:tcPr>
                </a:tc>
                <a:tc>
                  <a:txBody>
                    <a:bodyPr/>
                    <a:lstStyle/>
                    <a:p>
                      <a:pPr algn="ctr"/>
                      <a:r>
                        <a:rPr sz="1200" b="1">
                          <a:solidFill>
                            <a:srgbClr val="FFFFFF"/>
                          </a:solidFill>
                          <a:latin typeface="Montserrat Medium"/>
                        </a:rPr>
                        <a:t>Coverage</a:t>
                      </a:r>
                    </a:p>
                  </a:txBody>
                  <a:tcPr anchor="ctr" marL="54864" marR="54864" marT="18288" marB="18288">
                    <a:solidFill>
                      <a:srgbClr val="D2222A"/>
                    </a:solidFill>
                  </a:tcPr>
                </a:tc>
                <a:tc>
                  <a:txBody>
                    <a:bodyPr/>
                    <a:lstStyle/>
                    <a:p>
                      <a:pPr algn="ctr"/>
                      <a:r>
                        <a:rPr sz="1200" b="1">
                          <a:solidFill>
                            <a:srgbClr val="FFFFFF"/>
                          </a:solidFill>
                          <a:latin typeface="Montserrat Medium"/>
                        </a:rPr>
                        <a:t>Diversity</a:t>
                      </a:r>
                    </a:p>
                  </a:txBody>
                  <a:tcPr anchor="ctr" marL="54864" marR="54864" marT="18288" marB="18288">
                    <a:solidFill>
                      <a:srgbClr val="D2222A"/>
                    </a:solidFill>
                  </a:tcPr>
                </a:tc>
              </a:tr>
              <a:tr h="713232">
                <a:tc>
                  <a:txBody>
                    <a:bodyPr/>
                    <a:lstStyle/>
                    <a:p>
                      <a:pPr algn="l"/>
                      <a:r>
                        <a:rPr sz="1200" b="0">
                          <a:solidFill>
                            <a:srgbClr val="333F50"/>
                          </a:solidFill>
                          <a:latin typeface="Montserrat"/>
                        </a:rPr>
                        <a:t>MovieLens-1M</a:t>
                      </a:r>
                    </a:p>
                  </a:txBody>
                  <a:tcPr anchor="ctr" marL="54864" marR="54864" marT="18288" marB="18288">
                    <a:solidFill>
                      <a:srgbClr val="FFFFFF"/>
                    </a:solidFill>
                  </a:tcPr>
                </a:tc>
                <a:tc>
                  <a:txBody>
                    <a:bodyPr/>
                    <a:lstStyle/>
                    <a:p>
                      <a:pPr algn="ctr"/>
                      <a:r>
                        <a:rPr sz="1200" b="0">
                          <a:solidFill>
                            <a:srgbClr val="333F50"/>
                          </a:solidFill>
                          <a:latin typeface="Montserrat"/>
                        </a:rPr>
                        <a:t>HPCF</a:t>
                      </a:r>
                    </a:p>
                  </a:txBody>
                  <a:tcPr anchor="ctr" marL="54864" marR="54864" marT="18288" marB="18288">
                    <a:solidFill>
                      <a:srgbClr val="FFFFFF"/>
                    </a:solidFill>
                  </a:tcPr>
                </a:tc>
                <a:tc>
                  <a:txBody>
                    <a:bodyPr/>
                    <a:lstStyle/>
                    <a:p>
                      <a:pPr algn="ctr"/>
                      <a:r>
                        <a:rPr sz="1200" b="0">
                          <a:solidFill>
                            <a:srgbClr val="333F50"/>
                          </a:solidFill>
                          <a:latin typeface="Montserrat"/>
                        </a:rPr>
                        <a:t>0.2528</a:t>
                      </a:r>
                    </a:p>
                  </a:txBody>
                  <a:tcPr anchor="ctr" marL="54864" marR="54864" marT="18288" marB="18288">
                    <a:solidFill>
                      <a:srgbClr val="FFFFFF"/>
                    </a:solidFill>
                  </a:tcPr>
                </a:tc>
                <a:tc>
                  <a:txBody>
                    <a:bodyPr/>
                    <a:lstStyle/>
                    <a:p>
                      <a:pPr algn="ctr"/>
                      <a:r>
                        <a:rPr sz="1200" b="0">
                          <a:solidFill>
                            <a:srgbClr val="333F50"/>
                          </a:solidFill>
                          <a:latin typeface="Montserrat"/>
                        </a:rPr>
                        <a:t>0.2098</a:t>
                      </a:r>
                    </a:p>
                  </a:txBody>
                  <a:tcPr anchor="ctr" marL="54864" marR="54864" marT="18288" marB="18288">
                    <a:solidFill>
                      <a:srgbClr val="FFFFFF"/>
                    </a:solidFill>
                  </a:tcPr>
                </a:tc>
                <a:tc>
                  <a:txBody>
                    <a:bodyPr/>
                    <a:lstStyle/>
                    <a:p>
                      <a:pPr algn="ctr"/>
                      <a:r>
                        <a:rPr sz="1200" b="0">
                          <a:solidFill>
                            <a:srgbClr val="333F50"/>
                          </a:solidFill>
                          <a:latin typeface="Montserrat"/>
                        </a:rPr>
                        <a:t>0.342</a:t>
                      </a:r>
                    </a:p>
                  </a:txBody>
                  <a:tcPr anchor="ctr" marL="54864" marR="54864" marT="18288" marB="18288">
                    <a:solidFill>
                      <a:srgbClr val="FFFFFF"/>
                    </a:solidFill>
                  </a:tcPr>
                </a:tc>
                <a:tc>
                  <a:txBody>
                    <a:bodyPr/>
                    <a:lstStyle/>
                    <a:p>
                      <a:pPr algn="ctr"/>
                      <a:r>
                        <a:rPr sz="1200" b="0">
                          <a:solidFill>
                            <a:srgbClr val="333F50"/>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9E141E"/>
                    </a:solidFill>
                  </a:tcPr>
                </a:tc>
                <a:tc>
                  <a:txBody>
                    <a:bodyPr/>
                    <a:lstStyle/>
                    <a:p>
                      <a:pPr algn="ctr"/>
                      <a:r>
                        <a:rPr sz="1200" b="1">
                          <a:solidFill>
                            <a:srgbClr val="FFFFFF"/>
                          </a:solidFill>
                          <a:latin typeface="Montserrat"/>
                        </a:rPr>
                        <a:t>DyHuCoG</a:t>
                      </a:r>
                    </a:p>
                  </a:txBody>
                  <a:tcPr anchor="ctr" marL="54864" marR="54864" marT="18288" marB="18288">
                    <a:solidFill>
                      <a:srgbClr val="9E141E"/>
                    </a:solidFill>
                  </a:tcPr>
                </a:tc>
                <a:tc>
                  <a:txBody>
                    <a:bodyPr/>
                    <a:lstStyle/>
                    <a:p>
                      <a:pPr algn="ctr"/>
                      <a:r>
                        <a:rPr sz="1200" b="1">
                          <a:solidFill>
                            <a:srgbClr val="FFFFFF"/>
                          </a:solidFill>
                          <a:latin typeface="Montserrat"/>
                        </a:rPr>
                        <a:t>0.2775</a:t>
                      </a:r>
                    </a:p>
                  </a:txBody>
                  <a:tcPr anchor="ctr" marL="54864" marR="54864" marT="18288" marB="18288">
                    <a:solidFill>
                      <a:srgbClr val="9E141E"/>
                    </a:solidFill>
                  </a:tcPr>
                </a:tc>
                <a:tc>
                  <a:txBody>
                    <a:bodyPr/>
                    <a:lstStyle/>
                    <a:p>
                      <a:pPr algn="ctr"/>
                      <a:r>
                        <a:rPr sz="1200" b="1">
                          <a:solidFill>
                            <a:srgbClr val="FFFFFF"/>
                          </a:solidFill>
                          <a:latin typeface="Montserrat"/>
                        </a:rPr>
                        <a:t>0.2362</a:t>
                      </a:r>
                    </a:p>
                  </a:txBody>
                  <a:tcPr anchor="ctr" marL="54864" marR="54864" marT="18288" marB="18288">
                    <a:solidFill>
                      <a:srgbClr val="9E141E"/>
                    </a:solidFill>
                  </a:tcPr>
                </a:tc>
                <a:tc>
                  <a:txBody>
                    <a:bodyPr/>
                    <a:lstStyle/>
                    <a:p>
                      <a:pPr algn="ctr"/>
                      <a:r>
                        <a:rPr sz="1200" b="1">
                          <a:solidFill>
                            <a:srgbClr val="FFFFFF"/>
                          </a:solidFill>
                          <a:latin typeface="Montserrat"/>
                        </a:rPr>
                        <a:t>0.397</a:t>
                      </a:r>
                    </a:p>
                  </a:txBody>
                  <a:tcPr anchor="ctr" marL="54864" marR="54864" marT="18288" marB="18288">
                    <a:solidFill>
                      <a:srgbClr val="9E141E"/>
                    </a:solidFill>
                  </a:tcPr>
                </a:tc>
                <a:tc>
                  <a:txBody>
                    <a:bodyPr/>
                    <a:lstStyle/>
                    <a:p>
                      <a:pPr algn="ctr"/>
                      <a:r>
                        <a:rPr sz="1200" b="1">
                          <a:solidFill>
                            <a:srgbClr val="FFFFFF"/>
                          </a:solidFill>
                          <a:latin typeface="Montserrat"/>
                        </a:rPr>
                        <a:t>0.516</a:t>
                      </a:r>
                    </a:p>
                  </a:txBody>
                  <a:tcPr anchor="ctr" marL="54864" marR="54864" marT="18288" marB="18288">
                    <a:solidFill>
                      <a:srgbClr val="9E141E"/>
                    </a:solidFill>
                  </a:tcPr>
                </a:tc>
              </a:tr>
              <a:tr h="713232">
                <a:tc>
                  <a:txBody>
                    <a:bodyPr/>
                    <a:lstStyle/>
                    <a:p>
                      <a:pPr algn="l"/>
                      <a:r>
                        <a:rPr sz="1200" b="0">
                          <a:solidFill>
                            <a:srgbClr val="333F50"/>
                          </a:solidFill>
                          <a:latin typeface="Montserrat"/>
                        </a:rPr>
                        <a:t>Amazon-Book</a:t>
                      </a:r>
                    </a:p>
                  </a:txBody>
                  <a:tcPr anchor="ctr" marL="54864" marR="54864" marT="18288" marB="18288">
                    <a:solidFill>
                      <a:srgbClr val="FFFFFF"/>
                    </a:solidFill>
                  </a:tcPr>
                </a:tc>
                <a:tc>
                  <a:txBody>
                    <a:bodyPr/>
                    <a:lstStyle/>
                    <a:p>
                      <a:pPr algn="ctr"/>
                      <a:r>
                        <a:rPr sz="1200" b="0">
                          <a:solidFill>
                            <a:srgbClr val="333F50"/>
                          </a:solidFill>
                          <a:latin typeface="Montserrat"/>
                        </a:rPr>
                        <a:t>HPCF</a:t>
                      </a:r>
                    </a:p>
                  </a:txBody>
                  <a:tcPr anchor="ctr" marL="54864" marR="54864" marT="18288" marB="18288">
                    <a:solidFill>
                      <a:srgbClr val="FFFFFF"/>
                    </a:solidFill>
                  </a:tcPr>
                </a:tc>
                <a:tc>
                  <a:txBody>
                    <a:bodyPr/>
                    <a:lstStyle/>
                    <a:p>
                      <a:pPr algn="ctr"/>
                      <a:r>
                        <a:rPr sz="1200" b="0">
                          <a:solidFill>
                            <a:srgbClr val="333F50"/>
                          </a:solidFill>
                          <a:latin typeface="Montserrat"/>
                        </a:rPr>
                        <a:t>0.0270</a:t>
                      </a:r>
                    </a:p>
                  </a:txBody>
                  <a:tcPr anchor="ctr" marL="54864" marR="54864" marT="18288" marB="18288">
                    <a:solidFill>
                      <a:srgbClr val="FFFFFF"/>
                    </a:solidFill>
                  </a:tcPr>
                </a:tc>
                <a:tc>
                  <a:txBody>
                    <a:bodyPr/>
                    <a:lstStyle/>
                    <a:p>
                      <a:pPr algn="ctr"/>
                      <a:r>
                        <a:rPr sz="1200" b="0">
                          <a:solidFill>
                            <a:srgbClr val="333F50"/>
                          </a:solidFill>
                          <a:latin typeface="Montserrat"/>
                        </a:rPr>
                        <a:t>0.0359</a:t>
                      </a:r>
                    </a:p>
                  </a:txBody>
                  <a:tcPr anchor="ctr" marL="54864" marR="54864" marT="18288" marB="18288">
                    <a:solidFill>
                      <a:srgbClr val="FFFFFF"/>
                    </a:solidFill>
                  </a:tcPr>
                </a:tc>
                <a:tc>
                  <a:txBody>
                    <a:bodyPr/>
                    <a:lstStyle/>
                    <a:p>
                      <a:pPr algn="ctr"/>
                      <a:r>
                        <a:rPr sz="1200" b="0">
                          <a:solidFill>
                            <a:srgbClr val="333F50"/>
                          </a:solidFill>
                          <a:latin typeface="Montserrat"/>
                        </a:rPr>
                        <a:t>0.259</a:t>
                      </a:r>
                    </a:p>
                  </a:txBody>
                  <a:tcPr anchor="ctr" marL="54864" marR="54864" marT="18288" marB="18288">
                    <a:solidFill>
                      <a:srgbClr val="FFFFFF"/>
                    </a:solidFill>
                  </a:tcPr>
                </a:tc>
                <a:tc>
                  <a:txBody>
                    <a:bodyPr/>
                    <a:lstStyle/>
                    <a:p>
                      <a:pPr algn="ctr"/>
                      <a:r>
                        <a:rPr sz="1200" b="0">
                          <a:solidFill>
                            <a:srgbClr val="333F50"/>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9E141E"/>
                    </a:solidFill>
                  </a:tcPr>
                </a:tc>
                <a:tc>
                  <a:txBody>
                    <a:bodyPr/>
                    <a:lstStyle/>
                    <a:p>
                      <a:pPr algn="ctr"/>
                      <a:r>
                        <a:rPr sz="1200" b="1">
                          <a:solidFill>
                            <a:srgbClr val="FFFFFF"/>
                          </a:solidFill>
                          <a:latin typeface="Montserrat"/>
                        </a:rPr>
                        <a:t>DyHuCoG</a:t>
                      </a:r>
                    </a:p>
                  </a:txBody>
                  <a:tcPr anchor="ctr" marL="54864" marR="54864" marT="18288" marB="18288">
                    <a:solidFill>
                      <a:srgbClr val="9E141E"/>
                    </a:solidFill>
                  </a:tcPr>
                </a:tc>
                <a:tc>
                  <a:txBody>
                    <a:bodyPr/>
                    <a:lstStyle/>
                    <a:p>
                      <a:pPr algn="ctr"/>
                      <a:r>
                        <a:rPr sz="1200" b="1">
                          <a:solidFill>
                            <a:srgbClr val="FFFFFF"/>
                          </a:solidFill>
                          <a:latin typeface="Montserrat"/>
                        </a:rPr>
                        <a:t>0.0306</a:t>
                      </a:r>
                    </a:p>
                  </a:txBody>
                  <a:tcPr anchor="ctr" marL="54864" marR="54864" marT="18288" marB="18288">
                    <a:solidFill>
                      <a:srgbClr val="9E141E"/>
                    </a:solidFill>
                  </a:tcPr>
                </a:tc>
                <a:tc>
                  <a:txBody>
                    <a:bodyPr/>
                    <a:lstStyle/>
                    <a:p>
                      <a:pPr algn="ctr"/>
                      <a:r>
                        <a:rPr sz="1200" b="1">
                          <a:solidFill>
                            <a:srgbClr val="FFFFFF"/>
                          </a:solidFill>
                          <a:latin typeface="Montserrat"/>
                        </a:rPr>
                        <a:t>0.0417</a:t>
                      </a:r>
                    </a:p>
                  </a:txBody>
                  <a:tcPr anchor="ctr" marL="54864" marR="54864" marT="18288" marB="18288">
                    <a:solidFill>
                      <a:srgbClr val="9E141E"/>
                    </a:solidFill>
                  </a:tcPr>
                </a:tc>
                <a:tc>
                  <a:txBody>
                    <a:bodyPr/>
                    <a:lstStyle/>
                    <a:p>
                      <a:pPr algn="ctr"/>
                      <a:r>
                        <a:rPr sz="1200" b="1">
                          <a:solidFill>
                            <a:srgbClr val="FFFFFF"/>
                          </a:solidFill>
                          <a:latin typeface="Montserrat"/>
                        </a:rPr>
                        <a:t>0.336</a:t>
                      </a:r>
                    </a:p>
                  </a:txBody>
                  <a:tcPr anchor="ctr" marL="54864" marR="54864" marT="18288" marB="18288">
                    <a:solidFill>
                      <a:srgbClr val="9E141E"/>
                    </a:solidFill>
                  </a:tcPr>
                </a:tc>
                <a:tc>
                  <a:txBody>
                    <a:bodyPr/>
                    <a:lstStyle/>
                    <a:p>
                      <a:pPr algn="ctr"/>
                      <a:r>
                        <a:rPr sz="1200" b="1">
                          <a:solidFill>
                            <a:srgbClr val="FFFFFF"/>
                          </a:solidFill>
                          <a:latin typeface="Montserrat"/>
                        </a:rPr>
                        <a:t>0.602</a:t>
                      </a:r>
                    </a:p>
                  </a:txBody>
                  <a:tcPr anchor="ctr" marL="54864" marR="54864" marT="18288" marB="18288">
                    <a:solidFill>
                      <a:srgbClr val="9E141E"/>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D2222A"/>
                    </a:solidFill>
                  </a:tcPr>
                </a:tc>
                <a:tc>
                  <a:txBody>
                    <a:bodyPr/>
                    <a:lstStyle/>
                    <a:p>
                      <a:pPr algn="ctr"/>
                      <a:r>
                        <a:rPr sz="1200" b="1">
                          <a:solidFill>
                            <a:srgbClr val="FFFFFF"/>
                          </a:solidFill>
                          <a:latin typeface="Montserrat Medium"/>
                        </a:rPr>
                        <a:t>MovieLens-1M</a:t>
                      </a:r>
                    </a:p>
                  </a:txBody>
                  <a:tcPr anchor="ctr" marL="54864" marR="54864" marT="18288" marB="18288">
                    <a:solidFill>
                      <a:srgbClr val="D2222A"/>
                    </a:solidFill>
                  </a:tcPr>
                </a:tc>
                <a:tc>
                  <a:txBody>
                    <a:bodyPr/>
                    <a:lstStyle/>
                    <a:p>
                      <a:pPr algn="ctr"/>
                      <a:r>
                        <a:rPr sz="1200" b="1">
                          <a:solidFill>
                            <a:srgbClr val="FFFFFF"/>
                          </a:solidFill>
                          <a:latin typeface="Montserrat Medium"/>
                        </a:rPr>
                        <a:t>Amazon-Book</a:t>
                      </a:r>
                    </a:p>
                  </a:txBody>
                  <a:tcPr anchor="ctr" marL="54864" marR="54864" marT="18288" marB="18288">
                    <a:solidFill>
                      <a:srgbClr val="D2222A"/>
                    </a:solidFill>
                  </a:tcPr>
                </a:tc>
              </a:tr>
              <a:tr h="658368">
                <a:tc>
                  <a:txBody>
                    <a:bodyPr/>
                    <a:lstStyle/>
                    <a:p>
                      <a:pPr algn="l"/>
                      <a:r>
                        <a:rPr sz="1200" b="0">
                          <a:solidFill>
                            <a:srgbClr val="333F50"/>
                          </a:solidFill>
                          <a:latin typeface="Montserrat"/>
                        </a:rPr>
                        <a:t>NDCG@20</a:t>
                      </a:r>
                    </a:p>
                  </a:txBody>
                  <a:tcPr anchor="ctr" marL="54864" marR="54864" marT="18288" marB="18288">
                    <a:solidFill>
                      <a:srgbClr val="FFFFFF"/>
                    </a:solidFill>
                  </a:tcPr>
                </a:tc>
                <a:tc>
                  <a:txBody>
                    <a:bodyPr/>
                    <a:lstStyle/>
                    <a:p>
                      <a:pPr algn="ctr"/>
                      <a:r>
                        <a:rPr sz="1200" b="0">
                          <a:solidFill>
                            <a:srgbClr val="333F50"/>
                          </a:solidFill>
                          <a:latin typeface="Montserrat"/>
                        </a:rPr>
                        <a:t>+9.77%</a:t>
                      </a:r>
                    </a:p>
                  </a:txBody>
                  <a:tcPr anchor="ctr" marL="54864" marR="54864" marT="18288" marB="18288">
                    <a:solidFill>
                      <a:srgbClr val="FFFFFF"/>
                    </a:solidFill>
                  </a:tcPr>
                </a:tc>
                <a:tc>
                  <a:txBody>
                    <a:bodyPr/>
                    <a:lstStyle/>
                    <a:p>
                      <a:pPr algn="ctr"/>
                      <a:r>
                        <a:rPr sz="1200" b="0">
                          <a:solidFill>
                            <a:srgbClr val="333F50"/>
                          </a:solidFill>
                          <a:latin typeface="Montserrat"/>
                        </a:rPr>
                        <a:t>+13.33%</a:t>
                      </a:r>
                    </a:p>
                  </a:txBody>
                  <a:tcPr anchor="ctr" marL="54864" marR="54864" marT="18288" marB="18288">
                    <a:solidFill>
                      <a:srgbClr val="FFFFFF"/>
                    </a:solidFill>
                  </a:tcPr>
                </a:tc>
              </a:tr>
              <a:tr h="658368">
                <a:tc>
                  <a:txBody>
                    <a:bodyPr/>
                    <a:lstStyle/>
                    <a:p>
                      <a:pPr algn="l"/>
                      <a:r>
                        <a:rPr sz="1200" b="0">
                          <a:solidFill>
                            <a:srgbClr val="333F50"/>
                          </a:solidFill>
                          <a:latin typeface="Montserrat"/>
                        </a:rPr>
                        <a:t>Recall@20</a:t>
                      </a:r>
                    </a:p>
                  </a:txBody>
                  <a:tcPr anchor="ctr" marL="54864" marR="54864" marT="18288" marB="18288">
                    <a:solidFill>
                      <a:srgbClr val="F0F4FB"/>
                    </a:solidFill>
                  </a:tcPr>
                </a:tc>
                <a:tc>
                  <a:txBody>
                    <a:bodyPr/>
                    <a:lstStyle/>
                    <a:p>
                      <a:pPr algn="ctr"/>
                      <a:r>
                        <a:rPr sz="1200" b="0">
                          <a:solidFill>
                            <a:srgbClr val="333F50"/>
                          </a:solidFill>
                          <a:latin typeface="Montserrat"/>
                        </a:rPr>
                        <a:t>+12.58%</a:t>
                      </a:r>
                    </a:p>
                  </a:txBody>
                  <a:tcPr anchor="ctr" marL="54864" marR="54864" marT="18288" marB="18288">
                    <a:solidFill>
                      <a:srgbClr val="F0F4FB"/>
                    </a:solidFill>
                  </a:tcPr>
                </a:tc>
                <a:tc>
                  <a:txBody>
                    <a:bodyPr/>
                    <a:lstStyle/>
                    <a:p>
                      <a:pPr algn="ctr"/>
                      <a:r>
                        <a:rPr sz="1200" b="0">
                          <a:solidFill>
                            <a:srgbClr val="333F50"/>
                          </a:solidFill>
                          <a:latin typeface="Montserrat"/>
                        </a:rPr>
                        <a:t>+16.16%</a:t>
                      </a:r>
                    </a:p>
                  </a:txBody>
                  <a:tcPr anchor="ctr" marL="54864" marR="54864" marT="18288" marB="18288">
                    <a:solidFill>
                      <a:srgbClr val="F0F4FB"/>
                    </a:solidFill>
                  </a:tcPr>
                </a:tc>
              </a:tr>
              <a:tr h="658368">
                <a:tc>
                  <a:txBody>
                    <a:bodyPr/>
                    <a:lstStyle/>
                    <a:p>
                      <a:pPr algn="l"/>
                      <a:r>
                        <a:rPr sz="1200" b="0">
                          <a:solidFill>
                            <a:srgbClr val="333F50"/>
                          </a:solidFill>
                          <a:latin typeface="Montserrat"/>
                        </a:rPr>
                        <a:t>Coverage</a:t>
                      </a:r>
                    </a:p>
                  </a:txBody>
                  <a:tcPr anchor="ctr" marL="54864" marR="54864" marT="18288" marB="18288">
                    <a:solidFill>
                      <a:srgbClr val="FFFFFF"/>
                    </a:solidFill>
                  </a:tcPr>
                </a:tc>
                <a:tc>
                  <a:txBody>
                    <a:bodyPr/>
                    <a:lstStyle/>
                    <a:p>
                      <a:pPr algn="ctr"/>
                      <a:r>
                        <a:rPr sz="1200" b="0">
                          <a:solidFill>
                            <a:srgbClr val="333F50"/>
                          </a:solidFill>
                          <a:latin typeface="Montserrat"/>
                        </a:rPr>
                        <a:t>+16.1%</a:t>
                      </a:r>
                    </a:p>
                  </a:txBody>
                  <a:tcPr anchor="ctr" marL="54864" marR="54864" marT="18288" marB="18288">
                    <a:solidFill>
                      <a:srgbClr val="FFFFFF"/>
                    </a:solidFill>
                  </a:tcPr>
                </a:tc>
                <a:tc>
                  <a:txBody>
                    <a:bodyPr/>
                    <a:lstStyle/>
                    <a:p>
                      <a:pPr algn="ctr"/>
                      <a:r>
                        <a:rPr sz="1200" b="0">
                          <a:solidFill>
                            <a:srgbClr val="333F50"/>
                          </a:solidFill>
                          <a:latin typeface="Montserrat"/>
                        </a:rPr>
                        <a:t>+29.7%</a:t>
                      </a:r>
                    </a:p>
                  </a:txBody>
                  <a:tcPr anchor="ctr" marL="54864" marR="54864" marT="18288" marB="18288">
                    <a:solidFill>
                      <a:srgbClr val="FFFFFF"/>
                    </a:solidFill>
                  </a:tcPr>
                </a:tc>
              </a:tr>
              <a:tr h="658368">
                <a:tc>
                  <a:txBody>
                    <a:bodyPr/>
                    <a:lstStyle/>
                    <a:p>
                      <a:pPr algn="l"/>
                      <a:r>
                        <a:rPr sz="1200" b="0">
                          <a:solidFill>
                            <a:srgbClr val="333F50"/>
                          </a:solidFill>
                          <a:latin typeface="Montserrat"/>
                        </a:rPr>
                        <a:t>Intra-List Diversity</a:t>
                      </a:r>
                    </a:p>
                  </a:txBody>
                  <a:tcPr anchor="ctr" marL="54864" marR="54864" marT="18288" marB="18288">
                    <a:solidFill>
                      <a:srgbClr val="F0F4FB"/>
                    </a:solidFill>
                  </a:tcPr>
                </a:tc>
                <a:tc>
                  <a:txBody>
                    <a:bodyPr/>
                    <a:lstStyle/>
                    <a:p>
                      <a:pPr algn="ctr"/>
                      <a:r>
                        <a:rPr sz="1200" b="0">
                          <a:solidFill>
                            <a:srgbClr val="333F50"/>
                          </a:solidFill>
                          <a:latin typeface="Montserrat"/>
                        </a:rPr>
                        <a:t>+11.9%</a:t>
                      </a:r>
                    </a:p>
                  </a:txBody>
                  <a:tcPr anchor="ctr" marL="54864" marR="54864" marT="18288" marB="18288">
                    <a:solidFill>
                      <a:srgbClr val="F0F4FB"/>
                    </a:solidFill>
                  </a:tcPr>
                </a:tc>
                <a:tc>
                  <a:txBody>
                    <a:bodyPr/>
                    <a:lstStyle/>
                    <a:p>
                      <a:pPr algn="ctr"/>
                      <a:r>
                        <a:rPr sz="1200" b="0">
                          <a:solidFill>
                            <a:srgbClr val="333F50"/>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MovieLens-1M: Coverage 0.342 → 0.397 (+16.1%); ILD 0.461 → 0.516 (+11.9%).</a:t>
            </a:r>
          </a:p>
          <a:p>
            <a:pPr>
              <a:lnSpc>
                <a:spcPct val="105000"/>
              </a:lnSpc>
              <a:spcAft>
                <a:spcPts val="900"/>
              </a:spcAft>
            </a:pPr>
            <a:r>
              <a:rPr sz="1700">
                <a:solidFill>
                  <a:srgbClr val="D2222A"/>
                </a:solidFill>
                <a:latin typeface="Wingdings"/>
              </a:rPr>
              <a:t>§  </a:t>
            </a:r>
            <a:r>
              <a:rPr sz="1700" b="1">
                <a:solidFill>
                  <a:srgbClr val="333F50"/>
                </a:solidFill>
                <a:latin typeface="Montserrat Medium"/>
              </a:rPr>
              <a:t>Amazon-Book: Coverage 0.259 → 0.336 (+29.7%); ILD 0.535 → 0.602 (+12.5%).</a:t>
            </a:r>
          </a:p>
          <a:p>
            <a:pPr lvl="1">
              <a:lnSpc>
                <a:spcPct val="105000"/>
              </a:lnSpc>
              <a:spcAft>
                <a:spcPts val="600"/>
              </a:spcAft>
            </a:pPr>
            <a:r>
              <a:rPr sz="1600">
                <a:solidFill>
                  <a:srgbClr val="D2222A"/>
                </a:solidFill>
                <a:latin typeface="Montserrat"/>
              </a:rPr>
              <a:t>–  </a:t>
            </a:r>
            <a:r>
              <a:rPr sz="1600" b="0">
                <a:solidFill>
                  <a:srgbClr val="333F50"/>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D2222A"/>
                    </a:solidFill>
                  </a:tcPr>
                </a:tc>
                <a:tc>
                  <a:txBody>
                    <a:bodyPr/>
                    <a:lstStyle/>
                    <a:p>
                      <a:pPr algn="ctr"/>
                      <a:r>
                        <a:rPr sz="1200" b="1">
                          <a:solidFill>
                            <a:srgbClr val="FFFFFF"/>
                          </a:solidFill>
                          <a:latin typeface="Montserrat Medium"/>
                        </a:rPr>
                        <a:t>ML-1M NDCG@20</a:t>
                      </a:r>
                    </a:p>
                  </a:txBody>
                  <a:tcPr anchor="ctr" marL="54864" marR="54864" marT="18288" marB="18288">
                    <a:solidFill>
                      <a:srgbClr val="D2222A"/>
                    </a:solidFill>
                  </a:tcPr>
                </a:tc>
                <a:tc>
                  <a:txBody>
                    <a:bodyPr/>
                    <a:lstStyle/>
                    <a:p>
                      <a:pPr algn="ctr"/>
                      <a:r>
                        <a:rPr sz="1200" b="1">
                          <a:solidFill>
                            <a:srgbClr val="FFFFFF"/>
                          </a:solidFill>
                          <a:latin typeface="Montserrat Medium"/>
                        </a:rPr>
                        <a:t>% Drop</a:t>
                      </a:r>
                    </a:p>
                  </a:txBody>
                  <a:tcPr anchor="ctr" marL="54864" marR="54864" marT="18288" marB="18288">
                    <a:solidFill>
                      <a:srgbClr val="D2222A"/>
                    </a:solidFill>
                  </a:tcPr>
                </a:tc>
                <a:tc>
                  <a:txBody>
                    <a:bodyPr/>
                    <a:lstStyle/>
                    <a:p>
                      <a:pPr algn="ctr"/>
                      <a:r>
                        <a:rPr sz="1200" b="1">
                          <a:solidFill>
                            <a:srgbClr val="FFFFFF"/>
                          </a:solidFill>
                          <a:latin typeface="Montserrat Medium"/>
                        </a:rPr>
                        <a:t>Amazon NDCG@20</a:t>
                      </a:r>
                    </a:p>
                  </a:txBody>
                  <a:tcPr anchor="ctr" marL="54864" marR="54864" marT="18288" marB="18288">
                    <a:solidFill>
                      <a:srgbClr val="D2222A"/>
                    </a:solidFill>
                  </a:tcPr>
                </a:tc>
                <a:tc>
                  <a:txBody>
                    <a:bodyPr/>
                    <a:lstStyle/>
                    <a:p>
                      <a:pPr algn="ctr"/>
                      <a:r>
                        <a:rPr sz="1200" b="1">
                          <a:solidFill>
                            <a:srgbClr val="FFFFFF"/>
                          </a:solidFill>
                          <a:latin typeface="Montserrat Medium"/>
                        </a:rPr>
                        <a:t>% Drop</a:t>
                      </a:r>
                    </a:p>
                  </a:txBody>
                  <a:tcPr anchor="ctr" marL="54864" marR="54864" marT="18288" marB="18288">
                    <a:solidFill>
                      <a:srgbClr val="D2222A"/>
                    </a:solidFill>
                  </a:tcPr>
                </a:tc>
              </a:tr>
              <a:tr h="509451">
                <a:tc>
                  <a:txBody>
                    <a:bodyPr/>
                    <a:lstStyle/>
                    <a:p>
                      <a:pPr algn="l"/>
                      <a:r>
                        <a:rPr sz="1200" b="0">
                          <a:solidFill>
                            <a:srgbClr val="333F50"/>
                          </a:solidFill>
                          <a:latin typeface="Montserrat"/>
                        </a:rPr>
                        <a:t>Full DyHuCoG</a:t>
                      </a:r>
                    </a:p>
                  </a:txBody>
                  <a:tcPr anchor="ctr" marL="54864" marR="54864" marT="18288" marB="18288">
                    <a:solidFill>
                      <a:srgbClr val="FFFFFF"/>
                    </a:solidFill>
                  </a:tcPr>
                </a:tc>
                <a:tc>
                  <a:txBody>
                    <a:bodyPr/>
                    <a:lstStyle/>
                    <a:p>
                      <a:pPr algn="ctr"/>
                      <a:r>
                        <a:rPr sz="1200" b="0">
                          <a:solidFill>
                            <a:srgbClr val="333F50"/>
                          </a:solidFill>
                          <a:latin typeface="Montserrat"/>
                        </a:rPr>
                        <a:t>0.2775</a:t>
                      </a:r>
                    </a:p>
                  </a:txBody>
                  <a:tcPr anchor="ctr" marL="54864" marR="54864" marT="18288" marB="18288">
                    <a:solidFill>
                      <a:srgbClr val="FFFFFF"/>
                    </a:solidFill>
                  </a:tcPr>
                </a:tc>
                <a:tc>
                  <a:txBody>
                    <a:bodyPr/>
                    <a:lstStyle/>
                    <a:p>
                      <a:pPr algn="ctr"/>
                      <a:r>
                        <a:rPr sz="1200" b="0">
                          <a:solidFill>
                            <a:srgbClr val="333F50"/>
                          </a:solidFill>
                          <a:latin typeface="Montserrat"/>
                        </a:rPr>
                        <a:t>–</a:t>
                      </a:r>
                    </a:p>
                  </a:txBody>
                  <a:tcPr anchor="ctr" marL="54864" marR="54864" marT="18288" marB="18288">
                    <a:solidFill>
                      <a:srgbClr val="FFFFFF"/>
                    </a:solidFill>
                  </a:tcPr>
                </a:tc>
                <a:tc>
                  <a:txBody>
                    <a:bodyPr/>
                    <a:lstStyle/>
                    <a:p>
                      <a:pPr algn="ctr"/>
                      <a:r>
                        <a:rPr sz="1200" b="0">
                          <a:solidFill>
                            <a:srgbClr val="333F50"/>
                          </a:solidFill>
                          <a:latin typeface="Montserrat"/>
                        </a:rPr>
                        <a:t>0.0306</a:t>
                      </a:r>
                    </a:p>
                  </a:txBody>
                  <a:tcPr anchor="ctr" marL="54864" marR="54864" marT="18288" marB="18288">
                    <a:solidFill>
                      <a:srgbClr val="FFFFFF"/>
                    </a:solidFill>
                  </a:tcPr>
                </a:tc>
                <a:tc>
                  <a:txBody>
                    <a:bodyPr/>
                    <a:lstStyle/>
                    <a:p>
                      <a:pPr algn="ctr"/>
                      <a:r>
                        <a:rPr sz="1200" b="0">
                          <a:solidFill>
                            <a:srgbClr val="333F50"/>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9E141E"/>
                    </a:solidFill>
                  </a:tcPr>
                </a:tc>
                <a:tc>
                  <a:txBody>
                    <a:bodyPr/>
                    <a:lstStyle/>
                    <a:p>
                      <a:pPr algn="ctr"/>
                      <a:r>
                        <a:rPr sz="1200" b="1">
                          <a:solidFill>
                            <a:srgbClr val="FFFFFF"/>
                          </a:solidFill>
                          <a:latin typeface="Montserrat"/>
                        </a:rPr>
                        <a:t>0.2647</a:t>
                      </a:r>
                    </a:p>
                  </a:txBody>
                  <a:tcPr anchor="ctr" marL="54864" marR="54864" marT="18288" marB="18288">
                    <a:solidFill>
                      <a:srgbClr val="9E141E"/>
                    </a:solidFill>
                  </a:tcPr>
                </a:tc>
                <a:tc>
                  <a:txBody>
                    <a:bodyPr/>
                    <a:lstStyle/>
                    <a:p>
                      <a:pPr algn="ctr"/>
                      <a:r>
                        <a:rPr sz="1200" b="1">
                          <a:solidFill>
                            <a:srgbClr val="FFFFFF"/>
                          </a:solidFill>
                          <a:latin typeface="Montserrat"/>
                        </a:rPr>
                        <a:t>4.6%</a:t>
                      </a:r>
                    </a:p>
                  </a:txBody>
                  <a:tcPr anchor="ctr" marL="54864" marR="54864" marT="18288" marB="18288">
                    <a:solidFill>
                      <a:srgbClr val="9E141E"/>
                    </a:solidFill>
                  </a:tcPr>
                </a:tc>
                <a:tc>
                  <a:txBody>
                    <a:bodyPr/>
                    <a:lstStyle/>
                    <a:p>
                      <a:pPr algn="ctr"/>
                      <a:r>
                        <a:rPr sz="1200" b="1">
                          <a:solidFill>
                            <a:srgbClr val="FFFFFF"/>
                          </a:solidFill>
                          <a:latin typeface="Montserrat"/>
                        </a:rPr>
                        <a:t>0.0287</a:t>
                      </a:r>
                    </a:p>
                  </a:txBody>
                  <a:tcPr anchor="ctr" marL="54864" marR="54864" marT="18288" marB="18288">
                    <a:solidFill>
                      <a:srgbClr val="9E141E"/>
                    </a:solidFill>
                  </a:tcPr>
                </a:tc>
                <a:tc>
                  <a:txBody>
                    <a:bodyPr/>
                    <a:lstStyle/>
                    <a:p>
                      <a:pPr algn="ctr"/>
                      <a:r>
                        <a:rPr sz="1200" b="1">
                          <a:solidFill>
                            <a:srgbClr val="FFFFFF"/>
                          </a:solidFill>
                          <a:latin typeface="Montserrat"/>
                        </a:rPr>
                        <a:t>6.1%</a:t>
                      </a:r>
                    </a:p>
                  </a:txBody>
                  <a:tcPr anchor="ctr" marL="54864" marR="54864" marT="18288" marB="18288">
                    <a:solidFill>
                      <a:srgbClr val="9E141E"/>
                    </a:solidFill>
                  </a:tcPr>
                </a:tc>
              </a:tr>
              <a:tr h="509451">
                <a:tc>
                  <a:txBody>
                    <a:bodyPr/>
                    <a:lstStyle/>
                    <a:p>
                      <a:pPr algn="l"/>
                      <a:r>
                        <a:rPr sz="1200" b="0">
                          <a:solidFill>
                            <a:srgbClr val="333F50"/>
                          </a:solidFill>
                          <a:latin typeface="Montserrat"/>
                        </a:rPr>
                        <a:t>w/o Hypergraph</a:t>
                      </a:r>
                    </a:p>
                  </a:txBody>
                  <a:tcPr anchor="ctr" marL="54864" marR="54864" marT="18288" marB="18288">
                    <a:solidFill>
                      <a:srgbClr val="FFFFFF"/>
                    </a:solidFill>
                  </a:tcPr>
                </a:tc>
                <a:tc>
                  <a:txBody>
                    <a:bodyPr/>
                    <a:lstStyle/>
                    <a:p>
                      <a:pPr algn="ctr"/>
                      <a:r>
                        <a:rPr sz="1200" b="0">
                          <a:solidFill>
                            <a:srgbClr val="333F50"/>
                          </a:solidFill>
                          <a:latin typeface="Montserrat"/>
                        </a:rPr>
                        <a:t>0.2586</a:t>
                      </a:r>
                    </a:p>
                  </a:txBody>
                  <a:tcPr anchor="ctr" marL="54864" marR="54864" marT="18288" marB="18288">
                    <a:solidFill>
                      <a:srgbClr val="FFFFFF"/>
                    </a:solidFill>
                  </a:tcPr>
                </a:tc>
                <a:tc>
                  <a:txBody>
                    <a:bodyPr/>
                    <a:lstStyle/>
                    <a:p>
                      <a:pPr algn="ctr"/>
                      <a:r>
                        <a:rPr sz="1200" b="0">
                          <a:solidFill>
                            <a:srgbClr val="333F50"/>
                          </a:solidFill>
                          <a:latin typeface="Montserrat"/>
                        </a:rPr>
                        <a:t>6.8%</a:t>
                      </a:r>
                    </a:p>
                  </a:txBody>
                  <a:tcPr anchor="ctr" marL="54864" marR="54864" marT="18288" marB="18288">
                    <a:solidFill>
                      <a:srgbClr val="FFFFFF"/>
                    </a:solidFill>
                  </a:tcPr>
                </a:tc>
                <a:tc>
                  <a:txBody>
                    <a:bodyPr/>
                    <a:lstStyle/>
                    <a:p>
                      <a:pPr algn="ctr"/>
                      <a:r>
                        <a:rPr sz="1200" b="0">
                          <a:solidFill>
                            <a:srgbClr val="333F50"/>
                          </a:solidFill>
                          <a:latin typeface="Montserrat"/>
                        </a:rPr>
                        <a:t>0.0279</a:t>
                      </a:r>
                    </a:p>
                  </a:txBody>
                  <a:tcPr anchor="ctr" marL="54864" marR="54864" marT="18288" marB="18288">
                    <a:solidFill>
                      <a:srgbClr val="FFFFFF"/>
                    </a:solidFill>
                  </a:tcPr>
                </a:tc>
                <a:tc>
                  <a:txBody>
                    <a:bodyPr/>
                    <a:lstStyle/>
                    <a:p>
                      <a:pPr algn="ctr"/>
                      <a:r>
                        <a:rPr sz="1200" b="0">
                          <a:solidFill>
                            <a:srgbClr val="333F50"/>
                          </a:solidFill>
                          <a:latin typeface="Montserrat"/>
                        </a:rPr>
                        <a:t>8.9%</a:t>
                      </a:r>
                    </a:p>
                  </a:txBody>
                  <a:tcPr anchor="ctr" marL="54864" marR="54864" marT="18288" marB="18288">
                    <a:solidFill>
                      <a:srgbClr val="FFFFFF"/>
                    </a:solidFill>
                  </a:tcPr>
                </a:tc>
              </a:tr>
              <a:tr h="509451">
                <a:tc>
                  <a:txBody>
                    <a:bodyPr/>
                    <a:lstStyle/>
                    <a:p>
                      <a:pPr algn="l"/>
                      <a:r>
                        <a:rPr sz="1200" b="0">
                          <a:solidFill>
                            <a:srgbClr val="333F50"/>
                          </a:solidFill>
                          <a:latin typeface="Montserrat"/>
                        </a:rPr>
                        <a:t>w/o Attention</a:t>
                      </a:r>
                    </a:p>
                  </a:txBody>
                  <a:tcPr anchor="ctr" marL="54864" marR="54864" marT="18288" marB="18288">
                    <a:solidFill>
                      <a:srgbClr val="F0F4FB"/>
                    </a:solidFill>
                  </a:tcPr>
                </a:tc>
                <a:tc>
                  <a:txBody>
                    <a:bodyPr/>
                    <a:lstStyle/>
                    <a:p>
                      <a:pPr algn="ctr"/>
                      <a:r>
                        <a:rPr sz="1200" b="0">
                          <a:solidFill>
                            <a:srgbClr val="333F50"/>
                          </a:solidFill>
                          <a:latin typeface="Montserrat"/>
                        </a:rPr>
                        <a:t>0.2678</a:t>
                      </a:r>
                    </a:p>
                  </a:txBody>
                  <a:tcPr anchor="ctr" marL="54864" marR="54864" marT="18288" marB="18288">
                    <a:solidFill>
                      <a:srgbClr val="F0F4FB"/>
                    </a:solidFill>
                  </a:tcPr>
                </a:tc>
                <a:tc>
                  <a:txBody>
                    <a:bodyPr/>
                    <a:lstStyle/>
                    <a:p>
                      <a:pPr algn="ctr"/>
                      <a:r>
                        <a:rPr sz="1200" b="0">
                          <a:solidFill>
                            <a:srgbClr val="333F50"/>
                          </a:solidFill>
                          <a:latin typeface="Montserrat"/>
                        </a:rPr>
                        <a:t>3.5%</a:t>
                      </a:r>
                    </a:p>
                  </a:txBody>
                  <a:tcPr anchor="ctr" marL="54864" marR="54864" marT="18288" marB="18288">
                    <a:solidFill>
                      <a:srgbClr val="F0F4FB"/>
                    </a:solidFill>
                  </a:tcPr>
                </a:tc>
                <a:tc>
                  <a:txBody>
                    <a:bodyPr/>
                    <a:lstStyle/>
                    <a:p>
                      <a:pPr algn="ctr"/>
                      <a:r>
                        <a:rPr sz="1200" b="0">
                          <a:solidFill>
                            <a:srgbClr val="333F50"/>
                          </a:solidFill>
                          <a:latin typeface="Montserrat"/>
                        </a:rPr>
                        <a:t>0.0295</a:t>
                      </a:r>
                    </a:p>
                  </a:txBody>
                  <a:tcPr anchor="ctr" marL="54864" marR="54864" marT="18288" marB="18288">
                    <a:solidFill>
                      <a:srgbClr val="F0F4FB"/>
                    </a:solidFill>
                  </a:tcPr>
                </a:tc>
                <a:tc>
                  <a:txBody>
                    <a:bodyPr/>
                    <a:lstStyle/>
                    <a:p>
                      <a:pPr algn="ctr"/>
                      <a:r>
                        <a:rPr sz="1200" b="0">
                          <a:solidFill>
                            <a:srgbClr val="333F50"/>
                          </a:solidFill>
                          <a:latin typeface="Montserrat"/>
                        </a:rPr>
                        <a:t>3.5%</a:t>
                      </a:r>
                    </a:p>
                  </a:txBody>
                  <a:tcPr anchor="ctr" marL="54864" marR="54864" marT="18288" marB="18288">
                    <a:solidFill>
                      <a:srgbClr val="F0F4FB"/>
                    </a:solidFill>
                  </a:tcPr>
                </a:tc>
              </a:tr>
              <a:tr h="509451">
                <a:tc>
                  <a:txBody>
                    <a:bodyPr/>
                    <a:lstStyle/>
                    <a:p>
                      <a:pPr algn="l"/>
                      <a:r>
                        <a:rPr sz="1200" b="0">
                          <a:solidFill>
                            <a:srgbClr val="333F50"/>
                          </a:solidFill>
                          <a:latin typeface="Montserrat"/>
                        </a:rPr>
                        <a:t>w/o Context</a:t>
                      </a:r>
                    </a:p>
                  </a:txBody>
                  <a:tcPr anchor="ctr" marL="54864" marR="54864" marT="18288" marB="18288">
                    <a:solidFill>
                      <a:srgbClr val="FFFFFF"/>
                    </a:solidFill>
                  </a:tcPr>
                </a:tc>
                <a:tc>
                  <a:txBody>
                    <a:bodyPr/>
                    <a:lstStyle/>
                    <a:p>
                      <a:pPr algn="ctr"/>
                      <a:r>
                        <a:rPr sz="1200" b="0">
                          <a:solidFill>
                            <a:srgbClr val="333F50"/>
                          </a:solidFill>
                          <a:latin typeface="Montserrat"/>
                        </a:rPr>
                        <a:t>0.2547</a:t>
                      </a:r>
                    </a:p>
                  </a:txBody>
                  <a:tcPr anchor="ctr" marL="54864" marR="54864" marT="18288" marB="18288">
                    <a:solidFill>
                      <a:srgbClr val="FFFFFF"/>
                    </a:solidFill>
                  </a:tcPr>
                </a:tc>
                <a:tc>
                  <a:txBody>
                    <a:bodyPr/>
                    <a:lstStyle/>
                    <a:p>
                      <a:pPr algn="ctr"/>
                      <a:r>
                        <a:rPr sz="1200" b="0">
                          <a:solidFill>
                            <a:srgbClr val="333F50"/>
                          </a:solidFill>
                          <a:latin typeface="Montserrat"/>
                        </a:rPr>
                        <a:t>8.2%</a:t>
                      </a:r>
                    </a:p>
                  </a:txBody>
                  <a:tcPr anchor="ctr" marL="54864" marR="54864" marT="18288" marB="18288">
                    <a:solidFill>
                      <a:srgbClr val="FFFFFF"/>
                    </a:solidFill>
                  </a:tcPr>
                </a:tc>
                <a:tc>
                  <a:txBody>
                    <a:bodyPr/>
                    <a:lstStyle/>
                    <a:p>
                      <a:pPr algn="ctr"/>
                      <a:r>
                        <a:rPr sz="1200" b="0">
                          <a:solidFill>
                            <a:srgbClr val="333F50"/>
                          </a:solidFill>
                          <a:latin typeface="Montserrat"/>
                        </a:rPr>
                        <a:t>0.0272</a:t>
                      </a:r>
                    </a:p>
                  </a:txBody>
                  <a:tcPr anchor="ctr" marL="54864" marR="54864" marT="18288" marB="18288">
                    <a:solidFill>
                      <a:srgbClr val="FFFFFF"/>
                    </a:solidFill>
                  </a:tcPr>
                </a:tc>
                <a:tc>
                  <a:txBody>
                    <a:bodyPr/>
                    <a:lstStyle/>
                    <a:p>
                      <a:pPr algn="ctr"/>
                      <a:r>
                        <a:rPr sz="1200" b="0">
                          <a:solidFill>
                            <a:srgbClr val="333F50"/>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9E141E"/>
                    </a:solidFill>
                  </a:tcPr>
                </a:tc>
                <a:tc>
                  <a:txBody>
                    <a:bodyPr/>
                    <a:lstStyle/>
                    <a:p>
                      <a:pPr algn="ctr"/>
                      <a:r>
                        <a:rPr sz="1200" b="1">
                          <a:solidFill>
                            <a:srgbClr val="FFFFFF"/>
                          </a:solidFill>
                          <a:latin typeface="Montserrat"/>
                        </a:rPr>
                        <a:t>0.2614</a:t>
                      </a:r>
                    </a:p>
                  </a:txBody>
                  <a:tcPr anchor="ctr" marL="54864" marR="54864" marT="18288" marB="18288">
                    <a:solidFill>
                      <a:srgbClr val="9E141E"/>
                    </a:solidFill>
                  </a:tcPr>
                </a:tc>
                <a:tc>
                  <a:txBody>
                    <a:bodyPr/>
                    <a:lstStyle/>
                    <a:p>
                      <a:pPr algn="ctr"/>
                      <a:r>
                        <a:rPr sz="1200" b="1">
                          <a:solidFill>
                            <a:srgbClr val="FFFFFF"/>
                          </a:solidFill>
                          <a:latin typeface="Montserrat"/>
                        </a:rPr>
                        <a:t>5.8%</a:t>
                      </a:r>
                    </a:p>
                  </a:txBody>
                  <a:tcPr anchor="ctr" marL="54864" marR="54864" marT="18288" marB="18288">
                    <a:solidFill>
                      <a:srgbClr val="9E141E"/>
                    </a:solidFill>
                  </a:tcPr>
                </a:tc>
                <a:tc>
                  <a:txBody>
                    <a:bodyPr/>
                    <a:lstStyle/>
                    <a:p>
                      <a:pPr algn="ctr"/>
                      <a:r>
                        <a:rPr sz="1200" b="1">
                          <a:solidFill>
                            <a:srgbClr val="FFFFFF"/>
                          </a:solidFill>
                          <a:latin typeface="Montserrat"/>
                        </a:rPr>
                        <a:t>0.0288</a:t>
                      </a:r>
                    </a:p>
                  </a:txBody>
                  <a:tcPr anchor="ctr" marL="54864" marR="54864" marT="18288" marB="18288">
                    <a:solidFill>
                      <a:srgbClr val="9E141E"/>
                    </a:solidFill>
                  </a:tcPr>
                </a:tc>
                <a:tc>
                  <a:txBody>
                    <a:bodyPr/>
                    <a:lstStyle/>
                    <a:p>
                      <a:pPr algn="ctr"/>
                      <a:r>
                        <a:rPr sz="1200" b="1">
                          <a:solidFill>
                            <a:srgbClr val="FFFFFF"/>
                          </a:solidFill>
                          <a:latin typeface="Montserrat"/>
                        </a:rPr>
                        <a:t>5.8%</a:t>
                      </a:r>
                    </a:p>
                  </a:txBody>
                  <a:tcPr anchor="ctr" marL="54864" marR="54864" marT="18288" marB="18288">
                    <a:solidFill>
                      <a:srgbClr val="9E141E"/>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Training: DyHuCoG ~2000 s vs HPCF ~1125 s on MovieLens-1M (≈ 1.78×).</a:t>
            </a:r>
          </a:p>
          <a:p>
            <a:pPr>
              <a:lnSpc>
                <a:spcPct val="105000"/>
              </a:lnSpc>
              <a:spcAft>
                <a:spcPts val="900"/>
              </a:spcAft>
            </a:pPr>
            <a:r>
              <a:rPr sz="1700">
                <a:solidFill>
                  <a:srgbClr val="D2222A"/>
                </a:solidFill>
                <a:latin typeface="Wingdings"/>
              </a:rPr>
              <a:t>§  </a:t>
            </a:r>
            <a:r>
              <a:rPr sz="1700" b="0">
                <a:solidFill>
                  <a:srgbClr val="333F50"/>
                </a:solidFill>
                <a:latin typeface="Montserrat"/>
              </a:rPr>
              <a:t>Inference: 1.84 ms/query (ML-1M), 8.52 ms (Amazon) — suitable for real-time deployment.</a:t>
            </a:r>
          </a:p>
          <a:p>
            <a:pPr>
              <a:lnSpc>
                <a:spcPct val="105000"/>
              </a:lnSpc>
              <a:spcAft>
                <a:spcPts val="900"/>
              </a:spcAft>
            </a:pPr>
            <a:r>
              <a:rPr sz="1700">
                <a:solidFill>
                  <a:srgbClr val="D2222A"/>
                </a:solidFill>
                <a:latin typeface="Wingdings"/>
              </a:rPr>
              <a:t>§  </a:t>
            </a:r>
            <a:r>
              <a:rPr sz="1700" b="0">
                <a:solidFill>
                  <a:srgbClr val="333F50"/>
                </a:solidFill>
                <a:latin typeface="Montserrat"/>
              </a:rPr>
              <a:t>Memory: 4.4 vs 4.1 GB (ML-1M); 17.9 vs 16.8 GB (Amazon).</a:t>
            </a:r>
          </a:p>
          <a:p>
            <a:pPr>
              <a:lnSpc>
                <a:spcPct val="105000"/>
              </a:lnSpc>
              <a:spcAft>
                <a:spcPts val="900"/>
              </a:spcAft>
            </a:pPr>
            <a:r>
              <a:rPr sz="1700">
                <a:solidFill>
                  <a:srgbClr val="D2222A"/>
                </a:solidFill>
                <a:latin typeface="Wingdings"/>
              </a:rPr>
              <a:t>§  </a:t>
            </a:r>
            <a:r>
              <a:rPr sz="1700" b="0">
                <a:solidFill>
                  <a:srgbClr val="333F50"/>
                </a:solidFill>
                <a:latin typeface="Montserrat"/>
              </a:rPr>
              <a:t>Per-epoch cost: O((L+1)md) + O((M/f)m).</a:t>
            </a:r>
          </a:p>
          <a:p>
            <a:pPr>
              <a:lnSpc>
                <a:spcPct val="105000"/>
              </a:lnSpc>
              <a:spcAft>
                <a:spcPts val="900"/>
              </a:spcAft>
            </a:pPr>
            <a:r>
              <a:rPr sz="1700">
                <a:solidFill>
                  <a:srgbClr val="D2222A"/>
                </a:solidFill>
                <a:latin typeface="Wingdings"/>
              </a:rPr>
              <a:t>§  </a:t>
            </a:r>
            <a:r>
              <a:rPr sz="1700" b="1">
                <a:solidFill>
                  <a:srgbClr val="333F50"/>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Paired t-tests on per-user NDCG@20 (n = 6,040 users; df = 6,039).</a:t>
            </a:r>
          </a:p>
          <a:p>
            <a:pPr>
              <a:lnSpc>
                <a:spcPct val="105000"/>
              </a:lnSpc>
              <a:spcAft>
                <a:spcPts val="900"/>
              </a:spcAft>
            </a:pPr>
            <a:r>
              <a:rPr sz="1700">
                <a:solidFill>
                  <a:srgbClr val="D2222A"/>
                </a:solidFill>
                <a:latin typeface="Wingdings"/>
              </a:rPr>
              <a:t>§  </a:t>
            </a:r>
            <a:r>
              <a:rPr sz="1700" b="0">
                <a:solidFill>
                  <a:srgbClr val="333F50"/>
                </a:solidFill>
                <a:latin typeface="Montserrat"/>
              </a:rPr>
              <a:t>DyHuCoG outperforms every baseline with extremely small p-values after Holm–Bonferroni correction.</a:t>
            </a:r>
          </a:p>
          <a:p>
            <a:pPr lvl="1">
              <a:lnSpc>
                <a:spcPct val="105000"/>
              </a:lnSpc>
              <a:spcAft>
                <a:spcPts val="600"/>
              </a:spcAft>
            </a:pPr>
            <a:r>
              <a:rPr sz="1600">
                <a:solidFill>
                  <a:srgbClr val="D2222A"/>
                </a:solidFill>
                <a:latin typeface="Montserrat"/>
              </a:rPr>
              <a:t>–  </a:t>
            </a:r>
            <a:r>
              <a:rPr sz="1600" b="1">
                <a:solidFill>
                  <a:srgbClr val="333F50"/>
                </a:solidFill>
                <a:latin typeface="Montserrat"/>
              </a:rPr>
              <a:t>vs HPCF: t = 46.38, Cohen’s d_z = 1.3345, p = 1.81×10⁻²⁷⁰.</a:t>
            </a:r>
          </a:p>
          <a:p>
            <a:pPr lvl="1">
              <a:lnSpc>
                <a:spcPct val="105000"/>
              </a:lnSpc>
              <a:spcAft>
                <a:spcPts val="600"/>
              </a:spcAft>
            </a:pPr>
            <a:r>
              <a:rPr sz="1600">
                <a:solidFill>
                  <a:srgbClr val="D2222A"/>
                </a:solidFill>
                <a:latin typeface="Montserrat"/>
              </a:rPr>
              <a:t>–  </a:t>
            </a:r>
            <a:r>
              <a:rPr sz="1600" b="0">
                <a:solidFill>
                  <a:srgbClr val="333F50"/>
                </a:solidFill>
                <a:latin typeface="Montserrat"/>
              </a:rPr>
              <a:t>Wilcoxon signed-rank test also significant (p &lt; 0.001).</a:t>
            </a:r>
          </a:p>
          <a:p>
            <a:pPr lvl="1">
              <a:lnSpc>
                <a:spcPct val="105000"/>
              </a:lnSpc>
              <a:spcAft>
                <a:spcPts val="600"/>
              </a:spcAft>
            </a:pPr>
            <a:r>
              <a:rPr sz="1600">
                <a:solidFill>
                  <a:srgbClr val="D2222A"/>
                </a:solidFill>
                <a:latin typeface="Montserrat"/>
              </a:rPr>
              <a:t>–  </a:t>
            </a:r>
            <a:r>
              <a:rPr sz="1600" b="0">
                <a:solidFill>
                  <a:srgbClr val="333F50"/>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Cold-start (5 or fewer interactions): NDCG@20 ≈ 0.061 (user) and 0.057 (item), improving over HPCF by ~10%.</a:t>
            </a:r>
          </a:p>
          <a:p>
            <a:pPr>
              <a:lnSpc>
                <a:spcPct val="105000"/>
              </a:lnSpc>
              <a:spcAft>
                <a:spcPts val="900"/>
              </a:spcAft>
            </a:pPr>
            <a:r>
              <a:rPr sz="1700">
                <a:solidFill>
                  <a:srgbClr val="D2222A"/>
                </a:solidFill>
                <a:latin typeface="Wingdings"/>
              </a:rPr>
              <a:t>§  </a:t>
            </a:r>
            <a:r>
              <a:rPr sz="1700" b="0">
                <a:solidFill>
                  <a:srgbClr val="333F50"/>
                </a:solidFill>
                <a:latin typeface="Montserrat"/>
              </a:rPr>
              <a:t>Cross-dataset: MovieLens +9.9%, Amazon +14.8%, Yelp2018 +11.8%.</a:t>
            </a:r>
          </a:p>
          <a:p>
            <a:pPr>
              <a:lnSpc>
                <a:spcPct val="105000"/>
              </a:lnSpc>
              <a:spcAft>
                <a:spcPts val="900"/>
              </a:spcAft>
            </a:pPr>
            <a:r>
              <a:rPr sz="1700">
                <a:solidFill>
                  <a:srgbClr val="D2222A"/>
                </a:solidFill>
                <a:latin typeface="Wingdings"/>
              </a:rPr>
              <a:t>§  </a:t>
            </a:r>
            <a:r>
              <a:rPr sz="1700" b="1">
                <a:solidFill>
                  <a:srgbClr val="333F50"/>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D2222A"/>
                </a:solidFill>
                <a:latin typeface="Montserrat"/>
              </a:rPr>
              <a:t>–  </a:t>
            </a:r>
            <a:r>
              <a:rPr sz="1600" b="0">
                <a:solidFill>
                  <a:srgbClr val="333F50"/>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Achieved: cooperative attribution used as an in-training signal — a stronger claim than the clustering chapters; the accuracy–diversity trade-off is not structurally fixed.</a:t>
            </a:r>
          </a:p>
          <a:p>
            <a:pPr>
              <a:lnSpc>
                <a:spcPct val="105000"/>
              </a:lnSpc>
              <a:spcAft>
                <a:spcPts val="900"/>
              </a:spcAft>
            </a:pPr>
            <a:r>
              <a:rPr sz="1700">
                <a:solidFill>
                  <a:srgbClr val="D2222A"/>
                </a:solidFill>
                <a:latin typeface="Wingdings"/>
              </a:rPr>
              <a:t>§  </a:t>
            </a:r>
            <a:r>
              <a:rPr sz="1700" b="1">
                <a:solidFill>
                  <a:srgbClr val="333F50"/>
                </a:solidFill>
                <a:latin typeface="Montserrat Medium"/>
              </a:rPr>
              <a:t>Limitations: measurable computational overhead; depends on availability of meaningful context; MC Shapley could be improved by variance reduction; ablation is component-wise; baselines finalised through early 2026.</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D2222A"/>
                    </a:solidFill>
                  </a:tcPr>
                </a:tc>
                <a:tc>
                  <a:txBody>
                    <a:bodyPr/>
                    <a:lstStyle/>
                    <a:p>
                      <a:pPr algn="ctr"/>
                      <a:r>
                        <a:rPr sz="1200" b="1">
                          <a:solidFill>
                            <a:srgbClr val="FFFFFF"/>
                          </a:solidFill>
                          <a:latin typeface="Montserrat Medium"/>
                        </a:rPr>
                        <a:t>Main idea</a:t>
                      </a:r>
                    </a:p>
                  </a:txBody>
                  <a:tcPr anchor="ctr" marL="54864" marR="54864" marT="18288" marB="18288">
                    <a:solidFill>
                      <a:srgbClr val="D2222A"/>
                    </a:solidFill>
                  </a:tcPr>
                </a:tc>
                <a:tc>
                  <a:txBody>
                    <a:bodyPr/>
                    <a:lstStyle/>
                    <a:p>
                      <a:pPr algn="ctr"/>
                      <a:r>
                        <a:rPr sz="1200" b="1">
                          <a:solidFill>
                            <a:srgbClr val="FFFFFF"/>
                          </a:solidFill>
                          <a:latin typeface="Montserrat Medium"/>
                        </a:rPr>
                        <a:t>Achievement</a:t>
                      </a:r>
                    </a:p>
                  </a:txBody>
                  <a:tcPr anchor="ctr" marL="54864" marR="54864" marT="18288" marB="18288">
                    <a:solidFill>
                      <a:srgbClr val="D2222A"/>
                    </a:solidFill>
                  </a:tcPr>
                </a:tc>
                <a:tc>
                  <a:txBody>
                    <a:bodyPr/>
                    <a:lstStyle/>
                    <a:p>
                      <a:pPr algn="ctr"/>
                      <a:r>
                        <a:rPr sz="1200" b="1">
                          <a:solidFill>
                            <a:srgbClr val="FFFFFF"/>
                          </a:solidFill>
                          <a:latin typeface="Montserrat Medium"/>
                        </a:rPr>
                        <a:t>Key finding</a:t>
                      </a:r>
                    </a:p>
                  </a:txBody>
                  <a:tcPr anchor="ctr" marL="54864" marR="54864" marT="18288" marB="18288">
                    <a:solidFill>
                      <a:srgbClr val="D2222A"/>
                    </a:solidFill>
                  </a:tcPr>
                </a:tc>
              </a:tr>
              <a:tr h="891540">
                <a:tc>
                  <a:txBody>
                    <a:bodyPr/>
                    <a:lstStyle/>
                    <a:p>
                      <a:pPr algn="l"/>
                      <a:r>
                        <a:rPr sz="1200" b="0">
                          <a:solidFill>
                            <a:srgbClr val="333F50"/>
                          </a:solidFill>
                          <a:latin typeface="Montserrat"/>
                        </a:rPr>
                        <a:t>C1</a:t>
                      </a:r>
                    </a:p>
                  </a:txBody>
                  <a:tcPr anchor="ctr" marL="54864" marR="54864" marT="18288" marB="18288">
                    <a:solidFill>
                      <a:srgbClr val="FFFFFF"/>
                    </a:solidFill>
                  </a:tcPr>
                </a:tc>
                <a:tc>
                  <a:txBody>
                    <a:bodyPr/>
                    <a:lstStyle/>
                    <a:p>
                      <a:pPr algn="ctr"/>
                      <a:r>
                        <a:rPr sz="1200" b="0">
                          <a:solidFill>
                            <a:srgbClr val="333F50"/>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333F50"/>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333F50"/>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333F50"/>
                          </a:solidFill>
                          <a:latin typeface="Montserrat"/>
                        </a:rPr>
                        <a:t>C2</a:t>
                      </a:r>
                    </a:p>
                  </a:txBody>
                  <a:tcPr anchor="ctr" marL="54864" marR="54864" marT="18288" marB="18288">
                    <a:solidFill>
                      <a:srgbClr val="F0F4FB"/>
                    </a:solidFill>
                  </a:tcPr>
                </a:tc>
                <a:tc>
                  <a:txBody>
                    <a:bodyPr/>
                    <a:lstStyle/>
                    <a:p>
                      <a:pPr algn="ctr"/>
                      <a:r>
                        <a:rPr sz="1200" b="0">
                          <a:solidFill>
                            <a:srgbClr val="333F50"/>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333F50"/>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333F50"/>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333F50"/>
                          </a:solidFill>
                          <a:latin typeface="Montserrat"/>
                        </a:rPr>
                        <a:t>C3</a:t>
                      </a:r>
                    </a:p>
                  </a:txBody>
                  <a:tcPr anchor="ctr" marL="54864" marR="54864" marT="18288" marB="18288">
                    <a:solidFill>
                      <a:srgbClr val="FFFFFF"/>
                    </a:solidFill>
                  </a:tcPr>
                </a:tc>
                <a:tc>
                  <a:txBody>
                    <a:bodyPr/>
                    <a:lstStyle/>
                    <a:p>
                      <a:pPr algn="ctr"/>
                      <a:r>
                        <a:rPr sz="1200" b="0">
                          <a:solidFill>
                            <a:srgbClr val="333F50"/>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333F50"/>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333F50"/>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D2222A"/>
                    </a:solidFill>
                  </a:tcPr>
                </a:tc>
                <a:tc>
                  <a:txBody>
                    <a:bodyPr/>
                    <a:lstStyle/>
                    <a:p>
                      <a:pPr algn="ctr"/>
                      <a:r>
                        <a:rPr sz="1200" b="1">
                          <a:solidFill>
                            <a:srgbClr val="FFFFFF"/>
                          </a:solidFill>
                          <a:latin typeface="Montserrat Medium"/>
                        </a:rPr>
                        <a:t>Title</a:t>
                      </a:r>
                    </a:p>
                  </a:txBody>
                  <a:tcPr anchor="ctr" marL="54864" marR="54864" marT="18288" marB="18288">
                    <a:solidFill>
                      <a:srgbClr val="D2222A"/>
                    </a:solidFill>
                  </a:tcPr>
                </a:tc>
                <a:tc>
                  <a:txBody>
                    <a:bodyPr/>
                    <a:lstStyle/>
                    <a:p>
                      <a:pPr algn="ctr"/>
                      <a:r>
                        <a:rPr sz="1200" b="1">
                          <a:solidFill>
                            <a:srgbClr val="FFFFFF"/>
                          </a:solidFill>
                          <a:latin typeface="Montserrat Medium"/>
                        </a:rPr>
                        <a:t>Venue</a:t>
                      </a:r>
                    </a:p>
                  </a:txBody>
                  <a:tcPr anchor="ctr" marL="54864" marR="54864" marT="18288" marB="18288">
                    <a:solidFill>
                      <a:srgbClr val="D2222A"/>
                    </a:solidFill>
                  </a:tcPr>
                </a:tc>
                <a:tc>
                  <a:txBody>
                    <a:bodyPr/>
                    <a:lstStyle/>
                    <a:p>
                      <a:pPr algn="ctr"/>
                      <a:r>
                        <a:rPr sz="1200" b="1">
                          <a:solidFill>
                            <a:srgbClr val="FFFFFF"/>
                          </a:solidFill>
                          <a:latin typeface="Montserrat Medium"/>
                        </a:rPr>
                        <a:t>Status</a:t>
                      </a:r>
                    </a:p>
                  </a:txBody>
                  <a:tcPr anchor="ctr" marL="54864" marR="54864" marT="18288" marB="18288">
                    <a:solidFill>
                      <a:srgbClr val="D2222A"/>
                    </a:solidFill>
                  </a:tcPr>
                </a:tc>
              </a:tr>
              <a:tr h="891540">
                <a:tc>
                  <a:txBody>
                    <a:bodyPr/>
                    <a:lstStyle/>
                    <a:p>
                      <a:pPr algn="l"/>
                      <a:r>
                        <a:rPr sz="1200" b="0">
                          <a:solidFill>
                            <a:srgbClr val="333F50"/>
                          </a:solidFill>
                          <a:latin typeface="Montserrat"/>
                        </a:rPr>
                        <a:t>I</a:t>
                      </a:r>
                    </a:p>
                  </a:txBody>
                  <a:tcPr anchor="ctr" marL="54864" marR="54864" marT="18288" marB="18288">
                    <a:solidFill>
                      <a:srgbClr val="FFFFFF"/>
                    </a:solidFill>
                  </a:tcPr>
                </a:tc>
                <a:tc>
                  <a:txBody>
                    <a:bodyPr/>
                    <a:lstStyle/>
                    <a:p>
                      <a:pPr algn="ctr"/>
                      <a:r>
                        <a:rPr sz="1200" b="0">
                          <a:solidFill>
                            <a:srgbClr val="333F50"/>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333F50"/>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333F50"/>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333F50"/>
                          </a:solidFill>
                          <a:latin typeface="Montserrat"/>
                        </a:rPr>
                        <a:t>II</a:t>
                      </a:r>
                    </a:p>
                  </a:txBody>
                  <a:tcPr anchor="ctr" marL="54864" marR="54864" marT="18288" marB="18288">
                    <a:solidFill>
                      <a:srgbClr val="F0F4FB"/>
                    </a:solidFill>
                  </a:tcPr>
                </a:tc>
                <a:tc>
                  <a:txBody>
                    <a:bodyPr/>
                    <a:lstStyle/>
                    <a:p>
                      <a:pPr algn="ctr"/>
                      <a:r>
                        <a:rPr sz="1200" b="0">
                          <a:solidFill>
                            <a:srgbClr val="333F50"/>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333F50"/>
                          </a:solidFill>
                          <a:latin typeface="Montserrat"/>
                        </a:rPr>
                        <a:t>IJACSA 16(7), 716–725</a:t>
                      </a:r>
                    </a:p>
                  </a:txBody>
                  <a:tcPr anchor="ctr" marL="54864" marR="54864" marT="18288" marB="18288">
                    <a:solidFill>
                      <a:srgbClr val="F0F4FB"/>
                    </a:solidFill>
                  </a:tcPr>
                </a:tc>
                <a:tc>
                  <a:txBody>
                    <a:bodyPr/>
                    <a:lstStyle/>
                    <a:p>
                      <a:pPr algn="ctr"/>
                      <a:r>
                        <a:rPr sz="1200" b="0">
                          <a:solidFill>
                            <a:srgbClr val="333F50"/>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333F50"/>
                          </a:solidFill>
                          <a:latin typeface="Montserrat"/>
                        </a:rPr>
                        <a:t>III</a:t>
                      </a:r>
                    </a:p>
                  </a:txBody>
                  <a:tcPr anchor="ctr" marL="54864" marR="54864" marT="18288" marB="18288">
                    <a:solidFill>
                      <a:srgbClr val="FFFFFF"/>
                    </a:solidFill>
                  </a:tcPr>
                </a:tc>
                <a:tc>
                  <a:txBody>
                    <a:bodyPr/>
                    <a:lstStyle/>
                    <a:p>
                      <a:pPr algn="ctr"/>
                      <a:r>
                        <a:rPr sz="1200" b="0">
                          <a:solidFill>
                            <a:srgbClr val="333F50"/>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333F50"/>
                          </a:solidFill>
                          <a:latin typeface="Montserrat"/>
                        </a:rPr>
                        <a:t>IJIES 19(2), 887–902</a:t>
                      </a:r>
                    </a:p>
                  </a:txBody>
                  <a:tcPr anchor="ctr" marL="54864" marR="54864" marT="18288" marB="18288">
                    <a:solidFill>
                      <a:srgbClr val="FFFFFF"/>
                    </a:solidFill>
                  </a:tcPr>
                </a:tc>
                <a:tc>
                  <a:txBody>
                    <a:bodyPr/>
                    <a:lstStyle/>
                    <a:p>
                      <a:pPr algn="ctr"/>
                      <a:r>
                        <a:rPr sz="1200" b="0">
                          <a:solidFill>
                            <a:srgbClr val="333F50"/>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D2222A"/>
                </a:solidFill>
                <a:latin typeface="Wingdings"/>
              </a:rPr>
              <a:t>§  </a:t>
            </a:r>
            <a:r>
              <a:rPr sz="1700" b="0">
                <a:solidFill>
                  <a:srgbClr val="333F50"/>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D2222A"/>
                </a:solidFill>
                <a:latin typeface="Wingdings"/>
              </a:rPr>
              <a:t>§  </a:t>
            </a:r>
            <a:r>
              <a:rPr sz="1700" b="0">
                <a:solidFill>
                  <a:srgbClr val="333F50"/>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D2222A"/>
                </a:solidFill>
                <a:latin typeface="Wingdings"/>
              </a:rPr>
              <a:t>§  </a:t>
            </a:r>
            <a:r>
              <a:rPr sz="1700" b="1">
                <a:solidFill>
                  <a:srgbClr val="333F50"/>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0">
                <a:solidFill>
                  <a:srgbClr val="333F50"/>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D2222A"/>
                </a:solidFill>
                <a:latin typeface="Wingdings"/>
              </a:rPr>
              <a:t>§  </a:t>
            </a:r>
            <a:r>
              <a:rPr sz="1700" b="0">
                <a:solidFill>
                  <a:srgbClr val="333F50"/>
                </a:solidFill>
                <a:latin typeface="Montserrat"/>
              </a:rPr>
              <a:t>Online / streaming recommendation – truly incremental settings with evolving graphs and delayed feedback.</a:t>
            </a:r>
          </a:p>
          <a:p>
            <a:pPr>
              <a:lnSpc>
                <a:spcPct val="105000"/>
              </a:lnSpc>
              <a:spcAft>
                <a:spcPts val="900"/>
              </a:spcAft>
            </a:pPr>
            <a:r>
              <a:rPr sz="1700">
                <a:solidFill>
                  <a:srgbClr val="D2222A"/>
                </a:solidFill>
                <a:latin typeface="Wingdings"/>
              </a:rPr>
              <a:t>§  </a:t>
            </a:r>
            <a:r>
              <a:rPr sz="1700" b="0">
                <a:solidFill>
                  <a:srgbClr val="333F50"/>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D2222A"/>
                </a:solidFill>
                <a:latin typeface="Wingdings"/>
              </a:rPr>
              <a:t>§  </a:t>
            </a:r>
            <a:r>
              <a:rPr sz="1700" b="0">
                <a:solidFill>
                  <a:srgbClr val="333F50"/>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just"/>
            <a:endParaRPr lang="en-US" sz="1600" b="1" dirty="0">
              <a:solidFill>
                <a:srgbClr val="D2222A"/>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D2222A"/>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D2222A"/>
                </a:solidFill>
                <a:latin typeface="Wingdings"/>
              </a:rPr>
              <a:t>§  </a:t>
            </a:r>
            <a:r>
              <a:rPr sz="1700" b="1">
                <a:solidFill>
                  <a:srgbClr val="333F50"/>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D2222A"/>
                </a:solidFill>
                <a:latin typeface="Wingdings"/>
              </a:rPr>
              <a:t>§  </a:t>
            </a:r>
            <a:r>
              <a:rPr sz="1700" b="0">
                <a:solidFill>
                  <a:srgbClr val="333F50"/>
                </a:solidFill>
                <a:latin typeface="Montserrat"/>
              </a:rPr>
              <a:t>Key outcomes:</a:t>
            </a:r>
          </a:p>
          <a:p>
            <a:pPr lvl="1">
              <a:lnSpc>
                <a:spcPct val="105000"/>
              </a:lnSpc>
              <a:spcAft>
                <a:spcPts val="600"/>
              </a:spcAft>
            </a:pPr>
            <a:r>
              <a:rPr sz="1600">
                <a:solidFill>
                  <a:srgbClr val="D2222A"/>
                </a:solidFill>
                <a:latin typeface="Montserrat"/>
              </a:rPr>
              <a:t>–  </a:t>
            </a:r>
            <a:r>
              <a:rPr sz="1600" b="0">
                <a:solidFill>
                  <a:srgbClr val="333F50"/>
                </a:solidFill>
                <a:latin typeface="Montserrat"/>
              </a:rPr>
              <a:t>Shapley attribution as a common formal language for feature, interaction, and context importance allocation.</a:t>
            </a:r>
          </a:p>
          <a:p>
            <a:pPr lvl="1">
              <a:lnSpc>
                <a:spcPct val="105000"/>
              </a:lnSpc>
              <a:spcAft>
                <a:spcPts val="600"/>
              </a:spcAft>
            </a:pPr>
            <a:r>
              <a:rPr sz="1600">
                <a:solidFill>
                  <a:srgbClr val="D2222A"/>
                </a:solidFill>
                <a:latin typeface="Montserrat"/>
              </a:rPr>
              <a:t>–  </a:t>
            </a:r>
            <a:r>
              <a:rPr sz="1600" b="0">
                <a:solidFill>
                  <a:srgbClr val="333F50"/>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D2222A"/>
                </a:solidFill>
                <a:latin typeface="Montserrat"/>
              </a:rPr>
              <a:t>–  </a:t>
            </a:r>
            <a:r>
              <a:rPr sz="1600" b="0">
                <a:solidFill>
                  <a:srgbClr val="333F50"/>
                </a:solidFill>
                <a:latin typeface="Montserrat"/>
              </a:rPr>
              <a:t>Explanation as method, not commentary — from post-hoc description to in-training guidance.</a:t>
            </a:r>
          </a:p>
          <a:p>
            <a:pPr lvl="1">
              <a:lnSpc>
                <a:spcPct val="105000"/>
              </a:lnSpc>
              <a:spcAft>
                <a:spcPts val="600"/>
              </a:spcAft>
            </a:pPr>
            <a:r>
              <a:rPr sz="1600">
                <a:solidFill>
                  <a:srgbClr val="D2222A"/>
                </a:solidFill>
                <a:latin typeface="Montserrat"/>
              </a:rPr>
              <a:t>–  </a:t>
            </a:r>
            <a:r>
              <a:rPr sz="1600" b="0">
                <a:solidFill>
                  <a:srgbClr val="333F50"/>
                </a:solidFill>
                <a:latin typeface="Montserrat"/>
              </a:rPr>
              <a:t>Aligned with trustworthy-AI requirements (EU AI Act, OECD principles, GDPR).</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D2222A"/>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6"/>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