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President and Professors, for being here to examine my thesis. My name is Mouad Louhichi. I will present my PhD thesis: Cooperative Game Theory for Explainable Artificial Intelligence in Recommendation Systems, a Shapley framework for actionable insight, supervised by Professor Mohamed Lazaar.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walk you through five parts: the introduction and motivation, the context and problematic, the experimental protocol shared across my three contributions, then the three contributions themselves, and finally the conclusion and perspectives. Each contribution follows the same structure: objectives, methodology, results, and findings.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begin with the 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driving questions frame the thesis. First, ubiquity: opaque systems mediate what people see and which options become actionable. Second, the black box: even strong recommenders and clustering pipelines are hard to interrogate. Third, trust: transparency should be built into the modelling logic rather than added post-hoc. The core tension is that predictive power and interpretability tend to trade 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the whole thesis around the notion of actionable insight. An explanation is actionable when it points to a modifiable driver expressed in the language of the domain. This matters because we want explanations that support intervention, not merely describe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progression from simple recommenders to hypergraph models: each step raised expressiveness while lowering transparency. That deficit matters for three reasons: user trust, debugging, and regulatory expectations. In these settings explanation is an accountability mechanism, not a usability add-on.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look more precisely at the problem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across the recommendation paradigms we build on. Each strengthens modelling but complicates interpretation. Matrix factorisation made latent dimensions opaque; graph models added structure but kept importance implicit; hypergraph models added higher-order relations but still assumed uniform message importance.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The most fundamental for this thesis is the absence of interpretability. In clustering specifically, existing approaches tend to privilege either local or global explanation, struggle to scale, and rarely remain coherent when explanations are generated at multiple resolutions.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structuring problems define the thesis: lack of explainability, poor scalability of local explanations, and weak integration into the learning loop. The gap is that no existing framework carries a single cooperative-attribution logic across clustering, hierarchical analysis, and in-training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to build one cooperative-game perspective for XAI across clustering and recommendation. Five research questions form the spine: RQ1-RQ2 on clustering, RQ3-RQ4 on recommendation, RQ5 at thesis level. Each maps to a chapter.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establishes Shapley-based explanation for black-box clustering. C2 scales that logic to hierarchy and large data. C3 replaces post-hoc attribution with an in-training signal in a hypergraph recommender. Together they support the thesis-level claim: cooperative game theory is a shared attribution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let me briefly cover the experimental setup shared across all three.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The clustering datasets are chosen for semantically interpretable features (so attribution is meaningful), the recommendation datasets are standard benchmarks with established baselines. Density: MovieLens-1M 0.0447, Amazon-Book 0.0006.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datasets span two regimes. The two clustering datasets are chosen so attribution is expressed in a meaningful domain vocabulary; the two recommendation datasets are standard benchmarks. Density differs by two orders of magnitude (MovieLens-1M 4.47% vs Amazon-Book 0.06%), which is why sparsity is a first-class experimental axis.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splitting is designed against leakage. Clustering uses cross-validation; recommendation uses a temporal per-user holdout with leave-one-out. MovieLens ratings above 3 become implicit positives, negatives are sampled with a popularity-aware distribution, and five seeds are used for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Baselines span classical, neural, graph, and hypergraph methods to isolate the contribution of cooperative attribution. Metrics capture ranking quality plus coverage and intra-list diversity for the recommendation side, and Silhouette and Davies-Bouldin for the clustering side. ILD is not decorative: it is part of the DyHuCoG coalition utility.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runs on standard workstation CPU; DyHuCoG needs a GPU but stays within academic resources. The stack is scikit-learn + LightGBM + SHAP for clustering, PyTorch for the recommendation model, and SciPy for significance testing.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move to the first contribution: explaining black-box clustering with Shapley values.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is a natural starting point because it strips the explanatory problem to essentials: the model creates its own structure, so the meaning of a cluster must be inferred after the fact. The gap is that explainable clustering is fragmented. Our objectives are to build a pipeline that explains a partition while preserving original feature semantics, and to argue for Shapley over LIME.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clustering as a cooperative game where features are players and the value function is the Silhouette of clustering on the feature subset. A feature gets high attribution when its presence consistently improves separation. But exact evaluation is combinatorial, so we need a tractable bridge.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We convert an unsupervised partition into a supervised prediction task by training a LightGBM classifier to reproduce the cluster labels, then run TreeSHAP on it. This keeps attribution in the original feature space. It is only valid if the surrogate is faithful, so we treat macro-F1 around 0.82 as the practical floor.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five-stage pipeline. PCA is a computational and visual aid, deliberately not the explanatory space. K-Means defines the partition, the surrogate restores tractable supervised prediction, and TreeSHAP returns explanation to the original variables. This sequence is explicit because each stage serves a distinct purpose.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honest point. We select three clusters even though two gives better raw geometry metrics. The justification is interpretability: three clusters support three distinct, chemically meaningful narratives rather than one broad split. I want to avoid any confusion: the 0.63 Silhouette that appears later belongs to Beijing, not the retained wine partition.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dominated by a small set of physicochemical variables: density, pH, fixed acidity, sulfur dioxide, alcohol. This is important because it matches oenological knowledge, showing the surrogate-based pipeline recovers a chemically interpretable feature hierarchy rather than fitting arbitrary artefacts.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cluster-specific profiles show that the retained solution is not only globally interpretable but internally differentiated. Each cluster has its own chemical signature — sulfur and density for one, acidity and pH for another, a different acid-alcohol balance for the third. This is exactly the kind of actionable insight the thesis seeks.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Shapley over LIME? The four axioms give SHAP a normative basis: efficiency ensures completeness, symmetry fairness, the null-player property no spurious credit, and additivity composition. LIME's local surrogates are sensitive to perturbation design, which becomes a global problem once we compare across clusters. One honest caveat: efficiency holds w.r.t. the surrogate, not the Silhouette value itself.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 answers RQ1: Shapley values can explain black-box clustering faithfully to a high-fidelity surrogate and coherently at cluster level. The LIME comparison is presented as a theoretical and literature-backed argument rather than a full empirical bake-off. Limits: surrogate dependence, tabular-only, and single-level structure — which is exactly what C2 tackles.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second contribution: scaling the explanation logic to multi-level, large-scale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asks whether the C1 logic survives scale and hierarchy. Large real-world data contain structure at more than one granularity. A flat explanation cannot show how the importance of a variable reconfigures as you zoom into a region. Our objectives are a real multi-level workflow, a formal consistency argument, and validation on a different large-scale dataset.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multi-level architecture proceeds recursively. A coarse clustering is learned first, then each cluster is subdivided. Each level gets its own surrogate and SHAP values in the same feature space. The aggregation respects size and nesting structure. Importantly, we treat the hierarchy as an analytical device, not a metaphysical claim — this prevents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chapter's original formalisation. It says a parent's expected absolute importance is the size-weighted average of its children's, up to a surrogate residual. It follows from the law of total expectation because children partition the parent. Importantly, it does not claim explanations are identical across levels; it lets us interpret differences rather than treat them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multi-criteria evaluation converges much more strongly than on wine: three clusters with a Silhouette of about 0.63 and Davies-Bouldin of 0.55. This is a markedly clearer separation. The explanatory conclusions are robust to reasonable parameter changes — the dominant meteorological and pollutant drivers remain stable.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here is analytically rich: temperature, dew point, and pressure dominate, followed by CO, NO2, PM10, and PM2.5. The point is that meteorological variables are structurally central because they condition dispersion, trapping, and photochemistry. That is a domain insight that a flat centroid summary would miss.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representative regimes: warm photochemical events, wintertime smog, and cleaner dispersed events. The interpretative value is showing not only that these regimes exist, but which combinations of variables define each one — that's the actionable insight.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payoff. At the coarse level the story is regime selection (temperature, dew point); within clusters the discriminative variables shift to CO, SO2, PM10, wind speed. That is not inconsistency — it is what multi-level explanation is for. A variable can matter globally and not locally, so the real question is at what level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 that the same logic works on both a small chemical dataset and a large noisy environmental one supports generality. Compared with prior SHAP-based clustering work, our Beijing partition is comparatively well separated, and our claim about LIME is that its local-surrogate logic is not a stable enough basis for multi-level reasoning.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answers RQ2: Shapley-based clustering explanation can scale to hierarchical, large-scale settings without losing interpretive coherence, provided the hierarchy is modelled explicitly and the approximation is transparent. The main limitation is that the clustering is still static — which becomes the contrast with C3, where attribution is refreshed dynamically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principal contribution introduces DyHuCoG, where Shapley attribution becomes an in-training signal inside a hypergraph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is the flagship. The gap: existing hypergraph recommenders assume importance is implicit in propagation, diversity is secondary, and interpretability is bolted on. Our objectives: formulate recommendation as a cooperative game, inject preference-aware Shapley into message passing, and jointly improve ranking, coverage, and intra-list diversity.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 recommendation as a cooperative game whose players are users, items, and contexts. The hypergraph encodes user-item-context interactions as hyperedges. A coalition value measures how good the recommendation is for that episode. This parallels the clustering formulation but with a recommendation-oriented value function.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combines ranking quality, diversity, and contextual relevance. Crucially, the same trade-off the model must satisfy is the trade-off from which attribution is computed, so the explanatory game and the predictive objective are aligned by design. We add a preference bonus for user-item agreement. Weights are tuned by grid search, and coalition evaluation is scoped to the episode.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computation is infeasible, so we use a Monte Carlo estimator and its preference-aware variant. It is unbiased with variance decaying as 1 over M. We choose M = 50 as the practical balance between accuracy and cost, and refresh every ten batches with exponential smoothing so attribution is adaptive but training stays stable.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Propagation is standard hypergraph message passing, but the messages are weighted by normalised Shapley coefficients, so the model is told not only who is connected to whom but how much each coalition is worth. An attention gate interpolates between Shapley-weighted and uniform propagation as a stabiliser, and the final score is context-aware.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loss combines BPR ranking with explicit diversity and context regularisation plus weight decay. The conceptual point is alignment: the model is trained to optimise the same balance that later defines cooperative attribution, so the explanatory mechanism and the predictive mechanism are no longer separate.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result. On MovieLens-1M, DyHuCoG beats the strongest baseline HPCF by +9.77% in NDCG@20 and +12.58% in Recall@20, and improves coverage and diversity. On the much sparser Amazon-Book, the gains are larger still: +13.33% NDCG@20 and +16.16% Recall@20, coverage up 29.7%. The larger relative gain on the sparser benchmark supports the claim that Shapley-guided weighting helps most where interaction data are weak.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message: DyHuCoG improves ranking accuracy AND coverage AND diversity simultaneously, with the largest relative gains on the sparser dataset. This is the evidence for the accuracy-diversity trade-off not being structurally fixed.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and intra-list diversity both improve. This means more of the catalogue is surfaced across users, and the items within a list are less redundant. Because ranking quality also improves, we are not trading accuracy for diversity — the cooperative utility lets the model learn a balance where relevance, coverage, and diversity improve together.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component contributes. Removing context causes the largest loss, because context provides the representational substrate on which Shapley weighting operates. Removing Shapley weighting and reverting to uniform propagation degrades performance noticeably, which directly supports the argument that marginal-contribution estimation is not decorative. Removing hierarchy-style structure (hypergraph) also matters.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is bounded. Training is about 1.78 times HPCF, inference stays under a couple of milliseconds, and memory is only modestly higher. The Monte Carlo budget at M = 50 gives ~99% accuracy at acceptable cost, and the runtime overhead is proportionate to the performance and interpretability gains.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improvements are statistically significant and large. The paired tests against HPCF give a t of 46.38 with Cohen's d_z of 1.33, all surviving Holm-Bonferroni. Effect sizes are large, which matters because large user counts can make tiny differences appear significant. The fully tabulated paired tests apply to MovieLens-1M; Amazon-Book results are reported descriptively.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improves the regimes where recommenders are usually most brittle: cold-start users and items, and it generalises across datasets of very different sparsity. Interpretability is direct: a waterfall plot decomposes a recommendation into the same utility components used during training, so the explanation is structurally faithful. Because Shapley values measure marginal utility rather than raw frequency, they help de-concentrate popularity.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answers RQ3 and RQ4: cooperative attribution can move into the learning dynamics of a recommender, and doing so lets the model balance accuracy, diversity, and context more effectively. Limits: overhead, dependence on context, no factorial ablation, and the baseline set is capped at early 2026. The study also evaluates explanation indirectly rather than through a large-scale user study.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now bring everything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makes hidden structure intelligible; C2 keeps it coherent under scale and hierarchy; C3 carries the same attribution logic inside the learning dynamics of a recommender. Together they support the claim that cooperative game theory is a shared attribution perspective for explanation, optimisation, and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synthesises three peer-reviewed publications. Paper I is Chapter 5, Paper II is Chapter 6, and Paper III is Chapter 7. The thesis adds the multi-level formalisation and the thesis-level synthesis on top of these papers.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Honestly stated limits at the programme level. Computationally, we approximate everywhere. Methodologically, the clustering contributions depend on surrogate fidelity and the recommendation on stable approximate contributions. Empirically, the work is tabular and offline, with no human-subject actionability study. And the claim is a shared perspective, not one grand unified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 limitations into an agenda. The most concrete is more scalable cooperative attribution, then extending to online and streaming settings, richer human-centred evaluation of actionability, and broader trustworthy-AI and fairness auditing.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cooperative game theory is a shared perspective for explanation, optimisation, and intervention. Key outcomes: Shapley attribution as a common formal language, faithful clustering explanation, hierarchical coherence, and contribution-aware recommendation learning. This moves explanation from commentary to method, aligning with the transparency and accountability requirements of emerging AI regulation.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set of the most load-bearing references. Shapley (1953) is the cooperative-game foundation; Lundberg &amp; Lee (2017) the TreeSHAP engine used in C1; He (2020) LightGCN and the hypergraph baselines HCCF/HPCF (2021) are the recommendation comparators; Gramegna &amp; Giudici (2022) the SHAP-clustering comparator for C2.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now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once again, President and members of the jury. This concludes my presentation. I am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C4A"/>
        </a:solidFill>
        <a:effectLst/>
      </p:bgPr>
    </p:bg>
    <p:spTree>
      <p:nvGrpSpPr>
        <p:cNvPr id="1" name=""/>
        <p:cNvGrpSpPr/>
        <p:nvPr/>
      </p:nvGrpSpPr>
      <p:grpSpPr/>
      <p:sp>
        <p:nvSpPr>
          <p:cNvPr id="2" name="Rectangle 1"/>
          <p:cNvSpPr/>
          <p:nvPr/>
        </p:nvSpPr>
        <p:spPr>
          <a:xfrm>
            <a:off x="0" y="2331720"/>
            <a:ext cx="12191695"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lIns="0" rIns="0" tIns="0" bIns="0" anchor="t">
            <a:spAutoFit/>
          </a:bodyPr>
          <a:lstStyle/>
          <a:p>
            <a:pPr algn="l">
              <a:lnSpc>
                <a:spcPct val="100000"/>
              </a:lnSpc>
            </a:pPr>
            <a:r>
              <a:rPr sz="1500" b="0" i="1">
                <a:solidFill>
                  <a:srgbClr val="BFD4E8"/>
                </a:solidFill>
                <a:latin typeface="Calibri"/>
              </a:rPr>
              <a:t>Doctoral Studies Center in Information and Engineering Sciences and Technologies (ST2I)</a:t>
            </a:r>
          </a:p>
        </p:txBody>
      </p:sp>
      <p:sp>
        <p:nvSpPr>
          <p:cNvPr id="4" name="TextBox 3"/>
          <p:cNvSpPr txBox="1"/>
          <p:nvPr/>
        </p:nvSpPr>
        <p:spPr>
          <a:xfrm>
            <a:off x="822960" y="1463040"/>
            <a:ext cx="10515600" cy="640080"/>
          </a:xfrm>
          <a:prstGeom prst="rect">
            <a:avLst/>
          </a:prstGeom>
          <a:noFill/>
        </p:spPr>
        <p:txBody>
          <a:bodyPr wrap="square" lIns="0" rIns="0" tIns="0" bIns="0" anchor="t">
            <a:spAutoFit/>
          </a:bodyPr>
          <a:lstStyle/>
          <a:p>
            <a:pPr algn="l">
              <a:lnSpc>
                <a:spcPct val="100000"/>
              </a:lnSpc>
            </a:pPr>
            <a:r>
              <a:rPr sz="3400" b="1" i="0">
                <a:solidFill>
                  <a:srgbClr val="FFFFFF"/>
                </a:solidFill>
                <a:latin typeface="Calibri"/>
              </a:rPr>
              <a:t>Cooperative Game Theory for Explainable AI in Recommendation Systems:</a:t>
            </a:r>
          </a:p>
        </p:txBody>
      </p:sp>
      <p:sp>
        <p:nvSpPr>
          <p:cNvPr id="5" name="TextBox 4"/>
          <p:cNvSpPr txBox="1"/>
          <p:nvPr/>
        </p:nvSpPr>
        <p:spPr>
          <a:xfrm>
            <a:off x="822960" y="2148840"/>
            <a:ext cx="10515600" cy="640080"/>
          </a:xfrm>
          <a:prstGeom prst="rect">
            <a:avLst/>
          </a:prstGeom>
          <a:noFill/>
        </p:spPr>
        <p:txBody>
          <a:bodyPr wrap="square" lIns="0" rIns="0" tIns="0" bIns="0" anchor="t">
            <a:spAutoFit/>
          </a:bodyPr>
          <a:lstStyle/>
          <a:p>
            <a:pPr algn="l">
              <a:lnSpc>
                <a:spcPct val="100000"/>
              </a:lnSpc>
            </a:pPr>
            <a:r>
              <a:rPr sz="2400" b="1" i="0">
                <a:solidFill>
                  <a:srgbClr val="FFFFFF"/>
                </a:solidFill>
                <a:latin typeface="Calibri"/>
              </a:rPr>
              <a:t>A Shapley Framework for Actionable Insight</a:t>
            </a:r>
          </a:p>
        </p:txBody>
      </p:sp>
      <p:sp>
        <p:nvSpPr>
          <p:cNvPr id="6" name="TextBox 5"/>
          <p:cNvSpPr txBox="1"/>
          <p:nvPr/>
        </p:nvSpPr>
        <p:spPr>
          <a:xfrm>
            <a:off x="822960" y="2926080"/>
            <a:ext cx="10515600" cy="411480"/>
          </a:xfrm>
          <a:prstGeom prst="rect">
            <a:avLst/>
          </a:prstGeom>
          <a:noFill/>
        </p:spPr>
        <p:txBody>
          <a:bodyPr wrap="square" lIns="0" rIns="0" tIns="0" bIns="0" anchor="t">
            <a:spAutoFit/>
          </a:bodyPr>
          <a:lstStyle/>
          <a:p>
            <a:pPr algn="l">
              <a:lnSpc>
                <a:spcPct val="100000"/>
              </a:lnSpc>
            </a:pPr>
            <a:r>
              <a:rPr sz="1500" b="0" i="0">
                <a:solidFill>
                  <a:srgbClr val="CFE0EF"/>
                </a:solidFill>
                <a:latin typeface="Calibri"/>
              </a:rPr>
              <a:t>PhD Viva Presented by: Mouad LOUHICHI</a:t>
            </a:r>
          </a:p>
        </p:txBody>
      </p:sp>
      <p:sp>
        <p:nvSpPr>
          <p:cNvPr id="7" name="TextBox 6"/>
          <p:cNvSpPr txBox="1"/>
          <p:nvPr/>
        </p:nvSpPr>
        <p:spPr>
          <a:xfrm>
            <a:off x="822960" y="3383280"/>
            <a:ext cx="10515600" cy="411480"/>
          </a:xfrm>
          <a:prstGeom prst="rect">
            <a:avLst/>
          </a:prstGeom>
          <a:noFill/>
        </p:spPr>
        <p:txBody>
          <a:bodyPr wrap="square" lIns="0" rIns="0" tIns="0" bIns="0" anchor="t">
            <a:spAutoFit/>
          </a:bodyPr>
          <a:lstStyle/>
          <a:p>
            <a:pPr algn="l">
              <a:lnSpc>
                <a:spcPct val="100000"/>
              </a:lnSpc>
            </a:pPr>
            <a:r>
              <a:rPr sz="1500" b="0" i="0">
                <a:solidFill>
                  <a:srgbClr val="CFE0EF"/>
                </a:solidFill>
                <a:latin typeface="Calibri"/>
              </a:rPr>
              <a:t>Supervisor | Pr. Mohamed LAZAAR | PES | ENSIAS, Mohammed V University, Rabat</a:t>
            </a:r>
          </a:p>
        </p:txBody>
      </p:sp>
      <p:sp>
        <p:nvSpPr>
          <p:cNvPr id="8" name="TextBox 7"/>
          <p:cNvSpPr txBox="1"/>
          <p:nvPr/>
        </p:nvSpPr>
        <p:spPr>
          <a:xfrm>
            <a:off x="822960" y="3840480"/>
            <a:ext cx="10515600" cy="411480"/>
          </a:xfrm>
          <a:prstGeom prst="rect">
            <a:avLst/>
          </a:prstGeom>
          <a:noFill/>
        </p:spPr>
        <p:txBody>
          <a:bodyPr wrap="square" lIns="0" rIns="0" tIns="0" bIns="0" anchor="t">
            <a:spAutoFit/>
          </a:bodyPr>
          <a:lstStyle/>
          <a:p>
            <a:pPr algn="l">
              <a:lnSpc>
                <a:spcPct val="100000"/>
              </a:lnSpc>
            </a:pPr>
            <a:r>
              <a:rPr sz="1500" b="0" i="0">
                <a:solidFill>
                  <a:srgbClr val="CFE0EF"/>
                </a:solidFill>
                <a:latin typeface="Calibri"/>
              </a:rPr>
              <a:t>Doctoral Studies Center in Information and Engineering Sciences and Technologies (ST2I)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Viva Outline</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Introduction → Context &amp; Problematic → Protocols → 3 Contributions → Conclusion &amp;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Introduction</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Recommenders · The black-box problem · Why XAI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Motivation: Three Questions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Where the thesis begins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304"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Introduction</a:t>
            </a: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Ubiquity – How do opaque AI systems shape what billions of users see, buy, and watch every day?</a:t>
            </a:r>
          </a:p>
          <a:p>
            <a:pPr>
              <a:lnSpc>
                <a:spcPct val="105000"/>
              </a:lnSpc>
              <a:spcAft>
                <a:spcPts val="1000"/>
              </a:spcAft>
            </a:pPr>
            <a:r>
              <a:rPr sz="1800" b="1">
                <a:solidFill>
                  <a:srgbClr val="1F6FB2"/>
                </a:solidFill>
                <a:latin typeface="Calibri"/>
              </a:rPr>
              <a:t>▪  </a:t>
            </a:r>
            <a:r>
              <a:rPr sz="1800" b="0">
                <a:solidFill>
                  <a:srgbClr val="444444"/>
                </a:solidFill>
                <a:latin typeface="Calibri"/>
              </a:rPr>
              <a:t>The black box – Why do state-of-the-art recommenders and clustering pipelines remain opaque to the users and designers who rely on them?</a:t>
            </a:r>
          </a:p>
          <a:p>
            <a:pPr>
              <a:lnSpc>
                <a:spcPct val="105000"/>
              </a:lnSpc>
              <a:spcAft>
                <a:spcPts val="1000"/>
              </a:spcAft>
            </a:pPr>
            <a:r>
              <a:rPr sz="1800" b="1">
                <a:solidFill>
                  <a:srgbClr val="1F6FB2"/>
                </a:solidFill>
                <a:latin typeface="Calibri"/>
              </a:rPr>
              <a:t>▪  </a:t>
            </a:r>
            <a:r>
              <a:rPr sz="1800" b="0">
                <a:solidFill>
                  <a:srgbClr val="444444"/>
                </a:solidFill>
                <a:latin typeface="Calibri"/>
              </a:rPr>
              <a:t>Toward trust – How can transparency and accountability be built *as part of* the model, not bolted on afterwards?</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lvl="1">
              <a:lnSpc>
                <a:spcPct val="105000"/>
              </a:lnSpc>
              <a:spcAft>
                <a:spcPts val="700"/>
              </a:spcAft>
            </a:pPr>
            <a:r>
              <a:rPr sz="1800" b="1">
                <a:solidFill>
                  <a:srgbClr val="1F6FB2"/>
                </a:solidFill>
                <a:latin typeface="Calibri"/>
              </a:rPr>
              <a:t>–  </a:t>
            </a:r>
            <a:r>
              <a:rPr sz="1800" b="0">
                <a:solidFill>
                  <a:srgbClr val="444444"/>
                </a:solidFill>
                <a:latin typeface="Calibri"/>
              </a:rPr>
              <a:t>The central tension: as models gain expressive power they lose the transparency needed for trustworthy deployment.</a:t>
            </a:r>
          </a:p>
        </p:txBody>
      </p:sp>
      <p:pic>
        <p:nvPicPr>
          <p:cNvPr id="14" name="Picture 13" descr="motivation.png"/>
          <p:cNvPicPr>
            <a:picLocks noChangeAspect="1"/>
          </p:cNvPicPr>
          <p:nvPr/>
        </p:nvPicPr>
        <p:blipFill>
          <a:blip r:embed="rId2"/>
          <a:stretch>
            <a:fillRect/>
          </a:stretch>
        </p:blipFill>
        <p:spPr>
          <a:xfrm>
            <a:off x="5852891520000" y="2910262649806"/>
            <a:ext cx="4765925952000" cy="1537395468387"/>
          </a:xfrm>
          <a:prstGeom prst="rect">
            <a:avLst/>
          </a:prstGeom>
        </p:spPr>
      </p:pic>
      <p:sp>
        <p:nvSpPr>
          <p:cNvPr id="15" name="TextBox 14"/>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6" name="TextBox 15"/>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Actionable Insight — the Definition We Use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Actionability, not just plausibility</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304"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Introduction</a:t>
            </a: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1">
                <a:solidFill>
                  <a:srgbClr val="444444"/>
                </a:solidFill>
                <a:latin typeface="Calibri"/>
              </a:rPr>
              <a:t>Definition 1.1 (Actionable insight)</a:t>
            </a:r>
          </a:p>
          <a:p>
            <a:pPr lvl="1">
              <a:lnSpc>
                <a:spcPct val="105000"/>
              </a:lnSpc>
              <a:spcAft>
                <a:spcPts val="700"/>
              </a:spcAft>
            </a:pPr>
            <a:r>
              <a:rPr sz="1800" b="1">
                <a:solidFill>
                  <a:srgbClr val="1F6FB2"/>
                </a:solidFill>
                <a:latin typeface="Calibri"/>
              </a:rPr>
              <a:t>–  </a:t>
            </a:r>
            <a:r>
              <a:rPr sz="1800" b="0">
                <a:solidFill>
                  <a:srgbClr val="444444"/>
                </a:solidFill>
                <a:latin typeface="Calibri"/>
              </a:rPr>
              <a:t>An explanation is actionable when it identifies at least one modifiable factor whose change is associated with a specifiable change in model output, and that factor is accessible to the decision-maker.</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a:lnSpc>
                <a:spcPct val="105000"/>
              </a:lnSpc>
              <a:spcAft>
                <a:spcPts val="1000"/>
              </a:spcAft>
            </a:pPr>
            <a:r>
              <a:rPr sz="1800" b="1">
                <a:solidFill>
                  <a:srgbClr val="1F6FB2"/>
                </a:solidFill>
                <a:latin typeface="Calibri"/>
              </a:rPr>
              <a:t>▪  </a:t>
            </a:r>
            <a:r>
              <a:rPr sz="1800" b="0">
                <a:solidFill>
                  <a:srgbClr val="444444"/>
                </a:solidFill>
                <a:latin typeface="Calibri"/>
              </a:rPr>
              <a:t>Accessibility = expressed in the semantic vocabulary of the task domain:</a:t>
            </a:r>
          </a:p>
          <a:p>
            <a:pPr lvl="1">
              <a:lnSpc>
                <a:spcPct val="105000"/>
              </a:lnSpc>
              <a:spcAft>
                <a:spcPts val="700"/>
              </a:spcAft>
            </a:pPr>
            <a:r>
              <a:rPr sz="1800" b="1">
                <a:solidFill>
                  <a:srgbClr val="1F6FB2"/>
                </a:solidFill>
                <a:latin typeface="Calibri"/>
              </a:rPr>
              <a:t>–  </a:t>
            </a:r>
            <a:r>
              <a:rPr sz="1800" b="0">
                <a:solidFill>
                  <a:srgbClr val="444444"/>
                </a:solidFill>
                <a:latin typeface="Calibri"/>
              </a:rPr>
              <a:t>a physicochemical variable (wine), a pollution indicator (air quality), or a preference signal (recommendation),</a:t>
            </a:r>
          </a:p>
          <a:p>
            <a:pPr lvl="1">
              <a:lnSpc>
                <a:spcPct val="105000"/>
              </a:lnSpc>
              <a:spcAft>
                <a:spcPts val="700"/>
              </a:spcAft>
            </a:pPr>
            <a:r>
              <a:rPr sz="1800" b="1">
                <a:solidFill>
                  <a:srgbClr val="1F6FB2"/>
                </a:solidFill>
                <a:latin typeface="Calibri"/>
              </a:rPr>
              <a:t>–  </a:t>
            </a:r>
            <a:r>
              <a:rPr sz="1800" b="0">
                <a:solidFill>
                  <a:srgbClr val="444444"/>
                </a:solidFill>
                <a:latin typeface="Calibri"/>
              </a:rPr>
              <a:t>not an opaque latent code.</a:t>
            </a:r>
          </a:p>
        </p:txBody>
      </p:sp>
      <p:pic>
        <p:nvPicPr>
          <p:cNvPr id="14" name="Picture 13" descr="actionable.png"/>
          <p:cNvPicPr>
            <a:picLocks noChangeAspect="1"/>
          </p:cNvPicPr>
          <p:nvPr/>
        </p:nvPicPr>
        <p:blipFill>
          <a:blip r:embed="rId2"/>
          <a:stretch>
            <a:fillRect/>
          </a:stretch>
        </p:blipFill>
        <p:spPr>
          <a:xfrm>
            <a:off x="5852891520000" y="3044784753290"/>
            <a:ext cx="4765925952000" cy="1268351261419"/>
          </a:xfrm>
          <a:prstGeom prst="rect">
            <a:avLst/>
          </a:prstGeom>
        </p:spPr>
      </p:pic>
      <p:sp>
        <p:nvSpPr>
          <p:cNvPr id="15" name="TextBox 14"/>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6" name="TextBox 15"/>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Research Context</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From similarity filters to hypergraph recommenders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304"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Introduction</a:t>
            </a: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Recommender systems evolved from similarity filters to complex representation-learning systems operating on sparse, high-dimensional, dynamic data.</a:t>
            </a:r>
          </a:p>
          <a:p>
            <a:pPr>
              <a:lnSpc>
                <a:spcPct val="105000"/>
              </a:lnSpc>
              <a:spcAft>
                <a:spcPts val="1000"/>
              </a:spcAft>
            </a:pPr>
            <a:r>
              <a:rPr sz="1800" b="1">
                <a:solidFill>
                  <a:srgbClr val="1F6FB2"/>
                </a:solidFill>
                <a:latin typeface="Calibri"/>
              </a:rPr>
              <a:t>▪  </a:t>
            </a:r>
            <a:r>
              <a:rPr sz="1800" b="0">
                <a:solidFill>
                  <a:srgbClr val="444444"/>
                </a:solidFill>
                <a:latin typeface="Calibri"/>
              </a:rPr>
              <a:t>Matrix factorisation, neural CF, graph CNNs, then hypergraph recommenders — each step improved ranking but intensified the interpretability deficit.</a:t>
            </a:r>
          </a:p>
          <a:p>
            <a:pPr>
              <a:lnSpc>
                <a:spcPct val="105000"/>
              </a:lnSpc>
              <a:spcAft>
                <a:spcPts val="1000"/>
              </a:spcAft>
            </a:pPr>
            <a:r>
              <a:rPr sz="1800" b="1">
                <a:solidFill>
                  <a:srgbClr val="1F6FB2"/>
                </a:solidFill>
                <a:latin typeface="Calibri"/>
              </a:rPr>
              <a:t>▪  </a:t>
            </a:r>
            <a:r>
              <a:rPr sz="1800" b="1">
                <a:solidFill>
                  <a:srgbClr val="444444"/>
                </a:solidFill>
                <a:latin typeface="Calibri"/>
              </a:rPr>
              <a:t>Why that deficit matters:</a:t>
            </a:r>
          </a:p>
          <a:p>
            <a:pPr lvl="1">
              <a:lnSpc>
                <a:spcPct val="105000"/>
              </a:lnSpc>
              <a:spcAft>
                <a:spcPts val="700"/>
              </a:spcAft>
            </a:pPr>
            <a:r>
              <a:rPr sz="1800" b="1">
                <a:solidFill>
                  <a:srgbClr val="1F6FB2"/>
                </a:solidFill>
                <a:latin typeface="Calibri"/>
              </a:rPr>
              <a:t>–  </a:t>
            </a:r>
            <a:r>
              <a:rPr sz="1800" b="0">
                <a:solidFill>
                  <a:srgbClr val="444444"/>
                </a:solidFill>
                <a:latin typeface="Calibri"/>
              </a:rPr>
              <a:t>Undermines user trust in the items they are shown</a:t>
            </a:r>
          </a:p>
          <a:p>
            <a:pPr lvl="1">
              <a:lnSpc>
                <a:spcPct val="105000"/>
              </a:lnSpc>
              <a:spcAft>
                <a:spcPts val="700"/>
              </a:spcAft>
            </a:pPr>
            <a:r>
              <a:rPr sz="1800" b="1">
                <a:solidFill>
                  <a:srgbClr val="1F6FB2"/>
                </a:solidFill>
                <a:latin typeface="Calibri"/>
              </a:rPr>
              <a:t>–  </a:t>
            </a:r>
            <a:r>
              <a:rPr sz="1800" b="0">
                <a:solidFill>
                  <a:srgbClr val="444444"/>
                </a:solidFill>
                <a:latin typeface="Calibri"/>
              </a:rPr>
              <a:t>Constrains debugging and scientific learning about the model</a:t>
            </a:r>
          </a:p>
          <a:p>
            <a:pPr lvl="1">
              <a:lnSpc>
                <a:spcPct val="105000"/>
              </a:lnSpc>
              <a:spcAft>
                <a:spcPts val="700"/>
              </a:spcAft>
            </a:pPr>
            <a:r>
              <a:rPr sz="1800" b="1">
                <a:solidFill>
                  <a:srgbClr val="1F6FB2"/>
                </a:solidFill>
                <a:latin typeface="Calibri"/>
              </a:rPr>
              <a:t>–  </a:t>
            </a:r>
            <a:r>
              <a:rPr sz="1800" b="0">
                <a:solidFill>
                  <a:srgbClr val="444444"/>
                </a:solidFill>
                <a:latin typeface="Calibri"/>
              </a:rPr>
              <a:t>Collides with emerging regulation: EU AI Act (2024), OECD AI Principles, GDPR [R1]</a:t>
            </a:r>
          </a:p>
          <a:p>
            <a:pPr>
              <a:lnSpc>
                <a:spcPct val="105000"/>
              </a:lnSpc>
              <a:spcAft>
                <a:spcPts val="1000"/>
              </a:spcAft>
            </a:pPr>
            <a:r>
              <a:rPr sz="1800" b="1">
                <a:solidFill>
                  <a:srgbClr val="1F6FB2"/>
                </a:solidFill>
                <a:latin typeface="Calibri"/>
              </a:rPr>
              <a:t>▪  </a:t>
            </a:r>
            <a:r>
              <a:rPr sz="1800" b="0">
                <a:solidFill>
                  <a:srgbClr val="444444"/>
                </a:solidFill>
                <a:latin typeface="Calibri"/>
              </a:rPr>
              <a:t>Consequence: explanation becomes an accountability mechanism, not a usability add-on.</a:t>
            </a:r>
          </a:p>
        </p:txBody>
      </p:sp>
      <p:pic>
        <p:nvPicPr>
          <p:cNvPr id="14" name="Picture 13" descr="evolution.png"/>
          <p:cNvPicPr>
            <a:picLocks noChangeAspect="1"/>
          </p:cNvPicPr>
          <p:nvPr/>
        </p:nvPicPr>
        <p:blipFill>
          <a:blip r:embed="rId2"/>
          <a:stretch>
            <a:fillRect/>
          </a:stretch>
        </p:blipFill>
        <p:spPr>
          <a:xfrm>
            <a:off x="5852891520000" y="2987132423225"/>
            <a:ext cx="4765925952000" cy="1383655921548"/>
          </a:xfrm>
          <a:prstGeom prst="rect">
            <a:avLst/>
          </a:prstGeom>
        </p:spPr>
      </p:pic>
      <p:sp>
        <p:nvSpPr>
          <p:cNvPr id="15" name="TextBox 14"/>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6" name="TextBox 15"/>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Context &amp; Problematic</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Three structuring limitations · The research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Recommendation &amp; Clustering Paradigms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paradigm landscape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Collaborative filtering – users who behaved similarly will value similar items (user- or item-based).</a:t>
            </a:r>
          </a:p>
          <a:p>
            <a:pPr>
              <a:lnSpc>
                <a:spcPct val="105000"/>
              </a:lnSpc>
              <a:spcAft>
                <a:spcPts val="1000"/>
              </a:spcAft>
            </a:pPr>
            <a:r>
              <a:rPr sz="1900" b="1">
                <a:solidFill>
                  <a:srgbClr val="1F6FB2"/>
                </a:solidFill>
                <a:latin typeface="Calibri"/>
              </a:rPr>
              <a:t>▪  </a:t>
            </a:r>
            <a:r>
              <a:rPr sz="1900" b="0">
                <a:solidFill>
                  <a:srgbClr val="444444"/>
                </a:solidFill>
                <a:latin typeface="Calibri"/>
              </a:rPr>
              <a:t>Content-based – recommends items sharing attributes with a user profile.</a:t>
            </a:r>
          </a:p>
          <a:p>
            <a:pPr>
              <a:lnSpc>
                <a:spcPct val="105000"/>
              </a:lnSpc>
              <a:spcAft>
                <a:spcPts val="1000"/>
              </a:spcAft>
            </a:pPr>
            <a:r>
              <a:rPr sz="1900" b="1">
                <a:solidFill>
                  <a:srgbClr val="1F6FB2"/>
                </a:solidFill>
                <a:latin typeface="Calibri"/>
              </a:rPr>
              <a:t>▪  </a:t>
            </a:r>
            <a:r>
              <a:rPr sz="1900" b="0">
                <a:solidFill>
                  <a:srgbClr val="444444"/>
                </a:solidFill>
                <a:latin typeface="Calibri"/>
              </a:rPr>
              <a:t>Hybrid – combines collaborative and content signals.</a:t>
            </a:r>
          </a:p>
          <a:p>
            <a:pPr>
              <a:lnSpc>
                <a:spcPct val="105000"/>
              </a:lnSpc>
              <a:spcAft>
                <a:spcPts val="1000"/>
              </a:spcAft>
            </a:pPr>
            <a:r>
              <a:rPr sz="1900" b="1">
                <a:solidFill>
                  <a:srgbClr val="1F6FB2"/>
                </a:solidFill>
                <a:latin typeface="Calibri"/>
              </a:rPr>
              <a:t>▪  </a:t>
            </a:r>
            <a:r>
              <a:rPr sz="1900" b="0">
                <a:solidFill>
                  <a:srgbClr val="444444"/>
                </a:solidFill>
                <a:latin typeface="Calibri"/>
              </a:rPr>
              <a:t>Matrix factorisation – latent factors R ≈ PQᵀ, compact but opaque.</a:t>
            </a:r>
          </a:p>
          <a:p>
            <a:pPr>
              <a:lnSpc>
                <a:spcPct val="105000"/>
              </a:lnSpc>
              <a:spcAft>
                <a:spcPts val="1000"/>
              </a:spcAft>
            </a:pPr>
            <a:r>
              <a:rPr sz="1900" b="1">
                <a:solidFill>
                  <a:srgbClr val="1F6FB2"/>
                </a:solidFill>
                <a:latin typeface="Calibri"/>
              </a:rPr>
              <a:t>▪  </a:t>
            </a:r>
            <a:r>
              <a:rPr sz="1900" b="0">
                <a:solidFill>
                  <a:srgbClr val="444444"/>
                </a:solidFill>
                <a:latin typeface="Calibri"/>
              </a:rPr>
              <a:t>Graph-based – interaction graph with neighbourhood propagation (LightGCN, hypergraph).</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Limitations of Classical Recommenders &amp; Unsupervised Models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Why the gap exists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Data sparsity &amp; scalability – the user–item matrix is overwhelmingly empty.</a:t>
            </a:r>
          </a:p>
          <a:p>
            <a:pPr>
              <a:lnSpc>
                <a:spcPct val="105000"/>
              </a:lnSpc>
              <a:spcAft>
                <a:spcPts val="1000"/>
              </a:spcAft>
            </a:pPr>
            <a:r>
              <a:rPr sz="1900" b="1">
                <a:solidFill>
                  <a:srgbClr val="1F6FB2"/>
                </a:solidFill>
                <a:latin typeface="Calibri"/>
              </a:rPr>
              <a:t>▪  </a:t>
            </a:r>
            <a:r>
              <a:rPr sz="1900" b="0">
                <a:solidFill>
                  <a:srgbClr val="444444"/>
                </a:solidFill>
                <a:latin typeface="Calibri"/>
              </a:rPr>
              <a:t>Cold-start – new users and items are structurally disadvantaged.</a:t>
            </a:r>
          </a:p>
          <a:p>
            <a:pPr>
              <a:lnSpc>
                <a:spcPct val="105000"/>
              </a:lnSpc>
              <a:spcAft>
                <a:spcPts val="1000"/>
              </a:spcAft>
            </a:pPr>
            <a:r>
              <a:rPr sz="1900" b="1">
                <a:solidFill>
                  <a:srgbClr val="1F6FB2"/>
                </a:solidFill>
                <a:latin typeface="Calibri"/>
              </a:rPr>
              <a:t>▪  </a:t>
            </a:r>
            <a:r>
              <a:rPr sz="1900" b="0">
                <a:solidFill>
                  <a:srgbClr val="444444"/>
                </a:solidFill>
                <a:latin typeface="Calibri"/>
              </a:rPr>
              <a:t>Popularity bias &amp; lack of diversity – exposure begets interaction, begets exposure (filter bubble).</a:t>
            </a:r>
          </a:p>
          <a:p>
            <a:pPr>
              <a:lnSpc>
                <a:spcPct val="105000"/>
              </a:lnSpc>
              <a:spcAft>
                <a:spcPts val="1000"/>
              </a:spcAft>
            </a:pPr>
            <a:r>
              <a:rPr sz="1900" b="1">
                <a:solidFill>
                  <a:srgbClr val="1F6FB2"/>
                </a:solidFill>
                <a:latin typeface="Calibri"/>
              </a:rPr>
              <a:t>▪  </a:t>
            </a:r>
            <a:r>
              <a:rPr sz="1900" b="1">
                <a:solidFill>
                  <a:srgbClr val="444444"/>
                </a:solidFill>
                <a:latin typeface="Calibri"/>
              </a:rPr>
              <a:t>Absence of interpretability – the most fundamental limit: weak explanatory traction.</a:t>
            </a:r>
          </a:p>
          <a:p>
            <a:pPr lvl="1">
              <a:lnSpc>
                <a:spcPct val="105000"/>
              </a:lnSpc>
              <a:spcAft>
                <a:spcPts val="700"/>
              </a:spcAft>
            </a:pPr>
            <a:r>
              <a:rPr sz="1900" b="1">
                <a:solidFill>
                  <a:srgbClr val="1F6FB2"/>
                </a:solidFill>
                <a:latin typeface="Calibri"/>
              </a:rPr>
              <a:t>–  </a:t>
            </a:r>
            <a:r>
              <a:rPr sz="1900" b="0">
                <a:solidFill>
                  <a:srgbClr val="444444"/>
                </a:solidFill>
                <a:latin typeface="Calibri"/>
              </a:rPr>
              <a:t>For clustering: methods privilege local OR global explanation, not both; they struggle to scale; explanations rarely preserve coherence across resolutions.</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Three Structuring Limitations (the Problem Statement)</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Problem statement</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1. Lack of explainability – complex models remain hard to interpret faithfully and in an actionable way.</a:t>
            </a:r>
          </a:p>
          <a:p>
            <a:pPr>
              <a:lnSpc>
                <a:spcPct val="105000"/>
              </a:lnSpc>
              <a:spcAft>
                <a:spcPts val="1000"/>
              </a:spcAft>
            </a:pPr>
            <a:r>
              <a:rPr sz="1900" b="1">
                <a:solidFill>
                  <a:srgbClr val="1F6FB2"/>
                </a:solidFill>
                <a:latin typeface="Calibri"/>
              </a:rPr>
              <a:t>▪  </a:t>
            </a:r>
            <a:r>
              <a:rPr sz="1900" b="1">
                <a:solidFill>
                  <a:srgbClr val="444444"/>
                </a:solidFill>
                <a:latin typeface="Calibri"/>
              </a:rPr>
              <a:t>2. Difficulty of scaling – local explanations do not transfer naturally to hierarchical structures or large datasets.</a:t>
            </a:r>
          </a:p>
          <a:p>
            <a:pPr>
              <a:lnSpc>
                <a:spcPct val="105000"/>
              </a:lnSpc>
              <a:spcAft>
                <a:spcPts val="1000"/>
              </a:spcAft>
            </a:pPr>
            <a:r>
              <a:rPr sz="1900" b="1">
                <a:solidFill>
                  <a:srgbClr val="1F6FB2"/>
                </a:solidFill>
                <a:latin typeface="Calibri"/>
              </a:rPr>
              <a:t>▪  </a:t>
            </a:r>
            <a:r>
              <a:rPr sz="1900" b="1">
                <a:solidFill>
                  <a:srgbClr val="444444"/>
                </a:solidFill>
                <a:latin typeface="Calibri"/>
              </a:rPr>
              <a:t>3. Weak integration into learning – most explanations stay post-hoc and do not shape model dynamics or the accuracy-diversity-context trade-off.</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1">
              <a:lnSpc>
                <a:spcPct val="105000"/>
              </a:lnSpc>
              <a:spcAft>
                <a:spcPts val="700"/>
              </a:spcAft>
            </a:pPr>
            <a:r>
              <a:rPr sz="1900" b="1">
                <a:solidFill>
                  <a:srgbClr val="1F6FB2"/>
                </a:solidFill>
                <a:latin typeface="Calibri"/>
              </a:rPr>
              <a:t>–  </a:t>
            </a:r>
            <a:r>
              <a:rPr sz="1900" b="0">
                <a:solidFill>
                  <a:srgbClr val="444444"/>
                </a:solidFill>
                <a:latin typeface="Calibri"/>
              </a:rPr>
              <a:t>The thesis gap in one sentence: the literature still lacks a single cooperative-attribution framework that can explain clustering faithfully, remain coherent under hierarchy, and then operate as an in-training signal in recommendation rather than as a purely post-hoc device.</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Research Questions (RQ1–RQ5) and the Overall Aim</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Research aim and questions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Aim: develop, justify, and evaluate a cooperative-game-theoretic perspective for XAI in clustering and recommendation, using Shapley attribution as both an explanatory mechanism and an in-training signal.</a:t>
            </a:r>
          </a:p>
          <a:p>
            <a:pPr>
              <a:lnSpc>
                <a:spcPct val="105000"/>
              </a:lnSpc>
              <a:spcAft>
                <a:spcPts val="1000"/>
              </a:spcAft>
            </a:pPr>
            <a:r>
              <a:rPr sz="1900" b="1">
                <a:solidFill>
                  <a:srgbClr val="1F6FB2"/>
                </a:solidFill>
                <a:latin typeface="Calibri"/>
              </a:rPr>
              <a:t>▪  </a:t>
            </a:r>
            <a:r>
              <a:rPr sz="1900" b="0">
                <a:solidFill>
                  <a:srgbClr val="444444"/>
                </a:solidFill>
                <a:latin typeface="Calibri"/>
              </a:rPr>
              <a:t>RQ1 · How can Shapley values explain black-box clustering faithfully at instance and cluster level?</a:t>
            </a:r>
          </a:p>
          <a:p>
            <a:pPr>
              <a:lnSpc>
                <a:spcPct val="105000"/>
              </a:lnSpc>
              <a:spcAft>
                <a:spcPts val="1000"/>
              </a:spcAft>
            </a:pPr>
            <a:r>
              <a:rPr sz="1900" b="1">
                <a:solidFill>
                  <a:srgbClr val="1F6FB2"/>
                </a:solidFill>
                <a:latin typeface="Calibri"/>
              </a:rPr>
              <a:t>▪  </a:t>
            </a:r>
            <a:r>
              <a:rPr sz="1900" b="0">
                <a:solidFill>
                  <a:srgbClr val="444444"/>
                </a:solidFill>
                <a:latin typeface="Calibri"/>
              </a:rPr>
              <a:t>RQ2 · How can this extend to large-scale, hierarchical clustering without losing tractability or consistency?</a:t>
            </a:r>
          </a:p>
          <a:p>
            <a:pPr>
              <a:lnSpc>
                <a:spcPct val="105000"/>
              </a:lnSpc>
              <a:spcAft>
                <a:spcPts val="1000"/>
              </a:spcAft>
            </a:pPr>
            <a:r>
              <a:rPr sz="1900" b="1">
                <a:solidFill>
                  <a:srgbClr val="1F6FB2"/>
                </a:solidFill>
                <a:latin typeface="Calibri"/>
              </a:rPr>
              <a:t>▪  </a:t>
            </a:r>
            <a:r>
              <a:rPr sz="1900" b="0">
                <a:solidFill>
                  <a:srgbClr val="444444"/>
                </a:solidFill>
                <a:latin typeface="Calibri"/>
              </a:rPr>
              <a:t>RQ3 · Can cooperative attribution move beyond post-hoc and enter the learning dynamics of graph recommenders?</a:t>
            </a:r>
          </a:p>
          <a:p>
            <a:pPr>
              <a:lnSpc>
                <a:spcPct val="105000"/>
              </a:lnSpc>
              <a:spcAft>
                <a:spcPts val="1000"/>
              </a:spcAft>
            </a:pPr>
            <a:r>
              <a:rPr sz="1900" b="1">
                <a:solidFill>
                  <a:srgbClr val="1F6FB2"/>
                </a:solidFill>
                <a:latin typeface="Calibri"/>
              </a:rPr>
              <a:t>▪  </a:t>
            </a:r>
            <a:r>
              <a:rPr sz="1900" b="0">
                <a:solidFill>
                  <a:srgbClr val="444444"/>
                </a:solidFill>
                <a:latin typeface="Calibri"/>
              </a:rPr>
              <a:t>RQ4 · Can a recommender jointly optimise ranking accuracy, context, and diversity when importance is estimated by a cooperative-game utility?</a:t>
            </a:r>
          </a:p>
          <a:p>
            <a:pPr>
              <a:lnSpc>
                <a:spcPct val="105000"/>
              </a:lnSpc>
              <a:spcAft>
                <a:spcPts val="1000"/>
              </a:spcAft>
            </a:pPr>
            <a:r>
              <a:rPr sz="1900" b="1">
                <a:solidFill>
                  <a:srgbClr val="1F6FB2"/>
                </a:solidFill>
                <a:latin typeface="Calibri"/>
              </a:rPr>
              <a:t>▪  </a:t>
            </a:r>
            <a:r>
              <a:rPr sz="1900" b="0">
                <a:solidFill>
                  <a:srgbClr val="444444"/>
                </a:solidFill>
                <a:latin typeface="Calibri"/>
              </a:rPr>
              <a:t>RQ5 · What emerges when clustering explanation and recommendation learning are read as two stages of one cooperative-game perspective?</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The Three Contributions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research arc</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C1 – Explainable black-box clustering: PCA–K-Means–LightGBM–TreeSHAP pipeline.</a:t>
            </a:r>
          </a:p>
          <a:p>
            <a:pPr lvl="1">
              <a:lnSpc>
                <a:spcPct val="105000"/>
              </a:lnSpc>
              <a:spcAft>
                <a:spcPts val="700"/>
              </a:spcAft>
            </a:pPr>
            <a:r>
              <a:rPr sz="1900" b="1">
                <a:solidFill>
                  <a:srgbClr val="1F6FB2"/>
                </a:solidFill>
                <a:latin typeface="Calibri"/>
              </a:rPr>
              <a:t>–  </a:t>
            </a:r>
            <a:r>
              <a:rPr sz="1900" b="0">
                <a:solidFill>
                  <a:srgbClr val="444444"/>
                </a:solidFill>
                <a:latin typeface="Calibri"/>
              </a:rPr>
              <a:t>→ Wine Quality dataset: faithful instance- and cluster-level feature attribution.</a:t>
            </a:r>
          </a:p>
          <a:p>
            <a:pPr>
              <a:lnSpc>
                <a:spcPct val="105000"/>
              </a:lnSpc>
              <a:spcAft>
                <a:spcPts val="1000"/>
              </a:spcAft>
            </a:pPr>
            <a:r>
              <a:rPr sz="1900" b="1">
                <a:solidFill>
                  <a:srgbClr val="1F6FB2"/>
                </a:solidFill>
                <a:latin typeface="Calibri"/>
              </a:rPr>
              <a:t>▪  </a:t>
            </a:r>
            <a:r>
              <a:rPr sz="1900" b="1">
                <a:solidFill>
                  <a:srgbClr val="444444"/>
                </a:solidFill>
                <a:latin typeface="Calibri"/>
              </a:rPr>
              <a:t>C2 – Enhanced multi-level XAI for large-scale clustering with cross-level SHAP aggregation.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 Beijing Multi-Site Air Quality: hierarchical attribution consistency under scale.</a:t>
            </a:r>
          </a:p>
          <a:p>
            <a:pPr>
              <a:lnSpc>
                <a:spcPct val="105000"/>
              </a:lnSpc>
              <a:spcAft>
                <a:spcPts val="1000"/>
              </a:spcAft>
            </a:pPr>
            <a:r>
              <a:rPr sz="1900" b="1">
                <a:solidFill>
                  <a:srgbClr val="1F6FB2"/>
                </a:solidFill>
                <a:latin typeface="Calibri"/>
              </a:rPr>
              <a:t>▪  </a:t>
            </a:r>
            <a:r>
              <a:rPr sz="1900" b="1">
                <a:solidFill>
                  <a:srgbClr val="444444"/>
                </a:solidFill>
                <a:latin typeface="Calibri"/>
              </a:rPr>
              <a:t>C3 – DyHuCoG: a Dynamic Hypergraph Cooperative Game for preference-aware recommendation.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 MovieLens-1M &amp; Amazon-Book: preference-aware Monte Carlo Shapley as an in-training signal.</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2">
              <a:lnSpc>
                <a:spcPct val="105000"/>
              </a:lnSpc>
              <a:spcAft>
                <a:spcPts val="700"/>
              </a:spcAft>
            </a:pPr>
            <a:r>
              <a:rPr sz="1900" b="1">
                <a:solidFill>
                  <a:srgbClr val="1F6FB2"/>
                </a:solidFill>
                <a:latin typeface="Calibri"/>
              </a:rPr>
              <a:t>–  </a:t>
            </a:r>
            <a:r>
              <a:rPr sz="1900" b="1">
                <a:solidFill>
                  <a:srgbClr val="444444"/>
                </a:solidFill>
                <a:latin typeface="Calibri"/>
              </a:rPr>
              <a:t>Thesis-level claim: cooperative game theory functions as a shared attribution perspective for explanation, optimisation, and intervention.</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Experimental Protocol</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Datasets · Baselines · Metrics · Hardware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Datasets Used Throughout the Thesis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Four datasets, two regimes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Rectangle 8"/>
          <p:cNvSpPr/>
          <p:nvPr/>
        </p:nvSpPr>
        <p:spPr>
          <a:xfrm>
            <a:off x="4964460"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graphicFrame>
        <p:nvGraphicFramePr>
          <p:cNvPr id="13" name="Table 12"/>
          <p:cNvGraphicFramePr>
            <a:graphicFrameLocks noGrp="1"/>
          </p:cNvGraphicFramePr>
          <p:nvPr/>
        </p:nvGraphicFramePr>
        <p:xfrm>
          <a:off x="640080" y="1783080"/>
          <a:ext cx="10881360" cy="1920240"/>
        </p:xfrm>
        <a:graphic>
          <a:graphicData uri="http://schemas.openxmlformats.org/drawingml/2006/table">
            <a:tbl>
              <a:tblPr firstRow="1" bandRow="1">
                <a:tableStyleId>{5C22544A-7EE6-4342-B048-85BDC9FD1C3A}</a:tableStyleId>
              </a:tblPr>
              <a:tblGrid>
                <a:gridCol w="2720340"/>
                <a:gridCol w="2720340"/>
                <a:gridCol w="2720340"/>
                <a:gridCol w="2720340"/>
              </a:tblGrid>
              <a:tr h="384048">
                <a:tc>
                  <a:txBody>
                    <a:bodyPr/>
                    <a:lstStyle/>
                    <a:p>
                      <a:pPr algn="ctr"/>
                      <a:r>
                        <a:rPr sz="1300" b="1">
                          <a:solidFill>
                            <a:srgbClr val="FFFFFF"/>
                          </a:solidFill>
                        </a:rPr>
                        <a:t>Dataset</a:t>
                      </a:r>
                    </a:p>
                  </a:txBody>
                  <a:tcPr anchor="ctr">
                    <a:solidFill>
                      <a:srgbClr val="0B2C4A"/>
                    </a:solidFill>
                  </a:tcPr>
                </a:tc>
                <a:tc>
                  <a:txBody>
                    <a:bodyPr/>
                    <a:lstStyle/>
                    <a:p>
                      <a:pPr algn="ctr"/>
                      <a:r>
                        <a:rPr sz="1300" b="1">
                          <a:solidFill>
                            <a:srgbClr val="FFFFFF"/>
                          </a:solidFill>
                        </a:rPr>
                        <a:t>Scale</a:t>
                      </a:r>
                    </a:p>
                  </a:txBody>
                  <a:tcPr anchor="ctr">
                    <a:solidFill>
                      <a:srgbClr val="0B2C4A"/>
                    </a:solidFill>
                  </a:tcPr>
                </a:tc>
                <a:tc>
                  <a:txBody>
                    <a:bodyPr/>
                    <a:lstStyle/>
                    <a:p>
                      <a:pPr algn="ctr"/>
                      <a:r>
                        <a:rPr sz="1300" b="1">
                          <a:solidFill>
                            <a:srgbClr val="FFFFFF"/>
                          </a:solidFill>
                        </a:rPr>
                        <a:t>Type</a:t>
                      </a:r>
                    </a:p>
                  </a:txBody>
                  <a:tcPr anchor="ctr">
                    <a:solidFill>
                      <a:srgbClr val="0B2C4A"/>
                    </a:solidFill>
                  </a:tcPr>
                </a:tc>
                <a:tc>
                  <a:txBody>
                    <a:bodyPr/>
                    <a:lstStyle/>
                    <a:p>
                      <a:pPr algn="ctr"/>
                      <a:r>
                        <a:rPr sz="1300" b="1">
                          <a:solidFill>
                            <a:srgbClr val="FFFFFF"/>
                          </a:solidFill>
                        </a:rPr>
                        <a:t>Role</a:t>
                      </a:r>
                    </a:p>
                  </a:txBody>
                  <a:tcPr anchor="ctr">
                    <a:solidFill>
                      <a:srgbClr val="0B2C4A"/>
                    </a:solidFill>
                  </a:tcPr>
                </a:tc>
              </a:tr>
              <a:tr h="384048">
                <a:tc>
                  <a:txBody>
                    <a:bodyPr/>
                    <a:lstStyle/>
                    <a:p>
                      <a:pPr algn="l"/>
                      <a:r>
                        <a:rPr sz="1300">
                          <a:solidFill>
                            <a:srgbClr val="444444"/>
                          </a:solidFill>
                        </a:rPr>
                        <a:t>Wine Quality (Portugal, vinho verde)</a:t>
                      </a:r>
                    </a:p>
                  </a:txBody>
                  <a:tcPr anchor="ctr" marL="54864" marR="54864" marT="18288" marB="18288">
                    <a:solidFill>
                      <a:srgbClr val="FFFFFF"/>
                    </a:solidFill>
                  </a:tcPr>
                </a:tc>
                <a:tc>
                  <a:txBody>
                    <a:bodyPr/>
                    <a:lstStyle/>
                    <a:p>
                      <a:pPr algn="ctr"/>
                      <a:r>
                        <a:rPr sz="1300">
                          <a:solidFill>
                            <a:srgbClr val="444444"/>
                          </a:solidFill>
                        </a:rPr>
                        <a:t>4,898 × 11</a:t>
                      </a:r>
                    </a:p>
                  </a:txBody>
                  <a:tcPr anchor="ctr" marL="54864" marR="54864" marT="18288" marB="18288">
                    <a:solidFill>
                      <a:srgbClr val="FFFFFF"/>
                    </a:solidFill>
                  </a:tcPr>
                </a:tc>
                <a:tc>
                  <a:txBody>
                    <a:bodyPr/>
                    <a:lstStyle/>
                    <a:p>
                      <a:pPr algn="ctr"/>
                      <a:r>
                        <a:rPr sz="1300">
                          <a:solidFill>
                            <a:srgbClr val="444444"/>
                          </a:solidFill>
                        </a:rPr>
                        <a:t>Tabular, numeric features</a:t>
                      </a:r>
                    </a:p>
                  </a:txBody>
                  <a:tcPr anchor="ctr" marL="54864" marR="54864" marT="18288" marB="18288">
                    <a:solidFill>
                      <a:srgbClr val="FFFFFF"/>
                    </a:solidFill>
                  </a:tcPr>
                </a:tc>
                <a:tc>
                  <a:txBody>
                    <a:bodyPr/>
                    <a:lstStyle/>
                    <a:p>
                      <a:pPr algn="ctr"/>
                      <a:r>
                        <a:rPr sz="1300">
                          <a:solidFill>
                            <a:srgbClr val="444444"/>
                          </a:solidFill>
                        </a:rPr>
                        <a:t>C1 – single-level clustering</a:t>
                      </a:r>
                    </a:p>
                  </a:txBody>
                  <a:tcPr anchor="ctr" marL="54864" marR="54864" marT="18288" marB="18288">
                    <a:solidFill>
                      <a:srgbClr val="FFFFFF"/>
                    </a:solidFill>
                  </a:tcPr>
                </a:tc>
              </a:tr>
              <a:tr h="384048">
                <a:tc>
                  <a:txBody>
                    <a:bodyPr/>
                    <a:lstStyle/>
                    <a:p>
                      <a:pPr algn="l"/>
                      <a:r>
                        <a:rPr sz="1300" b="0">
                          <a:solidFill>
                            <a:srgbClr val="444444"/>
                          </a:solidFill>
                        </a:rPr>
                        <a:t>Beijing Multi-Site Air Quality</a:t>
                      </a:r>
                    </a:p>
                  </a:txBody>
                  <a:tcPr anchor="ctr" marL="54864" marR="54864" marT="18288" marB="18288">
                    <a:solidFill>
                      <a:srgbClr val="EFF3F8"/>
                    </a:solidFill>
                  </a:tcPr>
                </a:tc>
                <a:tc>
                  <a:txBody>
                    <a:bodyPr/>
                    <a:lstStyle/>
                    <a:p>
                      <a:pPr algn="ctr"/>
                      <a:r>
                        <a:rPr sz="1300" b="0">
                          <a:solidFill>
                            <a:srgbClr val="444444"/>
                          </a:solidFill>
                        </a:rPr>
                        <a:t>383,585 × 11</a:t>
                      </a:r>
                    </a:p>
                  </a:txBody>
                  <a:tcPr anchor="ctr" marL="54864" marR="54864" marT="18288" marB="18288">
                    <a:solidFill>
                      <a:srgbClr val="EFF3F8"/>
                    </a:solidFill>
                  </a:tcPr>
                </a:tc>
                <a:tc>
                  <a:txBody>
                    <a:bodyPr/>
                    <a:lstStyle/>
                    <a:p>
                      <a:pPr algn="ctr"/>
                      <a:r>
                        <a:rPr sz="1300" b="0">
                          <a:solidFill>
                            <a:srgbClr val="444444"/>
                          </a:solidFill>
                        </a:rPr>
                        <a:t>Tabular, pollutant + meteorology</a:t>
                      </a:r>
                    </a:p>
                  </a:txBody>
                  <a:tcPr anchor="ctr" marL="54864" marR="54864" marT="18288" marB="18288">
                    <a:solidFill>
                      <a:srgbClr val="EFF3F8"/>
                    </a:solidFill>
                  </a:tcPr>
                </a:tc>
                <a:tc>
                  <a:txBody>
                    <a:bodyPr/>
                    <a:lstStyle/>
                    <a:p>
                      <a:pPr algn="ctr"/>
                      <a:r>
                        <a:rPr sz="1300" b="0">
                          <a:solidFill>
                            <a:srgbClr val="444444"/>
                          </a:solidFill>
                        </a:rPr>
                        <a:t>C2 – multi-level clustering</a:t>
                      </a:r>
                    </a:p>
                  </a:txBody>
                  <a:tcPr anchor="ctr" marL="54864" marR="54864" marT="18288" marB="18288">
                    <a:solidFill>
                      <a:srgbClr val="EFF3F8"/>
                    </a:solidFill>
                  </a:tcPr>
                </a:tc>
              </a:tr>
              <a:tr h="384048">
                <a:tc>
                  <a:txBody>
                    <a:bodyPr/>
                    <a:lstStyle/>
                    <a:p>
                      <a:pPr algn="l"/>
                      <a:r>
                        <a:rPr sz="1300">
                          <a:solidFill>
                            <a:srgbClr val="444444"/>
                          </a:solidFill>
                        </a:rPr>
                        <a:t>MovieLens-1M</a:t>
                      </a:r>
                    </a:p>
                  </a:txBody>
                  <a:tcPr anchor="ctr" marL="54864" marR="54864" marT="18288" marB="18288">
                    <a:solidFill>
                      <a:srgbClr val="FFFFFF"/>
                    </a:solidFill>
                  </a:tcPr>
                </a:tc>
                <a:tc>
                  <a:txBody>
                    <a:bodyPr/>
                    <a:lstStyle/>
                    <a:p>
                      <a:pPr algn="ctr"/>
                      <a:r>
                        <a:rPr sz="1300">
                          <a:solidFill>
                            <a:srgbClr val="444444"/>
                          </a:solidFill>
                        </a:rPr>
                        <a:t>6,040 u / 3,706 i / 1,000,209 int</a:t>
                      </a:r>
                    </a:p>
                  </a:txBody>
                  <a:tcPr anchor="ctr" marL="54864" marR="54864" marT="18288" marB="18288">
                    <a:solidFill>
                      <a:srgbClr val="FFFFFF"/>
                    </a:solidFill>
                  </a:tcPr>
                </a:tc>
                <a:tc>
                  <a:txBody>
                    <a:bodyPr/>
                    <a:lstStyle/>
                    <a:p>
                      <a:pPr algn="ctr"/>
                      <a:r>
                        <a:rPr sz="1300">
                          <a:solidFill>
                            <a:srgbClr val="444444"/>
                          </a:solidFill>
                        </a:rPr>
                        <a:t>Implicit-feedback</a:t>
                      </a:r>
                    </a:p>
                  </a:txBody>
                  <a:tcPr anchor="ctr" marL="54864" marR="54864" marT="18288" marB="18288">
                    <a:solidFill>
                      <a:srgbClr val="FFFFFF"/>
                    </a:solidFill>
                  </a:tcPr>
                </a:tc>
                <a:tc>
                  <a:txBody>
                    <a:bodyPr/>
                    <a:lstStyle/>
                    <a:p>
                      <a:pPr algn="ctr"/>
                      <a:r>
                        <a:rPr sz="1300">
                          <a:solidFill>
                            <a:srgbClr val="444444"/>
                          </a:solidFill>
                        </a:rPr>
                        <a:t>C3 – DyHuCoG</a:t>
                      </a:r>
                    </a:p>
                  </a:txBody>
                  <a:tcPr anchor="ctr" marL="54864" marR="54864" marT="18288" marB="18288">
                    <a:solidFill>
                      <a:srgbClr val="FFFFFF"/>
                    </a:solidFill>
                  </a:tcPr>
                </a:tc>
              </a:tr>
              <a:tr h="384048">
                <a:tc>
                  <a:txBody>
                    <a:bodyPr/>
                    <a:lstStyle/>
                    <a:p>
                      <a:pPr algn="l"/>
                      <a:r>
                        <a:rPr sz="1300" b="0">
                          <a:solidFill>
                            <a:srgbClr val="444444"/>
                          </a:solidFill>
                        </a:rPr>
                        <a:t>Amazon-Book</a:t>
                      </a:r>
                    </a:p>
                  </a:txBody>
                  <a:tcPr anchor="ctr" marL="54864" marR="54864" marT="18288" marB="18288">
                    <a:solidFill>
                      <a:srgbClr val="EFF3F8"/>
                    </a:solidFill>
                  </a:tcPr>
                </a:tc>
                <a:tc>
                  <a:txBody>
                    <a:bodyPr/>
                    <a:lstStyle/>
                    <a:p>
                      <a:pPr algn="ctr"/>
                      <a:r>
                        <a:rPr sz="1300" b="0">
                          <a:solidFill>
                            <a:srgbClr val="444444"/>
                          </a:solidFill>
                        </a:rPr>
                        <a:t>52,643 u / 91,599 i / 2,984,108 int</a:t>
                      </a:r>
                    </a:p>
                  </a:txBody>
                  <a:tcPr anchor="ctr" marL="54864" marR="54864" marT="18288" marB="18288">
                    <a:solidFill>
                      <a:srgbClr val="EFF3F8"/>
                    </a:solidFill>
                  </a:tcPr>
                </a:tc>
                <a:tc>
                  <a:txBody>
                    <a:bodyPr/>
                    <a:lstStyle/>
                    <a:p>
                      <a:pPr algn="ctr"/>
                      <a:r>
                        <a:rPr sz="1300" b="0">
                          <a:solidFill>
                            <a:srgbClr val="444444"/>
                          </a:solidFill>
                        </a:rPr>
                        <a:t>Implicit-feedback (very sparse)</a:t>
                      </a:r>
                    </a:p>
                  </a:txBody>
                  <a:tcPr anchor="ctr" marL="54864" marR="54864" marT="18288" marB="18288">
                    <a:solidFill>
                      <a:srgbClr val="EFF3F8"/>
                    </a:solidFill>
                  </a:tcPr>
                </a:tc>
                <a:tc>
                  <a:txBody>
                    <a:bodyPr/>
                    <a:lstStyle/>
                    <a:p>
                      <a:pPr algn="ctr"/>
                      <a:r>
                        <a:rPr sz="1300" b="0">
                          <a:solidFill>
                            <a:srgbClr val="444444"/>
                          </a:solidFill>
                        </a:rPr>
                        <a:t>C3 – DyHuCoG</a:t>
                      </a:r>
                    </a:p>
                  </a:txBody>
                  <a:tcPr anchor="ctr" marL="54864" marR="54864" marT="18288" marB="18288">
                    <a:solidFill>
                      <a:srgbClr val="EFF3F8"/>
                    </a:solidFill>
                  </a:tcPr>
                </a:tc>
              </a:tr>
            </a:tbl>
          </a:graphicData>
        </a:graphic>
      </p:graphicFrame>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Dataset Characteristics &amp; Statistics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What each dataset brings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Wine Quality (vinho verde) - 4,898 rows x 11 physico-chemical features (acidity, sugar, pH, alcohol, sulphur); quality 3-9.</a:t>
            </a:r>
          </a:p>
          <a:p>
            <a:pPr>
              <a:lnSpc>
                <a:spcPct val="105000"/>
              </a:lnSpc>
              <a:spcAft>
                <a:spcPts val="1000"/>
              </a:spcAft>
            </a:pPr>
            <a:r>
              <a:rPr sz="1900" b="1">
                <a:solidFill>
                  <a:srgbClr val="1F6FB2"/>
                </a:solidFill>
                <a:latin typeface="Calibri"/>
              </a:rPr>
              <a:t>▪  </a:t>
            </a:r>
            <a:r>
              <a:rPr sz="1900" b="0">
                <a:solidFill>
                  <a:srgbClr val="444444"/>
                </a:solidFill>
                <a:latin typeface="Calibri"/>
              </a:rPr>
              <a:t>Beijing Air Quality - 383,585 hourly records x 11 pollutants + meteorology across 12 sites; strong temporal structure.</a:t>
            </a:r>
          </a:p>
          <a:p>
            <a:pPr>
              <a:lnSpc>
                <a:spcPct val="105000"/>
              </a:lnSpc>
              <a:spcAft>
                <a:spcPts val="1000"/>
              </a:spcAft>
            </a:pPr>
            <a:r>
              <a:rPr sz="1900" b="1">
                <a:solidFill>
                  <a:srgbClr val="1F6FB2"/>
                </a:solidFill>
                <a:latin typeface="Calibri"/>
              </a:rPr>
              <a:t>▪  </a:t>
            </a:r>
            <a:r>
              <a:rPr sz="1900" b="0">
                <a:solidFill>
                  <a:srgbClr val="444444"/>
                </a:solidFill>
                <a:latin typeface="Calibri"/>
              </a:rPr>
              <a:t>MovieLens-1M - 6,040 users / 3,706 items / 1,000,209 implicit ratings; density 4.47%; evaluated at K in {5,10,20}.</a:t>
            </a:r>
          </a:p>
          <a:p>
            <a:pPr>
              <a:lnSpc>
                <a:spcPct val="105000"/>
              </a:lnSpc>
              <a:spcAft>
                <a:spcPts val="1000"/>
              </a:spcAft>
            </a:pPr>
            <a:r>
              <a:rPr sz="1900" b="1">
                <a:solidFill>
                  <a:srgbClr val="1F6FB2"/>
                </a:solidFill>
                <a:latin typeface="Calibri"/>
              </a:rPr>
              <a:t>▪  </a:t>
            </a:r>
            <a:r>
              <a:rPr sz="1900" b="0">
                <a:solidFill>
                  <a:srgbClr val="444444"/>
                </a:solidFill>
                <a:latin typeface="Calibri"/>
              </a:rPr>
              <a:t>Amazon-Book - 52,643 users / 91,599 items / 2,984,108 interactions; density 0.06% (very sparse).</a:t>
            </a:r>
          </a:p>
          <a:p>
            <a:pPr>
              <a:lnSpc>
                <a:spcPct val="105000"/>
              </a:lnSpc>
              <a:spcAft>
                <a:spcPts val="1000"/>
              </a:spcAft>
            </a:pPr>
            <a:r>
              <a:rPr sz="1900" b="1">
                <a:solidFill>
                  <a:srgbClr val="1F6FB2"/>
                </a:solidFill>
                <a:latin typeface="Calibri"/>
              </a:rPr>
              <a:t>▪  </a:t>
            </a:r>
            <a:r>
              <a:rPr sz="1900" b="1">
                <a:solidFill>
                  <a:srgbClr val="444444"/>
                </a:solidFill>
                <a:latin typeface="Calibri"/>
              </a:rPr>
              <a:t>Why these: clustering sets have semantically interpretable features (actionable attribution); rec sets are standard benchmarks with established baselines [R6,R7,R8].</a:t>
            </a:r>
          </a:p>
          <a:p>
            <a:pPr lvl="1">
              <a:lnSpc>
                <a:spcPct val="105000"/>
              </a:lnSpc>
              <a:spcAft>
                <a:spcPts val="700"/>
              </a:spcAft>
            </a:pPr>
            <a:r>
              <a:rPr sz="1900" b="1">
                <a:solidFill>
                  <a:srgbClr val="1F6FB2"/>
                </a:solidFill>
                <a:latin typeface="Calibri"/>
              </a:rPr>
              <a:t>–  </a:t>
            </a:r>
            <a:r>
              <a:rPr sz="1900" b="0">
                <a:solidFill>
                  <a:srgbClr val="444444"/>
                </a:solidFill>
                <a:latin typeface="Calibri"/>
              </a:rPr>
              <a:t>Preprocessing: ratings &gt; 3 as positive; popularity-aware negative sampling q(i) propto f_i^eta; five fixed seeds for reproducibility.</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Data Splitting &amp; Preprocessing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Leakage control and reproducibility</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Rectangle 8"/>
          <p:cNvSpPr/>
          <p:nvPr/>
        </p:nvSpPr>
        <p:spPr>
          <a:xfrm>
            <a:off x="4964460"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Clustering: five-fold cross-validation for surrogate/attribution stability.</a:t>
            </a:r>
          </a:p>
          <a:p>
            <a:pPr>
              <a:lnSpc>
                <a:spcPct val="105000"/>
              </a:lnSpc>
              <a:spcAft>
                <a:spcPts val="1000"/>
              </a:spcAft>
            </a:pPr>
            <a:r>
              <a:rPr sz="1900" b="1">
                <a:solidFill>
                  <a:srgbClr val="1F6FB2"/>
                </a:solidFill>
                <a:latin typeface="Calibri"/>
              </a:rPr>
              <a:t>▪  </a:t>
            </a:r>
            <a:r>
              <a:rPr sz="1900" b="0">
                <a:solidFill>
                  <a:srgbClr val="444444"/>
                </a:solidFill>
                <a:latin typeface="Calibri"/>
              </a:rPr>
              <a:t>Recommendation: user-level, temporal split — 70% train / 10% validation / 20% test.</a:t>
            </a:r>
          </a:p>
          <a:p>
            <a:pPr>
              <a:lnSpc>
                <a:spcPct val="105000"/>
              </a:lnSpc>
              <a:spcAft>
                <a:spcPts val="1000"/>
              </a:spcAft>
            </a:pPr>
            <a:r>
              <a:rPr sz="1900" b="1">
                <a:solidFill>
                  <a:srgbClr val="1F6FB2"/>
                </a:solidFill>
                <a:latin typeface="Calibri"/>
              </a:rPr>
              <a:t>▪  </a:t>
            </a:r>
            <a:r>
              <a:rPr sz="1900" b="0">
                <a:solidFill>
                  <a:srgbClr val="444444"/>
                </a:solidFill>
                <a:latin typeface="Calibri"/>
              </a:rPr>
              <a:t>Leave-one-out evaluation: the latest test positive per user is the target, ranked against negatives.</a:t>
            </a:r>
          </a:p>
          <a:p>
            <a:pPr>
              <a:lnSpc>
                <a:spcPct val="105000"/>
              </a:lnSpc>
              <a:spcAft>
                <a:spcPts val="1000"/>
              </a:spcAft>
            </a:pPr>
            <a:r>
              <a:rPr sz="1900" b="1">
                <a:solidFill>
                  <a:srgbClr val="1F6FB2"/>
                </a:solidFill>
                <a:latin typeface="Calibri"/>
              </a:rPr>
              <a:t>▪  </a:t>
            </a:r>
            <a:r>
              <a:rPr sz="1900" b="0">
                <a:solidFill>
                  <a:srgbClr val="444444"/>
                </a:solidFill>
                <a:latin typeface="Calibri"/>
              </a:rPr>
              <a:t>Implicit feedback conversion: MovieLens-1M ratings &gt; 3 treated as positive.</a:t>
            </a:r>
          </a:p>
          <a:p>
            <a:pPr>
              <a:lnSpc>
                <a:spcPct val="105000"/>
              </a:lnSpc>
              <a:spcAft>
                <a:spcPts val="1000"/>
              </a:spcAft>
            </a:pPr>
            <a:r>
              <a:rPr sz="1900" b="1">
                <a:solidFill>
                  <a:srgbClr val="1F6FB2"/>
                </a:solidFill>
                <a:latin typeface="Calibri"/>
              </a:rPr>
              <a:t>▪  </a:t>
            </a:r>
            <a:r>
              <a:rPr sz="1900" b="0">
                <a:solidFill>
                  <a:srgbClr val="444444"/>
                </a:solidFill>
                <a:latin typeface="Calibri"/>
              </a:rPr>
              <a:t>Popularity-aware negative sampling: q(i) ∝ f_i^η for harder training contrasts.</a:t>
            </a:r>
          </a:p>
          <a:p>
            <a:pPr>
              <a:lnSpc>
                <a:spcPct val="105000"/>
              </a:lnSpc>
              <a:spcAft>
                <a:spcPts val="1000"/>
              </a:spcAft>
            </a:pPr>
            <a:r>
              <a:rPr sz="1900" b="1">
                <a:solidFill>
                  <a:srgbClr val="1F6FB2"/>
                </a:solidFill>
                <a:latin typeface="Calibri"/>
              </a:rPr>
              <a:t>▪  </a:t>
            </a:r>
            <a:r>
              <a:rPr sz="1900" b="0">
                <a:solidFill>
                  <a:srgbClr val="444444"/>
                </a:solidFill>
                <a:latin typeface="Calibri"/>
              </a:rPr>
              <a:t>Reproducibility: seeds {42, 43, 44, 45, 46}; early-stopping patience 20; fixed seeds.</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Baselines &amp; Evaluation Metrics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Comparing under one evaluative frame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Rectangle 8"/>
          <p:cNvSpPr/>
          <p:nvPr/>
        </p:nvSpPr>
        <p:spPr>
          <a:xfrm>
            <a:off x="4964460"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1">
                <a:solidFill>
                  <a:srgbClr val="444444"/>
                </a:solidFill>
                <a:latin typeface="Calibri"/>
              </a:rPr>
              <a:t>Clustering benchmarks: LIME-based surrogate explanation pipeline (interpretability comparator).</a:t>
            </a:r>
          </a:p>
          <a:p>
            <a:pPr>
              <a:lnSpc>
                <a:spcPct val="105000"/>
              </a:lnSpc>
              <a:spcAft>
                <a:spcPts val="1000"/>
              </a:spcAft>
            </a:pPr>
            <a:r>
              <a:rPr sz="1800" b="1">
                <a:solidFill>
                  <a:srgbClr val="1F6FB2"/>
                </a:solidFill>
                <a:latin typeface="Calibri"/>
              </a:rPr>
              <a:t>▪  </a:t>
            </a:r>
            <a:r>
              <a:rPr sz="1800" b="1">
                <a:solidFill>
                  <a:srgbClr val="444444"/>
                </a:solidFill>
                <a:latin typeface="Calibri"/>
              </a:rPr>
              <a:t>Recommendation benchmarks: MF, NCF, LightGCN, RecDCL, HCCF, HPCF (strongest reference).</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a:lnSpc>
                <a:spcPct val="105000"/>
              </a:lnSpc>
              <a:spcAft>
                <a:spcPts val="1000"/>
              </a:spcAft>
            </a:pPr>
            <a:r>
              <a:rPr sz="1800" b="1">
                <a:solidFill>
                  <a:srgbClr val="1F6FB2"/>
                </a:solidFill>
                <a:latin typeface="Calibri"/>
              </a:rPr>
              <a:t>▪  </a:t>
            </a:r>
            <a:r>
              <a:rPr sz="1800" b="0">
                <a:solidFill>
                  <a:srgbClr val="444444"/>
                </a:solidFill>
                <a:latin typeface="Calibri"/>
              </a:rPr>
              <a:t>Ranking: Precision@K, Recall@K, NDCG@20 (principal metric).</a:t>
            </a:r>
          </a:p>
          <a:p>
            <a:pPr>
              <a:lnSpc>
                <a:spcPct val="105000"/>
              </a:lnSpc>
              <a:spcAft>
                <a:spcPts val="1000"/>
              </a:spcAft>
            </a:pPr>
            <a:r>
              <a:rPr sz="1800" b="1">
                <a:solidFill>
                  <a:srgbClr val="1F6FB2"/>
                </a:solidFill>
                <a:latin typeface="Calibri"/>
              </a:rPr>
              <a:t>▪  </a:t>
            </a:r>
            <a:r>
              <a:rPr sz="1800" b="0">
                <a:solidFill>
                  <a:srgbClr val="444444"/>
                </a:solidFill>
                <a:latin typeface="Calibri"/>
              </a:rPr>
              <a:t>System diversity: Catalogue Coverage = |⋃ R_u| / |I|.</a:t>
            </a:r>
          </a:p>
          <a:p>
            <a:pPr>
              <a:lnSpc>
                <a:spcPct val="105000"/>
              </a:lnSpc>
              <a:spcAft>
                <a:spcPts val="1000"/>
              </a:spcAft>
            </a:pPr>
            <a:r>
              <a:rPr sz="1800" b="1">
                <a:solidFill>
                  <a:srgbClr val="1F6FB2"/>
                </a:solidFill>
                <a:latin typeface="Calibri"/>
              </a:rPr>
              <a:t>▪  </a:t>
            </a:r>
            <a:r>
              <a:rPr sz="1800" b="0">
                <a:solidFill>
                  <a:srgbClr val="444444"/>
                </a:solidFill>
                <a:latin typeface="Calibri"/>
              </a:rPr>
              <a:t>List diversity: Intra-List Diversity (ILD) — average pairwise dissimilarity; built into the utility.</a:t>
            </a:r>
          </a:p>
          <a:p>
            <a:pPr>
              <a:lnSpc>
                <a:spcPct val="105000"/>
              </a:lnSpc>
              <a:spcAft>
                <a:spcPts val="1000"/>
              </a:spcAft>
            </a:pPr>
            <a:r>
              <a:rPr sz="1800" b="1">
                <a:solidFill>
                  <a:srgbClr val="1F6FB2"/>
                </a:solidFill>
                <a:latin typeface="Calibri"/>
              </a:rPr>
              <a:t>▪  </a:t>
            </a:r>
            <a:r>
              <a:rPr sz="1800" b="0">
                <a:solidFill>
                  <a:srgbClr val="444444"/>
                </a:solidFill>
                <a:latin typeface="Calibri"/>
              </a:rPr>
              <a:t>Clustering quality: Silhouette coefficient, Davies–Bouldin index.</a:t>
            </a:r>
          </a:p>
        </p:txBody>
      </p:sp>
      <p:pic>
        <p:nvPicPr>
          <p:cNvPr id="14" name="Picture 13" descr="metrics.png"/>
          <p:cNvPicPr>
            <a:picLocks noChangeAspect="1"/>
          </p:cNvPicPr>
          <p:nvPr/>
        </p:nvPicPr>
        <p:blipFill>
          <a:blip r:embed="rId2"/>
          <a:stretch>
            <a:fillRect/>
          </a:stretch>
        </p:blipFill>
        <p:spPr>
          <a:xfrm>
            <a:off x="5852891520000" y="2852610319741"/>
            <a:ext cx="4765925952000" cy="1652700128516"/>
          </a:xfrm>
          <a:prstGeom prst="rect">
            <a:avLst/>
          </a:prstGeom>
        </p:spPr>
      </p:pic>
      <p:sp>
        <p:nvSpPr>
          <p:cNvPr id="15" name="TextBox 14"/>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6" name="TextBox 15"/>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Hardware &amp; Software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Reproducible environment</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Rectangle 8"/>
          <p:cNvSpPr/>
          <p:nvPr/>
        </p:nvSpPr>
        <p:spPr>
          <a:xfrm>
            <a:off x="4964460"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CPU: Intel Core i9-14900K, 24 cores — clustering, preprocessing, data loading.</a:t>
            </a:r>
          </a:p>
          <a:p>
            <a:pPr>
              <a:lnSpc>
                <a:spcPct val="105000"/>
              </a:lnSpc>
              <a:spcAft>
                <a:spcPts val="1000"/>
              </a:spcAft>
            </a:pPr>
            <a:r>
              <a:rPr sz="1900" b="1">
                <a:solidFill>
                  <a:srgbClr val="1F6FB2"/>
                </a:solidFill>
                <a:latin typeface="Calibri"/>
              </a:rPr>
              <a:t>▪  </a:t>
            </a:r>
            <a:r>
              <a:rPr sz="1900" b="0">
                <a:solidFill>
                  <a:srgbClr val="444444"/>
                </a:solidFill>
                <a:latin typeface="Calibri"/>
              </a:rPr>
              <a:t>GPU: NVIDIA GeForce RTX 4090, 24 GB (Ada Lovelace) — DyHuCoG training &amp; inference.</a:t>
            </a:r>
          </a:p>
          <a:p>
            <a:pPr>
              <a:lnSpc>
                <a:spcPct val="105000"/>
              </a:lnSpc>
              <a:spcAft>
                <a:spcPts val="1000"/>
              </a:spcAft>
            </a:pPr>
            <a:r>
              <a:rPr sz="1900" b="1">
                <a:solidFill>
                  <a:srgbClr val="1F6FB2"/>
                </a:solidFill>
                <a:latin typeface="Calibri"/>
              </a:rPr>
              <a:t>▪  </a:t>
            </a:r>
            <a:r>
              <a:rPr sz="1900" b="0">
                <a:solidFill>
                  <a:srgbClr val="444444"/>
                </a:solidFill>
                <a:latin typeface="Calibri"/>
              </a:rPr>
              <a:t>RAM: 48 GB; Storage: 2 TB SSD.</a:t>
            </a:r>
          </a:p>
          <a:p>
            <a:pPr>
              <a:lnSpc>
                <a:spcPct val="105000"/>
              </a:lnSpc>
              <a:spcAft>
                <a:spcPts val="1000"/>
              </a:spcAft>
            </a:pPr>
            <a:r>
              <a:rPr sz="1900" b="1">
                <a:solidFill>
                  <a:srgbClr val="1F6FB2"/>
                </a:solidFill>
                <a:latin typeface="Calibri"/>
              </a:rPr>
              <a:t>▪  </a:t>
            </a:r>
            <a:r>
              <a:rPr sz="1900" b="0">
                <a:solidFill>
                  <a:srgbClr val="444444"/>
                </a:solidFill>
                <a:latin typeface="Calibri"/>
              </a:rPr>
              <a:t>Python 3.8; scikit-learn (PCA, K-Means), LightGBM (surrogate), SHAP (TreeSHAP), PyTorch 2.0.1 (GNN/HGNN), NumPy/SciPy/pandas (stats).</a:t>
            </a:r>
          </a:p>
          <a:p>
            <a:pPr>
              <a:lnSpc>
                <a:spcPct val="105000"/>
              </a:lnSpc>
              <a:spcAft>
                <a:spcPts val="1000"/>
              </a:spcAft>
            </a:pPr>
            <a:r>
              <a:rPr sz="1900" b="1">
                <a:solidFill>
                  <a:srgbClr val="1F6FB2"/>
                </a:solidFill>
                <a:latin typeface="Calibri"/>
              </a:rPr>
              <a:t>▪  </a:t>
            </a:r>
            <a:r>
              <a:rPr sz="1900" b="0">
                <a:solidFill>
                  <a:srgbClr val="444444"/>
                </a:solidFill>
                <a:latin typeface="Calibri"/>
              </a:rPr>
              <a:t>Altair for interactive SHAP visualisation; metrics at K ∈ {5, 10, 20}.</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Contribution I — Explainable Black-Box Clustering</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PCA → K-Means → LightGBM → SHAP · Wine Quality · RQ1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Research Gap &amp; Objectives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RQ1</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Gap: Shapley explanation is dominant in supervised tasks, but clustering remains comparatively under-explained.</a:t>
            </a:r>
          </a:p>
          <a:p>
            <a:pPr lvl="1">
              <a:lnSpc>
                <a:spcPct val="105000"/>
              </a:lnSpc>
              <a:spcAft>
                <a:spcPts val="700"/>
              </a:spcAft>
            </a:pPr>
            <a:r>
              <a:rPr sz="1900" b="1">
                <a:solidFill>
                  <a:srgbClr val="1F6FB2"/>
                </a:solidFill>
                <a:latin typeface="Calibri"/>
              </a:rPr>
              <a:t>–  </a:t>
            </a:r>
            <a:r>
              <a:rPr sz="1900" b="0">
                <a:solidFill>
                  <a:srgbClr val="444444"/>
                </a:solidFill>
                <a:latin typeface="Calibri"/>
              </a:rPr>
              <a:t>Existing clustering-interpretability methods privilege local or global explanation, not both.</a:t>
            </a:r>
          </a:p>
          <a:p>
            <a:pPr lvl="1">
              <a:lnSpc>
                <a:spcPct val="105000"/>
              </a:lnSpc>
              <a:spcAft>
                <a:spcPts val="700"/>
              </a:spcAft>
            </a:pPr>
            <a:r>
              <a:rPr sz="1900" b="1">
                <a:solidFill>
                  <a:srgbClr val="1F6FB2"/>
                </a:solidFill>
                <a:latin typeface="Calibri"/>
              </a:rPr>
              <a:t>–  </a:t>
            </a:r>
            <a:r>
              <a:rPr sz="1900" b="0">
                <a:solidFill>
                  <a:srgbClr val="444444"/>
                </a:solidFill>
                <a:latin typeface="Calibri"/>
              </a:rPr>
              <a:t>They often fail to scale or to preserve coherence across clusters.</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Objectives:</a:t>
            </a:r>
          </a:p>
          <a:p>
            <a:pPr lvl="1">
              <a:lnSpc>
                <a:spcPct val="105000"/>
              </a:lnSpc>
              <a:spcAft>
                <a:spcPts val="700"/>
              </a:spcAft>
            </a:pPr>
            <a:r>
              <a:rPr sz="1900" b="1">
                <a:solidFill>
                  <a:srgbClr val="1F6FB2"/>
                </a:solidFill>
                <a:latin typeface="Calibri"/>
              </a:rPr>
              <a:t>–  </a:t>
            </a:r>
            <a:r>
              <a:rPr sz="1900" b="0">
                <a:solidFill>
                  <a:srgbClr val="444444"/>
                </a:solidFill>
                <a:latin typeface="Calibri"/>
              </a:rPr>
              <a:t>Build a pipeline yielding cluster-level explanation from an unsupervised partition while preserving feature-level attribution.</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Research Questions (RQ1):</a:t>
            </a:r>
          </a:p>
          <a:p>
            <a:pPr lvl="1">
              <a:lnSpc>
                <a:spcPct val="105000"/>
              </a:lnSpc>
              <a:spcAft>
                <a:spcPts val="700"/>
              </a:spcAft>
            </a:pPr>
            <a:r>
              <a:rPr sz="1900" b="1">
                <a:solidFill>
                  <a:srgbClr val="1F6FB2"/>
                </a:solidFill>
                <a:latin typeface="Calibri"/>
              </a:rPr>
              <a:t>–  </a:t>
            </a:r>
            <a:r>
              <a:rPr sz="1900" b="0">
                <a:solidFill>
                  <a:srgbClr val="444444"/>
                </a:solidFill>
                <a:latin typeface="Calibri"/>
              </a:rPr>
              <a:t>RQ1a - Can Shapley values attribute cluster membership faithfully at instance and cluster level? [R2]</a:t>
            </a:r>
          </a:p>
          <a:p>
            <a:pPr lvl="1">
              <a:lnSpc>
                <a:spcPct val="105000"/>
              </a:lnSpc>
              <a:spcAft>
                <a:spcPts val="700"/>
              </a:spcAft>
            </a:pPr>
            <a:r>
              <a:rPr sz="1900" b="1">
                <a:solidFill>
                  <a:srgbClr val="1F6FB2"/>
                </a:solidFill>
                <a:latin typeface="Calibri"/>
              </a:rPr>
              <a:t>–  </a:t>
            </a:r>
            <a:r>
              <a:rPr sz="1900" b="0">
                <a:solidFill>
                  <a:srgbClr val="444444"/>
                </a:solidFill>
                <a:latin typeface="Calibri"/>
              </a:rPr>
              <a:t>RQ1b - Is Shapley attribution more stable and coherent than LIME across clusters? [R5]</a:t>
            </a:r>
          </a:p>
          <a:p>
            <a:pPr lvl="1">
              <a:lnSpc>
                <a:spcPct val="105000"/>
              </a:lnSpc>
              <a:spcAft>
                <a:spcPts val="700"/>
              </a:spcAft>
            </a:pPr>
            <a:r>
              <a:rPr sz="1900" b="1">
                <a:solidFill>
                  <a:srgbClr val="1F6FB2"/>
                </a:solidFill>
                <a:latin typeface="Calibri"/>
              </a:rPr>
              <a:t>–  </a:t>
            </a:r>
            <a:r>
              <a:rPr sz="1900" b="0">
                <a:solidFill>
                  <a:srgbClr val="444444"/>
                </a:solidFill>
                <a:latin typeface="Calibri"/>
              </a:rPr>
              <a:t>Preserve the semantics of the original feature space even though clustering uses a reduced dimensionality.</a:t>
            </a:r>
          </a:p>
          <a:p>
            <a:pPr lvl="1">
              <a:lnSpc>
                <a:spcPct val="105000"/>
              </a:lnSpc>
              <a:spcAft>
                <a:spcPts val="700"/>
              </a:spcAft>
            </a:pPr>
            <a:r>
              <a:rPr sz="1900" b="1">
                <a:solidFill>
                  <a:srgbClr val="1F6FB2"/>
                </a:solidFill>
                <a:latin typeface="Calibri"/>
              </a:rPr>
              <a:t>–  </a:t>
            </a:r>
            <a:r>
              <a:rPr sz="1900" b="0">
                <a:solidFill>
                  <a:srgbClr val="444444"/>
                </a:solidFill>
                <a:latin typeface="Calibri"/>
              </a:rPr>
              <a:t>Justify, on theoretical and literature grounds, why Shapley-based attribution is better than LIME for stable cluster explanation.</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Cooperative-Game Formulation for Clustering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Features as players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Player set: N = F — each feature is a player.</a:t>
            </a:r>
          </a:p>
          <a:p>
            <a:pPr>
              <a:lnSpc>
                <a:spcPct val="105000"/>
              </a:lnSpc>
              <a:spcAft>
                <a:spcPts val="1000"/>
              </a:spcAft>
            </a:pPr>
            <a:r>
              <a:rPr sz="1900" b="1">
                <a:solidFill>
                  <a:srgbClr val="1F6FB2"/>
                </a:solidFill>
                <a:latin typeface="Calibri"/>
              </a:rPr>
              <a:t>▪  </a:t>
            </a:r>
            <a:r>
              <a:rPr sz="1900" b="0">
                <a:solidFill>
                  <a:srgbClr val="444444"/>
                </a:solidFill>
                <a:latin typeface="Calibri"/>
              </a:rPr>
              <a:t>Value function: v(S) = Silhouette( KMeans(X_S, k*) ) — how well data cluster using only features in S.</a:t>
            </a:r>
          </a:p>
          <a:p>
            <a:pPr>
              <a:lnSpc>
                <a:spcPct val="105000"/>
              </a:lnSpc>
              <a:spcAft>
                <a:spcPts val="1000"/>
              </a:spcAft>
            </a:pPr>
            <a:r>
              <a:rPr sz="1900" b="1">
                <a:solidFill>
                  <a:srgbClr val="1F6FB2"/>
                </a:solidFill>
                <a:latin typeface="Calibri"/>
              </a:rPr>
              <a:t>▪  </a:t>
            </a:r>
            <a:r>
              <a:rPr sz="1900" b="0">
                <a:solidFill>
                  <a:srgbClr val="444444"/>
                </a:solidFill>
                <a:latin typeface="Calibri"/>
              </a:rPr>
              <a:t>A feature's Shapley value = its expected marginal contribution to clustering quality over all coalition orders [R2].</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0">
                <a:solidFill>
                  <a:srgbClr val="444444"/>
                </a:solidFill>
                <a:latin typeface="Calibri"/>
              </a:rPr>
              <a:t>Why Silhouette: bounded, normalised, semantically intuitive.</a:t>
            </a:r>
          </a:p>
          <a:p>
            <a:pPr lvl="1">
              <a:lnSpc>
                <a:spcPct val="105000"/>
              </a:lnSpc>
              <a:spcAft>
                <a:spcPts val="700"/>
              </a:spcAft>
            </a:pPr>
            <a:r>
              <a:rPr sz="1900" b="1">
                <a:solidFill>
                  <a:srgbClr val="1F6FB2"/>
                </a:solidFill>
                <a:latin typeface="Calibri"/>
              </a:rPr>
              <a:t>–  </a:t>
            </a:r>
            <a:r>
              <a:rPr sz="1900" b="0">
                <a:solidFill>
                  <a:srgbClr val="444444"/>
                </a:solidFill>
                <a:latin typeface="Calibri"/>
              </a:rPr>
              <a:t>Alternatives (Davies–Bouldin, Calinski–Harabasz) possible but Silhouette is the interpretable choice.</a:t>
            </a:r>
          </a:p>
          <a:p>
            <a:pPr>
              <a:lnSpc>
                <a:spcPct val="105000"/>
              </a:lnSpc>
              <a:spcAft>
                <a:spcPts val="1000"/>
              </a:spcAft>
            </a:pPr>
            <a:r>
              <a:rPr sz="1900" b="1">
                <a:solidFill>
                  <a:srgbClr val="1F6FB2"/>
                </a:solidFill>
                <a:latin typeface="Calibri"/>
              </a:rPr>
              <a:t>▪  </a:t>
            </a:r>
            <a:r>
              <a:rPr sz="1900" b="0">
                <a:solidFill>
                  <a:srgbClr val="444444"/>
                </a:solidFill>
                <a:latin typeface="Calibri"/>
              </a:rPr>
              <a:t>Direct evaluation for every coalition is intractable → we need a bridge.</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The LightGBM Bridge for Tractable Attribution</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Unsupervised partition → supervised explanation</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Once K-Means produces cluster labels, train a LightGBM multiclass surrogate to predict those labels from the original features [R4].</a:t>
            </a:r>
          </a:p>
          <a:p>
            <a:pPr>
              <a:lnSpc>
                <a:spcPct val="105000"/>
              </a:lnSpc>
              <a:spcAft>
                <a:spcPts val="1000"/>
              </a:spcAft>
            </a:pPr>
            <a:r>
              <a:rPr sz="1900" b="1">
                <a:solidFill>
                  <a:srgbClr val="1F6FB2"/>
                </a:solidFill>
                <a:latin typeface="Calibri"/>
              </a:rPr>
              <a:t>▪  </a:t>
            </a:r>
            <a:r>
              <a:rPr sz="1900" b="0">
                <a:solidFill>
                  <a:srgbClr val="444444"/>
                </a:solidFill>
                <a:latin typeface="Calibri"/>
              </a:rPr>
              <a:t>Apply TreeSHAP to the surrogate — exact, fast tree-based attribution in the original semantic feature space.</a:t>
            </a:r>
          </a:p>
          <a:p>
            <a:pPr>
              <a:lnSpc>
                <a:spcPct val="105000"/>
              </a:lnSpc>
              <a:spcAft>
                <a:spcPts val="1000"/>
              </a:spcAft>
            </a:pPr>
            <a:r>
              <a:rPr sz="1900" b="1">
                <a:solidFill>
                  <a:srgbClr val="1F6FB2"/>
                </a:solidFill>
                <a:latin typeface="Calibri"/>
              </a:rPr>
              <a:t>▪  </a:t>
            </a:r>
            <a:r>
              <a:rPr sz="1900" b="1">
                <a:solidFill>
                  <a:srgbClr val="444444"/>
                </a:solidFill>
                <a:latin typeface="Calibri"/>
              </a:rPr>
              <a:t>Why this bridge matters:</a:t>
            </a:r>
          </a:p>
          <a:p>
            <a:pPr lvl="1">
              <a:lnSpc>
                <a:spcPct val="105000"/>
              </a:lnSpc>
              <a:spcAft>
                <a:spcPts val="700"/>
              </a:spcAft>
            </a:pPr>
            <a:r>
              <a:rPr sz="1900" b="1">
                <a:solidFill>
                  <a:srgbClr val="1F6FB2"/>
                </a:solidFill>
                <a:latin typeface="Calibri"/>
              </a:rPr>
              <a:t>–  </a:t>
            </a:r>
            <a:r>
              <a:rPr sz="1900" b="0">
                <a:solidFill>
                  <a:srgbClr val="444444"/>
                </a:solidFill>
                <a:latin typeface="Calibri"/>
              </a:rPr>
              <a:t>Direct TreeSHAP on K-Means is impossible (it explains tree models, not centroids).</a:t>
            </a:r>
          </a:p>
          <a:p>
            <a:pPr lvl="1">
              <a:lnSpc>
                <a:spcPct val="105000"/>
              </a:lnSpc>
              <a:spcAft>
                <a:spcPts val="700"/>
              </a:spcAft>
            </a:pPr>
            <a:r>
              <a:rPr sz="1900" b="1">
                <a:solidFill>
                  <a:srgbClr val="1F6FB2"/>
                </a:solidFill>
                <a:latin typeface="Calibri"/>
              </a:rPr>
              <a:t>–  </a:t>
            </a:r>
            <a:r>
              <a:rPr sz="1900" b="0">
                <a:solidFill>
                  <a:srgbClr val="444444"/>
                </a:solidFill>
                <a:latin typeface="Calibri"/>
              </a:rPr>
              <a:t>Explaining the PCA representation would move attribution away from interpretable variables.</a:t>
            </a:r>
          </a:p>
          <a:p>
            <a:pPr lvl="1">
              <a:lnSpc>
                <a:spcPct val="105000"/>
              </a:lnSpc>
              <a:spcAft>
                <a:spcPts val="700"/>
              </a:spcAft>
            </a:pPr>
            <a:r>
              <a:rPr sz="1900" b="1">
                <a:solidFill>
                  <a:srgbClr val="1F6FB2"/>
                </a:solidFill>
                <a:latin typeface="Calibri"/>
              </a:rPr>
              <a:t>–  </a:t>
            </a:r>
            <a:r>
              <a:rPr sz="1900" b="0">
                <a:solidFill>
                  <a:srgbClr val="444444"/>
                </a:solidFill>
                <a:latin typeface="Calibri"/>
              </a:rPr>
              <a:t>The surrogate preserves the chemistry/pollution vocabulary that makes the analysis actionable.</a:t>
            </a:r>
          </a:p>
          <a:p>
            <a:pPr lvl="1">
              <a:lnSpc>
                <a:spcPct val="105000"/>
              </a:lnSpc>
              <a:spcAft>
                <a:spcPts val="700"/>
              </a:spcAft>
            </a:pPr>
            <a:r>
              <a:rPr sz="1900" b="1">
                <a:solidFill>
                  <a:srgbClr val="1F6FB2"/>
                </a:solidFill>
                <a:latin typeface="Calibri"/>
              </a:rPr>
              <a:t>–  </a:t>
            </a:r>
            <a:r>
              <a:rPr sz="1900" b="1">
                <a:solidFill>
                  <a:srgbClr val="444444"/>
                </a:solidFill>
                <a:latin typeface="Calibri"/>
              </a:rPr>
              <a:t>Validity condition: surrogate fidelity is high (macro-F1 ≈ 0.82 on held-out cluster labels).</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Proposed Pipeline: PCA–KMeans–LightGBM–SHAP</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Five stages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Stage 1 – PCA: stabilise geometry + visual diagnostic. NOT the explanatory space.</a:t>
            </a:r>
          </a:p>
          <a:p>
            <a:pPr>
              <a:lnSpc>
                <a:spcPct val="105000"/>
              </a:lnSpc>
              <a:spcAft>
                <a:spcPts val="1000"/>
              </a:spcAft>
            </a:pPr>
            <a:r>
              <a:rPr sz="1800" b="1">
                <a:solidFill>
                  <a:srgbClr val="1F6FB2"/>
                </a:solidFill>
                <a:latin typeface="Calibri"/>
              </a:rPr>
              <a:t>▪  </a:t>
            </a:r>
            <a:r>
              <a:rPr sz="1800" b="0">
                <a:solidFill>
                  <a:srgbClr val="444444"/>
                </a:solidFill>
                <a:latin typeface="Calibri"/>
              </a:rPr>
              <a:t>Stage 2 – K-Means++ with multi-criteria k selection (elbow, Silhouette, Davies–Bouldin).</a:t>
            </a:r>
          </a:p>
          <a:p>
            <a:pPr>
              <a:lnSpc>
                <a:spcPct val="105000"/>
              </a:lnSpc>
              <a:spcAft>
                <a:spcPts val="1000"/>
              </a:spcAft>
            </a:pPr>
            <a:r>
              <a:rPr sz="1800" b="1">
                <a:solidFill>
                  <a:srgbClr val="1F6FB2"/>
                </a:solidFill>
                <a:latin typeface="Calibri"/>
              </a:rPr>
              <a:t>▪  </a:t>
            </a:r>
            <a:r>
              <a:rPr sz="1800" b="0">
                <a:solidFill>
                  <a:srgbClr val="444444"/>
                </a:solidFill>
                <a:latin typeface="Calibri"/>
              </a:rPr>
              <a:t>Stage 3 – LightGBM surrogate trained on original features to predict cluster labels.</a:t>
            </a:r>
          </a:p>
          <a:p>
            <a:pPr>
              <a:lnSpc>
                <a:spcPct val="105000"/>
              </a:lnSpc>
              <a:spcAft>
                <a:spcPts val="1000"/>
              </a:spcAft>
            </a:pPr>
            <a:r>
              <a:rPr sz="1800" b="1">
                <a:solidFill>
                  <a:srgbClr val="1F6FB2"/>
                </a:solidFill>
                <a:latin typeface="Calibri"/>
              </a:rPr>
              <a:t>▪  </a:t>
            </a:r>
            <a:r>
              <a:rPr sz="1800" b="0">
                <a:solidFill>
                  <a:srgbClr val="444444"/>
                </a:solidFill>
                <a:latin typeface="Calibri"/>
              </a:rPr>
              <a:t>Stage 4 – TreeSHAP attribution in the original feature space.</a:t>
            </a:r>
          </a:p>
          <a:p>
            <a:pPr>
              <a:lnSpc>
                <a:spcPct val="105000"/>
              </a:lnSpc>
              <a:spcAft>
                <a:spcPts val="1000"/>
              </a:spcAft>
            </a:pPr>
            <a:r>
              <a:rPr sz="1800" b="1">
                <a:solidFill>
                  <a:srgbClr val="1F6FB2"/>
                </a:solidFill>
                <a:latin typeface="Calibri"/>
              </a:rPr>
              <a:t>▪  </a:t>
            </a:r>
            <a:r>
              <a:rPr sz="1800" b="0">
                <a:solidFill>
                  <a:srgbClr val="444444"/>
                </a:solidFill>
                <a:latin typeface="Calibri"/>
              </a:rPr>
              <a:t>Stage 5 – Aggregate into global importance, cluster-specific profiles, and local force plots.</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lvl="1">
              <a:lnSpc>
                <a:spcPct val="105000"/>
              </a:lnSpc>
              <a:spcAft>
                <a:spcPts val="700"/>
              </a:spcAft>
            </a:pPr>
            <a:r>
              <a:rPr sz="1800" b="1">
                <a:solidFill>
                  <a:srgbClr val="1F6FB2"/>
                </a:solidFill>
                <a:latin typeface="Calibri"/>
              </a:rPr>
              <a:t>–  </a:t>
            </a:r>
            <a:r>
              <a:rPr sz="1800" b="0">
                <a:solidFill>
                  <a:srgbClr val="444444"/>
                </a:solidFill>
                <a:latin typeface="Calibri"/>
              </a:rPr>
              <a:t>Complexity: dominated by PCA and repeated K-Means; TreeSHAP scales with tree count/depth, not exponentially in features.</a:t>
            </a:r>
          </a:p>
        </p:txBody>
      </p:sp>
      <p:pic>
        <p:nvPicPr>
          <p:cNvPr id="21" name="Picture 20" descr="gamexai_workflow.png"/>
          <p:cNvPicPr>
            <a:picLocks noChangeAspect="1"/>
          </p:cNvPicPr>
          <p:nvPr/>
        </p:nvPicPr>
        <p:blipFill>
          <a:blip r:embed="rId2"/>
          <a:stretch>
            <a:fillRect/>
          </a:stretch>
        </p:blipFill>
        <p:spPr>
          <a:xfrm>
            <a:off x="6187342464000" y="1630448352000"/>
            <a:ext cx="4097024064000" cy="4097024064000"/>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Optimal Cluster Selection — a Deliberate Choice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Interpretability over geometry</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Multi-criteria evaluation across k ∈ {2..10} using elbow, Silhouette, Davies–Bouldin.</a:t>
            </a:r>
          </a:p>
          <a:p>
            <a:pPr>
              <a:lnSpc>
                <a:spcPct val="105000"/>
              </a:lnSpc>
              <a:spcAft>
                <a:spcPts val="1000"/>
              </a:spcAft>
            </a:pPr>
            <a:r>
              <a:rPr sz="1900" b="1">
                <a:solidFill>
                  <a:srgbClr val="1F6FB2"/>
                </a:solidFill>
                <a:latin typeface="Calibri"/>
              </a:rPr>
              <a:t>▪  </a:t>
            </a:r>
            <a:r>
              <a:rPr sz="1900" b="1">
                <a:solidFill>
                  <a:srgbClr val="444444"/>
                </a:solidFill>
                <a:latin typeface="Calibri"/>
              </a:rPr>
              <a:t>We select k* = 3 — even though it is NOT geometrically optimal:</a:t>
            </a:r>
          </a:p>
          <a:p>
            <a:pPr lvl="1">
              <a:lnSpc>
                <a:spcPct val="105000"/>
              </a:lnSpc>
              <a:spcAft>
                <a:spcPts val="700"/>
              </a:spcAft>
            </a:pPr>
            <a:r>
              <a:rPr sz="1900" b="1">
                <a:solidFill>
                  <a:srgbClr val="1F6FB2"/>
                </a:solidFill>
                <a:latin typeface="Calibri"/>
              </a:rPr>
              <a:t>–  </a:t>
            </a:r>
            <a:r>
              <a:rPr sz="1900" b="0">
                <a:solidFill>
                  <a:srgbClr val="444444"/>
                </a:solidFill>
                <a:latin typeface="Calibri"/>
              </a:rPr>
              <a:t>k = 2: Silhouette 0.214, Davies–Bouldin 1.775 (better separation).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k = 3: Silhouette 0.144, Davies–Bouldin 2.097 (weaker separation).</a:t>
            </a:r>
          </a:p>
          <a:p>
            <a:pPr lvl="1">
              <a:lnSpc>
                <a:spcPct val="105000"/>
              </a:lnSpc>
              <a:spcAft>
                <a:spcPts val="700"/>
              </a:spcAft>
            </a:pPr>
            <a:r>
              <a:rPr sz="1900" b="1">
                <a:solidFill>
                  <a:srgbClr val="1F6FB2"/>
                </a:solidFill>
                <a:latin typeface="Calibri"/>
              </a:rPr>
              <a:t>–  </a:t>
            </a:r>
            <a:r>
              <a:rPr sz="1900" b="1">
                <a:solidFill>
                  <a:srgbClr val="444444"/>
                </a:solidFill>
                <a:latin typeface="Calibri"/>
              </a:rPr>
              <a:t>Why: three clusters give a semantically richer oenological partition → more discriminative, more actionable explanation.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Note: the higher Silhouette ≈ 0.63 belongs to the Beijing dataset (C2), not the wine partition.</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Global Feature Importance (Wine Quality)</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A chemistry-consistent hierarchy</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1">
                <a:solidFill>
                  <a:srgbClr val="444444"/>
                </a:solidFill>
                <a:latin typeface="Calibri"/>
              </a:rPr>
              <a:t>Global SHAP ranking (highest → lower):</a:t>
            </a:r>
          </a:p>
          <a:p>
            <a:pPr lvl="1">
              <a:lnSpc>
                <a:spcPct val="105000"/>
              </a:lnSpc>
              <a:spcAft>
                <a:spcPts val="700"/>
              </a:spcAft>
            </a:pPr>
            <a:r>
              <a:rPr sz="1800" b="1">
                <a:solidFill>
                  <a:srgbClr val="1F6FB2"/>
                </a:solidFill>
                <a:latin typeface="Calibri"/>
              </a:rPr>
              <a:t>–  </a:t>
            </a:r>
            <a:r>
              <a:rPr sz="1800" b="0">
                <a:solidFill>
                  <a:srgbClr val="444444"/>
                </a:solidFill>
                <a:latin typeface="Calibri"/>
              </a:rPr>
              <a:t>density → pH → fixed acidity → sulfur-dioxide variables → alcohol</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a:lnSpc>
                <a:spcPct val="105000"/>
              </a:lnSpc>
              <a:spcAft>
                <a:spcPts val="1000"/>
              </a:spcAft>
            </a:pPr>
            <a:r>
              <a:rPr sz="1800" b="1">
                <a:solidFill>
                  <a:srgbClr val="1F6FB2"/>
                </a:solidFill>
                <a:latin typeface="Calibri"/>
              </a:rPr>
              <a:t>▪  </a:t>
            </a:r>
            <a:r>
              <a:rPr sz="1800" b="1">
                <a:solidFill>
                  <a:srgbClr val="444444"/>
                </a:solidFill>
                <a:latin typeface="Calibri"/>
              </a:rPr>
              <a:t>Significance:</a:t>
            </a:r>
          </a:p>
          <a:p>
            <a:pPr lvl="1">
              <a:lnSpc>
                <a:spcPct val="105000"/>
              </a:lnSpc>
              <a:spcAft>
                <a:spcPts val="700"/>
              </a:spcAft>
            </a:pPr>
            <a:r>
              <a:rPr sz="1800" b="1">
                <a:solidFill>
                  <a:srgbClr val="1F6FB2"/>
                </a:solidFill>
                <a:latin typeface="Calibri"/>
              </a:rPr>
              <a:t>–  </a:t>
            </a:r>
            <a:r>
              <a:rPr sz="1800" b="0">
                <a:solidFill>
                  <a:srgbClr val="444444"/>
                </a:solidFill>
                <a:latin typeface="Calibri"/>
              </a:rPr>
              <a:t>Dominant drivers are density, pH, fixed acidity, sulfur-dioxide, alcohol — variables intimately related to structure, preservation, and sensory balance.</a:t>
            </a:r>
          </a:p>
          <a:p>
            <a:pPr lvl="1">
              <a:lnSpc>
                <a:spcPct val="105000"/>
              </a:lnSpc>
              <a:spcAft>
                <a:spcPts val="700"/>
              </a:spcAft>
            </a:pPr>
            <a:r>
              <a:rPr sz="1800" b="1">
                <a:solidFill>
                  <a:srgbClr val="1F6FB2"/>
                </a:solidFill>
                <a:latin typeface="Calibri"/>
              </a:rPr>
              <a:t>–  </a:t>
            </a:r>
            <a:r>
              <a:rPr sz="1800" b="0">
                <a:solidFill>
                  <a:srgbClr val="444444"/>
                </a:solidFill>
                <a:latin typeface="Calibri"/>
              </a:rPr>
              <a:t>This is NOT an arbitrary classifier artefact: it recovers a chemically interpretable hierarchy.</a:t>
            </a:r>
          </a:p>
          <a:p>
            <a:pPr lvl="1">
              <a:lnSpc>
                <a:spcPct val="105000"/>
              </a:lnSpc>
              <a:spcAft>
                <a:spcPts val="700"/>
              </a:spcAft>
            </a:pPr>
            <a:r>
              <a:rPr sz="1800" b="1">
                <a:solidFill>
                  <a:srgbClr val="1F6FB2"/>
                </a:solidFill>
                <a:latin typeface="Calibri"/>
              </a:rPr>
              <a:t>–  </a:t>
            </a:r>
            <a:r>
              <a:rPr sz="1800" b="0">
                <a:solidFill>
                  <a:srgbClr val="444444"/>
                </a:solidFill>
                <a:latin typeface="Calibri"/>
              </a:rPr>
              <a:t>The explanatory signal is concentrated, not diffuse.</a:t>
            </a:r>
          </a:p>
        </p:txBody>
      </p:sp>
      <p:pic>
        <p:nvPicPr>
          <p:cNvPr id="21" name="Picture 20" descr="shapcluster_summary.png"/>
          <p:cNvPicPr>
            <a:picLocks noChangeAspect="1"/>
          </p:cNvPicPr>
          <p:nvPr/>
        </p:nvPicPr>
        <p:blipFill>
          <a:blip r:embed="rId2"/>
          <a:stretch>
            <a:fillRect/>
          </a:stretch>
        </p:blipFill>
        <p:spPr>
          <a:xfrm>
            <a:off x="5852891520000" y="2112786714249"/>
            <a:ext cx="4765925952000" cy="3132347339500"/>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Cluster-Specific Profiles (Three Signatures)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Cluster-level heterogeneity</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1">
                <a:solidFill>
                  <a:srgbClr val="444444"/>
                </a:solidFill>
                <a:latin typeface="Calibri"/>
              </a:rPr>
              <a:t>Three clusters show distinct explanatory signatures, not minor variations.</a:t>
            </a:r>
          </a:p>
          <a:p>
            <a:pPr lvl="1">
              <a:lnSpc>
                <a:spcPct val="105000"/>
              </a:lnSpc>
              <a:spcAft>
                <a:spcPts val="700"/>
              </a:spcAft>
            </a:pPr>
            <a:r>
              <a:rPr sz="1800" b="1">
                <a:solidFill>
                  <a:srgbClr val="1F6FB2"/>
                </a:solidFill>
                <a:latin typeface="Calibri"/>
              </a:rPr>
              <a:t>–  </a:t>
            </a:r>
            <a:r>
              <a:rPr sz="1800" b="0">
                <a:solidFill>
                  <a:srgbClr val="444444"/>
                </a:solidFill>
                <a:latin typeface="Calibri"/>
              </a:rPr>
              <a:t>Cluster 0 – density + sulfur-dioxide-related variables.</a:t>
            </a:r>
          </a:p>
          <a:p>
            <a:pPr lvl="1">
              <a:lnSpc>
                <a:spcPct val="105000"/>
              </a:lnSpc>
              <a:spcAft>
                <a:spcPts val="700"/>
              </a:spcAft>
            </a:pPr>
            <a:r>
              <a:rPr sz="1800" b="1">
                <a:solidFill>
                  <a:srgbClr val="1F6FB2"/>
                </a:solidFill>
                <a:latin typeface="Calibri"/>
              </a:rPr>
              <a:t>–  </a:t>
            </a:r>
            <a:r>
              <a:rPr sz="1800" b="0">
                <a:solidFill>
                  <a:srgbClr val="444444"/>
                </a:solidFill>
                <a:latin typeface="Calibri"/>
              </a:rPr>
              <a:t>Cluster 1 – acidity and pH-related effects.</a:t>
            </a:r>
          </a:p>
          <a:p>
            <a:pPr lvl="1">
              <a:lnSpc>
                <a:spcPct val="105000"/>
              </a:lnSpc>
              <a:spcAft>
                <a:spcPts val="700"/>
              </a:spcAft>
            </a:pPr>
            <a:r>
              <a:rPr sz="1800" b="1">
                <a:solidFill>
                  <a:srgbClr val="1F6FB2"/>
                </a:solidFill>
                <a:latin typeface="Calibri"/>
              </a:rPr>
              <a:t>–  </a:t>
            </a:r>
            <a:r>
              <a:rPr sz="1800" b="0">
                <a:solidFill>
                  <a:srgbClr val="444444"/>
                </a:solidFill>
                <a:latin typeface="Calibri"/>
              </a:rPr>
              <a:t>Cluster 2 – a different balance of acidity, alcohol, and related chemical attributes.</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lvl="1">
              <a:lnSpc>
                <a:spcPct val="105000"/>
              </a:lnSpc>
              <a:spcAft>
                <a:spcPts val="700"/>
              </a:spcAft>
            </a:pPr>
            <a:r>
              <a:rPr sz="1800" b="1">
                <a:solidFill>
                  <a:srgbClr val="1F6FB2"/>
                </a:solidFill>
                <a:latin typeface="Calibri"/>
              </a:rPr>
              <a:t>–  </a:t>
            </a:r>
            <a:r>
              <a:rPr sz="1800" b="0">
                <a:solidFill>
                  <a:srgbClr val="444444"/>
                </a:solidFill>
                <a:latin typeface="Calibri"/>
              </a:rPr>
              <a:t>Interpretation: the same small set of important variables recurs across clusters, but with different relative weights within each cluster.</a:t>
            </a:r>
          </a:p>
          <a:p>
            <a:pPr lvl="1">
              <a:lnSpc>
                <a:spcPct val="105000"/>
              </a:lnSpc>
              <a:spcAft>
                <a:spcPts val="700"/>
              </a:spcAft>
            </a:pPr>
            <a:r>
              <a:rPr sz="1800" b="1">
                <a:solidFill>
                  <a:srgbClr val="1F6FB2"/>
                </a:solidFill>
                <a:latin typeface="Calibri"/>
              </a:rPr>
              <a:t>–  </a:t>
            </a:r>
            <a:r>
              <a:rPr sz="1800" b="0">
                <a:solidFill>
                  <a:srgbClr val="444444"/>
                </a:solidFill>
                <a:latin typeface="Calibri"/>
              </a:rPr>
              <a:t>The global ranking translates into cluster-level heterogeneity — the partition is globally interpretable AND internally differentiated.</a:t>
            </a:r>
          </a:p>
        </p:txBody>
      </p:sp>
      <p:pic>
        <p:nvPicPr>
          <p:cNvPr id="21" name="Picture 20" descr="shapcluster_clusters.png"/>
          <p:cNvPicPr>
            <a:picLocks noChangeAspect="1"/>
          </p:cNvPicPr>
          <p:nvPr/>
        </p:nvPicPr>
        <p:blipFill>
          <a:blip r:embed="rId2"/>
          <a:stretch>
            <a:fillRect/>
          </a:stretch>
        </p:blipFill>
        <p:spPr>
          <a:xfrm>
            <a:off x="5852891520000" y="3122663661863"/>
            <a:ext cx="4765925952000" cy="1112593444273"/>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SHAP vs. LIME — Why Cooperative Attribution</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Axiomatic attribution vs local surrogate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SHAP grounds attribution in a cooperative-game allocation rule; LIME fits a local surrogate.</a:t>
            </a:r>
          </a:p>
          <a:p>
            <a:pPr>
              <a:lnSpc>
                <a:spcPct val="105000"/>
              </a:lnSpc>
              <a:spcAft>
                <a:spcPts val="1000"/>
              </a:spcAft>
            </a:pPr>
            <a:r>
              <a:rPr sz="1900" b="1">
                <a:solidFill>
                  <a:srgbClr val="1F6FB2"/>
                </a:solidFill>
                <a:latin typeface="Calibri"/>
              </a:rPr>
              <a:t>▪  </a:t>
            </a:r>
            <a:r>
              <a:rPr sz="1900" b="0">
                <a:solidFill>
                  <a:srgbClr val="444444"/>
                </a:solidFill>
                <a:latin typeface="Calibri"/>
              </a:rPr>
              <a:t>Stability: SHAP is more stable when the surrogate is faithful; LIME depends on perturbation design [R5].</a:t>
            </a:r>
          </a:p>
          <a:p>
            <a:pPr>
              <a:lnSpc>
                <a:spcPct val="105000"/>
              </a:lnSpc>
              <a:spcAft>
                <a:spcPts val="1000"/>
              </a:spcAft>
            </a:pPr>
            <a:r>
              <a:rPr sz="1900" b="1">
                <a:solidFill>
                  <a:srgbClr val="1F6FB2"/>
                </a:solidFill>
                <a:latin typeface="Calibri"/>
              </a:rPr>
              <a:t>▪  </a:t>
            </a:r>
            <a:r>
              <a:rPr sz="1900" b="0">
                <a:solidFill>
                  <a:srgbClr val="444444"/>
                </a:solidFill>
                <a:latin typeface="Calibri"/>
              </a:rPr>
              <a:t>Theoretical guarantees: SHAP satisfies efficiency, symmetry, null player, additivity — LIME has no equivalent.</a:t>
            </a:r>
          </a:p>
          <a:p>
            <a:pPr>
              <a:lnSpc>
                <a:spcPct val="105000"/>
              </a:lnSpc>
              <a:spcAft>
                <a:spcPts val="1000"/>
              </a:spcAft>
            </a:pPr>
            <a:r>
              <a:rPr sz="1900" b="1">
                <a:solidFill>
                  <a:srgbClr val="1F6FB2"/>
                </a:solidFill>
                <a:latin typeface="Calibri"/>
              </a:rPr>
              <a:t>▪  </a:t>
            </a:r>
            <a:r>
              <a:rPr sz="1900" b="0">
                <a:solidFill>
                  <a:srgbClr val="444444"/>
                </a:solidFill>
                <a:latin typeface="Calibri"/>
              </a:rPr>
              <a:t>Local/global coherence: SHAP supports both; LIME is primarily local.</a:t>
            </a:r>
          </a:p>
          <a:p>
            <a:pPr>
              <a:lnSpc>
                <a:spcPct val="105000"/>
              </a:lnSpc>
              <a:spcAft>
                <a:spcPts val="1000"/>
              </a:spcAft>
            </a:pPr>
            <a:r>
              <a:rPr sz="1900" b="1">
                <a:solidFill>
                  <a:srgbClr val="1F6FB2"/>
                </a:solidFill>
                <a:latin typeface="Calibri"/>
              </a:rPr>
              <a:t>▪  </a:t>
            </a:r>
            <a:r>
              <a:rPr sz="1900" b="0">
                <a:solidFill>
                  <a:srgbClr val="444444"/>
                </a:solidFill>
                <a:latin typeface="Calibri"/>
              </a:rPr>
              <a:t>Cluster comparison: SHAP is strong; LIME limited.</a:t>
            </a:r>
          </a:p>
          <a:p>
            <a:pPr lvl="1">
              <a:lnSpc>
                <a:spcPct val="105000"/>
              </a:lnSpc>
              <a:spcAft>
                <a:spcPts val="700"/>
              </a:spcAft>
            </a:pPr>
            <a:r>
              <a:rPr sz="1900" b="1">
                <a:solidFill>
                  <a:srgbClr val="1F6FB2"/>
                </a:solidFill>
                <a:latin typeface="Calibri"/>
              </a:rPr>
              <a:t>–  </a:t>
            </a:r>
            <a:r>
              <a:rPr sz="1900" b="0">
                <a:solidFill>
                  <a:srgbClr val="444444"/>
                </a:solidFill>
                <a:latin typeface="Calibri"/>
              </a:rPr>
              <a:t>Caveat: in the surrogate pipeline, efficiency holds w.r.t. the LightGBM output, not the Silhouette value directly.</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C1 · Findings &amp; Limitations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RQ1 answered</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Achieved:</a:t>
            </a:r>
          </a:p>
          <a:p>
            <a:pPr lvl="1">
              <a:lnSpc>
                <a:spcPct val="105000"/>
              </a:lnSpc>
              <a:spcAft>
                <a:spcPts val="700"/>
              </a:spcAft>
            </a:pPr>
            <a:r>
              <a:rPr sz="1900" b="1">
                <a:solidFill>
                  <a:srgbClr val="1F6FB2"/>
                </a:solidFill>
                <a:latin typeface="Calibri"/>
              </a:rPr>
              <a:t>–  </a:t>
            </a:r>
            <a:r>
              <a:rPr sz="1900" b="0">
                <a:solidFill>
                  <a:srgbClr val="444444"/>
                </a:solidFill>
                <a:latin typeface="Calibri"/>
              </a:rPr>
              <a:t>A cluster-level explanation anchored to individual feature contributions.</a:t>
            </a:r>
          </a:p>
          <a:p>
            <a:pPr lvl="1">
              <a:lnSpc>
                <a:spcPct val="105000"/>
              </a:lnSpc>
              <a:spcAft>
                <a:spcPts val="700"/>
              </a:spcAft>
            </a:pPr>
            <a:r>
              <a:rPr sz="1900" b="1">
                <a:solidFill>
                  <a:srgbClr val="1F6FB2"/>
                </a:solidFill>
                <a:latin typeface="Calibri"/>
              </a:rPr>
              <a:t>–  </a:t>
            </a:r>
            <a:r>
              <a:rPr sz="1900" b="0">
                <a:solidFill>
                  <a:srgbClr val="444444"/>
                </a:solidFill>
                <a:latin typeface="Calibri"/>
              </a:rPr>
              <a:t>Explanations returned to the original variables, not to an abstract principal-component basis.</a:t>
            </a:r>
          </a:p>
          <a:p>
            <a:pPr lvl="1">
              <a:lnSpc>
                <a:spcPct val="105000"/>
              </a:lnSpc>
              <a:spcAft>
                <a:spcPts val="700"/>
              </a:spcAft>
            </a:pPr>
            <a:r>
              <a:rPr sz="1900" b="1">
                <a:solidFill>
                  <a:srgbClr val="1F6FB2"/>
                </a:solidFill>
                <a:latin typeface="Calibri"/>
              </a:rPr>
              <a:t>–  </a:t>
            </a:r>
            <a:r>
              <a:rPr sz="1900" b="0">
                <a:solidFill>
                  <a:srgbClr val="444444"/>
                </a:solidFill>
                <a:latin typeface="Calibri"/>
              </a:rPr>
              <a:t>Theoretically and literature-backed case for Shapley over LIME for stable cluster attribution.</a:t>
            </a:r>
          </a:p>
          <a:p>
            <a:pPr>
              <a:lnSpc>
                <a:spcPct val="105000"/>
              </a:lnSpc>
              <a:spcAft>
                <a:spcPts val="1000"/>
              </a:spcAft>
            </a:pPr>
            <a:r>
              <a:rPr sz="1900" b="1">
                <a:solidFill>
                  <a:srgbClr val="1F6FB2"/>
                </a:solidFill>
                <a:latin typeface="Calibri"/>
              </a:rPr>
              <a:t>▪  </a:t>
            </a:r>
            <a:r>
              <a:rPr sz="1900" b="1">
                <a:solidFill>
                  <a:srgbClr val="444444"/>
                </a:solidFill>
                <a:latin typeface="Calibri"/>
              </a:rPr>
              <a:t>Limitations:</a:t>
            </a:r>
          </a:p>
          <a:p>
            <a:pPr lvl="1">
              <a:lnSpc>
                <a:spcPct val="105000"/>
              </a:lnSpc>
              <a:spcAft>
                <a:spcPts val="700"/>
              </a:spcAft>
            </a:pPr>
            <a:r>
              <a:rPr sz="1900" b="1">
                <a:solidFill>
                  <a:srgbClr val="1F6FB2"/>
                </a:solidFill>
                <a:latin typeface="Calibri"/>
              </a:rPr>
              <a:t>–  </a:t>
            </a:r>
            <a:r>
              <a:rPr sz="1900" b="0">
                <a:solidFill>
                  <a:srgbClr val="444444"/>
                </a:solidFill>
                <a:latin typeface="Calibri"/>
              </a:rPr>
              <a:t>Fidelity depends on the LightGBM surrogate.</a:t>
            </a:r>
          </a:p>
          <a:p>
            <a:pPr lvl="1">
              <a:lnSpc>
                <a:spcPct val="105000"/>
              </a:lnSpc>
              <a:spcAft>
                <a:spcPts val="700"/>
              </a:spcAft>
            </a:pPr>
            <a:r>
              <a:rPr sz="1900" b="1">
                <a:solidFill>
                  <a:srgbClr val="1F6FB2"/>
                </a:solidFill>
                <a:latin typeface="Calibri"/>
              </a:rPr>
              <a:t>–  </a:t>
            </a:r>
            <a:r>
              <a:rPr sz="1900" b="0">
                <a:solidFill>
                  <a:srgbClr val="444444"/>
                </a:solidFill>
                <a:latin typeface="Calibri"/>
              </a:rPr>
              <a:t>Tabular data only — not automatically transferable to image/text clustering.</a:t>
            </a:r>
          </a:p>
          <a:p>
            <a:pPr lvl="1">
              <a:lnSpc>
                <a:spcPct val="105000"/>
              </a:lnSpc>
              <a:spcAft>
                <a:spcPts val="700"/>
              </a:spcAft>
            </a:pPr>
            <a:r>
              <a:rPr sz="1900" b="1">
                <a:solidFill>
                  <a:srgbClr val="1F6FB2"/>
                </a:solidFill>
                <a:latin typeface="Calibri"/>
              </a:rPr>
              <a:t>–  </a:t>
            </a:r>
            <a:r>
              <a:rPr sz="1900" b="0">
                <a:solidFill>
                  <a:srgbClr val="444444"/>
                </a:solidFill>
                <a:latin typeface="Calibri"/>
              </a:rPr>
              <a:t>Single-level structure — cannot yet address hierarchical coherence. That is C2’s point of departure.</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Contribution II — Enhanced Multi-Level XAI for Large-Scale Clustering</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Beijing Air Quality · Hierarchical attribution consistency · RQ2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Research Gap &amp; Objectives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RQ2</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Gap: once clustering is multi-level, feature importance must stay interpretable within a cluster, across sub-clusters, and across the hierarchy as a whole.</a:t>
            </a:r>
          </a:p>
          <a:p>
            <a:pPr lvl="1">
              <a:lnSpc>
                <a:spcPct val="105000"/>
              </a:lnSpc>
              <a:spcAft>
                <a:spcPts val="700"/>
              </a:spcAft>
            </a:pPr>
            <a:r>
              <a:rPr sz="1900" b="1">
                <a:solidFill>
                  <a:srgbClr val="1F6FB2"/>
                </a:solidFill>
                <a:latin typeface="Calibri"/>
              </a:rPr>
              <a:t>–  </a:t>
            </a:r>
            <a:r>
              <a:rPr sz="1900" b="0">
                <a:solidFill>
                  <a:srgbClr val="444444"/>
                </a:solidFill>
                <a:latin typeface="Calibri"/>
              </a:rPr>
              <a:t>Large-scale data make exact explanation computationally burdensome.</a:t>
            </a:r>
          </a:p>
          <a:p>
            <a:pPr lvl="1">
              <a:lnSpc>
                <a:spcPct val="105000"/>
              </a:lnSpc>
              <a:spcAft>
                <a:spcPts val="700"/>
              </a:spcAft>
            </a:pPr>
            <a:r>
              <a:rPr sz="1900" b="1">
                <a:solidFill>
                  <a:srgbClr val="1F6FB2"/>
                </a:solidFill>
                <a:latin typeface="Calibri"/>
              </a:rPr>
              <a:t>–  </a:t>
            </a:r>
            <a:r>
              <a:rPr sz="1900" b="0">
                <a:solidFill>
                  <a:srgbClr val="444444"/>
                </a:solidFill>
                <a:latin typeface="Calibri"/>
              </a:rPr>
              <a:t>Flat explanation may be true yet incomplete — it cannot show how importance changes inside a cluster.</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Objectives:</a:t>
            </a:r>
          </a:p>
          <a:p>
            <a:pPr lvl="1">
              <a:lnSpc>
                <a:spcPct val="105000"/>
              </a:lnSpc>
              <a:spcAft>
                <a:spcPts val="700"/>
              </a:spcAft>
            </a:pPr>
            <a:r>
              <a:rPr sz="1900" b="1">
                <a:solidFill>
                  <a:srgbClr val="1F6FB2"/>
                </a:solidFill>
                <a:latin typeface="Calibri"/>
              </a:rPr>
              <a:t>–  </a:t>
            </a:r>
            <a:r>
              <a:rPr sz="1900" b="0">
                <a:solidFill>
                  <a:srgbClr val="444444"/>
                </a:solidFill>
                <a:latin typeface="Calibri"/>
              </a:rPr>
              <a:t>A genuinely multi-level explanatory workflow (not a rerun of the C1 pipeline).</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Research Questions (RQ2):</a:t>
            </a:r>
          </a:p>
          <a:p>
            <a:pPr lvl="1">
              <a:lnSpc>
                <a:spcPct val="105000"/>
              </a:lnSpc>
              <a:spcAft>
                <a:spcPts val="700"/>
              </a:spcAft>
            </a:pPr>
            <a:r>
              <a:rPr sz="1900" b="1">
                <a:solidFill>
                  <a:srgbClr val="1F6FB2"/>
                </a:solidFill>
                <a:latin typeface="Calibri"/>
              </a:rPr>
              <a:t>–  </a:t>
            </a:r>
            <a:r>
              <a:rPr sz="1900" b="0">
                <a:solidFill>
                  <a:srgbClr val="444444"/>
                </a:solidFill>
                <a:latin typeface="Calibri"/>
              </a:rPr>
              <a:t>RQ2a - Can cross-level SHAP aggregation stay consistent as the hierarchy deepens? [R2]</a:t>
            </a:r>
          </a:p>
          <a:p>
            <a:pPr lvl="1">
              <a:lnSpc>
                <a:spcPct val="105000"/>
              </a:lnSpc>
              <a:spcAft>
                <a:spcPts val="700"/>
              </a:spcAft>
            </a:pPr>
            <a:r>
              <a:rPr sz="1900" b="1">
                <a:solidFill>
                  <a:srgbClr val="1F6FB2"/>
                </a:solidFill>
                <a:latin typeface="Calibri"/>
              </a:rPr>
              <a:t>–  </a:t>
            </a:r>
            <a:r>
              <a:rPr sz="1900" b="0">
                <a:solidFill>
                  <a:srgbClr val="444444"/>
                </a:solidFill>
                <a:latin typeface="Calibri"/>
              </a:rPr>
              <a:t>RQ2b - Does the explanation remain tractable and coherent at large scale? [R9]</a:t>
            </a:r>
          </a:p>
          <a:p>
            <a:pPr lvl="1">
              <a:lnSpc>
                <a:spcPct val="105000"/>
              </a:lnSpc>
              <a:spcAft>
                <a:spcPts val="700"/>
              </a:spcAft>
            </a:pPr>
            <a:r>
              <a:rPr sz="1900" b="1">
                <a:solidFill>
                  <a:srgbClr val="1F6FB2"/>
                </a:solidFill>
                <a:latin typeface="Calibri"/>
              </a:rPr>
              <a:t>–  </a:t>
            </a:r>
            <a:r>
              <a:rPr sz="1900" b="0">
                <a:solidFill>
                  <a:srgbClr val="444444"/>
                </a:solidFill>
                <a:latin typeface="Calibri"/>
              </a:rPr>
              <a:t>A formal cross-level consistency argument (Proposition 6.1).</a:t>
            </a:r>
          </a:p>
          <a:p>
            <a:pPr lvl="1">
              <a:lnSpc>
                <a:spcPct val="105000"/>
              </a:lnSpc>
              <a:spcAft>
                <a:spcPts val="700"/>
              </a:spcAft>
            </a:pPr>
            <a:r>
              <a:rPr sz="1900" b="1">
                <a:solidFill>
                  <a:srgbClr val="1F6FB2"/>
                </a:solidFill>
                <a:latin typeface="Calibri"/>
              </a:rPr>
              <a:t>–  </a:t>
            </a:r>
            <a:r>
              <a:rPr sz="1900" b="0">
                <a:solidFill>
                  <a:srgbClr val="444444"/>
                </a:solidFill>
                <a:latin typeface="Calibri"/>
              </a:rPr>
              <a:t>Validation on a structurally different, large-scale dataset (Beijing).</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Multi-Level Clustering Architecture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Nested clustering as an analytical tool</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Recursive / nested design: coarse clustering on the full dataset, then subdivide each cluster where appropriate.</a:t>
            </a:r>
          </a:p>
          <a:p>
            <a:pPr>
              <a:lnSpc>
                <a:spcPct val="105000"/>
              </a:lnSpc>
              <a:spcAft>
                <a:spcPts val="1000"/>
              </a:spcAft>
            </a:pPr>
            <a:r>
              <a:rPr sz="1800" b="1">
                <a:solidFill>
                  <a:srgbClr val="1F6FB2"/>
                </a:solidFill>
                <a:latin typeface="Calibri"/>
              </a:rPr>
              <a:t>▪  </a:t>
            </a:r>
            <a:r>
              <a:rPr sz="1800" b="0">
                <a:solidFill>
                  <a:srgbClr val="444444"/>
                </a:solidFill>
                <a:latin typeface="Calibri"/>
              </a:rPr>
              <a:t>For each level, train a level-specific surrogate and compute SHAP in the SAME original feature space.</a:t>
            </a:r>
          </a:p>
          <a:p>
            <a:pPr>
              <a:lnSpc>
                <a:spcPct val="105000"/>
              </a:lnSpc>
              <a:spcAft>
                <a:spcPts val="1000"/>
              </a:spcAft>
            </a:pPr>
            <a:r>
              <a:rPr sz="1800" b="1">
                <a:solidFill>
                  <a:srgbClr val="1F6FB2"/>
                </a:solidFill>
                <a:latin typeface="Calibri"/>
              </a:rPr>
              <a:t>▪  </a:t>
            </a:r>
            <a:r>
              <a:rPr sz="1800" b="1">
                <a:solidFill>
                  <a:srgbClr val="444444"/>
                </a:solidFill>
                <a:latin typeface="Calibri"/>
              </a:rPr>
              <a:t>Cross-level aggregation is NOT a naive average — it respects cluster size and nesting structure.</a:t>
            </a:r>
          </a:p>
          <a:p>
            <a:pPr lvl="1">
              <a:lnSpc>
                <a:spcPct val="105000"/>
              </a:lnSpc>
              <a:spcAft>
                <a:spcPts val="700"/>
              </a:spcAft>
            </a:pPr>
            <a:r>
              <a:rPr sz="1800" b="1">
                <a:solidFill>
                  <a:srgbClr val="1F6FB2"/>
                </a:solidFill>
                <a:latin typeface="Calibri"/>
              </a:rPr>
              <a:t>–  </a:t>
            </a:r>
            <a:r>
              <a:rPr sz="1800" b="0">
                <a:solidFill>
                  <a:srgbClr val="444444"/>
                </a:solidFill>
                <a:latin typeface="Calibri"/>
              </a:rPr>
              <a:t>Parent-level attribution = an expectation over the explanatory structure of its descendants.</a:t>
            </a:r>
          </a:p>
          <a:p>
            <a:pPr lvl="1">
              <a:lnSpc>
                <a:spcPct val="105000"/>
              </a:lnSpc>
              <a:spcAft>
                <a:spcPts val="700"/>
              </a:spcAft>
            </a:pPr>
            <a:r>
              <a:rPr sz="1800" b="1">
                <a:solidFill>
                  <a:srgbClr val="1F6FB2"/>
                </a:solidFill>
                <a:latin typeface="Calibri"/>
              </a:rPr>
              <a:t>–  </a:t>
            </a:r>
            <a:r>
              <a:rPr sz="1800" b="0">
                <a:solidFill>
                  <a:srgbClr val="444444"/>
                </a:solidFill>
                <a:latin typeface="Calibri"/>
              </a:rPr>
              <a:t>The hierarchy is a pragmatic analytical device, not a claim that the data have a true ontological hierarchy.</a:t>
            </a:r>
          </a:p>
        </p:txBody>
      </p:sp>
      <p:pic>
        <p:nvPicPr>
          <p:cNvPr id="21" name="Picture 20" descr="c2_multilevel.png"/>
          <p:cNvPicPr>
            <a:picLocks noChangeAspect="1"/>
          </p:cNvPicPr>
          <p:nvPr/>
        </p:nvPicPr>
        <p:blipFill>
          <a:blip r:embed="rId2"/>
          <a:stretch>
            <a:fillRect/>
          </a:stretch>
        </p:blipFill>
        <p:spPr>
          <a:xfrm>
            <a:off x="5852891520000" y="2775740546322"/>
            <a:ext cx="4765925952000" cy="1806439675354"/>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Formal Result: Hierarchical Attribution Consistency (Proposition 6.1)</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cross-level consistency claim</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Let Φ^(l,c)_j = E_{x~c}[ |φ_j^(l)(x)| ] be the expected absolute SHAP importance of feature j at level l in cluster c.</a:t>
            </a:r>
          </a:p>
          <a:p>
            <a:pPr>
              <a:lnSpc>
                <a:spcPct val="105000"/>
              </a:lnSpc>
              <a:spcAft>
                <a:spcPts val="1000"/>
              </a:spcAft>
            </a:pPr>
            <a:r>
              <a:rPr sz="1900" b="1">
                <a:solidFill>
                  <a:srgbClr val="1F6FB2"/>
                </a:solidFill>
                <a:latin typeface="Calibri"/>
              </a:rPr>
              <a:t>▪  </a:t>
            </a:r>
            <a:r>
              <a:rPr sz="1900" b="0">
                <a:solidFill>
                  <a:srgbClr val="444444"/>
                </a:solidFill>
                <a:latin typeface="Calibri"/>
              </a:rPr>
              <a:t>Let w_c' = |c'| / |c| be the relative size of child c' within parent c.</a:t>
            </a:r>
          </a:p>
          <a:p>
            <a:pPr>
              <a:lnSpc>
                <a:spcPct val="105000"/>
              </a:lnSpc>
              <a:spcAft>
                <a:spcPts val="1000"/>
              </a:spcAft>
            </a:pPr>
            <a:r>
              <a:rPr sz="1900" b="1">
                <a:solidFill>
                  <a:srgbClr val="1F6FB2"/>
                </a:solidFill>
                <a:latin typeface="Calibri"/>
              </a:rPr>
              <a:t>▪  </a:t>
            </a:r>
            <a:r>
              <a:rPr sz="1900" b="1">
                <a:solidFill>
                  <a:srgbClr val="444444"/>
                </a:solidFill>
                <a:latin typeface="Calibri"/>
              </a:rPr>
              <a:t>For a strict nested hierarchy on a consistent feature space:</a:t>
            </a:r>
          </a:p>
          <a:p>
            <a:pPr lvl="1">
              <a:lnSpc>
                <a:spcPct val="105000"/>
              </a:lnSpc>
              <a:spcAft>
                <a:spcPts val="700"/>
              </a:spcAft>
            </a:pPr>
            <a:r>
              <a:rPr sz="1900" b="1">
                <a:solidFill>
                  <a:srgbClr val="1F6FB2"/>
                </a:solidFill>
                <a:latin typeface="Calibri"/>
              </a:rPr>
              <a:t>–  </a:t>
            </a:r>
            <a:r>
              <a:rPr sz="1900" b="1">
                <a:solidFill>
                  <a:srgbClr val="444444"/>
                </a:solidFill>
                <a:latin typeface="Calibri"/>
              </a:rPr>
              <a:t>Φ^(l,c)_j = Σ_{c'∈child(c)} w_c' · Φ^(l+1,c')_j + ε_j</a:t>
            </a:r>
          </a:p>
          <a:p>
            <a:pPr lvl="1">
              <a:lnSpc>
                <a:spcPct val="105000"/>
              </a:lnSpc>
              <a:spcAft>
                <a:spcPts val="700"/>
              </a:spcAft>
            </a:pPr>
            <a:r>
              <a:rPr sz="1900" b="1">
                <a:solidFill>
                  <a:srgbClr val="1F6FB2"/>
                </a:solidFill>
                <a:latin typeface="Calibri"/>
              </a:rPr>
              <a:t>–  </a:t>
            </a:r>
            <a:r>
              <a:rPr sz="1900" b="0">
                <a:solidFill>
                  <a:srgbClr val="444444"/>
                </a:solidFill>
                <a:latin typeface="Calibri"/>
              </a:rPr>
              <a:t>ε_j is a residual from surrogate mismatch and vanishes under perfect surrogate fidelity.</a:t>
            </a:r>
          </a:p>
          <a:p>
            <a:pPr lvl="1">
              <a:lnSpc>
                <a:spcPct val="105000"/>
              </a:lnSpc>
              <a:spcAft>
                <a:spcPts val="700"/>
              </a:spcAft>
            </a:pPr>
            <a:r>
              <a:rPr sz="1900" b="1">
                <a:solidFill>
                  <a:srgbClr val="1F6FB2"/>
                </a:solidFill>
                <a:latin typeface="Calibri"/>
              </a:rPr>
              <a:t>–  </a:t>
            </a:r>
            <a:r>
              <a:rPr sz="1900" b="0">
                <a:solidFill>
                  <a:srgbClr val="444444"/>
                </a:solidFill>
                <a:latin typeface="Calibri"/>
              </a:rPr>
              <a:t>Derived via the law of total expectation (children partition the parent).</a:t>
            </a:r>
          </a:p>
          <a:p>
            <a:pPr lvl="1">
              <a:lnSpc>
                <a:spcPct val="105000"/>
              </a:lnSpc>
              <a:spcAft>
                <a:spcPts val="700"/>
              </a:spcAft>
            </a:pPr>
            <a:r>
              <a:rPr sz="1900" b="1">
                <a:solidFill>
                  <a:srgbClr val="1F6FB2"/>
                </a:solidFill>
                <a:latin typeface="Calibri"/>
              </a:rPr>
              <a:t>–  </a:t>
            </a:r>
            <a:r>
              <a:rPr sz="1900" b="0">
                <a:solidFill>
                  <a:srgbClr val="444444"/>
                </a:solidFill>
                <a:latin typeface="Calibri"/>
              </a:rPr>
              <a:t>Does NOT imply explanations are identical across levels — it implies differences can be interpreted, not dismissed as inconsistency.</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Results: Cluster Quality (Beijing)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Much clearer separation than wine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Full dataset, k = 3 (strong convergence on the multi-criteria evaluation).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Silhouette ≈ 0.63 — materially stronger separation than the wine study.</a:t>
            </a:r>
          </a:p>
          <a:p>
            <a:pPr lvl="1">
              <a:lnSpc>
                <a:spcPct val="105000"/>
              </a:lnSpc>
              <a:spcAft>
                <a:spcPts val="700"/>
              </a:spcAft>
            </a:pPr>
            <a:r>
              <a:rPr sz="1900" b="1">
                <a:solidFill>
                  <a:srgbClr val="1F6FB2"/>
                </a:solidFill>
                <a:latin typeface="Calibri"/>
              </a:rPr>
              <a:t>–  </a:t>
            </a:r>
            <a:r>
              <a:rPr sz="1900" b="0">
                <a:solidFill>
                  <a:srgbClr val="444444"/>
                </a:solidFill>
                <a:latin typeface="Calibri"/>
              </a:rPr>
              <a:t>Davies–Bouldin ≈ 0.55 — low between-cluster ambiguity.</a:t>
            </a:r>
          </a:p>
          <a:p>
            <a:pPr lvl="1">
              <a:lnSpc>
                <a:spcPct val="105000"/>
              </a:lnSpc>
              <a:spcAft>
                <a:spcPts val="700"/>
              </a:spcAft>
            </a:pPr>
            <a:r>
              <a:rPr sz="1900" b="1">
                <a:solidFill>
                  <a:srgbClr val="1F6FB2"/>
                </a:solidFill>
                <a:latin typeface="Calibri"/>
              </a:rPr>
              <a:t>–  </a:t>
            </a:r>
            <a:r>
              <a:rPr sz="1900" b="0">
                <a:solidFill>
                  <a:srgbClr val="444444"/>
                </a:solidFill>
                <a:latin typeface="Calibri"/>
              </a:rPr>
              <a:t>PCA projection (2 components) used only for visual inspection.</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1">
              <a:lnSpc>
                <a:spcPct val="105000"/>
              </a:lnSpc>
              <a:spcAft>
                <a:spcPts val="700"/>
              </a:spcAft>
            </a:pPr>
            <a:r>
              <a:rPr sz="1900" b="1">
                <a:solidFill>
                  <a:srgbClr val="1F6FB2"/>
                </a:solidFill>
                <a:latin typeface="Calibri"/>
              </a:rPr>
              <a:t>–  </a:t>
            </a:r>
            <a:r>
              <a:rPr sz="1900" b="0">
                <a:solidFill>
                  <a:srgbClr val="444444"/>
                </a:solidFill>
                <a:latin typeface="Calibri"/>
              </a:rPr>
              <a:t>Sensitivity: conclusions robust to modest variation in k, projection dimensionality, and surrogate depth; only low-ranked variables shift.</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Global Feature Importance (Beijing)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Meteorology conditions pollution regimes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Global SHAP ranking (highest → lower):</a:t>
            </a:r>
          </a:p>
          <a:p>
            <a:pPr lvl="1">
              <a:lnSpc>
                <a:spcPct val="105000"/>
              </a:lnSpc>
              <a:spcAft>
                <a:spcPts val="700"/>
              </a:spcAft>
            </a:pPr>
            <a:r>
              <a:rPr sz="1900" b="1">
                <a:solidFill>
                  <a:srgbClr val="1F6FB2"/>
                </a:solidFill>
                <a:latin typeface="Calibri"/>
              </a:rPr>
              <a:t>–  </a:t>
            </a:r>
            <a:r>
              <a:rPr sz="1900" b="0">
                <a:solidFill>
                  <a:srgbClr val="444444"/>
                </a:solidFill>
                <a:latin typeface="Calibri"/>
              </a:rPr>
              <a:t>temperature → dew point → pressure → CO → NO2 → PM10 → PM2.5</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Significance:</a:t>
            </a:r>
          </a:p>
          <a:p>
            <a:pPr lvl="1">
              <a:lnSpc>
                <a:spcPct val="105000"/>
              </a:lnSpc>
              <a:spcAft>
                <a:spcPts val="700"/>
              </a:spcAft>
            </a:pPr>
            <a:r>
              <a:rPr sz="1900" b="1">
                <a:solidFill>
                  <a:srgbClr val="1F6FB2"/>
                </a:solidFill>
                <a:latin typeface="Calibri"/>
              </a:rPr>
              <a:t>–  </a:t>
            </a:r>
            <a:r>
              <a:rPr sz="1900" b="0">
                <a:solidFill>
                  <a:srgbClr val="444444"/>
                </a:solidFill>
                <a:latin typeface="Calibri"/>
              </a:rPr>
              <a:t>It is NOT simply pollutant concentrations that matter — meteorological variables play a structurally central role.</a:t>
            </a:r>
          </a:p>
          <a:p>
            <a:pPr lvl="1">
              <a:lnSpc>
                <a:spcPct val="105000"/>
              </a:lnSpc>
              <a:spcAft>
                <a:spcPts val="700"/>
              </a:spcAft>
            </a:pPr>
            <a:r>
              <a:rPr sz="1900" b="1">
                <a:solidFill>
                  <a:srgbClr val="1F6FB2"/>
                </a:solidFill>
                <a:latin typeface="Calibri"/>
              </a:rPr>
              <a:t>–  </a:t>
            </a:r>
            <a:r>
              <a:rPr sz="1900" b="0">
                <a:solidFill>
                  <a:srgbClr val="444444"/>
                </a:solidFill>
                <a:latin typeface="Calibri"/>
              </a:rPr>
              <a:t>Temperature, dew point, and pressure condition dispersion, trapping, and photochemical behaviour.</a:t>
            </a:r>
          </a:p>
          <a:p>
            <a:pPr lvl="1">
              <a:lnSpc>
                <a:spcPct val="105000"/>
              </a:lnSpc>
              <a:spcAft>
                <a:spcPts val="700"/>
              </a:spcAft>
            </a:pPr>
            <a:r>
              <a:rPr sz="1900" b="1">
                <a:solidFill>
                  <a:srgbClr val="1F6FB2"/>
                </a:solidFill>
                <a:latin typeface="Calibri"/>
              </a:rPr>
              <a:t>–  </a:t>
            </a:r>
            <a:r>
              <a:rPr sz="1900" b="0">
                <a:solidFill>
                  <a:srgbClr val="444444"/>
                </a:solidFill>
                <a:latin typeface="Calibri"/>
              </a:rPr>
              <a:t>This is exactly the kind of insight flat descriptive summaries often fail to make explicit.</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Three Pollution Regimes (Force Plots)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Three interpretable air-quality regimes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Regime A – warm photochemical events: ozone, temperature, dew point prominent (summer photochemical smog).</a:t>
            </a:r>
          </a:p>
          <a:p>
            <a:pPr>
              <a:lnSpc>
                <a:spcPct val="105000"/>
              </a:lnSpc>
              <a:spcAft>
                <a:spcPts val="1000"/>
              </a:spcAft>
            </a:pPr>
            <a:r>
              <a:rPr sz="1900" b="1">
                <a:solidFill>
                  <a:srgbClr val="1F6FB2"/>
                </a:solidFill>
                <a:latin typeface="Calibri"/>
              </a:rPr>
              <a:t>▪  </a:t>
            </a:r>
            <a:r>
              <a:rPr sz="1900" b="0">
                <a:solidFill>
                  <a:srgbClr val="444444"/>
                </a:solidFill>
                <a:latin typeface="Calibri"/>
              </a:rPr>
              <a:t>Regime B – wintertime smog: CO, SO2, particulate matter dominate; low wind speed suppresses dispersion (stagnant cold air).</a:t>
            </a:r>
          </a:p>
          <a:p>
            <a:pPr>
              <a:lnSpc>
                <a:spcPct val="105000"/>
              </a:lnSpc>
              <a:spcAft>
                <a:spcPts val="1000"/>
              </a:spcAft>
            </a:pPr>
            <a:r>
              <a:rPr sz="1900" b="1">
                <a:solidFill>
                  <a:srgbClr val="1F6FB2"/>
                </a:solidFill>
                <a:latin typeface="Calibri"/>
              </a:rPr>
              <a:t>▪  </a:t>
            </a:r>
            <a:r>
              <a:rPr sz="1900" b="0">
                <a:solidFill>
                  <a:srgbClr val="444444"/>
                </a:solidFill>
                <a:latin typeface="Calibri"/>
              </a:rPr>
              <a:t>Regime C – comparatively clean air events: favourable meteorology, weak pollutant pushes.</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1">
              <a:lnSpc>
                <a:spcPct val="105000"/>
              </a:lnSpc>
              <a:spcAft>
                <a:spcPts val="700"/>
              </a:spcAft>
            </a:pPr>
            <a:r>
              <a:rPr sz="1900" b="1">
                <a:solidFill>
                  <a:srgbClr val="1F6FB2"/>
                </a:solidFill>
                <a:latin typeface="Calibri"/>
              </a:rPr>
              <a:t>–  </a:t>
            </a:r>
            <a:r>
              <a:rPr sz="1900" b="0">
                <a:solidFill>
                  <a:srgbClr val="444444"/>
                </a:solidFill>
                <a:latin typeface="Calibri"/>
              </a:rPr>
              <a:t>The framework shows not only that these regimes exist, but which variable combinations define them.</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29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The Multi-Level Insight</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Why flat explanation is insufficient</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At the coarse level, temperature and dew point dominate — they differentiate broad atmospheric regimes.</a:t>
            </a:r>
          </a:p>
          <a:p>
            <a:pPr>
              <a:lnSpc>
                <a:spcPct val="105000"/>
              </a:lnSpc>
              <a:spcAft>
                <a:spcPts val="1000"/>
              </a:spcAft>
            </a:pPr>
            <a:r>
              <a:rPr sz="1900" b="1">
                <a:solidFill>
                  <a:srgbClr val="1F6FB2"/>
                </a:solidFill>
                <a:latin typeface="Calibri"/>
              </a:rPr>
              <a:t>▪  </a:t>
            </a:r>
            <a:r>
              <a:rPr sz="1900" b="0">
                <a:solidFill>
                  <a:srgbClr val="444444"/>
                </a:solidFill>
                <a:latin typeface="Calibri"/>
              </a:rPr>
              <a:t>Within individual clusters, CO, SO2, PM10, wind speed, pressure, or ozone become more discriminative.</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This change is NOT contradictory to the global explanation — it is exactly what a multi-level explanation should reveal.</a:t>
            </a:r>
          </a:p>
          <a:p>
            <a:pPr lvl="1">
              <a:lnSpc>
                <a:spcPct val="105000"/>
              </a:lnSpc>
              <a:spcAft>
                <a:spcPts val="700"/>
              </a:spcAft>
            </a:pPr>
            <a:r>
              <a:rPr sz="1900" b="1">
                <a:solidFill>
                  <a:srgbClr val="1F6FB2"/>
                </a:solidFill>
                <a:latin typeface="Calibri"/>
              </a:rPr>
              <a:t>–  </a:t>
            </a:r>
            <a:r>
              <a:rPr sz="1900" b="0">
                <a:solidFill>
                  <a:srgbClr val="444444"/>
                </a:solidFill>
                <a:latin typeface="Calibri"/>
              </a:rPr>
              <a:t>Parent-level story = regime selection. Cluster-level story = variation within a regime.</a:t>
            </a:r>
          </a:p>
          <a:p>
            <a:pPr lvl="1">
              <a:lnSpc>
                <a:spcPct val="105000"/>
              </a:lnSpc>
              <a:spcAft>
                <a:spcPts val="700"/>
              </a:spcAft>
            </a:pPr>
            <a:r>
              <a:rPr sz="1900" b="1">
                <a:solidFill>
                  <a:srgbClr val="1F6FB2"/>
                </a:solidFill>
                <a:latin typeface="Calibri"/>
              </a:rPr>
              <a:t>–  </a:t>
            </a:r>
            <a:r>
              <a:rPr sz="1900" b="0">
                <a:solidFill>
                  <a:srgbClr val="444444"/>
                </a:solidFill>
                <a:latin typeface="Calibri"/>
              </a:rPr>
              <a:t>A variable can be globally important yet locally uninformative within a sub-cluster — the question is at what level it matters.</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Cross-Dataset Generalisation</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Generalisable beyond one domain</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Wine study: small, dense, chemically correlated.</a:t>
            </a:r>
          </a:p>
          <a:p>
            <a:pPr>
              <a:lnSpc>
                <a:spcPct val="105000"/>
              </a:lnSpc>
              <a:spcAft>
                <a:spcPts val="1000"/>
              </a:spcAft>
            </a:pPr>
            <a:r>
              <a:rPr sz="1900" b="1">
                <a:solidFill>
                  <a:srgbClr val="1F6FB2"/>
                </a:solidFill>
                <a:latin typeface="Calibri"/>
              </a:rPr>
              <a:t>▪  </a:t>
            </a:r>
            <a:r>
              <a:rPr sz="1900" b="0">
                <a:solidFill>
                  <a:srgbClr val="444444"/>
                </a:solidFill>
                <a:latin typeface="Calibri"/>
              </a:rPr>
              <a:t>Beijing study: large, noisy, strongly affected by temporal and meteorological variation.</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The same explanatory logic remains productive in both → the contribution is not tied to one domain-specific peculiarity.</a:t>
            </a:r>
          </a:p>
          <a:p>
            <a:pPr lvl="1">
              <a:lnSpc>
                <a:spcPct val="105000"/>
              </a:lnSpc>
              <a:spcAft>
                <a:spcPts val="700"/>
              </a:spcAft>
            </a:pPr>
            <a:r>
              <a:rPr sz="1900" b="1">
                <a:solidFill>
                  <a:srgbClr val="1F6FB2"/>
                </a:solidFill>
                <a:latin typeface="Calibri"/>
              </a:rPr>
              <a:t>–  </a:t>
            </a:r>
            <a:r>
              <a:rPr sz="1900" b="0">
                <a:solidFill>
                  <a:srgbClr val="444444"/>
                </a:solidFill>
                <a:latin typeface="Calibri"/>
              </a:rPr>
              <a:t>Comparison with SHAP-based clustering literature:</a:t>
            </a:r>
          </a:p>
          <a:p>
            <a:pPr lvl="1">
              <a:lnSpc>
                <a:spcPct val="105000"/>
              </a:lnSpc>
              <a:spcAft>
                <a:spcPts val="700"/>
              </a:spcAft>
            </a:pPr>
            <a:r>
              <a:rPr sz="1900" b="1">
                <a:solidFill>
                  <a:srgbClr val="1F6FB2"/>
                </a:solidFill>
                <a:latin typeface="Calibri"/>
              </a:rPr>
              <a:t>–  </a:t>
            </a:r>
            <a:r>
              <a:rPr sz="1900" b="0">
                <a:solidFill>
                  <a:srgbClr val="444444"/>
                </a:solidFill>
                <a:latin typeface="Calibri"/>
              </a:rPr>
              <a:t>Beijing Silhouette ≈ 0.63 vs Gramegna &amp; Giudici credit-risk SHAP-space 0.37 — comparatively well separated.</a:t>
            </a:r>
          </a:p>
          <a:p>
            <a:pPr lvl="1">
              <a:lnSpc>
                <a:spcPct val="105000"/>
              </a:lnSpc>
              <a:spcAft>
                <a:spcPts val="700"/>
              </a:spcAft>
            </a:pPr>
            <a:r>
              <a:rPr sz="1900" b="1">
                <a:solidFill>
                  <a:srgbClr val="1F6FB2"/>
                </a:solidFill>
                <a:latin typeface="Calibri"/>
              </a:rPr>
              <a:t>–  </a:t>
            </a:r>
            <a:r>
              <a:rPr sz="1900" b="0">
                <a:solidFill>
                  <a:srgbClr val="444444"/>
                </a:solidFill>
                <a:latin typeface="Calibri"/>
              </a:rPr>
              <a:t>LIME comparator: weaker structural coherence, less stable local narratives for hierarchical reasoning [R9].</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C2 · Findings &amp; Limitations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RQ2 answered</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C2</a:t>
            </a:r>
          </a:p>
        </p:txBody>
      </p:sp>
      <p:sp>
        <p:nvSpPr>
          <p:cNvPr id="18" name="Rectangle 17"/>
          <p:cNvSpPr/>
          <p:nvPr/>
        </p:nvSpPr>
        <p:spPr>
          <a:xfrm>
            <a:off x="297180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Achieved:</a:t>
            </a:r>
          </a:p>
          <a:p>
            <a:pPr lvl="1">
              <a:lnSpc>
                <a:spcPct val="105000"/>
              </a:lnSpc>
              <a:spcAft>
                <a:spcPts val="700"/>
              </a:spcAft>
            </a:pPr>
            <a:r>
              <a:rPr sz="1900" b="1">
                <a:solidFill>
                  <a:srgbClr val="1F6FB2"/>
                </a:solidFill>
                <a:latin typeface="Calibri"/>
              </a:rPr>
              <a:t>–  </a:t>
            </a:r>
            <a:r>
              <a:rPr sz="1900" b="0">
                <a:solidFill>
                  <a:srgbClr val="444444"/>
                </a:solidFill>
                <a:latin typeface="Calibri"/>
              </a:rPr>
              <a:t>Scalable, multi-granular explanation without collapsing into a single flat summary.</a:t>
            </a:r>
          </a:p>
          <a:p>
            <a:pPr lvl="1">
              <a:lnSpc>
                <a:spcPct val="105000"/>
              </a:lnSpc>
              <a:spcAft>
                <a:spcPts val="700"/>
              </a:spcAft>
            </a:pPr>
            <a:r>
              <a:rPr sz="1900" b="1">
                <a:solidFill>
                  <a:srgbClr val="1F6FB2"/>
                </a:solidFill>
                <a:latin typeface="Calibri"/>
              </a:rPr>
              <a:t>–  </a:t>
            </a:r>
            <a:r>
              <a:rPr sz="1900" b="0">
                <a:solidFill>
                  <a:srgbClr val="444444"/>
                </a:solidFill>
                <a:latin typeface="Calibri"/>
              </a:rPr>
              <a:t>A formal consistency argument for cross-level attribution.</a:t>
            </a:r>
          </a:p>
          <a:p>
            <a:pPr lvl="1">
              <a:lnSpc>
                <a:spcPct val="105000"/>
              </a:lnSpc>
              <a:spcAft>
                <a:spcPts val="700"/>
              </a:spcAft>
            </a:pPr>
            <a:r>
              <a:rPr sz="1900" b="1">
                <a:solidFill>
                  <a:srgbClr val="1F6FB2"/>
                </a:solidFill>
                <a:latin typeface="Calibri"/>
              </a:rPr>
              <a:t>–  </a:t>
            </a:r>
            <a:r>
              <a:rPr sz="1900" b="0">
                <a:solidFill>
                  <a:srgbClr val="444444"/>
                </a:solidFill>
                <a:latin typeface="Calibri"/>
              </a:rPr>
              <a:t>Validation on a structurally different, large-scale dataset.</a:t>
            </a:r>
          </a:p>
          <a:p>
            <a:pPr>
              <a:lnSpc>
                <a:spcPct val="105000"/>
              </a:lnSpc>
              <a:spcAft>
                <a:spcPts val="1000"/>
              </a:spcAft>
            </a:pPr>
            <a:r>
              <a:rPr sz="1900" b="1">
                <a:solidFill>
                  <a:srgbClr val="1F6FB2"/>
                </a:solidFill>
                <a:latin typeface="Calibri"/>
              </a:rPr>
              <a:t>▪  </a:t>
            </a:r>
            <a:r>
              <a:rPr sz="1900" b="1">
                <a:solidFill>
                  <a:srgbClr val="444444"/>
                </a:solidFill>
                <a:latin typeface="Calibri"/>
              </a:rPr>
              <a:t>Limitations:</a:t>
            </a:r>
          </a:p>
          <a:p>
            <a:pPr lvl="1">
              <a:lnSpc>
                <a:spcPct val="105000"/>
              </a:lnSpc>
              <a:spcAft>
                <a:spcPts val="700"/>
              </a:spcAft>
            </a:pPr>
            <a:r>
              <a:rPr sz="1900" b="1">
                <a:solidFill>
                  <a:srgbClr val="1F6FB2"/>
                </a:solidFill>
                <a:latin typeface="Calibri"/>
              </a:rPr>
              <a:t>–  </a:t>
            </a:r>
            <a:r>
              <a:rPr sz="1900" b="0">
                <a:solidFill>
                  <a:srgbClr val="444444"/>
                </a:solidFill>
                <a:latin typeface="Calibri"/>
              </a:rPr>
              <a:t>Still static clustering, even though Beijing data are temporally structured.</a:t>
            </a:r>
          </a:p>
          <a:p>
            <a:pPr lvl="1">
              <a:lnSpc>
                <a:spcPct val="105000"/>
              </a:lnSpc>
              <a:spcAft>
                <a:spcPts val="700"/>
              </a:spcAft>
            </a:pPr>
            <a:r>
              <a:rPr sz="1900" b="1">
                <a:solidFill>
                  <a:srgbClr val="1F6FB2"/>
                </a:solidFill>
                <a:latin typeface="Calibri"/>
              </a:rPr>
              <a:t>–  </a:t>
            </a:r>
            <a:r>
              <a:rPr sz="1900" b="0">
                <a:solidFill>
                  <a:srgbClr val="444444"/>
                </a:solidFill>
                <a:latin typeface="Calibri"/>
              </a:rPr>
              <a:t>Surrogate-based SHAP + representative-instance reporting compress observation-level variation.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Tabular data only.</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Contribution III — DyHuCoG: A Dynamic Hypergraph Cooperative Game</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Preference-aware Shapley in hypergraph message passing · RQ3 &amp; RQ4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Research Gap &amp; Objectives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RQ3 &amp; RQ4</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Gap: graph and hypergraph recommenders treat message importance as either uniform or attention-weighted, without a principled marginal-contribution account.</a:t>
            </a:r>
          </a:p>
          <a:p>
            <a:pPr lvl="1">
              <a:lnSpc>
                <a:spcPct val="105000"/>
              </a:lnSpc>
              <a:spcAft>
                <a:spcPts val="700"/>
              </a:spcAft>
            </a:pPr>
            <a:r>
              <a:rPr sz="1900" b="1">
                <a:solidFill>
                  <a:srgbClr val="1F6FB2"/>
                </a:solidFill>
                <a:latin typeface="Calibri"/>
              </a:rPr>
              <a:t>–  </a:t>
            </a:r>
            <a:r>
              <a:rPr sz="1900" b="0">
                <a:solidFill>
                  <a:srgbClr val="444444"/>
                </a:solidFill>
                <a:latin typeface="Calibri"/>
              </a:rPr>
              <a:t>Diversity is often a secondary objective or a re-ranking heuristic.</a:t>
            </a:r>
          </a:p>
          <a:p>
            <a:pPr lvl="1">
              <a:lnSpc>
                <a:spcPct val="105000"/>
              </a:lnSpc>
              <a:spcAft>
                <a:spcPts val="700"/>
              </a:spcAft>
            </a:pPr>
            <a:r>
              <a:rPr sz="1900" b="1">
                <a:solidFill>
                  <a:srgbClr val="1F6FB2"/>
                </a:solidFill>
                <a:latin typeface="Calibri"/>
              </a:rPr>
              <a:t>–  </a:t>
            </a:r>
            <a:r>
              <a:rPr sz="1900" b="0">
                <a:solidFill>
                  <a:srgbClr val="444444"/>
                </a:solidFill>
                <a:latin typeface="Calibri"/>
              </a:rPr>
              <a:t>Interpretability is added after prediction, not integrated into the learning objective.</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Objectives:</a:t>
            </a:r>
          </a:p>
          <a:p>
            <a:pPr lvl="1">
              <a:lnSpc>
                <a:spcPct val="105000"/>
              </a:lnSpc>
              <a:spcAft>
                <a:spcPts val="700"/>
              </a:spcAft>
            </a:pPr>
            <a:r>
              <a:rPr sz="1900" b="1">
                <a:solidFill>
                  <a:srgbClr val="1F6FB2"/>
                </a:solidFill>
                <a:latin typeface="Calibri"/>
              </a:rPr>
              <a:t>–  </a:t>
            </a:r>
            <a:r>
              <a:rPr sz="1900" b="0">
                <a:solidFill>
                  <a:srgbClr val="444444"/>
                </a:solidFill>
                <a:latin typeface="Calibri"/>
              </a:rPr>
              <a:t>Formulate recommendation as a cooperative game over users, items, and contexts.</a:t>
            </a:r>
          </a:p>
          <a:p>
            <a:pPr lvl="1">
              <a:lnSpc>
                <a:spcPct val="105000"/>
              </a:lnSpc>
              <a:spcAft>
                <a:spcPts val="700"/>
              </a:spcAft>
            </a:pPr>
            <a:r>
              <a:rPr sz="1900" b="1">
                <a:solidFill>
                  <a:srgbClr val="1F6FB2"/>
                </a:solidFill>
                <a:latin typeface="Calibri"/>
              </a:rPr>
              <a:t>–  </a:t>
            </a:r>
            <a:r>
              <a:rPr sz="1900" b="0">
                <a:solidFill>
                  <a:srgbClr val="444444"/>
                </a:solidFill>
                <a:latin typeface="Calibri"/>
              </a:rPr>
              <a:t>Embed preference-aware Monte Carlo Shapley into hypergraph message passing.</a:t>
            </a:r>
          </a:p>
          <a:p>
            <a:pPr lvl="1">
              <a:lnSpc>
                <a:spcPct val="105000"/>
              </a:lnSpc>
              <a:spcAft>
                <a:spcPts val="700"/>
              </a:spcAft>
            </a:pPr>
            <a:r>
              <a:rPr sz="1900" b="1">
                <a:solidFill>
                  <a:srgbClr val="1F6FB2"/>
                </a:solidFill>
                <a:latin typeface="Calibri"/>
              </a:rPr>
              <a:t>–  </a:t>
            </a:r>
            <a:r>
              <a:rPr sz="1900" b="0">
                <a:solidFill>
                  <a:srgbClr val="444444"/>
                </a:solidFill>
                <a:latin typeface="Calibri"/>
              </a:rPr>
              <a:t>Improve ranking quality, coverage, and intra-list diversity jointly.</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Research Questions (RQ3 &amp; RQ4):</a:t>
            </a:r>
          </a:p>
          <a:p>
            <a:pPr lvl="1">
              <a:lnSpc>
                <a:spcPct val="105000"/>
              </a:lnSpc>
              <a:spcAft>
                <a:spcPts val="700"/>
              </a:spcAft>
            </a:pPr>
            <a:r>
              <a:rPr sz="1900" b="1">
                <a:solidFill>
                  <a:srgbClr val="1F6FB2"/>
                </a:solidFill>
                <a:latin typeface="Calibri"/>
              </a:rPr>
              <a:t>–  </a:t>
            </a:r>
            <a:r>
              <a:rPr sz="1900" b="0">
                <a:solidFill>
                  <a:srgbClr val="444444"/>
                </a:solidFill>
                <a:latin typeface="Calibri"/>
              </a:rPr>
              <a:t>RQ3 - Can cooperative attribution move beyond post-hoc into the learning dynamics? [R6]</a:t>
            </a:r>
          </a:p>
          <a:p>
            <a:pPr lvl="1">
              <a:lnSpc>
                <a:spcPct val="105000"/>
              </a:lnSpc>
              <a:spcAft>
                <a:spcPts val="700"/>
              </a:spcAft>
            </a:pPr>
            <a:r>
              <a:rPr sz="1900" b="1">
                <a:solidFill>
                  <a:srgbClr val="1F6FB2"/>
                </a:solidFill>
                <a:latin typeface="Calibri"/>
              </a:rPr>
              <a:t>–  </a:t>
            </a:r>
            <a:r>
              <a:rPr sz="1900" b="0">
                <a:solidFill>
                  <a:srgbClr val="444444"/>
                </a:solidFill>
                <a:latin typeface="Calibri"/>
              </a:rPr>
              <a:t>RQ4 - Can a recommender jointly optimise ranking, context and diversity via a cooperative utility? [R7]</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Problem Formulation — Recommendation as a Cooperative Game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Users, items, contexts as players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Player set: N = U ∪ I ∪ C (users, items, contexts).</a:t>
            </a:r>
          </a:p>
          <a:p>
            <a:pPr>
              <a:lnSpc>
                <a:spcPct val="105000"/>
              </a:lnSpc>
              <a:spcAft>
                <a:spcPts val="1000"/>
              </a:spcAft>
            </a:pPr>
            <a:r>
              <a:rPr sz="1900" b="1">
                <a:solidFill>
                  <a:srgbClr val="1F6FB2"/>
                </a:solidFill>
                <a:latin typeface="Calibri"/>
              </a:rPr>
              <a:t>▪  </a:t>
            </a:r>
            <a:r>
              <a:rPr sz="1900" b="0">
                <a:solidFill>
                  <a:srgbClr val="444444"/>
                </a:solidFill>
                <a:latin typeface="Calibri"/>
              </a:rPr>
              <a:t>Hypergraph H = (V, E, W); V = U ∪ I ∪ C; W = dynamic edge weights from Shapley estimates.</a:t>
            </a:r>
          </a:p>
          <a:p>
            <a:pPr>
              <a:lnSpc>
                <a:spcPct val="105000"/>
              </a:lnSpc>
              <a:spcAft>
                <a:spcPts val="1000"/>
              </a:spcAft>
            </a:pPr>
            <a:r>
              <a:rPr sz="1900" b="1">
                <a:solidFill>
                  <a:srgbClr val="1F6FB2"/>
                </a:solidFill>
                <a:latin typeface="Calibri"/>
              </a:rPr>
              <a:t>▪  </a:t>
            </a:r>
            <a:r>
              <a:rPr sz="1900" b="0">
                <a:solidFill>
                  <a:srgbClr val="444444"/>
                </a:solidFill>
                <a:latin typeface="Calibri"/>
              </a:rPr>
              <a:t>Coalition S ⊆ N represents entities participating in a recommendation episode.</a:t>
            </a:r>
          </a:p>
          <a:p>
            <a:pPr>
              <a:lnSpc>
                <a:spcPct val="105000"/>
              </a:lnSpc>
              <a:spcAft>
                <a:spcPts val="1000"/>
              </a:spcAft>
            </a:pPr>
            <a:r>
              <a:rPr sz="1900" b="1">
                <a:solidFill>
                  <a:srgbClr val="1F6FB2"/>
                </a:solidFill>
                <a:latin typeface="Calibri"/>
              </a:rPr>
              <a:t>▪  </a:t>
            </a:r>
            <a:r>
              <a:rPr sz="1900" b="0">
                <a:solidFill>
                  <a:srgbClr val="444444"/>
                </a:solidFill>
                <a:latin typeface="Calibri"/>
              </a:rPr>
              <a:t>Coalition value v(S) measures the quality of the recommendation outcome achievable by S.</a:t>
            </a:r>
          </a:p>
          <a:p>
            <a:pPr>
              <a:lnSpc>
                <a:spcPct val="105000"/>
              </a:lnSpc>
              <a:spcAft>
                <a:spcPts val="1000"/>
              </a:spcAft>
            </a:pPr>
            <a:r>
              <a:rPr sz="1900" b="1">
                <a:solidFill>
                  <a:srgbClr val="1F6FB2"/>
                </a:solidFill>
                <a:latin typeface="Calibri"/>
              </a:rPr>
              <a:t>▪  </a:t>
            </a:r>
            <a:r>
              <a:rPr sz="1900" b="0">
                <a:solidFill>
                  <a:srgbClr val="444444"/>
                </a:solidFill>
                <a:latin typeface="Calibri"/>
              </a:rPr>
              <a:t>Top-N task: produce a ranked list L_u balancing relevance, diversity, and contextual fit [R6].</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Multi-Objective Coalition Utility</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utility the game is built on</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v(S) = α · NDCG@20(S) + β · Diversity(S) + γ · ContextScore(S)</a:t>
            </a:r>
          </a:p>
          <a:p>
            <a:pPr lvl="1">
              <a:lnSpc>
                <a:spcPct val="105000"/>
              </a:lnSpc>
              <a:spcAft>
                <a:spcPts val="700"/>
              </a:spcAft>
            </a:pPr>
            <a:r>
              <a:rPr sz="1900" b="1">
                <a:solidFill>
                  <a:srgbClr val="1F6FB2"/>
                </a:solidFill>
                <a:latin typeface="Calibri"/>
              </a:rPr>
              <a:t>–  </a:t>
            </a:r>
            <a:r>
              <a:rPr sz="1900" b="0">
                <a:solidFill>
                  <a:srgbClr val="444444"/>
                </a:solidFill>
                <a:latin typeface="Calibri"/>
              </a:rPr>
              <a:t>with α + β + γ = 1. The same trade-off the recommender must satisfy is the trade-off from which attribution is computed — explanatory game and predictive objective are aligned by design.</a:t>
            </a:r>
          </a:p>
          <a:p>
            <a:pPr>
              <a:lnSpc>
                <a:spcPct val="105000"/>
              </a:lnSpc>
              <a:spcAft>
                <a:spcPts val="1000"/>
              </a:spcAft>
            </a:pPr>
            <a:r>
              <a:rPr sz="1900" b="1">
                <a:solidFill>
                  <a:srgbClr val="1F6FB2"/>
                </a:solidFill>
                <a:latin typeface="Calibri"/>
              </a:rPr>
              <a:t>▪  </a:t>
            </a:r>
            <a:r>
              <a:rPr sz="1900" b="1">
                <a:solidFill>
                  <a:srgbClr val="444444"/>
                </a:solidFill>
                <a:latin typeface="Calibri"/>
              </a:rPr>
              <a:t>Preference-weighted variant: v_pref(S) = v(S) + λ_pref · Σ_{(u,i)∈S} sim(u,i)</a:t>
            </a:r>
          </a:p>
          <a:p>
            <a:pPr lvl="1">
              <a:lnSpc>
                <a:spcPct val="105000"/>
              </a:lnSpc>
              <a:spcAft>
                <a:spcPts val="700"/>
              </a:spcAft>
            </a:pPr>
            <a:r>
              <a:rPr sz="1900" b="1">
                <a:solidFill>
                  <a:srgbClr val="1F6FB2"/>
                </a:solidFill>
                <a:latin typeface="Calibri"/>
              </a:rPr>
              <a:t>–  </a:t>
            </a:r>
            <a:r>
              <a:rPr sz="1900" b="0">
                <a:solidFill>
                  <a:srgbClr val="444444"/>
                </a:solidFill>
                <a:latin typeface="Calibri"/>
              </a:rPr>
              <a:t>α = 0.60, β = 0.25, γ = 0.15; λ_pref = 0.20 — tuned by grid search, stable (&lt; 1.5% variance in NDCG@20).</a:t>
            </a:r>
          </a:p>
          <a:p>
            <a:pPr lvl="1">
              <a:lnSpc>
                <a:spcPct val="105000"/>
              </a:lnSpc>
              <a:spcAft>
                <a:spcPts val="700"/>
              </a:spcAft>
            </a:pPr>
            <a:r>
              <a:rPr sz="1900" b="1">
                <a:solidFill>
                  <a:srgbClr val="1F6FB2"/>
                </a:solidFill>
                <a:latin typeface="Calibri"/>
              </a:rPr>
              <a:t>–  </a:t>
            </a:r>
            <a:r>
              <a:rPr sz="1900" b="0">
                <a:solidFill>
                  <a:srgbClr val="444444"/>
                </a:solidFill>
                <a:latin typeface="Calibri"/>
              </a:rPr>
              <a:t>Coalition evaluation is scoped to the interaction episode (a few dozen players), not the full catalogue.</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Preference-Aware Monte Carlo Shapley Estimation</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Dynamic attribution, not a static diagnostic</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Exact Shapley is combinatorial and infeasible for realistic systems.</a:t>
            </a:r>
          </a:p>
          <a:p>
            <a:pPr>
              <a:lnSpc>
                <a:spcPct val="105000"/>
              </a:lnSpc>
              <a:spcAft>
                <a:spcPts val="1000"/>
              </a:spcAft>
            </a:pPr>
            <a:r>
              <a:rPr sz="1900" b="1">
                <a:solidFill>
                  <a:srgbClr val="1F6FB2"/>
                </a:solidFill>
                <a:latin typeface="Calibri"/>
              </a:rPr>
              <a:t>▪  </a:t>
            </a:r>
            <a:r>
              <a:rPr sz="1900" b="1">
                <a:solidFill>
                  <a:srgbClr val="444444"/>
                </a:solidFill>
                <a:latin typeface="Calibri"/>
              </a:rPr>
              <a:t>Monte Carlo estimator: φ̂_j = (1/M) Σ_m [ v(S_m ∪ {j}) − v(S_m) ]</a:t>
            </a:r>
          </a:p>
          <a:p>
            <a:pPr>
              <a:lnSpc>
                <a:spcPct val="105000"/>
              </a:lnSpc>
              <a:spcAft>
                <a:spcPts val="1000"/>
              </a:spcAft>
            </a:pPr>
            <a:r>
              <a:rPr sz="1900" b="1">
                <a:solidFill>
                  <a:srgbClr val="1F6FB2"/>
                </a:solidFill>
                <a:latin typeface="Calibri"/>
              </a:rPr>
              <a:t>▪  </a:t>
            </a:r>
            <a:r>
              <a:rPr sz="1900" b="1">
                <a:solidFill>
                  <a:srgbClr val="444444"/>
                </a:solidFill>
                <a:latin typeface="Calibri"/>
              </a:rPr>
              <a:t>Preference-aware variant: φ̂_j^pref = (1/M) Σ_m [ v_pref(S_m ∪ {j}) − v_pref(S_m) ]</a:t>
            </a:r>
          </a:p>
          <a:p>
            <a:pPr lvl="1">
              <a:lnSpc>
                <a:spcPct val="105000"/>
              </a:lnSpc>
              <a:spcAft>
                <a:spcPts val="700"/>
              </a:spcAft>
            </a:pPr>
            <a:r>
              <a:rPr sz="1900" b="1">
                <a:solidFill>
                  <a:srgbClr val="1F6FB2"/>
                </a:solidFill>
                <a:latin typeface="Calibri"/>
              </a:rPr>
              <a:t>–  </a:t>
            </a:r>
            <a:r>
              <a:rPr sz="1900" b="0">
                <a:solidFill>
                  <a:srgbClr val="444444"/>
                </a:solidFill>
                <a:latin typeface="Calibri"/>
              </a:rPr>
              <a:t>Unbiased; variance = σ²/M → MSE decays O(1/M), absolute error O(1/√M).</a:t>
            </a:r>
          </a:p>
          <a:p>
            <a:pPr lvl="1">
              <a:lnSpc>
                <a:spcPct val="105000"/>
              </a:lnSpc>
              <a:spcAft>
                <a:spcPts val="700"/>
              </a:spcAft>
            </a:pPr>
            <a:r>
              <a:rPr sz="1900" b="1">
                <a:solidFill>
                  <a:srgbClr val="1F6FB2"/>
                </a:solidFill>
                <a:latin typeface="Calibri"/>
              </a:rPr>
              <a:t>–  </a:t>
            </a:r>
            <a:r>
              <a:rPr sz="1900" b="1">
                <a:solidFill>
                  <a:srgbClr val="444444"/>
                </a:solidFill>
                <a:latin typeface="Calibri"/>
              </a:rPr>
              <a:t>M = 50 selected: MSE ≈ 1.4×10⁻⁵, ~99% accuracy on MovieLens-1M.</a:t>
            </a:r>
          </a:p>
          <a:p>
            <a:pPr lvl="1">
              <a:lnSpc>
                <a:spcPct val="105000"/>
              </a:lnSpc>
              <a:spcAft>
                <a:spcPts val="700"/>
              </a:spcAft>
            </a:pPr>
            <a:r>
              <a:rPr sz="1900" b="1">
                <a:solidFill>
                  <a:srgbClr val="1F6FB2"/>
                </a:solidFill>
                <a:latin typeface="Calibri"/>
              </a:rPr>
              <a:t>–  </a:t>
            </a:r>
            <a:r>
              <a:rPr sz="1900" b="0">
                <a:solidFill>
                  <a:srgbClr val="444444"/>
                </a:solidFill>
                <a:latin typeface="Calibri"/>
              </a:rPr>
              <a:t>Estimates refreshed every 10 batches (~49 updates/epoch) and smoothed by exponential moving average — adaptive but not hypersensitive.</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Architecture: Shapley-Weighted Hypergraph Message Passing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Relational structure filtered through cooperative importance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Base propagation: e^(l+1) = σ( D^-1/2 A D^-1/2 e^(l) )</a:t>
            </a:r>
          </a:p>
          <a:p>
            <a:pPr>
              <a:lnSpc>
                <a:spcPct val="105000"/>
              </a:lnSpc>
              <a:spcAft>
                <a:spcPts val="1000"/>
              </a:spcAft>
            </a:pPr>
            <a:r>
              <a:rPr sz="1800" b="1">
                <a:solidFill>
                  <a:srgbClr val="1F6FB2"/>
                </a:solidFill>
                <a:latin typeface="Calibri"/>
              </a:rPr>
              <a:t>▪  </a:t>
            </a:r>
            <a:r>
              <a:rPr sz="1800" b="1">
                <a:solidFill>
                  <a:srgbClr val="444444"/>
                </a:solidFill>
                <a:latin typeface="Calibri"/>
              </a:rPr>
              <a:t>Shapley-weighted: e_j^(l+1) = σ( W^(l) e_j^(l) + Σ_{k∈N(j)} w_jk e_k^(l) )</a:t>
            </a:r>
          </a:p>
          <a:p>
            <a:pPr>
              <a:lnSpc>
                <a:spcPct val="105000"/>
              </a:lnSpc>
              <a:spcAft>
                <a:spcPts val="1000"/>
              </a:spcAft>
            </a:pPr>
            <a:r>
              <a:rPr sz="1800" b="1">
                <a:solidFill>
                  <a:srgbClr val="1F6FB2"/>
                </a:solidFill>
                <a:latin typeface="Calibri"/>
              </a:rPr>
              <a:t>▪  </a:t>
            </a:r>
            <a:r>
              <a:rPr sz="1800" b="1">
                <a:solidFill>
                  <a:srgbClr val="444444"/>
                </a:solidFill>
                <a:latin typeface="Calibri"/>
              </a:rPr>
              <a:t>Normalised neighbourhood weights: w_jk = φ̂_jk / Σ_{k'∈N(j)} φ̂_jk'</a:t>
            </a:r>
          </a:p>
          <a:p>
            <a:pPr lvl="1">
              <a:lnSpc>
                <a:spcPct val="105000"/>
              </a:lnSpc>
              <a:spcAft>
                <a:spcPts val="700"/>
              </a:spcAft>
            </a:pPr>
            <a:r>
              <a:rPr sz="1800" b="1">
                <a:solidFill>
                  <a:srgbClr val="1F6FB2"/>
                </a:solidFill>
                <a:latin typeface="Calibri"/>
              </a:rPr>
              <a:t>–  </a:t>
            </a:r>
            <a:r>
              <a:rPr sz="1800" b="0">
                <a:solidFill>
                  <a:srgbClr val="444444"/>
                </a:solidFill>
                <a:latin typeface="Calibri"/>
              </a:rPr>
              <a:t>Clipped + exponentially smoothed before normalisation (stabilises sparse regimes).</a:t>
            </a:r>
          </a:p>
          <a:p>
            <a:pPr>
              <a:lnSpc>
                <a:spcPct val="105000"/>
              </a:lnSpc>
              <a:spcAft>
                <a:spcPts val="1000"/>
              </a:spcAft>
            </a:pPr>
            <a:r>
              <a:rPr sz="1800" b="1">
                <a:solidFill>
                  <a:srgbClr val="1F6FB2"/>
                </a:solidFill>
                <a:latin typeface="Calibri"/>
              </a:rPr>
              <a:t>▪  </a:t>
            </a:r>
            <a:r>
              <a:rPr sz="1800" b="0">
                <a:solidFill>
                  <a:srgbClr val="444444"/>
                </a:solidFill>
                <a:latin typeface="Calibri"/>
              </a:rPr>
              <a:t>Attention gate: a_ui = σ( W_a[ e_u, e_i, l_i ] ); intermediate score y_ui = (1 + a_ui) ⟨e_u, e_i⟩.</a:t>
            </a:r>
          </a:p>
          <a:p>
            <a:pPr>
              <a:lnSpc>
                <a:spcPct val="105000"/>
              </a:lnSpc>
              <a:spcAft>
                <a:spcPts val="1000"/>
              </a:spcAft>
            </a:pPr>
            <a:r>
              <a:rPr sz="1800" b="1">
                <a:solidFill>
                  <a:srgbClr val="1F6FB2"/>
                </a:solidFill>
                <a:latin typeface="Calibri"/>
              </a:rPr>
              <a:t>▪  </a:t>
            </a:r>
            <a:r>
              <a:rPr sz="1800" b="0">
                <a:solidFill>
                  <a:srgbClr val="444444"/>
                </a:solidFill>
                <a:latin typeface="Calibri"/>
              </a:rPr>
              <a:t>Context-aware score: f(u,i,c) = y_ui + λ_c ⟨g(c_ui), e_cui⟩.</a:t>
            </a:r>
          </a:p>
        </p:txBody>
      </p:sp>
      <p:pic>
        <p:nvPicPr>
          <p:cNvPr id="21" name="Picture 20" descr="dyhucog_workflow.png"/>
          <p:cNvPicPr>
            <a:picLocks noChangeAspect="1"/>
          </p:cNvPicPr>
          <p:nvPr/>
        </p:nvPicPr>
        <p:blipFill>
          <a:blip r:embed="rId2"/>
          <a:stretch>
            <a:fillRect/>
          </a:stretch>
        </p:blipFill>
        <p:spPr>
          <a:xfrm>
            <a:off x="5852891520000" y="3104365884279"/>
            <a:ext cx="4765925952000" cy="1149188999441"/>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Multi-Objective Training</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Accuracy, diversity, context trained together</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L = L_rec + λ_div L_div + λ_ctx L_ctx + λ_reg L_reg</a:t>
            </a:r>
          </a:p>
          <a:p>
            <a:pPr lvl="1">
              <a:lnSpc>
                <a:spcPct val="105000"/>
              </a:lnSpc>
              <a:spcAft>
                <a:spcPts val="700"/>
              </a:spcAft>
            </a:pPr>
            <a:r>
              <a:rPr sz="1900" b="1">
                <a:solidFill>
                  <a:srgbClr val="1F6FB2"/>
                </a:solidFill>
                <a:latin typeface="Calibri"/>
              </a:rPr>
              <a:t>–  </a:t>
            </a:r>
            <a:r>
              <a:rPr sz="1900" b="0">
                <a:solidFill>
                  <a:srgbClr val="444444"/>
                </a:solidFill>
                <a:latin typeface="Calibri"/>
              </a:rPr>
              <a:t>L_rec – Bayesian Personalised Ranking (pairwise, implicit feedback).</a:t>
            </a:r>
          </a:p>
          <a:p>
            <a:pPr lvl="1">
              <a:lnSpc>
                <a:spcPct val="105000"/>
              </a:lnSpc>
              <a:spcAft>
                <a:spcPts val="700"/>
              </a:spcAft>
            </a:pPr>
            <a:r>
              <a:rPr sz="1900" b="1">
                <a:solidFill>
                  <a:srgbClr val="1F6FB2"/>
                </a:solidFill>
                <a:latin typeface="Calibri"/>
              </a:rPr>
              <a:t>–  </a:t>
            </a:r>
            <a:r>
              <a:rPr sz="1900" b="0">
                <a:solidFill>
                  <a:srgbClr val="444444"/>
                </a:solidFill>
                <a:latin typeface="Calibri"/>
              </a:rPr>
              <a:t>L_div – Intra-List Diversity regulariser: penalises redundant ranked lists.</a:t>
            </a:r>
          </a:p>
          <a:p>
            <a:pPr lvl="1">
              <a:lnSpc>
                <a:spcPct val="105000"/>
              </a:lnSpc>
              <a:spcAft>
                <a:spcPts val="700"/>
              </a:spcAft>
            </a:pPr>
            <a:r>
              <a:rPr sz="1900" b="1">
                <a:solidFill>
                  <a:srgbClr val="1F6FB2"/>
                </a:solidFill>
                <a:latin typeface="Calibri"/>
              </a:rPr>
              <a:t>–  </a:t>
            </a:r>
            <a:r>
              <a:rPr sz="1900" b="0">
                <a:solidFill>
                  <a:srgbClr val="444444"/>
                </a:solidFill>
                <a:latin typeface="Calibri"/>
              </a:rPr>
              <a:t>L_ctx – Context alignment: match context embedding to context-node representation.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L_reg – L2 weight decay.</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1">
              <a:lnSpc>
                <a:spcPct val="105000"/>
              </a:lnSpc>
              <a:spcAft>
                <a:spcPts val="700"/>
              </a:spcAft>
            </a:pPr>
            <a:r>
              <a:rPr sz="1900" b="1">
                <a:solidFill>
                  <a:srgbClr val="1F6FB2"/>
                </a:solidFill>
                <a:latin typeface="Calibri"/>
              </a:rPr>
              <a:t>–  </a:t>
            </a:r>
            <a:r>
              <a:rPr sz="1900" b="1">
                <a:solidFill>
                  <a:srgbClr val="444444"/>
                </a:solidFill>
                <a:latin typeface="Calibri"/>
              </a:rPr>
              <a:t>The learning objective and the coalition value are aligned: DyHuCoG trains to optimise the same balance that later determines attribution.</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Main Results (MovieLens-1M &amp; Amazon-Book)</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vs the strongest baseline HPCF</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graphicFrame>
        <p:nvGraphicFramePr>
          <p:cNvPr id="20" name="Table 19"/>
          <p:cNvGraphicFramePr>
            <a:graphicFrameLocks noGrp="1"/>
          </p:cNvGraphicFramePr>
          <p:nvPr/>
        </p:nvGraphicFramePr>
        <p:xfrm>
          <a:off x="640080" y="1783080"/>
          <a:ext cx="10881360" cy="1920240"/>
        </p:xfrm>
        <a:graphic>
          <a:graphicData uri="http://schemas.openxmlformats.org/drawingml/2006/table">
            <a:tbl>
              <a:tblPr firstRow="1" bandRow="1">
                <a:tableStyleId>{5C22544A-7EE6-4342-B048-85BDC9FD1C3A}</a:tableStyleId>
              </a:tblPr>
              <a:tblGrid>
                <a:gridCol w="1813560"/>
                <a:gridCol w="1813560"/>
                <a:gridCol w="1813560"/>
                <a:gridCol w="1813560"/>
                <a:gridCol w="1813560"/>
                <a:gridCol w="1813560"/>
              </a:tblGrid>
              <a:tr h="384048">
                <a:tc>
                  <a:txBody>
                    <a:bodyPr/>
                    <a:lstStyle/>
                    <a:p>
                      <a:pPr algn="ctr"/>
                      <a:r>
                        <a:rPr sz="1300" b="1">
                          <a:solidFill>
                            <a:srgbClr val="FFFFFF"/>
                          </a:solidFill>
                        </a:rPr>
                        <a:t>Dataset</a:t>
                      </a:r>
                    </a:p>
                  </a:txBody>
                  <a:tcPr anchor="ctr">
                    <a:solidFill>
                      <a:srgbClr val="0B2C4A"/>
                    </a:solidFill>
                  </a:tcPr>
                </a:tc>
                <a:tc>
                  <a:txBody>
                    <a:bodyPr/>
                    <a:lstStyle/>
                    <a:p>
                      <a:pPr algn="ctr"/>
                      <a:r>
                        <a:rPr sz="1300" b="1">
                          <a:solidFill>
                            <a:srgbClr val="FFFFFF"/>
                          </a:solidFill>
                        </a:rPr>
                        <a:t>Model</a:t>
                      </a:r>
                    </a:p>
                  </a:txBody>
                  <a:tcPr anchor="ctr">
                    <a:solidFill>
                      <a:srgbClr val="0B2C4A"/>
                    </a:solidFill>
                  </a:tcPr>
                </a:tc>
                <a:tc>
                  <a:txBody>
                    <a:bodyPr/>
                    <a:lstStyle/>
                    <a:p>
                      <a:pPr algn="ctr"/>
                      <a:r>
                        <a:rPr sz="1300" b="1">
                          <a:solidFill>
                            <a:srgbClr val="FFFFFF"/>
                          </a:solidFill>
                        </a:rPr>
                        <a:t>NDCG@20</a:t>
                      </a:r>
                    </a:p>
                  </a:txBody>
                  <a:tcPr anchor="ctr">
                    <a:solidFill>
                      <a:srgbClr val="0B2C4A"/>
                    </a:solidFill>
                  </a:tcPr>
                </a:tc>
                <a:tc>
                  <a:txBody>
                    <a:bodyPr/>
                    <a:lstStyle/>
                    <a:p>
                      <a:pPr algn="ctr"/>
                      <a:r>
                        <a:rPr sz="1300" b="1">
                          <a:solidFill>
                            <a:srgbClr val="FFFFFF"/>
                          </a:solidFill>
                        </a:rPr>
                        <a:t>Recall@20</a:t>
                      </a:r>
                    </a:p>
                  </a:txBody>
                  <a:tcPr anchor="ctr">
                    <a:solidFill>
                      <a:srgbClr val="0B2C4A"/>
                    </a:solidFill>
                  </a:tcPr>
                </a:tc>
                <a:tc>
                  <a:txBody>
                    <a:bodyPr/>
                    <a:lstStyle/>
                    <a:p>
                      <a:pPr algn="ctr"/>
                      <a:r>
                        <a:rPr sz="1300" b="1">
                          <a:solidFill>
                            <a:srgbClr val="FFFFFF"/>
                          </a:solidFill>
                        </a:rPr>
                        <a:t>Coverage</a:t>
                      </a:r>
                    </a:p>
                  </a:txBody>
                  <a:tcPr anchor="ctr">
                    <a:solidFill>
                      <a:srgbClr val="0B2C4A"/>
                    </a:solidFill>
                  </a:tcPr>
                </a:tc>
                <a:tc>
                  <a:txBody>
                    <a:bodyPr/>
                    <a:lstStyle/>
                    <a:p>
                      <a:pPr algn="ctr"/>
                      <a:r>
                        <a:rPr sz="1300" b="1">
                          <a:solidFill>
                            <a:srgbClr val="FFFFFF"/>
                          </a:solidFill>
                        </a:rPr>
                        <a:t>Diversity</a:t>
                      </a:r>
                    </a:p>
                  </a:txBody>
                  <a:tcPr anchor="ctr">
                    <a:solidFill>
                      <a:srgbClr val="0B2C4A"/>
                    </a:solidFill>
                  </a:tcPr>
                </a:tc>
              </a:tr>
              <a:tr h="384048">
                <a:tc>
                  <a:txBody>
                    <a:bodyPr/>
                    <a:lstStyle/>
                    <a:p>
                      <a:pPr algn="l"/>
                      <a:r>
                        <a:rPr sz="1300">
                          <a:solidFill>
                            <a:srgbClr val="444444"/>
                          </a:solidFill>
                        </a:rPr>
                        <a:t>MovieLens-1M</a:t>
                      </a:r>
                    </a:p>
                  </a:txBody>
                  <a:tcPr anchor="ctr" marL="54864" marR="54864" marT="18288" marB="18288">
                    <a:solidFill>
                      <a:srgbClr val="FFFFFF"/>
                    </a:solidFill>
                  </a:tcPr>
                </a:tc>
                <a:tc>
                  <a:txBody>
                    <a:bodyPr/>
                    <a:lstStyle/>
                    <a:p>
                      <a:pPr algn="ctr"/>
                      <a:r>
                        <a:rPr sz="1300">
                          <a:solidFill>
                            <a:srgbClr val="444444"/>
                          </a:solidFill>
                        </a:rPr>
                        <a:t>HPCF</a:t>
                      </a:r>
                    </a:p>
                  </a:txBody>
                  <a:tcPr anchor="ctr" marL="54864" marR="54864" marT="18288" marB="18288">
                    <a:solidFill>
                      <a:srgbClr val="FFFFFF"/>
                    </a:solidFill>
                  </a:tcPr>
                </a:tc>
                <a:tc>
                  <a:txBody>
                    <a:bodyPr/>
                    <a:lstStyle/>
                    <a:p>
                      <a:pPr algn="ctr"/>
                      <a:r>
                        <a:rPr sz="1300">
                          <a:solidFill>
                            <a:srgbClr val="444444"/>
                          </a:solidFill>
                        </a:rPr>
                        <a:t>0.2528</a:t>
                      </a:r>
                    </a:p>
                  </a:txBody>
                  <a:tcPr anchor="ctr" marL="54864" marR="54864" marT="18288" marB="18288">
                    <a:solidFill>
                      <a:srgbClr val="FFFFFF"/>
                    </a:solidFill>
                  </a:tcPr>
                </a:tc>
                <a:tc>
                  <a:txBody>
                    <a:bodyPr/>
                    <a:lstStyle/>
                    <a:p>
                      <a:pPr algn="ctr"/>
                      <a:r>
                        <a:rPr sz="1300">
                          <a:solidFill>
                            <a:srgbClr val="444444"/>
                          </a:solidFill>
                        </a:rPr>
                        <a:t>0.2098</a:t>
                      </a:r>
                    </a:p>
                  </a:txBody>
                  <a:tcPr anchor="ctr" marL="54864" marR="54864" marT="18288" marB="18288">
                    <a:solidFill>
                      <a:srgbClr val="FFFFFF"/>
                    </a:solidFill>
                  </a:tcPr>
                </a:tc>
                <a:tc>
                  <a:txBody>
                    <a:bodyPr/>
                    <a:lstStyle/>
                    <a:p>
                      <a:pPr algn="ctr"/>
                      <a:r>
                        <a:rPr sz="1300">
                          <a:solidFill>
                            <a:srgbClr val="444444"/>
                          </a:solidFill>
                        </a:rPr>
                        <a:t>0.342</a:t>
                      </a:r>
                    </a:p>
                  </a:txBody>
                  <a:tcPr anchor="ctr" marL="54864" marR="54864" marT="18288" marB="18288">
                    <a:solidFill>
                      <a:srgbClr val="FFFFFF"/>
                    </a:solidFill>
                  </a:tcPr>
                </a:tc>
                <a:tc>
                  <a:txBody>
                    <a:bodyPr/>
                    <a:lstStyle/>
                    <a:p>
                      <a:pPr algn="ctr"/>
                      <a:r>
                        <a:rPr sz="1300">
                          <a:solidFill>
                            <a:srgbClr val="444444"/>
                          </a:solidFill>
                        </a:rPr>
                        <a:t>0.461</a:t>
                      </a:r>
                    </a:p>
                  </a:txBody>
                  <a:tcPr anchor="ctr" marL="54864" marR="54864" marT="18288" marB="18288">
                    <a:solidFill>
                      <a:srgbClr val="FFFFFF"/>
                    </a:solidFill>
                  </a:tcPr>
                </a:tc>
              </a:tr>
              <a:tr h="384048">
                <a:tc>
                  <a:txBody>
                    <a:bodyPr/>
                    <a:lstStyle/>
                    <a:p>
                      <a:pPr algn="l"/>
                      <a:r>
                        <a:rPr sz="1300" b="0">
                          <a:solidFill>
                            <a:srgbClr val="444444"/>
                          </a:solidFill>
                        </a:rPr>
                        <a:t>MovieLens-1M</a:t>
                      </a:r>
                    </a:p>
                  </a:txBody>
                  <a:tcPr anchor="ctr" marL="54864" marR="54864" marT="18288" marB="18288">
                    <a:solidFill>
                      <a:srgbClr val="EFF3F8"/>
                    </a:solidFill>
                  </a:tcPr>
                </a:tc>
                <a:tc>
                  <a:txBody>
                    <a:bodyPr/>
                    <a:lstStyle/>
                    <a:p>
                      <a:pPr algn="ctr"/>
                      <a:r>
                        <a:rPr sz="1300" b="0">
                          <a:solidFill>
                            <a:srgbClr val="444444"/>
                          </a:solidFill>
                        </a:rPr>
                        <a:t>DyHuCoG</a:t>
                      </a:r>
                    </a:p>
                  </a:txBody>
                  <a:tcPr anchor="ctr" marL="54864" marR="54864" marT="18288" marB="18288">
                    <a:solidFill>
                      <a:srgbClr val="EFF3F8"/>
                    </a:solidFill>
                  </a:tcPr>
                </a:tc>
                <a:tc>
                  <a:txBody>
                    <a:bodyPr/>
                    <a:lstStyle/>
                    <a:p>
                      <a:pPr algn="ctr"/>
                      <a:r>
                        <a:rPr sz="1300" b="0">
                          <a:solidFill>
                            <a:srgbClr val="444444"/>
                          </a:solidFill>
                        </a:rPr>
                        <a:t>0.2775</a:t>
                      </a:r>
                    </a:p>
                  </a:txBody>
                  <a:tcPr anchor="ctr" marL="54864" marR="54864" marT="18288" marB="18288">
                    <a:solidFill>
                      <a:srgbClr val="EFF3F8"/>
                    </a:solidFill>
                  </a:tcPr>
                </a:tc>
                <a:tc>
                  <a:txBody>
                    <a:bodyPr/>
                    <a:lstStyle/>
                    <a:p>
                      <a:pPr algn="ctr"/>
                      <a:r>
                        <a:rPr sz="1300" b="0">
                          <a:solidFill>
                            <a:srgbClr val="444444"/>
                          </a:solidFill>
                        </a:rPr>
                        <a:t>0.2362</a:t>
                      </a:r>
                    </a:p>
                  </a:txBody>
                  <a:tcPr anchor="ctr" marL="54864" marR="54864" marT="18288" marB="18288">
                    <a:solidFill>
                      <a:srgbClr val="EFF3F8"/>
                    </a:solidFill>
                  </a:tcPr>
                </a:tc>
                <a:tc>
                  <a:txBody>
                    <a:bodyPr/>
                    <a:lstStyle/>
                    <a:p>
                      <a:pPr algn="ctr"/>
                      <a:r>
                        <a:rPr sz="1300" b="0">
                          <a:solidFill>
                            <a:srgbClr val="444444"/>
                          </a:solidFill>
                        </a:rPr>
                        <a:t>0.397</a:t>
                      </a:r>
                    </a:p>
                  </a:txBody>
                  <a:tcPr anchor="ctr" marL="54864" marR="54864" marT="18288" marB="18288">
                    <a:solidFill>
                      <a:srgbClr val="EFF3F8"/>
                    </a:solidFill>
                  </a:tcPr>
                </a:tc>
                <a:tc>
                  <a:txBody>
                    <a:bodyPr/>
                    <a:lstStyle/>
                    <a:p>
                      <a:pPr algn="ctr"/>
                      <a:r>
                        <a:rPr sz="1300" b="0">
                          <a:solidFill>
                            <a:srgbClr val="444444"/>
                          </a:solidFill>
                        </a:rPr>
                        <a:t>0.516</a:t>
                      </a:r>
                    </a:p>
                  </a:txBody>
                  <a:tcPr anchor="ctr" marL="54864" marR="54864" marT="18288" marB="18288">
                    <a:solidFill>
                      <a:srgbClr val="EFF3F8"/>
                    </a:solidFill>
                  </a:tcPr>
                </a:tc>
              </a:tr>
              <a:tr h="384048">
                <a:tc>
                  <a:txBody>
                    <a:bodyPr/>
                    <a:lstStyle/>
                    <a:p>
                      <a:pPr algn="l"/>
                      <a:r>
                        <a:rPr sz="1300">
                          <a:solidFill>
                            <a:srgbClr val="444444"/>
                          </a:solidFill>
                        </a:rPr>
                        <a:t>Amazon-Book</a:t>
                      </a:r>
                    </a:p>
                  </a:txBody>
                  <a:tcPr anchor="ctr" marL="54864" marR="54864" marT="18288" marB="18288">
                    <a:solidFill>
                      <a:srgbClr val="FFFFFF"/>
                    </a:solidFill>
                  </a:tcPr>
                </a:tc>
                <a:tc>
                  <a:txBody>
                    <a:bodyPr/>
                    <a:lstStyle/>
                    <a:p>
                      <a:pPr algn="ctr"/>
                      <a:r>
                        <a:rPr sz="1300">
                          <a:solidFill>
                            <a:srgbClr val="444444"/>
                          </a:solidFill>
                        </a:rPr>
                        <a:t>HPCF</a:t>
                      </a:r>
                    </a:p>
                  </a:txBody>
                  <a:tcPr anchor="ctr" marL="54864" marR="54864" marT="18288" marB="18288">
                    <a:solidFill>
                      <a:srgbClr val="FFFFFF"/>
                    </a:solidFill>
                  </a:tcPr>
                </a:tc>
                <a:tc>
                  <a:txBody>
                    <a:bodyPr/>
                    <a:lstStyle/>
                    <a:p>
                      <a:pPr algn="ctr"/>
                      <a:r>
                        <a:rPr sz="1300">
                          <a:solidFill>
                            <a:srgbClr val="444444"/>
                          </a:solidFill>
                        </a:rPr>
                        <a:t>0.0270</a:t>
                      </a:r>
                    </a:p>
                  </a:txBody>
                  <a:tcPr anchor="ctr" marL="54864" marR="54864" marT="18288" marB="18288">
                    <a:solidFill>
                      <a:srgbClr val="FFFFFF"/>
                    </a:solidFill>
                  </a:tcPr>
                </a:tc>
                <a:tc>
                  <a:txBody>
                    <a:bodyPr/>
                    <a:lstStyle/>
                    <a:p>
                      <a:pPr algn="ctr"/>
                      <a:r>
                        <a:rPr sz="1300">
                          <a:solidFill>
                            <a:srgbClr val="444444"/>
                          </a:solidFill>
                        </a:rPr>
                        <a:t>0.0359</a:t>
                      </a:r>
                    </a:p>
                  </a:txBody>
                  <a:tcPr anchor="ctr" marL="54864" marR="54864" marT="18288" marB="18288">
                    <a:solidFill>
                      <a:srgbClr val="FFFFFF"/>
                    </a:solidFill>
                  </a:tcPr>
                </a:tc>
                <a:tc>
                  <a:txBody>
                    <a:bodyPr/>
                    <a:lstStyle/>
                    <a:p>
                      <a:pPr algn="ctr"/>
                      <a:r>
                        <a:rPr sz="1300">
                          <a:solidFill>
                            <a:srgbClr val="444444"/>
                          </a:solidFill>
                        </a:rPr>
                        <a:t>0.259</a:t>
                      </a:r>
                    </a:p>
                  </a:txBody>
                  <a:tcPr anchor="ctr" marL="54864" marR="54864" marT="18288" marB="18288">
                    <a:solidFill>
                      <a:srgbClr val="FFFFFF"/>
                    </a:solidFill>
                  </a:tcPr>
                </a:tc>
                <a:tc>
                  <a:txBody>
                    <a:bodyPr/>
                    <a:lstStyle/>
                    <a:p>
                      <a:pPr algn="ctr"/>
                      <a:r>
                        <a:rPr sz="1300">
                          <a:solidFill>
                            <a:srgbClr val="444444"/>
                          </a:solidFill>
                        </a:rPr>
                        <a:t>0.535</a:t>
                      </a:r>
                    </a:p>
                  </a:txBody>
                  <a:tcPr anchor="ctr" marL="54864" marR="54864" marT="18288" marB="18288">
                    <a:solidFill>
                      <a:srgbClr val="FFFFFF"/>
                    </a:solidFill>
                  </a:tcPr>
                </a:tc>
              </a:tr>
              <a:tr h="384048">
                <a:tc>
                  <a:txBody>
                    <a:bodyPr/>
                    <a:lstStyle/>
                    <a:p>
                      <a:pPr algn="l"/>
                      <a:r>
                        <a:rPr sz="1300" b="0">
                          <a:solidFill>
                            <a:srgbClr val="444444"/>
                          </a:solidFill>
                        </a:rPr>
                        <a:t>Amazon-Book</a:t>
                      </a:r>
                    </a:p>
                  </a:txBody>
                  <a:tcPr anchor="ctr" marL="54864" marR="54864" marT="18288" marB="18288">
                    <a:solidFill>
                      <a:srgbClr val="EFF3F8"/>
                    </a:solidFill>
                  </a:tcPr>
                </a:tc>
                <a:tc>
                  <a:txBody>
                    <a:bodyPr/>
                    <a:lstStyle/>
                    <a:p>
                      <a:pPr algn="ctr"/>
                      <a:r>
                        <a:rPr sz="1300" b="0">
                          <a:solidFill>
                            <a:srgbClr val="444444"/>
                          </a:solidFill>
                        </a:rPr>
                        <a:t>DyHuCoG</a:t>
                      </a:r>
                    </a:p>
                  </a:txBody>
                  <a:tcPr anchor="ctr" marL="54864" marR="54864" marT="18288" marB="18288">
                    <a:solidFill>
                      <a:srgbClr val="EFF3F8"/>
                    </a:solidFill>
                  </a:tcPr>
                </a:tc>
                <a:tc>
                  <a:txBody>
                    <a:bodyPr/>
                    <a:lstStyle/>
                    <a:p>
                      <a:pPr algn="ctr"/>
                      <a:r>
                        <a:rPr sz="1300" b="0">
                          <a:solidFill>
                            <a:srgbClr val="444444"/>
                          </a:solidFill>
                        </a:rPr>
                        <a:t>0.0306</a:t>
                      </a:r>
                    </a:p>
                  </a:txBody>
                  <a:tcPr anchor="ctr" marL="54864" marR="54864" marT="18288" marB="18288">
                    <a:solidFill>
                      <a:srgbClr val="EFF3F8"/>
                    </a:solidFill>
                  </a:tcPr>
                </a:tc>
                <a:tc>
                  <a:txBody>
                    <a:bodyPr/>
                    <a:lstStyle/>
                    <a:p>
                      <a:pPr algn="ctr"/>
                      <a:r>
                        <a:rPr sz="1300" b="0">
                          <a:solidFill>
                            <a:srgbClr val="444444"/>
                          </a:solidFill>
                        </a:rPr>
                        <a:t>0.0417</a:t>
                      </a:r>
                    </a:p>
                  </a:txBody>
                  <a:tcPr anchor="ctr" marL="54864" marR="54864" marT="18288" marB="18288">
                    <a:solidFill>
                      <a:srgbClr val="EFF3F8"/>
                    </a:solidFill>
                  </a:tcPr>
                </a:tc>
                <a:tc>
                  <a:txBody>
                    <a:bodyPr/>
                    <a:lstStyle/>
                    <a:p>
                      <a:pPr algn="ctr"/>
                      <a:r>
                        <a:rPr sz="1300" b="0">
                          <a:solidFill>
                            <a:srgbClr val="444444"/>
                          </a:solidFill>
                        </a:rPr>
                        <a:t>0.336</a:t>
                      </a:r>
                    </a:p>
                  </a:txBody>
                  <a:tcPr anchor="ctr" marL="54864" marR="54864" marT="18288" marB="18288">
                    <a:solidFill>
                      <a:srgbClr val="EFF3F8"/>
                    </a:solidFill>
                  </a:tcPr>
                </a:tc>
                <a:tc>
                  <a:txBody>
                    <a:bodyPr/>
                    <a:lstStyle/>
                    <a:p>
                      <a:pPr algn="ctr"/>
                      <a:r>
                        <a:rPr sz="1300" b="0">
                          <a:solidFill>
                            <a:srgbClr val="444444"/>
                          </a:solidFill>
                        </a:rPr>
                        <a:t>0.602</a:t>
                      </a:r>
                    </a:p>
                  </a:txBody>
                  <a:tcPr anchor="ctr" marL="54864" marR="54864" marT="18288" marB="18288">
                    <a:solidFill>
                      <a:srgbClr val="EFF3F8"/>
                    </a:solidFill>
                  </a:tcPr>
                </a:tc>
              </a:tr>
            </a:tbl>
          </a:graphicData>
        </a:graphic>
      </p:graphicFrame>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39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Relative Gains over HPCF</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Accuracy + coverage + diversity together</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Rectangle 19"/>
          <p:cNvSpPr/>
          <p:nvPr/>
        </p:nvSpPr>
        <p:spPr>
          <a:xfrm>
            <a:off x="640080" y="2011680"/>
            <a:ext cx="2480310" cy="292608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2011680"/>
            <a:ext cx="2480310" cy="10972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2423160"/>
            <a:ext cx="2205990" cy="822960"/>
          </a:xfrm>
          <a:prstGeom prst="rect">
            <a:avLst/>
          </a:prstGeom>
          <a:noFill/>
        </p:spPr>
        <p:txBody>
          <a:bodyPr wrap="square" lIns="0" rIns="0" tIns="0" bIns="0" anchor="t">
            <a:spAutoFit/>
          </a:bodyPr>
          <a:lstStyle/>
          <a:p>
            <a:pPr algn="ctr">
              <a:lnSpc>
                <a:spcPct val="100000"/>
              </a:lnSpc>
            </a:pPr>
            <a:r>
              <a:rPr sz="3000" b="1" i="0">
                <a:solidFill>
                  <a:srgbClr val="0B2C4A"/>
                </a:solidFill>
                <a:latin typeface="Calibri"/>
              </a:rPr>
              <a:t>+9.77%</a:t>
            </a:r>
          </a:p>
        </p:txBody>
      </p:sp>
      <p:sp>
        <p:nvSpPr>
          <p:cNvPr id="23" name="TextBox 22"/>
          <p:cNvSpPr txBox="1"/>
          <p:nvPr/>
        </p:nvSpPr>
        <p:spPr>
          <a:xfrm>
            <a:off x="777240" y="3383280"/>
            <a:ext cx="2205990" cy="548640"/>
          </a:xfrm>
          <a:prstGeom prst="rect">
            <a:avLst/>
          </a:prstGeom>
          <a:noFill/>
        </p:spPr>
        <p:txBody>
          <a:bodyPr wrap="square" lIns="0" rIns="0" tIns="0" bIns="0" anchor="t">
            <a:spAutoFit/>
          </a:bodyPr>
          <a:lstStyle/>
          <a:p>
            <a:pPr algn="ctr">
              <a:lnSpc>
                <a:spcPct val="100000"/>
              </a:lnSpc>
            </a:pPr>
            <a:r>
              <a:rPr sz="1600" b="1" i="0">
                <a:solidFill>
                  <a:srgbClr val="1F6FB2"/>
                </a:solidFill>
                <a:latin typeface="Calibri"/>
              </a:rPr>
              <a:t>NDCG@20</a:t>
            </a:r>
          </a:p>
        </p:txBody>
      </p:sp>
      <p:sp>
        <p:nvSpPr>
          <p:cNvPr id="24" name="TextBox 23"/>
          <p:cNvSpPr txBox="1"/>
          <p:nvPr/>
        </p:nvSpPr>
        <p:spPr>
          <a:xfrm>
            <a:off x="777240" y="3977640"/>
            <a:ext cx="2205990" cy="914400"/>
          </a:xfrm>
          <a:prstGeom prst="rect">
            <a:avLst/>
          </a:prstGeom>
          <a:noFill/>
        </p:spPr>
        <p:txBody>
          <a:bodyPr wrap="square" lIns="0" rIns="0" tIns="0" bIns="0" anchor="t">
            <a:spAutoFit/>
          </a:bodyPr>
          <a:lstStyle/>
          <a:p>
            <a:pPr algn="ctr">
              <a:lnSpc>
                <a:spcPct val="100000"/>
              </a:lnSpc>
            </a:pPr>
            <a:r>
              <a:rPr sz="1200" b="0" i="0">
                <a:solidFill>
                  <a:srgbClr val="444444"/>
                </a:solidFill>
                <a:latin typeface="Calibri"/>
              </a:rPr>
              <a:t>MovieLens-1M</a:t>
            </a:r>
          </a:p>
        </p:txBody>
      </p:sp>
      <p:sp>
        <p:nvSpPr>
          <p:cNvPr id="25" name="Rectangle 24"/>
          <p:cNvSpPr/>
          <p:nvPr/>
        </p:nvSpPr>
        <p:spPr>
          <a:xfrm>
            <a:off x="3440430" y="2011680"/>
            <a:ext cx="2480310" cy="292608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40430" y="2011680"/>
            <a:ext cx="2480310" cy="10972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77590" y="2423160"/>
            <a:ext cx="2205990" cy="822960"/>
          </a:xfrm>
          <a:prstGeom prst="rect">
            <a:avLst/>
          </a:prstGeom>
          <a:noFill/>
        </p:spPr>
        <p:txBody>
          <a:bodyPr wrap="square" lIns="0" rIns="0" tIns="0" bIns="0" anchor="t">
            <a:spAutoFit/>
          </a:bodyPr>
          <a:lstStyle/>
          <a:p>
            <a:pPr algn="ctr">
              <a:lnSpc>
                <a:spcPct val="100000"/>
              </a:lnSpc>
            </a:pPr>
            <a:r>
              <a:rPr sz="3000" b="1" i="0">
                <a:solidFill>
                  <a:srgbClr val="0B2C4A"/>
                </a:solidFill>
                <a:latin typeface="Calibri"/>
              </a:rPr>
              <a:t>+12.58%</a:t>
            </a:r>
          </a:p>
        </p:txBody>
      </p:sp>
      <p:sp>
        <p:nvSpPr>
          <p:cNvPr id="28" name="TextBox 27"/>
          <p:cNvSpPr txBox="1"/>
          <p:nvPr/>
        </p:nvSpPr>
        <p:spPr>
          <a:xfrm>
            <a:off x="3577590" y="3383280"/>
            <a:ext cx="2205990" cy="548640"/>
          </a:xfrm>
          <a:prstGeom prst="rect">
            <a:avLst/>
          </a:prstGeom>
          <a:noFill/>
        </p:spPr>
        <p:txBody>
          <a:bodyPr wrap="square" lIns="0" rIns="0" tIns="0" bIns="0" anchor="t">
            <a:spAutoFit/>
          </a:bodyPr>
          <a:lstStyle/>
          <a:p>
            <a:pPr algn="ctr">
              <a:lnSpc>
                <a:spcPct val="100000"/>
              </a:lnSpc>
            </a:pPr>
            <a:r>
              <a:rPr sz="1600" b="1" i="0">
                <a:solidFill>
                  <a:srgbClr val="1F6FB2"/>
                </a:solidFill>
                <a:latin typeface="Calibri"/>
              </a:rPr>
              <a:t>Recall@20</a:t>
            </a:r>
          </a:p>
        </p:txBody>
      </p:sp>
      <p:sp>
        <p:nvSpPr>
          <p:cNvPr id="29" name="TextBox 28"/>
          <p:cNvSpPr txBox="1"/>
          <p:nvPr/>
        </p:nvSpPr>
        <p:spPr>
          <a:xfrm>
            <a:off x="3577590" y="3977640"/>
            <a:ext cx="2205990" cy="914400"/>
          </a:xfrm>
          <a:prstGeom prst="rect">
            <a:avLst/>
          </a:prstGeom>
          <a:noFill/>
        </p:spPr>
        <p:txBody>
          <a:bodyPr wrap="square" lIns="0" rIns="0" tIns="0" bIns="0" anchor="t">
            <a:spAutoFit/>
          </a:bodyPr>
          <a:lstStyle/>
          <a:p>
            <a:pPr algn="ctr">
              <a:lnSpc>
                <a:spcPct val="100000"/>
              </a:lnSpc>
            </a:pPr>
            <a:r>
              <a:rPr sz="1200" b="0" i="0">
                <a:solidFill>
                  <a:srgbClr val="444444"/>
                </a:solidFill>
                <a:latin typeface="Calibri"/>
              </a:rPr>
              <a:t>MovieLens-1M</a:t>
            </a:r>
          </a:p>
        </p:txBody>
      </p:sp>
      <p:sp>
        <p:nvSpPr>
          <p:cNvPr id="30" name="Rectangle 29"/>
          <p:cNvSpPr/>
          <p:nvPr/>
        </p:nvSpPr>
        <p:spPr>
          <a:xfrm>
            <a:off x="6240780" y="2011680"/>
            <a:ext cx="2480310" cy="292608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0780" y="2011680"/>
            <a:ext cx="2480310" cy="10972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7940" y="2423160"/>
            <a:ext cx="2205990" cy="822960"/>
          </a:xfrm>
          <a:prstGeom prst="rect">
            <a:avLst/>
          </a:prstGeom>
          <a:noFill/>
        </p:spPr>
        <p:txBody>
          <a:bodyPr wrap="square" lIns="0" rIns="0" tIns="0" bIns="0" anchor="t">
            <a:spAutoFit/>
          </a:bodyPr>
          <a:lstStyle/>
          <a:p>
            <a:pPr algn="ctr">
              <a:lnSpc>
                <a:spcPct val="100000"/>
              </a:lnSpc>
            </a:pPr>
            <a:r>
              <a:rPr sz="3000" b="1" i="0">
                <a:solidFill>
                  <a:srgbClr val="0B2C4A"/>
                </a:solidFill>
                <a:latin typeface="Calibri"/>
              </a:rPr>
              <a:t>+13.33%</a:t>
            </a:r>
          </a:p>
        </p:txBody>
      </p:sp>
      <p:sp>
        <p:nvSpPr>
          <p:cNvPr id="33" name="TextBox 32"/>
          <p:cNvSpPr txBox="1"/>
          <p:nvPr/>
        </p:nvSpPr>
        <p:spPr>
          <a:xfrm>
            <a:off x="6377940" y="3383280"/>
            <a:ext cx="2205990" cy="548640"/>
          </a:xfrm>
          <a:prstGeom prst="rect">
            <a:avLst/>
          </a:prstGeom>
          <a:noFill/>
        </p:spPr>
        <p:txBody>
          <a:bodyPr wrap="square" lIns="0" rIns="0" tIns="0" bIns="0" anchor="t">
            <a:spAutoFit/>
          </a:bodyPr>
          <a:lstStyle/>
          <a:p>
            <a:pPr algn="ctr">
              <a:lnSpc>
                <a:spcPct val="100000"/>
              </a:lnSpc>
            </a:pPr>
            <a:r>
              <a:rPr sz="1600" b="1" i="0">
                <a:solidFill>
                  <a:srgbClr val="1F6FB2"/>
                </a:solidFill>
                <a:latin typeface="Calibri"/>
              </a:rPr>
              <a:t>NDCG@20</a:t>
            </a:r>
          </a:p>
        </p:txBody>
      </p:sp>
      <p:sp>
        <p:nvSpPr>
          <p:cNvPr id="34" name="TextBox 33"/>
          <p:cNvSpPr txBox="1"/>
          <p:nvPr/>
        </p:nvSpPr>
        <p:spPr>
          <a:xfrm>
            <a:off x="6377940" y="3977640"/>
            <a:ext cx="2205990" cy="914400"/>
          </a:xfrm>
          <a:prstGeom prst="rect">
            <a:avLst/>
          </a:prstGeom>
          <a:noFill/>
        </p:spPr>
        <p:txBody>
          <a:bodyPr wrap="square" lIns="0" rIns="0" tIns="0" bIns="0" anchor="t">
            <a:spAutoFit/>
          </a:bodyPr>
          <a:lstStyle/>
          <a:p>
            <a:pPr algn="ctr">
              <a:lnSpc>
                <a:spcPct val="100000"/>
              </a:lnSpc>
            </a:pPr>
            <a:r>
              <a:rPr sz="1200" b="0" i="0">
                <a:solidFill>
                  <a:srgbClr val="444444"/>
                </a:solidFill>
                <a:latin typeface="Calibri"/>
              </a:rPr>
              <a:t>Amazon-Book</a:t>
            </a:r>
          </a:p>
        </p:txBody>
      </p:sp>
      <p:sp>
        <p:nvSpPr>
          <p:cNvPr id="35" name="Rectangle 34"/>
          <p:cNvSpPr/>
          <p:nvPr/>
        </p:nvSpPr>
        <p:spPr>
          <a:xfrm>
            <a:off x="9041130" y="2011680"/>
            <a:ext cx="2480310" cy="292608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41130" y="2011680"/>
            <a:ext cx="2480310" cy="10972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8290" y="2423160"/>
            <a:ext cx="2205990" cy="822960"/>
          </a:xfrm>
          <a:prstGeom prst="rect">
            <a:avLst/>
          </a:prstGeom>
          <a:noFill/>
        </p:spPr>
        <p:txBody>
          <a:bodyPr wrap="square" lIns="0" rIns="0" tIns="0" bIns="0" anchor="t">
            <a:spAutoFit/>
          </a:bodyPr>
          <a:lstStyle/>
          <a:p>
            <a:pPr algn="ctr">
              <a:lnSpc>
                <a:spcPct val="100000"/>
              </a:lnSpc>
            </a:pPr>
            <a:r>
              <a:rPr sz="3000" b="1" i="0">
                <a:solidFill>
                  <a:srgbClr val="0B2C4A"/>
                </a:solidFill>
                <a:latin typeface="Calibri"/>
              </a:rPr>
              <a:t>+16.16%</a:t>
            </a:r>
          </a:p>
        </p:txBody>
      </p:sp>
      <p:sp>
        <p:nvSpPr>
          <p:cNvPr id="38" name="TextBox 37"/>
          <p:cNvSpPr txBox="1"/>
          <p:nvPr/>
        </p:nvSpPr>
        <p:spPr>
          <a:xfrm>
            <a:off x="9178290" y="3383280"/>
            <a:ext cx="2205990" cy="548640"/>
          </a:xfrm>
          <a:prstGeom prst="rect">
            <a:avLst/>
          </a:prstGeom>
          <a:noFill/>
        </p:spPr>
        <p:txBody>
          <a:bodyPr wrap="square" lIns="0" rIns="0" tIns="0" bIns="0" anchor="t">
            <a:spAutoFit/>
          </a:bodyPr>
          <a:lstStyle/>
          <a:p>
            <a:pPr algn="ctr">
              <a:lnSpc>
                <a:spcPct val="100000"/>
              </a:lnSpc>
            </a:pPr>
            <a:r>
              <a:rPr sz="1600" b="1" i="0">
                <a:solidFill>
                  <a:srgbClr val="1F6FB2"/>
                </a:solidFill>
                <a:latin typeface="Calibri"/>
              </a:rPr>
              <a:t>Recall@20</a:t>
            </a:r>
          </a:p>
        </p:txBody>
      </p:sp>
      <p:sp>
        <p:nvSpPr>
          <p:cNvPr id="39" name="TextBox 38"/>
          <p:cNvSpPr txBox="1"/>
          <p:nvPr/>
        </p:nvSpPr>
        <p:spPr>
          <a:xfrm>
            <a:off x="9178290" y="3977640"/>
            <a:ext cx="2205990" cy="914400"/>
          </a:xfrm>
          <a:prstGeom prst="rect">
            <a:avLst/>
          </a:prstGeom>
          <a:noFill/>
        </p:spPr>
        <p:txBody>
          <a:bodyPr wrap="square" lIns="0" rIns="0" tIns="0" bIns="0" anchor="t">
            <a:spAutoFit/>
          </a:bodyPr>
          <a:lstStyle/>
          <a:p>
            <a:pPr algn="ctr">
              <a:lnSpc>
                <a:spcPct val="100000"/>
              </a:lnSpc>
            </a:pPr>
            <a:r>
              <a:rPr sz="1200" b="0" i="0">
                <a:solidFill>
                  <a:srgbClr val="444444"/>
                </a:solidFill>
                <a:latin typeface="Calibri"/>
              </a:rPr>
              <a:t>Amazon-Book</a:t>
            </a:r>
          </a:p>
        </p:txBody>
      </p:sp>
      <p:sp>
        <p:nvSpPr>
          <p:cNvPr id="40" name="TextBox 39"/>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41" name="TextBox 40"/>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Coverage &amp; Intra-List Diversity</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Both system- and list-level diversity improve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1">
                <a:solidFill>
                  <a:srgbClr val="444444"/>
                </a:solidFill>
                <a:latin typeface="Calibri"/>
              </a:rPr>
              <a:t>MovieLens-1M:</a:t>
            </a:r>
          </a:p>
          <a:p>
            <a:pPr lvl="1">
              <a:lnSpc>
                <a:spcPct val="105000"/>
              </a:lnSpc>
              <a:spcAft>
                <a:spcPts val="700"/>
              </a:spcAft>
            </a:pPr>
            <a:r>
              <a:rPr sz="1800" b="1">
                <a:solidFill>
                  <a:srgbClr val="1F6FB2"/>
                </a:solidFill>
                <a:latin typeface="Calibri"/>
              </a:rPr>
              <a:t>–  </a:t>
            </a:r>
            <a:r>
              <a:rPr sz="1800" b="0">
                <a:solidFill>
                  <a:srgbClr val="444444"/>
                </a:solidFill>
                <a:latin typeface="Calibri"/>
              </a:rPr>
              <a:t>Coverage 0.342 → 0.397 (+16.1%); Intra-List Diversity 0.461 → 0.516 (+11.9%).</a:t>
            </a:r>
          </a:p>
          <a:p>
            <a:pPr>
              <a:lnSpc>
                <a:spcPct val="105000"/>
              </a:lnSpc>
              <a:spcAft>
                <a:spcPts val="1000"/>
              </a:spcAft>
            </a:pPr>
            <a:r>
              <a:rPr sz="1800" b="1">
                <a:solidFill>
                  <a:srgbClr val="1F6FB2"/>
                </a:solidFill>
                <a:latin typeface="Calibri"/>
              </a:rPr>
              <a:t>▪  </a:t>
            </a:r>
            <a:r>
              <a:rPr sz="1800" b="1">
                <a:solidFill>
                  <a:srgbClr val="444444"/>
                </a:solidFill>
                <a:latin typeface="Calibri"/>
              </a:rPr>
              <a:t>Amazon-Book:</a:t>
            </a:r>
          </a:p>
          <a:p>
            <a:pPr lvl="1">
              <a:lnSpc>
                <a:spcPct val="105000"/>
              </a:lnSpc>
              <a:spcAft>
                <a:spcPts val="700"/>
              </a:spcAft>
            </a:pPr>
            <a:r>
              <a:rPr sz="1800" b="1">
                <a:solidFill>
                  <a:srgbClr val="1F6FB2"/>
                </a:solidFill>
                <a:latin typeface="Calibri"/>
              </a:rPr>
              <a:t>–  </a:t>
            </a:r>
            <a:r>
              <a:rPr sz="1800" b="0">
                <a:solidFill>
                  <a:srgbClr val="444444"/>
                </a:solidFill>
                <a:latin typeface="Calibri"/>
              </a:rPr>
              <a:t>Coverage 0.259 → 0.336 (+29.7%); ILD 0.535 → 0.602 (+12.5%).</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lvl="1">
              <a:lnSpc>
                <a:spcPct val="105000"/>
              </a:lnSpc>
              <a:spcAft>
                <a:spcPts val="700"/>
              </a:spcAft>
            </a:pPr>
            <a:r>
              <a:rPr sz="1800" b="1">
                <a:solidFill>
                  <a:srgbClr val="1F6FB2"/>
                </a:solidFill>
                <a:latin typeface="Calibri"/>
              </a:rPr>
              <a:t>–  </a:t>
            </a:r>
            <a:r>
              <a:rPr sz="1800" b="0">
                <a:solidFill>
                  <a:srgbClr val="444444"/>
                </a:solidFill>
                <a:latin typeface="Calibri"/>
              </a:rPr>
              <a:t>These indicate reduced filter-bubble effect and greater opportunity for discovery — while NDCG and Recall also improve, so accuracy is not traded off for diversity.</a:t>
            </a:r>
          </a:p>
        </p:txBody>
      </p:sp>
      <p:pic>
        <p:nvPicPr>
          <p:cNvPr id="21" name="Picture 20" descr="dyhucog_covdiv.png"/>
          <p:cNvPicPr>
            <a:picLocks noChangeAspect="1"/>
          </p:cNvPicPr>
          <p:nvPr/>
        </p:nvPicPr>
        <p:blipFill>
          <a:blip r:embed="rId2"/>
          <a:stretch>
            <a:fillRect/>
          </a:stretch>
        </p:blipFill>
        <p:spPr>
          <a:xfrm>
            <a:off x="5852891520000" y="2722604954607"/>
            <a:ext cx="4765925952000" cy="1912710858784"/>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Ablation Study (Component-wise)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Each block is essential</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graphicFrame>
        <p:nvGraphicFramePr>
          <p:cNvPr id="20" name="Table 19"/>
          <p:cNvGraphicFramePr>
            <a:graphicFrameLocks noGrp="1"/>
          </p:cNvGraphicFramePr>
          <p:nvPr/>
        </p:nvGraphicFramePr>
        <p:xfrm>
          <a:off x="640080" y="1783080"/>
          <a:ext cx="10881360" cy="2688336"/>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384048">
                <a:tc>
                  <a:txBody>
                    <a:bodyPr/>
                    <a:lstStyle/>
                    <a:p>
                      <a:pPr algn="ctr"/>
                      <a:r>
                        <a:rPr sz="1300" b="1">
                          <a:solidFill>
                            <a:srgbClr val="FFFFFF"/>
                          </a:solidFill>
                        </a:rPr>
                        <a:t>Variant</a:t>
                      </a:r>
                    </a:p>
                  </a:txBody>
                  <a:tcPr anchor="ctr">
                    <a:solidFill>
                      <a:srgbClr val="0B2C4A"/>
                    </a:solidFill>
                  </a:tcPr>
                </a:tc>
                <a:tc>
                  <a:txBody>
                    <a:bodyPr/>
                    <a:lstStyle/>
                    <a:p>
                      <a:pPr algn="ctr"/>
                      <a:r>
                        <a:rPr sz="1300" b="1">
                          <a:solidFill>
                            <a:srgbClr val="FFFFFF"/>
                          </a:solidFill>
                        </a:rPr>
                        <a:t>ML-1M NDCG@20</a:t>
                      </a:r>
                    </a:p>
                  </a:txBody>
                  <a:tcPr anchor="ctr">
                    <a:solidFill>
                      <a:srgbClr val="0B2C4A"/>
                    </a:solidFill>
                  </a:tcPr>
                </a:tc>
                <a:tc>
                  <a:txBody>
                    <a:bodyPr/>
                    <a:lstStyle/>
                    <a:p>
                      <a:pPr algn="ctr"/>
                      <a:r>
                        <a:rPr sz="1300" b="1">
                          <a:solidFill>
                            <a:srgbClr val="FFFFFF"/>
                          </a:solidFill>
                        </a:rPr>
                        <a:t>% Drop</a:t>
                      </a:r>
                    </a:p>
                  </a:txBody>
                  <a:tcPr anchor="ctr">
                    <a:solidFill>
                      <a:srgbClr val="0B2C4A"/>
                    </a:solidFill>
                  </a:tcPr>
                </a:tc>
                <a:tc>
                  <a:txBody>
                    <a:bodyPr/>
                    <a:lstStyle/>
                    <a:p>
                      <a:pPr algn="ctr"/>
                      <a:r>
                        <a:rPr sz="1300" b="1">
                          <a:solidFill>
                            <a:srgbClr val="FFFFFF"/>
                          </a:solidFill>
                        </a:rPr>
                        <a:t>Amazon NDCG@20</a:t>
                      </a:r>
                    </a:p>
                  </a:txBody>
                  <a:tcPr anchor="ctr">
                    <a:solidFill>
                      <a:srgbClr val="0B2C4A"/>
                    </a:solidFill>
                  </a:tcPr>
                </a:tc>
                <a:tc>
                  <a:txBody>
                    <a:bodyPr/>
                    <a:lstStyle/>
                    <a:p>
                      <a:pPr algn="ctr"/>
                      <a:r>
                        <a:rPr sz="1300" b="1">
                          <a:solidFill>
                            <a:srgbClr val="FFFFFF"/>
                          </a:solidFill>
                        </a:rPr>
                        <a:t>% Drop</a:t>
                      </a:r>
                    </a:p>
                  </a:txBody>
                  <a:tcPr anchor="ctr">
                    <a:solidFill>
                      <a:srgbClr val="0B2C4A"/>
                    </a:solidFill>
                  </a:tcPr>
                </a:tc>
              </a:tr>
              <a:tr h="384048">
                <a:tc>
                  <a:txBody>
                    <a:bodyPr/>
                    <a:lstStyle/>
                    <a:p>
                      <a:pPr algn="l"/>
                      <a:r>
                        <a:rPr sz="1300">
                          <a:solidFill>
                            <a:srgbClr val="444444"/>
                          </a:solidFill>
                        </a:rPr>
                        <a:t>Full DyHuCoG</a:t>
                      </a:r>
                    </a:p>
                  </a:txBody>
                  <a:tcPr anchor="ctr" marL="54864" marR="54864" marT="18288" marB="18288">
                    <a:solidFill>
                      <a:srgbClr val="FFFFFF"/>
                    </a:solidFill>
                  </a:tcPr>
                </a:tc>
                <a:tc>
                  <a:txBody>
                    <a:bodyPr/>
                    <a:lstStyle/>
                    <a:p>
                      <a:pPr algn="ctr"/>
                      <a:r>
                        <a:rPr sz="1300">
                          <a:solidFill>
                            <a:srgbClr val="444444"/>
                          </a:solidFill>
                        </a:rPr>
                        <a:t>0.2775</a:t>
                      </a:r>
                    </a:p>
                  </a:txBody>
                  <a:tcPr anchor="ctr" marL="54864" marR="54864" marT="18288" marB="18288">
                    <a:solidFill>
                      <a:srgbClr val="FFFFFF"/>
                    </a:solidFill>
                  </a:tcPr>
                </a:tc>
                <a:tc>
                  <a:txBody>
                    <a:bodyPr/>
                    <a:lstStyle/>
                    <a:p>
                      <a:pPr algn="ctr"/>
                      <a:r>
                        <a:rPr sz="1300">
                          <a:solidFill>
                            <a:srgbClr val="444444"/>
                          </a:solidFill>
                        </a:rPr>
                        <a:t>–</a:t>
                      </a:r>
                    </a:p>
                  </a:txBody>
                  <a:tcPr anchor="ctr" marL="54864" marR="54864" marT="18288" marB="18288">
                    <a:solidFill>
                      <a:srgbClr val="FFFFFF"/>
                    </a:solidFill>
                  </a:tcPr>
                </a:tc>
                <a:tc>
                  <a:txBody>
                    <a:bodyPr/>
                    <a:lstStyle/>
                    <a:p>
                      <a:pPr algn="ctr"/>
                      <a:r>
                        <a:rPr sz="1300">
                          <a:solidFill>
                            <a:srgbClr val="444444"/>
                          </a:solidFill>
                        </a:rPr>
                        <a:t>0.0306</a:t>
                      </a:r>
                    </a:p>
                  </a:txBody>
                  <a:tcPr anchor="ctr" marL="54864" marR="54864" marT="18288" marB="18288">
                    <a:solidFill>
                      <a:srgbClr val="FFFFFF"/>
                    </a:solidFill>
                  </a:tcPr>
                </a:tc>
                <a:tc>
                  <a:txBody>
                    <a:bodyPr/>
                    <a:lstStyle/>
                    <a:p>
                      <a:pPr algn="ctr"/>
                      <a:r>
                        <a:rPr sz="1300">
                          <a:solidFill>
                            <a:srgbClr val="444444"/>
                          </a:solidFill>
                        </a:rPr>
                        <a:t>–</a:t>
                      </a:r>
                    </a:p>
                  </a:txBody>
                  <a:tcPr anchor="ctr" marL="54864" marR="54864" marT="18288" marB="18288">
                    <a:solidFill>
                      <a:srgbClr val="FFFFFF"/>
                    </a:solidFill>
                  </a:tcPr>
                </a:tc>
              </a:tr>
              <a:tr h="384048">
                <a:tc>
                  <a:txBody>
                    <a:bodyPr/>
                    <a:lstStyle/>
                    <a:p>
                      <a:pPr algn="l"/>
                      <a:r>
                        <a:rPr sz="1300" b="1">
                          <a:solidFill>
                            <a:srgbClr val="FFFFFF"/>
                          </a:solidFill>
                        </a:rPr>
                        <a:t>w/o Shapley Value</a:t>
                      </a:r>
                    </a:p>
                  </a:txBody>
                  <a:tcPr anchor="ctr" marL="54864" marR="54864" marT="18288" marB="18288">
                    <a:solidFill>
                      <a:srgbClr val="1F6FB2"/>
                    </a:solidFill>
                  </a:tcPr>
                </a:tc>
                <a:tc>
                  <a:txBody>
                    <a:bodyPr/>
                    <a:lstStyle/>
                    <a:p>
                      <a:pPr algn="ctr"/>
                      <a:r>
                        <a:rPr sz="1300" b="1">
                          <a:solidFill>
                            <a:srgbClr val="FFFFFF"/>
                          </a:solidFill>
                        </a:rPr>
                        <a:t>0.2647</a:t>
                      </a:r>
                    </a:p>
                  </a:txBody>
                  <a:tcPr anchor="ctr" marL="54864" marR="54864" marT="18288" marB="18288">
                    <a:solidFill>
                      <a:srgbClr val="1F6FB2"/>
                    </a:solidFill>
                  </a:tcPr>
                </a:tc>
                <a:tc>
                  <a:txBody>
                    <a:bodyPr/>
                    <a:lstStyle/>
                    <a:p>
                      <a:pPr algn="ctr"/>
                      <a:r>
                        <a:rPr sz="1300" b="1">
                          <a:solidFill>
                            <a:srgbClr val="FFFFFF"/>
                          </a:solidFill>
                        </a:rPr>
                        <a:t>4.6%</a:t>
                      </a:r>
                    </a:p>
                  </a:txBody>
                  <a:tcPr anchor="ctr" marL="54864" marR="54864" marT="18288" marB="18288">
                    <a:solidFill>
                      <a:srgbClr val="1F6FB2"/>
                    </a:solidFill>
                  </a:tcPr>
                </a:tc>
                <a:tc>
                  <a:txBody>
                    <a:bodyPr/>
                    <a:lstStyle/>
                    <a:p>
                      <a:pPr algn="ctr"/>
                      <a:r>
                        <a:rPr sz="1300" b="1">
                          <a:solidFill>
                            <a:srgbClr val="FFFFFF"/>
                          </a:solidFill>
                        </a:rPr>
                        <a:t>0.0287</a:t>
                      </a:r>
                    </a:p>
                  </a:txBody>
                  <a:tcPr anchor="ctr" marL="54864" marR="54864" marT="18288" marB="18288">
                    <a:solidFill>
                      <a:srgbClr val="1F6FB2"/>
                    </a:solidFill>
                  </a:tcPr>
                </a:tc>
                <a:tc>
                  <a:txBody>
                    <a:bodyPr/>
                    <a:lstStyle/>
                    <a:p>
                      <a:pPr algn="ctr"/>
                      <a:r>
                        <a:rPr sz="1300" b="1">
                          <a:solidFill>
                            <a:srgbClr val="FFFFFF"/>
                          </a:solidFill>
                        </a:rPr>
                        <a:t>6.1%</a:t>
                      </a:r>
                    </a:p>
                  </a:txBody>
                  <a:tcPr anchor="ctr" marL="54864" marR="54864" marT="18288" marB="18288">
                    <a:solidFill>
                      <a:srgbClr val="1F6FB2"/>
                    </a:solidFill>
                  </a:tcPr>
                </a:tc>
              </a:tr>
              <a:tr h="384048">
                <a:tc>
                  <a:txBody>
                    <a:bodyPr/>
                    <a:lstStyle/>
                    <a:p>
                      <a:pPr algn="l"/>
                      <a:r>
                        <a:rPr sz="1300">
                          <a:solidFill>
                            <a:srgbClr val="444444"/>
                          </a:solidFill>
                        </a:rPr>
                        <a:t>w/o Hypergraph</a:t>
                      </a:r>
                    </a:p>
                  </a:txBody>
                  <a:tcPr anchor="ctr" marL="54864" marR="54864" marT="18288" marB="18288">
                    <a:solidFill>
                      <a:srgbClr val="FFFFFF"/>
                    </a:solidFill>
                  </a:tcPr>
                </a:tc>
                <a:tc>
                  <a:txBody>
                    <a:bodyPr/>
                    <a:lstStyle/>
                    <a:p>
                      <a:pPr algn="ctr"/>
                      <a:r>
                        <a:rPr sz="1300">
                          <a:solidFill>
                            <a:srgbClr val="444444"/>
                          </a:solidFill>
                        </a:rPr>
                        <a:t>0.2586</a:t>
                      </a:r>
                    </a:p>
                  </a:txBody>
                  <a:tcPr anchor="ctr" marL="54864" marR="54864" marT="18288" marB="18288">
                    <a:solidFill>
                      <a:srgbClr val="FFFFFF"/>
                    </a:solidFill>
                  </a:tcPr>
                </a:tc>
                <a:tc>
                  <a:txBody>
                    <a:bodyPr/>
                    <a:lstStyle/>
                    <a:p>
                      <a:pPr algn="ctr"/>
                      <a:r>
                        <a:rPr sz="1300">
                          <a:solidFill>
                            <a:srgbClr val="444444"/>
                          </a:solidFill>
                        </a:rPr>
                        <a:t>6.8%</a:t>
                      </a:r>
                    </a:p>
                  </a:txBody>
                  <a:tcPr anchor="ctr" marL="54864" marR="54864" marT="18288" marB="18288">
                    <a:solidFill>
                      <a:srgbClr val="FFFFFF"/>
                    </a:solidFill>
                  </a:tcPr>
                </a:tc>
                <a:tc>
                  <a:txBody>
                    <a:bodyPr/>
                    <a:lstStyle/>
                    <a:p>
                      <a:pPr algn="ctr"/>
                      <a:r>
                        <a:rPr sz="1300">
                          <a:solidFill>
                            <a:srgbClr val="444444"/>
                          </a:solidFill>
                        </a:rPr>
                        <a:t>0.0279</a:t>
                      </a:r>
                    </a:p>
                  </a:txBody>
                  <a:tcPr anchor="ctr" marL="54864" marR="54864" marT="18288" marB="18288">
                    <a:solidFill>
                      <a:srgbClr val="FFFFFF"/>
                    </a:solidFill>
                  </a:tcPr>
                </a:tc>
                <a:tc>
                  <a:txBody>
                    <a:bodyPr/>
                    <a:lstStyle/>
                    <a:p>
                      <a:pPr algn="ctr"/>
                      <a:r>
                        <a:rPr sz="1300">
                          <a:solidFill>
                            <a:srgbClr val="444444"/>
                          </a:solidFill>
                        </a:rPr>
                        <a:t>8.9%</a:t>
                      </a:r>
                    </a:p>
                  </a:txBody>
                  <a:tcPr anchor="ctr" marL="54864" marR="54864" marT="18288" marB="18288">
                    <a:solidFill>
                      <a:srgbClr val="FFFFFF"/>
                    </a:solidFill>
                  </a:tcPr>
                </a:tc>
              </a:tr>
              <a:tr h="384048">
                <a:tc>
                  <a:txBody>
                    <a:bodyPr/>
                    <a:lstStyle/>
                    <a:p>
                      <a:pPr algn="l"/>
                      <a:r>
                        <a:rPr sz="1300" b="0">
                          <a:solidFill>
                            <a:srgbClr val="444444"/>
                          </a:solidFill>
                        </a:rPr>
                        <a:t>w/o Attention</a:t>
                      </a:r>
                    </a:p>
                  </a:txBody>
                  <a:tcPr anchor="ctr" marL="54864" marR="54864" marT="18288" marB="18288">
                    <a:solidFill>
                      <a:srgbClr val="EFF3F8"/>
                    </a:solidFill>
                  </a:tcPr>
                </a:tc>
                <a:tc>
                  <a:txBody>
                    <a:bodyPr/>
                    <a:lstStyle/>
                    <a:p>
                      <a:pPr algn="ctr"/>
                      <a:r>
                        <a:rPr sz="1300" b="0">
                          <a:solidFill>
                            <a:srgbClr val="444444"/>
                          </a:solidFill>
                        </a:rPr>
                        <a:t>0.2678</a:t>
                      </a:r>
                    </a:p>
                  </a:txBody>
                  <a:tcPr anchor="ctr" marL="54864" marR="54864" marT="18288" marB="18288">
                    <a:solidFill>
                      <a:srgbClr val="EFF3F8"/>
                    </a:solidFill>
                  </a:tcPr>
                </a:tc>
                <a:tc>
                  <a:txBody>
                    <a:bodyPr/>
                    <a:lstStyle/>
                    <a:p>
                      <a:pPr algn="ctr"/>
                      <a:r>
                        <a:rPr sz="1300" b="0">
                          <a:solidFill>
                            <a:srgbClr val="444444"/>
                          </a:solidFill>
                        </a:rPr>
                        <a:t>3.5%</a:t>
                      </a:r>
                    </a:p>
                  </a:txBody>
                  <a:tcPr anchor="ctr" marL="54864" marR="54864" marT="18288" marB="18288">
                    <a:solidFill>
                      <a:srgbClr val="EFF3F8"/>
                    </a:solidFill>
                  </a:tcPr>
                </a:tc>
                <a:tc>
                  <a:txBody>
                    <a:bodyPr/>
                    <a:lstStyle/>
                    <a:p>
                      <a:pPr algn="ctr"/>
                      <a:r>
                        <a:rPr sz="1300" b="0">
                          <a:solidFill>
                            <a:srgbClr val="444444"/>
                          </a:solidFill>
                        </a:rPr>
                        <a:t>0.0295</a:t>
                      </a:r>
                    </a:p>
                  </a:txBody>
                  <a:tcPr anchor="ctr" marL="54864" marR="54864" marT="18288" marB="18288">
                    <a:solidFill>
                      <a:srgbClr val="EFF3F8"/>
                    </a:solidFill>
                  </a:tcPr>
                </a:tc>
                <a:tc>
                  <a:txBody>
                    <a:bodyPr/>
                    <a:lstStyle/>
                    <a:p>
                      <a:pPr algn="ctr"/>
                      <a:r>
                        <a:rPr sz="1300" b="0">
                          <a:solidFill>
                            <a:srgbClr val="444444"/>
                          </a:solidFill>
                        </a:rPr>
                        <a:t>3.5%</a:t>
                      </a:r>
                    </a:p>
                  </a:txBody>
                  <a:tcPr anchor="ctr" marL="54864" marR="54864" marT="18288" marB="18288">
                    <a:solidFill>
                      <a:srgbClr val="EFF3F8"/>
                    </a:solidFill>
                  </a:tcPr>
                </a:tc>
              </a:tr>
              <a:tr h="384048">
                <a:tc>
                  <a:txBody>
                    <a:bodyPr/>
                    <a:lstStyle/>
                    <a:p>
                      <a:pPr algn="l"/>
                      <a:r>
                        <a:rPr sz="1300">
                          <a:solidFill>
                            <a:srgbClr val="444444"/>
                          </a:solidFill>
                        </a:rPr>
                        <a:t>w/o Context</a:t>
                      </a:r>
                    </a:p>
                  </a:txBody>
                  <a:tcPr anchor="ctr" marL="54864" marR="54864" marT="18288" marB="18288">
                    <a:solidFill>
                      <a:srgbClr val="FFFFFF"/>
                    </a:solidFill>
                  </a:tcPr>
                </a:tc>
                <a:tc>
                  <a:txBody>
                    <a:bodyPr/>
                    <a:lstStyle/>
                    <a:p>
                      <a:pPr algn="ctr"/>
                      <a:r>
                        <a:rPr sz="1300">
                          <a:solidFill>
                            <a:srgbClr val="444444"/>
                          </a:solidFill>
                        </a:rPr>
                        <a:t>0.2547</a:t>
                      </a:r>
                    </a:p>
                  </a:txBody>
                  <a:tcPr anchor="ctr" marL="54864" marR="54864" marT="18288" marB="18288">
                    <a:solidFill>
                      <a:srgbClr val="FFFFFF"/>
                    </a:solidFill>
                  </a:tcPr>
                </a:tc>
                <a:tc>
                  <a:txBody>
                    <a:bodyPr/>
                    <a:lstStyle/>
                    <a:p>
                      <a:pPr algn="ctr"/>
                      <a:r>
                        <a:rPr sz="1300">
                          <a:solidFill>
                            <a:srgbClr val="444444"/>
                          </a:solidFill>
                        </a:rPr>
                        <a:t>8.2%</a:t>
                      </a:r>
                    </a:p>
                  </a:txBody>
                  <a:tcPr anchor="ctr" marL="54864" marR="54864" marT="18288" marB="18288">
                    <a:solidFill>
                      <a:srgbClr val="FFFFFF"/>
                    </a:solidFill>
                  </a:tcPr>
                </a:tc>
                <a:tc>
                  <a:txBody>
                    <a:bodyPr/>
                    <a:lstStyle/>
                    <a:p>
                      <a:pPr algn="ctr"/>
                      <a:r>
                        <a:rPr sz="1300">
                          <a:solidFill>
                            <a:srgbClr val="444444"/>
                          </a:solidFill>
                        </a:rPr>
                        <a:t>0.0272</a:t>
                      </a:r>
                    </a:p>
                  </a:txBody>
                  <a:tcPr anchor="ctr" marL="54864" marR="54864" marT="18288" marB="18288">
                    <a:solidFill>
                      <a:srgbClr val="FFFFFF"/>
                    </a:solidFill>
                  </a:tcPr>
                </a:tc>
                <a:tc>
                  <a:txBody>
                    <a:bodyPr/>
                    <a:lstStyle/>
                    <a:p>
                      <a:pPr algn="ctr"/>
                      <a:r>
                        <a:rPr sz="1300">
                          <a:solidFill>
                            <a:srgbClr val="444444"/>
                          </a:solidFill>
                        </a:rPr>
                        <a:t>11.0%</a:t>
                      </a:r>
                    </a:p>
                  </a:txBody>
                  <a:tcPr anchor="ctr" marL="54864" marR="54864" marT="18288" marB="18288">
                    <a:solidFill>
                      <a:srgbClr val="FFFFFF"/>
                    </a:solidFill>
                  </a:tcPr>
                </a:tc>
              </a:tr>
              <a:tr h="384048">
                <a:tc>
                  <a:txBody>
                    <a:bodyPr/>
                    <a:lstStyle/>
                    <a:p>
                      <a:pPr algn="l"/>
                      <a:r>
                        <a:rPr sz="1300" b="0">
                          <a:solidFill>
                            <a:srgbClr val="444444"/>
                          </a:solidFill>
                        </a:rPr>
                        <a:t>w/o Diversity</a:t>
                      </a:r>
                    </a:p>
                  </a:txBody>
                  <a:tcPr anchor="ctr" marL="54864" marR="54864" marT="18288" marB="18288">
                    <a:solidFill>
                      <a:srgbClr val="EFF3F8"/>
                    </a:solidFill>
                  </a:tcPr>
                </a:tc>
                <a:tc>
                  <a:txBody>
                    <a:bodyPr/>
                    <a:lstStyle/>
                    <a:p>
                      <a:pPr algn="ctr"/>
                      <a:r>
                        <a:rPr sz="1300" b="0">
                          <a:solidFill>
                            <a:srgbClr val="444444"/>
                          </a:solidFill>
                        </a:rPr>
                        <a:t>0.2614</a:t>
                      </a:r>
                    </a:p>
                  </a:txBody>
                  <a:tcPr anchor="ctr" marL="54864" marR="54864" marT="18288" marB="18288">
                    <a:solidFill>
                      <a:srgbClr val="EFF3F8"/>
                    </a:solidFill>
                  </a:tcPr>
                </a:tc>
                <a:tc>
                  <a:txBody>
                    <a:bodyPr/>
                    <a:lstStyle/>
                    <a:p>
                      <a:pPr algn="ctr"/>
                      <a:r>
                        <a:rPr sz="1300" b="0">
                          <a:solidFill>
                            <a:srgbClr val="444444"/>
                          </a:solidFill>
                        </a:rPr>
                        <a:t>5.8%</a:t>
                      </a:r>
                    </a:p>
                  </a:txBody>
                  <a:tcPr anchor="ctr" marL="54864" marR="54864" marT="18288" marB="18288">
                    <a:solidFill>
                      <a:srgbClr val="EFF3F8"/>
                    </a:solidFill>
                  </a:tcPr>
                </a:tc>
                <a:tc>
                  <a:txBody>
                    <a:bodyPr/>
                    <a:lstStyle/>
                    <a:p>
                      <a:pPr algn="ctr"/>
                      <a:r>
                        <a:rPr sz="1300" b="0">
                          <a:solidFill>
                            <a:srgbClr val="444444"/>
                          </a:solidFill>
                        </a:rPr>
                        <a:t>0.0288</a:t>
                      </a:r>
                    </a:p>
                  </a:txBody>
                  <a:tcPr anchor="ctr" marL="54864" marR="54864" marT="18288" marB="18288">
                    <a:solidFill>
                      <a:srgbClr val="EFF3F8"/>
                    </a:solidFill>
                  </a:tcPr>
                </a:tc>
                <a:tc>
                  <a:txBody>
                    <a:bodyPr/>
                    <a:lstStyle/>
                    <a:p>
                      <a:pPr algn="ctr"/>
                      <a:r>
                        <a:rPr sz="1300" b="0">
                          <a:solidFill>
                            <a:srgbClr val="444444"/>
                          </a:solidFill>
                        </a:rPr>
                        <a:t>5.8%</a:t>
                      </a:r>
                    </a:p>
                  </a:txBody>
                  <a:tcPr anchor="ctr" marL="54864" marR="54864" marT="18288" marB="18288">
                    <a:solidFill>
                      <a:srgbClr val="EFF3F8"/>
                    </a:solidFill>
                  </a:tcPr>
                </a:tc>
              </a:tr>
            </a:tbl>
          </a:graphicData>
        </a:graphic>
      </p:graphicFrame>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Computational Efficiency &amp; Shapley Convergence</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attribution cost is proportionate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Training: DyHuCoG ~2000 s vs HPCF ~1125 s on MovieLens-1M (≈ 1.78×).</a:t>
            </a:r>
          </a:p>
          <a:p>
            <a:pPr>
              <a:lnSpc>
                <a:spcPct val="105000"/>
              </a:lnSpc>
              <a:spcAft>
                <a:spcPts val="1000"/>
              </a:spcAft>
            </a:pPr>
            <a:r>
              <a:rPr sz="1900" b="1">
                <a:solidFill>
                  <a:srgbClr val="1F6FB2"/>
                </a:solidFill>
                <a:latin typeface="Calibri"/>
              </a:rPr>
              <a:t>▪  </a:t>
            </a:r>
            <a:r>
              <a:rPr sz="1900" b="0">
                <a:solidFill>
                  <a:srgbClr val="444444"/>
                </a:solidFill>
                <a:latin typeface="Calibri"/>
              </a:rPr>
              <a:t>Inference: 1.84 ms/query (ML-1M), 8.52 ms (Amazon) — suitable for real-time deployment.</a:t>
            </a:r>
          </a:p>
          <a:p>
            <a:pPr>
              <a:lnSpc>
                <a:spcPct val="105000"/>
              </a:lnSpc>
              <a:spcAft>
                <a:spcPts val="1000"/>
              </a:spcAft>
            </a:pPr>
            <a:r>
              <a:rPr sz="1900" b="1">
                <a:solidFill>
                  <a:srgbClr val="1F6FB2"/>
                </a:solidFill>
                <a:latin typeface="Calibri"/>
              </a:rPr>
              <a:t>▪  </a:t>
            </a:r>
            <a:r>
              <a:rPr sz="1900" b="0">
                <a:solidFill>
                  <a:srgbClr val="444444"/>
                </a:solidFill>
                <a:latin typeface="Calibri"/>
              </a:rPr>
              <a:t>Memory: 4.4 GB vs 4.1 GB (ML-1M); 17.9 vs 16.8 GB (Amazon).</a:t>
            </a:r>
          </a:p>
          <a:p>
            <a:pPr>
              <a:lnSpc>
                <a:spcPct val="105000"/>
              </a:lnSpc>
              <a:spcAft>
                <a:spcPts val="1000"/>
              </a:spcAft>
            </a:pPr>
            <a:r>
              <a:rPr sz="1900" b="1">
                <a:solidFill>
                  <a:srgbClr val="1F6FB2"/>
                </a:solidFill>
                <a:latin typeface="Calibri"/>
              </a:rPr>
              <a:t>▪  </a:t>
            </a:r>
            <a:r>
              <a:rPr sz="1900" b="0">
                <a:solidFill>
                  <a:srgbClr val="444444"/>
                </a:solidFill>
                <a:latin typeface="Calibri"/>
              </a:rPr>
              <a:t>Per-epoch cost: O((L+1)md) + O((M/f)m).</a:t>
            </a:r>
          </a:p>
          <a:p>
            <a:pPr>
              <a:lnSpc>
                <a:spcPct val="105000"/>
              </a:lnSpc>
              <a:spcAft>
                <a:spcPts val="1000"/>
              </a:spcAft>
            </a:pPr>
            <a:r>
              <a:rPr sz="1900" b="1">
                <a:solidFill>
                  <a:srgbClr val="1F6FB2"/>
                </a:solidFill>
                <a:latin typeface="Calibri"/>
              </a:rPr>
              <a:t>▪  </a:t>
            </a:r>
            <a:r>
              <a:rPr sz="1900" b="1">
                <a:solidFill>
                  <a:srgbClr val="444444"/>
                </a:solidFill>
                <a:latin typeface="Calibri"/>
              </a:rPr>
              <a:t>Shapley convergence: M=50 → MSE 1.4×10⁻⁵, ~99% accuracy; higher M gives diminishing returns (M=100 → MSE 3.5×10⁻⁶).</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Statistical Validation (MovieLens-1M)</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Significant AND substantively meaningful</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Paired t-tests on per-user NDCG@20 (n = 6,040 users; df = 6,039).</a:t>
            </a:r>
          </a:p>
          <a:p>
            <a:pPr>
              <a:lnSpc>
                <a:spcPct val="105000"/>
              </a:lnSpc>
              <a:spcAft>
                <a:spcPts val="1000"/>
              </a:spcAft>
            </a:pPr>
            <a:r>
              <a:rPr sz="1900" b="1">
                <a:solidFill>
                  <a:srgbClr val="1F6FB2"/>
                </a:solidFill>
                <a:latin typeface="Calibri"/>
              </a:rPr>
              <a:t>▪  </a:t>
            </a:r>
            <a:r>
              <a:rPr sz="1900" b="0">
                <a:solidFill>
                  <a:srgbClr val="444444"/>
                </a:solidFill>
                <a:latin typeface="Calibri"/>
              </a:rPr>
              <a:t>DyHuCoG outperforms every baseline with extremely small p-values after Holm–Bonferroni correction.</a:t>
            </a:r>
          </a:p>
          <a:p>
            <a:pPr lvl="1">
              <a:lnSpc>
                <a:spcPct val="105000"/>
              </a:lnSpc>
              <a:spcAft>
                <a:spcPts val="700"/>
              </a:spcAft>
            </a:pPr>
            <a:r>
              <a:rPr sz="1900" b="1">
                <a:solidFill>
                  <a:srgbClr val="1F6FB2"/>
                </a:solidFill>
                <a:latin typeface="Calibri"/>
              </a:rPr>
              <a:t>–  </a:t>
            </a:r>
            <a:r>
              <a:rPr sz="1900" b="1">
                <a:solidFill>
                  <a:srgbClr val="444444"/>
                </a:solidFill>
                <a:latin typeface="Calibri"/>
              </a:rPr>
              <a:t>vs HPCF: t = 46.38, Cohen’s d_z = 1.3345, p = 1.81×10⁻²⁷⁰.</a:t>
            </a:r>
          </a:p>
          <a:p>
            <a:pPr lvl="1">
              <a:lnSpc>
                <a:spcPct val="105000"/>
              </a:lnSpc>
              <a:spcAft>
                <a:spcPts val="700"/>
              </a:spcAft>
            </a:pPr>
            <a:r>
              <a:rPr sz="1900" b="1">
                <a:solidFill>
                  <a:srgbClr val="1F6FB2"/>
                </a:solidFill>
                <a:latin typeface="Calibri"/>
              </a:rPr>
              <a:t>–  </a:t>
            </a:r>
            <a:r>
              <a:rPr sz="1900" b="0">
                <a:solidFill>
                  <a:srgbClr val="444444"/>
                </a:solidFill>
                <a:latin typeface="Calibri"/>
              </a:rPr>
              <a:t>Wilcoxon signed-rank test also significant (p &lt; 0.001) as a non-parametric robustness check.</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lvl="1">
              <a:lnSpc>
                <a:spcPct val="105000"/>
              </a:lnSpc>
              <a:spcAft>
                <a:spcPts val="700"/>
              </a:spcAft>
            </a:pPr>
            <a:r>
              <a:rPr sz="1900" b="1">
                <a:solidFill>
                  <a:srgbClr val="1F6FB2"/>
                </a:solidFill>
                <a:latin typeface="Calibri"/>
              </a:rPr>
              <a:t>–  </a:t>
            </a:r>
            <a:r>
              <a:rPr sz="1900" b="0">
                <a:solidFill>
                  <a:srgbClr val="444444"/>
                </a:solidFill>
                <a:latin typeface="Calibri"/>
              </a:rPr>
              <a:t>Effect sizes are large — the improvements are substantively meaningful, not merely statistically visible on a large user base.</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Cold-Start Robustness &amp; Interpretability</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Robust in sparse regimes, and interpretable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5486400" cy="4480560"/>
          </a:xfrm>
          <a:prstGeom prst="rect">
            <a:avLst/>
          </a:prstGeom>
          <a:noFill/>
        </p:spPr>
        <p:txBody>
          <a:bodyPr wrap="square" anchor="t" lIns="0" rIns="0" tIns="0" bIns="0">
            <a:spAutoFit/>
          </a:bodyPr>
          <a:lstStyle/>
          <a:p>
            <a:pPr>
              <a:lnSpc>
                <a:spcPct val="105000"/>
              </a:lnSpc>
              <a:spcAft>
                <a:spcPts val="1000"/>
              </a:spcAft>
            </a:pPr>
            <a:r>
              <a:rPr sz="1800" b="1">
                <a:solidFill>
                  <a:srgbClr val="1F6FB2"/>
                </a:solidFill>
                <a:latin typeface="Calibri"/>
              </a:rPr>
              <a:t>▪  </a:t>
            </a:r>
            <a:r>
              <a:rPr sz="1800" b="0">
                <a:solidFill>
                  <a:srgbClr val="444444"/>
                </a:solidFill>
                <a:latin typeface="Calibri"/>
              </a:rPr>
              <a:t>Cold-start (5 or fewer training interactions): NDCG@20 ≈ 0.061 (user) and 0.057 (item), improving over HPCF by ~10%.</a:t>
            </a:r>
          </a:p>
          <a:p>
            <a:pPr>
              <a:lnSpc>
                <a:spcPct val="105000"/>
              </a:lnSpc>
              <a:spcAft>
                <a:spcPts val="1000"/>
              </a:spcAft>
            </a:pPr>
            <a:r>
              <a:rPr sz="1800" b="1">
                <a:solidFill>
                  <a:srgbClr val="1F6FB2"/>
                </a:solidFill>
                <a:latin typeface="Calibri"/>
              </a:rPr>
              <a:t>▪  </a:t>
            </a:r>
            <a:r>
              <a:rPr sz="1800" b="0">
                <a:solidFill>
                  <a:srgbClr val="444444"/>
                </a:solidFill>
                <a:latin typeface="Calibri"/>
              </a:rPr>
              <a:t>Cross-dataset improvement on the same protocol: MovieLens +9.9%, Amazon +14.8%, Yelp2018 +11.8%.</a:t>
            </a:r>
          </a:p>
          <a:p>
            <a:pPr>
              <a:lnSpc>
                <a:spcPct val="105000"/>
              </a:lnSpc>
              <a:spcAft>
                <a:spcPts val="1000"/>
              </a:spcAft>
            </a:pPr>
            <a:r>
              <a:rPr sz="1800" b="1">
                <a:solidFill>
                  <a:srgbClr val="1F6FB2"/>
                </a:solidFill>
                <a:latin typeface="Calibri"/>
              </a:rPr>
              <a:t>▪  </a:t>
            </a:r>
            <a:r>
              <a:rPr sz="1800" b="0">
                <a:solidFill>
                  <a:srgbClr val="444444"/>
                </a:solidFill>
                <a:latin typeface="Calibri"/>
              </a:rPr>
              <a:t/>
            </a:r>
          </a:p>
          <a:p>
            <a:pPr>
              <a:lnSpc>
                <a:spcPct val="105000"/>
              </a:lnSpc>
              <a:spcAft>
                <a:spcPts val="1000"/>
              </a:spcAft>
            </a:pPr>
            <a:r>
              <a:rPr sz="1800" b="1">
                <a:solidFill>
                  <a:srgbClr val="1F6FB2"/>
                </a:solidFill>
                <a:latin typeface="Calibri"/>
              </a:rPr>
              <a:t>▪  </a:t>
            </a:r>
            <a:r>
              <a:rPr sz="1800" b="1">
                <a:solidFill>
                  <a:srgbClr val="444444"/>
                </a:solidFill>
                <a:latin typeface="Calibri"/>
              </a:rPr>
              <a:t>Interpretability: a SHAP waterfall decomposes a single recommendation into ranking, diversity, context, and preference contributions — structurally tied to the same components that drove training.</a:t>
            </a:r>
          </a:p>
          <a:p>
            <a:pPr lvl="1">
              <a:lnSpc>
                <a:spcPct val="105000"/>
              </a:lnSpc>
              <a:spcAft>
                <a:spcPts val="700"/>
              </a:spcAft>
            </a:pPr>
            <a:r>
              <a:rPr sz="1800" b="1">
                <a:solidFill>
                  <a:srgbClr val="1F6FB2"/>
                </a:solidFill>
                <a:latin typeface="Calibri"/>
              </a:rPr>
              <a:t>–  </a:t>
            </a:r>
            <a:r>
              <a:rPr sz="1800" b="0">
                <a:solidFill>
                  <a:srgbClr val="444444"/>
                </a:solidFill>
                <a:latin typeface="Calibri"/>
              </a:rPr>
              <a:t>Popularity bias: Shapley measures marginal utility, not raw frequency — weak but informative interactions retain influence even for less popular items.</a:t>
            </a:r>
          </a:p>
        </p:txBody>
      </p:sp>
      <p:pic>
        <p:nvPicPr>
          <p:cNvPr id="21" name="Picture 20" descr="dyhucog_waterfall.png"/>
          <p:cNvPicPr>
            <a:picLocks noChangeAspect="1"/>
          </p:cNvPicPr>
          <p:nvPr/>
        </p:nvPicPr>
        <p:blipFill>
          <a:blip r:embed="rId2"/>
          <a:stretch>
            <a:fillRect/>
          </a:stretch>
        </p:blipFill>
        <p:spPr>
          <a:xfrm>
            <a:off x="5852891520000" y="2587076419764"/>
            <a:ext cx="4765925952000" cy="2183767928470"/>
          </a:xfrm>
          <a:prstGeom prst="rect">
            <a:avLst/>
          </a:prstGeom>
        </p:spPr>
      </p:pic>
      <p:sp>
        <p:nvSpPr>
          <p:cNvPr id="22" name="TextBox 21"/>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3" name="TextBox 22"/>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C3 · Findings &amp; Limitations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RQ3 &amp; RQ4 answered</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Rectangle 9"/>
          <p:cNvSpPr/>
          <p:nvPr/>
        </p:nvSpPr>
        <p:spPr>
          <a:xfrm>
            <a:off x="7373538"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Rectangle 12"/>
          <p:cNvSpPr/>
          <p:nvPr/>
        </p:nvSpPr>
        <p:spPr>
          <a:xfrm>
            <a:off x="0" y="1362456"/>
            <a:ext cx="12191695"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C1</a:t>
            </a:r>
          </a:p>
        </p:txBody>
      </p:sp>
      <p:sp>
        <p:nvSpPr>
          <p:cNvPr id="16" name="Rectangle 15"/>
          <p:cNvSpPr/>
          <p:nvPr/>
        </p:nvSpPr>
        <p:spPr>
          <a:xfrm>
            <a:off x="1737360" y="1389888"/>
            <a:ext cx="1051560" cy="237744"/>
          </a:xfrm>
          <a:prstGeom prst="rect">
            <a:avLst/>
          </a:prstGeom>
          <a:solidFill>
            <a:srgbClr val="DD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1389888"/>
            <a:ext cx="1051560" cy="237744"/>
          </a:xfrm>
          <a:prstGeom prst="rect">
            <a:avLst/>
          </a:prstGeom>
          <a:noFill/>
        </p:spPr>
        <p:txBody>
          <a:bodyPr wrap="square" lIns="0" rIns="0" tIns="0" bIns="0" anchor="ctr">
            <a:spAutoFit/>
          </a:bodyPr>
          <a:lstStyle/>
          <a:p>
            <a:pPr algn="ctr">
              <a:lnSpc>
                <a:spcPct val="100000"/>
              </a:lnSpc>
            </a:pPr>
            <a:r>
              <a:rPr sz="1100" b="1" i="0">
                <a:solidFill>
                  <a:srgbClr val="1F6FB2"/>
                </a:solidFill>
                <a:latin typeface="Calibri"/>
              </a:rPr>
              <a:t>C2</a:t>
            </a:r>
          </a:p>
        </p:txBody>
      </p:sp>
      <p:sp>
        <p:nvSpPr>
          <p:cNvPr id="18" name="Rectangle 17"/>
          <p:cNvSpPr/>
          <p:nvPr/>
        </p:nvSpPr>
        <p:spPr>
          <a:xfrm>
            <a:off x="2971800" y="1389888"/>
            <a:ext cx="1051560" cy="237744"/>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389888"/>
            <a:ext cx="1051560" cy="237744"/>
          </a:xfrm>
          <a:prstGeom prst="rect">
            <a:avLst/>
          </a:prstGeom>
          <a:noFill/>
        </p:spPr>
        <p:txBody>
          <a:bodyPr wrap="square" lIns="0" rIns="0" tIns="0" bIns="0" anchor="ctr">
            <a:spAutoFit/>
          </a:bodyPr>
          <a:lstStyle/>
          <a:p>
            <a:pPr algn="ctr">
              <a:lnSpc>
                <a:spcPct val="100000"/>
              </a:lnSpc>
            </a:pPr>
            <a:r>
              <a:rPr sz="1100" b="1" i="0">
                <a:solidFill>
                  <a:srgbClr val="FFFFFF"/>
                </a:solidFill>
                <a:latin typeface="Calibri"/>
              </a:rPr>
              <a:t>C3</a:t>
            </a:r>
          </a:p>
        </p:txBody>
      </p:sp>
      <p:sp>
        <p:nvSpPr>
          <p:cNvPr id="20" name="TextBox 19"/>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Achieved:</a:t>
            </a:r>
          </a:p>
          <a:p>
            <a:pPr lvl="1">
              <a:lnSpc>
                <a:spcPct val="105000"/>
              </a:lnSpc>
              <a:spcAft>
                <a:spcPts val="700"/>
              </a:spcAft>
            </a:pPr>
            <a:r>
              <a:rPr sz="1900" b="1">
                <a:solidFill>
                  <a:srgbClr val="1F6FB2"/>
                </a:solidFill>
                <a:latin typeface="Calibri"/>
              </a:rPr>
              <a:t>–  </a:t>
            </a:r>
            <a:r>
              <a:rPr sz="1900" b="0">
                <a:solidFill>
                  <a:srgbClr val="444444"/>
                </a:solidFill>
                <a:latin typeface="Calibri"/>
              </a:rPr>
              <a:t>Cooperative attribution used as an in-training signal — a stronger claim than the clustering chapters.</a:t>
            </a:r>
          </a:p>
          <a:p>
            <a:pPr lvl="1">
              <a:lnSpc>
                <a:spcPct val="105000"/>
              </a:lnSpc>
              <a:spcAft>
                <a:spcPts val="700"/>
              </a:spcAft>
            </a:pPr>
            <a:r>
              <a:rPr sz="1900" b="1">
                <a:solidFill>
                  <a:srgbClr val="1F6FB2"/>
                </a:solidFill>
                <a:latin typeface="Calibri"/>
              </a:rPr>
              <a:t>–  </a:t>
            </a:r>
            <a:r>
              <a:rPr sz="1900" b="0">
                <a:solidFill>
                  <a:srgbClr val="444444"/>
                </a:solidFill>
                <a:latin typeface="Calibri"/>
              </a:rPr>
              <a:t>The accuracy–diversity trade-off is not structurally fixed; accuracy, coverage, and diversity improve together.</a:t>
            </a:r>
          </a:p>
          <a:p>
            <a:pPr>
              <a:lnSpc>
                <a:spcPct val="105000"/>
              </a:lnSpc>
              <a:spcAft>
                <a:spcPts val="1000"/>
              </a:spcAft>
            </a:pPr>
            <a:r>
              <a:rPr sz="1900" b="1">
                <a:solidFill>
                  <a:srgbClr val="1F6FB2"/>
                </a:solidFill>
                <a:latin typeface="Calibri"/>
              </a:rPr>
              <a:t>▪  </a:t>
            </a:r>
            <a:r>
              <a:rPr sz="1900" b="1">
                <a:solidFill>
                  <a:srgbClr val="444444"/>
                </a:solidFill>
                <a:latin typeface="Calibri"/>
              </a:rPr>
              <a:t>Limitations:</a:t>
            </a:r>
          </a:p>
          <a:p>
            <a:pPr lvl="1">
              <a:lnSpc>
                <a:spcPct val="105000"/>
              </a:lnSpc>
              <a:spcAft>
                <a:spcPts val="700"/>
              </a:spcAft>
            </a:pPr>
            <a:r>
              <a:rPr sz="1900" b="1">
                <a:solidFill>
                  <a:srgbClr val="1F6FB2"/>
                </a:solidFill>
                <a:latin typeface="Calibri"/>
              </a:rPr>
              <a:t>–  </a:t>
            </a:r>
            <a:r>
              <a:rPr sz="1900" b="0">
                <a:solidFill>
                  <a:srgbClr val="444444"/>
                </a:solidFill>
                <a:latin typeface="Calibri"/>
              </a:rPr>
              <a:t>Measurable computational overhead; depends on availability of meaningful context.</a:t>
            </a:r>
          </a:p>
          <a:p>
            <a:pPr lvl="1">
              <a:lnSpc>
                <a:spcPct val="105000"/>
              </a:lnSpc>
              <a:spcAft>
                <a:spcPts val="700"/>
              </a:spcAft>
            </a:pPr>
            <a:r>
              <a:rPr sz="1900" b="1">
                <a:solidFill>
                  <a:srgbClr val="1F6FB2"/>
                </a:solidFill>
                <a:latin typeface="Calibri"/>
              </a:rPr>
              <a:t>–  </a:t>
            </a:r>
            <a:r>
              <a:rPr sz="1900" b="0">
                <a:solidFill>
                  <a:srgbClr val="444444"/>
                </a:solidFill>
                <a:latin typeface="Calibri"/>
              </a:rPr>
              <a:t>Monte Carlo Shapley could be improved by variance reduction.</a:t>
            </a:r>
          </a:p>
          <a:p>
            <a:pPr lvl="1">
              <a:lnSpc>
                <a:spcPct val="105000"/>
              </a:lnSpc>
              <a:spcAft>
                <a:spcPts val="700"/>
              </a:spcAft>
            </a:pPr>
            <a:r>
              <a:rPr sz="1900" b="1">
                <a:solidFill>
                  <a:srgbClr val="1F6FB2"/>
                </a:solidFill>
                <a:latin typeface="Calibri"/>
              </a:rPr>
              <a:t>–  </a:t>
            </a:r>
            <a:r>
              <a:rPr sz="1900" b="0">
                <a:solidFill>
                  <a:srgbClr val="444444"/>
                </a:solidFill>
                <a:latin typeface="Calibri"/>
              </a:rPr>
              <a:t>Ablation is component-wise, not a factorial interaction design.</a:t>
            </a:r>
          </a:p>
          <a:p>
            <a:pPr lvl="1">
              <a:lnSpc>
                <a:spcPct val="105000"/>
              </a:lnSpc>
              <a:spcAft>
                <a:spcPts val="700"/>
              </a:spcAft>
            </a:pPr>
            <a:r>
              <a:rPr sz="1900" b="1">
                <a:solidFill>
                  <a:srgbClr val="1F6FB2"/>
                </a:solidFill>
                <a:latin typeface="Calibri"/>
              </a:rPr>
              <a:t>–  </a:t>
            </a:r>
            <a:r>
              <a:rPr sz="1900" b="0">
                <a:solidFill>
                  <a:srgbClr val="444444"/>
                </a:solidFill>
                <a:latin typeface="Calibri"/>
              </a:rPr>
              <a:t>Baselines finalised through early 2026; later models (e.g. LLM-augmented recommenders) not audited.</a:t>
            </a:r>
          </a:p>
        </p:txBody>
      </p:sp>
      <p:sp>
        <p:nvSpPr>
          <p:cNvPr id="21" name="TextBox 20"/>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22" name="TextBox 21"/>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2743200"/>
            <a:ext cx="9601200" cy="1280160"/>
          </a:xfrm>
          <a:prstGeom prst="rect">
            <a:avLst/>
          </a:prstGeom>
          <a:noFill/>
        </p:spPr>
        <p:txBody>
          <a:bodyPr wrap="square" lIns="0" rIns="0" tIns="0" bIns="0" anchor="t">
            <a:spAutoFit/>
          </a:bodyPr>
          <a:lstStyle/>
          <a:p>
            <a:pPr algn="l">
              <a:lnSpc>
                <a:spcPct val="100000"/>
              </a:lnSpc>
            </a:pPr>
            <a:r>
              <a:rPr sz="4800" b="1" i="0">
                <a:solidFill>
                  <a:srgbClr val="0B2C4A"/>
                </a:solidFill>
                <a:latin typeface="Calibri"/>
              </a:rPr>
              <a:t>Conclusion &amp; Perspectives</a:t>
            </a:r>
          </a:p>
        </p:txBody>
      </p:sp>
      <p:sp>
        <p:nvSpPr>
          <p:cNvPr id="4" name="TextBox 3"/>
          <p:cNvSpPr txBox="1"/>
          <p:nvPr/>
        </p:nvSpPr>
        <p:spPr>
          <a:xfrm>
            <a:off x="1463040" y="4114800"/>
            <a:ext cx="9601200" cy="548640"/>
          </a:xfrm>
          <a:prstGeom prst="rect">
            <a:avLst/>
          </a:prstGeom>
          <a:noFill/>
        </p:spPr>
        <p:txBody>
          <a:bodyPr wrap="square" lIns="0" rIns="0" tIns="0" bIns="0" anchor="t">
            <a:spAutoFit/>
          </a:bodyPr>
          <a:lstStyle/>
          <a:p>
            <a:pPr algn="l">
              <a:lnSpc>
                <a:spcPct val="100000"/>
              </a:lnSpc>
            </a:pPr>
            <a:r>
              <a:rPr sz="2000" b="0" i="1">
                <a:solidFill>
                  <a:srgbClr val="1F6FB2"/>
                </a:solidFill>
                <a:latin typeface="Calibri"/>
              </a:rPr>
              <a:t>Synthesis · Limitations · Future work</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Thesis Synthesis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common thread</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graphicFrame>
        <p:nvGraphicFramePr>
          <p:cNvPr id="13" name="Table 12"/>
          <p:cNvGraphicFramePr>
            <a:graphicFrameLocks noGrp="1"/>
          </p:cNvGraphicFramePr>
          <p:nvPr/>
        </p:nvGraphicFramePr>
        <p:xfrm>
          <a:off x="640080" y="1783080"/>
          <a:ext cx="10881360" cy="1536192"/>
        </p:xfrm>
        <a:graphic>
          <a:graphicData uri="http://schemas.openxmlformats.org/drawingml/2006/table">
            <a:tbl>
              <a:tblPr firstRow="1" bandRow="1">
                <a:tableStyleId>{5C22544A-7EE6-4342-B048-85BDC9FD1C3A}</a:tableStyleId>
              </a:tblPr>
              <a:tblGrid>
                <a:gridCol w="2720340"/>
                <a:gridCol w="2720340"/>
                <a:gridCol w="2720340"/>
                <a:gridCol w="2720340"/>
              </a:tblGrid>
              <a:tr h="384048">
                <a:tc>
                  <a:txBody>
                    <a:bodyPr/>
                    <a:lstStyle/>
                    <a:p>
                      <a:pPr algn="ctr"/>
                      <a:r>
                        <a:rPr sz="1300" b="1">
                          <a:solidFill>
                            <a:srgbClr val="FFFFFF"/>
                          </a:solidFill>
                        </a:rPr>
                        <a:t>Contribution</a:t>
                      </a:r>
                    </a:p>
                  </a:txBody>
                  <a:tcPr anchor="ctr">
                    <a:solidFill>
                      <a:srgbClr val="0B2C4A"/>
                    </a:solidFill>
                  </a:tcPr>
                </a:tc>
                <a:tc>
                  <a:txBody>
                    <a:bodyPr/>
                    <a:lstStyle/>
                    <a:p>
                      <a:pPr algn="ctr"/>
                      <a:r>
                        <a:rPr sz="1300" b="1">
                          <a:solidFill>
                            <a:srgbClr val="FFFFFF"/>
                          </a:solidFill>
                        </a:rPr>
                        <a:t>Main idea</a:t>
                      </a:r>
                    </a:p>
                  </a:txBody>
                  <a:tcPr anchor="ctr">
                    <a:solidFill>
                      <a:srgbClr val="0B2C4A"/>
                    </a:solidFill>
                  </a:tcPr>
                </a:tc>
                <a:tc>
                  <a:txBody>
                    <a:bodyPr/>
                    <a:lstStyle/>
                    <a:p>
                      <a:pPr algn="ctr"/>
                      <a:r>
                        <a:rPr sz="1300" b="1">
                          <a:solidFill>
                            <a:srgbClr val="FFFFFF"/>
                          </a:solidFill>
                        </a:rPr>
                        <a:t>Achievement</a:t>
                      </a:r>
                    </a:p>
                  </a:txBody>
                  <a:tcPr anchor="ctr">
                    <a:solidFill>
                      <a:srgbClr val="0B2C4A"/>
                    </a:solidFill>
                  </a:tcPr>
                </a:tc>
                <a:tc>
                  <a:txBody>
                    <a:bodyPr/>
                    <a:lstStyle/>
                    <a:p>
                      <a:pPr algn="ctr"/>
                      <a:r>
                        <a:rPr sz="1300" b="1">
                          <a:solidFill>
                            <a:srgbClr val="FFFFFF"/>
                          </a:solidFill>
                        </a:rPr>
                        <a:t>Key finding</a:t>
                      </a:r>
                    </a:p>
                  </a:txBody>
                  <a:tcPr anchor="ctr">
                    <a:solidFill>
                      <a:srgbClr val="0B2C4A"/>
                    </a:solidFill>
                  </a:tcPr>
                </a:tc>
              </a:tr>
              <a:tr h="384048">
                <a:tc>
                  <a:txBody>
                    <a:bodyPr/>
                    <a:lstStyle/>
                    <a:p>
                      <a:pPr algn="l"/>
                      <a:r>
                        <a:rPr sz="1300">
                          <a:solidFill>
                            <a:srgbClr val="444444"/>
                          </a:solidFill>
                        </a:rPr>
                        <a:t>C1</a:t>
                      </a:r>
                    </a:p>
                  </a:txBody>
                  <a:tcPr anchor="ctr" marL="54864" marR="54864" marT="18288" marB="18288">
                    <a:solidFill>
                      <a:srgbClr val="FFFFFF"/>
                    </a:solidFill>
                  </a:tcPr>
                </a:tc>
                <a:tc>
                  <a:txBody>
                    <a:bodyPr/>
                    <a:lstStyle/>
                    <a:p>
                      <a:pPr algn="ctr"/>
                      <a:r>
                        <a:rPr sz="1300">
                          <a:solidFill>
                            <a:srgbClr val="444444"/>
                          </a:solidFill>
                        </a:rPr>
                        <a:t>Explain black-box clustering via Shapley</a:t>
                      </a:r>
                    </a:p>
                  </a:txBody>
                  <a:tcPr anchor="ctr" marL="54864" marR="54864" marT="18288" marB="18288">
                    <a:solidFill>
                      <a:srgbClr val="FFFFFF"/>
                    </a:solidFill>
                  </a:tcPr>
                </a:tc>
                <a:tc>
                  <a:txBody>
                    <a:bodyPr/>
                    <a:lstStyle/>
                    <a:p>
                      <a:pPr algn="ctr"/>
                      <a:r>
                        <a:rPr sz="1300">
                          <a:solidFill>
                            <a:srgbClr val="444444"/>
                          </a:solidFill>
                        </a:rPr>
                        <a:t>PCA–KMeans–LightGBM–TreeSHAP pipeline</a:t>
                      </a:r>
                    </a:p>
                  </a:txBody>
                  <a:tcPr anchor="ctr" marL="54864" marR="54864" marT="18288" marB="18288">
                    <a:solidFill>
                      <a:srgbClr val="FFFFFF"/>
                    </a:solidFill>
                  </a:tcPr>
                </a:tc>
                <a:tc>
                  <a:txBody>
                    <a:bodyPr/>
                    <a:lstStyle/>
                    <a:p>
                      <a:pPr algn="ctr"/>
                      <a:r>
                        <a:rPr sz="1300">
                          <a:solidFill>
                            <a:srgbClr val="444444"/>
                          </a:solidFill>
                        </a:rPr>
                        <a:t>Faithful, chemistry-consistent cluster attribution (wine)</a:t>
                      </a:r>
                    </a:p>
                  </a:txBody>
                  <a:tcPr anchor="ctr" marL="54864" marR="54864" marT="18288" marB="18288">
                    <a:solidFill>
                      <a:srgbClr val="FFFFFF"/>
                    </a:solidFill>
                  </a:tcPr>
                </a:tc>
              </a:tr>
              <a:tr h="384048">
                <a:tc>
                  <a:txBody>
                    <a:bodyPr/>
                    <a:lstStyle/>
                    <a:p>
                      <a:pPr algn="l"/>
                      <a:r>
                        <a:rPr sz="1300" b="0">
                          <a:solidFill>
                            <a:srgbClr val="444444"/>
                          </a:solidFill>
                        </a:rPr>
                        <a:t>C2</a:t>
                      </a:r>
                    </a:p>
                  </a:txBody>
                  <a:tcPr anchor="ctr" marL="54864" marR="54864" marT="18288" marB="18288">
                    <a:solidFill>
                      <a:srgbClr val="EFF3F8"/>
                    </a:solidFill>
                  </a:tcPr>
                </a:tc>
                <a:tc>
                  <a:txBody>
                    <a:bodyPr/>
                    <a:lstStyle/>
                    <a:p>
                      <a:pPr algn="ctr"/>
                      <a:r>
                        <a:rPr sz="1300" b="0">
                          <a:solidFill>
                            <a:srgbClr val="444444"/>
                          </a:solidFill>
                        </a:rPr>
                        <a:t>Multi-level, large-scale clustering XAI</a:t>
                      </a:r>
                    </a:p>
                  </a:txBody>
                  <a:tcPr anchor="ctr" marL="54864" marR="54864" marT="18288" marB="18288">
                    <a:solidFill>
                      <a:srgbClr val="EFF3F8"/>
                    </a:solidFill>
                  </a:tcPr>
                </a:tc>
                <a:tc>
                  <a:txBody>
                    <a:bodyPr/>
                    <a:lstStyle/>
                    <a:p>
                      <a:pPr algn="ctr"/>
                      <a:r>
                        <a:rPr sz="1300" b="0">
                          <a:solidFill>
                            <a:srgbClr val="444444"/>
                          </a:solidFill>
                        </a:rPr>
                        <a:t>Cross-level SHAP aggregation + Prop. 6.1</a:t>
                      </a:r>
                    </a:p>
                  </a:txBody>
                  <a:tcPr anchor="ctr" marL="54864" marR="54864" marT="18288" marB="18288">
                    <a:solidFill>
                      <a:srgbClr val="EFF3F8"/>
                    </a:solidFill>
                  </a:tcPr>
                </a:tc>
                <a:tc>
                  <a:txBody>
                    <a:bodyPr/>
                    <a:lstStyle/>
                    <a:p>
                      <a:pPr algn="ctr"/>
                      <a:r>
                        <a:rPr sz="1300" b="0">
                          <a:solidFill>
                            <a:srgbClr val="444444"/>
                          </a:solidFill>
                        </a:rPr>
                        <a:t>Coherent under hierarchy; interprets differences, not inconsistency</a:t>
                      </a:r>
                    </a:p>
                  </a:txBody>
                  <a:tcPr anchor="ctr" marL="54864" marR="54864" marT="18288" marB="18288">
                    <a:solidFill>
                      <a:srgbClr val="EFF3F8"/>
                    </a:solidFill>
                  </a:tcPr>
                </a:tc>
              </a:tr>
              <a:tr h="384048">
                <a:tc>
                  <a:txBody>
                    <a:bodyPr/>
                    <a:lstStyle/>
                    <a:p>
                      <a:pPr algn="l"/>
                      <a:r>
                        <a:rPr sz="1300">
                          <a:solidFill>
                            <a:srgbClr val="444444"/>
                          </a:solidFill>
                        </a:rPr>
                        <a:t>C3</a:t>
                      </a:r>
                    </a:p>
                  </a:txBody>
                  <a:tcPr anchor="ctr" marL="54864" marR="54864" marT="18288" marB="18288">
                    <a:solidFill>
                      <a:srgbClr val="FFFFFF"/>
                    </a:solidFill>
                  </a:tcPr>
                </a:tc>
                <a:tc>
                  <a:txBody>
                    <a:bodyPr/>
                    <a:lstStyle/>
                    <a:p>
                      <a:pPr algn="ctr"/>
                      <a:r>
                        <a:rPr sz="1300">
                          <a:solidFill>
                            <a:srgbClr val="444444"/>
                          </a:solidFill>
                        </a:rPr>
                        <a:t>DyHuCoG hypergraph cooperative game</a:t>
                      </a:r>
                    </a:p>
                  </a:txBody>
                  <a:tcPr anchor="ctr" marL="54864" marR="54864" marT="18288" marB="18288">
                    <a:solidFill>
                      <a:srgbClr val="FFFFFF"/>
                    </a:solidFill>
                  </a:tcPr>
                </a:tc>
                <a:tc>
                  <a:txBody>
                    <a:bodyPr/>
                    <a:lstStyle/>
                    <a:p>
                      <a:pPr algn="ctr"/>
                      <a:r>
                        <a:rPr sz="1300">
                          <a:solidFill>
                            <a:srgbClr val="444444"/>
                          </a:solidFill>
                        </a:rPr>
                        <a:t>Preference-aware Shapley as in-training signal</a:t>
                      </a:r>
                    </a:p>
                  </a:txBody>
                  <a:tcPr anchor="ctr" marL="54864" marR="54864" marT="18288" marB="18288">
                    <a:solidFill>
                      <a:srgbClr val="FFFFFF"/>
                    </a:solidFill>
                  </a:tcPr>
                </a:tc>
                <a:tc>
                  <a:txBody>
                    <a:bodyPr/>
                    <a:lstStyle/>
                    <a:p>
                      <a:pPr algn="ctr"/>
                      <a:r>
                        <a:rPr sz="1300">
                          <a:solidFill>
                            <a:srgbClr val="444444"/>
                          </a:solidFill>
                        </a:rPr>
                        <a:t>Accuracy + coverage + diversity improve together (ML &amp; Amazon)</a:t>
                      </a:r>
                    </a:p>
                  </a:txBody>
                  <a:tcPr anchor="ctr" marL="54864" marR="54864" marT="18288" marB="18288">
                    <a:solidFill>
                      <a:srgbClr val="FFFFFF"/>
                    </a:solidFill>
                  </a:tcPr>
                </a:tc>
              </a:tr>
            </a:tbl>
          </a:graphicData>
        </a:graphic>
      </p:graphicFrame>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Published Research Papers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Three publications → Chapters 5–7</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graphicFrame>
        <p:nvGraphicFramePr>
          <p:cNvPr id="13" name="Table 12"/>
          <p:cNvGraphicFramePr>
            <a:graphicFrameLocks noGrp="1"/>
          </p:cNvGraphicFramePr>
          <p:nvPr/>
        </p:nvGraphicFramePr>
        <p:xfrm>
          <a:off x="640080" y="1783080"/>
          <a:ext cx="10881360" cy="1536192"/>
        </p:xfrm>
        <a:graphic>
          <a:graphicData uri="http://schemas.openxmlformats.org/drawingml/2006/table">
            <a:tbl>
              <a:tblPr firstRow="1" bandRow="1">
                <a:tableStyleId>{5C22544A-7EE6-4342-B048-85BDC9FD1C3A}</a:tableStyleId>
              </a:tblPr>
              <a:tblGrid>
                <a:gridCol w="2720340"/>
                <a:gridCol w="2720340"/>
                <a:gridCol w="2720340"/>
                <a:gridCol w="2720340"/>
              </a:tblGrid>
              <a:tr h="384048">
                <a:tc>
                  <a:txBody>
                    <a:bodyPr/>
                    <a:lstStyle/>
                    <a:p>
                      <a:pPr algn="ctr"/>
                      <a:r>
                        <a:rPr sz="1300" b="1">
                          <a:solidFill>
                            <a:srgbClr val="FFFFFF"/>
                          </a:solidFill>
                        </a:rPr>
                        <a:t>No.</a:t>
                      </a:r>
                    </a:p>
                  </a:txBody>
                  <a:tcPr anchor="ctr">
                    <a:solidFill>
                      <a:srgbClr val="0B2C4A"/>
                    </a:solidFill>
                  </a:tcPr>
                </a:tc>
                <a:tc>
                  <a:txBody>
                    <a:bodyPr/>
                    <a:lstStyle/>
                    <a:p>
                      <a:pPr algn="ctr"/>
                      <a:r>
                        <a:rPr sz="1300" b="1">
                          <a:solidFill>
                            <a:srgbClr val="FFFFFF"/>
                          </a:solidFill>
                        </a:rPr>
                        <a:t>Title</a:t>
                      </a:r>
                    </a:p>
                  </a:txBody>
                  <a:tcPr anchor="ctr">
                    <a:solidFill>
                      <a:srgbClr val="0B2C4A"/>
                    </a:solidFill>
                  </a:tcPr>
                </a:tc>
                <a:tc>
                  <a:txBody>
                    <a:bodyPr/>
                    <a:lstStyle/>
                    <a:p>
                      <a:pPr algn="ctr"/>
                      <a:r>
                        <a:rPr sz="1300" b="1">
                          <a:solidFill>
                            <a:srgbClr val="FFFFFF"/>
                          </a:solidFill>
                        </a:rPr>
                        <a:t>Venue</a:t>
                      </a:r>
                    </a:p>
                  </a:txBody>
                  <a:tcPr anchor="ctr">
                    <a:solidFill>
                      <a:srgbClr val="0B2C4A"/>
                    </a:solidFill>
                  </a:tcPr>
                </a:tc>
                <a:tc>
                  <a:txBody>
                    <a:bodyPr/>
                    <a:lstStyle/>
                    <a:p>
                      <a:pPr algn="ctr"/>
                      <a:r>
                        <a:rPr sz="1300" b="1">
                          <a:solidFill>
                            <a:srgbClr val="FFFFFF"/>
                          </a:solidFill>
                        </a:rPr>
                        <a:t>Status</a:t>
                      </a:r>
                    </a:p>
                  </a:txBody>
                  <a:tcPr anchor="ctr">
                    <a:solidFill>
                      <a:srgbClr val="0B2C4A"/>
                    </a:solidFill>
                  </a:tcPr>
                </a:tc>
              </a:tr>
              <a:tr h="384048">
                <a:tc>
                  <a:txBody>
                    <a:bodyPr/>
                    <a:lstStyle/>
                    <a:p>
                      <a:pPr algn="l"/>
                      <a:r>
                        <a:rPr sz="1300">
                          <a:solidFill>
                            <a:srgbClr val="444444"/>
                          </a:solidFill>
                        </a:rPr>
                        <a:t>I</a:t>
                      </a:r>
                    </a:p>
                  </a:txBody>
                  <a:tcPr anchor="ctr" marL="54864" marR="54864" marT="18288" marB="18288">
                    <a:solidFill>
                      <a:srgbClr val="FFFFFF"/>
                    </a:solidFill>
                  </a:tcPr>
                </a:tc>
                <a:tc>
                  <a:txBody>
                    <a:bodyPr/>
                    <a:lstStyle/>
                    <a:p>
                      <a:pPr algn="ctr"/>
                      <a:r>
                        <a:rPr sz="1300">
                          <a:solidFill>
                            <a:srgbClr val="444444"/>
                          </a:solidFill>
                        </a:rPr>
                        <a:t>Shapley Values for Explaining the Black Box Nature of Machine Learning Model Clustering</a:t>
                      </a:r>
                    </a:p>
                  </a:txBody>
                  <a:tcPr anchor="ctr" marL="54864" marR="54864" marT="18288" marB="18288">
                    <a:solidFill>
                      <a:srgbClr val="FFFFFF"/>
                    </a:solidFill>
                  </a:tcPr>
                </a:tc>
                <a:tc>
                  <a:txBody>
                    <a:bodyPr/>
                    <a:lstStyle/>
                    <a:p>
                      <a:pPr algn="ctr"/>
                      <a:r>
                        <a:rPr sz="1300">
                          <a:solidFill>
                            <a:srgbClr val="444444"/>
                          </a:solidFill>
                        </a:rPr>
                        <a:t>Procedia Computer Science 220, 806–811</a:t>
                      </a:r>
                    </a:p>
                  </a:txBody>
                  <a:tcPr anchor="ctr" marL="54864" marR="54864" marT="18288" marB="18288">
                    <a:solidFill>
                      <a:srgbClr val="FFFFFF"/>
                    </a:solidFill>
                  </a:tcPr>
                </a:tc>
                <a:tc>
                  <a:txBody>
                    <a:bodyPr/>
                    <a:lstStyle/>
                    <a:p>
                      <a:pPr algn="ctr"/>
                      <a:r>
                        <a:rPr sz="1300">
                          <a:solidFill>
                            <a:srgbClr val="444444"/>
                          </a:solidFill>
                        </a:rPr>
                        <a:t>Published, 2023</a:t>
                      </a:r>
                    </a:p>
                  </a:txBody>
                  <a:tcPr anchor="ctr" marL="54864" marR="54864" marT="18288" marB="18288">
                    <a:solidFill>
                      <a:srgbClr val="FFFFFF"/>
                    </a:solidFill>
                  </a:tcPr>
                </a:tc>
              </a:tr>
              <a:tr h="384048">
                <a:tc>
                  <a:txBody>
                    <a:bodyPr/>
                    <a:lstStyle/>
                    <a:p>
                      <a:pPr algn="l"/>
                      <a:r>
                        <a:rPr sz="1300" b="0">
                          <a:solidFill>
                            <a:srgbClr val="444444"/>
                          </a:solidFill>
                        </a:rPr>
                        <a:t>II</a:t>
                      </a:r>
                    </a:p>
                  </a:txBody>
                  <a:tcPr anchor="ctr" marL="54864" marR="54864" marT="18288" marB="18288">
                    <a:solidFill>
                      <a:srgbClr val="EFF3F8"/>
                    </a:solidFill>
                  </a:tcPr>
                </a:tc>
                <a:tc>
                  <a:txBody>
                    <a:bodyPr/>
                    <a:lstStyle/>
                    <a:p>
                      <a:pPr algn="ctr"/>
                      <a:r>
                        <a:rPr sz="1300" b="0">
                          <a:solidFill>
                            <a:srgbClr val="444444"/>
                          </a:solidFill>
                        </a:rPr>
                        <a:t>Game Theory Meets Explainable AI: An Enhanced Approach to Understanding Black Box Models Through Shapley Values</a:t>
                      </a:r>
                    </a:p>
                  </a:txBody>
                  <a:tcPr anchor="ctr" marL="54864" marR="54864" marT="18288" marB="18288">
                    <a:solidFill>
                      <a:srgbClr val="EFF3F8"/>
                    </a:solidFill>
                  </a:tcPr>
                </a:tc>
                <a:tc>
                  <a:txBody>
                    <a:bodyPr/>
                    <a:lstStyle/>
                    <a:p>
                      <a:pPr algn="ctr"/>
                      <a:r>
                        <a:rPr sz="1300" b="0">
                          <a:solidFill>
                            <a:srgbClr val="444444"/>
                          </a:solidFill>
                        </a:rPr>
                        <a:t>IJACSA 16(7), 716–725</a:t>
                      </a:r>
                    </a:p>
                  </a:txBody>
                  <a:tcPr anchor="ctr" marL="54864" marR="54864" marT="18288" marB="18288">
                    <a:solidFill>
                      <a:srgbClr val="EFF3F8"/>
                    </a:solidFill>
                  </a:tcPr>
                </a:tc>
                <a:tc>
                  <a:txBody>
                    <a:bodyPr/>
                    <a:lstStyle/>
                    <a:p>
                      <a:pPr algn="ctr"/>
                      <a:r>
                        <a:rPr sz="1300" b="0">
                          <a:solidFill>
                            <a:srgbClr val="444444"/>
                          </a:solidFill>
                        </a:rPr>
                        <a:t>Published, 2025</a:t>
                      </a:r>
                    </a:p>
                  </a:txBody>
                  <a:tcPr anchor="ctr" marL="54864" marR="54864" marT="18288" marB="18288">
                    <a:solidFill>
                      <a:srgbClr val="EFF3F8"/>
                    </a:solidFill>
                  </a:tcPr>
                </a:tc>
              </a:tr>
              <a:tr h="384048">
                <a:tc>
                  <a:txBody>
                    <a:bodyPr/>
                    <a:lstStyle/>
                    <a:p>
                      <a:pPr algn="l"/>
                      <a:r>
                        <a:rPr sz="1300">
                          <a:solidFill>
                            <a:srgbClr val="444444"/>
                          </a:solidFill>
                        </a:rPr>
                        <a:t>III</a:t>
                      </a:r>
                    </a:p>
                  </a:txBody>
                  <a:tcPr anchor="ctr" marL="54864" marR="54864" marT="18288" marB="18288">
                    <a:solidFill>
                      <a:srgbClr val="FFFFFF"/>
                    </a:solidFill>
                  </a:tcPr>
                </a:tc>
                <a:tc>
                  <a:txBody>
                    <a:bodyPr/>
                    <a:lstStyle/>
                    <a:p>
                      <a:pPr algn="ctr"/>
                      <a:r>
                        <a:rPr sz="1300">
                          <a:solidFill>
                            <a:srgbClr val="444444"/>
                          </a:solidFill>
                        </a:rPr>
                        <a:t>DyHuCoG: A Dynamic Hypergraph Cooperative Game for Preference-aware Recommendation</a:t>
                      </a:r>
                    </a:p>
                  </a:txBody>
                  <a:tcPr anchor="ctr" marL="54864" marR="54864" marT="18288" marB="18288">
                    <a:solidFill>
                      <a:srgbClr val="FFFFFF"/>
                    </a:solidFill>
                  </a:tcPr>
                </a:tc>
                <a:tc>
                  <a:txBody>
                    <a:bodyPr/>
                    <a:lstStyle/>
                    <a:p>
                      <a:pPr algn="ctr"/>
                      <a:r>
                        <a:rPr sz="1300">
                          <a:solidFill>
                            <a:srgbClr val="444444"/>
                          </a:solidFill>
                        </a:rPr>
                        <a:t>IJIES 19(2), 887–902</a:t>
                      </a:r>
                    </a:p>
                  </a:txBody>
                  <a:tcPr anchor="ctr" marL="54864" marR="54864" marT="18288" marB="18288">
                    <a:solidFill>
                      <a:srgbClr val="FFFFFF"/>
                    </a:solidFill>
                  </a:tcPr>
                </a:tc>
                <a:tc>
                  <a:txBody>
                    <a:bodyPr/>
                    <a:lstStyle/>
                    <a:p>
                      <a:pPr algn="ctr"/>
                      <a:r>
                        <a:rPr sz="1300">
                          <a:solidFill>
                            <a:srgbClr val="444444"/>
                          </a:solidFill>
                        </a:rPr>
                        <a:t>Published, 2026</a:t>
                      </a:r>
                    </a:p>
                  </a:txBody>
                  <a:tcPr anchor="ctr" marL="54864" marR="54864" marT="18288" marB="18288">
                    <a:solidFill>
                      <a:srgbClr val="FFFFFF"/>
                    </a:solidFill>
                  </a:tcPr>
                </a:tc>
              </a:tr>
            </a:tbl>
          </a:graphicData>
        </a:graphic>
      </p:graphicFrame>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Thesis-Level Limitations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Scope is deliberate</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Rectangle 7"/>
          <p:cNvSpPr/>
          <p:nvPr/>
        </p:nvSpPr>
        <p:spPr>
          <a:xfrm>
            <a:off x="2555382"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Context &amp; Problematic</a:t>
            </a:r>
          </a:p>
        </p:txBody>
      </p:sp>
      <p:sp>
        <p:nvSpPr>
          <p:cNvPr id="10" name="TextBox 9"/>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1" name="TextBox 10"/>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Computational – exact Shapley computation is intractable; every contribution relies on approximation, surrogates, or restricted reporting.</a:t>
            </a:r>
          </a:p>
          <a:p>
            <a:pPr>
              <a:lnSpc>
                <a:spcPct val="105000"/>
              </a:lnSpc>
              <a:spcAft>
                <a:spcPts val="1000"/>
              </a:spcAft>
            </a:pPr>
            <a:r>
              <a:rPr sz="1900" b="1">
                <a:solidFill>
                  <a:srgbClr val="1F6FB2"/>
                </a:solidFill>
                <a:latin typeface="Calibri"/>
              </a:rPr>
              <a:t>▪  </a:t>
            </a:r>
            <a:r>
              <a:rPr sz="1900" b="0">
                <a:solidFill>
                  <a:srgbClr val="444444"/>
                </a:solidFill>
                <a:latin typeface="Calibri"/>
              </a:rPr>
              <a:t>Methodological – clustering depends on surrogate fidelity; recommendation depends on stable approximate contributions and adequate context.</a:t>
            </a:r>
          </a:p>
          <a:p>
            <a:pPr>
              <a:lnSpc>
                <a:spcPct val="105000"/>
              </a:lnSpc>
              <a:spcAft>
                <a:spcPts val="1000"/>
              </a:spcAft>
            </a:pPr>
            <a:r>
              <a:rPr sz="1900" b="1">
                <a:solidFill>
                  <a:srgbClr val="1F6FB2"/>
                </a:solidFill>
                <a:latin typeface="Calibri"/>
              </a:rPr>
              <a:t>▪  </a:t>
            </a:r>
            <a:r>
              <a:rPr sz="1900" b="0">
                <a:solidFill>
                  <a:srgbClr val="444444"/>
                </a:solidFill>
                <a:latin typeface="Calibri"/>
              </a:rPr>
              <a:t>Empirical – tabular clustering + benchmark recommendation; no multimodal, sequential, or online deployment; no dedicated human-subject actionability study.</a:t>
            </a:r>
          </a:p>
          <a:p>
            <a:pPr>
              <a:lnSpc>
                <a:spcPct val="105000"/>
              </a:lnSpc>
              <a:spcAft>
                <a:spcPts val="1000"/>
              </a:spcAft>
            </a:pPr>
            <a:r>
              <a:rPr sz="1900" b="1">
                <a:solidFill>
                  <a:srgbClr val="1F6FB2"/>
                </a:solidFill>
                <a:latin typeface="Calibri"/>
              </a:rPr>
              <a:t>▪  </a:t>
            </a:r>
            <a:r>
              <a:rPr sz="1900" b="0">
                <a:solidFill>
                  <a:srgbClr val="444444"/>
                </a:solidFill>
                <a:latin typeface="Calibri"/>
              </a:rPr>
              <a:t>Claim scope – a coherent and productive perspective, not one fully unified mathematical framework eliminating all tension between explanation, optimisation, diversity, fairness, and governance.</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49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Future Research Directions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Where the work goes next</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Scalable cooperative attribution – lower-variance Shapley, learned proposal distributions, adaptive refresh policies.</a:t>
            </a:r>
          </a:p>
          <a:p>
            <a:pPr>
              <a:lnSpc>
                <a:spcPct val="105000"/>
              </a:lnSpc>
              <a:spcAft>
                <a:spcPts val="1000"/>
              </a:spcAft>
            </a:pPr>
            <a:r>
              <a:rPr sz="1900" b="1">
                <a:solidFill>
                  <a:srgbClr val="1F6FB2"/>
                </a:solidFill>
                <a:latin typeface="Calibri"/>
              </a:rPr>
              <a:t>▪  </a:t>
            </a:r>
            <a:r>
              <a:rPr sz="1900" b="0">
                <a:solidFill>
                  <a:srgbClr val="444444"/>
                </a:solidFill>
                <a:latin typeface="Calibri"/>
              </a:rPr>
              <a:t>Online / streaming recommendation – truly incremental settings with continuously evolving interaction graphs and delayed feedback.</a:t>
            </a:r>
          </a:p>
          <a:p>
            <a:pPr>
              <a:lnSpc>
                <a:spcPct val="105000"/>
              </a:lnSpc>
              <a:spcAft>
                <a:spcPts val="1000"/>
              </a:spcAft>
            </a:pPr>
            <a:r>
              <a:rPr sz="1900" b="1">
                <a:solidFill>
                  <a:srgbClr val="1F6FB2"/>
                </a:solidFill>
                <a:latin typeface="Calibri"/>
              </a:rPr>
              <a:t>▪  </a:t>
            </a:r>
            <a:r>
              <a:rPr sz="1900" b="0">
                <a:solidFill>
                  <a:srgbClr val="444444"/>
                </a:solidFill>
                <a:latin typeface="Calibri"/>
              </a:rPr>
              <a:t>Richer human-centred evaluation – do explanations measurably improve analyst judgement, user trust, intervention quality, or perceived fairness?</a:t>
            </a:r>
          </a:p>
          <a:p>
            <a:pPr>
              <a:lnSpc>
                <a:spcPct val="105000"/>
              </a:lnSpc>
              <a:spcAft>
                <a:spcPts val="1000"/>
              </a:spcAft>
            </a:pPr>
            <a:r>
              <a:rPr sz="1900" b="1">
                <a:solidFill>
                  <a:srgbClr val="1F6FB2"/>
                </a:solidFill>
                <a:latin typeface="Calibri"/>
              </a:rPr>
              <a:t>▪  </a:t>
            </a:r>
            <a:r>
              <a:rPr sz="1900" b="0">
                <a:solidFill>
                  <a:srgbClr val="444444"/>
                </a:solidFill>
                <a:latin typeface="Calibri"/>
              </a:rPr>
              <a:t>Broader trustworthy-AI evaluation – exposure fairness, transparency requirements, governance-oriented auditing.</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Thesis Answer &amp; Key Outcomes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The central claim, stated</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Thesis answer: cooperative game theory can function as a shared methodological perspective for actionable explanation across clustering and recommendation.</a:t>
            </a:r>
          </a:p>
          <a:p>
            <a:pPr>
              <a:lnSpc>
                <a:spcPct val="105000"/>
              </a:lnSpc>
              <a:spcAft>
                <a:spcPts val="1000"/>
              </a:spcAft>
            </a:pPr>
            <a:r>
              <a:rPr sz="1900" b="1">
                <a:solidFill>
                  <a:srgbClr val="1F6FB2"/>
                </a:solidFill>
                <a:latin typeface="Calibri"/>
              </a:rPr>
              <a:t>▪  </a:t>
            </a:r>
            <a:r>
              <a:rPr sz="1900" b="0">
                <a:solidFill>
                  <a:srgbClr val="444444"/>
                </a:solidFill>
                <a:latin typeface="Calibri"/>
              </a:rPr>
              <a:t/>
            </a:r>
          </a:p>
          <a:p>
            <a:pPr>
              <a:lnSpc>
                <a:spcPct val="105000"/>
              </a:lnSpc>
              <a:spcAft>
                <a:spcPts val="1000"/>
              </a:spcAft>
            </a:pPr>
            <a:r>
              <a:rPr sz="1900" b="1">
                <a:solidFill>
                  <a:srgbClr val="1F6FB2"/>
                </a:solidFill>
                <a:latin typeface="Calibri"/>
              </a:rPr>
              <a:t>▪  </a:t>
            </a:r>
            <a:r>
              <a:rPr sz="1900" b="1">
                <a:solidFill>
                  <a:srgbClr val="444444"/>
                </a:solidFill>
                <a:latin typeface="Calibri"/>
              </a:rPr>
              <a:t>Key outcomes:</a:t>
            </a:r>
          </a:p>
          <a:p>
            <a:pPr lvl="1">
              <a:lnSpc>
                <a:spcPct val="105000"/>
              </a:lnSpc>
              <a:spcAft>
                <a:spcPts val="700"/>
              </a:spcAft>
            </a:pPr>
            <a:r>
              <a:rPr sz="1900" b="1">
                <a:solidFill>
                  <a:srgbClr val="1F6FB2"/>
                </a:solidFill>
                <a:latin typeface="Calibri"/>
              </a:rPr>
              <a:t>–  </a:t>
            </a:r>
            <a:r>
              <a:rPr sz="1900" b="0">
                <a:solidFill>
                  <a:srgbClr val="444444"/>
                </a:solidFill>
                <a:latin typeface="Calibri"/>
              </a:rPr>
              <a:t>Shapley attribution as a common formal language for feature, interaction, and context importance allocation.</a:t>
            </a:r>
          </a:p>
          <a:p>
            <a:pPr lvl="1">
              <a:lnSpc>
                <a:spcPct val="105000"/>
              </a:lnSpc>
              <a:spcAft>
                <a:spcPts val="700"/>
              </a:spcAft>
            </a:pPr>
            <a:r>
              <a:rPr sz="1900" b="1">
                <a:solidFill>
                  <a:srgbClr val="1F6FB2"/>
                </a:solidFill>
                <a:latin typeface="Calibri"/>
              </a:rPr>
              <a:t>–  </a:t>
            </a:r>
            <a:r>
              <a:rPr sz="1900" b="0">
                <a:solidFill>
                  <a:srgbClr val="444444"/>
                </a:solidFill>
                <a:latin typeface="Calibri"/>
              </a:rPr>
              <a:t>Faithful clustering explanation, hierarchical explanatory coherence, and contribution-aware recommendation learning.</a:t>
            </a:r>
          </a:p>
          <a:p>
            <a:pPr lvl="1">
              <a:lnSpc>
                <a:spcPct val="105000"/>
              </a:lnSpc>
              <a:spcAft>
                <a:spcPts val="700"/>
              </a:spcAft>
            </a:pPr>
            <a:r>
              <a:rPr sz="1900" b="1">
                <a:solidFill>
                  <a:srgbClr val="1F6FB2"/>
                </a:solidFill>
                <a:latin typeface="Calibri"/>
              </a:rPr>
              <a:t>–  </a:t>
            </a:r>
            <a:r>
              <a:rPr sz="1900" b="0">
                <a:solidFill>
                  <a:srgbClr val="444444"/>
                </a:solidFill>
                <a:latin typeface="Calibri"/>
              </a:rPr>
              <a:t>Explanation as method, not commentary — from post-hoc description to in-training guidance.</a:t>
            </a:r>
          </a:p>
          <a:p>
            <a:pPr lvl="1">
              <a:lnSpc>
                <a:spcPct val="105000"/>
              </a:lnSpc>
              <a:spcAft>
                <a:spcPts val="700"/>
              </a:spcAft>
            </a:pPr>
            <a:r>
              <a:rPr sz="1900" b="1">
                <a:solidFill>
                  <a:srgbClr val="1F6FB2"/>
                </a:solidFill>
                <a:latin typeface="Calibri"/>
              </a:rPr>
              <a:t>–  </a:t>
            </a:r>
            <a:r>
              <a:rPr sz="1900" b="0">
                <a:solidFill>
                  <a:srgbClr val="444444"/>
                </a:solidFill>
                <a:latin typeface="Calibri"/>
              </a:rPr>
              <a:t>Aligned with trustworthy-AI requirements (EU AI Act, OECD principles, GDPR).</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51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References</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Key sources</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0">
                <a:solidFill>
                  <a:srgbClr val="444444"/>
                </a:solidFill>
                <a:latin typeface="Calibri"/>
              </a:rPr>
              <a:t>R1  EU AI Act (Reg. 2024/1689) - transparency and explainability duties for high-risk AI.</a:t>
            </a:r>
          </a:p>
          <a:p>
            <a:pPr>
              <a:lnSpc>
                <a:spcPct val="105000"/>
              </a:lnSpc>
              <a:spcAft>
                <a:spcPts val="1000"/>
              </a:spcAft>
            </a:pPr>
            <a:r>
              <a:rPr sz="1900" b="1">
                <a:solidFill>
                  <a:srgbClr val="1F6FB2"/>
                </a:solidFill>
                <a:latin typeface="Calibri"/>
              </a:rPr>
              <a:t>▪  </a:t>
            </a:r>
            <a:r>
              <a:rPr sz="1900" b="0">
                <a:solidFill>
                  <a:srgbClr val="444444"/>
                </a:solidFill>
                <a:latin typeface="Calibri"/>
              </a:rPr>
              <a:t>R2  Shapley, L.S. (1953). A value for n-person games. Annals of Mathematics Studies 28.</a:t>
            </a:r>
          </a:p>
          <a:p>
            <a:pPr>
              <a:lnSpc>
                <a:spcPct val="105000"/>
              </a:lnSpc>
              <a:spcAft>
                <a:spcPts val="1000"/>
              </a:spcAft>
            </a:pPr>
            <a:r>
              <a:rPr sz="1900" b="1">
                <a:solidFill>
                  <a:srgbClr val="1F6FB2"/>
                </a:solidFill>
                <a:latin typeface="Calibri"/>
              </a:rPr>
              <a:t>▪  </a:t>
            </a:r>
            <a:r>
              <a:rPr sz="1900" b="0">
                <a:solidFill>
                  <a:srgbClr val="444444"/>
                </a:solidFill>
                <a:latin typeface="Calibri"/>
              </a:rPr>
              <a:t>R3  Lundberg &amp; Lee (2017). A Unified Approach to Interpreting Model Predictions (SHAP / TreeSHAP). NeurIPS.</a:t>
            </a:r>
          </a:p>
          <a:p>
            <a:pPr>
              <a:lnSpc>
                <a:spcPct val="105000"/>
              </a:lnSpc>
              <a:spcAft>
                <a:spcPts val="1000"/>
              </a:spcAft>
            </a:pPr>
            <a:r>
              <a:rPr sz="1900" b="1">
                <a:solidFill>
                  <a:srgbClr val="1F6FB2"/>
                </a:solidFill>
                <a:latin typeface="Calibri"/>
              </a:rPr>
              <a:t>▪  </a:t>
            </a:r>
            <a:r>
              <a:rPr sz="1900" b="0">
                <a:solidFill>
                  <a:srgbClr val="444444"/>
                </a:solidFill>
                <a:latin typeface="Calibri"/>
              </a:rPr>
              <a:t>R4  Ke et al. (2017). LightGBM: A Highly Efficient Gradient Boosting Decision Tree. NeurIPS.</a:t>
            </a:r>
          </a:p>
          <a:p>
            <a:pPr>
              <a:lnSpc>
                <a:spcPct val="105000"/>
              </a:lnSpc>
              <a:spcAft>
                <a:spcPts val="1000"/>
              </a:spcAft>
            </a:pPr>
            <a:r>
              <a:rPr sz="1900" b="1">
                <a:solidFill>
                  <a:srgbClr val="1F6FB2"/>
                </a:solidFill>
                <a:latin typeface="Calibri"/>
              </a:rPr>
              <a:t>▪  </a:t>
            </a:r>
            <a:r>
              <a:rPr sz="1900" b="0">
                <a:solidFill>
                  <a:srgbClr val="444444"/>
                </a:solidFill>
                <a:latin typeface="Calibri"/>
              </a:rPr>
              <a:t>R5  Ribeiro et al. (2016). Why Should I Trust You? (LIME). ACM SIGKDD.</a:t>
            </a:r>
          </a:p>
          <a:p>
            <a:pPr>
              <a:lnSpc>
                <a:spcPct val="105000"/>
              </a:lnSpc>
              <a:spcAft>
                <a:spcPts val="1000"/>
              </a:spcAft>
            </a:pPr>
            <a:r>
              <a:rPr sz="1900" b="1">
                <a:solidFill>
                  <a:srgbClr val="1F6FB2"/>
                </a:solidFill>
                <a:latin typeface="Calibri"/>
              </a:rPr>
              <a:t>▪  </a:t>
            </a:r>
            <a:r>
              <a:rPr sz="1900" b="0">
                <a:solidFill>
                  <a:srgbClr val="444444"/>
                </a:solidFill>
                <a:latin typeface="Calibri"/>
              </a:rPr>
              <a:t>R6  He et al. (2020). LightGCN. SIGIR.   R7  Xia et al. (2021) HCCF; Yu et al. (2021) HPCF. SIGIR/AAAI.</a:t>
            </a:r>
          </a:p>
          <a:p>
            <a:pPr>
              <a:lnSpc>
                <a:spcPct val="105000"/>
              </a:lnSpc>
              <a:spcAft>
                <a:spcPts val="1000"/>
              </a:spcAft>
            </a:pPr>
            <a:r>
              <a:rPr sz="1900" b="1">
                <a:solidFill>
                  <a:srgbClr val="1F6FB2"/>
                </a:solidFill>
                <a:latin typeface="Calibri"/>
              </a:rPr>
              <a:t>▪  </a:t>
            </a:r>
            <a:r>
              <a:rPr sz="1900" b="0">
                <a:solidFill>
                  <a:srgbClr val="444444"/>
                </a:solidFill>
                <a:latin typeface="Calibri"/>
              </a:rPr>
              <a:t>R8  He et al. (2017). Neural Collaborative Filtering (NCF). WWW.</a:t>
            </a:r>
          </a:p>
          <a:p>
            <a:pPr>
              <a:lnSpc>
                <a:spcPct val="105000"/>
              </a:lnSpc>
              <a:spcAft>
                <a:spcPts val="1000"/>
              </a:spcAft>
            </a:pPr>
            <a:r>
              <a:rPr sz="1900" b="1">
                <a:solidFill>
                  <a:srgbClr val="1F6FB2"/>
                </a:solidFill>
                <a:latin typeface="Calibri"/>
              </a:rPr>
              <a:t>▪  </a:t>
            </a:r>
            <a:r>
              <a:rPr sz="1900" b="0">
                <a:solidFill>
                  <a:srgbClr val="444444"/>
                </a:solidFill>
                <a:latin typeface="Calibri"/>
              </a:rPr>
              <a:t>R9  Gramegna &amp; Giudici (2022). Shapley-value regression for credit-risk clustering.</a:t>
            </a:r>
          </a:p>
          <a:p>
            <a:pPr>
              <a:lnSpc>
                <a:spcPct val="105000"/>
              </a:lnSpc>
              <a:spcAft>
                <a:spcPts val="1000"/>
              </a:spcAft>
            </a:pPr>
            <a:r>
              <a:rPr sz="1900" b="1">
                <a:solidFill>
                  <a:srgbClr val="1F6FB2"/>
                </a:solidFill>
                <a:latin typeface="Calibri"/>
              </a:rPr>
              <a:t>▪  </a:t>
            </a:r>
            <a:r>
              <a:rPr sz="1900" b="1">
                <a:solidFill>
                  <a:srgbClr val="444444"/>
                </a:solidFill>
                <a:latin typeface="Calibri"/>
              </a:rPr>
              <a:t>Own: Louhichi (2023, 2025, 2026) - the three published papers behind C1, C2, C3 (see Published Research Papers).</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972800" cy="566928"/>
          </a:xfrm>
          <a:prstGeom prst="rect">
            <a:avLst/>
          </a:prstGeom>
          <a:noFill/>
        </p:spPr>
        <p:txBody>
          <a:bodyPr wrap="square" lIns="0" rIns="0" tIns="0" bIns="0" anchor="t">
            <a:spAutoFit/>
          </a:bodyPr>
          <a:lstStyle/>
          <a:p>
            <a:pPr algn="l">
              <a:lnSpc>
                <a:spcPct val="100000"/>
              </a:lnSpc>
            </a:pPr>
            <a:r>
              <a:rPr sz="2800" b="1" i="0">
                <a:solidFill>
                  <a:srgbClr val="FFFFFF"/>
                </a:solidFill>
                <a:latin typeface="Calibri"/>
              </a:rPr>
              <a:t>Questions &amp; Discussion</a:t>
            </a:r>
          </a:p>
        </p:txBody>
      </p:sp>
      <p:sp>
        <p:nvSpPr>
          <p:cNvPr id="4" name="TextBox 3"/>
          <p:cNvSpPr txBox="1"/>
          <p:nvPr/>
        </p:nvSpPr>
        <p:spPr>
          <a:xfrm>
            <a:off x="502920" y="731520"/>
            <a:ext cx="10972800" cy="274320"/>
          </a:xfrm>
          <a:prstGeom prst="rect">
            <a:avLst/>
          </a:prstGeom>
          <a:noFill/>
        </p:spPr>
        <p:txBody>
          <a:bodyPr wrap="square" lIns="0" rIns="0" tIns="0" bIns="0" anchor="t">
            <a:spAutoFit/>
          </a:bodyPr>
          <a:lstStyle/>
          <a:p>
            <a:pPr algn="l">
              <a:lnSpc>
                <a:spcPct val="100000"/>
              </a:lnSpc>
            </a:pPr>
            <a:r>
              <a:rPr sz="1300" b="0" i="0">
                <a:solidFill>
                  <a:srgbClr val="C9D9EA"/>
                </a:solidFill>
                <a:latin typeface="Calibri"/>
              </a:rPr>
              <a:t>Jury discussion</a:t>
            </a:r>
          </a:p>
        </p:txBody>
      </p:sp>
      <p:sp>
        <p:nvSpPr>
          <p:cNvPr id="5" name="Rectangle 4"/>
          <p:cNvSpPr/>
          <p:nvPr/>
        </p:nvSpPr>
        <p:spPr>
          <a:xfrm>
            <a:off x="0" y="960120"/>
            <a:ext cx="12191695"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344168"/>
            <a:ext cx="12191695" cy="1524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Introduction</a:t>
            </a:r>
          </a:p>
        </p:txBody>
      </p:sp>
      <p:sp>
        <p:nvSpPr>
          <p:cNvPr id="8" name="TextBox 7"/>
          <p:cNvSpPr txBox="1"/>
          <p:nvPr/>
        </p:nvSpPr>
        <p:spPr>
          <a:xfrm>
            <a:off x="2555382"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Context &amp; Problematic</a:t>
            </a:r>
          </a:p>
        </p:txBody>
      </p:sp>
      <p:sp>
        <p:nvSpPr>
          <p:cNvPr id="9" name="TextBox 8"/>
          <p:cNvSpPr txBox="1"/>
          <p:nvPr/>
        </p:nvSpPr>
        <p:spPr>
          <a:xfrm>
            <a:off x="4964460"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Experimental Protocol</a:t>
            </a:r>
          </a:p>
        </p:txBody>
      </p:sp>
      <p:sp>
        <p:nvSpPr>
          <p:cNvPr id="10" name="TextBox 9"/>
          <p:cNvSpPr txBox="1"/>
          <p:nvPr/>
        </p:nvSpPr>
        <p:spPr>
          <a:xfrm>
            <a:off x="7373538" y="987552"/>
            <a:ext cx="2262774" cy="329184"/>
          </a:xfrm>
          <a:prstGeom prst="rect">
            <a:avLst/>
          </a:prstGeom>
          <a:noFill/>
        </p:spPr>
        <p:txBody>
          <a:bodyPr wrap="square" lIns="0" rIns="0" tIns="0" bIns="0" anchor="ctr">
            <a:spAutoFit/>
          </a:bodyPr>
          <a:lstStyle/>
          <a:p>
            <a:pPr algn="ctr">
              <a:lnSpc>
                <a:spcPct val="100000"/>
              </a:lnSpc>
            </a:pPr>
            <a:r>
              <a:rPr sz="1250" b="0" i="0">
                <a:solidFill>
                  <a:srgbClr val="444444"/>
                </a:solidFill>
                <a:latin typeface="Calibri"/>
              </a:rPr>
              <a:t>Contributions</a:t>
            </a:r>
          </a:p>
        </p:txBody>
      </p:sp>
      <p:sp>
        <p:nvSpPr>
          <p:cNvPr id="11" name="Rectangle 10"/>
          <p:cNvSpPr/>
          <p:nvPr/>
        </p:nvSpPr>
        <p:spPr>
          <a:xfrm>
            <a:off x="9782616" y="987552"/>
            <a:ext cx="2262774" cy="3291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2616" y="987552"/>
            <a:ext cx="2262774" cy="329184"/>
          </a:xfrm>
          <a:prstGeom prst="rect">
            <a:avLst/>
          </a:prstGeom>
          <a:noFill/>
        </p:spPr>
        <p:txBody>
          <a:bodyPr wrap="square" lIns="0" rIns="0" tIns="0" bIns="0" anchor="ctr">
            <a:spAutoFit/>
          </a:bodyPr>
          <a:lstStyle/>
          <a:p>
            <a:pPr algn="ctr">
              <a:lnSpc>
                <a:spcPct val="100000"/>
              </a:lnSpc>
            </a:pPr>
            <a:r>
              <a:rPr sz="1250" b="1" i="0">
                <a:solidFill>
                  <a:srgbClr val="FFFFFF"/>
                </a:solidFill>
                <a:latin typeface="Calibri"/>
              </a:rPr>
              <a:t>Conclusion &amp; Perspectives</a:t>
            </a:r>
          </a:p>
        </p:txBody>
      </p:sp>
      <p:sp>
        <p:nvSpPr>
          <p:cNvPr id="13" name="TextBox 12"/>
          <p:cNvSpPr txBox="1"/>
          <p:nvPr/>
        </p:nvSpPr>
        <p:spPr>
          <a:xfrm>
            <a:off x="640080" y="1783080"/>
            <a:ext cx="10881360" cy="4480560"/>
          </a:xfrm>
          <a:prstGeom prst="rect">
            <a:avLst/>
          </a:prstGeom>
          <a:noFill/>
        </p:spPr>
        <p:txBody>
          <a:bodyPr wrap="square" anchor="t" lIns="0" rIns="0" tIns="0" bIns="0">
            <a:spAutoFit/>
          </a:bodyPr>
          <a:lstStyle/>
          <a:p>
            <a:pPr>
              <a:lnSpc>
                <a:spcPct val="105000"/>
              </a:lnSpc>
              <a:spcAft>
                <a:spcPts val="1000"/>
              </a:spcAft>
            </a:pPr>
            <a:r>
              <a:rPr sz="1900" b="1">
                <a:solidFill>
                  <a:srgbClr val="1F6FB2"/>
                </a:solidFill>
                <a:latin typeface="Calibri"/>
              </a:rPr>
              <a:t>▪  </a:t>
            </a:r>
            <a:r>
              <a:rPr sz="1900" b="1">
                <a:solidFill>
                  <a:srgbClr val="444444"/>
                </a:solidFill>
                <a:latin typeface="Calibri"/>
              </a:rPr>
              <a:t>Thank you for your attention.</a:t>
            </a:r>
          </a:p>
          <a:p>
            <a:pPr>
              <a:lnSpc>
                <a:spcPct val="105000"/>
              </a:lnSpc>
              <a:spcAft>
                <a:spcPts val="1000"/>
              </a:spcAft>
            </a:pPr>
            <a:r>
              <a:rPr sz="1900" b="1">
                <a:solidFill>
                  <a:srgbClr val="1F6FB2"/>
                </a:solidFill>
                <a:latin typeface="Calibri"/>
              </a:rPr>
              <a:t>▪  </a:t>
            </a:r>
            <a:r>
              <a:rPr sz="1900" b="0">
                <a:solidFill>
                  <a:srgbClr val="444444"/>
                </a:solidFill>
                <a:latin typeface="Calibri"/>
              </a:rPr>
              <a:t>I welcome your questions and comments.</a:t>
            </a:r>
          </a:p>
        </p:txBody>
      </p:sp>
      <p:sp>
        <p:nvSpPr>
          <p:cNvPr id="14" name="TextBox 13"/>
          <p:cNvSpPr txBox="1"/>
          <p:nvPr/>
        </p:nvSpPr>
        <p:spPr>
          <a:xfrm>
            <a:off x="502920" y="6455664"/>
            <a:ext cx="7315200" cy="320040"/>
          </a:xfrm>
          <a:prstGeom prst="rect">
            <a:avLst/>
          </a:prstGeom>
          <a:noFill/>
        </p:spPr>
        <p:txBody>
          <a:bodyPr wrap="square" lIns="0" rIns="0" tIns="0" bIns="0" anchor="t">
            <a:spAutoFit/>
          </a:bodyPr>
          <a:lstStyle/>
          <a:p>
            <a:pPr algn="l">
              <a:lnSpc>
                <a:spcPct val="100000"/>
              </a:lnSpc>
            </a:pPr>
            <a:r>
              <a:rPr sz="1100" b="0" i="0">
                <a:solidFill>
                  <a:srgbClr val="9A9A9A"/>
                </a:solidFill>
                <a:latin typeface="Calibri"/>
              </a:rPr>
              <a:t>PhD Viva – Mouad LOUHICHI – Cooperative Game Theory &amp; Shapley for XAI in Recommendation</a:t>
            </a:r>
          </a:p>
        </p:txBody>
      </p:sp>
      <p:sp>
        <p:nvSpPr>
          <p:cNvPr id="15" name="TextBox 14"/>
          <p:cNvSpPr txBox="1"/>
          <p:nvPr/>
        </p:nvSpPr>
        <p:spPr>
          <a:xfrm>
            <a:off x="11155680" y="6455664"/>
            <a:ext cx="548640" cy="320040"/>
          </a:xfrm>
          <a:prstGeom prst="rect">
            <a:avLst/>
          </a:prstGeom>
          <a:noFill/>
        </p:spPr>
        <p:txBody>
          <a:bodyPr wrap="square" lIns="0" rIns="0" tIns="0" bIns="0" anchor="t">
            <a:spAutoFit/>
          </a:bodyPr>
          <a:lstStyle/>
          <a:p>
            <a:pPr algn="r">
              <a:lnSpc>
                <a:spcPct val="100000"/>
              </a:lnSpc>
            </a:pPr>
            <a:r>
              <a:rPr sz="1100" b="0" i="0">
                <a:solidFill>
                  <a:srgbClr val="9A9A9A"/>
                </a:solidFill>
                <a:latin typeface="Calibri"/>
              </a:rPr>
              <a:t>53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2C4A"/>
        </a:solidFill>
        <a:effectLst/>
      </p:bgPr>
    </p:bg>
    <p:spTree>
      <p:nvGrpSpPr>
        <p:cNvPr id="1" name=""/>
        <p:cNvGrpSpPr/>
        <p:nvPr/>
      </p:nvGrpSpPr>
      <p:grpSpPr/>
      <p:sp>
        <p:nvSpPr>
          <p:cNvPr id="2" name="Rectangle 1"/>
          <p:cNvSpPr/>
          <p:nvPr/>
        </p:nvSpPr>
        <p:spPr>
          <a:xfrm>
            <a:off x="0" y="2331720"/>
            <a:ext cx="12191695"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lIns="0" rIns="0" tIns="0" bIns="0" anchor="t">
            <a:spAutoFit/>
          </a:bodyPr>
          <a:lstStyle/>
          <a:p>
            <a:pPr algn="l">
              <a:lnSpc>
                <a:spcPct val="100000"/>
              </a:lnSpc>
            </a:pPr>
            <a:r>
              <a:rPr sz="1500" b="0" i="1">
                <a:solidFill>
                  <a:srgbClr val="BFD4E8"/>
                </a:solidFill>
                <a:latin typeface="Calibri"/>
              </a:rPr>
              <a:t>Doctoral Studies Center in Information and Engineering Sciences and Technologies (ST2I)</a:t>
            </a:r>
          </a:p>
        </p:txBody>
      </p:sp>
      <p:sp>
        <p:nvSpPr>
          <p:cNvPr id="4" name="TextBox 3"/>
          <p:cNvSpPr txBox="1"/>
          <p:nvPr/>
        </p:nvSpPr>
        <p:spPr>
          <a:xfrm>
            <a:off x="822960" y="1463040"/>
            <a:ext cx="10515600" cy="640080"/>
          </a:xfrm>
          <a:prstGeom prst="rect">
            <a:avLst/>
          </a:prstGeom>
          <a:noFill/>
        </p:spPr>
        <p:txBody>
          <a:bodyPr wrap="square" lIns="0" rIns="0" tIns="0" bIns="0" anchor="t">
            <a:spAutoFit/>
          </a:bodyPr>
          <a:lstStyle/>
          <a:p>
            <a:pPr algn="l">
              <a:lnSpc>
                <a:spcPct val="100000"/>
              </a:lnSpc>
            </a:pPr>
            <a:r>
              <a:rPr sz="3400" b="1" i="0">
                <a:solidFill>
                  <a:srgbClr val="FFFFFF"/>
                </a:solidFill>
                <a:latin typeface="Calibri"/>
              </a:rPr>
              <a:t>Cooperative Game Theory for Explainable AI in Recommendation Systems:</a:t>
            </a:r>
          </a:p>
        </p:txBody>
      </p:sp>
      <p:sp>
        <p:nvSpPr>
          <p:cNvPr id="5" name="TextBox 4"/>
          <p:cNvSpPr txBox="1"/>
          <p:nvPr/>
        </p:nvSpPr>
        <p:spPr>
          <a:xfrm>
            <a:off x="822960" y="2148840"/>
            <a:ext cx="10515600" cy="640080"/>
          </a:xfrm>
          <a:prstGeom prst="rect">
            <a:avLst/>
          </a:prstGeom>
          <a:noFill/>
        </p:spPr>
        <p:txBody>
          <a:bodyPr wrap="square" lIns="0" rIns="0" tIns="0" bIns="0" anchor="t">
            <a:spAutoFit/>
          </a:bodyPr>
          <a:lstStyle/>
          <a:p>
            <a:pPr algn="l">
              <a:lnSpc>
                <a:spcPct val="100000"/>
              </a:lnSpc>
            </a:pPr>
            <a:r>
              <a:rPr sz="2400" b="1" i="0">
                <a:solidFill>
                  <a:srgbClr val="FFFFFF"/>
                </a:solidFill>
                <a:latin typeface="Calibri"/>
              </a:rPr>
              <a:t>A Shapley Framework for Actionable Insight</a:t>
            </a:r>
          </a:p>
        </p:txBody>
      </p:sp>
      <p:sp>
        <p:nvSpPr>
          <p:cNvPr id="6" name="TextBox 5"/>
          <p:cNvSpPr txBox="1"/>
          <p:nvPr/>
        </p:nvSpPr>
        <p:spPr>
          <a:xfrm>
            <a:off x="822960" y="2926080"/>
            <a:ext cx="10515600" cy="411480"/>
          </a:xfrm>
          <a:prstGeom prst="rect">
            <a:avLst/>
          </a:prstGeom>
          <a:noFill/>
        </p:spPr>
        <p:txBody>
          <a:bodyPr wrap="square" lIns="0" rIns="0" tIns="0" bIns="0" anchor="t">
            <a:spAutoFit/>
          </a:bodyPr>
          <a:lstStyle/>
          <a:p>
            <a:pPr algn="l">
              <a:lnSpc>
                <a:spcPct val="100000"/>
              </a:lnSpc>
            </a:pPr>
            <a:r>
              <a:rPr sz="1500" b="0" i="0">
                <a:solidFill>
                  <a:srgbClr val="CFE0EF"/>
                </a:solidFill>
                <a:latin typeface="Calibri"/>
              </a:rPr>
              <a:t>Mouad LOUHICHI — PhD Viva</a:t>
            </a:r>
          </a:p>
        </p:txBody>
      </p:sp>
      <p:sp>
        <p:nvSpPr>
          <p:cNvPr id="7" name="TextBox 6"/>
          <p:cNvSpPr txBox="1"/>
          <p:nvPr/>
        </p:nvSpPr>
        <p:spPr>
          <a:xfrm>
            <a:off x="822960" y="3383280"/>
            <a:ext cx="10515600" cy="411480"/>
          </a:xfrm>
          <a:prstGeom prst="rect">
            <a:avLst/>
          </a:prstGeom>
          <a:noFill/>
        </p:spPr>
        <p:txBody>
          <a:bodyPr wrap="square" lIns="0" rIns="0" tIns="0" bIns="0" anchor="t">
            <a:spAutoFit/>
          </a:bodyPr>
          <a:lstStyle/>
          <a:p>
            <a:pPr algn="l">
              <a:lnSpc>
                <a:spcPct val="100000"/>
              </a:lnSpc>
            </a:pPr>
            <a:r>
              <a:rPr sz="1500" b="0" i="0">
                <a:solidFill>
                  <a:srgbClr val="CFE0EF"/>
                </a:solidFill>
                <a:latin typeface="Calibri"/>
              </a:rPr>
              <a:t>Supervisor: Pr. Mohamed LAZAAR — ENSIAS, Mohammed V University, Rabat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